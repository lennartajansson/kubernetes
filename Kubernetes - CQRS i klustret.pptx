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10"/>
  </p:normalViewPr>
  <p:slideViewPr>
    <p:cSldViewPr snapToGrid="0" snapToObjects="1">
      <p:cViewPr varScale="1">
        <p:scale>
          <a:sx n="120" d="100"/>
          <a:sy n="120" d="100"/>
        </p:scale>
        <p:origin x="120"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2004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Välkomna tillbaka! Förra gången byggde vi klustret. Ikväll fyller vi det: först den infrastruktur som resten av kursen vilar på - MySQL, NATS och Redis - och sedan vår första riktiga applikation, byggd enligt CQRS-mönstret. Fråga gruppen: har någon hört talas om CQRS? De flesta har byggt CRUD-API:er, och det är precis den bilden vi ska utmana ikväll.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Gå snabbt igenom agendan. Infrastrukturen och hosts-filen tar vi raskt - det är samma typ av Helm-arbete som förra gången. Huvuddelen av kvällen handlar om CQRS och om att förstå hur ett anrop rör sig genom klustret: ingress, API, NATS, worker och databas. Nästa bild visar vad vi ska ha uppnått när kvällen är slut.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markerade rutan är kvällens bevis: ett kommando som går hela vägen genom systemet och sedan kan läsas tillbaka. Poängtera att infrastrukturen från del 1 inte är specifik för ikväll - Redis använder vi till exempel först senare i kursen. Nu börjar vi med den.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Kort del. Vi installerar tre tjänster som våra applikationer behöver, med Helm och ett färdigt PowerShell-skript. Poängen är inte varje rad i skriptet utan att förstå vad de tre tjänsterna gör och hur de hänger ihop med klustret.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tjänster, tre roller. NATS är markerad eftersom den är ny för de flesta och central ikväll: den bär kommandona mellan våra två applikationer. JetStream är NATS inbyggda lagring - utan den skulle ett meddelande försvinna om ingen lyssnade just då. MySQL känner de igen. Redis nämner vi bara nu; den kommer tillbaka när vi pratar läsmodeller och cache. Fråga: varför kör vi databasen i klustret istället för på en separat server? (Svar: för en utvecklingsmiljö är det smidigt och allt beskrivs som kod - i produktion väljer man ofta en managed databas.)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Visa hela skriptet i editorn parallellt, men fokusera på mönstret: lägg till repo, uppdatera, upgrade --install med en values-fil per tjänst och ett eget namespace per tjänst. upgrade --install är markerad för att den gör skriptet idempotent - samma tanke som kubectl apply förra gången. Koppla lagringen till förra kvällen: k3d-install.yaml satte --default-local-storage-path, därför hamnar databasfilerna i en mapp ni kan se i Windows.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Första installationen tar några minuter eftersom tre images ska laddas ner. Låt k9s vara öppet och titta på poddarna när de startar. De tre LoadBalancer-tjänsterna är anledningen till att portarna 3306, 4222 och 6379 fungerar från Windows - k3d-install.yaml forwardar dem, ServiceLB i noden tar emot dem. Det är just de portarna vi ger namn i nästa 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Kort del om hosts-filen. Den gör två saker för oss: ger infrastrukturtjänsterna läsbara namn när vi når dem från Windows, och gör att ingressen vet vilket API vi vill nå.</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Visa den befintliga Hosts/.hosts-filen i kursmappen som förklarar formatet. Alla fyra namn pekar på den egna datorn - det är portarna som skiljer tjänsterna åt, inte IP-adressen. cqrsapi.local är markerad eftersom den fungerar lite annorlunda: alla webbanrop går in på port 80, och Traefik tittar på Host-headern för att avgöra vilken Ingress som gäller. Utan raden i hosts-filen hittar webbläsaren inte ens fram.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här är samma lärdom som med registryt förra gången: registry.local fungerade från Windows men inte från noderna. Formatet på klustrets DNS-namn är tjänst.namespace.svc.cluster.local. Fråga: vilken adress ska stå i appsettings.json när vi kör API:t med F5 i Visual Studio, och vilken ska stå i Helm-values? (Svar: .local-namnet respektive svc.cluster.local.) Nu lämnar vi infrastrukturen och går över till mönstret.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kommer kvällens huvuddel. Vi börjar med idén innan vi tittar på någon kod.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Börja till vänster: så har de flesta byggt sina API:er - en service med Get, Create, Update och Delete. Till höger: samma databas, men läsning och skrivning har skilda vägar in. Poängtera sista raden, det är en vanlig missuppfattning att CQRS kräver två databaser eller event sourcing. Grundidén är bara uppdelningen av ansvar. Nästa bild: vad skiljer ett command från en query?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är markerad eftersom det är där det intressanta händer i vår app. Tumregel: en metod ska antingen ändra något eller svara på en fråga - aldrig båda. Fråga gruppen om några exempel: är 'logga in' ett command eller en query? (Ett command - det skapar en session.) Nästa bild: varför skulle man vilja dela upp det här?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Fyra vinster, alla synliga i vår exempelapp. Men var ärliga om priset - det är markerat. CQRS är inget standardval för varje CRUD-app; det lönar sig när läs- och skrivbehoven skiljer sig mycket, eller när man vill kunna ta emot skrivningar även när databasen har problem. Eventual consistency kommer vi tillbaka till när vi följer flödet. Nu: exempelappen.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tittar vi på vår konkreta lösning i D:\Kvällskurs\CQRS. Modellen är medvetet enkel - en Person med namn och e-post - så att vi kan fokusera på hur delarna samverkar.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Rita gärna samma bild på tavlan. Vänster väg: queries går direkt från API:t till databasen med Dapper. Höger väg: kommandon går till NATS, därifrån till workern, som skriver med EF Core. Två saker att peka på: workern har ingen HTTP-yta alls, och de två databasanvändarna - API:t använder cqrs_reader som bara har SELECT. Fråga: vad händer med GET-anropen om workern kraschar? (De fungerar fortfarande - läs-sidan påverkas inte.)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Gå igenom raden 'Skriver' extra noga - det är kärnan. API:t har ingen DbContext och ingen skrivrättighet. Repliker-raden är också värd en fråga: varför kan API:t ha hur många repliker som helst men workern bara en? (API:t har inget tillstånd. Med flera workers delar de på kön, och då kan en Update i teorin hinna före sin Create.)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Kontraktet är litet. Subjekten är hierarkiska: persons.cmd.&gt; fångar alla tre, och det är det mönstret strömmen lyssnar på. Den markerade rutan brukar väcka diskussion - varför inte ett delat klassbibliotek? För att de två programmen ska kunna byggas och deployas var för sig; så länge JSON:en ser likadan ut spelar det ingen roll vilken version av koden som skickade den.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Visa den riktiga Program.cs i Visual Studio. Poängen: det finns ingen DbContext i API-projektet, och ingen SaveChanges. PUT och DELETE ser likadana ut, bara med ett annat subjekt. Den markerade rutan - 202 - är ett medvetet val: vi säger 'mottaget', inte 'klart'. Nästa bild visar läs-sidan i samma program.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Jämför med command-sidan: här finns ingen NATS alls, bara en SQL-fråga. Dapper mappar kolumnerna till PersonDto på namn. Den markerade rutan är ett bra exempel på att arkitekturen syns även i rättigheterna - försök gärna köra en INSERT med cqrs_reader i MySQL Workbench via mysql.local och visa felet. Nu till den andra halvan: workern.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Workern är en vanlig BackgroundService. Kärnan är att kvittensen - Ack - kommer först efter SaveChanges. Kraschar podden mitt i, levereras samma meddelande igen till nästa pod. Därför måste hanterarna vara idempotenta: CreateAsync kollar först om personen redan finns. Den varaktiga konsumenten är markerad: det är JetStream, inte workern, som håller reda på var i kön vi är. Workern skapar också tabellen vid start med EnsureCreated.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följer vi ett enda anrop genom hela systemet. Ha gärna k9s och workerns logg öppna samtidigt när vi gör det på riktigt.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Gå igenom stegen i ordning. Poängtera steg 4 - svaret skickas innan workern ens har sett kommandot. Det är därför ordningen på bilden är 1-2-3-4-5, inte 1-2-3-5-4. Kör det gärna live med CQRSApi.http: skicka POST och läs upp svaret, visa sedan raden i workerns logg, och gör till sist GET.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här är kvällens viktigaste idé att förstå. Frontend-utvecklare måste designa för det: visa att något sparas, eller fråga igen. Den markerade rutan är styrkan: API:t tar emot skrivningar även när workern eller databasen har problem. Visa det live: kubectl scale deploy/cqrs-worker --replicas=0 -n cqrs, skicka tre POST, visa att GET inte hittar dem, skala upp igen och se kön betas av i loggen.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JetStream garanterar 'minst en gång' - aldrig 'exakt en gång'. Därför är idempotens markerad: det är applikationens ansvar att tåla dubbletter. De andra rutorna är mekanismerna som gör att vi aldrig tappar ett kommando. Fråga: vad skulle hända om vi kvitterade meddelandet innan SaveChanges? (Kraschar vi mellan dem är kommandot borta för alltid.)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Sista delen: hur vi får ut de två programmen i klustret. Samma Helm som för infrastrukturen, men nu med egna charts.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Samma image används överallt - det som skiljer miljöerna åt är values. Connection stringen hamnar i en Secret och in i podden via secretKeyRef. CORS-läget styr vilka webbsidor som får anropa API:t från en webbläsare - det blir aktuellt när Angular-frontenden kommer. Dubbla understreck är .NET:s sätt att skriva hierarkisk konfiguration som miljövariabel.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gör alla samma sak. setup-db.ps1 kör SQL inne i MySQL-podden och skapar de två användarna - det är därför API:t inte kan skriva. build.ps1 räknar ut nästa version från registryt, bygger båda imagarna utan Dockerfile och installerar dem med sina Helm-charts. Workern deployas först så att den hinner skapa tabellen. Vänta in alla tills båda poddarna är Running.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kopplar vi ihop hosts-filen från del 2 med appen. Alla anrop går till 127.0.0.1 port 80, k3d skickar in dem till Traefik, som tittar på värdnamnet och väljer rätt Ingress. Utan raden i hosts-filen kommer webbläsaren aldrig fram. Låt alla skicka en POST, titta i workerns logg och gör sedan GET. Den som vill kan öppna mysql.local:3306 i MySQL Workbench och se raden i tabellen Persons.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Kör som muntlig quiz. Den markerade rutan, eventual consistency, är den som skiljer det här sättet att bygga från vanlig CRUD - och den som frontend-utvecklarna i gruppen behöver ta med sig mest. Be någon förklara vägen för ett POST-anrop med egna ord, från webbläsaren till raden i databasen.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Visa att det vi byggt ikväll inte är en återvändsgränd. Särskilt 'Läsmodell i Redis' är den naturliga fortsättningen på CQRS: idag läser API:t workerns tabell direkt, i nästa steg får läs-sidan en egen modell som hålls uppdaterad via events. Justera sista rutan efter vad nästa tillfälle faktiskt innehåller.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Öppna för frågor. Bra avslutande fråga: om MySQL går ner i fem minuter - vad händer med POST, vad händer med GET, och vad händer när databasen kommer tillbaka? (POST fungerar och köas, GET ger fel, workern beta av kön när databasen är uppe.) Kan de svara på det har de förstått mönstret.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KUBERNETES-KURS · KVÄLL 3 AV 8</a:t>
            </a:r>
            <a:endParaRPr lang="en-US" sz="1200" dirty="0"/>
          </a:p>
        </p:txBody>
      </p:sp>
      <p:sp>
        <p:nvSpPr>
          <p:cNvPr id="3" name="Text 1"/>
          <p:cNvSpPr txBox="1"/>
          <p:nvPr/>
        </p:nvSpPr>
        <p:spPr>
          <a:xfrm>
            <a:off x="548640" y="1234440"/>
            <a:ext cx="11094415" cy="1097280"/>
          </a:xfrm>
          <a:prstGeom prst="rect">
            <a:avLst/>
          </a:prstGeom>
          <a:noFill/>
          <a:ln/>
        </p:spPr>
        <p:txBody>
          <a:bodyPr wrap="square" lIns="0" tIns="0" rIns="0" bIns="0" rtlCol="0" anchor="ctr"/>
          <a:lstStyle/>
          <a:p>
            <a:pPr marL="0" indent="0">
              <a:buNone/>
            </a:pPr>
            <a:r>
              <a:rPr lang="en-US" sz="6600" b="1" dirty="0">
                <a:solidFill>
                  <a:srgbClr val="F5F7FA"/>
                </a:solidFill>
                <a:latin typeface="Calibri" pitchFamily="34" charset="0"/>
                <a:ea typeface="Calibri" pitchFamily="34" charset="-122"/>
                <a:cs typeface="Calibri" pitchFamily="34" charset="-120"/>
              </a:rPr>
              <a:t>CQRS i klustret</a:t>
            </a:r>
            <a:endParaRPr lang="en-US" sz="6600" dirty="0"/>
          </a:p>
        </p:txBody>
      </p:sp>
      <p:sp>
        <p:nvSpPr>
          <p:cNvPr id="4" name="Text 2"/>
          <p:cNvSpPr txBox="1"/>
          <p:nvPr/>
        </p:nvSpPr>
        <p:spPr>
          <a:xfrm>
            <a:off x="548640" y="2514600"/>
            <a:ext cx="8686800" cy="914400"/>
          </a:xfrm>
          <a:prstGeom prst="rect">
            <a:avLst/>
          </a:prstGeom>
          <a:noFill/>
          <a:ln/>
        </p:spPr>
        <p:txBody>
          <a:bodyPr wrap="square" lIns="0" tIns="0" rIns="0" bIns="0" rtlCol="0" anchor="t"/>
          <a:lstStyle/>
          <a:p>
            <a:pPr marL="0" indent="0">
              <a:lnSpc>
                <a:spcPct val="130000"/>
              </a:lnSpc>
              <a:buNone/>
            </a:pPr>
            <a:r>
              <a:rPr lang="en-US" sz="2000" dirty="0">
                <a:solidFill>
                  <a:srgbClr val="B9C4D1"/>
                </a:solidFill>
                <a:latin typeface="Arial" pitchFamily="34" charset="0"/>
                <a:ea typeface="Arial" pitchFamily="34" charset="-122"/>
                <a:cs typeface="Arial" pitchFamily="34" charset="-120"/>
              </a:rPr>
              <a:t>Infrastruktur med Helm och en exempelapplikation där läsning och skrivning går helt olika vägar genom klustret</a:t>
            </a:r>
            <a:endParaRPr lang="en-US" sz="2000" dirty="0"/>
          </a:p>
        </p:txBody>
      </p:sp>
      <p:sp>
        <p:nvSpPr>
          <p:cNvPr id="5" name="Text 3"/>
          <p:cNvSpPr txBox="1"/>
          <p:nvPr/>
        </p:nvSpPr>
        <p:spPr>
          <a:xfrm>
            <a:off x="548640" y="6172200"/>
            <a:ext cx="6400800" cy="320040"/>
          </a:xfrm>
          <a:prstGeom prst="rect">
            <a:avLst/>
          </a:prstGeom>
          <a:noFill/>
          <a:ln/>
        </p:spPr>
        <p:txBody>
          <a:bodyPr wrap="square" lIns="0" tIns="0" rIns="0" bIns="0" rtlCol="0" anchor="ctr"/>
          <a:lstStyle/>
          <a:p>
            <a:pPr marL="0" indent="0">
              <a:buNone/>
            </a:pPr>
            <a:r>
              <a:rPr lang="en-US" sz="1400" dirty="0">
                <a:solidFill>
                  <a:srgbClr val="B9C4D1"/>
                </a:solidFill>
                <a:latin typeface="Arial" pitchFamily="34" charset="0"/>
                <a:ea typeface="Arial" pitchFamily="34" charset="-122"/>
                <a:cs typeface="Arial" pitchFamily="34" charset="-120"/>
              </a:rPr>
              <a:t>.NET · Frontend · SQL — Yrkeshögskola</a:t>
            </a:r>
            <a:endParaRPr lang="en-US" sz="1400" dirty="0"/>
          </a:p>
        </p:txBody>
      </p:sp>
      <p:sp>
        <p:nvSpPr>
          <p:cNvPr id="6" name="Text 4"/>
          <p:cNvSpPr txBox="1"/>
          <p:nvPr/>
        </p:nvSpPr>
        <p:spPr>
          <a:xfrm>
            <a:off x="6156655" y="6172200"/>
            <a:ext cx="5486400" cy="320040"/>
          </a:xfrm>
          <a:prstGeom prst="rect">
            <a:avLst/>
          </a:prstGeom>
          <a:noFill/>
          <a:ln/>
        </p:spPr>
        <p:txBody>
          <a:bodyPr wrap="square" lIns="0" tIns="0" rIns="0" bIns="0" rtlCol="0" anchor="ctr"/>
          <a:lstStyle/>
          <a:p>
            <a:pPr marL="0" indent="0" algn="r">
              <a:buNone/>
            </a:pPr>
            <a:r>
              <a:rPr lang="en-US" sz="1400" b="1" dirty="0">
                <a:solidFill>
                  <a:srgbClr val="7C9CFF"/>
                </a:solidFill>
                <a:latin typeface="Arial" pitchFamily="34" charset="0"/>
                <a:ea typeface="Arial" pitchFamily="34" charset="-122"/>
                <a:cs typeface="Arial" pitchFamily="34" charset="-120"/>
              </a:rPr>
              <a:t>Del 3 av 8 · teori + gemensam övning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AGENDA · KVÄLL 3</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Så här bygger vi upp kvällen</a:t>
            </a:r>
            <a:endParaRPr lang="en-US" sz="3000" dirty="0"/>
          </a:p>
        </p:txBody>
      </p:sp>
      <p:sp>
        <p:nvSpPr>
          <p:cNvPr id="4" name="Shape 2"/>
          <p:cNvSpPr/>
          <p:nvPr/>
        </p:nvSpPr>
        <p:spPr>
          <a:xfrm>
            <a:off x="548640" y="1645920"/>
            <a:ext cx="3593592" cy="155448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749808" y="184708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1. Infrastrukturen</a:t>
            </a:r>
            <a:endParaRPr lang="en-US" sz="1600" dirty="0"/>
          </a:p>
        </p:txBody>
      </p:sp>
      <p:sp>
        <p:nvSpPr>
          <p:cNvPr id="6" name="Text 4"/>
          <p:cNvSpPr txBox="1"/>
          <p:nvPr/>
        </p:nvSpPr>
        <p:spPr>
          <a:xfrm>
            <a:off x="749808" y="2231136"/>
            <a:ext cx="3191256" cy="8138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MySQL, NATS och Redis i klustret med ett Helm-skript</a:t>
            </a:r>
            <a:endParaRPr lang="en-US" sz="1300" dirty="0"/>
          </a:p>
        </p:txBody>
      </p:sp>
      <p:sp>
        <p:nvSpPr>
          <p:cNvPr id="7" name="Shape 5"/>
          <p:cNvSpPr/>
          <p:nvPr/>
        </p:nvSpPr>
        <p:spPr>
          <a:xfrm>
            <a:off x="4297680" y="1645920"/>
            <a:ext cx="3593592" cy="155448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8" name="Text 6"/>
          <p:cNvSpPr txBox="1"/>
          <p:nvPr/>
        </p:nvSpPr>
        <p:spPr>
          <a:xfrm>
            <a:off x="4498848" y="184708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2. Hosts-filen</a:t>
            </a:r>
            <a:endParaRPr lang="en-US" sz="1600" dirty="0"/>
          </a:p>
        </p:txBody>
      </p:sp>
      <p:sp>
        <p:nvSpPr>
          <p:cNvPr id="9" name="Text 7"/>
          <p:cNvSpPr txBox="1"/>
          <p:nvPr/>
        </p:nvSpPr>
        <p:spPr>
          <a:xfrm>
            <a:off x="4498848" y="2231136"/>
            <a:ext cx="3191256" cy="8138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mysql.local, nats.local, redis.local och cqrsapi.local</a:t>
            </a:r>
            <a:endParaRPr lang="en-US" sz="1300" dirty="0"/>
          </a:p>
        </p:txBody>
      </p:sp>
      <p:sp>
        <p:nvSpPr>
          <p:cNvPr id="10" name="Shape 8"/>
          <p:cNvSpPr/>
          <p:nvPr/>
        </p:nvSpPr>
        <p:spPr>
          <a:xfrm>
            <a:off x="8046720" y="1645920"/>
            <a:ext cx="3593592" cy="155448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8247888" y="184708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3. Vad är CQRS?</a:t>
            </a:r>
            <a:endParaRPr lang="en-US" sz="1600" dirty="0"/>
          </a:p>
        </p:txBody>
      </p:sp>
      <p:sp>
        <p:nvSpPr>
          <p:cNvPr id="12" name="Text 10"/>
          <p:cNvSpPr txBox="1"/>
          <p:nvPr/>
        </p:nvSpPr>
        <p:spPr>
          <a:xfrm>
            <a:off x="8247888" y="2231136"/>
            <a:ext cx="3191256" cy="8138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Commands och queries - varför dela på läsning och skrivning</a:t>
            </a:r>
            <a:endParaRPr lang="en-US" sz="1300" dirty="0"/>
          </a:p>
        </p:txBody>
      </p:sp>
      <p:sp>
        <p:nvSpPr>
          <p:cNvPr id="13" name="Shape 11"/>
          <p:cNvSpPr/>
          <p:nvPr/>
        </p:nvSpPr>
        <p:spPr>
          <a:xfrm>
            <a:off x="548640" y="3429000"/>
            <a:ext cx="3593592" cy="155448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749808" y="363016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4. Exempelappen</a:t>
            </a:r>
            <a:endParaRPr lang="en-US" sz="1600" dirty="0"/>
          </a:p>
        </p:txBody>
      </p:sp>
      <p:sp>
        <p:nvSpPr>
          <p:cNvPr id="15" name="Text 13"/>
          <p:cNvSpPr txBox="1"/>
          <p:nvPr/>
        </p:nvSpPr>
        <p:spPr>
          <a:xfrm>
            <a:off x="749808" y="4014216"/>
            <a:ext cx="3191256" cy="8138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CQRSApi och CQRSWorker, och vad de ansvarar för</a:t>
            </a:r>
            <a:endParaRPr lang="en-US" sz="1300" dirty="0"/>
          </a:p>
        </p:txBody>
      </p:sp>
      <p:sp>
        <p:nvSpPr>
          <p:cNvPr id="16" name="Shape 14"/>
          <p:cNvSpPr/>
          <p:nvPr/>
        </p:nvSpPr>
        <p:spPr>
          <a:xfrm>
            <a:off x="4297680" y="3429000"/>
            <a:ext cx="3593592" cy="155448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4498848" y="363016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5. Flödet steg för steg</a:t>
            </a:r>
            <a:endParaRPr lang="en-US" sz="1600" dirty="0"/>
          </a:p>
        </p:txBody>
      </p:sp>
      <p:sp>
        <p:nvSpPr>
          <p:cNvPr id="18" name="Text 16"/>
          <p:cNvSpPr txBox="1"/>
          <p:nvPr/>
        </p:nvSpPr>
        <p:spPr>
          <a:xfrm>
            <a:off x="4498848" y="4014216"/>
            <a:ext cx="3191256" cy="8138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Från POST till sparad rad - och varför svaret är 202</a:t>
            </a:r>
            <a:endParaRPr lang="en-US" sz="1300" dirty="0"/>
          </a:p>
        </p:txBody>
      </p:sp>
      <p:sp>
        <p:nvSpPr>
          <p:cNvPr id="19" name="Shape 17"/>
          <p:cNvSpPr/>
          <p:nvPr/>
        </p:nvSpPr>
        <p:spPr>
          <a:xfrm>
            <a:off x="8046720" y="3429000"/>
            <a:ext cx="3593592" cy="155448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0" name="Text 18"/>
          <p:cNvSpPr txBox="1"/>
          <p:nvPr/>
        </p:nvSpPr>
        <p:spPr>
          <a:xfrm>
            <a:off x="8247888" y="363016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6. Helm &amp; deploy</a:t>
            </a:r>
            <a:endParaRPr lang="en-US" sz="1600" dirty="0"/>
          </a:p>
        </p:txBody>
      </p:sp>
      <p:sp>
        <p:nvSpPr>
          <p:cNvPr id="21" name="Text 19"/>
          <p:cNvSpPr txBox="1"/>
          <p:nvPr/>
        </p:nvSpPr>
        <p:spPr>
          <a:xfrm>
            <a:off x="8247888" y="4014216"/>
            <a:ext cx="3191256" cy="8138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Values, setup-db.ps1, build.ps1 och test utifrån klustret</a:t>
            </a:r>
            <a:endParaRPr lang="en-US" sz="1300" dirty="0"/>
          </a:p>
        </p:txBody>
      </p:sp>
      <p:sp>
        <p:nvSpPr>
          <p:cNvPr id="22" name="Text 20"/>
          <p:cNvSpPr txBox="1"/>
          <p:nvPr/>
        </p:nvSpPr>
        <p:spPr>
          <a:xfrm>
            <a:off x="548640" y="5440680"/>
            <a:ext cx="11094415" cy="548640"/>
          </a:xfrm>
          <a:prstGeom prst="rect">
            <a:avLst/>
          </a:prstGeom>
          <a:noFill/>
          <a:ln/>
        </p:spPr>
        <p:txBody>
          <a:bodyPr wrap="square" lIns="0" tIns="0" rIns="0" bIns="0" rtlCol="0" anchor="t"/>
          <a:lstStyle/>
          <a:p>
            <a:pPr marL="0" indent="0">
              <a:lnSpc>
                <a:spcPct val="120000"/>
              </a:lnSpc>
              <a:buNone/>
            </a:pPr>
            <a:r>
              <a:rPr lang="en-US" sz="1400" dirty="0">
                <a:solidFill>
                  <a:srgbClr val="4A5568"/>
                </a:solidFill>
                <a:latin typeface="Arial" pitchFamily="34" charset="0"/>
                <a:ea typeface="Arial" pitchFamily="34" charset="-122"/>
                <a:cs typeface="Arial" pitchFamily="34" charset="-120"/>
              </a:rPr>
              <a:t>Del 1-2 är korta och praktiska. Tyngdpunkten ligger på del 3-5: mönstret och hur de två applikationerna samverkar.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MÅLBILD</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När ni går hem ikväll har ni…</a:t>
            </a:r>
            <a:endParaRPr lang="en-US" sz="3000" dirty="0"/>
          </a:p>
        </p:txBody>
      </p:sp>
      <p:sp>
        <p:nvSpPr>
          <p:cNvPr id="4" name="Shape 2"/>
          <p:cNvSpPr/>
          <p:nvPr/>
        </p:nvSpPr>
        <p:spPr>
          <a:xfrm>
            <a:off x="548640" y="1737360"/>
            <a:ext cx="2651760" cy="2103120"/>
          </a:xfrm>
          <a:prstGeom prst="roundRect">
            <a:avLst>
              <a:gd name="adj" fmla="val 2609"/>
            </a:avLst>
          </a:prstGeom>
          <a:solidFill>
            <a:srgbClr val="16294A"/>
          </a:solidFill>
          <a:ln w="12700">
            <a:solidFill>
              <a:srgbClr val="16294A"/>
            </a:solidFill>
            <a:prstDash val="solid"/>
          </a:ln>
        </p:spPr>
      </p:sp>
      <p:sp>
        <p:nvSpPr>
          <p:cNvPr id="5" name="Text 3"/>
          <p:cNvSpPr txBox="1"/>
          <p:nvPr/>
        </p:nvSpPr>
        <p:spPr>
          <a:xfrm>
            <a:off x="749808" y="1938528"/>
            <a:ext cx="2249424" cy="274320"/>
          </a:xfrm>
          <a:prstGeom prst="rect">
            <a:avLst/>
          </a:prstGeom>
          <a:noFill/>
          <a:ln/>
        </p:spPr>
        <p:txBody>
          <a:bodyPr wrap="square" lIns="0" tIns="0" rIns="0" bIns="0" rtlCol="0" anchor="ctr"/>
          <a:lstStyle/>
          <a:p>
            <a:pPr marL="0" indent="0">
              <a:buNone/>
            </a:pPr>
            <a:r>
              <a:rPr lang="en-US" sz="1100" b="1" kern="0" spc="200" dirty="0">
                <a:solidFill>
                  <a:srgbClr val="7C9CFF"/>
                </a:solidFill>
                <a:latin typeface="Arial" pitchFamily="34" charset="0"/>
                <a:ea typeface="Arial" pitchFamily="34" charset="-122"/>
                <a:cs typeface="Arial" pitchFamily="34" charset="-120"/>
              </a:rPr>
              <a:t>01</a:t>
            </a:r>
            <a:endParaRPr lang="en-US" sz="1100" dirty="0"/>
          </a:p>
        </p:txBody>
      </p:sp>
      <p:sp>
        <p:nvSpPr>
          <p:cNvPr id="6" name="Text 4"/>
          <p:cNvSpPr txBox="1"/>
          <p:nvPr/>
        </p:nvSpPr>
        <p:spPr>
          <a:xfrm>
            <a:off x="749808" y="2231136"/>
            <a:ext cx="2249424"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Infrastrukturen</a:t>
            </a:r>
            <a:endParaRPr lang="en-US" sz="1600" dirty="0"/>
          </a:p>
        </p:txBody>
      </p:sp>
      <p:sp>
        <p:nvSpPr>
          <p:cNvPr id="7" name="Text 5"/>
          <p:cNvSpPr txBox="1"/>
          <p:nvPr/>
        </p:nvSpPr>
        <p:spPr>
          <a:xfrm>
            <a:off x="749808" y="2615184"/>
            <a:ext cx="2249424" cy="1069848"/>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MySQL, NATS med JetStream och Redis körs i klustret</a:t>
            </a:r>
            <a:endParaRPr lang="en-US" sz="1300" dirty="0"/>
          </a:p>
        </p:txBody>
      </p:sp>
      <p:sp>
        <p:nvSpPr>
          <p:cNvPr id="8" name="Shape 6"/>
          <p:cNvSpPr/>
          <p:nvPr/>
        </p:nvSpPr>
        <p:spPr>
          <a:xfrm>
            <a:off x="3362249" y="1737360"/>
            <a:ext cx="2651760" cy="2103120"/>
          </a:xfrm>
          <a:prstGeom prst="roundRect">
            <a:avLst>
              <a:gd name="adj" fmla="val 2609"/>
            </a:avLst>
          </a:prstGeom>
          <a:solidFill>
            <a:srgbClr val="16294A"/>
          </a:solidFill>
          <a:ln w="12700">
            <a:solidFill>
              <a:srgbClr val="16294A"/>
            </a:solidFill>
            <a:prstDash val="solid"/>
          </a:ln>
        </p:spPr>
      </p:sp>
      <p:sp>
        <p:nvSpPr>
          <p:cNvPr id="9" name="Text 7"/>
          <p:cNvSpPr txBox="1"/>
          <p:nvPr/>
        </p:nvSpPr>
        <p:spPr>
          <a:xfrm>
            <a:off x="3563417" y="1938528"/>
            <a:ext cx="2249424" cy="274320"/>
          </a:xfrm>
          <a:prstGeom prst="rect">
            <a:avLst/>
          </a:prstGeom>
          <a:noFill/>
          <a:ln/>
        </p:spPr>
        <p:txBody>
          <a:bodyPr wrap="square" lIns="0" tIns="0" rIns="0" bIns="0" rtlCol="0" anchor="ctr"/>
          <a:lstStyle/>
          <a:p>
            <a:pPr marL="0" indent="0">
              <a:buNone/>
            </a:pPr>
            <a:r>
              <a:rPr lang="en-US" sz="1100" b="1" kern="0" spc="200" dirty="0">
                <a:solidFill>
                  <a:srgbClr val="7C9CFF"/>
                </a:solidFill>
                <a:latin typeface="Arial" pitchFamily="34" charset="0"/>
                <a:ea typeface="Arial" pitchFamily="34" charset="-122"/>
                <a:cs typeface="Arial" pitchFamily="34" charset="-120"/>
              </a:rPr>
              <a:t>02</a:t>
            </a:r>
            <a:endParaRPr lang="en-US" sz="1100" dirty="0"/>
          </a:p>
        </p:txBody>
      </p:sp>
      <p:sp>
        <p:nvSpPr>
          <p:cNvPr id="10" name="Text 8"/>
          <p:cNvSpPr txBox="1"/>
          <p:nvPr/>
        </p:nvSpPr>
        <p:spPr>
          <a:xfrm>
            <a:off x="3563417" y="2231136"/>
            <a:ext cx="2249424"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Namn på allt</a:t>
            </a:r>
            <a:endParaRPr lang="en-US" sz="1600" dirty="0"/>
          </a:p>
        </p:txBody>
      </p:sp>
      <p:sp>
        <p:nvSpPr>
          <p:cNvPr id="11" name="Text 9"/>
          <p:cNvSpPr txBox="1"/>
          <p:nvPr/>
        </p:nvSpPr>
        <p:spPr>
          <a:xfrm>
            <a:off x="3563417" y="2615184"/>
            <a:ext cx="2249424" cy="1069848"/>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Verktyg på Windows når tjänsterna via *.local i hosts-filen</a:t>
            </a:r>
            <a:endParaRPr lang="en-US" sz="1300" dirty="0"/>
          </a:p>
        </p:txBody>
      </p:sp>
      <p:sp>
        <p:nvSpPr>
          <p:cNvPr id="12" name="Shape 10"/>
          <p:cNvSpPr/>
          <p:nvPr/>
        </p:nvSpPr>
        <p:spPr>
          <a:xfrm>
            <a:off x="6175858" y="1737360"/>
            <a:ext cx="2651760" cy="2103120"/>
          </a:xfrm>
          <a:prstGeom prst="roundRect">
            <a:avLst>
              <a:gd name="adj" fmla="val 2609"/>
            </a:avLst>
          </a:prstGeom>
          <a:solidFill>
            <a:srgbClr val="16294A"/>
          </a:solidFill>
          <a:ln w="12700">
            <a:solidFill>
              <a:srgbClr val="16294A"/>
            </a:solidFill>
            <a:prstDash val="solid"/>
          </a:ln>
        </p:spPr>
      </p:sp>
      <p:sp>
        <p:nvSpPr>
          <p:cNvPr id="13" name="Text 11"/>
          <p:cNvSpPr txBox="1"/>
          <p:nvPr/>
        </p:nvSpPr>
        <p:spPr>
          <a:xfrm>
            <a:off x="6377026" y="1938528"/>
            <a:ext cx="2249424" cy="274320"/>
          </a:xfrm>
          <a:prstGeom prst="rect">
            <a:avLst/>
          </a:prstGeom>
          <a:noFill/>
          <a:ln/>
        </p:spPr>
        <p:txBody>
          <a:bodyPr wrap="square" lIns="0" tIns="0" rIns="0" bIns="0" rtlCol="0" anchor="ctr"/>
          <a:lstStyle/>
          <a:p>
            <a:pPr marL="0" indent="0">
              <a:buNone/>
            </a:pPr>
            <a:r>
              <a:rPr lang="en-US" sz="1100" b="1" kern="0" spc="200" dirty="0">
                <a:solidFill>
                  <a:srgbClr val="7C9CFF"/>
                </a:solidFill>
                <a:latin typeface="Arial" pitchFamily="34" charset="0"/>
                <a:ea typeface="Arial" pitchFamily="34" charset="-122"/>
                <a:cs typeface="Arial" pitchFamily="34" charset="-120"/>
              </a:rPr>
              <a:t>03</a:t>
            </a:r>
            <a:endParaRPr lang="en-US" sz="1100" dirty="0"/>
          </a:p>
        </p:txBody>
      </p:sp>
      <p:sp>
        <p:nvSpPr>
          <p:cNvPr id="14" name="Text 12"/>
          <p:cNvSpPr txBox="1"/>
          <p:nvPr/>
        </p:nvSpPr>
        <p:spPr>
          <a:xfrm>
            <a:off x="6377026" y="2231136"/>
            <a:ext cx="2249424"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CQRS-appen</a:t>
            </a:r>
            <a:endParaRPr lang="en-US" sz="1600" dirty="0"/>
          </a:p>
        </p:txBody>
      </p:sp>
      <p:sp>
        <p:nvSpPr>
          <p:cNvPr id="15" name="Text 13"/>
          <p:cNvSpPr txBox="1"/>
          <p:nvPr/>
        </p:nvSpPr>
        <p:spPr>
          <a:xfrm>
            <a:off x="6377026" y="2615184"/>
            <a:ext cx="2249424" cy="1069848"/>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CQRSApi och CQRSWorker deployade med egna Helm-charts</a:t>
            </a:r>
            <a:endParaRPr lang="en-US" sz="1300" dirty="0"/>
          </a:p>
        </p:txBody>
      </p:sp>
      <p:sp>
        <p:nvSpPr>
          <p:cNvPr id="16" name="Shape 14"/>
          <p:cNvSpPr/>
          <p:nvPr/>
        </p:nvSpPr>
        <p:spPr>
          <a:xfrm>
            <a:off x="8989466" y="1737360"/>
            <a:ext cx="2651760" cy="2103120"/>
          </a:xfrm>
          <a:prstGeom prst="roundRect">
            <a:avLst>
              <a:gd name="adj" fmla="val 2609"/>
            </a:avLst>
          </a:prstGeom>
          <a:solidFill>
            <a:srgbClr val="3762FF"/>
          </a:solidFill>
          <a:ln w="12700">
            <a:solidFill>
              <a:srgbClr val="3762FF"/>
            </a:solidFill>
            <a:prstDash val="solid"/>
          </a:ln>
        </p:spPr>
      </p:sp>
      <p:sp>
        <p:nvSpPr>
          <p:cNvPr id="17" name="Text 15"/>
          <p:cNvSpPr txBox="1"/>
          <p:nvPr/>
        </p:nvSpPr>
        <p:spPr>
          <a:xfrm>
            <a:off x="9190634" y="1938528"/>
            <a:ext cx="2249424"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04</a:t>
            </a:r>
            <a:endParaRPr lang="en-US" sz="1100" dirty="0"/>
          </a:p>
        </p:txBody>
      </p:sp>
      <p:sp>
        <p:nvSpPr>
          <p:cNvPr id="18" name="Text 16"/>
          <p:cNvSpPr txBox="1"/>
          <p:nvPr/>
        </p:nvSpPr>
        <p:spPr>
          <a:xfrm>
            <a:off x="9190634" y="2231136"/>
            <a:ext cx="2249424"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Ett kommando hela vägen</a:t>
            </a:r>
            <a:endParaRPr lang="en-US" sz="1600" dirty="0"/>
          </a:p>
        </p:txBody>
      </p:sp>
      <p:sp>
        <p:nvSpPr>
          <p:cNvPr id="19" name="Text 17"/>
          <p:cNvSpPr txBox="1"/>
          <p:nvPr/>
        </p:nvSpPr>
        <p:spPr>
          <a:xfrm>
            <a:off x="9190634" y="2615184"/>
            <a:ext cx="2249424" cy="1069848"/>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POST via ingressen, genom NATS, in i MySQL - och tillbaka via GET</a:t>
            </a:r>
            <a:endParaRPr lang="en-US" sz="1300" dirty="0"/>
          </a:p>
        </p:txBody>
      </p:sp>
      <p:sp>
        <p:nvSpPr>
          <p:cNvPr id="20" name="Text 18"/>
          <p:cNvSpPr txBox="1"/>
          <p:nvPr/>
        </p:nvSpPr>
        <p:spPr>
          <a:xfrm>
            <a:off x="548640" y="4297680"/>
            <a:ext cx="10058400" cy="548640"/>
          </a:xfrm>
          <a:prstGeom prst="rect">
            <a:avLst/>
          </a:prstGeom>
          <a:noFill/>
          <a:ln/>
        </p:spPr>
        <p:txBody>
          <a:bodyPr wrap="square" lIns="0" tIns="0" rIns="0" bIns="0" rtlCol="0" anchor="t"/>
          <a:lstStyle/>
          <a:p>
            <a:pPr marL="0" indent="0">
              <a:lnSpc>
                <a:spcPct val="120000"/>
              </a:lnSpc>
              <a:buNone/>
            </a:pPr>
            <a:r>
              <a:rPr lang="en-US" sz="1600" dirty="0">
                <a:solidFill>
                  <a:srgbClr val="B9C4D1"/>
                </a:solidFill>
                <a:latin typeface="Arial" pitchFamily="34" charset="0"/>
                <a:ea typeface="Arial" pitchFamily="34" charset="-122"/>
                <a:cs typeface="Arial" pitchFamily="34" charset="-120"/>
              </a:rPr>
              <a:t>Infrastrukturen installerar vi en gång - den används resten av kursen.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marL="0" indent="0">
              <a:buNone/>
            </a:pPr>
            <a:r>
              <a:rPr lang="en-US" sz="15000" b="1" dirty="0">
                <a:solidFill>
                  <a:srgbClr val="16294A"/>
                </a:solidFill>
                <a:latin typeface="Calibri" pitchFamily="34" charset="0"/>
                <a:ea typeface="Calibri" pitchFamily="34" charset="-122"/>
                <a:cs typeface="Calibri" pitchFamily="34" charset="-120"/>
              </a:rPr>
              <a:t>01</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marL="0" indent="0">
              <a:buNone/>
            </a:pPr>
            <a:r>
              <a:rPr lang="en-US" sz="5200" b="1" dirty="0">
                <a:solidFill>
                  <a:srgbClr val="F5F7FA"/>
                </a:solidFill>
                <a:latin typeface="Calibri" pitchFamily="34" charset="0"/>
                <a:ea typeface="Calibri" pitchFamily="34" charset="-122"/>
                <a:cs typeface="Calibri" pitchFamily="34" charset="-120"/>
              </a:rPr>
              <a:t>Infrastrukturen</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MySQL, NATS och Redis - installerade en gång, använda hela kursen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INFRASTRUKTUREN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Tre byggstenar, installerade med Helm</a:t>
            </a:r>
            <a:endParaRPr lang="en-US" sz="3000" dirty="0"/>
          </a:p>
        </p:txBody>
      </p:sp>
      <p:sp>
        <p:nvSpPr>
          <p:cNvPr id="4" name="Shape 2"/>
          <p:cNvSpPr/>
          <p:nvPr/>
        </p:nvSpPr>
        <p:spPr>
          <a:xfrm>
            <a:off x="548640" y="1645920"/>
            <a:ext cx="3515258" cy="2926080"/>
          </a:xfrm>
          <a:prstGeom prst="roundRect">
            <a:avLst>
              <a:gd name="adj" fmla="val 1875"/>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777240" y="1874520"/>
            <a:ext cx="3058058"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RELATIONSDATABAS</a:t>
            </a:r>
            <a:endParaRPr lang="en-US" sz="1100" dirty="0"/>
          </a:p>
        </p:txBody>
      </p:sp>
      <p:sp>
        <p:nvSpPr>
          <p:cNvPr id="6" name="Text 4"/>
          <p:cNvSpPr txBox="1"/>
          <p:nvPr/>
        </p:nvSpPr>
        <p:spPr>
          <a:xfrm>
            <a:off x="777240" y="2194560"/>
            <a:ext cx="3058058" cy="457200"/>
          </a:xfrm>
          <a:prstGeom prst="rect">
            <a:avLst/>
          </a:prstGeom>
          <a:noFill/>
          <a:ln/>
        </p:spPr>
        <p:txBody>
          <a:bodyPr wrap="square" lIns="0" tIns="0" rIns="0" bIns="0" rtlCol="0" anchor="ctr"/>
          <a:lstStyle/>
          <a:p>
            <a:pPr marL="0" indent="0">
              <a:buNone/>
            </a:pPr>
            <a:r>
              <a:rPr lang="en-US" sz="2200" b="1" dirty="0">
                <a:solidFill>
                  <a:srgbClr val="16202B"/>
                </a:solidFill>
                <a:latin typeface="Calibri" pitchFamily="34" charset="0"/>
                <a:ea typeface="Calibri" pitchFamily="34" charset="-122"/>
                <a:cs typeface="Calibri" pitchFamily="34" charset="-120"/>
              </a:rPr>
              <a:t>MySQL</a:t>
            </a:r>
            <a:endParaRPr lang="en-US" sz="2200" dirty="0"/>
          </a:p>
        </p:txBody>
      </p:sp>
      <p:sp>
        <p:nvSpPr>
          <p:cNvPr id="7" name="Text 5"/>
          <p:cNvSpPr txBox="1"/>
          <p:nvPr/>
        </p:nvSpPr>
        <p:spPr>
          <a:xfrm>
            <a:off x="777240" y="2743200"/>
            <a:ext cx="3058058" cy="320040"/>
          </a:xfrm>
          <a:prstGeom prst="rect">
            <a:avLst/>
          </a:prstGeom>
          <a:noFill/>
          <a:ln/>
        </p:spPr>
        <p:txBody>
          <a:bodyPr wrap="square" lIns="0" tIns="0" rIns="0" bIns="0" rtlCol="0" anchor="ctr"/>
          <a:lstStyle/>
          <a:p>
            <a:pPr marL="0" indent="0">
              <a:buNone/>
            </a:pPr>
            <a:r>
              <a:rPr lang="en-US" sz="1200" dirty="0">
                <a:solidFill>
                  <a:srgbClr val="16202B"/>
                </a:solidFill>
                <a:latin typeface="Courier New" pitchFamily="34" charset="0"/>
                <a:ea typeface="Courier New" pitchFamily="34" charset="-122"/>
                <a:cs typeface="Courier New" pitchFamily="34" charset="-120"/>
              </a:rPr>
              <a:t>bitnami/mysql · port 3306</a:t>
            </a:r>
            <a:endParaRPr lang="en-US" sz="1200" dirty="0"/>
          </a:p>
        </p:txBody>
      </p:sp>
      <p:sp>
        <p:nvSpPr>
          <p:cNvPr id="8" name="Text 6"/>
          <p:cNvSpPr txBox="1"/>
          <p:nvPr/>
        </p:nvSpPr>
        <p:spPr>
          <a:xfrm>
            <a:off x="777240" y="3246120"/>
            <a:ext cx="3058058" cy="1097280"/>
          </a:xfrm>
          <a:prstGeom prst="rect">
            <a:avLst/>
          </a:prstGeom>
          <a:noFill/>
          <a:ln/>
        </p:spPr>
        <p:txBody>
          <a:bodyPr wrap="square" lIns="0" tIns="0" rIns="0" bIns="0" rtlCol="0" anchor="t"/>
          <a:lstStyle/>
          <a:p>
            <a:pPr marL="0" indent="0">
              <a:lnSpc>
                <a:spcPct val="115000"/>
              </a:lnSpc>
              <a:buNone/>
            </a:pPr>
            <a:r>
              <a:rPr lang="en-US" sz="1400" dirty="0">
                <a:solidFill>
                  <a:srgbClr val="4A5568"/>
                </a:solidFill>
                <a:latin typeface="Arial" pitchFamily="34" charset="0"/>
                <a:ea typeface="Arial" pitchFamily="34" charset="-122"/>
                <a:cs typeface="Arial" pitchFamily="34" charset="-120"/>
              </a:rPr>
              <a:t>Här sparar CQRSWorker sina personer. API:t läser samma tabell.</a:t>
            </a:r>
            <a:endParaRPr lang="en-US" sz="1400" dirty="0"/>
          </a:p>
        </p:txBody>
      </p:sp>
      <p:sp>
        <p:nvSpPr>
          <p:cNvPr id="9" name="Shape 7"/>
          <p:cNvSpPr/>
          <p:nvPr/>
        </p:nvSpPr>
        <p:spPr>
          <a:xfrm>
            <a:off x="4338218" y="1645920"/>
            <a:ext cx="3515258" cy="2926080"/>
          </a:xfrm>
          <a:prstGeom prst="roundRect">
            <a:avLst>
              <a:gd name="adj" fmla="val 1875"/>
            </a:avLst>
          </a:prstGeom>
          <a:solidFill>
            <a:srgbClr val="3762FF"/>
          </a:solidFill>
          <a:ln w="12700">
            <a:solidFill>
              <a:srgbClr val="3762FF"/>
            </a:solidFill>
            <a:prstDash val="solid"/>
          </a:ln>
        </p:spPr>
      </p:sp>
      <p:sp>
        <p:nvSpPr>
          <p:cNvPr id="10" name="Text 8"/>
          <p:cNvSpPr txBox="1"/>
          <p:nvPr/>
        </p:nvSpPr>
        <p:spPr>
          <a:xfrm>
            <a:off x="4566818" y="1874520"/>
            <a:ext cx="3058058"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MEDDELANDEN</a:t>
            </a:r>
            <a:endParaRPr lang="en-US" sz="1100" dirty="0"/>
          </a:p>
        </p:txBody>
      </p:sp>
      <p:sp>
        <p:nvSpPr>
          <p:cNvPr id="11" name="Text 9"/>
          <p:cNvSpPr txBox="1"/>
          <p:nvPr/>
        </p:nvSpPr>
        <p:spPr>
          <a:xfrm>
            <a:off x="4566818" y="2194560"/>
            <a:ext cx="3058058"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NATS + JetStream</a:t>
            </a:r>
            <a:endParaRPr lang="en-US" sz="2200" dirty="0"/>
          </a:p>
        </p:txBody>
      </p:sp>
      <p:sp>
        <p:nvSpPr>
          <p:cNvPr id="12" name="Text 10"/>
          <p:cNvSpPr txBox="1"/>
          <p:nvPr/>
        </p:nvSpPr>
        <p:spPr>
          <a:xfrm>
            <a:off x="4566818" y="2743200"/>
            <a:ext cx="3058058" cy="320040"/>
          </a:xfrm>
          <a:prstGeom prst="rect">
            <a:avLst/>
          </a:prstGeom>
          <a:noFill/>
          <a:ln/>
        </p:spPr>
        <p:txBody>
          <a:bodyPr wrap="square" lIns="0" tIns="0" rIns="0" bIns="0"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nats/nats · port 4222 / 8222</a:t>
            </a:r>
            <a:endParaRPr lang="en-US" sz="1200" dirty="0"/>
          </a:p>
        </p:txBody>
      </p:sp>
      <p:sp>
        <p:nvSpPr>
          <p:cNvPr id="13" name="Text 11"/>
          <p:cNvSpPr txBox="1"/>
          <p:nvPr/>
        </p:nvSpPr>
        <p:spPr>
          <a:xfrm>
            <a:off x="4566818" y="3246120"/>
            <a:ext cx="3058058" cy="1097280"/>
          </a:xfrm>
          <a:prstGeom prst="rect">
            <a:avLst/>
          </a:prstGeom>
          <a:noFill/>
          <a:ln/>
        </p:spPr>
        <p:txBody>
          <a:bodyPr wrap="square" lIns="0" tIns="0" rIns="0" bIns="0" rtlCol="0" anchor="t"/>
          <a:lstStyle/>
          <a:p>
            <a:pPr marL="0" indent="0">
              <a:lnSpc>
                <a:spcPct val="115000"/>
              </a:lnSpc>
              <a:buNone/>
            </a:pPr>
            <a:r>
              <a:rPr lang="en-US" sz="1400" dirty="0">
                <a:solidFill>
                  <a:srgbClr val="FFFFFF"/>
                </a:solidFill>
                <a:latin typeface="Arial" pitchFamily="34" charset="0"/>
                <a:ea typeface="Arial" pitchFamily="34" charset="-122"/>
                <a:cs typeface="Arial" pitchFamily="34" charset="-120"/>
              </a:rPr>
              <a:t>Bär kommandona från API:t till workern - och sparar dem tills de är utförda.</a:t>
            </a:r>
            <a:endParaRPr lang="en-US" sz="1400" dirty="0"/>
          </a:p>
        </p:txBody>
      </p:sp>
      <p:sp>
        <p:nvSpPr>
          <p:cNvPr id="14" name="Shape 12"/>
          <p:cNvSpPr/>
          <p:nvPr/>
        </p:nvSpPr>
        <p:spPr>
          <a:xfrm>
            <a:off x="8127797" y="1645920"/>
            <a:ext cx="3515258" cy="2926080"/>
          </a:xfrm>
          <a:prstGeom prst="roundRect">
            <a:avLst>
              <a:gd name="adj" fmla="val 1875"/>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5" name="Text 13"/>
          <p:cNvSpPr txBox="1"/>
          <p:nvPr/>
        </p:nvSpPr>
        <p:spPr>
          <a:xfrm>
            <a:off x="8356397" y="1874520"/>
            <a:ext cx="3058058"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NYCKEL-VÄRDE / CACHE</a:t>
            </a:r>
            <a:endParaRPr lang="en-US" sz="1100" dirty="0"/>
          </a:p>
        </p:txBody>
      </p:sp>
      <p:sp>
        <p:nvSpPr>
          <p:cNvPr id="16" name="Text 14"/>
          <p:cNvSpPr txBox="1"/>
          <p:nvPr/>
        </p:nvSpPr>
        <p:spPr>
          <a:xfrm>
            <a:off x="8356397" y="2194560"/>
            <a:ext cx="3058058" cy="457200"/>
          </a:xfrm>
          <a:prstGeom prst="rect">
            <a:avLst/>
          </a:prstGeom>
          <a:noFill/>
          <a:ln/>
        </p:spPr>
        <p:txBody>
          <a:bodyPr wrap="square" lIns="0" tIns="0" rIns="0" bIns="0" rtlCol="0" anchor="ctr"/>
          <a:lstStyle/>
          <a:p>
            <a:pPr marL="0" indent="0">
              <a:buNone/>
            </a:pPr>
            <a:r>
              <a:rPr lang="en-US" sz="2200" b="1" dirty="0">
                <a:solidFill>
                  <a:srgbClr val="16202B"/>
                </a:solidFill>
                <a:latin typeface="Calibri" pitchFamily="34" charset="0"/>
                <a:ea typeface="Calibri" pitchFamily="34" charset="-122"/>
                <a:cs typeface="Calibri" pitchFamily="34" charset="-120"/>
              </a:rPr>
              <a:t>Redis</a:t>
            </a:r>
            <a:endParaRPr lang="en-US" sz="2200" dirty="0"/>
          </a:p>
        </p:txBody>
      </p:sp>
      <p:sp>
        <p:nvSpPr>
          <p:cNvPr id="17" name="Text 15"/>
          <p:cNvSpPr txBox="1"/>
          <p:nvPr/>
        </p:nvSpPr>
        <p:spPr>
          <a:xfrm>
            <a:off x="8356397" y="2743200"/>
            <a:ext cx="3058058" cy="320040"/>
          </a:xfrm>
          <a:prstGeom prst="rect">
            <a:avLst/>
          </a:prstGeom>
          <a:noFill/>
          <a:ln/>
        </p:spPr>
        <p:txBody>
          <a:bodyPr wrap="square" lIns="0" tIns="0" rIns="0" bIns="0" rtlCol="0" anchor="ctr"/>
          <a:lstStyle/>
          <a:p>
            <a:pPr marL="0" indent="0">
              <a:buNone/>
            </a:pPr>
            <a:r>
              <a:rPr lang="en-US" sz="1200" dirty="0">
                <a:solidFill>
                  <a:srgbClr val="16202B"/>
                </a:solidFill>
                <a:latin typeface="Courier New" pitchFamily="34" charset="0"/>
                <a:ea typeface="Courier New" pitchFamily="34" charset="-122"/>
                <a:cs typeface="Courier New" pitchFamily="34" charset="-120"/>
              </a:rPr>
              <a:t>bitnami/redis · port 6379</a:t>
            </a:r>
            <a:endParaRPr lang="en-US" sz="1200" dirty="0"/>
          </a:p>
        </p:txBody>
      </p:sp>
      <p:sp>
        <p:nvSpPr>
          <p:cNvPr id="18" name="Text 16"/>
          <p:cNvSpPr txBox="1"/>
          <p:nvPr/>
        </p:nvSpPr>
        <p:spPr>
          <a:xfrm>
            <a:off x="8356397" y="3246120"/>
            <a:ext cx="3058058" cy="1097280"/>
          </a:xfrm>
          <a:prstGeom prst="rect">
            <a:avLst/>
          </a:prstGeom>
          <a:noFill/>
          <a:ln/>
        </p:spPr>
        <p:txBody>
          <a:bodyPr wrap="square" lIns="0" tIns="0" rIns="0" bIns="0" rtlCol="0" anchor="t"/>
          <a:lstStyle/>
          <a:p>
            <a:pPr marL="0" indent="0">
              <a:lnSpc>
                <a:spcPct val="115000"/>
              </a:lnSpc>
              <a:buNone/>
            </a:pPr>
            <a:r>
              <a:rPr lang="en-US" sz="1400" dirty="0">
                <a:solidFill>
                  <a:srgbClr val="4A5568"/>
                </a:solidFill>
                <a:latin typeface="Arial" pitchFamily="34" charset="0"/>
                <a:ea typeface="Arial" pitchFamily="34" charset="-122"/>
                <a:cs typeface="Arial" pitchFamily="34" charset="-120"/>
              </a:rPr>
              <a:t>Används inte ikväll. Kommer tillbaka som snabb läsmodell och cache.</a:t>
            </a:r>
            <a:endParaRPr lang="en-US" sz="1400" dirty="0"/>
          </a:p>
        </p:txBody>
      </p:sp>
      <p:sp>
        <p:nvSpPr>
          <p:cNvPr id="19" name="Text 17"/>
          <p:cNvSpPr txBox="1"/>
          <p:nvPr/>
        </p:nvSpPr>
        <p:spPr>
          <a:xfrm>
            <a:off x="548640" y="4983480"/>
            <a:ext cx="11094415" cy="457200"/>
          </a:xfrm>
          <a:prstGeom prst="rect">
            <a:avLst/>
          </a:prstGeom>
          <a:noFill/>
          <a:ln/>
        </p:spPr>
        <p:txBody>
          <a:bodyPr wrap="square" lIns="0" tIns="0" rIns="0" bIns="0" rtlCol="0" anchor="t"/>
          <a:lstStyle/>
          <a:p>
            <a:pPr marL="0" indent="0">
              <a:lnSpc>
                <a:spcPct val="120000"/>
              </a:lnSpc>
              <a:buNone/>
            </a:pPr>
            <a:r>
              <a:rPr lang="en-US" sz="1400" dirty="0">
                <a:solidFill>
                  <a:srgbClr val="6A7179"/>
                </a:solidFill>
                <a:latin typeface="Arial" pitchFamily="34" charset="0"/>
                <a:ea typeface="Arial" pitchFamily="34" charset="-122"/>
                <a:cs typeface="Arial" pitchFamily="34" charset="-120"/>
              </a:rPr>
              <a:t>Plus Sealed Secrets - krypterade Secrets som tål att checkas in i Git. Den tittar vi närmare på senare i kursen.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INFRASTRUKTUREN · SKRIPTET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deploy-infra.ps1 i korthet</a:t>
            </a:r>
            <a:endParaRPr lang="en-US" sz="3000" dirty="0"/>
          </a:p>
        </p:txBody>
      </p:sp>
      <p:sp>
        <p:nvSpPr>
          <p:cNvPr id="4" name="Shape 2"/>
          <p:cNvSpPr/>
          <p:nvPr/>
        </p:nvSpPr>
        <p:spPr>
          <a:xfrm>
            <a:off x="548640" y="1554480"/>
            <a:ext cx="6766560" cy="4297680"/>
          </a:xfrm>
          <a:prstGeom prst="roundRect">
            <a:avLst>
              <a:gd name="adj" fmla="val 1277"/>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576072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Infra\deploy-infra.ps1 (förenklat)</a:t>
            </a:r>
            <a:endParaRPr lang="en-US" sz="1100" dirty="0"/>
          </a:p>
        </p:txBody>
      </p:sp>
      <p:sp>
        <p:nvSpPr>
          <p:cNvPr id="9" name="Text 7"/>
          <p:cNvSpPr txBox="1"/>
          <p:nvPr/>
        </p:nvSpPr>
        <p:spPr>
          <a:xfrm>
            <a:off x="777240" y="2011680"/>
            <a:ext cx="6309360" cy="3703320"/>
          </a:xfrm>
          <a:prstGeom prst="rect">
            <a:avLst/>
          </a:prstGeom>
          <a:noFill/>
          <a:ln/>
        </p:spPr>
        <p:txBody>
          <a:bodyPr wrap="square" lIns="0" tIns="0" rIns="0" bIns="0" rtlCol="0" anchor="t"/>
          <a:lstStyle/>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helm repo add bitnami https://charts.bitnami.com/bitnami</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helm repo add nats https://nats-io.github.io/k8s/helm/charts/</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helm repo update</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helm upgrade --install mysql bitnami/mysql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-n mysql --create-namespace -f mysql-values.yaml</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helm upgrade --install nats nats/nats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-n nats --create-namespace -f nats-values.yaml</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helm upgrade --install redis bitnami/redis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-n redis --create-namespace -f redis-values.yaml</a:t>
            </a:r>
            <a:endParaRPr lang="en-US" sz="1200" dirty="0"/>
          </a:p>
        </p:txBody>
      </p:sp>
      <p:sp>
        <p:nvSpPr>
          <p:cNvPr id="10" name="Shape 8"/>
          <p:cNvSpPr/>
          <p:nvPr/>
        </p:nvSpPr>
        <p:spPr>
          <a:xfrm>
            <a:off x="7680960" y="1554480"/>
            <a:ext cx="3962095" cy="1280160"/>
          </a:xfrm>
          <a:prstGeom prst="roundRect">
            <a:avLst>
              <a:gd name="adj" fmla="val 4286"/>
            </a:avLst>
          </a:prstGeom>
          <a:solidFill>
            <a:srgbClr val="3762FF"/>
          </a:solidFill>
          <a:ln w="12700">
            <a:solidFill>
              <a:srgbClr val="3762FF"/>
            </a:solidFill>
            <a:prstDash val="solid"/>
          </a:ln>
        </p:spPr>
      </p:sp>
      <p:sp>
        <p:nvSpPr>
          <p:cNvPr id="11" name="Text 9"/>
          <p:cNvSpPr txBox="1"/>
          <p:nvPr/>
        </p:nvSpPr>
        <p:spPr>
          <a:xfrm>
            <a:off x="7882128" y="1755648"/>
            <a:ext cx="3559759"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upgrade --install</a:t>
            </a:r>
            <a:endParaRPr lang="en-US" sz="1600" dirty="0"/>
          </a:p>
        </p:txBody>
      </p:sp>
      <p:sp>
        <p:nvSpPr>
          <p:cNvPr id="12" name="Text 10"/>
          <p:cNvSpPr txBox="1"/>
          <p:nvPr/>
        </p:nvSpPr>
        <p:spPr>
          <a:xfrm>
            <a:off x="7882128" y="2139696"/>
            <a:ext cx="3559759" cy="53949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Installerar första gången, uppgraderar sedan. Skriptet kan köras om.</a:t>
            </a:r>
            <a:endParaRPr lang="en-US" sz="1300" dirty="0"/>
          </a:p>
        </p:txBody>
      </p:sp>
      <p:sp>
        <p:nvSpPr>
          <p:cNvPr id="13" name="Shape 11"/>
          <p:cNvSpPr/>
          <p:nvPr/>
        </p:nvSpPr>
        <p:spPr>
          <a:xfrm>
            <a:off x="7680960" y="3017520"/>
            <a:ext cx="3962095" cy="1280160"/>
          </a:xfrm>
          <a:prstGeom prst="roundRect">
            <a:avLst>
              <a:gd name="adj" fmla="val 4286"/>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7882128" y="3218688"/>
            <a:ext cx="3559759"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Values-filer</a:t>
            </a:r>
            <a:endParaRPr lang="en-US" sz="1600" dirty="0"/>
          </a:p>
        </p:txBody>
      </p:sp>
      <p:sp>
        <p:nvSpPr>
          <p:cNvPr id="15" name="Text 13"/>
          <p:cNvSpPr txBox="1"/>
          <p:nvPr/>
        </p:nvSpPr>
        <p:spPr>
          <a:xfrm>
            <a:off x="7882128" y="3602736"/>
            <a:ext cx="3559759" cy="53949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Lagring (local-path), LoadBalancer-tjänster och Prometheus-exportörer.</a:t>
            </a:r>
            <a:endParaRPr lang="en-US" sz="1300" dirty="0"/>
          </a:p>
        </p:txBody>
      </p:sp>
      <p:sp>
        <p:nvSpPr>
          <p:cNvPr id="16" name="Shape 14"/>
          <p:cNvSpPr/>
          <p:nvPr/>
        </p:nvSpPr>
        <p:spPr>
          <a:xfrm>
            <a:off x="7680960" y="4480560"/>
            <a:ext cx="3962095" cy="1371600"/>
          </a:xfrm>
          <a:prstGeom prst="roundRect">
            <a:avLst>
              <a:gd name="adj" fmla="val 4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7882128" y="4681728"/>
            <a:ext cx="3559759"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local-path</a:t>
            </a:r>
            <a:endParaRPr lang="en-US" sz="1600" dirty="0"/>
          </a:p>
        </p:txBody>
      </p:sp>
      <p:sp>
        <p:nvSpPr>
          <p:cNvPr id="18" name="Text 16"/>
          <p:cNvSpPr txBox="1"/>
          <p:nvPr/>
        </p:nvSpPr>
        <p:spPr>
          <a:xfrm>
            <a:off x="7882128" y="5065776"/>
            <a:ext cx="3559759" cy="63093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Volymerna hamnar i C:\data\shared\k8s tack vare flaggan i k3d-install.yaml.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INFRASTRUKTUREN · KONTROLL</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Kör skriptet - och kontrollera</a:t>
            </a:r>
            <a:endParaRPr lang="en-US" sz="3000" dirty="0"/>
          </a:p>
        </p:txBody>
      </p:sp>
      <p:sp>
        <p:nvSpPr>
          <p:cNvPr id="4" name="Shape 2"/>
          <p:cNvSpPr/>
          <p:nvPr/>
        </p:nvSpPr>
        <p:spPr>
          <a:xfrm>
            <a:off x="548640" y="1554480"/>
            <a:ext cx="11094415" cy="2377440"/>
          </a:xfrm>
          <a:prstGeom prst="roundRect">
            <a:avLst>
              <a:gd name="adj" fmla="val 2308"/>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10088575"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10637215" cy="1783080"/>
          </a:xfrm>
          <a:prstGeom prst="rect">
            <a:avLst/>
          </a:prstGeom>
          <a:noFill/>
          <a:ln/>
        </p:spPr>
        <p:txBody>
          <a:bodyPr wrap="square" lIns="0" tIns="0" rIns="0" bIns="0" rtlCol="0" anchor="t"/>
          <a:lstStyle/>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cd D:\Kvällskurs\Infra ; ./deploy-infra.ps1</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 </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get pods -A          # mysql-0, nats-0, redis-master-0 ... Running</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get pvc -A           # alla volymer ska ha STATUS Bound</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get svc -A | Select-String LoadBalancer</a:t>
            </a:r>
            <a:endParaRPr lang="en-US" sz="1300" dirty="0"/>
          </a:p>
          <a:p>
            <a:pPr marL="0" indent="0">
              <a:lnSpc>
                <a:spcPct val="110000"/>
              </a:lnSpc>
              <a:buNone/>
            </a:pPr>
            <a:r>
              <a:rPr lang="en-US" sz="1300" dirty="0">
                <a:solidFill>
                  <a:srgbClr val="B9C4D1"/>
                </a:solidFill>
                <a:latin typeface="Courier New" pitchFamily="34" charset="0"/>
                <a:ea typeface="Courier New" pitchFamily="34" charset="-122"/>
                <a:cs typeface="Courier New" pitchFamily="34" charset="-120"/>
              </a:rPr>
              <a:t>→ mysql  3306   ·   nats  4222, 8222   ·   redis-master  6379</a:t>
            </a:r>
            <a:endParaRPr lang="en-US" sz="1300" dirty="0"/>
          </a:p>
        </p:txBody>
      </p:sp>
      <p:sp>
        <p:nvSpPr>
          <p:cNvPr id="10" name="Shape 8"/>
          <p:cNvSpPr/>
          <p:nvPr/>
        </p:nvSpPr>
        <p:spPr>
          <a:xfrm>
            <a:off x="548640" y="4206240"/>
            <a:ext cx="11094415" cy="914400"/>
          </a:xfrm>
          <a:prstGeom prst="roundRect">
            <a:avLst>
              <a:gd name="adj" fmla="val 6000"/>
            </a:avLst>
          </a:prstGeom>
          <a:solidFill>
            <a:srgbClr val="E8EDFF"/>
          </a:solidFill>
          <a:ln w="12700">
            <a:solidFill>
              <a:srgbClr val="E8EDFF"/>
            </a:solidFill>
            <a:prstDash val="solid"/>
          </a:ln>
        </p:spPr>
      </p:sp>
      <p:sp>
        <p:nvSpPr>
          <p:cNvPr id="11" name="Text 9"/>
          <p:cNvSpPr txBox="1"/>
          <p:nvPr/>
        </p:nvSpPr>
        <p:spPr>
          <a:xfrm>
            <a:off x="822960" y="4206240"/>
            <a:ext cx="10545775" cy="914400"/>
          </a:xfrm>
          <a:prstGeom prst="rect">
            <a:avLst/>
          </a:prstGeom>
          <a:noFill/>
          <a:ln/>
        </p:spPr>
        <p:txBody>
          <a:bodyPr wrap="square" lIns="0" tIns="0" rIns="0" bIns="0" rtlCol="0" anchor="ctr"/>
          <a:lstStyle/>
          <a:p>
            <a:pPr marL="0" indent="0">
              <a:buNone/>
            </a:pPr>
            <a:r>
              <a:rPr lang="en-US" sz="1500" b="1" dirty="0">
                <a:solidFill>
                  <a:srgbClr val="16202B"/>
                </a:solidFill>
                <a:latin typeface="Arial" pitchFamily="34" charset="0"/>
                <a:ea typeface="Arial" pitchFamily="34" charset="-122"/>
                <a:cs typeface="Arial" pitchFamily="34" charset="-120"/>
              </a:rPr>
              <a:t>Klart när: </a:t>
            </a:r>
            <a:r>
              <a:rPr lang="en-US" sz="1500" dirty="0">
                <a:solidFill>
                  <a:srgbClr val="4A5568"/>
                </a:solidFill>
                <a:latin typeface="Arial" pitchFamily="34" charset="0"/>
                <a:ea typeface="Arial" pitchFamily="34" charset="-122"/>
                <a:cs typeface="Arial" pitchFamily="34" charset="-120"/>
              </a:rPr>
              <a:t>alla poddar är Running och alla PVC:er Bound. Pending på en PVC = fel lagringsklass i values-filen.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marL="0" indent="0">
              <a:buNone/>
            </a:pPr>
            <a:r>
              <a:rPr lang="en-US" sz="15000" b="1" dirty="0">
                <a:solidFill>
                  <a:srgbClr val="16294A"/>
                </a:solidFill>
                <a:latin typeface="Calibri" pitchFamily="34" charset="0"/>
                <a:ea typeface="Calibri" pitchFamily="34" charset="-122"/>
                <a:cs typeface="Calibri" pitchFamily="34" charset="-120"/>
              </a:rPr>
              <a:t>02</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marL="0" indent="0">
              <a:buNone/>
            </a:pPr>
            <a:r>
              <a:rPr lang="en-US" sz="5200" b="1" dirty="0">
                <a:solidFill>
                  <a:srgbClr val="F5F7FA"/>
                </a:solidFill>
                <a:latin typeface="Calibri" pitchFamily="34" charset="0"/>
                <a:ea typeface="Calibri" pitchFamily="34" charset="-122"/>
                <a:cs typeface="Calibri" pitchFamily="34" charset="-120"/>
              </a:rPr>
              <a:t>Hosts-filen</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Namn istället för localhost - och varför poddarna inte ser dem</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HOSTS-FILEN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Fyra rader i hosts-filen</a:t>
            </a:r>
            <a:endParaRPr lang="en-US" sz="3000" dirty="0"/>
          </a:p>
        </p:txBody>
      </p:sp>
      <p:sp>
        <p:nvSpPr>
          <p:cNvPr id="4" name="Shape 2"/>
          <p:cNvSpPr/>
          <p:nvPr/>
        </p:nvSpPr>
        <p:spPr>
          <a:xfrm>
            <a:off x="548640" y="1554480"/>
            <a:ext cx="5669280" cy="2834640"/>
          </a:xfrm>
          <a:prstGeom prst="roundRect">
            <a:avLst>
              <a:gd name="adj" fmla="val 1935"/>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466344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hosts</a:t>
            </a:r>
            <a:endParaRPr lang="en-US" sz="1100" dirty="0"/>
          </a:p>
        </p:txBody>
      </p:sp>
      <p:sp>
        <p:nvSpPr>
          <p:cNvPr id="9" name="Text 7"/>
          <p:cNvSpPr txBox="1"/>
          <p:nvPr/>
        </p:nvSpPr>
        <p:spPr>
          <a:xfrm>
            <a:off x="777240" y="2011680"/>
            <a:ext cx="5212080" cy="2240280"/>
          </a:xfrm>
          <a:prstGeom prst="rect">
            <a:avLst/>
          </a:prstGeom>
          <a:noFill/>
          <a:ln/>
        </p:spPr>
        <p:txBody>
          <a:bodyPr wrap="square" lIns="0" tIns="0" rIns="0" bIns="0" rtlCol="0" anchor="t"/>
          <a:lstStyle/>
          <a:p>
            <a:pPr marL="0" indent="0">
              <a:lnSpc>
                <a:spcPct val="110000"/>
              </a:lnSpc>
              <a:buNone/>
            </a:pPr>
            <a:r>
              <a:rPr lang="en-US" sz="1400" i="1" dirty="0">
                <a:solidFill>
                  <a:srgbClr val="B9C4D1"/>
                </a:solidFill>
                <a:latin typeface="Courier New" pitchFamily="34" charset="0"/>
                <a:ea typeface="Courier New" pitchFamily="34" charset="-122"/>
                <a:cs typeface="Courier New" pitchFamily="34" charset="-120"/>
              </a:rPr>
              <a:t># C:\Windows\System32\drivers\etc\hosts</a:t>
            </a:r>
            <a:endParaRPr lang="en-US" sz="1400" dirty="0"/>
          </a:p>
          <a:p>
            <a:pPr marL="0" indent="0">
              <a:lnSpc>
                <a:spcPct val="110000"/>
              </a:lnSpc>
              <a:buNone/>
            </a:pPr>
            <a:r>
              <a:rPr lang="en-US" sz="1400" i="1" dirty="0">
                <a:solidFill>
                  <a:srgbClr val="B9C4D1"/>
                </a:solidFill>
                <a:latin typeface="Courier New" pitchFamily="34" charset="0"/>
                <a:ea typeface="Courier New" pitchFamily="34" charset="-122"/>
                <a:cs typeface="Courier New" pitchFamily="34" charset="-120"/>
              </a:rPr>
              <a:t># (öppna Notepad som administratör)</a:t>
            </a:r>
            <a:endParaRPr lang="en-US" sz="1400" dirty="0"/>
          </a:p>
          <a:p>
            <a:pPr marL="0" indent="0">
              <a:lnSpc>
                <a:spcPct val="110000"/>
              </a:lnSpc>
              <a:buNone/>
            </a:pPr>
            <a:r>
              <a:rPr lang="en-US" sz="1400" dirty="0">
                <a:solidFill>
                  <a:srgbClr val="DDE3EA"/>
                </a:solidFill>
                <a:latin typeface="Courier New" pitchFamily="34" charset="0"/>
                <a:ea typeface="Courier New" pitchFamily="34" charset="-122"/>
                <a:cs typeface="Courier New" pitchFamily="34" charset="-120"/>
              </a:rPr>
              <a:t>127.0.0.1    mysql.local</a:t>
            </a:r>
            <a:endParaRPr lang="en-US" sz="1400" dirty="0"/>
          </a:p>
          <a:p>
            <a:pPr marL="0" indent="0">
              <a:lnSpc>
                <a:spcPct val="110000"/>
              </a:lnSpc>
              <a:buNone/>
            </a:pPr>
            <a:r>
              <a:rPr lang="en-US" sz="1400" dirty="0">
                <a:solidFill>
                  <a:srgbClr val="DDE3EA"/>
                </a:solidFill>
                <a:latin typeface="Courier New" pitchFamily="34" charset="0"/>
                <a:ea typeface="Courier New" pitchFamily="34" charset="-122"/>
                <a:cs typeface="Courier New" pitchFamily="34" charset="-120"/>
              </a:rPr>
              <a:t>127.0.0.1    nats.local</a:t>
            </a:r>
            <a:endParaRPr lang="en-US" sz="1400" dirty="0"/>
          </a:p>
          <a:p>
            <a:pPr marL="0" indent="0">
              <a:lnSpc>
                <a:spcPct val="110000"/>
              </a:lnSpc>
              <a:buNone/>
            </a:pPr>
            <a:r>
              <a:rPr lang="en-US" sz="1400" dirty="0">
                <a:solidFill>
                  <a:srgbClr val="DDE3EA"/>
                </a:solidFill>
                <a:latin typeface="Courier New" pitchFamily="34" charset="0"/>
                <a:ea typeface="Courier New" pitchFamily="34" charset="-122"/>
                <a:cs typeface="Courier New" pitchFamily="34" charset="-120"/>
              </a:rPr>
              <a:t>127.0.0.1    redis.local</a:t>
            </a:r>
            <a:endParaRPr lang="en-US" sz="1400" dirty="0"/>
          </a:p>
          <a:p>
            <a:pPr marL="0" indent="0">
              <a:lnSpc>
                <a:spcPct val="110000"/>
              </a:lnSpc>
              <a:buNone/>
            </a:pPr>
            <a:r>
              <a:rPr lang="en-US" sz="1400" dirty="0">
                <a:solidFill>
                  <a:srgbClr val="DDE3EA"/>
                </a:solidFill>
                <a:latin typeface="Courier New" pitchFamily="34" charset="0"/>
                <a:ea typeface="Courier New" pitchFamily="34" charset="-122"/>
                <a:cs typeface="Courier New" pitchFamily="34" charset="-120"/>
              </a:rPr>
              <a:t>127.0.0.1    cqrsapi.local</a:t>
            </a:r>
            <a:endParaRPr lang="en-US" sz="1400" dirty="0"/>
          </a:p>
        </p:txBody>
      </p:sp>
      <p:sp>
        <p:nvSpPr>
          <p:cNvPr id="10" name="Shape 8"/>
          <p:cNvSpPr/>
          <p:nvPr/>
        </p:nvSpPr>
        <p:spPr>
          <a:xfrm>
            <a:off x="6583680" y="1554480"/>
            <a:ext cx="5059375" cy="603504"/>
          </a:xfrm>
          <a:prstGeom prst="roundRect">
            <a:avLst>
              <a:gd name="adj" fmla="val 9091"/>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6766560" y="1554480"/>
            <a:ext cx="2651760" cy="603504"/>
          </a:xfrm>
          <a:prstGeom prst="rect">
            <a:avLst/>
          </a:prstGeom>
          <a:noFill/>
          <a:ln/>
        </p:spPr>
        <p:txBody>
          <a:bodyPr wrap="square" lIns="0" tIns="0" rIns="0" bIns="0" rtlCol="0" anchor="ctr"/>
          <a:lstStyle/>
          <a:p>
            <a:pPr marL="0" indent="0">
              <a:buNone/>
            </a:pPr>
            <a:r>
              <a:rPr lang="en-US" sz="1300" b="1" dirty="0">
                <a:solidFill>
                  <a:srgbClr val="16202B"/>
                </a:solidFill>
                <a:latin typeface="Courier New" pitchFamily="34" charset="0"/>
                <a:ea typeface="Courier New" pitchFamily="34" charset="-122"/>
                <a:cs typeface="Courier New" pitchFamily="34" charset="-120"/>
              </a:rPr>
              <a:t>mysql.local:3306</a:t>
            </a:r>
            <a:endParaRPr lang="en-US" sz="1300" dirty="0"/>
          </a:p>
        </p:txBody>
      </p:sp>
      <p:sp>
        <p:nvSpPr>
          <p:cNvPr id="12" name="Text 10"/>
          <p:cNvSpPr txBox="1"/>
          <p:nvPr/>
        </p:nvSpPr>
        <p:spPr>
          <a:xfrm>
            <a:off x="9418320" y="1554480"/>
            <a:ext cx="2041855" cy="603504"/>
          </a:xfrm>
          <a:prstGeom prst="rect">
            <a:avLst/>
          </a:prstGeom>
          <a:noFill/>
          <a:ln/>
        </p:spPr>
        <p:txBody>
          <a:bodyPr wrap="square" lIns="0" tIns="0" rIns="0" bIns="0" rtlCol="0" anchor="ctr"/>
          <a:lstStyle/>
          <a:p>
            <a:pPr marL="0" indent="0">
              <a:buNone/>
            </a:pPr>
            <a:r>
              <a:rPr lang="en-US" sz="1200" dirty="0">
                <a:solidFill>
                  <a:srgbClr val="4A5568"/>
                </a:solidFill>
                <a:latin typeface="Arial" pitchFamily="34" charset="0"/>
                <a:ea typeface="Arial" pitchFamily="34" charset="-122"/>
                <a:cs typeface="Arial" pitchFamily="34" charset="-120"/>
              </a:rPr>
              <a:t>MySQL Workbench / DBeaver</a:t>
            </a:r>
            <a:endParaRPr lang="en-US" sz="1200" dirty="0"/>
          </a:p>
        </p:txBody>
      </p:sp>
      <p:sp>
        <p:nvSpPr>
          <p:cNvPr id="13" name="Shape 11"/>
          <p:cNvSpPr/>
          <p:nvPr/>
        </p:nvSpPr>
        <p:spPr>
          <a:xfrm>
            <a:off x="6583680" y="2286000"/>
            <a:ext cx="5059375" cy="603504"/>
          </a:xfrm>
          <a:prstGeom prst="roundRect">
            <a:avLst>
              <a:gd name="adj" fmla="val 9091"/>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6766560" y="2286000"/>
            <a:ext cx="2651760" cy="603504"/>
          </a:xfrm>
          <a:prstGeom prst="rect">
            <a:avLst/>
          </a:prstGeom>
          <a:noFill/>
          <a:ln/>
        </p:spPr>
        <p:txBody>
          <a:bodyPr wrap="square" lIns="0" tIns="0" rIns="0" bIns="0" rtlCol="0" anchor="ctr"/>
          <a:lstStyle/>
          <a:p>
            <a:pPr marL="0" indent="0">
              <a:buNone/>
            </a:pPr>
            <a:r>
              <a:rPr lang="en-US" sz="1300" b="1" dirty="0">
                <a:solidFill>
                  <a:srgbClr val="16202B"/>
                </a:solidFill>
                <a:latin typeface="Courier New" pitchFamily="34" charset="0"/>
                <a:ea typeface="Courier New" pitchFamily="34" charset="-122"/>
                <a:cs typeface="Courier New" pitchFamily="34" charset="-120"/>
              </a:rPr>
              <a:t>nats://nats.local:4222</a:t>
            </a:r>
            <a:endParaRPr lang="en-US" sz="1300" dirty="0"/>
          </a:p>
        </p:txBody>
      </p:sp>
      <p:sp>
        <p:nvSpPr>
          <p:cNvPr id="15" name="Text 13"/>
          <p:cNvSpPr txBox="1"/>
          <p:nvPr/>
        </p:nvSpPr>
        <p:spPr>
          <a:xfrm>
            <a:off x="9418320" y="2286000"/>
            <a:ext cx="2041855" cy="603504"/>
          </a:xfrm>
          <a:prstGeom prst="rect">
            <a:avLst/>
          </a:prstGeom>
          <a:noFill/>
          <a:ln/>
        </p:spPr>
        <p:txBody>
          <a:bodyPr wrap="square" lIns="0" tIns="0" rIns="0" bIns="0" rtlCol="0" anchor="ctr"/>
          <a:lstStyle/>
          <a:p>
            <a:pPr marL="0" indent="0">
              <a:buNone/>
            </a:pPr>
            <a:r>
              <a:rPr lang="en-US" sz="1200" dirty="0">
                <a:solidFill>
                  <a:srgbClr val="4A5568"/>
                </a:solidFill>
                <a:latin typeface="Arial" pitchFamily="34" charset="0"/>
                <a:ea typeface="Arial" pitchFamily="34" charset="-122"/>
                <a:cs typeface="Arial" pitchFamily="34" charset="-120"/>
              </a:rPr>
              <a:t>nats CLI, NATS-monitor på :8222</a:t>
            </a:r>
            <a:endParaRPr lang="en-US" sz="1200" dirty="0"/>
          </a:p>
        </p:txBody>
      </p:sp>
      <p:sp>
        <p:nvSpPr>
          <p:cNvPr id="16" name="Shape 14"/>
          <p:cNvSpPr/>
          <p:nvPr/>
        </p:nvSpPr>
        <p:spPr>
          <a:xfrm>
            <a:off x="6583680" y="3017520"/>
            <a:ext cx="5059375" cy="603504"/>
          </a:xfrm>
          <a:prstGeom prst="roundRect">
            <a:avLst>
              <a:gd name="adj" fmla="val 9091"/>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6766560" y="3017520"/>
            <a:ext cx="2651760" cy="603504"/>
          </a:xfrm>
          <a:prstGeom prst="rect">
            <a:avLst/>
          </a:prstGeom>
          <a:noFill/>
          <a:ln/>
        </p:spPr>
        <p:txBody>
          <a:bodyPr wrap="square" lIns="0" tIns="0" rIns="0" bIns="0" rtlCol="0" anchor="ctr"/>
          <a:lstStyle/>
          <a:p>
            <a:pPr marL="0" indent="0">
              <a:buNone/>
            </a:pPr>
            <a:r>
              <a:rPr lang="en-US" sz="1300" b="1" dirty="0">
                <a:solidFill>
                  <a:srgbClr val="16202B"/>
                </a:solidFill>
                <a:latin typeface="Courier New" pitchFamily="34" charset="0"/>
                <a:ea typeface="Courier New" pitchFamily="34" charset="-122"/>
                <a:cs typeface="Courier New" pitchFamily="34" charset="-120"/>
              </a:rPr>
              <a:t>redis.local:6379</a:t>
            </a:r>
            <a:endParaRPr lang="en-US" sz="1300" dirty="0"/>
          </a:p>
        </p:txBody>
      </p:sp>
      <p:sp>
        <p:nvSpPr>
          <p:cNvPr id="18" name="Text 16"/>
          <p:cNvSpPr txBox="1"/>
          <p:nvPr/>
        </p:nvSpPr>
        <p:spPr>
          <a:xfrm>
            <a:off x="9418320" y="3017520"/>
            <a:ext cx="2041855" cy="603504"/>
          </a:xfrm>
          <a:prstGeom prst="rect">
            <a:avLst/>
          </a:prstGeom>
          <a:noFill/>
          <a:ln/>
        </p:spPr>
        <p:txBody>
          <a:bodyPr wrap="square" lIns="0" tIns="0" rIns="0" bIns="0" rtlCol="0" anchor="ctr"/>
          <a:lstStyle/>
          <a:p>
            <a:pPr marL="0" indent="0">
              <a:buNone/>
            </a:pPr>
            <a:r>
              <a:rPr lang="en-US" sz="1200" dirty="0">
                <a:solidFill>
                  <a:srgbClr val="4A5568"/>
                </a:solidFill>
                <a:latin typeface="Arial" pitchFamily="34" charset="0"/>
                <a:ea typeface="Arial" pitchFamily="34" charset="-122"/>
                <a:cs typeface="Arial" pitchFamily="34" charset="-120"/>
              </a:rPr>
              <a:t>Redis Insight</a:t>
            </a:r>
            <a:endParaRPr lang="en-US" sz="1200" dirty="0"/>
          </a:p>
        </p:txBody>
      </p:sp>
      <p:sp>
        <p:nvSpPr>
          <p:cNvPr id="19" name="Shape 17"/>
          <p:cNvSpPr/>
          <p:nvPr/>
        </p:nvSpPr>
        <p:spPr>
          <a:xfrm>
            <a:off x="6583680" y="3749040"/>
            <a:ext cx="5059375" cy="603504"/>
          </a:xfrm>
          <a:prstGeom prst="roundRect">
            <a:avLst>
              <a:gd name="adj" fmla="val 9091"/>
            </a:avLst>
          </a:prstGeom>
          <a:solidFill>
            <a:srgbClr val="3762FF"/>
          </a:solidFill>
          <a:ln w="12700">
            <a:solidFill>
              <a:srgbClr val="3762FF"/>
            </a:solidFill>
            <a:prstDash val="solid"/>
          </a:ln>
        </p:spPr>
      </p:sp>
      <p:sp>
        <p:nvSpPr>
          <p:cNvPr id="20" name="Text 18"/>
          <p:cNvSpPr txBox="1"/>
          <p:nvPr/>
        </p:nvSpPr>
        <p:spPr>
          <a:xfrm>
            <a:off x="6766560" y="3749040"/>
            <a:ext cx="2651760" cy="603504"/>
          </a:xfrm>
          <a:prstGeom prst="rect">
            <a:avLst/>
          </a:prstGeom>
          <a:noFill/>
          <a:ln/>
        </p:spPr>
        <p:txBody>
          <a:bodyPr wrap="square" lIns="0" tIns="0" rIns="0" bIns="0"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http://cqrsapi.local</a:t>
            </a:r>
            <a:endParaRPr lang="en-US" sz="1300" dirty="0"/>
          </a:p>
        </p:txBody>
      </p:sp>
      <p:sp>
        <p:nvSpPr>
          <p:cNvPr id="21" name="Text 19"/>
          <p:cNvSpPr txBox="1"/>
          <p:nvPr/>
        </p:nvSpPr>
        <p:spPr>
          <a:xfrm>
            <a:off x="9418320" y="3749040"/>
            <a:ext cx="2041855" cy="603504"/>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Webbläsare, .http-filer, Postman</a:t>
            </a:r>
            <a:endParaRPr lang="en-US" sz="1200" dirty="0"/>
          </a:p>
        </p:txBody>
      </p:sp>
      <p:sp>
        <p:nvSpPr>
          <p:cNvPr id="22" name="Text 20"/>
          <p:cNvSpPr txBox="1"/>
          <p:nvPr/>
        </p:nvSpPr>
        <p:spPr>
          <a:xfrm>
            <a:off x="548640" y="4754880"/>
            <a:ext cx="11094415" cy="822960"/>
          </a:xfrm>
          <a:prstGeom prst="rect">
            <a:avLst/>
          </a:prstGeom>
          <a:noFill/>
          <a:ln/>
        </p:spPr>
        <p:txBody>
          <a:bodyPr wrap="square" lIns="0" tIns="0" rIns="0" bIns="0" rtlCol="0" anchor="t"/>
          <a:lstStyle/>
          <a:p>
            <a:pPr marL="0" indent="0">
              <a:lnSpc>
                <a:spcPct val="120000"/>
              </a:lnSpc>
              <a:buNone/>
            </a:pPr>
            <a:r>
              <a:rPr lang="en-US" sz="1400" dirty="0">
                <a:solidFill>
                  <a:srgbClr val="4A5568"/>
                </a:solidFill>
                <a:latin typeface="Arial" pitchFamily="34" charset="0"/>
                <a:ea typeface="Arial" pitchFamily="34" charset="-122"/>
                <a:cs typeface="Arial" pitchFamily="34" charset="-120"/>
              </a:rPr>
              <a:t>Alla pekar på 127.0.0.1. k3d tar emot porten och skickar in den i klustret. För cqrsapi.local läser Traefik dessutom namnet för att välja rätt Ingress.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HOSTS-FILEN · VIKTIGT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Två världar, två adresser</a:t>
            </a:r>
            <a:endParaRPr lang="en-US" sz="3000" dirty="0"/>
          </a:p>
        </p:txBody>
      </p:sp>
      <p:sp>
        <p:nvSpPr>
          <p:cNvPr id="4" name="Text 2"/>
          <p:cNvSpPr txBox="1"/>
          <p:nvPr/>
        </p:nvSpPr>
        <p:spPr>
          <a:xfrm>
            <a:off x="548640" y="1600200"/>
            <a:ext cx="1463040" cy="502920"/>
          </a:xfrm>
          <a:prstGeom prst="rect">
            <a:avLst/>
          </a:prstGeom>
          <a:noFill/>
          <a:ln/>
        </p:spPr>
        <p:txBody>
          <a:bodyPr wrap="square" lIns="0" tIns="0" rIns="0" bIns="0" rtlCol="0" anchor="ctr"/>
          <a:lstStyle/>
          <a:p>
            <a:pPr marL="0" indent="0">
              <a:buNone/>
            </a:pPr>
            <a:endParaRPr lang="en-US" sz="1200" dirty="0"/>
          </a:p>
        </p:txBody>
      </p:sp>
      <p:sp>
        <p:nvSpPr>
          <p:cNvPr id="5" name="Text 3"/>
          <p:cNvSpPr txBox="1"/>
          <p:nvPr/>
        </p:nvSpPr>
        <p:spPr>
          <a:xfrm>
            <a:off x="2011680" y="1600200"/>
            <a:ext cx="3931920" cy="502920"/>
          </a:xfrm>
          <a:prstGeom prst="rect">
            <a:avLst/>
          </a:prstGeom>
          <a:noFill/>
          <a:ln/>
        </p:spPr>
        <p:txBody>
          <a:bodyPr wrap="square" lIns="0" tIns="0" rIns="0" bIns="0" rtlCol="0" anchor="ctr"/>
          <a:lstStyle/>
          <a:p>
            <a:pPr marL="0" indent="0">
              <a:buNone/>
            </a:pPr>
            <a:r>
              <a:rPr lang="en-US" sz="1200" b="1" dirty="0">
                <a:solidFill>
                  <a:srgbClr val="7C9CFF"/>
                </a:solidFill>
                <a:latin typeface="Arial" pitchFamily="34" charset="0"/>
                <a:ea typeface="Arial" pitchFamily="34" charset="-122"/>
                <a:cs typeface="Arial" pitchFamily="34" charset="-120"/>
              </a:rPr>
              <a:t>Från Windows (hosts-filen)</a:t>
            </a:r>
            <a:endParaRPr lang="en-US" sz="1200" dirty="0"/>
          </a:p>
        </p:txBody>
      </p:sp>
      <p:sp>
        <p:nvSpPr>
          <p:cNvPr id="6" name="Text 4"/>
          <p:cNvSpPr txBox="1"/>
          <p:nvPr/>
        </p:nvSpPr>
        <p:spPr>
          <a:xfrm>
            <a:off x="5943600" y="1600200"/>
            <a:ext cx="5696712" cy="502920"/>
          </a:xfrm>
          <a:prstGeom prst="rect">
            <a:avLst/>
          </a:prstGeom>
          <a:noFill/>
          <a:ln/>
        </p:spPr>
        <p:txBody>
          <a:bodyPr wrap="square" lIns="0" tIns="0" rIns="0" bIns="0" rtlCol="0" anchor="ctr"/>
          <a:lstStyle/>
          <a:p>
            <a:pPr marL="0" indent="0">
              <a:buNone/>
            </a:pPr>
            <a:r>
              <a:rPr lang="en-US" sz="1200" b="1" dirty="0">
                <a:solidFill>
                  <a:srgbClr val="7C9CFF"/>
                </a:solidFill>
                <a:latin typeface="Arial" pitchFamily="34" charset="0"/>
                <a:ea typeface="Arial" pitchFamily="34" charset="-122"/>
                <a:cs typeface="Arial" pitchFamily="34" charset="-120"/>
              </a:rPr>
              <a:t>Inifrån klustret (poddar)</a:t>
            </a:r>
            <a:endParaRPr lang="en-US" sz="1200" dirty="0"/>
          </a:p>
        </p:txBody>
      </p:sp>
      <p:sp>
        <p:nvSpPr>
          <p:cNvPr id="7" name="Text 5"/>
          <p:cNvSpPr txBox="1"/>
          <p:nvPr/>
        </p:nvSpPr>
        <p:spPr>
          <a:xfrm>
            <a:off x="548640" y="2167128"/>
            <a:ext cx="1463040" cy="502920"/>
          </a:xfrm>
          <a:prstGeom prst="rect">
            <a:avLst/>
          </a:prstGeom>
          <a:noFill/>
          <a:ln/>
        </p:spPr>
        <p:txBody>
          <a:bodyPr wrap="square" lIns="0" tIns="0" rIns="0" bIns="0" rtlCol="0" anchor="ctr"/>
          <a:lstStyle/>
          <a:p>
            <a:pPr marL="0" indent="0">
              <a:buNone/>
            </a:pPr>
            <a:r>
              <a:rPr lang="en-US" sz="1300" b="1" dirty="0">
                <a:solidFill>
                  <a:srgbClr val="F5F7FA"/>
                </a:solidFill>
                <a:latin typeface="Arial" pitchFamily="34" charset="0"/>
                <a:ea typeface="Arial" pitchFamily="34" charset="-122"/>
                <a:cs typeface="Arial" pitchFamily="34" charset="-120"/>
              </a:rPr>
              <a:t>MySQL</a:t>
            </a:r>
            <a:endParaRPr lang="en-US" sz="1300" dirty="0"/>
          </a:p>
        </p:txBody>
      </p:sp>
      <p:sp>
        <p:nvSpPr>
          <p:cNvPr id="8" name="Text 6"/>
          <p:cNvSpPr txBox="1"/>
          <p:nvPr/>
        </p:nvSpPr>
        <p:spPr>
          <a:xfrm>
            <a:off x="2011680" y="2167128"/>
            <a:ext cx="3931920" cy="502920"/>
          </a:xfrm>
          <a:prstGeom prst="rect">
            <a:avLst/>
          </a:prstGeom>
          <a:noFill/>
          <a:ln/>
        </p:spPr>
        <p:txBody>
          <a:bodyPr wrap="square" lIns="0" tIns="0" rIns="0" bIns="0" rtlCol="0" anchor="ctr"/>
          <a:lstStyle/>
          <a:p>
            <a:pPr marL="0" indent="0">
              <a:buNone/>
            </a:pPr>
            <a:r>
              <a:rPr lang="en-US" sz="1300" dirty="0">
                <a:solidFill>
                  <a:srgbClr val="B9C4D1"/>
                </a:solidFill>
                <a:latin typeface="Courier New" pitchFamily="34" charset="0"/>
                <a:ea typeface="Courier New" pitchFamily="34" charset="-122"/>
                <a:cs typeface="Courier New" pitchFamily="34" charset="-120"/>
              </a:rPr>
              <a:t>mysql.local:3306</a:t>
            </a:r>
            <a:endParaRPr lang="en-US" sz="1300" dirty="0"/>
          </a:p>
        </p:txBody>
      </p:sp>
      <p:sp>
        <p:nvSpPr>
          <p:cNvPr id="9" name="Text 7"/>
          <p:cNvSpPr txBox="1"/>
          <p:nvPr/>
        </p:nvSpPr>
        <p:spPr>
          <a:xfrm>
            <a:off x="5943600" y="2167128"/>
            <a:ext cx="5696712" cy="502920"/>
          </a:xfrm>
          <a:prstGeom prst="rect">
            <a:avLst/>
          </a:prstGeom>
          <a:noFill/>
          <a:ln/>
        </p:spPr>
        <p:txBody>
          <a:bodyPr wrap="square" lIns="0" tIns="0" rIns="0" bIns="0" rtlCol="0" anchor="ctr"/>
          <a:lstStyle/>
          <a:p>
            <a:pPr marL="0" indent="0">
              <a:buNone/>
            </a:pPr>
            <a:r>
              <a:rPr lang="en-US" sz="1300" dirty="0">
                <a:solidFill>
                  <a:srgbClr val="B9C4D1"/>
                </a:solidFill>
                <a:latin typeface="Courier New" pitchFamily="34" charset="0"/>
                <a:ea typeface="Courier New" pitchFamily="34" charset="-122"/>
                <a:cs typeface="Courier New" pitchFamily="34" charset="-120"/>
              </a:rPr>
              <a:t>mysql.mysql.svc.cluster.local:3306</a:t>
            </a:r>
            <a:endParaRPr lang="en-US" sz="1300" dirty="0"/>
          </a:p>
        </p:txBody>
      </p:sp>
      <p:sp>
        <p:nvSpPr>
          <p:cNvPr id="10" name="Text 8"/>
          <p:cNvSpPr txBox="1"/>
          <p:nvPr/>
        </p:nvSpPr>
        <p:spPr>
          <a:xfrm>
            <a:off x="548640" y="2734056"/>
            <a:ext cx="1463040" cy="502920"/>
          </a:xfrm>
          <a:prstGeom prst="rect">
            <a:avLst/>
          </a:prstGeom>
          <a:noFill/>
          <a:ln/>
        </p:spPr>
        <p:txBody>
          <a:bodyPr wrap="square" lIns="0" tIns="0" rIns="0" bIns="0" rtlCol="0" anchor="ctr"/>
          <a:lstStyle/>
          <a:p>
            <a:pPr marL="0" indent="0">
              <a:buNone/>
            </a:pPr>
            <a:r>
              <a:rPr lang="en-US" sz="1300" b="1" dirty="0">
                <a:solidFill>
                  <a:srgbClr val="F5F7FA"/>
                </a:solidFill>
                <a:latin typeface="Arial" pitchFamily="34" charset="0"/>
                <a:ea typeface="Arial" pitchFamily="34" charset="-122"/>
                <a:cs typeface="Arial" pitchFamily="34" charset="-120"/>
              </a:rPr>
              <a:t>NATS</a:t>
            </a:r>
            <a:endParaRPr lang="en-US" sz="1300" dirty="0"/>
          </a:p>
        </p:txBody>
      </p:sp>
      <p:sp>
        <p:nvSpPr>
          <p:cNvPr id="11" name="Text 9"/>
          <p:cNvSpPr txBox="1"/>
          <p:nvPr/>
        </p:nvSpPr>
        <p:spPr>
          <a:xfrm>
            <a:off x="2011680" y="2734056"/>
            <a:ext cx="3931920" cy="502920"/>
          </a:xfrm>
          <a:prstGeom prst="rect">
            <a:avLst/>
          </a:prstGeom>
          <a:noFill/>
          <a:ln/>
        </p:spPr>
        <p:txBody>
          <a:bodyPr wrap="square" lIns="0" tIns="0" rIns="0" bIns="0" rtlCol="0" anchor="ctr"/>
          <a:lstStyle/>
          <a:p>
            <a:pPr marL="0" indent="0">
              <a:buNone/>
            </a:pPr>
            <a:r>
              <a:rPr lang="en-US" sz="1300" dirty="0">
                <a:solidFill>
                  <a:srgbClr val="B9C4D1"/>
                </a:solidFill>
                <a:latin typeface="Courier New" pitchFamily="34" charset="0"/>
                <a:ea typeface="Courier New" pitchFamily="34" charset="-122"/>
                <a:cs typeface="Courier New" pitchFamily="34" charset="-120"/>
              </a:rPr>
              <a:t>nats://nats.local:4222</a:t>
            </a:r>
            <a:endParaRPr lang="en-US" sz="1300" dirty="0"/>
          </a:p>
        </p:txBody>
      </p:sp>
      <p:sp>
        <p:nvSpPr>
          <p:cNvPr id="12" name="Text 10"/>
          <p:cNvSpPr txBox="1"/>
          <p:nvPr/>
        </p:nvSpPr>
        <p:spPr>
          <a:xfrm>
            <a:off x="5943600" y="2734056"/>
            <a:ext cx="5696712" cy="502920"/>
          </a:xfrm>
          <a:prstGeom prst="rect">
            <a:avLst/>
          </a:prstGeom>
          <a:noFill/>
          <a:ln/>
        </p:spPr>
        <p:txBody>
          <a:bodyPr wrap="square" lIns="0" tIns="0" rIns="0" bIns="0" rtlCol="0" anchor="ctr"/>
          <a:lstStyle/>
          <a:p>
            <a:pPr marL="0" indent="0">
              <a:buNone/>
            </a:pPr>
            <a:r>
              <a:rPr lang="en-US" sz="1300" dirty="0">
                <a:solidFill>
                  <a:srgbClr val="B9C4D1"/>
                </a:solidFill>
                <a:latin typeface="Courier New" pitchFamily="34" charset="0"/>
                <a:ea typeface="Courier New" pitchFamily="34" charset="-122"/>
                <a:cs typeface="Courier New" pitchFamily="34" charset="-120"/>
              </a:rPr>
              <a:t>nats://nats.nats.svc.cluster.local:4222</a:t>
            </a:r>
            <a:endParaRPr lang="en-US" sz="1300" dirty="0"/>
          </a:p>
        </p:txBody>
      </p:sp>
      <p:sp>
        <p:nvSpPr>
          <p:cNvPr id="13" name="Text 11"/>
          <p:cNvSpPr txBox="1"/>
          <p:nvPr/>
        </p:nvSpPr>
        <p:spPr>
          <a:xfrm>
            <a:off x="548640" y="3300984"/>
            <a:ext cx="1463040" cy="502920"/>
          </a:xfrm>
          <a:prstGeom prst="rect">
            <a:avLst/>
          </a:prstGeom>
          <a:noFill/>
          <a:ln/>
        </p:spPr>
        <p:txBody>
          <a:bodyPr wrap="square" lIns="0" tIns="0" rIns="0" bIns="0" rtlCol="0" anchor="ctr"/>
          <a:lstStyle/>
          <a:p>
            <a:pPr marL="0" indent="0">
              <a:buNone/>
            </a:pPr>
            <a:r>
              <a:rPr lang="en-US" sz="1300" b="1" dirty="0">
                <a:solidFill>
                  <a:srgbClr val="F5F7FA"/>
                </a:solidFill>
                <a:latin typeface="Arial" pitchFamily="34" charset="0"/>
                <a:ea typeface="Arial" pitchFamily="34" charset="-122"/>
                <a:cs typeface="Arial" pitchFamily="34" charset="-120"/>
              </a:rPr>
              <a:t>Redis</a:t>
            </a:r>
            <a:endParaRPr lang="en-US" sz="1300" dirty="0"/>
          </a:p>
        </p:txBody>
      </p:sp>
      <p:sp>
        <p:nvSpPr>
          <p:cNvPr id="14" name="Text 12"/>
          <p:cNvSpPr txBox="1"/>
          <p:nvPr/>
        </p:nvSpPr>
        <p:spPr>
          <a:xfrm>
            <a:off x="2011680" y="3300984"/>
            <a:ext cx="3931920" cy="502920"/>
          </a:xfrm>
          <a:prstGeom prst="rect">
            <a:avLst/>
          </a:prstGeom>
          <a:noFill/>
          <a:ln/>
        </p:spPr>
        <p:txBody>
          <a:bodyPr wrap="square" lIns="0" tIns="0" rIns="0" bIns="0" rtlCol="0" anchor="ctr"/>
          <a:lstStyle/>
          <a:p>
            <a:pPr marL="0" indent="0">
              <a:buNone/>
            </a:pPr>
            <a:r>
              <a:rPr lang="en-US" sz="1300" dirty="0">
                <a:solidFill>
                  <a:srgbClr val="B9C4D1"/>
                </a:solidFill>
                <a:latin typeface="Courier New" pitchFamily="34" charset="0"/>
                <a:ea typeface="Courier New" pitchFamily="34" charset="-122"/>
                <a:cs typeface="Courier New" pitchFamily="34" charset="-120"/>
              </a:rPr>
              <a:t>redis.local:6379</a:t>
            </a:r>
            <a:endParaRPr lang="en-US" sz="1300" dirty="0"/>
          </a:p>
        </p:txBody>
      </p:sp>
      <p:sp>
        <p:nvSpPr>
          <p:cNvPr id="15" name="Text 13"/>
          <p:cNvSpPr txBox="1"/>
          <p:nvPr/>
        </p:nvSpPr>
        <p:spPr>
          <a:xfrm>
            <a:off x="5943600" y="3300984"/>
            <a:ext cx="5696712" cy="502920"/>
          </a:xfrm>
          <a:prstGeom prst="rect">
            <a:avLst/>
          </a:prstGeom>
          <a:noFill/>
          <a:ln/>
        </p:spPr>
        <p:txBody>
          <a:bodyPr wrap="square" lIns="0" tIns="0" rIns="0" bIns="0" rtlCol="0" anchor="ctr"/>
          <a:lstStyle/>
          <a:p>
            <a:pPr marL="0" indent="0">
              <a:buNone/>
            </a:pPr>
            <a:r>
              <a:rPr lang="en-US" sz="1300" dirty="0">
                <a:solidFill>
                  <a:srgbClr val="B9C4D1"/>
                </a:solidFill>
                <a:latin typeface="Courier New" pitchFamily="34" charset="0"/>
                <a:ea typeface="Courier New" pitchFamily="34" charset="-122"/>
                <a:cs typeface="Courier New" pitchFamily="34" charset="-120"/>
              </a:rPr>
              <a:t>redis-master.redis.svc.cluster.local:6379</a:t>
            </a:r>
            <a:endParaRPr lang="en-US" sz="1300" dirty="0"/>
          </a:p>
        </p:txBody>
      </p:sp>
      <p:sp>
        <p:nvSpPr>
          <p:cNvPr id="16" name="Text 14"/>
          <p:cNvSpPr txBox="1"/>
          <p:nvPr/>
        </p:nvSpPr>
        <p:spPr>
          <a:xfrm>
            <a:off x="548640" y="3867912"/>
            <a:ext cx="1463040" cy="502920"/>
          </a:xfrm>
          <a:prstGeom prst="rect">
            <a:avLst/>
          </a:prstGeom>
          <a:noFill/>
          <a:ln/>
        </p:spPr>
        <p:txBody>
          <a:bodyPr wrap="square" lIns="0" tIns="0" rIns="0" bIns="0" rtlCol="0" anchor="ctr"/>
          <a:lstStyle/>
          <a:p>
            <a:pPr marL="0" indent="0">
              <a:buNone/>
            </a:pPr>
            <a:r>
              <a:rPr lang="en-US" sz="1300" b="1" dirty="0">
                <a:solidFill>
                  <a:srgbClr val="F5F7FA"/>
                </a:solidFill>
                <a:latin typeface="Arial" pitchFamily="34" charset="0"/>
                <a:ea typeface="Arial" pitchFamily="34" charset="-122"/>
                <a:cs typeface="Arial" pitchFamily="34" charset="-120"/>
              </a:rPr>
              <a:t>API</a:t>
            </a:r>
            <a:endParaRPr lang="en-US" sz="1300" dirty="0"/>
          </a:p>
        </p:txBody>
      </p:sp>
      <p:sp>
        <p:nvSpPr>
          <p:cNvPr id="17" name="Text 15"/>
          <p:cNvSpPr txBox="1"/>
          <p:nvPr/>
        </p:nvSpPr>
        <p:spPr>
          <a:xfrm>
            <a:off x="2011680" y="3867912"/>
            <a:ext cx="3931920" cy="502920"/>
          </a:xfrm>
          <a:prstGeom prst="rect">
            <a:avLst/>
          </a:prstGeom>
          <a:noFill/>
          <a:ln/>
        </p:spPr>
        <p:txBody>
          <a:bodyPr wrap="square" lIns="0" tIns="0" rIns="0" bIns="0" rtlCol="0" anchor="ctr"/>
          <a:lstStyle/>
          <a:p>
            <a:pPr marL="0" indent="0">
              <a:buNone/>
            </a:pPr>
            <a:r>
              <a:rPr lang="en-US" sz="1300" dirty="0">
                <a:solidFill>
                  <a:srgbClr val="B9C4D1"/>
                </a:solidFill>
                <a:latin typeface="Courier New" pitchFamily="34" charset="0"/>
                <a:ea typeface="Courier New" pitchFamily="34" charset="-122"/>
                <a:cs typeface="Courier New" pitchFamily="34" charset="-120"/>
              </a:rPr>
              <a:t>http://cqrsapi.local</a:t>
            </a:r>
            <a:endParaRPr lang="en-US" sz="1300" dirty="0"/>
          </a:p>
        </p:txBody>
      </p:sp>
      <p:sp>
        <p:nvSpPr>
          <p:cNvPr id="18" name="Text 16"/>
          <p:cNvSpPr txBox="1"/>
          <p:nvPr/>
        </p:nvSpPr>
        <p:spPr>
          <a:xfrm>
            <a:off x="5943600" y="3867912"/>
            <a:ext cx="5696712" cy="502920"/>
          </a:xfrm>
          <a:prstGeom prst="rect">
            <a:avLst/>
          </a:prstGeom>
          <a:noFill/>
          <a:ln/>
        </p:spPr>
        <p:txBody>
          <a:bodyPr wrap="square" lIns="0" tIns="0" rIns="0" bIns="0" rtlCol="0" anchor="ctr"/>
          <a:lstStyle/>
          <a:p>
            <a:pPr marL="0" indent="0">
              <a:buNone/>
            </a:pPr>
            <a:r>
              <a:rPr lang="en-US" sz="1300" dirty="0">
                <a:solidFill>
                  <a:srgbClr val="B9C4D1"/>
                </a:solidFill>
                <a:latin typeface="Courier New" pitchFamily="34" charset="0"/>
                <a:ea typeface="Courier New" pitchFamily="34" charset="-122"/>
                <a:cs typeface="Courier New" pitchFamily="34" charset="-120"/>
              </a:rPr>
              <a:t>http://cqrs-api.cqrs.svc.cluster.local</a:t>
            </a:r>
            <a:endParaRPr lang="en-US" sz="1300" dirty="0"/>
          </a:p>
        </p:txBody>
      </p:sp>
      <p:sp>
        <p:nvSpPr>
          <p:cNvPr id="19" name="Shape 17"/>
          <p:cNvSpPr/>
          <p:nvPr/>
        </p:nvSpPr>
        <p:spPr>
          <a:xfrm>
            <a:off x="548640" y="4709160"/>
            <a:ext cx="11094415" cy="960120"/>
          </a:xfrm>
          <a:prstGeom prst="roundRect">
            <a:avLst>
              <a:gd name="adj" fmla="val 5714"/>
            </a:avLst>
          </a:prstGeom>
          <a:solidFill>
            <a:srgbClr val="3762FF"/>
          </a:solidFill>
          <a:ln w="12700">
            <a:solidFill>
              <a:srgbClr val="3762FF"/>
            </a:solidFill>
            <a:prstDash val="solid"/>
          </a:ln>
        </p:spPr>
      </p:sp>
      <p:sp>
        <p:nvSpPr>
          <p:cNvPr id="20" name="Text 18"/>
          <p:cNvSpPr txBox="1"/>
          <p:nvPr/>
        </p:nvSpPr>
        <p:spPr>
          <a:xfrm>
            <a:off x="822960" y="4709160"/>
            <a:ext cx="10545775" cy="9601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Hosts-filen finns bara på er dator. Poddarna använder klustrets egen DNS - därför pekar Helm-values på *.svc.cluster.local.</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marL="0" indent="0">
              <a:buNone/>
            </a:pPr>
            <a:r>
              <a:rPr lang="en-US" sz="15000" b="1" dirty="0">
                <a:solidFill>
                  <a:srgbClr val="16294A"/>
                </a:solidFill>
                <a:latin typeface="Calibri" pitchFamily="34" charset="0"/>
                <a:ea typeface="Calibri" pitchFamily="34" charset="-122"/>
                <a:cs typeface="Calibri" pitchFamily="34" charset="-120"/>
              </a:rPr>
              <a:t>03</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marL="0" indent="0">
              <a:buNone/>
            </a:pPr>
            <a:r>
              <a:rPr lang="en-US" sz="5200" b="1" dirty="0">
                <a:solidFill>
                  <a:srgbClr val="F5F7FA"/>
                </a:solidFill>
                <a:latin typeface="Calibri" pitchFamily="34" charset="0"/>
                <a:ea typeface="Calibri" pitchFamily="34" charset="-122"/>
                <a:cs typeface="Calibri" pitchFamily="34" charset="-120"/>
              </a:rPr>
              <a:t>Vad är CQRS?</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Command Query Responsibility Segregation - läsa och skriva på olika vägar</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CQRS</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Från en modell för allt - till två vägar</a:t>
            </a:r>
            <a:endParaRPr lang="en-US" sz="3000" dirty="0"/>
          </a:p>
        </p:txBody>
      </p:sp>
      <p:sp>
        <p:nvSpPr>
          <p:cNvPr id="4" name="Shape 2"/>
          <p:cNvSpPr/>
          <p:nvPr/>
        </p:nvSpPr>
        <p:spPr>
          <a:xfrm>
            <a:off x="548640" y="1600200"/>
            <a:ext cx="5364328" cy="1965960"/>
          </a:xfrm>
          <a:prstGeom prst="roundRect">
            <a:avLst>
              <a:gd name="adj" fmla="val 2791"/>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777240" y="1783080"/>
            <a:ext cx="4907128" cy="274320"/>
          </a:xfrm>
          <a:prstGeom prst="rect">
            <a:avLst/>
          </a:prstGeom>
          <a:noFill/>
          <a:ln/>
        </p:spPr>
        <p:txBody>
          <a:bodyPr wrap="square" lIns="0" tIns="0" rIns="0" bIns="0" rtlCol="0" anchor="ctr"/>
          <a:lstStyle/>
          <a:p>
            <a:pPr marL="0" indent="0">
              <a:buNone/>
            </a:pPr>
            <a:r>
              <a:rPr lang="en-US" sz="1100" b="1" kern="0" spc="200" dirty="0">
                <a:solidFill>
                  <a:srgbClr val="6A7179"/>
                </a:solidFill>
                <a:latin typeface="Arial" pitchFamily="34" charset="0"/>
                <a:ea typeface="Arial" pitchFamily="34" charset="-122"/>
                <a:cs typeface="Arial" pitchFamily="34" charset="-120"/>
              </a:rPr>
              <a:t>SOM VI BRUKAR GÖRA: CRUD</a:t>
            </a:r>
            <a:endParaRPr lang="en-US" sz="1100" dirty="0"/>
          </a:p>
        </p:txBody>
      </p:sp>
      <p:sp>
        <p:nvSpPr>
          <p:cNvPr id="6" name="Text 4"/>
          <p:cNvSpPr txBox="1"/>
          <p:nvPr/>
        </p:nvSpPr>
        <p:spPr>
          <a:xfrm>
            <a:off x="777240" y="2103120"/>
            <a:ext cx="4907128" cy="411480"/>
          </a:xfrm>
          <a:prstGeom prst="rect">
            <a:avLst/>
          </a:prstGeom>
          <a:noFill/>
          <a:ln/>
        </p:spPr>
        <p:txBody>
          <a:bodyPr wrap="square" lIns="0" tIns="0" rIns="0" bIns="0" rtlCol="0" anchor="ctr"/>
          <a:lstStyle/>
          <a:p>
            <a:pPr marL="0" indent="0">
              <a:buNone/>
            </a:pPr>
            <a:r>
              <a:rPr lang="en-US" sz="2000" b="1" dirty="0">
                <a:solidFill>
                  <a:srgbClr val="16202B"/>
                </a:solidFill>
                <a:latin typeface="Calibri" pitchFamily="34" charset="0"/>
                <a:ea typeface="Calibri" pitchFamily="34" charset="-122"/>
                <a:cs typeface="Calibri" pitchFamily="34" charset="-120"/>
              </a:rPr>
              <a:t>En tjänst, en modell</a:t>
            </a:r>
            <a:endParaRPr lang="en-US" sz="2000" dirty="0"/>
          </a:p>
        </p:txBody>
      </p:sp>
      <p:sp>
        <p:nvSpPr>
          <p:cNvPr id="7" name="Text 5"/>
          <p:cNvSpPr txBox="1"/>
          <p:nvPr/>
        </p:nvSpPr>
        <p:spPr>
          <a:xfrm>
            <a:off x="777240" y="2606040"/>
            <a:ext cx="4907128" cy="868680"/>
          </a:xfrm>
          <a:prstGeom prst="rect">
            <a:avLst/>
          </a:prstGeom>
          <a:noFill/>
          <a:ln/>
        </p:spPr>
        <p:txBody>
          <a:bodyPr wrap="square" lIns="0" tIns="0" rIns="0" bIns="0" rtlCol="0" anchor="t"/>
          <a:lstStyle/>
          <a:p>
            <a:pPr marL="0" indent="0">
              <a:buNone/>
            </a:pPr>
            <a:r>
              <a:rPr lang="en-US" sz="1400" dirty="0">
                <a:solidFill>
                  <a:srgbClr val="4A5568"/>
                </a:solidFill>
                <a:latin typeface="Arial" pitchFamily="34" charset="0"/>
                <a:ea typeface="Arial" pitchFamily="34" charset="-122"/>
                <a:cs typeface="Arial" pitchFamily="34" charset="-120"/>
              </a:rPr>
              <a:t>Samma klass, samma databasåtkomst och samma API används både för att läsa och ändra data.</a:t>
            </a:r>
            <a:endParaRPr lang="en-US" sz="1400" dirty="0"/>
          </a:p>
        </p:txBody>
      </p:sp>
      <p:sp>
        <p:nvSpPr>
          <p:cNvPr id="8" name="Shape 6"/>
          <p:cNvSpPr/>
          <p:nvPr/>
        </p:nvSpPr>
        <p:spPr>
          <a:xfrm>
            <a:off x="6278728" y="1600200"/>
            <a:ext cx="5364328" cy="1965960"/>
          </a:xfrm>
          <a:prstGeom prst="roundRect">
            <a:avLst>
              <a:gd name="adj" fmla="val 2791"/>
            </a:avLst>
          </a:prstGeom>
          <a:solidFill>
            <a:srgbClr val="E8EDFF"/>
          </a:solidFill>
          <a:ln w="12700">
            <a:solidFill>
              <a:srgbClr val="E8EDFF"/>
            </a:solidFill>
            <a:prstDash val="solid"/>
          </a:ln>
        </p:spPr>
      </p:sp>
      <p:sp>
        <p:nvSpPr>
          <p:cNvPr id="9" name="Text 7"/>
          <p:cNvSpPr txBox="1"/>
          <p:nvPr/>
        </p:nvSpPr>
        <p:spPr>
          <a:xfrm>
            <a:off x="6507328" y="1783080"/>
            <a:ext cx="4907128"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CQRS</a:t>
            </a:r>
            <a:endParaRPr lang="en-US" sz="1100" dirty="0"/>
          </a:p>
        </p:txBody>
      </p:sp>
      <p:sp>
        <p:nvSpPr>
          <p:cNvPr id="10" name="Text 8"/>
          <p:cNvSpPr txBox="1"/>
          <p:nvPr/>
        </p:nvSpPr>
        <p:spPr>
          <a:xfrm>
            <a:off x="6507328" y="2103120"/>
            <a:ext cx="4907128" cy="411480"/>
          </a:xfrm>
          <a:prstGeom prst="rect">
            <a:avLst/>
          </a:prstGeom>
          <a:noFill/>
          <a:ln/>
        </p:spPr>
        <p:txBody>
          <a:bodyPr wrap="square" lIns="0" tIns="0" rIns="0" bIns="0" rtlCol="0" anchor="ctr"/>
          <a:lstStyle/>
          <a:p>
            <a:pPr marL="0" indent="0">
              <a:buNone/>
            </a:pPr>
            <a:r>
              <a:rPr lang="en-US" sz="2000" b="1" dirty="0">
                <a:solidFill>
                  <a:srgbClr val="16202B"/>
                </a:solidFill>
                <a:latin typeface="Calibri" pitchFamily="34" charset="0"/>
                <a:ea typeface="Calibri" pitchFamily="34" charset="-122"/>
                <a:cs typeface="Calibri" pitchFamily="34" charset="-120"/>
              </a:rPr>
              <a:t>Två ansvar, två vägar</a:t>
            </a:r>
            <a:endParaRPr lang="en-US" sz="2000" dirty="0"/>
          </a:p>
        </p:txBody>
      </p:sp>
      <p:sp>
        <p:nvSpPr>
          <p:cNvPr id="11" name="Text 9"/>
          <p:cNvSpPr txBox="1"/>
          <p:nvPr/>
        </p:nvSpPr>
        <p:spPr>
          <a:xfrm>
            <a:off x="6507328" y="2606040"/>
            <a:ext cx="4907128" cy="868680"/>
          </a:xfrm>
          <a:prstGeom prst="rect">
            <a:avLst/>
          </a:prstGeom>
          <a:noFill/>
          <a:ln/>
        </p:spPr>
        <p:txBody>
          <a:bodyPr wrap="square" lIns="0" tIns="0" rIns="0" bIns="0" rtlCol="0" anchor="t"/>
          <a:lstStyle/>
          <a:p>
            <a:pPr marL="0" indent="0">
              <a:buNone/>
            </a:pPr>
            <a:r>
              <a:rPr lang="en-US" sz="1400" dirty="0">
                <a:solidFill>
                  <a:srgbClr val="4A5568"/>
                </a:solidFill>
                <a:latin typeface="Arial" pitchFamily="34" charset="0"/>
                <a:ea typeface="Arial" pitchFamily="34" charset="-122"/>
                <a:cs typeface="Arial" pitchFamily="34" charset="-120"/>
              </a:rPr>
              <a:t>Commands ändrar tillstånd. Queries läser. De får egen kod, egna modeller - och kan bli egna program.</a:t>
            </a:r>
            <a:endParaRPr lang="en-US" sz="1400" dirty="0"/>
          </a:p>
        </p:txBody>
      </p:sp>
      <p:sp>
        <p:nvSpPr>
          <p:cNvPr id="12" name="Shape 10"/>
          <p:cNvSpPr/>
          <p:nvPr/>
        </p:nvSpPr>
        <p:spPr>
          <a:xfrm>
            <a:off x="822960" y="3931920"/>
            <a:ext cx="1463040" cy="640080"/>
          </a:xfrm>
          <a:prstGeom prst="roundRect">
            <a:avLst>
              <a:gd name="adj" fmla="val 8571"/>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3" name="Text 11"/>
          <p:cNvSpPr txBox="1"/>
          <p:nvPr/>
        </p:nvSpPr>
        <p:spPr>
          <a:xfrm>
            <a:off x="914400" y="3931920"/>
            <a:ext cx="1280160" cy="640080"/>
          </a:xfrm>
          <a:prstGeom prst="rect">
            <a:avLst/>
          </a:prstGeom>
          <a:noFill/>
          <a:ln/>
        </p:spPr>
        <p:txBody>
          <a:bodyPr wrap="square" lIns="0" tIns="0" rIns="0" bIns="0" rtlCol="0" anchor="ctr"/>
          <a:lstStyle/>
          <a:p>
            <a:pPr marL="0" indent="0" algn="ctr">
              <a:buNone/>
            </a:pPr>
            <a:r>
              <a:rPr lang="en-US" sz="1300" b="1" dirty="0">
                <a:solidFill>
                  <a:srgbClr val="16202B"/>
                </a:solidFill>
                <a:latin typeface="Calibri" pitchFamily="34" charset="0"/>
                <a:ea typeface="Calibri" pitchFamily="34" charset="-122"/>
                <a:cs typeface="Calibri" pitchFamily="34" charset="-120"/>
              </a:rPr>
              <a:t>Klient</a:t>
            </a:r>
            <a:endParaRPr lang="en-US" sz="1300" dirty="0"/>
          </a:p>
        </p:txBody>
      </p:sp>
      <p:sp>
        <p:nvSpPr>
          <p:cNvPr id="14" name="Shape 12"/>
          <p:cNvSpPr/>
          <p:nvPr/>
        </p:nvSpPr>
        <p:spPr>
          <a:xfrm>
            <a:off x="2331720" y="4251960"/>
            <a:ext cx="548640" cy="0"/>
          </a:xfrm>
          <a:prstGeom prst="line">
            <a:avLst/>
          </a:prstGeom>
          <a:noFill/>
          <a:ln w="19050">
            <a:solidFill>
              <a:srgbClr val="3762FF"/>
            </a:solidFill>
            <a:prstDash val="solid"/>
            <a:tailEnd type="triangle"/>
          </a:ln>
        </p:spPr>
      </p:sp>
      <p:sp>
        <p:nvSpPr>
          <p:cNvPr id="15" name="Shape 13"/>
          <p:cNvSpPr/>
          <p:nvPr/>
        </p:nvSpPr>
        <p:spPr>
          <a:xfrm>
            <a:off x="2926080" y="3931920"/>
            <a:ext cx="1463040" cy="640080"/>
          </a:xfrm>
          <a:prstGeom prst="roundRect">
            <a:avLst>
              <a:gd name="adj" fmla="val 8571"/>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6" name="Text 14"/>
          <p:cNvSpPr txBox="1"/>
          <p:nvPr/>
        </p:nvSpPr>
        <p:spPr>
          <a:xfrm>
            <a:off x="3017520" y="3931920"/>
            <a:ext cx="1280160" cy="640080"/>
          </a:xfrm>
          <a:prstGeom prst="rect">
            <a:avLst/>
          </a:prstGeom>
          <a:noFill/>
          <a:ln/>
        </p:spPr>
        <p:txBody>
          <a:bodyPr wrap="square" lIns="0" tIns="0" rIns="0" bIns="0" rtlCol="0" anchor="ctr"/>
          <a:lstStyle/>
          <a:p>
            <a:pPr marL="0" indent="0" algn="ctr">
              <a:buNone/>
            </a:pPr>
            <a:r>
              <a:rPr lang="en-US" sz="1300" b="1" dirty="0">
                <a:solidFill>
                  <a:srgbClr val="16202B"/>
                </a:solidFill>
                <a:latin typeface="Calibri" pitchFamily="34" charset="0"/>
                <a:ea typeface="Calibri" pitchFamily="34" charset="-122"/>
                <a:cs typeface="Calibri" pitchFamily="34" charset="-120"/>
              </a:rPr>
              <a:t>PersonService</a:t>
            </a:r>
            <a:endParaRPr lang="en-US" sz="1300" dirty="0"/>
          </a:p>
        </p:txBody>
      </p:sp>
      <p:sp>
        <p:nvSpPr>
          <p:cNvPr id="17" name="Shape 15"/>
          <p:cNvSpPr/>
          <p:nvPr/>
        </p:nvSpPr>
        <p:spPr>
          <a:xfrm>
            <a:off x="4434840" y="4251960"/>
            <a:ext cx="548640" cy="0"/>
          </a:xfrm>
          <a:prstGeom prst="line">
            <a:avLst/>
          </a:prstGeom>
          <a:noFill/>
          <a:ln w="19050">
            <a:solidFill>
              <a:srgbClr val="3762FF"/>
            </a:solidFill>
            <a:prstDash val="solid"/>
            <a:tailEnd type="triangle"/>
          </a:ln>
        </p:spPr>
      </p:sp>
      <p:sp>
        <p:nvSpPr>
          <p:cNvPr id="18" name="Shape 16"/>
          <p:cNvSpPr/>
          <p:nvPr/>
        </p:nvSpPr>
        <p:spPr>
          <a:xfrm>
            <a:off x="5029200" y="3931920"/>
            <a:ext cx="822960" cy="640080"/>
          </a:xfrm>
          <a:prstGeom prst="roundRect">
            <a:avLst>
              <a:gd name="adj" fmla="val 8571"/>
            </a:avLst>
          </a:prstGeom>
          <a:solidFill>
            <a:srgbClr val="0F1F33"/>
          </a:solidFill>
          <a:ln w="12700">
            <a:solidFill>
              <a:srgbClr val="0F1F33"/>
            </a:solidFill>
            <a:prstDash val="solid"/>
          </a:ln>
        </p:spPr>
      </p:sp>
      <p:sp>
        <p:nvSpPr>
          <p:cNvPr id="19" name="Text 17"/>
          <p:cNvSpPr txBox="1"/>
          <p:nvPr/>
        </p:nvSpPr>
        <p:spPr>
          <a:xfrm>
            <a:off x="5120640" y="3931920"/>
            <a:ext cx="640080" cy="640080"/>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DB</a:t>
            </a:r>
            <a:endParaRPr lang="en-US" sz="1300" dirty="0"/>
          </a:p>
        </p:txBody>
      </p:sp>
      <p:sp>
        <p:nvSpPr>
          <p:cNvPr id="20" name="Shape 18"/>
          <p:cNvSpPr/>
          <p:nvPr/>
        </p:nvSpPr>
        <p:spPr>
          <a:xfrm>
            <a:off x="6553048" y="4343400"/>
            <a:ext cx="1188720" cy="640080"/>
          </a:xfrm>
          <a:prstGeom prst="roundRect">
            <a:avLst>
              <a:gd name="adj" fmla="val 8571"/>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1" name="Text 19"/>
          <p:cNvSpPr txBox="1"/>
          <p:nvPr/>
        </p:nvSpPr>
        <p:spPr>
          <a:xfrm>
            <a:off x="6644488" y="4343400"/>
            <a:ext cx="1005840" cy="640080"/>
          </a:xfrm>
          <a:prstGeom prst="rect">
            <a:avLst/>
          </a:prstGeom>
          <a:noFill/>
          <a:ln/>
        </p:spPr>
        <p:txBody>
          <a:bodyPr wrap="square" lIns="0" tIns="0" rIns="0" bIns="0" rtlCol="0" anchor="ctr"/>
          <a:lstStyle/>
          <a:p>
            <a:pPr marL="0" indent="0" algn="ctr">
              <a:buNone/>
            </a:pPr>
            <a:r>
              <a:rPr lang="en-US" sz="1300" b="1" dirty="0">
                <a:solidFill>
                  <a:srgbClr val="16202B"/>
                </a:solidFill>
                <a:latin typeface="Calibri" pitchFamily="34" charset="0"/>
                <a:ea typeface="Calibri" pitchFamily="34" charset="-122"/>
                <a:cs typeface="Calibri" pitchFamily="34" charset="-120"/>
              </a:rPr>
              <a:t>Klient</a:t>
            </a:r>
            <a:endParaRPr lang="en-US" sz="1300" dirty="0"/>
          </a:p>
        </p:txBody>
      </p:sp>
      <p:sp>
        <p:nvSpPr>
          <p:cNvPr id="22" name="Shape 20"/>
          <p:cNvSpPr/>
          <p:nvPr/>
        </p:nvSpPr>
        <p:spPr>
          <a:xfrm>
            <a:off x="7787488" y="4526280"/>
            <a:ext cx="548640" cy="0"/>
          </a:xfrm>
          <a:prstGeom prst="line">
            <a:avLst/>
          </a:prstGeom>
          <a:noFill/>
          <a:ln w="19050">
            <a:solidFill>
              <a:srgbClr val="3762FF"/>
            </a:solidFill>
            <a:prstDash val="solid"/>
            <a:tailEnd type="triangle"/>
          </a:ln>
        </p:spPr>
      </p:sp>
      <p:sp>
        <p:nvSpPr>
          <p:cNvPr id="23" name="Shape 21"/>
          <p:cNvSpPr/>
          <p:nvPr/>
        </p:nvSpPr>
        <p:spPr>
          <a:xfrm>
            <a:off x="7787488" y="4800600"/>
            <a:ext cx="548640" cy="411480"/>
          </a:xfrm>
          <a:prstGeom prst="line">
            <a:avLst/>
          </a:prstGeom>
          <a:noFill/>
          <a:ln w="19050">
            <a:solidFill>
              <a:srgbClr val="3762FF"/>
            </a:solidFill>
            <a:prstDash val="solid"/>
            <a:tailEnd type="triangle"/>
          </a:ln>
        </p:spPr>
      </p:sp>
      <p:sp>
        <p:nvSpPr>
          <p:cNvPr id="24" name="Shape 22"/>
          <p:cNvSpPr/>
          <p:nvPr/>
        </p:nvSpPr>
        <p:spPr>
          <a:xfrm>
            <a:off x="8381848" y="3794760"/>
            <a:ext cx="1737360" cy="566928"/>
          </a:xfrm>
          <a:prstGeom prst="roundRect">
            <a:avLst>
              <a:gd name="adj" fmla="val 9677"/>
            </a:avLst>
          </a:prstGeom>
          <a:solidFill>
            <a:srgbClr val="3762FF"/>
          </a:solidFill>
          <a:ln w="12700">
            <a:solidFill>
              <a:srgbClr val="3762FF"/>
            </a:solidFill>
            <a:prstDash val="solid"/>
          </a:ln>
        </p:spPr>
      </p:sp>
      <p:sp>
        <p:nvSpPr>
          <p:cNvPr id="25" name="Text 23"/>
          <p:cNvSpPr txBox="1"/>
          <p:nvPr/>
        </p:nvSpPr>
        <p:spPr>
          <a:xfrm>
            <a:off x="8473288" y="3794760"/>
            <a:ext cx="1554480"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Command → skriv</a:t>
            </a:r>
            <a:endParaRPr lang="en-US" sz="1300" dirty="0"/>
          </a:p>
        </p:txBody>
      </p:sp>
      <p:sp>
        <p:nvSpPr>
          <p:cNvPr id="26" name="Shape 24"/>
          <p:cNvSpPr/>
          <p:nvPr/>
        </p:nvSpPr>
        <p:spPr>
          <a:xfrm>
            <a:off x="8381848" y="4937760"/>
            <a:ext cx="1737360" cy="566928"/>
          </a:xfrm>
          <a:prstGeom prst="roundRect">
            <a:avLst>
              <a:gd name="adj" fmla="val 967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7" name="Text 25"/>
          <p:cNvSpPr txBox="1"/>
          <p:nvPr/>
        </p:nvSpPr>
        <p:spPr>
          <a:xfrm>
            <a:off x="8473288" y="4937760"/>
            <a:ext cx="1554480" cy="566928"/>
          </a:xfrm>
          <a:prstGeom prst="rect">
            <a:avLst/>
          </a:prstGeom>
          <a:noFill/>
          <a:ln/>
        </p:spPr>
        <p:txBody>
          <a:bodyPr wrap="square" lIns="0" tIns="0" rIns="0" bIns="0" rtlCol="0" anchor="ctr"/>
          <a:lstStyle/>
          <a:p>
            <a:pPr marL="0" indent="0" algn="ctr">
              <a:buNone/>
            </a:pPr>
            <a:r>
              <a:rPr lang="en-US" sz="1300" b="1" dirty="0">
                <a:solidFill>
                  <a:srgbClr val="16202B"/>
                </a:solidFill>
                <a:latin typeface="Calibri" pitchFamily="34" charset="0"/>
                <a:ea typeface="Calibri" pitchFamily="34" charset="-122"/>
                <a:cs typeface="Calibri" pitchFamily="34" charset="-120"/>
              </a:rPr>
              <a:t>Query → läs</a:t>
            </a:r>
            <a:endParaRPr lang="en-US" sz="1300" dirty="0"/>
          </a:p>
        </p:txBody>
      </p:sp>
      <p:sp>
        <p:nvSpPr>
          <p:cNvPr id="28" name="Shape 26"/>
          <p:cNvSpPr/>
          <p:nvPr/>
        </p:nvSpPr>
        <p:spPr>
          <a:xfrm>
            <a:off x="10164928" y="4078224"/>
            <a:ext cx="548640" cy="402336"/>
          </a:xfrm>
          <a:prstGeom prst="line">
            <a:avLst/>
          </a:prstGeom>
          <a:noFill/>
          <a:ln w="19050">
            <a:solidFill>
              <a:srgbClr val="3762FF"/>
            </a:solidFill>
            <a:prstDash val="solid"/>
            <a:tailEnd type="triangle"/>
          </a:ln>
        </p:spPr>
      </p:sp>
      <p:sp>
        <p:nvSpPr>
          <p:cNvPr id="29" name="Shape 27"/>
          <p:cNvSpPr/>
          <p:nvPr/>
        </p:nvSpPr>
        <p:spPr>
          <a:xfrm>
            <a:off x="10164928" y="5221224"/>
            <a:ext cx="548640" cy="0"/>
          </a:xfrm>
          <a:prstGeom prst="line">
            <a:avLst/>
          </a:prstGeom>
          <a:noFill/>
          <a:ln w="19050">
            <a:solidFill>
              <a:srgbClr val="3762FF"/>
            </a:solidFill>
            <a:prstDash val="solid"/>
            <a:tailEnd type="triangle"/>
          </a:ln>
        </p:spPr>
      </p:sp>
      <p:sp>
        <p:nvSpPr>
          <p:cNvPr id="30" name="Shape 28"/>
          <p:cNvSpPr/>
          <p:nvPr/>
        </p:nvSpPr>
        <p:spPr>
          <a:xfrm>
            <a:off x="10759288" y="4343400"/>
            <a:ext cx="822960" cy="640080"/>
          </a:xfrm>
          <a:prstGeom prst="roundRect">
            <a:avLst>
              <a:gd name="adj" fmla="val 8571"/>
            </a:avLst>
          </a:prstGeom>
          <a:solidFill>
            <a:srgbClr val="0F1F33"/>
          </a:solidFill>
          <a:ln w="12700">
            <a:solidFill>
              <a:srgbClr val="0F1F33"/>
            </a:solidFill>
            <a:prstDash val="solid"/>
          </a:ln>
        </p:spPr>
      </p:sp>
      <p:sp>
        <p:nvSpPr>
          <p:cNvPr id="31" name="Text 29"/>
          <p:cNvSpPr txBox="1"/>
          <p:nvPr/>
        </p:nvSpPr>
        <p:spPr>
          <a:xfrm>
            <a:off x="10850728" y="4343400"/>
            <a:ext cx="640080" cy="640080"/>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DB</a:t>
            </a:r>
            <a:endParaRPr lang="en-US" sz="1300" dirty="0"/>
          </a:p>
        </p:txBody>
      </p:sp>
      <p:sp>
        <p:nvSpPr>
          <p:cNvPr id="32" name="Text 30"/>
          <p:cNvSpPr txBox="1"/>
          <p:nvPr/>
        </p:nvSpPr>
        <p:spPr>
          <a:xfrm>
            <a:off x="548640" y="5715000"/>
            <a:ext cx="11094415" cy="457200"/>
          </a:xfrm>
          <a:prstGeom prst="rect">
            <a:avLst/>
          </a:prstGeom>
          <a:noFill/>
          <a:ln/>
        </p:spPr>
        <p:txBody>
          <a:bodyPr wrap="square" lIns="0" tIns="0" rIns="0" bIns="0" rtlCol="0" anchor="t"/>
          <a:lstStyle/>
          <a:p>
            <a:pPr marL="0" indent="0">
              <a:lnSpc>
                <a:spcPct val="120000"/>
              </a:lnSpc>
              <a:buNone/>
            </a:pPr>
            <a:r>
              <a:rPr lang="en-US" sz="1300" dirty="0">
                <a:solidFill>
                  <a:srgbClr val="6A7179"/>
                </a:solidFill>
                <a:latin typeface="Arial" pitchFamily="34" charset="0"/>
                <a:ea typeface="Arial" pitchFamily="34" charset="-122"/>
                <a:cs typeface="Arial" pitchFamily="34" charset="-120"/>
              </a:rPr>
              <a:t>CQRS kräver inte två databaser. Vi delar på ansvaret först - allt annat är val man kan göra efter behov.</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CQRS</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Command eller query?</a:t>
            </a:r>
            <a:endParaRPr lang="en-US" sz="3000" dirty="0"/>
          </a:p>
        </p:txBody>
      </p:sp>
      <p:sp>
        <p:nvSpPr>
          <p:cNvPr id="4" name="Shape 2"/>
          <p:cNvSpPr/>
          <p:nvPr/>
        </p:nvSpPr>
        <p:spPr>
          <a:xfrm>
            <a:off x="548640" y="1600200"/>
            <a:ext cx="5364328" cy="3931920"/>
          </a:xfrm>
          <a:prstGeom prst="roundRect">
            <a:avLst>
              <a:gd name="adj" fmla="val 1395"/>
            </a:avLst>
          </a:prstGeom>
          <a:solidFill>
            <a:srgbClr val="0F1F33"/>
          </a:solidFill>
          <a:ln w="12700">
            <a:solidFill>
              <a:srgbClr val="0F1F33"/>
            </a:solidFill>
            <a:prstDash val="solid"/>
          </a:ln>
        </p:spPr>
      </p:sp>
      <p:sp>
        <p:nvSpPr>
          <p:cNvPr id="5" name="Text 3"/>
          <p:cNvSpPr txBox="1"/>
          <p:nvPr/>
        </p:nvSpPr>
        <p:spPr>
          <a:xfrm>
            <a:off x="822960" y="1828800"/>
            <a:ext cx="4815688"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COMMAND</a:t>
            </a:r>
            <a:endParaRPr lang="en-US" sz="1200" dirty="0"/>
          </a:p>
        </p:txBody>
      </p:sp>
      <p:sp>
        <p:nvSpPr>
          <p:cNvPr id="6" name="Text 4"/>
          <p:cNvSpPr txBox="1"/>
          <p:nvPr/>
        </p:nvSpPr>
        <p:spPr>
          <a:xfrm>
            <a:off x="822960" y="2194560"/>
            <a:ext cx="4815688" cy="502920"/>
          </a:xfrm>
          <a:prstGeom prst="rect">
            <a:avLst/>
          </a:prstGeom>
          <a:noFill/>
          <a:ln/>
        </p:spPr>
        <p:txBody>
          <a:bodyPr wrap="square" lIns="0" tIns="0" rIns="0" bIns="0" rtlCol="0" anchor="ctr"/>
          <a:lstStyle/>
          <a:p>
            <a:pPr marL="0" indent="0">
              <a:buNone/>
            </a:pPr>
            <a:r>
              <a:rPr lang="en-US" sz="2400" b="1" dirty="0">
                <a:solidFill>
                  <a:srgbClr val="F5F7FA"/>
                </a:solidFill>
                <a:latin typeface="Calibri" pitchFamily="34" charset="0"/>
                <a:ea typeface="Calibri" pitchFamily="34" charset="-122"/>
                <a:cs typeface="Calibri" pitchFamily="34" charset="-120"/>
              </a:rPr>
              <a:t>Vill ändra något</a:t>
            </a:r>
            <a:endParaRPr lang="en-US" sz="2400" dirty="0"/>
          </a:p>
        </p:txBody>
      </p:sp>
      <p:sp>
        <p:nvSpPr>
          <p:cNvPr id="7" name="Text 5"/>
          <p:cNvSpPr txBox="1"/>
          <p:nvPr/>
        </p:nvSpPr>
        <p:spPr>
          <a:xfrm>
            <a:off x="822960" y="2880360"/>
            <a:ext cx="4815688"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B9C4D1"/>
                </a:solidFill>
                <a:latin typeface="Arial" pitchFamily="34" charset="0"/>
                <a:ea typeface="Arial" pitchFamily="34" charset="-122"/>
                <a:cs typeface="Arial" pitchFamily="34" charset="-120"/>
              </a:rPr>
              <a:t>Skapa, uppdatera eller ta bort</a:t>
            </a:r>
            <a:endParaRPr lang="en-US" sz="1500" dirty="0"/>
          </a:p>
          <a:p>
            <a:pPr marL="342900" indent="-342900">
              <a:spcAft>
                <a:spcPts val="1000"/>
              </a:spcAft>
              <a:buSzPct val="100000"/>
              <a:buChar char="•"/>
            </a:pPr>
            <a:r>
              <a:rPr lang="en-US" sz="1500" dirty="0">
                <a:solidFill>
                  <a:srgbClr val="B9C4D1"/>
                </a:solidFill>
                <a:latin typeface="Arial" pitchFamily="34" charset="0"/>
                <a:ea typeface="Arial" pitchFamily="34" charset="-122"/>
                <a:cs typeface="Arial" pitchFamily="34" charset="-120"/>
              </a:rPr>
              <a:t>Namnges som en avsikt: CreatePerson</a:t>
            </a:r>
            <a:endParaRPr lang="en-US" sz="1500" dirty="0"/>
          </a:p>
          <a:p>
            <a:pPr marL="342900" indent="-342900">
              <a:spcAft>
                <a:spcPts val="1000"/>
              </a:spcAft>
              <a:buSzPct val="100000"/>
              <a:buChar char="•"/>
            </a:pPr>
            <a:r>
              <a:rPr lang="en-US" sz="1500" dirty="0">
                <a:solidFill>
                  <a:srgbClr val="B9C4D1"/>
                </a:solidFill>
                <a:latin typeface="Arial" pitchFamily="34" charset="0"/>
                <a:ea typeface="Arial" pitchFamily="34" charset="-122"/>
                <a:cs typeface="Arial" pitchFamily="34" charset="-120"/>
              </a:rPr>
              <a:t>Validering och affärsregler bor här</a:t>
            </a:r>
            <a:endParaRPr lang="en-US" sz="1500" dirty="0"/>
          </a:p>
          <a:p>
            <a:pPr marL="342900" indent="-342900">
              <a:spcAft>
                <a:spcPts val="1000"/>
              </a:spcAft>
              <a:buSzPct val="100000"/>
              <a:buChar char="•"/>
            </a:pPr>
            <a:r>
              <a:rPr lang="en-US" sz="1500" dirty="0">
                <a:solidFill>
                  <a:srgbClr val="B9C4D1"/>
                </a:solidFill>
                <a:latin typeface="Arial" pitchFamily="34" charset="0"/>
                <a:ea typeface="Arial" pitchFamily="34" charset="-122"/>
                <a:cs typeface="Arial" pitchFamily="34" charset="-120"/>
              </a:rPr>
              <a:t>Returnerar bara ett kvitto - inte data</a:t>
            </a:r>
            <a:endParaRPr lang="en-US" sz="1500" dirty="0"/>
          </a:p>
        </p:txBody>
      </p:sp>
      <p:sp>
        <p:nvSpPr>
          <p:cNvPr id="8" name="Shape 6"/>
          <p:cNvSpPr/>
          <p:nvPr/>
        </p:nvSpPr>
        <p:spPr>
          <a:xfrm>
            <a:off x="6278728" y="1600200"/>
            <a:ext cx="5364328" cy="3931920"/>
          </a:xfrm>
          <a:prstGeom prst="roundRect">
            <a:avLst>
              <a:gd name="adj" fmla="val 1395"/>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9" name="Text 7"/>
          <p:cNvSpPr txBox="1"/>
          <p:nvPr/>
        </p:nvSpPr>
        <p:spPr>
          <a:xfrm>
            <a:off x="6553048" y="1828800"/>
            <a:ext cx="4815688"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QUERY</a:t>
            </a:r>
            <a:endParaRPr lang="en-US" sz="1200" dirty="0"/>
          </a:p>
        </p:txBody>
      </p:sp>
      <p:sp>
        <p:nvSpPr>
          <p:cNvPr id="10" name="Text 8"/>
          <p:cNvSpPr txBox="1"/>
          <p:nvPr/>
        </p:nvSpPr>
        <p:spPr>
          <a:xfrm>
            <a:off x="6553048" y="2194560"/>
            <a:ext cx="4815688" cy="502920"/>
          </a:xfrm>
          <a:prstGeom prst="rect">
            <a:avLst/>
          </a:prstGeom>
          <a:noFill/>
          <a:ln/>
        </p:spPr>
        <p:txBody>
          <a:bodyPr wrap="square" lIns="0" tIns="0" rIns="0" bIns="0"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Vill veta något</a:t>
            </a:r>
            <a:endParaRPr lang="en-US" sz="2400" dirty="0"/>
          </a:p>
        </p:txBody>
      </p:sp>
      <p:sp>
        <p:nvSpPr>
          <p:cNvPr id="11" name="Text 9"/>
          <p:cNvSpPr txBox="1"/>
          <p:nvPr/>
        </p:nvSpPr>
        <p:spPr>
          <a:xfrm>
            <a:off x="6553048" y="2880360"/>
            <a:ext cx="4815688"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4A5568"/>
                </a:solidFill>
                <a:latin typeface="Arial" pitchFamily="34" charset="0"/>
                <a:ea typeface="Arial" pitchFamily="34" charset="-122"/>
                <a:cs typeface="Arial" pitchFamily="34" charset="-120"/>
              </a:rPr>
              <a:t>Läser - ändrar aldrig något</a:t>
            </a:r>
            <a:endParaRPr lang="en-US" sz="1500" dirty="0"/>
          </a:p>
          <a:p>
            <a:pPr marL="342900" indent="-342900">
              <a:spcAft>
                <a:spcPts val="1000"/>
              </a:spcAft>
              <a:buSzPct val="100000"/>
              <a:buChar char="•"/>
            </a:pPr>
            <a:r>
              <a:rPr lang="en-US" sz="1500" dirty="0">
                <a:solidFill>
                  <a:srgbClr val="4A5568"/>
                </a:solidFill>
                <a:latin typeface="Arial" pitchFamily="34" charset="0"/>
                <a:ea typeface="Arial" pitchFamily="34" charset="-122"/>
                <a:cs typeface="Arial" pitchFamily="34" charset="-120"/>
              </a:rPr>
              <a:t>Kan köras hur många gånger som helst</a:t>
            </a:r>
            <a:endParaRPr lang="en-US" sz="1500" dirty="0"/>
          </a:p>
          <a:p>
            <a:pPr marL="342900" indent="-342900">
              <a:spcAft>
                <a:spcPts val="1000"/>
              </a:spcAft>
              <a:buSzPct val="100000"/>
              <a:buChar char="•"/>
            </a:pPr>
            <a:r>
              <a:rPr lang="en-US" sz="1500" dirty="0">
                <a:solidFill>
                  <a:srgbClr val="4A5568"/>
                </a:solidFill>
                <a:latin typeface="Arial" pitchFamily="34" charset="0"/>
                <a:ea typeface="Arial" pitchFamily="34" charset="-122"/>
                <a:cs typeface="Arial" pitchFamily="34" charset="-120"/>
              </a:rPr>
              <a:t>Formad efter vad skärmen behöver</a:t>
            </a:r>
            <a:endParaRPr lang="en-US" sz="1500" dirty="0"/>
          </a:p>
          <a:p>
            <a:pPr marL="342900" indent="-342900">
              <a:spcAft>
                <a:spcPts val="1000"/>
              </a:spcAft>
              <a:buSzPct val="100000"/>
              <a:buChar char="•"/>
            </a:pPr>
            <a:r>
              <a:rPr lang="en-US" sz="1500" dirty="0">
                <a:solidFill>
                  <a:srgbClr val="4A5568"/>
                </a:solidFill>
                <a:latin typeface="Arial" pitchFamily="34" charset="0"/>
                <a:ea typeface="Arial" pitchFamily="34" charset="-122"/>
                <a:cs typeface="Arial" pitchFamily="34" charset="-120"/>
              </a:rPr>
              <a:t>Optimerad för snabbhet, t.ex. ren SQL</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CQRS</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Varför dela upp?</a:t>
            </a:r>
            <a:endParaRPr lang="en-US" sz="3000" dirty="0"/>
          </a:p>
        </p:txBody>
      </p:sp>
      <p:sp>
        <p:nvSpPr>
          <p:cNvPr id="4" name="Shape 2"/>
          <p:cNvSpPr/>
          <p:nvPr/>
        </p:nvSpPr>
        <p:spPr>
          <a:xfrm>
            <a:off x="548640" y="1600200"/>
            <a:ext cx="5410048" cy="1280160"/>
          </a:xfrm>
          <a:prstGeom prst="roundRect">
            <a:avLst>
              <a:gd name="adj" fmla="val 4286"/>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749808" y="1801368"/>
            <a:ext cx="5007712"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Skala var för sig</a:t>
            </a:r>
            <a:endParaRPr lang="en-US" sz="1600" dirty="0"/>
          </a:p>
        </p:txBody>
      </p:sp>
      <p:sp>
        <p:nvSpPr>
          <p:cNvPr id="6" name="Text 4"/>
          <p:cNvSpPr txBox="1"/>
          <p:nvPr/>
        </p:nvSpPr>
        <p:spPr>
          <a:xfrm>
            <a:off x="749808" y="2185416"/>
            <a:ext cx="5007712" cy="53949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De flesta system läser långt mer än de skriver. Fler API-poddar, en worker.</a:t>
            </a:r>
            <a:endParaRPr lang="en-US" sz="1300" dirty="0"/>
          </a:p>
        </p:txBody>
      </p:sp>
      <p:sp>
        <p:nvSpPr>
          <p:cNvPr id="7" name="Shape 5"/>
          <p:cNvSpPr/>
          <p:nvPr/>
        </p:nvSpPr>
        <p:spPr>
          <a:xfrm>
            <a:off x="6233008" y="1600200"/>
            <a:ext cx="5410048" cy="1280160"/>
          </a:xfrm>
          <a:prstGeom prst="roundRect">
            <a:avLst>
              <a:gd name="adj" fmla="val 4286"/>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8" name="Text 6"/>
          <p:cNvSpPr txBox="1"/>
          <p:nvPr/>
        </p:nvSpPr>
        <p:spPr>
          <a:xfrm>
            <a:off x="6434176" y="1801368"/>
            <a:ext cx="5007712"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Rätt verktyg per sida</a:t>
            </a:r>
            <a:endParaRPr lang="en-US" sz="1600" dirty="0"/>
          </a:p>
        </p:txBody>
      </p:sp>
      <p:sp>
        <p:nvSpPr>
          <p:cNvPr id="9" name="Text 7"/>
          <p:cNvSpPr txBox="1"/>
          <p:nvPr/>
        </p:nvSpPr>
        <p:spPr>
          <a:xfrm>
            <a:off x="6434176" y="2185416"/>
            <a:ext cx="5007712" cy="53949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EF Core när vi skriver, Dapper och ren SQL när vi läser.</a:t>
            </a:r>
            <a:endParaRPr lang="en-US" sz="1300" dirty="0"/>
          </a:p>
        </p:txBody>
      </p:sp>
      <p:sp>
        <p:nvSpPr>
          <p:cNvPr id="10" name="Shape 8"/>
          <p:cNvSpPr/>
          <p:nvPr/>
        </p:nvSpPr>
        <p:spPr>
          <a:xfrm>
            <a:off x="548640" y="3063240"/>
            <a:ext cx="5410048" cy="1280160"/>
          </a:xfrm>
          <a:prstGeom prst="roundRect">
            <a:avLst>
              <a:gd name="adj" fmla="val 4286"/>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749808" y="3264408"/>
            <a:ext cx="5007712"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Tål toppar och avbrott</a:t>
            </a:r>
            <a:endParaRPr lang="en-US" sz="1600" dirty="0"/>
          </a:p>
        </p:txBody>
      </p:sp>
      <p:sp>
        <p:nvSpPr>
          <p:cNvPr id="12" name="Text 10"/>
          <p:cNvSpPr txBox="1"/>
          <p:nvPr/>
        </p:nvSpPr>
        <p:spPr>
          <a:xfrm>
            <a:off x="749808" y="3648456"/>
            <a:ext cx="5007712" cy="53949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Kommandon köas i NATS. Är workern nere väntar de - inget tappas.</a:t>
            </a:r>
            <a:endParaRPr lang="en-US" sz="1300" dirty="0"/>
          </a:p>
        </p:txBody>
      </p:sp>
      <p:sp>
        <p:nvSpPr>
          <p:cNvPr id="13" name="Shape 11"/>
          <p:cNvSpPr/>
          <p:nvPr/>
        </p:nvSpPr>
        <p:spPr>
          <a:xfrm>
            <a:off x="6233008" y="3063240"/>
            <a:ext cx="5410048" cy="1280160"/>
          </a:xfrm>
          <a:prstGeom prst="roundRect">
            <a:avLst>
              <a:gd name="adj" fmla="val 4286"/>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6434176" y="3264408"/>
            <a:ext cx="5007712"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Tydligt ansvar</a:t>
            </a:r>
            <a:endParaRPr lang="en-US" sz="1600" dirty="0"/>
          </a:p>
        </p:txBody>
      </p:sp>
      <p:sp>
        <p:nvSpPr>
          <p:cNvPr id="15" name="Text 13"/>
          <p:cNvSpPr txBox="1"/>
          <p:nvPr/>
        </p:nvSpPr>
        <p:spPr>
          <a:xfrm>
            <a:off x="6434176" y="3648456"/>
            <a:ext cx="5007712" cy="53949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Bara workern skriver. Läs-sidan har inte ens rättighet att göra det.</a:t>
            </a:r>
            <a:endParaRPr lang="en-US" sz="1300" dirty="0"/>
          </a:p>
        </p:txBody>
      </p:sp>
      <p:sp>
        <p:nvSpPr>
          <p:cNvPr id="16" name="Shape 14"/>
          <p:cNvSpPr/>
          <p:nvPr/>
        </p:nvSpPr>
        <p:spPr>
          <a:xfrm>
            <a:off x="548640" y="4663440"/>
            <a:ext cx="11094415" cy="1097280"/>
          </a:xfrm>
          <a:prstGeom prst="roundRect">
            <a:avLst>
              <a:gd name="adj" fmla="val 5000"/>
            </a:avLst>
          </a:prstGeom>
          <a:solidFill>
            <a:srgbClr val="3762FF"/>
          </a:solidFill>
          <a:ln w="12700">
            <a:solidFill>
              <a:srgbClr val="3762FF"/>
            </a:solidFill>
            <a:prstDash val="solid"/>
          </a:ln>
        </p:spPr>
      </p:sp>
      <p:sp>
        <p:nvSpPr>
          <p:cNvPr id="17" name="Text 15"/>
          <p:cNvSpPr txBox="1"/>
          <p:nvPr/>
        </p:nvSpPr>
        <p:spPr>
          <a:xfrm>
            <a:off x="822960" y="4663440"/>
            <a:ext cx="10545775" cy="10972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Priset: </a:t>
            </a:r>
            <a:r>
              <a:rPr lang="en-US" sz="1600" dirty="0">
                <a:solidFill>
                  <a:srgbClr val="FFFFFF"/>
                </a:solidFill>
                <a:latin typeface="Arial" pitchFamily="34" charset="0"/>
                <a:ea typeface="Arial" pitchFamily="34" charset="-122"/>
                <a:cs typeface="Arial" pitchFamily="34" charset="-120"/>
              </a:rPr>
              <a:t>fler rörliga delar och eventual consistency - ett svar betyder inte att ändringen redan syns.</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marL="0" indent="0">
              <a:buNone/>
            </a:pPr>
            <a:r>
              <a:rPr lang="en-US" sz="15000" b="1" dirty="0">
                <a:solidFill>
                  <a:srgbClr val="16294A"/>
                </a:solidFill>
                <a:latin typeface="Calibri" pitchFamily="34" charset="0"/>
                <a:ea typeface="Calibri" pitchFamily="34" charset="-122"/>
                <a:cs typeface="Calibri" pitchFamily="34" charset="-120"/>
              </a:rPr>
              <a:t>04</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marL="0" indent="0">
              <a:buNone/>
            </a:pPr>
            <a:r>
              <a:rPr lang="en-US" sz="5200" b="1" dirty="0">
                <a:solidFill>
                  <a:srgbClr val="F5F7FA"/>
                </a:solidFill>
                <a:latin typeface="Calibri" pitchFamily="34" charset="0"/>
                <a:ea typeface="Calibri" pitchFamily="34" charset="-122"/>
                <a:cs typeface="Calibri" pitchFamily="34" charset="-120"/>
              </a:rPr>
              <a:t>Exempelappen</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CQRSApi och CQRSWorker - två program, ett mönster</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EXEMPELAPPEN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Arkitekturen i klustret</a:t>
            </a:r>
            <a:endParaRPr lang="en-US" sz="3000" dirty="0"/>
          </a:p>
        </p:txBody>
      </p:sp>
      <p:sp>
        <p:nvSpPr>
          <p:cNvPr id="4" name="Shape 2"/>
          <p:cNvSpPr/>
          <p:nvPr/>
        </p:nvSpPr>
        <p:spPr>
          <a:xfrm>
            <a:off x="4206240" y="1417320"/>
            <a:ext cx="3749040" cy="548640"/>
          </a:xfrm>
          <a:prstGeom prst="roundRect">
            <a:avLst>
              <a:gd name="adj" fmla="val 10000"/>
            </a:avLst>
          </a:prstGeom>
          <a:solidFill>
            <a:srgbClr val="E8EDFF"/>
          </a:solidFill>
          <a:ln w="12700">
            <a:solidFill>
              <a:srgbClr val="E8EDFF"/>
            </a:solidFill>
            <a:prstDash val="solid"/>
          </a:ln>
        </p:spPr>
      </p:sp>
      <p:sp>
        <p:nvSpPr>
          <p:cNvPr id="5" name="Text 3"/>
          <p:cNvSpPr txBox="1"/>
          <p:nvPr/>
        </p:nvSpPr>
        <p:spPr>
          <a:xfrm>
            <a:off x="4297680" y="1417320"/>
            <a:ext cx="3566160" cy="548640"/>
          </a:xfrm>
          <a:prstGeom prst="rect">
            <a:avLst/>
          </a:prstGeom>
          <a:noFill/>
          <a:ln/>
        </p:spPr>
        <p:txBody>
          <a:bodyPr wrap="square" lIns="0" tIns="0" rIns="0" bIns="0" rtlCol="0" anchor="ctr"/>
          <a:lstStyle/>
          <a:p>
            <a:pPr marL="0" indent="0" algn="ctr">
              <a:buNone/>
            </a:pPr>
            <a:r>
              <a:rPr lang="en-US" sz="1400" b="1" dirty="0">
                <a:solidFill>
                  <a:srgbClr val="16202B"/>
                </a:solidFill>
                <a:latin typeface="Calibri" pitchFamily="34" charset="0"/>
                <a:ea typeface="Calibri" pitchFamily="34" charset="-122"/>
                <a:cs typeface="Calibri" pitchFamily="34" charset="-120"/>
              </a:rPr>
              <a:t>Traefik-ingress · cqrsapi.local</a:t>
            </a:r>
            <a:endParaRPr lang="en-US" sz="1400" dirty="0"/>
          </a:p>
        </p:txBody>
      </p:sp>
      <p:sp>
        <p:nvSpPr>
          <p:cNvPr id="6" name="Shape 4"/>
          <p:cNvSpPr/>
          <p:nvPr/>
        </p:nvSpPr>
        <p:spPr>
          <a:xfrm>
            <a:off x="6080760" y="1984248"/>
            <a:ext cx="0" cy="347472"/>
          </a:xfrm>
          <a:prstGeom prst="line">
            <a:avLst/>
          </a:prstGeom>
          <a:noFill/>
          <a:ln w="19050">
            <a:solidFill>
              <a:srgbClr val="3762FF"/>
            </a:solidFill>
            <a:prstDash val="solid"/>
            <a:tailEnd type="triangle"/>
          </a:ln>
        </p:spPr>
      </p:sp>
      <p:sp>
        <p:nvSpPr>
          <p:cNvPr id="7" name="Shape 5"/>
          <p:cNvSpPr/>
          <p:nvPr/>
        </p:nvSpPr>
        <p:spPr>
          <a:xfrm>
            <a:off x="4709160" y="2377440"/>
            <a:ext cx="2743200" cy="731520"/>
          </a:xfrm>
          <a:prstGeom prst="roundRect">
            <a:avLst>
              <a:gd name="adj" fmla="val 7500"/>
            </a:avLst>
          </a:prstGeom>
          <a:solidFill>
            <a:srgbClr val="0F1F33"/>
          </a:solidFill>
          <a:ln w="12700">
            <a:solidFill>
              <a:srgbClr val="0F1F33"/>
            </a:solidFill>
            <a:prstDash val="solid"/>
          </a:ln>
        </p:spPr>
      </p:sp>
      <p:sp>
        <p:nvSpPr>
          <p:cNvPr id="8" name="Text 6"/>
          <p:cNvSpPr txBox="1"/>
          <p:nvPr/>
        </p:nvSpPr>
        <p:spPr>
          <a:xfrm>
            <a:off x="4800600" y="2377440"/>
            <a:ext cx="2560320" cy="731520"/>
          </a:xfrm>
          <a:prstGeom prst="rect">
            <a:avLst/>
          </a:prstGeom>
          <a:noFill/>
          <a:ln/>
        </p:spPr>
        <p:txBody>
          <a:bodyPr wrap="square" lIns="0" tIns="0" rIns="0" bIns="0" rtlCol="0" anchor="ctr"/>
          <a:lstStyle/>
          <a:p>
            <a:pPr marL="0" indent="0" algn="ctr">
              <a:buNone/>
            </a:pPr>
            <a:r>
              <a:rPr lang="en-US" sz="1800" b="1" dirty="0">
                <a:solidFill>
                  <a:srgbClr val="F5F7FA"/>
                </a:solidFill>
                <a:latin typeface="Calibri" pitchFamily="34" charset="0"/>
                <a:ea typeface="Calibri" pitchFamily="34" charset="-122"/>
                <a:cs typeface="Calibri" pitchFamily="34" charset="-120"/>
              </a:rPr>
              <a:t>CQRSApi</a:t>
            </a:r>
            <a:endParaRPr lang="en-US" sz="1800" dirty="0"/>
          </a:p>
        </p:txBody>
      </p:sp>
      <p:sp>
        <p:nvSpPr>
          <p:cNvPr id="9" name="Shape 7"/>
          <p:cNvSpPr/>
          <p:nvPr/>
        </p:nvSpPr>
        <p:spPr>
          <a:xfrm>
            <a:off x="4663440" y="2743200"/>
            <a:ext cx="0" cy="0"/>
          </a:xfrm>
          <a:prstGeom prst="line">
            <a:avLst/>
          </a:prstGeom>
          <a:noFill/>
          <a:ln w="19050">
            <a:solidFill>
              <a:srgbClr val="3762FF"/>
            </a:solidFill>
            <a:prstDash val="solid"/>
            <a:tailEnd type="triangle"/>
          </a:ln>
        </p:spPr>
      </p:sp>
      <p:sp>
        <p:nvSpPr>
          <p:cNvPr id="10" name="Text 8"/>
          <p:cNvSpPr txBox="1"/>
          <p:nvPr/>
        </p:nvSpPr>
        <p:spPr>
          <a:xfrm>
            <a:off x="2743200" y="2377440"/>
            <a:ext cx="1874520" cy="320040"/>
          </a:xfrm>
          <a:prstGeom prst="rect">
            <a:avLst/>
          </a:prstGeom>
          <a:noFill/>
          <a:ln/>
        </p:spPr>
        <p:txBody>
          <a:bodyPr wrap="square" lIns="0" tIns="0" rIns="0" bIns="0" rtlCol="0" anchor="ctr"/>
          <a:lstStyle/>
          <a:p>
            <a:pPr marL="0" indent="0" algn="ctr">
              <a:buNone/>
            </a:pPr>
            <a:r>
              <a:rPr lang="en-US" sz="1200" b="1" dirty="0">
                <a:solidFill>
                  <a:srgbClr val="3762FF"/>
                </a:solidFill>
                <a:latin typeface="Arial" pitchFamily="34" charset="0"/>
                <a:ea typeface="Arial" pitchFamily="34" charset="-122"/>
                <a:cs typeface="Arial" pitchFamily="34" charset="-120"/>
              </a:rPr>
              <a:t>GET · Query</a:t>
            </a:r>
            <a:endParaRPr lang="en-US" sz="1200" dirty="0"/>
          </a:p>
        </p:txBody>
      </p:sp>
      <p:sp>
        <p:nvSpPr>
          <p:cNvPr id="11" name="Shape 9"/>
          <p:cNvSpPr/>
          <p:nvPr/>
        </p:nvSpPr>
        <p:spPr>
          <a:xfrm>
            <a:off x="548640" y="2377440"/>
            <a:ext cx="2103120" cy="731520"/>
          </a:xfrm>
          <a:prstGeom prst="roundRect">
            <a:avLst>
              <a:gd name="adj" fmla="val 75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2" name="Text 10"/>
          <p:cNvSpPr txBox="1"/>
          <p:nvPr/>
        </p:nvSpPr>
        <p:spPr>
          <a:xfrm>
            <a:off x="640080" y="2377440"/>
            <a:ext cx="1920240" cy="731520"/>
          </a:xfrm>
          <a:prstGeom prst="rect">
            <a:avLst/>
          </a:prstGeom>
          <a:noFill/>
          <a:ln/>
        </p:spPr>
        <p:txBody>
          <a:bodyPr wrap="square" lIns="0" tIns="0" rIns="0" bIns="0" rtlCol="0" anchor="ctr"/>
          <a:lstStyle/>
          <a:p>
            <a:pPr marL="0" indent="0" algn="ctr">
              <a:buNone/>
            </a:pPr>
            <a:r>
              <a:rPr lang="en-US" sz="1300" b="1" dirty="0">
                <a:solidFill>
                  <a:srgbClr val="16202B"/>
                </a:solidFill>
                <a:latin typeface="Calibri" pitchFamily="34" charset="0"/>
                <a:ea typeface="Calibri" pitchFamily="34" charset="-122"/>
                <a:cs typeface="Calibri" pitchFamily="34" charset="-120"/>
              </a:rPr>
              <a:t>Dapper</a:t>
            </a:r>
            <a:endParaRPr lang="en-US" sz="1300" dirty="0"/>
          </a:p>
          <a:p>
            <a:pPr marL="0" indent="0" algn="ctr">
              <a:buNone/>
            </a:pPr>
            <a:r>
              <a:rPr lang="en-US" sz="1300" b="1" dirty="0">
                <a:solidFill>
                  <a:srgbClr val="16202B"/>
                </a:solidFill>
                <a:latin typeface="Calibri" pitchFamily="34" charset="0"/>
                <a:ea typeface="Calibri" pitchFamily="34" charset="-122"/>
                <a:cs typeface="Calibri" pitchFamily="34" charset="-120"/>
              </a:rPr>
              <a:t>(cqrs_reader)</a:t>
            </a:r>
            <a:endParaRPr lang="en-US" sz="1300" dirty="0"/>
          </a:p>
        </p:txBody>
      </p:sp>
      <p:sp>
        <p:nvSpPr>
          <p:cNvPr id="13" name="Shape 11"/>
          <p:cNvSpPr/>
          <p:nvPr/>
        </p:nvSpPr>
        <p:spPr>
          <a:xfrm>
            <a:off x="1600200" y="3154680"/>
            <a:ext cx="0" cy="1737360"/>
          </a:xfrm>
          <a:prstGeom prst="line">
            <a:avLst/>
          </a:prstGeom>
          <a:noFill/>
          <a:ln w="19050">
            <a:solidFill>
              <a:srgbClr val="3762FF"/>
            </a:solidFill>
            <a:prstDash val="solid"/>
            <a:tailEnd type="triangle"/>
          </a:ln>
        </p:spPr>
      </p:sp>
      <p:sp>
        <p:nvSpPr>
          <p:cNvPr id="14" name="Shape 12"/>
          <p:cNvSpPr/>
          <p:nvPr/>
        </p:nvSpPr>
        <p:spPr>
          <a:xfrm>
            <a:off x="7498080" y="2743200"/>
            <a:ext cx="1051560" cy="0"/>
          </a:xfrm>
          <a:prstGeom prst="line">
            <a:avLst/>
          </a:prstGeom>
          <a:noFill/>
          <a:ln w="19050">
            <a:solidFill>
              <a:srgbClr val="3762FF"/>
            </a:solidFill>
            <a:prstDash val="solid"/>
            <a:tailEnd type="triangle"/>
          </a:ln>
        </p:spPr>
      </p:sp>
      <p:sp>
        <p:nvSpPr>
          <p:cNvPr id="15" name="Text 13"/>
          <p:cNvSpPr txBox="1"/>
          <p:nvPr/>
        </p:nvSpPr>
        <p:spPr>
          <a:xfrm>
            <a:off x="7406640" y="2377440"/>
            <a:ext cx="1280160" cy="320040"/>
          </a:xfrm>
          <a:prstGeom prst="rect">
            <a:avLst/>
          </a:prstGeom>
          <a:noFill/>
          <a:ln/>
        </p:spPr>
        <p:txBody>
          <a:bodyPr wrap="square" lIns="0" tIns="0" rIns="0" bIns="0" rtlCol="0" anchor="ctr"/>
          <a:lstStyle/>
          <a:p>
            <a:pPr marL="0" indent="0" algn="ctr">
              <a:buNone/>
            </a:pPr>
            <a:r>
              <a:rPr lang="en-US" sz="1200" b="1" dirty="0">
                <a:solidFill>
                  <a:srgbClr val="3762FF"/>
                </a:solidFill>
                <a:latin typeface="Arial" pitchFamily="34" charset="0"/>
                <a:ea typeface="Arial" pitchFamily="34" charset="-122"/>
                <a:cs typeface="Arial" pitchFamily="34" charset="-120"/>
              </a:rPr>
              <a:t>Command</a:t>
            </a:r>
            <a:endParaRPr lang="en-US" sz="1200" dirty="0"/>
          </a:p>
        </p:txBody>
      </p:sp>
      <p:sp>
        <p:nvSpPr>
          <p:cNvPr id="16" name="Shape 14"/>
          <p:cNvSpPr/>
          <p:nvPr/>
        </p:nvSpPr>
        <p:spPr>
          <a:xfrm>
            <a:off x="8595360" y="2286000"/>
            <a:ext cx="3044952" cy="914400"/>
          </a:xfrm>
          <a:prstGeom prst="roundRect">
            <a:avLst>
              <a:gd name="adj" fmla="val 6000"/>
            </a:avLst>
          </a:prstGeom>
          <a:solidFill>
            <a:srgbClr val="3762FF"/>
          </a:solidFill>
          <a:ln w="12700">
            <a:solidFill>
              <a:srgbClr val="3762FF"/>
            </a:solidFill>
            <a:prstDash val="solid"/>
          </a:ln>
        </p:spPr>
      </p:sp>
      <p:sp>
        <p:nvSpPr>
          <p:cNvPr id="17" name="Text 15"/>
          <p:cNvSpPr txBox="1"/>
          <p:nvPr/>
        </p:nvSpPr>
        <p:spPr>
          <a:xfrm>
            <a:off x="8686800" y="2286000"/>
            <a:ext cx="2862072" cy="9144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NATS JetStream</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ström PERSONS</a:t>
            </a:r>
            <a:endParaRPr lang="en-US" sz="1400" dirty="0"/>
          </a:p>
        </p:txBody>
      </p:sp>
      <p:sp>
        <p:nvSpPr>
          <p:cNvPr id="18" name="Shape 16"/>
          <p:cNvSpPr/>
          <p:nvPr/>
        </p:nvSpPr>
        <p:spPr>
          <a:xfrm>
            <a:off x="10122408" y="3246120"/>
            <a:ext cx="0" cy="457200"/>
          </a:xfrm>
          <a:prstGeom prst="line">
            <a:avLst/>
          </a:prstGeom>
          <a:noFill/>
          <a:ln w="19050">
            <a:solidFill>
              <a:srgbClr val="3762FF"/>
            </a:solidFill>
            <a:prstDash val="solid"/>
            <a:tailEnd type="triangle"/>
          </a:ln>
        </p:spPr>
      </p:sp>
      <p:sp>
        <p:nvSpPr>
          <p:cNvPr id="19" name="Shape 17"/>
          <p:cNvSpPr/>
          <p:nvPr/>
        </p:nvSpPr>
        <p:spPr>
          <a:xfrm>
            <a:off x="8595360" y="3749040"/>
            <a:ext cx="3044952" cy="731520"/>
          </a:xfrm>
          <a:prstGeom prst="roundRect">
            <a:avLst>
              <a:gd name="adj" fmla="val 7500"/>
            </a:avLst>
          </a:prstGeom>
          <a:solidFill>
            <a:srgbClr val="0F1F33"/>
          </a:solidFill>
          <a:ln w="12700">
            <a:solidFill>
              <a:srgbClr val="0F1F33"/>
            </a:solidFill>
            <a:prstDash val="solid"/>
          </a:ln>
        </p:spPr>
      </p:sp>
      <p:sp>
        <p:nvSpPr>
          <p:cNvPr id="20" name="Text 18"/>
          <p:cNvSpPr txBox="1"/>
          <p:nvPr/>
        </p:nvSpPr>
        <p:spPr>
          <a:xfrm>
            <a:off x="8686800" y="3749040"/>
            <a:ext cx="2862072" cy="731520"/>
          </a:xfrm>
          <a:prstGeom prst="rect">
            <a:avLst/>
          </a:prstGeom>
          <a:noFill/>
          <a:ln/>
        </p:spPr>
        <p:txBody>
          <a:bodyPr wrap="square" lIns="0" tIns="0" rIns="0" bIns="0" rtlCol="0" anchor="ctr"/>
          <a:lstStyle/>
          <a:p>
            <a:pPr marL="0" indent="0" algn="ctr">
              <a:buNone/>
            </a:pPr>
            <a:r>
              <a:rPr lang="en-US" sz="1800" b="1" dirty="0">
                <a:solidFill>
                  <a:srgbClr val="F5F7FA"/>
                </a:solidFill>
                <a:latin typeface="Calibri" pitchFamily="34" charset="0"/>
                <a:ea typeface="Calibri" pitchFamily="34" charset="-122"/>
                <a:cs typeface="Calibri" pitchFamily="34" charset="-120"/>
              </a:rPr>
              <a:t>CQRSWorker</a:t>
            </a:r>
            <a:endParaRPr lang="en-US" sz="1800" dirty="0"/>
          </a:p>
        </p:txBody>
      </p:sp>
      <p:sp>
        <p:nvSpPr>
          <p:cNvPr id="21" name="Shape 19"/>
          <p:cNvSpPr/>
          <p:nvPr/>
        </p:nvSpPr>
        <p:spPr>
          <a:xfrm>
            <a:off x="10122408" y="4526280"/>
            <a:ext cx="0" cy="365760"/>
          </a:xfrm>
          <a:prstGeom prst="line">
            <a:avLst/>
          </a:prstGeom>
          <a:noFill/>
          <a:ln w="19050">
            <a:solidFill>
              <a:srgbClr val="3762FF"/>
            </a:solidFill>
            <a:prstDash val="solid"/>
            <a:tailEnd type="triangle"/>
          </a:ln>
        </p:spPr>
      </p:sp>
      <p:sp>
        <p:nvSpPr>
          <p:cNvPr id="22" name="Text 20"/>
          <p:cNvSpPr txBox="1"/>
          <p:nvPr/>
        </p:nvSpPr>
        <p:spPr>
          <a:xfrm>
            <a:off x="10195560" y="4526280"/>
            <a:ext cx="1463040" cy="365760"/>
          </a:xfrm>
          <a:prstGeom prst="rect">
            <a:avLst/>
          </a:prstGeom>
          <a:noFill/>
          <a:ln/>
        </p:spPr>
        <p:txBody>
          <a:bodyPr wrap="square" lIns="0" tIns="0" rIns="0" bIns="0" rtlCol="0" anchor="ctr"/>
          <a:lstStyle/>
          <a:p>
            <a:pPr marL="0" indent="0">
              <a:buNone/>
            </a:pPr>
            <a:r>
              <a:rPr lang="en-US" sz="1000" dirty="0">
                <a:solidFill>
                  <a:srgbClr val="4A5568"/>
                </a:solidFill>
                <a:latin typeface="Arial" pitchFamily="34" charset="0"/>
                <a:ea typeface="Arial" pitchFamily="34" charset="-122"/>
                <a:cs typeface="Arial" pitchFamily="34" charset="-120"/>
              </a:rPr>
              <a:t>EF Core (cqrs_writer)</a:t>
            </a:r>
            <a:endParaRPr lang="en-US" sz="1000" dirty="0"/>
          </a:p>
        </p:txBody>
      </p:sp>
      <p:sp>
        <p:nvSpPr>
          <p:cNvPr id="23" name="Shape 21"/>
          <p:cNvSpPr/>
          <p:nvPr/>
        </p:nvSpPr>
        <p:spPr>
          <a:xfrm>
            <a:off x="548640" y="4937760"/>
            <a:ext cx="11094415" cy="777240"/>
          </a:xfrm>
          <a:prstGeom prst="roundRect">
            <a:avLst>
              <a:gd name="adj" fmla="val 705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4" name="Text 22"/>
          <p:cNvSpPr txBox="1"/>
          <p:nvPr/>
        </p:nvSpPr>
        <p:spPr>
          <a:xfrm>
            <a:off x="822960" y="4937760"/>
            <a:ext cx="10545775" cy="777240"/>
          </a:xfrm>
          <a:prstGeom prst="rect">
            <a:avLst/>
          </a:prstGeom>
          <a:noFill/>
          <a:ln/>
        </p:spPr>
        <p:txBody>
          <a:bodyPr wrap="square" lIns="0" tIns="0" rIns="0" bIns="0" rtlCol="0" anchor="ctr"/>
          <a:lstStyle/>
          <a:p>
            <a:pPr marL="0" indent="0">
              <a:buNone/>
            </a:pPr>
            <a:r>
              <a:rPr lang="en-US" sz="1600" b="1" dirty="0">
                <a:solidFill>
                  <a:srgbClr val="16202B"/>
                </a:solidFill>
                <a:latin typeface="Calibri" pitchFamily="34" charset="0"/>
                <a:ea typeface="Calibri" pitchFamily="34" charset="-122"/>
                <a:cs typeface="Calibri" pitchFamily="34" charset="-120"/>
              </a:rPr>
              <a:t>MySQL  ·  databas cqrs  ·  tabell Persons</a:t>
            </a:r>
            <a:r>
              <a:rPr lang="en-US" sz="1300" dirty="0">
                <a:solidFill>
                  <a:srgbClr val="4A5568"/>
                </a:solidFill>
                <a:latin typeface="Arial" pitchFamily="34" charset="0"/>
                <a:ea typeface="Arial" pitchFamily="34" charset="-122"/>
                <a:cs typeface="Arial" pitchFamily="34" charset="-120"/>
              </a:rPr>
              <a:t>     ägs av workern - API:t får bara läsa</a:t>
            </a:r>
            <a:endParaRPr lang="en-US" sz="1600" dirty="0"/>
          </a:p>
        </p:txBody>
      </p:sp>
      <p:sp>
        <p:nvSpPr>
          <p:cNvPr id="25" name="Text 23"/>
          <p:cNvSpPr txBox="1"/>
          <p:nvPr/>
        </p:nvSpPr>
        <p:spPr>
          <a:xfrm>
            <a:off x="548640" y="5897880"/>
            <a:ext cx="11094415" cy="365760"/>
          </a:xfrm>
          <a:prstGeom prst="rect">
            <a:avLst/>
          </a:prstGeom>
          <a:noFill/>
          <a:ln/>
        </p:spPr>
        <p:txBody>
          <a:bodyPr wrap="square" lIns="0" tIns="0" rIns="0" bIns="0" rtlCol="0" anchor="t"/>
          <a:lstStyle/>
          <a:p>
            <a:pPr marL="0" indent="0">
              <a:lnSpc>
                <a:spcPct val="120000"/>
              </a:lnSpc>
              <a:buNone/>
            </a:pPr>
            <a:r>
              <a:rPr lang="en-US" sz="1300" dirty="0">
                <a:solidFill>
                  <a:srgbClr val="6A7179"/>
                </a:solidFill>
                <a:latin typeface="Arial" pitchFamily="34" charset="0"/>
                <a:ea typeface="Arial" pitchFamily="34" charset="-122"/>
                <a:cs typeface="Arial" pitchFamily="34" charset="-120"/>
              </a:rPr>
              <a:t>Workern har ingen Service och ingen Ingress. Den enda vägen in är NATS.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EXEMPELAPPEN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Två program, tydliga ansvar</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3774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416552">
                  <a:extLst>
                    <a:ext uri="{9D8B030D-6E8A-4147-A177-3AD203B41FA5}">
                      <a16:colId xmlns:a16="http://schemas.microsoft.com/office/drawing/2014/main" val="20002"/>
                    </a:ext>
                  </a:extLst>
                </a:gridCol>
              </a:tblGrid>
              <a:tr h="548640">
                <a:tc>
                  <a:txBody>
                    <a:bodyPr/>
                    <a:lstStyle/>
                    <a:p>
                      <a:pPr marL="0" indent="0">
                        <a:buNone/>
                      </a:pPr>
                      <a:endParaRPr lang="en-US" sz="1500" dirty="0">
                        <a:latin typeface="Calibri" charset="0"/>
                        <a:ea typeface="Calibri" charset="0"/>
                        <a:cs typeface="Calibri"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7F7F4"/>
                    </a:solidFill>
                  </a:tcPr>
                </a:tc>
                <a:tc>
                  <a:txBody>
                    <a:bodyPr/>
                    <a:lstStyle/>
                    <a:p>
                      <a:pPr marL="0" indent="0">
                        <a:buNone/>
                      </a:pPr>
                      <a:r>
                        <a:rPr lang="en-US" sz="1500" b="1" dirty="0">
                          <a:solidFill>
                            <a:srgbClr val="16202B"/>
                          </a:solidFill>
                          <a:latin typeface="Calibri" pitchFamily="34" charset="0"/>
                          <a:ea typeface="Calibri" pitchFamily="34" charset="-122"/>
                          <a:cs typeface="Calibri" pitchFamily="34" charset="-120"/>
                        </a:rPr>
                        <a:t>CQRSApi</a:t>
                      </a:r>
                      <a:endParaRPr lang="en-US" sz="1500" dirty="0">
                        <a:latin typeface="Calibri" charset="0"/>
                        <a:ea typeface="Calibri" charset="0"/>
                        <a:cs typeface="Calibri"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7F7F4"/>
                    </a:solidFill>
                  </a:tcPr>
                </a:tc>
                <a:tc>
                  <a:txBody>
                    <a:bodyPr/>
                    <a:lstStyle/>
                    <a:p>
                      <a:pPr marL="0" indent="0">
                        <a:buNone/>
                      </a:pPr>
                      <a:r>
                        <a:rPr lang="en-US" sz="1500" b="1" dirty="0">
                          <a:solidFill>
                            <a:srgbClr val="16202B"/>
                          </a:solidFill>
                          <a:latin typeface="Calibri" pitchFamily="34" charset="0"/>
                          <a:ea typeface="Calibri" pitchFamily="34" charset="-122"/>
                          <a:cs typeface="Calibri" pitchFamily="34" charset="-120"/>
                        </a:rPr>
                        <a:t>CQRSWorker</a:t>
                      </a:r>
                      <a:endParaRPr lang="en-US" sz="1500" dirty="0">
                        <a:latin typeface="Calibri" charset="0"/>
                        <a:ea typeface="Calibri" charset="0"/>
                        <a:cs typeface="Calibri"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7F7F4"/>
                    </a:solidFill>
                  </a:tcPr>
                </a:tc>
                <a:extLst>
                  <a:ext uri="{0D108BD9-81ED-4DB2-BD59-A6C34878D82A}">
                    <a16:rowId xmlns:a16="http://schemas.microsoft.com/office/drawing/2014/main" val="10000"/>
                  </a:ext>
                </a:extLst>
              </a:tr>
              <a:tr h="548640">
                <a:tc>
                  <a:txBody>
                    <a:bodyPr/>
                    <a:lstStyle/>
                    <a:p>
                      <a:pPr marL="0" indent="0">
                        <a:buNone/>
                      </a:pPr>
                      <a:r>
                        <a:rPr lang="en-US" sz="1300" b="1" dirty="0">
                          <a:solidFill>
                            <a:srgbClr val="16202B"/>
                          </a:solidFill>
                          <a:latin typeface="Arial" pitchFamily="34" charset="0"/>
                          <a:ea typeface="Arial" pitchFamily="34" charset="-122"/>
                          <a:cs typeface="Arial" pitchFamily="34" charset="-120"/>
                        </a:rPr>
                        <a:t>Typ</a:t>
                      </a:r>
                      <a:endParaRPr lang="en-US" sz="1300" dirty="0">
                        <a:latin typeface="Arial" charset="0"/>
                        <a:ea typeface="Arial" charset="0"/>
                        <a:cs typeface="Arial"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300" dirty="0">
                          <a:solidFill>
                            <a:srgbClr val="4A5568"/>
                          </a:solidFill>
                          <a:latin typeface="Arial" pitchFamily="34" charset="0"/>
                          <a:ea typeface="Arial" pitchFamily="34" charset="-122"/>
                          <a:cs typeface="Arial" pitchFamily="34" charset="-120"/>
                        </a:rPr>
                        <a:t>ASP.NET Core Minimal API</a:t>
                      </a:r>
                      <a:endParaRPr lang="en-US" sz="1300" dirty="0">
                        <a:latin typeface="Arial" charset="0"/>
                        <a:ea typeface="Arial" charset="0"/>
                        <a:cs typeface="Arial"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300" dirty="0">
                          <a:solidFill>
                            <a:srgbClr val="4A5568"/>
                          </a:solidFill>
                          <a:latin typeface="Arial" pitchFamily="34" charset="0"/>
                          <a:ea typeface="Arial" pitchFamily="34" charset="-122"/>
                          <a:cs typeface="Arial" pitchFamily="34" charset="-120"/>
                        </a:rPr>
                        <a:t>.NET Worker Service (BackgroundService)</a:t>
                      </a:r>
                      <a:endParaRPr lang="en-US" sz="1300" dirty="0">
                        <a:latin typeface="Arial" charset="0"/>
                        <a:ea typeface="Arial" charset="0"/>
                        <a:cs typeface="Arial"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300" b="1" dirty="0">
                          <a:solidFill>
                            <a:srgbClr val="16202B"/>
                          </a:solidFill>
                          <a:latin typeface="Arial" pitchFamily="34" charset="0"/>
                          <a:ea typeface="Arial" pitchFamily="34" charset="-122"/>
                          <a:cs typeface="Arial" pitchFamily="34" charset="-120"/>
                        </a:rPr>
                        <a:t>Tar emot</a:t>
                      </a:r>
                      <a:endParaRPr lang="en-US" sz="1300" dirty="0">
                        <a:latin typeface="Arial" charset="0"/>
                        <a:ea typeface="Arial" charset="0"/>
                        <a:cs typeface="Arial"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300" dirty="0">
                          <a:solidFill>
                            <a:srgbClr val="4A5568"/>
                          </a:solidFill>
                          <a:latin typeface="Arial" pitchFamily="34" charset="0"/>
                          <a:ea typeface="Arial" pitchFamily="34" charset="-122"/>
                          <a:cs typeface="Arial" pitchFamily="34" charset="-120"/>
                        </a:rPr>
                        <a:t>HTTP via Service + Ingress</a:t>
                      </a:r>
                      <a:endParaRPr lang="en-US" sz="1300" dirty="0">
                        <a:latin typeface="Arial" charset="0"/>
                        <a:ea typeface="Arial" charset="0"/>
                        <a:cs typeface="Arial"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300" dirty="0">
                          <a:solidFill>
                            <a:srgbClr val="4A5568"/>
                          </a:solidFill>
                          <a:latin typeface="Arial" pitchFamily="34" charset="0"/>
                          <a:ea typeface="Arial" pitchFamily="34" charset="-122"/>
                          <a:cs typeface="Arial" pitchFamily="34" charset="-120"/>
                        </a:rPr>
                        <a:t>Kommandon från NATS JetStream</a:t>
                      </a:r>
                      <a:endParaRPr lang="en-US" sz="1300" dirty="0">
                        <a:latin typeface="Arial" charset="0"/>
                        <a:ea typeface="Arial" charset="0"/>
                        <a:cs typeface="Arial"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300" b="1" dirty="0">
                          <a:solidFill>
                            <a:srgbClr val="16202B"/>
                          </a:solidFill>
                          <a:latin typeface="Arial" pitchFamily="34" charset="0"/>
                          <a:ea typeface="Arial" pitchFamily="34" charset="-122"/>
                          <a:cs typeface="Arial" pitchFamily="34" charset="-120"/>
                        </a:rPr>
                        <a:t>Läser</a:t>
                      </a:r>
                      <a:endParaRPr lang="en-US" sz="1300" dirty="0">
                        <a:latin typeface="Arial" charset="0"/>
                        <a:ea typeface="Arial" charset="0"/>
                        <a:cs typeface="Arial"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300" dirty="0">
                          <a:solidFill>
                            <a:srgbClr val="4A5568"/>
                          </a:solidFill>
                          <a:latin typeface="Arial" pitchFamily="34" charset="0"/>
                          <a:ea typeface="Arial" pitchFamily="34" charset="-122"/>
                          <a:cs typeface="Arial" pitchFamily="34" charset="-120"/>
                        </a:rPr>
                        <a:t>Dapper + ren SQL</a:t>
                      </a:r>
                      <a:endParaRPr lang="en-US" sz="1300" dirty="0">
                        <a:latin typeface="Arial" charset="0"/>
                        <a:ea typeface="Arial" charset="0"/>
                        <a:cs typeface="Arial"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300" dirty="0">
                          <a:solidFill>
                            <a:srgbClr val="4A5568"/>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300" b="1" dirty="0">
                          <a:solidFill>
                            <a:srgbClr val="16202B"/>
                          </a:solidFill>
                          <a:latin typeface="Arial" pitchFamily="34" charset="0"/>
                          <a:ea typeface="Arial" pitchFamily="34" charset="-122"/>
                          <a:cs typeface="Arial" pitchFamily="34" charset="-120"/>
                        </a:rPr>
                        <a:t>Skriver</a:t>
                      </a:r>
                      <a:endParaRPr lang="en-US" sz="1300" dirty="0">
                        <a:latin typeface="Arial" charset="0"/>
                        <a:ea typeface="Arial" charset="0"/>
                        <a:cs typeface="Arial"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300" b="1" dirty="0">
                          <a:solidFill>
                            <a:srgbClr val="16202B"/>
                          </a:solidFill>
                          <a:latin typeface="Arial" pitchFamily="34" charset="0"/>
                          <a:ea typeface="Arial" pitchFamily="34" charset="-122"/>
                          <a:cs typeface="Arial" pitchFamily="34" charset="-120"/>
                        </a:rPr>
                        <a:t>Aldrig till databasen - publicerar kommandon</a:t>
                      </a:r>
                      <a:endParaRPr lang="en-US" sz="1300" dirty="0">
                        <a:latin typeface="Arial" charset="0"/>
                        <a:ea typeface="Arial" charset="0"/>
                        <a:cs typeface="Arial"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300" b="1" dirty="0">
                          <a:solidFill>
                            <a:srgbClr val="16202B"/>
                          </a:solidFill>
                          <a:latin typeface="Arial" pitchFamily="34" charset="0"/>
                          <a:ea typeface="Arial" pitchFamily="34" charset="-122"/>
                          <a:cs typeface="Arial" pitchFamily="34" charset="-120"/>
                        </a:rPr>
                        <a:t>EF Core - enda som skriver</a:t>
                      </a:r>
                      <a:endParaRPr lang="en-US" sz="1300" dirty="0">
                        <a:latin typeface="Arial" charset="0"/>
                        <a:ea typeface="Arial" charset="0"/>
                        <a:cs typeface="Arial"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1300" b="1" dirty="0">
                          <a:solidFill>
                            <a:srgbClr val="16202B"/>
                          </a:solidFill>
                          <a:latin typeface="Arial" pitchFamily="34" charset="0"/>
                          <a:ea typeface="Arial" pitchFamily="34" charset="-122"/>
                          <a:cs typeface="Arial" pitchFamily="34" charset="-120"/>
                        </a:rPr>
                        <a:t>Databasanvändare</a:t>
                      </a:r>
                      <a:endParaRPr lang="en-US" sz="1300" dirty="0">
                        <a:latin typeface="Arial" charset="0"/>
                        <a:ea typeface="Arial" charset="0"/>
                        <a:cs typeface="Arial"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300" dirty="0">
                          <a:solidFill>
                            <a:srgbClr val="4A5568"/>
                          </a:solidFill>
                          <a:latin typeface="Arial" pitchFamily="34" charset="0"/>
                          <a:ea typeface="Arial" pitchFamily="34" charset="-122"/>
                          <a:cs typeface="Arial" pitchFamily="34" charset="-120"/>
                        </a:rPr>
                        <a:t>cqrs_reader (bara SELECT)</a:t>
                      </a:r>
                      <a:endParaRPr lang="en-US" sz="1300" dirty="0">
                        <a:latin typeface="Arial" charset="0"/>
                        <a:ea typeface="Arial" charset="0"/>
                        <a:cs typeface="Arial"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300" dirty="0">
                          <a:solidFill>
                            <a:srgbClr val="4A5568"/>
                          </a:solidFill>
                          <a:latin typeface="Arial" pitchFamily="34" charset="0"/>
                          <a:ea typeface="Arial" pitchFamily="34" charset="-122"/>
                          <a:cs typeface="Arial" pitchFamily="34" charset="-120"/>
                        </a:rPr>
                        <a:t>cqrs_writer (äger schemat)</a:t>
                      </a:r>
                      <a:endParaRPr lang="en-US" sz="1300" dirty="0">
                        <a:latin typeface="Arial" charset="0"/>
                        <a:ea typeface="Arial" charset="0"/>
                        <a:cs typeface="Arial"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5"/>
                  </a:ext>
                </a:extLst>
              </a:tr>
              <a:tr h="548640">
                <a:tc>
                  <a:txBody>
                    <a:bodyPr/>
                    <a:lstStyle/>
                    <a:p>
                      <a:pPr marL="0" indent="0">
                        <a:buNone/>
                      </a:pPr>
                      <a:r>
                        <a:rPr lang="en-US" sz="1300" b="1" dirty="0">
                          <a:solidFill>
                            <a:srgbClr val="16202B"/>
                          </a:solidFill>
                          <a:latin typeface="Arial" pitchFamily="34" charset="0"/>
                          <a:ea typeface="Arial" pitchFamily="34" charset="-122"/>
                          <a:cs typeface="Arial" pitchFamily="34" charset="-120"/>
                        </a:rPr>
                        <a:t>Repliker</a:t>
                      </a:r>
                      <a:endParaRPr lang="en-US" sz="1300" dirty="0">
                        <a:latin typeface="Arial" charset="0"/>
                        <a:ea typeface="Arial" charset="0"/>
                        <a:cs typeface="Arial"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300" dirty="0">
                          <a:solidFill>
                            <a:srgbClr val="4A5568"/>
                          </a:solidFill>
                          <a:latin typeface="Arial" pitchFamily="34" charset="0"/>
                          <a:ea typeface="Arial" pitchFamily="34" charset="-122"/>
                          <a:cs typeface="Arial" pitchFamily="34" charset="-120"/>
                        </a:rPr>
                        <a:t>2 - tillståndslös, skalar fritt</a:t>
                      </a:r>
                      <a:endParaRPr lang="en-US" sz="1300" dirty="0">
                        <a:latin typeface="Arial" charset="0"/>
                        <a:ea typeface="Arial" charset="0"/>
                        <a:cs typeface="Arial"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marL="0" indent="0">
                        <a:buNone/>
                      </a:pPr>
                      <a:r>
                        <a:rPr lang="en-US" sz="1300" dirty="0">
                          <a:solidFill>
                            <a:srgbClr val="4A5568"/>
                          </a:solidFill>
                          <a:latin typeface="Arial" pitchFamily="34" charset="0"/>
                          <a:ea typeface="Arial" pitchFamily="34" charset="-122"/>
                          <a:cs typeface="Arial" pitchFamily="34" charset="-120"/>
                        </a:rPr>
                        <a:t>1 - behåller ordningen på kommandona</a:t>
                      </a:r>
                      <a:endParaRPr lang="en-US" sz="1300" dirty="0">
                        <a:latin typeface="Arial" charset="0"/>
                        <a:ea typeface="Arial" charset="0"/>
                        <a:cs typeface="Arial" charset="0"/>
                      </a:endParaRPr>
                    </a:p>
                  </a:txBody>
                  <a:tcPr marL="109728" marR="10972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EXEMPELAPPEN · KONTRAKTET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Meddelandet mellan programmen</a:t>
            </a:r>
            <a:endParaRPr lang="en-US" sz="3000" dirty="0"/>
          </a:p>
        </p:txBody>
      </p:sp>
      <p:sp>
        <p:nvSpPr>
          <p:cNvPr id="4" name="Shape 2"/>
          <p:cNvSpPr/>
          <p:nvPr/>
        </p:nvSpPr>
        <p:spPr>
          <a:xfrm>
            <a:off x="548640" y="1554480"/>
            <a:ext cx="6675120" cy="4343400"/>
          </a:xfrm>
          <a:prstGeom prst="roundRect">
            <a:avLst>
              <a:gd name="adj" fmla="val 1263"/>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566928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Contracts/PersonCommand.cs</a:t>
            </a:r>
            <a:endParaRPr lang="en-US" sz="1100" dirty="0"/>
          </a:p>
        </p:txBody>
      </p:sp>
      <p:sp>
        <p:nvSpPr>
          <p:cNvPr id="9" name="Text 7"/>
          <p:cNvSpPr txBox="1"/>
          <p:nvPr/>
        </p:nvSpPr>
        <p:spPr>
          <a:xfrm>
            <a:off x="777240" y="2011680"/>
            <a:ext cx="6217920" cy="3749040"/>
          </a:xfrm>
          <a:prstGeom prst="rect">
            <a:avLst/>
          </a:prstGeom>
          <a:noFill/>
          <a:ln/>
        </p:spPr>
        <p:txBody>
          <a:bodyPr wrap="square" lIns="0" tIns="0" rIns="0" bIns="0" rtlCol="0" anchor="t"/>
          <a:lstStyle/>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public sealed record PersonCommand</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public Guid CommandId { get; init; } = Guid.NewGuid();</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public Guid PersonId  { get; init;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public string? FirstName { get; init;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public string? LastName  { get; init;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public string? Email     { get; init;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marL="0" indent="0">
              <a:lnSpc>
                <a:spcPct val="110000"/>
              </a:lnSpc>
              <a:buNone/>
            </a:pPr>
            <a:r>
              <a:rPr lang="en-US" sz="1200" i="1" dirty="0">
                <a:solidFill>
                  <a:srgbClr val="B9C4D1"/>
                </a:solidFill>
                <a:latin typeface="Courier New" pitchFamily="34" charset="0"/>
                <a:ea typeface="Courier New" pitchFamily="34" charset="-122"/>
                <a:cs typeface="Courier New" pitchFamily="34" charset="-120"/>
              </a:rPr>
              <a:t>// VAD som ska göras avgörs av subjektet:</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persons.cmd.create</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persons.cmd.update</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persons.cmd.delete</a:t>
            </a:r>
            <a:endParaRPr lang="en-US" sz="1200" dirty="0"/>
          </a:p>
        </p:txBody>
      </p:sp>
      <p:sp>
        <p:nvSpPr>
          <p:cNvPr id="10" name="Shape 8"/>
          <p:cNvSpPr/>
          <p:nvPr/>
        </p:nvSpPr>
        <p:spPr>
          <a:xfrm>
            <a:off x="7589520" y="1554480"/>
            <a:ext cx="4053535" cy="132588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7790688" y="1755648"/>
            <a:ext cx="3651199"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CommandId</a:t>
            </a:r>
            <a:endParaRPr lang="en-US" sz="1600" dirty="0"/>
          </a:p>
        </p:txBody>
      </p:sp>
      <p:sp>
        <p:nvSpPr>
          <p:cNvPr id="12" name="Text 10"/>
          <p:cNvSpPr txBox="1"/>
          <p:nvPr/>
        </p:nvSpPr>
        <p:spPr>
          <a:xfrm>
            <a:off x="7790688" y="2139696"/>
            <a:ext cx="3651199" cy="5852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Unikt per kommando. Skickas som Nats-Msg-Id så att dubbletter slängs.</a:t>
            </a:r>
            <a:endParaRPr lang="en-US" sz="1300" dirty="0"/>
          </a:p>
        </p:txBody>
      </p:sp>
      <p:sp>
        <p:nvSpPr>
          <p:cNvPr id="13" name="Shape 11"/>
          <p:cNvSpPr/>
          <p:nvPr/>
        </p:nvSpPr>
        <p:spPr>
          <a:xfrm>
            <a:off x="7589520" y="3017520"/>
            <a:ext cx="4053535" cy="132588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7790688" y="3218688"/>
            <a:ext cx="3651199"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PersonId</a:t>
            </a:r>
            <a:endParaRPr lang="en-US" sz="1600" dirty="0"/>
          </a:p>
        </p:txBody>
      </p:sp>
      <p:sp>
        <p:nvSpPr>
          <p:cNvPr id="15" name="Text 13"/>
          <p:cNvSpPr txBox="1"/>
          <p:nvPr/>
        </p:nvSpPr>
        <p:spPr>
          <a:xfrm>
            <a:off x="7790688" y="3602736"/>
            <a:ext cx="3651199" cy="5852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Bestäms av API:t redan vid POST - klienten vet direkt vart den ska fråga.</a:t>
            </a:r>
            <a:endParaRPr lang="en-US" sz="1300" dirty="0"/>
          </a:p>
        </p:txBody>
      </p:sp>
      <p:sp>
        <p:nvSpPr>
          <p:cNvPr id="16" name="Shape 14"/>
          <p:cNvSpPr/>
          <p:nvPr/>
        </p:nvSpPr>
        <p:spPr>
          <a:xfrm>
            <a:off x="7589520" y="4480560"/>
            <a:ext cx="4053535" cy="1417320"/>
          </a:xfrm>
          <a:prstGeom prst="roundRect">
            <a:avLst>
              <a:gd name="adj" fmla="val 3871"/>
            </a:avLst>
          </a:prstGeom>
          <a:solidFill>
            <a:srgbClr val="3762FF"/>
          </a:solidFill>
          <a:ln w="12700">
            <a:solidFill>
              <a:srgbClr val="3762FF"/>
            </a:solidFill>
            <a:prstDash val="solid"/>
          </a:ln>
        </p:spPr>
      </p:sp>
      <p:sp>
        <p:nvSpPr>
          <p:cNvPr id="17" name="Text 15"/>
          <p:cNvSpPr txBox="1"/>
          <p:nvPr/>
        </p:nvSpPr>
        <p:spPr>
          <a:xfrm>
            <a:off x="7790688" y="4681728"/>
            <a:ext cx="3651199"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Filen finns i båda projekten</a:t>
            </a:r>
            <a:endParaRPr lang="en-US" sz="1600" dirty="0"/>
          </a:p>
        </p:txBody>
      </p:sp>
      <p:sp>
        <p:nvSpPr>
          <p:cNvPr id="18" name="Text 16"/>
          <p:cNvSpPr txBox="1"/>
          <p:nvPr/>
        </p:nvSpPr>
        <p:spPr>
          <a:xfrm>
            <a:off x="7790688" y="5065776"/>
            <a:ext cx="3651199" cy="67665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Med avsikt. Kontraktet är JSON:en på subjektet, inte en delad DLL.</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EXEMPELAPPEN · COMMAND-SIDAN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CQRSApi: ta emot, publicera, svara 202</a:t>
            </a:r>
            <a:endParaRPr lang="en-US" sz="3000" dirty="0"/>
          </a:p>
        </p:txBody>
      </p:sp>
      <p:sp>
        <p:nvSpPr>
          <p:cNvPr id="4" name="Shape 2"/>
          <p:cNvSpPr/>
          <p:nvPr/>
        </p:nvSpPr>
        <p:spPr>
          <a:xfrm>
            <a:off x="548640" y="1554480"/>
            <a:ext cx="11094415" cy="3291840"/>
          </a:xfrm>
          <a:prstGeom prst="roundRect">
            <a:avLst>
              <a:gd name="adj" fmla="val 1667"/>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10088575"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CQRSApi/Program.cs (förenklat)</a:t>
            </a:r>
            <a:endParaRPr lang="en-US" sz="1100" dirty="0"/>
          </a:p>
        </p:txBody>
      </p:sp>
      <p:sp>
        <p:nvSpPr>
          <p:cNvPr id="9" name="Text 7"/>
          <p:cNvSpPr txBox="1"/>
          <p:nvPr/>
        </p:nvSpPr>
        <p:spPr>
          <a:xfrm>
            <a:off x="777240" y="2011680"/>
            <a:ext cx="10637215" cy="2697480"/>
          </a:xfrm>
          <a:prstGeom prst="rect">
            <a:avLst/>
          </a:prstGeom>
          <a:noFill/>
          <a:ln/>
        </p:spPr>
        <p:txBody>
          <a:bodyPr wrap="square" lIns="0" tIns="0" rIns="0" bIns="0" rtlCol="0" anchor="t"/>
          <a:lstStyle/>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persons.MapPost("/", async (PersonRequest request, PersonCommandPublisher publisher, CancellationToken ct) =&gt;</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if (request.Validate() is { } errors) return TypedResults.ValidationProblem(errors);</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var command = await publisher.PublishAsync(PersonSubjects.Create, request.ToCommand(Guid.NewGuid()), ct);</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return TypedResults.Accepted($"/persons/{command.PersonId}", CommandAccepted.From(command, "create"));</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marL="0" indent="0">
              <a:lnSpc>
                <a:spcPct val="110000"/>
              </a:lnSpc>
              <a:buNone/>
            </a:pPr>
            <a:r>
              <a:rPr lang="en-US" sz="1150" i="1" dirty="0">
                <a:solidFill>
                  <a:srgbClr val="B9C4D1"/>
                </a:solidFill>
                <a:latin typeface="Courier New" pitchFamily="34" charset="0"/>
                <a:ea typeface="Courier New" pitchFamily="34" charset="-122"/>
                <a:cs typeface="Courier New" pitchFamily="34" charset="-120"/>
              </a:rPr>
              <a:t>// PersonCommandPublisher: js.PublishAsync(subject, command, opts: new NatsJSPubOpts { MsgId = ... })</a:t>
            </a:r>
            <a:endParaRPr lang="en-US" sz="1150" dirty="0"/>
          </a:p>
        </p:txBody>
      </p:sp>
      <p:sp>
        <p:nvSpPr>
          <p:cNvPr id="10" name="Shape 8"/>
          <p:cNvSpPr/>
          <p:nvPr/>
        </p:nvSpPr>
        <p:spPr>
          <a:xfrm>
            <a:off x="548640" y="5074920"/>
            <a:ext cx="3515258" cy="109728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749808" y="5276088"/>
            <a:ext cx="3112922"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1. Validera</a:t>
            </a:r>
            <a:endParaRPr lang="en-US" sz="1600" dirty="0"/>
          </a:p>
        </p:txBody>
      </p:sp>
      <p:sp>
        <p:nvSpPr>
          <p:cNvPr id="12" name="Text 10"/>
          <p:cNvSpPr txBox="1"/>
          <p:nvPr/>
        </p:nvSpPr>
        <p:spPr>
          <a:xfrm>
            <a:off x="749808" y="5660136"/>
            <a:ext cx="3112922" cy="35661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Fel i indata stoppas direkt - 400 med ValidationProblem.</a:t>
            </a:r>
            <a:endParaRPr lang="en-US" sz="1200" dirty="0"/>
          </a:p>
        </p:txBody>
      </p:sp>
      <p:sp>
        <p:nvSpPr>
          <p:cNvPr id="13" name="Shape 11"/>
          <p:cNvSpPr/>
          <p:nvPr/>
        </p:nvSpPr>
        <p:spPr>
          <a:xfrm>
            <a:off x="4338218" y="5074920"/>
            <a:ext cx="3515258" cy="109728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4539386" y="5276088"/>
            <a:ext cx="3112922"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2. Publicera</a:t>
            </a:r>
            <a:endParaRPr lang="en-US" sz="1600" dirty="0"/>
          </a:p>
        </p:txBody>
      </p:sp>
      <p:sp>
        <p:nvSpPr>
          <p:cNvPr id="15" name="Text 13"/>
          <p:cNvSpPr txBox="1"/>
          <p:nvPr/>
        </p:nvSpPr>
        <p:spPr>
          <a:xfrm>
            <a:off x="4539386" y="5660136"/>
            <a:ext cx="3112922" cy="35661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Kommandot läggs på JetStream, som bekräftar mottagandet.</a:t>
            </a:r>
            <a:endParaRPr lang="en-US" sz="1200" dirty="0"/>
          </a:p>
        </p:txBody>
      </p:sp>
      <p:sp>
        <p:nvSpPr>
          <p:cNvPr id="16" name="Shape 14"/>
          <p:cNvSpPr/>
          <p:nvPr/>
        </p:nvSpPr>
        <p:spPr>
          <a:xfrm>
            <a:off x="8127797" y="5074920"/>
            <a:ext cx="3515258" cy="1097280"/>
          </a:xfrm>
          <a:prstGeom prst="roundRect">
            <a:avLst>
              <a:gd name="adj" fmla="val 5000"/>
            </a:avLst>
          </a:prstGeom>
          <a:solidFill>
            <a:srgbClr val="3762FF"/>
          </a:solidFill>
          <a:ln w="12700">
            <a:solidFill>
              <a:srgbClr val="3762FF"/>
            </a:solidFill>
            <a:prstDash val="solid"/>
          </a:ln>
        </p:spPr>
      </p:sp>
      <p:sp>
        <p:nvSpPr>
          <p:cNvPr id="17" name="Text 15"/>
          <p:cNvSpPr txBox="1"/>
          <p:nvPr/>
        </p:nvSpPr>
        <p:spPr>
          <a:xfrm>
            <a:off x="8328965" y="5276088"/>
            <a:ext cx="3112922"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3. Svara 202</a:t>
            </a:r>
            <a:endParaRPr lang="en-US" sz="1600" dirty="0"/>
          </a:p>
        </p:txBody>
      </p:sp>
      <p:sp>
        <p:nvSpPr>
          <p:cNvPr id="18" name="Text 16"/>
          <p:cNvSpPr txBox="1"/>
          <p:nvPr/>
        </p:nvSpPr>
        <p:spPr>
          <a:xfrm>
            <a:off x="8328965" y="5660136"/>
            <a:ext cx="3112922" cy="35661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Accepted + Location-header. Ingen databas inblandad.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EXEMPELAPPEN · QUERY-SIDAN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CQRSApi: läsa med Dapper</a:t>
            </a:r>
            <a:endParaRPr lang="en-US" sz="3000" dirty="0"/>
          </a:p>
        </p:txBody>
      </p:sp>
      <p:sp>
        <p:nvSpPr>
          <p:cNvPr id="4" name="Shape 2"/>
          <p:cNvSpPr/>
          <p:nvPr/>
        </p:nvSpPr>
        <p:spPr>
          <a:xfrm>
            <a:off x="548640" y="1554480"/>
            <a:ext cx="6949440" cy="4206240"/>
          </a:xfrm>
          <a:prstGeom prst="roundRect">
            <a:avLst>
              <a:gd name="adj" fmla="val 1304"/>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594360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CQRSApi/Queries/PersonQueries.cs</a:t>
            </a:r>
            <a:endParaRPr lang="en-US" sz="1100" dirty="0"/>
          </a:p>
        </p:txBody>
      </p:sp>
      <p:sp>
        <p:nvSpPr>
          <p:cNvPr id="9" name="Text 7"/>
          <p:cNvSpPr txBox="1"/>
          <p:nvPr/>
        </p:nvSpPr>
        <p:spPr>
          <a:xfrm>
            <a:off x="777240" y="2011680"/>
            <a:ext cx="6492240" cy="3611880"/>
          </a:xfrm>
          <a:prstGeom prst="rect">
            <a:avLst/>
          </a:prstGeom>
          <a:noFill/>
          <a:ln/>
        </p:spPr>
        <p:txBody>
          <a:bodyPr wrap="square" lIns="0" tIns="0" rIns="0" bIns="0" rtlCol="0" anchor="t"/>
          <a:lstStyle/>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public async Task&lt;PersonDto?&gt; GetByIdAsync(Guid id, CancellationToken ct)</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await using var connection = new MySqlConnection(connectionString);</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return await connection.QuerySingleOrDefaultAsync&lt;PersonDto&gt;(</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new CommandDefinition(</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"SELECT Id, FirstName, LastName, Email, CreatedAt, UpdatedAt</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FROM Persons WHERE Id = @Id",</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new { Id = id.ToString() },</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cancellationToken: ct));</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a:t>
            </a:r>
            <a:endParaRPr lang="en-US" sz="1150" dirty="0"/>
          </a:p>
        </p:txBody>
      </p:sp>
      <p:sp>
        <p:nvSpPr>
          <p:cNvPr id="10" name="Shape 8"/>
          <p:cNvSpPr/>
          <p:nvPr/>
        </p:nvSpPr>
        <p:spPr>
          <a:xfrm>
            <a:off x="7863840" y="1554480"/>
            <a:ext cx="3779215" cy="132588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8065008" y="1755648"/>
            <a:ext cx="3376879"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Ren SQL</a:t>
            </a:r>
            <a:endParaRPr lang="en-US" sz="1600" dirty="0"/>
          </a:p>
        </p:txBody>
      </p:sp>
      <p:sp>
        <p:nvSpPr>
          <p:cNvPr id="12" name="Text 10"/>
          <p:cNvSpPr txBox="1"/>
          <p:nvPr/>
        </p:nvSpPr>
        <p:spPr>
          <a:xfrm>
            <a:off x="8065008" y="2139696"/>
            <a:ext cx="3376879" cy="5852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Ni ser exakt vilken fråga som körs. Ingen ändringsspårning, ingen overhead.</a:t>
            </a:r>
            <a:endParaRPr lang="en-US" sz="1300" dirty="0"/>
          </a:p>
        </p:txBody>
      </p:sp>
      <p:sp>
        <p:nvSpPr>
          <p:cNvPr id="13" name="Shape 11"/>
          <p:cNvSpPr/>
          <p:nvPr/>
        </p:nvSpPr>
        <p:spPr>
          <a:xfrm>
            <a:off x="7863840" y="3017520"/>
            <a:ext cx="3779215" cy="132588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8065008" y="3218688"/>
            <a:ext cx="3376879"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Egen läsmodell</a:t>
            </a:r>
            <a:endParaRPr lang="en-US" sz="1600" dirty="0"/>
          </a:p>
        </p:txBody>
      </p:sp>
      <p:sp>
        <p:nvSpPr>
          <p:cNvPr id="15" name="Text 13"/>
          <p:cNvSpPr txBox="1"/>
          <p:nvPr/>
        </p:nvSpPr>
        <p:spPr>
          <a:xfrm>
            <a:off x="8065008" y="3602736"/>
            <a:ext cx="3376879" cy="5852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PersonDto formas efter vad klienten behöver - inte efter tabellen.</a:t>
            </a:r>
            <a:endParaRPr lang="en-US" sz="1300" dirty="0"/>
          </a:p>
        </p:txBody>
      </p:sp>
      <p:sp>
        <p:nvSpPr>
          <p:cNvPr id="16" name="Shape 14"/>
          <p:cNvSpPr/>
          <p:nvPr/>
        </p:nvSpPr>
        <p:spPr>
          <a:xfrm>
            <a:off x="7863840" y="4434840"/>
            <a:ext cx="3779215" cy="1325880"/>
          </a:xfrm>
          <a:prstGeom prst="roundRect">
            <a:avLst>
              <a:gd name="adj" fmla="val 4138"/>
            </a:avLst>
          </a:prstGeom>
          <a:solidFill>
            <a:srgbClr val="3762FF"/>
          </a:solidFill>
          <a:ln w="12700">
            <a:solidFill>
              <a:srgbClr val="3762FF"/>
            </a:solidFill>
            <a:prstDash val="solid"/>
          </a:ln>
        </p:spPr>
      </p:sp>
      <p:sp>
        <p:nvSpPr>
          <p:cNvPr id="17" name="Text 15"/>
          <p:cNvSpPr txBox="1"/>
          <p:nvPr/>
        </p:nvSpPr>
        <p:spPr>
          <a:xfrm>
            <a:off x="8065008" y="4636008"/>
            <a:ext cx="3376879"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cqrs_reader</a:t>
            </a:r>
            <a:endParaRPr lang="en-US" sz="1600" dirty="0"/>
          </a:p>
        </p:txBody>
      </p:sp>
      <p:sp>
        <p:nvSpPr>
          <p:cNvPr id="18" name="Text 16"/>
          <p:cNvSpPr txBox="1"/>
          <p:nvPr/>
        </p:nvSpPr>
        <p:spPr>
          <a:xfrm>
            <a:off x="8065008" y="5020056"/>
            <a:ext cx="3376879" cy="58521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Anslutningen kan bara SELECT. Skrivning är omöjlig, inte bara ovanlig.</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EXEMPELAPPEN · WORKERN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CQRSWorker: konsumera, utföra, kvittera</a:t>
            </a:r>
            <a:endParaRPr lang="en-US" sz="3000" dirty="0"/>
          </a:p>
        </p:txBody>
      </p:sp>
      <p:sp>
        <p:nvSpPr>
          <p:cNvPr id="4" name="Shape 2"/>
          <p:cNvSpPr/>
          <p:nvPr/>
        </p:nvSpPr>
        <p:spPr>
          <a:xfrm>
            <a:off x="548640" y="1554480"/>
            <a:ext cx="7040880" cy="4297680"/>
          </a:xfrm>
          <a:prstGeom prst="roundRect">
            <a:avLst>
              <a:gd name="adj" fmla="val 1277"/>
            </a:avLst>
          </a:prstGeom>
          <a:solidFill>
            <a:srgbClr val="16294A"/>
          </a:solidFill>
          <a:ln w="12700">
            <a:solidFill>
              <a:srgbClr val="16294A"/>
            </a:solidFill>
            <a:prstDash val="solid"/>
          </a:ln>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03504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CQRSWorker/Worker.cs (förenklat)</a:t>
            </a:r>
            <a:endParaRPr lang="en-US" sz="1100" dirty="0"/>
          </a:p>
        </p:txBody>
      </p:sp>
      <p:sp>
        <p:nvSpPr>
          <p:cNvPr id="9" name="Text 7"/>
          <p:cNvSpPr txBox="1"/>
          <p:nvPr/>
        </p:nvSpPr>
        <p:spPr>
          <a:xfrm>
            <a:off x="777240" y="2011680"/>
            <a:ext cx="6583680" cy="3703320"/>
          </a:xfrm>
          <a:prstGeom prst="rect">
            <a:avLst/>
          </a:prstGeom>
          <a:noFill/>
          <a:ln/>
        </p:spPr>
        <p:txBody>
          <a:bodyPr wrap="square" lIns="0" tIns="0" rIns="0" bIns="0" rtlCol="0" anchor="t"/>
          <a:lstStyle/>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await foreach (var msg in consumer.ConsumeAsync&lt;PersonCommand&gt;(ct))</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try</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await using var db = await dbFactory.CreateDbContextAsync(ct);</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var result = msg.Subject switch</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PersonSubjects.Create =&gt; await CreateAsync(db, cmd, ct),</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PersonSubjects.Update =&gt; await UpdateAsync(db, cmd, ct),</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PersonSubjects.Delete =&gt; await DeleteAsync(db, cmd, ct),</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await msg.AckAsync(cancellationToken: ct);   // klart!</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catch { await msg.NakAsync(delay: TimeSpan.FromSeconds(5));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7909560" y="1554480"/>
            <a:ext cx="3733495" cy="1325880"/>
          </a:xfrm>
          <a:prstGeom prst="roundRect">
            <a:avLst>
              <a:gd name="adj" fmla="val 4138"/>
            </a:avLst>
          </a:prstGeom>
          <a:solidFill>
            <a:srgbClr val="16294A"/>
          </a:solidFill>
          <a:ln w="12700">
            <a:solidFill>
              <a:srgbClr val="16294A"/>
            </a:solidFill>
            <a:prstDash val="solid"/>
          </a:ln>
        </p:spPr>
      </p:sp>
      <p:sp>
        <p:nvSpPr>
          <p:cNvPr id="11" name="Text 9"/>
          <p:cNvSpPr txBox="1"/>
          <p:nvPr/>
        </p:nvSpPr>
        <p:spPr>
          <a:xfrm>
            <a:off x="8110728" y="1755648"/>
            <a:ext cx="3331159"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Ack</a:t>
            </a:r>
            <a:endParaRPr lang="en-US" sz="1600" dirty="0"/>
          </a:p>
        </p:txBody>
      </p:sp>
      <p:sp>
        <p:nvSpPr>
          <p:cNvPr id="12" name="Text 10"/>
          <p:cNvSpPr txBox="1"/>
          <p:nvPr/>
        </p:nvSpPr>
        <p:spPr>
          <a:xfrm>
            <a:off x="8110728" y="2139696"/>
            <a:ext cx="3331159" cy="58521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Sparat i databasen - JetStream tar bort meddelandet ur kön.</a:t>
            </a:r>
            <a:endParaRPr lang="en-US" sz="1300" dirty="0"/>
          </a:p>
        </p:txBody>
      </p:sp>
      <p:sp>
        <p:nvSpPr>
          <p:cNvPr id="13" name="Shape 11"/>
          <p:cNvSpPr/>
          <p:nvPr/>
        </p:nvSpPr>
        <p:spPr>
          <a:xfrm>
            <a:off x="7909560" y="3017520"/>
            <a:ext cx="3733495" cy="1325880"/>
          </a:xfrm>
          <a:prstGeom prst="roundRect">
            <a:avLst>
              <a:gd name="adj" fmla="val 4138"/>
            </a:avLst>
          </a:prstGeom>
          <a:solidFill>
            <a:srgbClr val="16294A"/>
          </a:solidFill>
          <a:ln w="12700">
            <a:solidFill>
              <a:srgbClr val="16294A"/>
            </a:solidFill>
            <a:prstDash val="solid"/>
          </a:ln>
        </p:spPr>
      </p:sp>
      <p:sp>
        <p:nvSpPr>
          <p:cNvPr id="14" name="Text 12"/>
          <p:cNvSpPr txBox="1"/>
          <p:nvPr/>
        </p:nvSpPr>
        <p:spPr>
          <a:xfrm>
            <a:off x="8110728" y="3218688"/>
            <a:ext cx="3331159"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Nak</a:t>
            </a:r>
            <a:endParaRPr lang="en-US" sz="1600" dirty="0"/>
          </a:p>
        </p:txBody>
      </p:sp>
      <p:sp>
        <p:nvSpPr>
          <p:cNvPr id="15" name="Text 13"/>
          <p:cNvSpPr txBox="1"/>
          <p:nvPr/>
        </p:nvSpPr>
        <p:spPr>
          <a:xfrm>
            <a:off x="8110728" y="3602736"/>
            <a:ext cx="3331159" cy="58521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Något gick fel, t.ex. databasen nere. Leverera igen om 5 s.</a:t>
            </a:r>
            <a:endParaRPr lang="en-US" sz="1300" dirty="0"/>
          </a:p>
        </p:txBody>
      </p:sp>
      <p:sp>
        <p:nvSpPr>
          <p:cNvPr id="16" name="Shape 14"/>
          <p:cNvSpPr/>
          <p:nvPr/>
        </p:nvSpPr>
        <p:spPr>
          <a:xfrm>
            <a:off x="7909560" y="4480560"/>
            <a:ext cx="3733495" cy="1371600"/>
          </a:xfrm>
          <a:prstGeom prst="roundRect">
            <a:avLst>
              <a:gd name="adj" fmla="val 4000"/>
            </a:avLst>
          </a:prstGeom>
          <a:solidFill>
            <a:srgbClr val="3762FF"/>
          </a:solidFill>
          <a:ln w="12700">
            <a:solidFill>
              <a:srgbClr val="3762FF"/>
            </a:solidFill>
            <a:prstDash val="solid"/>
          </a:ln>
        </p:spPr>
      </p:sp>
      <p:sp>
        <p:nvSpPr>
          <p:cNvPr id="17" name="Text 15"/>
          <p:cNvSpPr txBox="1"/>
          <p:nvPr/>
        </p:nvSpPr>
        <p:spPr>
          <a:xfrm>
            <a:off x="8110728" y="4681728"/>
            <a:ext cx="3331159"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Durable consumer</a:t>
            </a:r>
            <a:endParaRPr lang="en-US" sz="1600" dirty="0"/>
          </a:p>
        </p:txBody>
      </p:sp>
      <p:sp>
        <p:nvSpPr>
          <p:cNvPr id="18" name="Text 16"/>
          <p:cNvSpPr txBox="1"/>
          <p:nvPr/>
        </p:nvSpPr>
        <p:spPr>
          <a:xfrm>
            <a:off x="8110728" y="5065776"/>
            <a:ext cx="3331159" cy="63093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"cqrs-worker" minns hur långt den läst, även om podden startas om.</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marL="0" indent="0">
              <a:buNone/>
            </a:pPr>
            <a:r>
              <a:rPr lang="en-US" sz="15000" b="1" dirty="0">
                <a:solidFill>
                  <a:srgbClr val="16294A"/>
                </a:solidFill>
                <a:latin typeface="Calibri" pitchFamily="34" charset="0"/>
                <a:ea typeface="Calibri" pitchFamily="34" charset="-122"/>
                <a:cs typeface="Calibri" pitchFamily="34" charset="-120"/>
              </a:rPr>
              <a:t>05</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marL="0" indent="0">
              <a:buNone/>
            </a:pPr>
            <a:r>
              <a:rPr lang="en-US" sz="5200" b="1" dirty="0">
                <a:solidFill>
                  <a:srgbClr val="F5F7FA"/>
                </a:solidFill>
                <a:latin typeface="Calibri" pitchFamily="34" charset="0"/>
                <a:ea typeface="Calibri" pitchFamily="34" charset="-122"/>
                <a:cs typeface="Calibri" pitchFamily="34" charset="-120"/>
              </a:rPr>
              <a:t>Flödet steg för steg</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Från POST till sparad rad - och varför svaret är 202</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FLÖDET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Ett POST, hela vägen</a:t>
            </a:r>
            <a:endParaRPr lang="en-US" sz="3000" dirty="0"/>
          </a:p>
        </p:txBody>
      </p:sp>
      <p:sp>
        <p:nvSpPr>
          <p:cNvPr id="4" name="Shape 2"/>
          <p:cNvSpPr/>
          <p:nvPr/>
        </p:nvSpPr>
        <p:spPr>
          <a:xfrm>
            <a:off x="548640" y="1737360"/>
            <a:ext cx="1658569" cy="2103120"/>
          </a:xfrm>
          <a:prstGeom prst="roundRect">
            <a:avLst>
              <a:gd name="adj" fmla="val 330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749808" y="1938528"/>
            <a:ext cx="1256233"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STEG 1</a:t>
            </a:r>
            <a:endParaRPr lang="en-US" sz="1100" dirty="0"/>
          </a:p>
        </p:txBody>
      </p:sp>
      <p:sp>
        <p:nvSpPr>
          <p:cNvPr id="6" name="Text 4"/>
          <p:cNvSpPr txBox="1"/>
          <p:nvPr/>
        </p:nvSpPr>
        <p:spPr>
          <a:xfrm>
            <a:off x="749808" y="2231136"/>
            <a:ext cx="1256233" cy="320040"/>
          </a:xfrm>
          <a:prstGeom prst="rect">
            <a:avLst/>
          </a:prstGeom>
          <a:noFill/>
          <a:ln/>
        </p:spPr>
        <p:txBody>
          <a:bodyPr wrap="square" lIns="0" tIns="0" rIns="0" bIns="0" rtlCol="0" anchor="t"/>
          <a:lstStyle/>
          <a:p>
            <a:pPr marL="0" indent="0">
              <a:buNone/>
            </a:pPr>
            <a:r>
              <a:rPr lang="en-US" sz="1500" b="1" dirty="0">
                <a:solidFill>
                  <a:srgbClr val="16202B"/>
                </a:solidFill>
                <a:latin typeface="Calibri" pitchFamily="34" charset="0"/>
                <a:ea typeface="Calibri" pitchFamily="34" charset="-122"/>
                <a:cs typeface="Calibri" pitchFamily="34" charset="-120"/>
              </a:rPr>
              <a:t>Klienten</a:t>
            </a:r>
            <a:endParaRPr lang="en-US" sz="1500" dirty="0"/>
          </a:p>
        </p:txBody>
      </p:sp>
      <p:sp>
        <p:nvSpPr>
          <p:cNvPr id="7" name="Text 5"/>
          <p:cNvSpPr txBox="1"/>
          <p:nvPr/>
        </p:nvSpPr>
        <p:spPr>
          <a:xfrm>
            <a:off x="749808" y="2615184"/>
            <a:ext cx="1256233" cy="1069848"/>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POST /persons till cqrsapi.local</a:t>
            </a:r>
            <a:endParaRPr lang="en-US" sz="1200" dirty="0"/>
          </a:p>
        </p:txBody>
      </p:sp>
      <p:sp>
        <p:nvSpPr>
          <p:cNvPr id="8" name="Shape 6"/>
          <p:cNvSpPr/>
          <p:nvPr/>
        </p:nvSpPr>
        <p:spPr>
          <a:xfrm>
            <a:off x="2435809" y="1737360"/>
            <a:ext cx="1658569" cy="2103120"/>
          </a:xfrm>
          <a:prstGeom prst="roundRect">
            <a:avLst>
              <a:gd name="adj" fmla="val 330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9" name="Text 7"/>
          <p:cNvSpPr txBox="1"/>
          <p:nvPr/>
        </p:nvSpPr>
        <p:spPr>
          <a:xfrm>
            <a:off x="2636977" y="1938528"/>
            <a:ext cx="1256233"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STEG 2</a:t>
            </a:r>
            <a:endParaRPr lang="en-US" sz="1100" dirty="0"/>
          </a:p>
        </p:txBody>
      </p:sp>
      <p:sp>
        <p:nvSpPr>
          <p:cNvPr id="10" name="Text 8"/>
          <p:cNvSpPr txBox="1"/>
          <p:nvPr/>
        </p:nvSpPr>
        <p:spPr>
          <a:xfrm>
            <a:off x="2636977" y="2231136"/>
            <a:ext cx="1256233" cy="320040"/>
          </a:xfrm>
          <a:prstGeom prst="rect">
            <a:avLst/>
          </a:prstGeom>
          <a:noFill/>
          <a:ln/>
        </p:spPr>
        <p:txBody>
          <a:bodyPr wrap="square" lIns="0" tIns="0" rIns="0" bIns="0" rtlCol="0" anchor="t"/>
          <a:lstStyle/>
          <a:p>
            <a:pPr marL="0" indent="0">
              <a:buNone/>
            </a:pPr>
            <a:r>
              <a:rPr lang="en-US" sz="1500" b="1" dirty="0">
                <a:solidFill>
                  <a:srgbClr val="16202B"/>
                </a:solidFill>
                <a:latin typeface="Calibri" pitchFamily="34" charset="0"/>
                <a:ea typeface="Calibri" pitchFamily="34" charset="-122"/>
                <a:cs typeface="Calibri" pitchFamily="34" charset="-120"/>
              </a:rPr>
              <a:t>CQRSApi</a:t>
            </a:r>
            <a:endParaRPr lang="en-US" sz="1500" dirty="0"/>
          </a:p>
        </p:txBody>
      </p:sp>
      <p:sp>
        <p:nvSpPr>
          <p:cNvPr id="11" name="Text 9"/>
          <p:cNvSpPr txBox="1"/>
          <p:nvPr/>
        </p:nvSpPr>
        <p:spPr>
          <a:xfrm>
            <a:off x="2636977" y="2615184"/>
            <a:ext cx="1256233" cy="1069848"/>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Validerar, skapar PersonId</a:t>
            </a:r>
            <a:endParaRPr lang="en-US" sz="1200" dirty="0"/>
          </a:p>
        </p:txBody>
      </p:sp>
      <p:sp>
        <p:nvSpPr>
          <p:cNvPr id="12" name="Shape 10"/>
          <p:cNvSpPr/>
          <p:nvPr/>
        </p:nvSpPr>
        <p:spPr>
          <a:xfrm>
            <a:off x="4322978" y="1737360"/>
            <a:ext cx="1658569" cy="2103120"/>
          </a:xfrm>
          <a:prstGeom prst="roundRect">
            <a:avLst>
              <a:gd name="adj" fmla="val 330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3" name="Text 11"/>
          <p:cNvSpPr txBox="1"/>
          <p:nvPr/>
        </p:nvSpPr>
        <p:spPr>
          <a:xfrm>
            <a:off x="4524146" y="1938528"/>
            <a:ext cx="1256233"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STEG 3</a:t>
            </a:r>
            <a:endParaRPr lang="en-US" sz="1100" dirty="0"/>
          </a:p>
        </p:txBody>
      </p:sp>
      <p:sp>
        <p:nvSpPr>
          <p:cNvPr id="14" name="Text 12"/>
          <p:cNvSpPr txBox="1"/>
          <p:nvPr/>
        </p:nvSpPr>
        <p:spPr>
          <a:xfrm>
            <a:off x="4524146" y="2231136"/>
            <a:ext cx="1256233" cy="320040"/>
          </a:xfrm>
          <a:prstGeom prst="rect">
            <a:avLst/>
          </a:prstGeom>
          <a:noFill/>
          <a:ln/>
        </p:spPr>
        <p:txBody>
          <a:bodyPr wrap="square" lIns="0" tIns="0" rIns="0" bIns="0" rtlCol="0" anchor="t"/>
          <a:lstStyle/>
          <a:p>
            <a:pPr marL="0" indent="0">
              <a:buNone/>
            </a:pPr>
            <a:r>
              <a:rPr lang="en-US" sz="1500" b="1" dirty="0">
                <a:solidFill>
                  <a:srgbClr val="16202B"/>
                </a:solidFill>
                <a:latin typeface="Calibri" pitchFamily="34" charset="0"/>
                <a:ea typeface="Calibri" pitchFamily="34" charset="-122"/>
                <a:cs typeface="Calibri" pitchFamily="34" charset="-120"/>
              </a:rPr>
              <a:t>JetStream</a:t>
            </a:r>
            <a:endParaRPr lang="en-US" sz="1500" dirty="0"/>
          </a:p>
        </p:txBody>
      </p:sp>
      <p:sp>
        <p:nvSpPr>
          <p:cNvPr id="15" name="Text 13"/>
          <p:cNvSpPr txBox="1"/>
          <p:nvPr/>
        </p:nvSpPr>
        <p:spPr>
          <a:xfrm>
            <a:off x="4524146" y="2615184"/>
            <a:ext cx="1256233" cy="1069848"/>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Kommandot sparas i strömmen PERSONS</a:t>
            </a:r>
            <a:endParaRPr lang="en-US" sz="1200" dirty="0"/>
          </a:p>
        </p:txBody>
      </p:sp>
      <p:sp>
        <p:nvSpPr>
          <p:cNvPr id="16" name="Shape 14"/>
          <p:cNvSpPr/>
          <p:nvPr/>
        </p:nvSpPr>
        <p:spPr>
          <a:xfrm>
            <a:off x="6210148" y="1737360"/>
            <a:ext cx="1658569" cy="2103120"/>
          </a:xfrm>
          <a:prstGeom prst="roundRect">
            <a:avLst>
              <a:gd name="adj" fmla="val 3308"/>
            </a:avLst>
          </a:prstGeom>
          <a:solidFill>
            <a:srgbClr val="3762FF"/>
          </a:solidFill>
          <a:ln w="12700">
            <a:solidFill>
              <a:srgbClr val="3762FF"/>
            </a:solidFill>
            <a:prstDash val="solid"/>
          </a:ln>
        </p:spPr>
      </p:sp>
      <p:sp>
        <p:nvSpPr>
          <p:cNvPr id="17" name="Text 15"/>
          <p:cNvSpPr txBox="1"/>
          <p:nvPr/>
        </p:nvSpPr>
        <p:spPr>
          <a:xfrm>
            <a:off x="6411316" y="1938528"/>
            <a:ext cx="1256233"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STEG 4</a:t>
            </a:r>
            <a:endParaRPr lang="en-US" sz="1100" dirty="0"/>
          </a:p>
        </p:txBody>
      </p:sp>
      <p:sp>
        <p:nvSpPr>
          <p:cNvPr id="18" name="Text 16"/>
          <p:cNvSpPr txBox="1"/>
          <p:nvPr/>
        </p:nvSpPr>
        <p:spPr>
          <a:xfrm>
            <a:off x="6411316" y="2231136"/>
            <a:ext cx="1256233"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CQRSApi</a:t>
            </a:r>
            <a:endParaRPr lang="en-US" sz="1500" dirty="0"/>
          </a:p>
        </p:txBody>
      </p:sp>
      <p:sp>
        <p:nvSpPr>
          <p:cNvPr id="19" name="Text 17"/>
          <p:cNvSpPr txBox="1"/>
          <p:nvPr/>
        </p:nvSpPr>
        <p:spPr>
          <a:xfrm>
            <a:off x="6411316" y="2615184"/>
            <a:ext cx="1256233" cy="1069848"/>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Svarar 202 + Location</a:t>
            </a:r>
            <a:endParaRPr lang="en-US" sz="1200" dirty="0"/>
          </a:p>
        </p:txBody>
      </p:sp>
      <p:sp>
        <p:nvSpPr>
          <p:cNvPr id="20" name="Shape 18"/>
          <p:cNvSpPr/>
          <p:nvPr/>
        </p:nvSpPr>
        <p:spPr>
          <a:xfrm>
            <a:off x="8097317" y="1737360"/>
            <a:ext cx="1658569" cy="2103120"/>
          </a:xfrm>
          <a:prstGeom prst="roundRect">
            <a:avLst>
              <a:gd name="adj" fmla="val 330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1" name="Text 19"/>
          <p:cNvSpPr txBox="1"/>
          <p:nvPr/>
        </p:nvSpPr>
        <p:spPr>
          <a:xfrm>
            <a:off x="8298485" y="1938528"/>
            <a:ext cx="1256233"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STEG 5</a:t>
            </a:r>
            <a:endParaRPr lang="en-US" sz="1100" dirty="0"/>
          </a:p>
        </p:txBody>
      </p:sp>
      <p:sp>
        <p:nvSpPr>
          <p:cNvPr id="22" name="Text 20"/>
          <p:cNvSpPr txBox="1"/>
          <p:nvPr/>
        </p:nvSpPr>
        <p:spPr>
          <a:xfrm>
            <a:off x="8298485" y="2231136"/>
            <a:ext cx="1256233" cy="320040"/>
          </a:xfrm>
          <a:prstGeom prst="rect">
            <a:avLst/>
          </a:prstGeom>
          <a:noFill/>
          <a:ln/>
        </p:spPr>
        <p:txBody>
          <a:bodyPr wrap="square" lIns="0" tIns="0" rIns="0" bIns="0" rtlCol="0" anchor="t"/>
          <a:lstStyle/>
          <a:p>
            <a:pPr marL="0" indent="0">
              <a:buNone/>
            </a:pPr>
            <a:r>
              <a:rPr lang="en-US" sz="1500" b="1" dirty="0">
                <a:solidFill>
                  <a:srgbClr val="16202B"/>
                </a:solidFill>
                <a:latin typeface="Calibri" pitchFamily="34" charset="0"/>
                <a:ea typeface="Calibri" pitchFamily="34" charset="-122"/>
                <a:cs typeface="Calibri" pitchFamily="34" charset="-120"/>
              </a:rPr>
              <a:t>CQRSWorker</a:t>
            </a:r>
            <a:endParaRPr lang="en-US" sz="1500" dirty="0"/>
          </a:p>
        </p:txBody>
      </p:sp>
      <p:sp>
        <p:nvSpPr>
          <p:cNvPr id="23" name="Text 21"/>
          <p:cNvSpPr txBox="1"/>
          <p:nvPr/>
        </p:nvSpPr>
        <p:spPr>
          <a:xfrm>
            <a:off x="8298485" y="2615184"/>
            <a:ext cx="1256233" cy="1069848"/>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Konsumerar, sparar med EF Core, ack</a:t>
            </a:r>
            <a:endParaRPr lang="en-US" sz="1200" dirty="0"/>
          </a:p>
        </p:txBody>
      </p:sp>
      <p:sp>
        <p:nvSpPr>
          <p:cNvPr id="24" name="Shape 22"/>
          <p:cNvSpPr/>
          <p:nvPr/>
        </p:nvSpPr>
        <p:spPr>
          <a:xfrm>
            <a:off x="9984486" y="1737360"/>
            <a:ext cx="1658569" cy="2103120"/>
          </a:xfrm>
          <a:prstGeom prst="roundRect">
            <a:avLst>
              <a:gd name="adj" fmla="val 330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5" name="Text 23"/>
          <p:cNvSpPr txBox="1"/>
          <p:nvPr/>
        </p:nvSpPr>
        <p:spPr>
          <a:xfrm>
            <a:off x="10185654" y="1938528"/>
            <a:ext cx="1256233"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STEG 6</a:t>
            </a:r>
            <a:endParaRPr lang="en-US" sz="1100" dirty="0"/>
          </a:p>
        </p:txBody>
      </p:sp>
      <p:sp>
        <p:nvSpPr>
          <p:cNvPr id="26" name="Text 24"/>
          <p:cNvSpPr txBox="1"/>
          <p:nvPr/>
        </p:nvSpPr>
        <p:spPr>
          <a:xfrm>
            <a:off x="10185654" y="2231136"/>
            <a:ext cx="1256233" cy="320040"/>
          </a:xfrm>
          <a:prstGeom prst="rect">
            <a:avLst/>
          </a:prstGeom>
          <a:noFill/>
          <a:ln/>
        </p:spPr>
        <p:txBody>
          <a:bodyPr wrap="square" lIns="0" tIns="0" rIns="0" bIns="0" rtlCol="0" anchor="t"/>
          <a:lstStyle/>
          <a:p>
            <a:pPr marL="0" indent="0">
              <a:buNone/>
            </a:pPr>
            <a:r>
              <a:rPr lang="en-US" sz="1500" b="1" dirty="0">
                <a:solidFill>
                  <a:srgbClr val="16202B"/>
                </a:solidFill>
                <a:latin typeface="Calibri" pitchFamily="34" charset="0"/>
                <a:ea typeface="Calibri" pitchFamily="34" charset="-122"/>
                <a:cs typeface="Calibri" pitchFamily="34" charset="-120"/>
              </a:rPr>
              <a:t>Klienten</a:t>
            </a:r>
            <a:endParaRPr lang="en-US" sz="1500" dirty="0"/>
          </a:p>
        </p:txBody>
      </p:sp>
      <p:sp>
        <p:nvSpPr>
          <p:cNvPr id="27" name="Text 25"/>
          <p:cNvSpPr txBox="1"/>
          <p:nvPr/>
        </p:nvSpPr>
        <p:spPr>
          <a:xfrm>
            <a:off x="10185654" y="2615184"/>
            <a:ext cx="1256233" cy="1069848"/>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GET /persons/{id} via Dapper</a:t>
            </a:r>
            <a:endParaRPr lang="en-US" sz="1200" dirty="0"/>
          </a:p>
        </p:txBody>
      </p:sp>
      <p:sp>
        <p:nvSpPr>
          <p:cNvPr id="28" name="Shape 26"/>
          <p:cNvSpPr/>
          <p:nvPr/>
        </p:nvSpPr>
        <p:spPr>
          <a:xfrm>
            <a:off x="548640" y="4206240"/>
            <a:ext cx="11094415" cy="1417320"/>
          </a:xfrm>
          <a:prstGeom prst="roundRect">
            <a:avLst>
              <a:gd name="adj" fmla="val 3871"/>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9" name="Text 27"/>
          <p:cNvSpPr txBox="1"/>
          <p:nvPr/>
        </p:nvSpPr>
        <p:spPr>
          <a:xfrm>
            <a:off x="822960" y="4343400"/>
            <a:ext cx="2743200"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TIDSLINJE</a:t>
            </a:r>
            <a:endParaRPr lang="en-US" sz="1100" dirty="0"/>
          </a:p>
        </p:txBody>
      </p:sp>
      <p:sp>
        <p:nvSpPr>
          <p:cNvPr id="30" name="Text 28"/>
          <p:cNvSpPr txBox="1"/>
          <p:nvPr/>
        </p:nvSpPr>
        <p:spPr>
          <a:xfrm>
            <a:off x="822960" y="4663440"/>
            <a:ext cx="10545775" cy="822960"/>
          </a:xfrm>
          <a:prstGeom prst="rect">
            <a:avLst/>
          </a:prstGeom>
          <a:noFill/>
          <a:ln/>
        </p:spPr>
        <p:txBody>
          <a:bodyPr wrap="square" lIns="0" tIns="0" rIns="0" bIns="0" rtlCol="0" anchor="t"/>
          <a:lstStyle/>
          <a:p>
            <a:pPr marL="0" indent="0">
              <a:buNone/>
            </a:pPr>
            <a:r>
              <a:rPr lang="en-US" sz="1400" dirty="0">
                <a:solidFill>
                  <a:srgbClr val="4A5568"/>
                </a:solidFill>
                <a:latin typeface="Arial" pitchFamily="34" charset="0"/>
                <a:ea typeface="Arial" pitchFamily="34" charset="-122"/>
                <a:cs typeface="Arial" pitchFamily="34" charset="-120"/>
              </a:rPr>
              <a:t>Steg 1-4 är ett enda HTTP-anrop på några millisekunder. Steg 5 sker när workern hinner - normalt direkt, men den kan också vara nere. Steg 6 är ett nytt anrop.</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FLÖDET · KONSEKVENSEN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202 betyder mottaget - inte klart</a:t>
            </a:r>
            <a:endParaRPr lang="en-US" sz="3000" dirty="0"/>
          </a:p>
        </p:txBody>
      </p:sp>
      <p:sp>
        <p:nvSpPr>
          <p:cNvPr id="4" name="Text 2"/>
          <p:cNvSpPr txBox="1"/>
          <p:nvPr/>
        </p:nvSpPr>
        <p:spPr>
          <a:xfrm>
            <a:off x="548640" y="1645920"/>
            <a:ext cx="3657600" cy="1737360"/>
          </a:xfrm>
          <a:prstGeom prst="rect">
            <a:avLst/>
          </a:prstGeom>
          <a:noFill/>
          <a:ln/>
        </p:spPr>
        <p:txBody>
          <a:bodyPr wrap="square" lIns="0" tIns="0" rIns="0" bIns="0" rtlCol="0" anchor="ctr"/>
          <a:lstStyle/>
          <a:p>
            <a:pPr marL="0" indent="0">
              <a:buNone/>
            </a:pPr>
            <a:r>
              <a:rPr lang="en-US" sz="13000" b="1" dirty="0">
                <a:solidFill>
                  <a:srgbClr val="7C9CFF"/>
                </a:solidFill>
                <a:latin typeface="Calibri" pitchFamily="34" charset="0"/>
                <a:ea typeface="Calibri" pitchFamily="34" charset="-122"/>
                <a:cs typeface="Calibri" pitchFamily="34" charset="-120"/>
              </a:rPr>
              <a:t>202</a:t>
            </a:r>
            <a:endParaRPr lang="en-US" sz="13000" dirty="0"/>
          </a:p>
        </p:txBody>
      </p:sp>
      <p:sp>
        <p:nvSpPr>
          <p:cNvPr id="5" name="Text 3"/>
          <p:cNvSpPr txBox="1"/>
          <p:nvPr/>
        </p:nvSpPr>
        <p:spPr>
          <a:xfrm>
            <a:off x="4389120" y="1783080"/>
            <a:ext cx="7223760" cy="1371600"/>
          </a:xfrm>
          <a:prstGeom prst="rect">
            <a:avLst/>
          </a:prstGeom>
          <a:noFill/>
          <a:ln/>
        </p:spPr>
        <p:txBody>
          <a:bodyPr wrap="square" lIns="0" tIns="0" rIns="0" bIns="0" rtlCol="0" anchor="t"/>
          <a:lstStyle/>
          <a:p>
            <a:pPr marL="0" indent="0">
              <a:lnSpc>
                <a:spcPct val="120000"/>
              </a:lnSpc>
              <a:buNone/>
            </a:pPr>
            <a:r>
              <a:rPr lang="en-US" sz="2000" dirty="0">
                <a:solidFill>
                  <a:srgbClr val="F5F7FA"/>
                </a:solidFill>
                <a:latin typeface="Arial" pitchFamily="34" charset="0"/>
                <a:ea typeface="Arial" pitchFamily="34" charset="-122"/>
                <a:cs typeface="Arial" pitchFamily="34" charset="-120"/>
              </a:rPr>
              <a:t>Eventual consistency: läs-sidan kommer ikapp skriv-sidan - men inte nödvändigtvis innan klienten hinner fråga.</a:t>
            </a:r>
            <a:endParaRPr lang="en-US" sz="2000" dirty="0"/>
          </a:p>
        </p:txBody>
      </p:sp>
      <p:sp>
        <p:nvSpPr>
          <p:cNvPr id="6" name="Shape 4"/>
          <p:cNvSpPr/>
          <p:nvPr/>
        </p:nvSpPr>
        <p:spPr>
          <a:xfrm>
            <a:off x="548640" y="3840480"/>
            <a:ext cx="3515258" cy="1463040"/>
          </a:xfrm>
          <a:prstGeom prst="roundRect">
            <a:avLst>
              <a:gd name="adj" fmla="val 3750"/>
            </a:avLst>
          </a:prstGeom>
          <a:solidFill>
            <a:srgbClr val="16294A"/>
          </a:solidFill>
          <a:ln w="12700">
            <a:solidFill>
              <a:srgbClr val="16294A"/>
            </a:solidFill>
            <a:prstDash val="solid"/>
          </a:ln>
        </p:spPr>
      </p:sp>
      <p:sp>
        <p:nvSpPr>
          <p:cNvPr id="7" name="Text 5"/>
          <p:cNvSpPr txBox="1"/>
          <p:nvPr/>
        </p:nvSpPr>
        <p:spPr>
          <a:xfrm>
            <a:off x="749808" y="4041648"/>
            <a:ext cx="3112922"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GET direkt efter POST</a:t>
            </a:r>
            <a:endParaRPr lang="en-US" sz="1600" dirty="0"/>
          </a:p>
        </p:txBody>
      </p:sp>
      <p:sp>
        <p:nvSpPr>
          <p:cNvPr id="8" name="Text 6"/>
          <p:cNvSpPr txBox="1"/>
          <p:nvPr/>
        </p:nvSpPr>
        <p:spPr>
          <a:xfrm>
            <a:off x="749808" y="4425696"/>
            <a:ext cx="3112922" cy="72237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kan ge 404 i några millisekunder</a:t>
            </a:r>
            <a:endParaRPr lang="en-US" sz="1300" dirty="0"/>
          </a:p>
        </p:txBody>
      </p:sp>
      <p:sp>
        <p:nvSpPr>
          <p:cNvPr id="9" name="Shape 7"/>
          <p:cNvSpPr/>
          <p:nvPr/>
        </p:nvSpPr>
        <p:spPr>
          <a:xfrm>
            <a:off x="4338218" y="3840480"/>
            <a:ext cx="3515258" cy="1463040"/>
          </a:xfrm>
          <a:prstGeom prst="roundRect">
            <a:avLst>
              <a:gd name="adj" fmla="val 3750"/>
            </a:avLst>
          </a:prstGeom>
          <a:solidFill>
            <a:srgbClr val="16294A"/>
          </a:solidFill>
          <a:ln w="12700">
            <a:solidFill>
              <a:srgbClr val="16294A"/>
            </a:solidFill>
            <a:prstDash val="solid"/>
          </a:ln>
        </p:spPr>
      </p:sp>
      <p:sp>
        <p:nvSpPr>
          <p:cNvPr id="10" name="Text 8"/>
          <p:cNvSpPr txBox="1"/>
          <p:nvPr/>
        </p:nvSpPr>
        <p:spPr>
          <a:xfrm>
            <a:off x="4539386" y="4041648"/>
            <a:ext cx="3112922"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Klienten</a:t>
            </a:r>
            <a:endParaRPr lang="en-US" sz="1600" dirty="0"/>
          </a:p>
        </p:txBody>
      </p:sp>
      <p:sp>
        <p:nvSpPr>
          <p:cNvPr id="11" name="Text 9"/>
          <p:cNvSpPr txBox="1"/>
          <p:nvPr/>
        </p:nvSpPr>
        <p:spPr>
          <a:xfrm>
            <a:off x="4539386" y="4425696"/>
            <a:ext cx="3112922" cy="72237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pollar Location, eller visar "sparas…"</a:t>
            </a:r>
            <a:endParaRPr lang="en-US" sz="1300" dirty="0"/>
          </a:p>
        </p:txBody>
      </p:sp>
      <p:sp>
        <p:nvSpPr>
          <p:cNvPr id="12" name="Shape 10"/>
          <p:cNvSpPr/>
          <p:nvPr/>
        </p:nvSpPr>
        <p:spPr>
          <a:xfrm>
            <a:off x="8127797" y="3840480"/>
            <a:ext cx="3515258" cy="1463040"/>
          </a:xfrm>
          <a:prstGeom prst="roundRect">
            <a:avLst>
              <a:gd name="adj" fmla="val 3750"/>
            </a:avLst>
          </a:prstGeom>
          <a:solidFill>
            <a:srgbClr val="3762FF"/>
          </a:solidFill>
          <a:ln w="12700">
            <a:solidFill>
              <a:srgbClr val="3762FF"/>
            </a:solidFill>
            <a:prstDash val="solid"/>
          </a:ln>
        </p:spPr>
      </p:sp>
      <p:sp>
        <p:nvSpPr>
          <p:cNvPr id="13" name="Text 11"/>
          <p:cNvSpPr txBox="1"/>
          <p:nvPr/>
        </p:nvSpPr>
        <p:spPr>
          <a:xfrm>
            <a:off x="8328965" y="4041648"/>
            <a:ext cx="3112922"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Worker nere</a:t>
            </a:r>
            <a:endParaRPr lang="en-US" sz="1600" dirty="0"/>
          </a:p>
        </p:txBody>
      </p:sp>
      <p:sp>
        <p:nvSpPr>
          <p:cNvPr id="14" name="Text 12"/>
          <p:cNvSpPr txBox="1"/>
          <p:nvPr/>
        </p:nvSpPr>
        <p:spPr>
          <a:xfrm>
            <a:off x="8328965" y="4425696"/>
            <a:ext cx="3112922" cy="72237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POST fungerar ändå - kön växer, inget tappas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FLÖDET · ROBUSTHET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Vad håller det här ihop när något går fel?</a:t>
            </a:r>
            <a:endParaRPr lang="en-US" sz="3000" dirty="0"/>
          </a:p>
        </p:txBody>
      </p:sp>
      <p:sp>
        <p:nvSpPr>
          <p:cNvPr id="4" name="Shape 2"/>
          <p:cNvSpPr/>
          <p:nvPr/>
        </p:nvSpPr>
        <p:spPr>
          <a:xfrm>
            <a:off x="548640" y="1600200"/>
            <a:ext cx="3593592" cy="1783080"/>
          </a:xfrm>
          <a:prstGeom prst="roundRect">
            <a:avLst>
              <a:gd name="adj" fmla="val 307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749808" y="180136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WorkQueue-ström</a:t>
            </a:r>
            <a:endParaRPr lang="en-US" sz="1600" dirty="0"/>
          </a:p>
        </p:txBody>
      </p:sp>
      <p:sp>
        <p:nvSpPr>
          <p:cNvPr id="6" name="Text 4"/>
          <p:cNvSpPr txBox="1"/>
          <p:nvPr/>
        </p:nvSpPr>
        <p:spPr>
          <a:xfrm>
            <a:off x="749808" y="2185416"/>
            <a:ext cx="3191256" cy="10424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Ett kommando ligger kvar i JetStream tills det kvitterats - sedan tas det bort.</a:t>
            </a:r>
            <a:endParaRPr lang="en-US" sz="1300" dirty="0"/>
          </a:p>
        </p:txBody>
      </p:sp>
      <p:sp>
        <p:nvSpPr>
          <p:cNvPr id="7" name="Shape 5"/>
          <p:cNvSpPr/>
          <p:nvPr/>
        </p:nvSpPr>
        <p:spPr>
          <a:xfrm>
            <a:off x="4297680" y="1600200"/>
            <a:ext cx="3593592" cy="1783080"/>
          </a:xfrm>
          <a:prstGeom prst="roundRect">
            <a:avLst>
              <a:gd name="adj" fmla="val 307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8" name="Text 6"/>
          <p:cNvSpPr txBox="1"/>
          <p:nvPr/>
        </p:nvSpPr>
        <p:spPr>
          <a:xfrm>
            <a:off x="4498848" y="180136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Ack efter SaveChanges</a:t>
            </a:r>
            <a:endParaRPr lang="en-US" sz="1600" dirty="0"/>
          </a:p>
        </p:txBody>
      </p:sp>
      <p:sp>
        <p:nvSpPr>
          <p:cNvPr id="9" name="Text 7"/>
          <p:cNvSpPr txBox="1"/>
          <p:nvPr/>
        </p:nvSpPr>
        <p:spPr>
          <a:xfrm>
            <a:off x="4498848" y="2185416"/>
            <a:ext cx="3191256" cy="10424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Kraschar workern före kvittensen levereras kommandot igen.</a:t>
            </a:r>
            <a:endParaRPr lang="en-US" sz="1300" dirty="0"/>
          </a:p>
        </p:txBody>
      </p:sp>
      <p:sp>
        <p:nvSpPr>
          <p:cNvPr id="10" name="Shape 8"/>
          <p:cNvSpPr/>
          <p:nvPr/>
        </p:nvSpPr>
        <p:spPr>
          <a:xfrm>
            <a:off x="8046720" y="1600200"/>
            <a:ext cx="3593592" cy="1783080"/>
          </a:xfrm>
          <a:prstGeom prst="roundRect">
            <a:avLst>
              <a:gd name="adj" fmla="val 307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8247888" y="180136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Nats-Msg-Id</a:t>
            </a:r>
            <a:endParaRPr lang="en-US" sz="1600" dirty="0"/>
          </a:p>
        </p:txBody>
      </p:sp>
      <p:sp>
        <p:nvSpPr>
          <p:cNvPr id="12" name="Text 10"/>
          <p:cNvSpPr txBox="1"/>
          <p:nvPr/>
        </p:nvSpPr>
        <p:spPr>
          <a:xfrm>
            <a:off x="8247888" y="2185416"/>
            <a:ext cx="3191256" cy="10424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Samma CommandId två gånger inom två minuter - JetStream slänger dubbletten.</a:t>
            </a:r>
            <a:endParaRPr lang="en-US" sz="1300" dirty="0"/>
          </a:p>
        </p:txBody>
      </p:sp>
      <p:sp>
        <p:nvSpPr>
          <p:cNvPr id="13" name="Shape 11"/>
          <p:cNvSpPr/>
          <p:nvPr/>
        </p:nvSpPr>
        <p:spPr>
          <a:xfrm>
            <a:off x="548640" y="3611880"/>
            <a:ext cx="3593592" cy="1783080"/>
          </a:xfrm>
          <a:prstGeom prst="roundRect">
            <a:avLst>
              <a:gd name="adj" fmla="val 3077"/>
            </a:avLst>
          </a:prstGeom>
          <a:solidFill>
            <a:srgbClr val="3762FF"/>
          </a:solidFill>
          <a:ln w="12700">
            <a:solidFill>
              <a:srgbClr val="3762FF"/>
            </a:solidFill>
            <a:prstDash val="solid"/>
          </a:ln>
        </p:spPr>
      </p:sp>
      <p:sp>
        <p:nvSpPr>
          <p:cNvPr id="14" name="Text 12"/>
          <p:cNvSpPr txBox="1"/>
          <p:nvPr/>
        </p:nvSpPr>
        <p:spPr>
          <a:xfrm>
            <a:off x="749808" y="3813048"/>
            <a:ext cx="3191256"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Idempotenta hanterare</a:t>
            </a:r>
            <a:endParaRPr lang="en-US" sz="1600" dirty="0"/>
          </a:p>
        </p:txBody>
      </p:sp>
      <p:sp>
        <p:nvSpPr>
          <p:cNvPr id="15" name="Text 13"/>
          <p:cNvSpPr txBox="1"/>
          <p:nvPr/>
        </p:nvSpPr>
        <p:spPr>
          <a:xfrm>
            <a:off x="749808" y="4197096"/>
            <a:ext cx="3191256" cy="104241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Create för ett id som redan finns ignoreras. Samma kommando två gånger = samma resultat.</a:t>
            </a:r>
            <a:endParaRPr lang="en-US" sz="1300" dirty="0"/>
          </a:p>
        </p:txBody>
      </p:sp>
      <p:sp>
        <p:nvSpPr>
          <p:cNvPr id="16" name="Shape 14"/>
          <p:cNvSpPr/>
          <p:nvPr/>
        </p:nvSpPr>
        <p:spPr>
          <a:xfrm>
            <a:off x="4297680" y="3611880"/>
            <a:ext cx="3593592" cy="1783080"/>
          </a:xfrm>
          <a:prstGeom prst="roundRect">
            <a:avLst>
              <a:gd name="adj" fmla="val 307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4498848" y="381304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Omförsök vid start</a:t>
            </a:r>
            <a:endParaRPr lang="en-US" sz="1600" dirty="0"/>
          </a:p>
        </p:txBody>
      </p:sp>
      <p:sp>
        <p:nvSpPr>
          <p:cNvPr id="18" name="Text 16"/>
          <p:cNvSpPr txBox="1"/>
          <p:nvPr/>
        </p:nvSpPr>
        <p:spPr>
          <a:xfrm>
            <a:off x="4498848" y="4197096"/>
            <a:ext cx="3191256" cy="10424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MySQL eller NATS inte redo? Workern försöker igen var 5:e sekund.</a:t>
            </a:r>
            <a:endParaRPr lang="en-US" sz="1300" dirty="0"/>
          </a:p>
        </p:txBody>
      </p:sp>
      <p:sp>
        <p:nvSpPr>
          <p:cNvPr id="19" name="Shape 17"/>
          <p:cNvSpPr/>
          <p:nvPr/>
        </p:nvSpPr>
        <p:spPr>
          <a:xfrm>
            <a:off x="8046720" y="3611880"/>
            <a:ext cx="3593592" cy="1783080"/>
          </a:xfrm>
          <a:prstGeom prst="roundRect">
            <a:avLst>
              <a:gd name="adj" fmla="val 307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0" name="Text 18"/>
          <p:cNvSpPr txBox="1"/>
          <p:nvPr/>
        </p:nvSpPr>
        <p:spPr>
          <a:xfrm>
            <a:off x="8247888" y="381304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Recreate-strategi</a:t>
            </a:r>
            <a:endParaRPr lang="en-US" sz="1600" dirty="0"/>
          </a:p>
        </p:txBody>
      </p:sp>
      <p:sp>
        <p:nvSpPr>
          <p:cNvPr id="21" name="Text 19"/>
          <p:cNvSpPr txBox="1"/>
          <p:nvPr/>
        </p:nvSpPr>
        <p:spPr>
          <a:xfrm>
            <a:off x="8247888" y="4197096"/>
            <a:ext cx="3191256" cy="10424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Vid uppgradering stoppas gamla workern innan den nya startar.</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marL="0" indent="0">
              <a:buNone/>
            </a:pPr>
            <a:r>
              <a:rPr lang="en-US" sz="15000" b="1" dirty="0">
                <a:solidFill>
                  <a:srgbClr val="16294A"/>
                </a:solidFill>
                <a:latin typeface="Calibri" pitchFamily="34" charset="0"/>
                <a:ea typeface="Calibri" pitchFamily="34" charset="-122"/>
                <a:cs typeface="Calibri" pitchFamily="34" charset="-120"/>
              </a:rPr>
              <a:t>06</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marL="0" indent="0">
              <a:buNone/>
            </a:pPr>
            <a:r>
              <a:rPr lang="en-US" sz="5200" b="1" dirty="0">
                <a:solidFill>
                  <a:srgbClr val="F5F7FA"/>
                </a:solidFill>
                <a:latin typeface="Calibri" pitchFamily="34" charset="0"/>
                <a:ea typeface="Calibri" pitchFamily="34" charset="-122"/>
                <a:cs typeface="Calibri" pitchFamily="34" charset="-120"/>
              </a:rPr>
              <a:t>Helm &amp; deploy</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Values, databasanvändare och bygget - och test utifrån klustret</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HELM &amp; DEPLOY · VALUES</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Konfiguration via values</a:t>
            </a:r>
            <a:endParaRPr lang="en-US" sz="3000" dirty="0"/>
          </a:p>
        </p:txBody>
      </p:sp>
      <p:sp>
        <p:nvSpPr>
          <p:cNvPr id="4" name="Shape 2"/>
          <p:cNvSpPr/>
          <p:nvPr/>
        </p:nvSpPr>
        <p:spPr>
          <a:xfrm>
            <a:off x="548640" y="1554480"/>
            <a:ext cx="6309360" cy="4297680"/>
          </a:xfrm>
          <a:prstGeom prst="roundRect">
            <a:avLst>
              <a:gd name="adj" fmla="val 1277"/>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530352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values.yaml</a:t>
            </a:r>
            <a:endParaRPr lang="en-US" sz="1100" dirty="0"/>
          </a:p>
        </p:txBody>
      </p:sp>
      <p:sp>
        <p:nvSpPr>
          <p:cNvPr id="9" name="Text 7"/>
          <p:cNvSpPr txBox="1"/>
          <p:nvPr/>
        </p:nvSpPr>
        <p:spPr>
          <a:xfrm>
            <a:off x="777240" y="2011680"/>
            <a:ext cx="5852160" cy="3703320"/>
          </a:xfrm>
          <a:prstGeom prst="rect">
            <a:avLst/>
          </a:prstGeom>
          <a:noFill/>
          <a:ln/>
        </p:spPr>
        <p:txBody>
          <a:bodyPr wrap="square" lIns="0" tIns="0" rIns="0" bIns="0" rtlCol="0" anchor="t"/>
          <a:lstStyle/>
          <a:p>
            <a:pPr marL="0" indent="0">
              <a:lnSpc>
                <a:spcPct val="110000"/>
              </a:lnSpc>
              <a:buNone/>
            </a:pPr>
            <a:r>
              <a:rPr lang="en-US" sz="1250" i="1" dirty="0">
                <a:solidFill>
                  <a:srgbClr val="B9C4D1"/>
                </a:solidFill>
                <a:latin typeface="Courier New" pitchFamily="34" charset="0"/>
                <a:ea typeface="Courier New" pitchFamily="34" charset="-122"/>
                <a:cs typeface="Courier New" pitchFamily="34" charset="-120"/>
              </a:rPr>
              <a:t># charts/cqrs-api/values.yaml (urval)</a:t>
            </a:r>
            <a:endParaRPr lang="en-US" sz="1250" dirty="0"/>
          </a:p>
          <a:p>
            <a:pPr marL="0" indent="0">
              <a:lnSpc>
                <a:spcPct val="110000"/>
              </a:lnSpc>
              <a:buNone/>
            </a:pPr>
            <a:r>
              <a:rPr lang="en-US" sz="1250" dirty="0">
                <a:solidFill>
                  <a:srgbClr val="7C9CFF"/>
                </a:solidFill>
                <a:latin typeface="Courier New" pitchFamily="34" charset="0"/>
                <a:ea typeface="Courier New" pitchFamily="34" charset="-122"/>
                <a:cs typeface="Courier New" pitchFamily="34" charset="-120"/>
              </a:rPr>
              <a:t>database:</a:t>
            </a:r>
            <a:r>
              <a:rPr lang="en-US" sz="1250" dirty="0">
                <a:solidFill>
                  <a:srgbClr val="DDE3EA"/>
                </a:solidFill>
                <a:latin typeface="Courier New" pitchFamily="34" charset="0"/>
                <a:ea typeface="Courier New" pitchFamily="34" charset="-122"/>
                <a:cs typeface="Courier New" pitchFamily="34" charset="-120"/>
              </a:rPr>
              <a:t> </a:t>
            </a:r>
            <a:endParaRPr lang="en-US" sz="1250" dirty="0"/>
          </a:p>
          <a:p>
            <a:pPr marL="0" indent="0">
              <a:lnSpc>
                <a:spcPct val="110000"/>
              </a:lnSpc>
              <a:buNone/>
            </a:pPr>
            <a:r>
              <a:rPr lang="en-US" sz="1250" dirty="0">
                <a:solidFill>
                  <a:srgbClr val="DDE3EA"/>
                </a:solidFill>
                <a:latin typeface="Courier New" pitchFamily="34" charset="0"/>
                <a:ea typeface="Courier New" pitchFamily="34" charset="-122"/>
                <a:cs typeface="Courier New" pitchFamily="34" charset="-120"/>
              </a:rPr>
              <a:t>  </a:t>
            </a:r>
            <a:r>
              <a:rPr lang="en-US" sz="1250" dirty="0">
                <a:solidFill>
                  <a:srgbClr val="7C9CFF"/>
                </a:solidFill>
                <a:latin typeface="Courier New" pitchFamily="34" charset="0"/>
                <a:ea typeface="Courier New" pitchFamily="34" charset="-122"/>
                <a:cs typeface="Courier New" pitchFamily="34" charset="-120"/>
              </a:rPr>
              <a:t>connectionString:</a:t>
            </a:r>
            <a:r>
              <a:rPr lang="en-US" sz="1250" dirty="0">
                <a:solidFill>
                  <a:srgbClr val="DDE3EA"/>
                </a:solidFill>
                <a:latin typeface="Courier New" pitchFamily="34" charset="0"/>
                <a:ea typeface="Courier New" pitchFamily="34" charset="-122"/>
                <a:cs typeface="Courier New" pitchFamily="34" charset="-120"/>
              </a:rPr>
              <a:t> "Server=mysql.mysql.svc..."</a:t>
            </a:r>
            <a:endParaRPr lang="en-US" sz="1250" dirty="0"/>
          </a:p>
          <a:p>
            <a:pPr marL="0" indent="0">
              <a:lnSpc>
                <a:spcPct val="110000"/>
              </a:lnSpc>
              <a:buNone/>
            </a:pPr>
            <a:r>
              <a:rPr lang="en-US" sz="1250" dirty="0">
                <a:solidFill>
                  <a:srgbClr val="7C9CFF"/>
                </a:solidFill>
                <a:latin typeface="Courier New" pitchFamily="34" charset="0"/>
                <a:ea typeface="Courier New" pitchFamily="34" charset="-122"/>
                <a:cs typeface="Courier New" pitchFamily="34" charset="-120"/>
              </a:rPr>
              <a:t>nats:</a:t>
            </a:r>
            <a:r>
              <a:rPr lang="en-US" sz="1250" dirty="0">
                <a:solidFill>
                  <a:srgbClr val="DDE3EA"/>
                </a:solidFill>
                <a:latin typeface="Courier New" pitchFamily="34" charset="0"/>
                <a:ea typeface="Courier New" pitchFamily="34" charset="-122"/>
                <a:cs typeface="Courier New" pitchFamily="34" charset="-120"/>
              </a:rPr>
              <a:t> </a:t>
            </a:r>
            <a:endParaRPr lang="en-US" sz="1250" dirty="0"/>
          </a:p>
          <a:p>
            <a:pPr marL="0" indent="0">
              <a:lnSpc>
                <a:spcPct val="110000"/>
              </a:lnSpc>
              <a:buNone/>
            </a:pPr>
            <a:r>
              <a:rPr lang="en-US" sz="1250" dirty="0">
                <a:solidFill>
                  <a:srgbClr val="DDE3EA"/>
                </a:solidFill>
                <a:latin typeface="Courier New" pitchFamily="34" charset="0"/>
                <a:ea typeface="Courier New" pitchFamily="34" charset="-122"/>
                <a:cs typeface="Courier New" pitchFamily="34" charset="-120"/>
              </a:rPr>
              <a:t>  </a:t>
            </a:r>
            <a:r>
              <a:rPr lang="en-US" sz="1250" dirty="0">
                <a:solidFill>
                  <a:srgbClr val="7C9CFF"/>
                </a:solidFill>
                <a:latin typeface="Courier New" pitchFamily="34" charset="0"/>
                <a:ea typeface="Courier New" pitchFamily="34" charset="-122"/>
                <a:cs typeface="Courier New" pitchFamily="34" charset="-120"/>
              </a:rPr>
              <a:t>url:</a:t>
            </a:r>
            <a:r>
              <a:rPr lang="en-US" sz="1250" dirty="0">
                <a:solidFill>
                  <a:srgbClr val="DDE3EA"/>
                </a:solidFill>
                <a:latin typeface="Courier New" pitchFamily="34" charset="0"/>
                <a:ea typeface="Courier New" pitchFamily="34" charset="-122"/>
                <a:cs typeface="Courier New" pitchFamily="34" charset="-120"/>
              </a:rPr>
              <a:t> nats://nats.nats.svc.cluster.local:4222</a:t>
            </a:r>
            <a:endParaRPr lang="en-US" sz="1250" dirty="0"/>
          </a:p>
          <a:p>
            <a:pPr marL="0" indent="0">
              <a:lnSpc>
                <a:spcPct val="110000"/>
              </a:lnSpc>
              <a:buNone/>
            </a:pPr>
            <a:r>
              <a:rPr lang="en-US" sz="1250" dirty="0">
                <a:solidFill>
                  <a:srgbClr val="DDE3EA"/>
                </a:solidFill>
                <a:latin typeface="Courier New" pitchFamily="34" charset="0"/>
                <a:ea typeface="Courier New" pitchFamily="34" charset="-122"/>
                <a:cs typeface="Courier New" pitchFamily="34" charset="-120"/>
              </a:rPr>
              <a:t>  </a:t>
            </a:r>
            <a:r>
              <a:rPr lang="en-US" sz="1250" dirty="0">
                <a:solidFill>
                  <a:srgbClr val="7C9CFF"/>
                </a:solidFill>
                <a:latin typeface="Courier New" pitchFamily="34" charset="0"/>
                <a:ea typeface="Courier New" pitchFamily="34" charset="-122"/>
                <a:cs typeface="Courier New" pitchFamily="34" charset="-120"/>
              </a:rPr>
              <a:t>stream:</a:t>
            </a:r>
            <a:r>
              <a:rPr lang="en-US" sz="1250" dirty="0">
                <a:solidFill>
                  <a:srgbClr val="DDE3EA"/>
                </a:solidFill>
                <a:latin typeface="Courier New" pitchFamily="34" charset="0"/>
                <a:ea typeface="Courier New" pitchFamily="34" charset="-122"/>
                <a:cs typeface="Courier New" pitchFamily="34" charset="-120"/>
              </a:rPr>
              <a:t> PERSONS</a:t>
            </a:r>
            <a:endParaRPr lang="en-US" sz="1250" dirty="0"/>
          </a:p>
          <a:p>
            <a:pPr marL="0" indent="0">
              <a:lnSpc>
                <a:spcPct val="110000"/>
              </a:lnSpc>
              <a:buNone/>
            </a:pPr>
            <a:r>
              <a:rPr lang="en-US" sz="1250" dirty="0">
                <a:solidFill>
                  <a:srgbClr val="7C9CFF"/>
                </a:solidFill>
                <a:latin typeface="Courier New" pitchFamily="34" charset="0"/>
                <a:ea typeface="Courier New" pitchFamily="34" charset="-122"/>
                <a:cs typeface="Courier New" pitchFamily="34" charset="-120"/>
              </a:rPr>
              <a:t>cors:</a:t>
            </a:r>
            <a:r>
              <a:rPr lang="en-US" sz="1250" dirty="0">
                <a:solidFill>
                  <a:srgbClr val="DDE3EA"/>
                </a:solidFill>
                <a:latin typeface="Courier New" pitchFamily="34" charset="0"/>
                <a:ea typeface="Courier New" pitchFamily="34" charset="-122"/>
                <a:cs typeface="Courier New" pitchFamily="34" charset="-120"/>
              </a:rPr>
              <a:t> </a:t>
            </a:r>
            <a:endParaRPr lang="en-US" sz="1250" dirty="0"/>
          </a:p>
          <a:p>
            <a:pPr marL="0" indent="0">
              <a:lnSpc>
                <a:spcPct val="110000"/>
              </a:lnSpc>
              <a:buNone/>
            </a:pPr>
            <a:r>
              <a:rPr lang="en-US" sz="1250" dirty="0">
                <a:solidFill>
                  <a:srgbClr val="DDE3EA"/>
                </a:solidFill>
                <a:latin typeface="Courier New" pitchFamily="34" charset="0"/>
                <a:ea typeface="Courier New" pitchFamily="34" charset="-122"/>
                <a:cs typeface="Courier New" pitchFamily="34" charset="-120"/>
              </a:rPr>
              <a:t>  </a:t>
            </a:r>
            <a:r>
              <a:rPr lang="en-US" sz="1250" dirty="0">
                <a:solidFill>
                  <a:srgbClr val="7C9CFF"/>
                </a:solidFill>
                <a:latin typeface="Courier New" pitchFamily="34" charset="0"/>
                <a:ea typeface="Courier New" pitchFamily="34" charset="-122"/>
                <a:cs typeface="Courier New" pitchFamily="34" charset="-120"/>
              </a:rPr>
              <a:t>mode:</a:t>
            </a:r>
            <a:r>
              <a:rPr lang="en-US" sz="1250" dirty="0">
                <a:solidFill>
                  <a:srgbClr val="DDE3EA"/>
                </a:solidFill>
                <a:latin typeface="Courier New" pitchFamily="34" charset="0"/>
                <a:ea typeface="Courier New" pitchFamily="34" charset="-122"/>
                <a:cs typeface="Courier New" pitchFamily="34" charset="-120"/>
              </a:rPr>
              <a:t> AllowAll     # AllowOrigins | Disabled</a:t>
            </a:r>
            <a:endParaRPr lang="en-US" sz="1250" dirty="0"/>
          </a:p>
          <a:p>
            <a:pPr marL="0" indent="0">
              <a:lnSpc>
                <a:spcPct val="110000"/>
              </a:lnSpc>
              <a:buNone/>
            </a:pPr>
            <a:r>
              <a:rPr lang="en-US" sz="1250" dirty="0">
                <a:solidFill>
                  <a:srgbClr val="DDE3EA"/>
                </a:solidFill>
                <a:latin typeface="Courier New" pitchFamily="34" charset="0"/>
                <a:ea typeface="Courier New" pitchFamily="34" charset="-122"/>
                <a:cs typeface="Courier New" pitchFamily="34" charset="-120"/>
              </a:rPr>
              <a:t>  </a:t>
            </a:r>
            <a:r>
              <a:rPr lang="en-US" sz="1250" dirty="0">
                <a:solidFill>
                  <a:srgbClr val="7C9CFF"/>
                </a:solidFill>
                <a:latin typeface="Courier New" pitchFamily="34" charset="0"/>
                <a:ea typeface="Courier New" pitchFamily="34" charset="-122"/>
                <a:cs typeface="Courier New" pitchFamily="34" charset="-120"/>
              </a:rPr>
              <a:t>origins:</a:t>
            </a:r>
            <a:r>
              <a:rPr lang="en-US" sz="1250" dirty="0">
                <a:solidFill>
                  <a:srgbClr val="DDE3EA"/>
                </a:solidFill>
                <a:latin typeface="Courier New" pitchFamily="34" charset="0"/>
                <a:ea typeface="Courier New" pitchFamily="34" charset="-122"/>
                <a:cs typeface="Courier New" pitchFamily="34" charset="-120"/>
              </a:rPr>
              <a:t> []</a:t>
            </a:r>
            <a:endParaRPr lang="en-US" sz="1250" dirty="0"/>
          </a:p>
          <a:p>
            <a:pPr marL="0" indent="0">
              <a:lnSpc>
                <a:spcPct val="110000"/>
              </a:lnSpc>
              <a:buNone/>
            </a:pPr>
            <a:r>
              <a:rPr lang="en-US" sz="1250" dirty="0">
                <a:solidFill>
                  <a:srgbClr val="7C9CFF"/>
                </a:solidFill>
                <a:latin typeface="Courier New" pitchFamily="34" charset="0"/>
                <a:ea typeface="Courier New" pitchFamily="34" charset="-122"/>
                <a:cs typeface="Courier New" pitchFamily="34" charset="-120"/>
              </a:rPr>
              <a:t>ingress:</a:t>
            </a:r>
            <a:r>
              <a:rPr lang="en-US" sz="1250" dirty="0">
                <a:solidFill>
                  <a:srgbClr val="DDE3EA"/>
                </a:solidFill>
                <a:latin typeface="Courier New" pitchFamily="34" charset="0"/>
                <a:ea typeface="Courier New" pitchFamily="34" charset="-122"/>
                <a:cs typeface="Courier New" pitchFamily="34" charset="-120"/>
              </a:rPr>
              <a:t> </a:t>
            </a:r>
            <a:endParaRPr lang="en-US" sz="1250" dirty="0"/>
          </a:p>
          <a:p>
            <a:pPr marL="0" indent="0">
              <a:lnSpc>
                <a:spcPct val="110000"/>
              </a:lnSpc>
              <a:buNone/>
            </a:pPr>
            <a:r>
              <a:rPr lang="en-US" sz="1250" dirty="0">
                <a:solidFill>
                  <a:srgbClr val="DDE3EA"/>
                </a:solidFill>
                <a:latin typeface="Courier New" pitchFamily="34" charset="0"/>
                <a:ea typeface="Courier New" pitchFamily="34" charset="-122"/>
                <a:cs typeface="Courier New" pitchFamily="34" charset="-120"/>
              </a:rPr>
              <a:t>  </a:t>
            </a:r>
            <a:r>
              <a:rPr lang="en-US" sz="1250" dirty="0">
                <a:solidFill>
                  <a:srgbClr val="7C9CFF"/>
                </a:solidFill>
                <a:latin typeface="Courier New" pitchFamily="34" charset="0"/>
                <a:ea typeface="Courier New" pitchFamily="34" charset="-122"/>
                <a:cs typeface="Courier New" pitchFamily="34" charset="-120"/>
              </a:rPr>
              <a:t>host:</a:t>
            </a:r>
            <a:r>
              <a:rPr lang="en-US" sz="1250" dirty="0">
                <a:solidFill>
                  <a:srgbClr val="DDE3EA"/>
                </a:solidFill>
                <a:latin typeface="Courier New" pitchFamily="34" charset="0"/>
                <a:ea typeface="Courier New" pitchFamily="34" charset="-122"/>
                <a:cs typeface="Courier New" pitchFamily="34" charset="-120"/>
              </a:rPr>
              <a:t> cqrsapi.local</a:t>
            </a:r>
            <a:endParaRPr lang="en-US" sz="1250" dirty="0"/>
          </a:p>
        </p:txBody>
      </p:sp>
      <p:sp>
        <p:nvSpPr>
          <p:cNvPr id="10" name="Text 8"/>
          <p:cNvSpPr txBox="1"/>
          <p:nvPr/>
        </p:nvSpPr>
        <p:spPr>
          <a:xfrm>
            <a:off x="7223760" y="1554480"/>
            <a:ext cx="4419295"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BLIR MILJÖVARIABLER I PODDEN</a:t>
            </a:r>
            <a:endParaRPr lang="en-US" sz="1100" dirty="0"/>
          </a:p>
        </p:txBody>
      </p:sp>
      <p:sp>
        <p:nvSpPr>
          <p:cNvPr id="11" name="Shape 9"/>
          <p:cNvSpPr/>
          <p:nvPr/>
        </p:nvSpPr>
        <p:spPr>
          <a:xfrm>
            <a:off x="7223760" y="1965960"/>
            <a:ext cx="4419295" cy="640080"/>
          </a:xfrm>
          <a:prstGeom prst="roundRect">
            <a:avLst>
              <a:gd name="adj" fmla="val 8571"/>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2" name="Text 10"/>
          <p:cNvSpPr txBox="1"/>
          <p:nvPr/>
        </p:nvSpPr>
        <p:spPr>
          <a:xfrm>
            <a:off x="7406640" y="1965960"/>
            <a:ext cx="4053535" cy="640080"/>
          </a:xfrm>
          <a:prstGeom prst="rect">
            <a:avLst/>
          </a:prstGeom>
          <a:noFill/>
          <a:ln/>
        </p:spPr>
        <p:txBody>
          <a:bodyPr wrap="square" lIns="0" tIns="0" rIns="0" bIns="0" rtlCol="0" anchor="ctr"/>
          <a:lstStyle/>
          <a:p>
            <a:pPr marL="0" indent="0">
              <a:buNone/>
            </a:pPr>
            <a:r>
              <a:rPr lang="en-US" sz="1200" b="1" dirty="0">
                <a:solidFill>
                  <a:srgbClr val="16202B"/>
                </a:solidFill>
                <a:latin typeface="Courier New" pitchFamily="34" charset="0"/>
                <a:ea typeface="Courier New" pitchFamily="34" charset="-122"/>
                <a:cs typeface="Courier New" pitchFamily="34" charset="-120"/>
              </a:rPr>
              <a:t>ConnectionStrings__ReadDb</a:t>
            </a:r>
            <a:r>
              <a:rPr lang="en-US" sz="1200" dirty="0">
                <a:solidFill>
                  <a:srgbClr val="4A5568"/>
                </a:solidFill>
                <a:latin typeface="Arial" pitchFamily="34" charset="0"/>
                <a:ea typeface="Arial" pitchFamily="34" charset="-122"/>
                <a:cs typeface="Arial" pitchFamily="34" charset="-120"/>
              </a:rPr>
              <a:t>   från en Secret</a:t>
            </a:r>
            <a:endParaRPr lang="en-US" sz="1200" dirty="0"/>
          </a:p>
        </p:txBody>
      </p:sp>
      <p:sp>
        <p:nvSpPr>
          <p:cNvPr id="13" name="Shape 11"/>
          <p:cNvSpPr/>
          <p:nvPr/>
        </p:nvSpPr>
        <p:spPr>
          <a:xfrm>
            <a:off x="7223760" y="2743200"/>
            <a:ext cx="4419295" cy="640080"/>
          </a:xfrm>
          <a:prstGeom prst="roundRect">
            <a:avLst>
              <a:gd name="adj" fmla="val 8571"/>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7406640" y="2743200"/>
            <a:ext cx="4053535" cy="640080"/>
          </a:xfrm>
          <a:prstGeom prst="rect">
            <a:avLst/>
          </a:prstGeom>
          <a:noFill/>
          <a:ln/>
        </p:spPr>
        <p:txBody>
          <a:bodyPr wrap="square" lIns="0" tIns="0" rIns="0" bIns="0" rtlCol="0" anchor="ctr"/>
          <a:lstStyle/>
          <a:p>
            <a:pPr marL="0" indent="0">
              <a:buNone/>
            </a:pPr>
            <a:r>
              <a:rPr lang="en-US" sz="1200" b="1" dirty="0">
                <a:solidFill>
                  <a:srgbClr val="16202B"/>
                </a:solidFill>
                <a:latin typeface="Courier New" pitchFamily="34" charset="0"/>
                <a:ea typeface="Courier New" pitchFamily="34" charset="-122"/>
                <a:cs typeface="Courier New" pitchFamily="34" charset="-120"/>
              </a:rPr>
              <a:t>Nats__Url · Nats__Stream</a:t>
            </a:r>
            <a:endParaRPr lang="en-US" sz="1200" dirty="0"/>
          </a:p>
        </p:txBody>
      </p:sp>
      <p:sp>
        <p:nvSpPr>
          <p:cNvPr id="15" name="Shape 13"/>
          <p:cNvSpPr/>
          <p:nvPr/>
        </p:nvSpPr>
        <p:spPr>
          <a:xfrm>
            <a:off x="7223760" y="3520440"/>
            <a:ext cx="4419295" cy="640080"/>
          </a:xfrm>
          <a:prstGeom prst="roundRect">
            <a:avLst>
              <a:gd name="adj" fmla="val 8571"/>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6" name="Text 14"/>
          <p:cNvSpPr txBox="1"/>
          <p:nvPr/>
        </p:nvSpPr>
        <p:spPr>
          <a:xfrm>
            <a:off x="7406640" y="3520440"/>
            <a:ext cx="4053535" cy="640080"/>
          </a:xfrm>
          <a:prstGeom prst="rect">
            <a:avLst/>
          </a:prstGeom>
          <a:noFill/>
          <a:ln/>
        </p:spPr>
        <p:txBody>
          <a:bodyPr wrap="square" lIns="0" tIns="0" rIns="0" bIns="0" rtlCol="0" anchor="ctr"/>
          <a:lstStyle/>
          <a:p>
            <a:pPr marL="0" indent="0">
              <a:buNone/>
            </a:pPr>
            <a:r>
              <a:rPr lang="en-US" sz="1200" b="1" dirty="0">
                <a:solidFill>
                  <a:srgbClr val="16202B"/>
                </a:solidFill>
                <a:latin typeface="Courier New" pitchFamily="34" charset="0"/>
                <a:ea typeface="Courier New" pitchFamily="34" charset="-122"/>
                <a:cs typeface="Courier New" pitchFamily="34" charset="-120"/>
              </a:rPr>
              <a:t>Cors__Mode · Cors__Origins__0</a:t>
            </a:r>
            <a:endParaRPr lang="en-US" sz="1200" dirty="0"/>
          </a:p>
        </p:txBody>
      </p:sp>
      <p:sp>
        <p:nvSpPr>
          <p:cNvPr id="17" name="Shape 15"/>
          <p:cNvSpPr/>
          <p:nvPr/>
        </p:nvSpPr>
        <p:spPr>
          <a:xfrm>
            <a:off x="7223760" y="4389120"/>
            <a:ext cx="4419295" cy="1463040"/>
          </a:xfrm>
          <a:prstGeom prst="roundRect">
            <a:avLst>
              <a:gd name="adj" fmla="val 3750"/>
            </a:avLst>
          </a:prstGeom>
          <a:solidFill>
            <a:srgbClr val="3762FF"/>
          </a:solidFill>
          <a:ln w="12700">
            <a:solidFill>
              <a:srgbClr val="3762FF"/>
            </a:solidFill>
            <a:prstDash val="solid"/>
          </a:ln>
        </p:spPr>
      </p:sp>
      <p:sp>
        <p:nvSpPr>
          <p:cNvPr id="18" name="Text 16"/>
          <p:cNvSpPr txBox="1"/>
          <p:nvPr/>
        </p:nvSpPr>
        <p:spPr>
          <a:xfrm>
            <a:off x="7424928" y="4590288"/>
            <a:ext cx="4016959"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__ = kolon</a:t>
            </a:r>
            <a:endParaRPr lang="en-US" sz="1600" dirty="0"/>
          </a:p>
        </p:txBody>
      </p:sp>
      <p:sp>
        <p:nvSpPr>
          <p:cNvPr id="19" name="Text 17"/>
          <p:cNvSpPr txBox="1"/>
          <p:nvPr/>
        </p:nvSpPr>
        <p:spPr>
          <a:xfrm>
            <a:off x="7424928" y="4974336"/>
            <a:ext cx="4016959" cy="72237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ASP.NET Core läser Cors__Mode som Cors:Mode och låter den gå före appsettings.json.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HELM &amp; DEPLOY · GEMENSAM ÖVNING</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Tre skript, i ordning</a:t>
            </a:r>
            <a:endParaRPr lang="en-US" sz="3000" dirty="0"/>
          </a:p>
        </p:txBody>
      </p:sp>
      <p:sp>
        <p:nvSpPr>
          <p:cNvPr id="4" name="Shape 2"/>
          <p:cNvSpPr/>
          <p:nvPr/>
        </p:nvSpPr>
        <p:spPr>
          <a:xfrm>
            <a:off x="548640" y="1645920"/>
            <a:ext cx="3423818" cy="109728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640080" y="1645920"/>
            <a:ext cx="3240938" cy="1097280"/>
          </a:xfrm>
          <a:prstGeom prst="rect">
            <a:avLst/>
          </a:prstGeom>
          <a:noFill/>
          <a:ln/>
        </p:spPr>
        <p:txBody>
          <a:bodyPr wrap="square" lIns="0" tIns="0" rIns="0" bIns="0" rtlCol="0" anchor="ctr"/>
          <a:lstStyle/>
          <a:p>
            <a:pPr marL="0" indent="0" algn="ctr">
              <a:buNone/>
            </a:pPr>
            <a:r>
              <a:rPr lang="en-US" sz="1300" b="1" dirty="0">
                <a:solidFill>
                  <a:srgbClr val="16202B"/>
                </a:solidFill>
                <a:latin typeface="Calibri" pitchFamily="34" charset="0"/>
                <a:ea typeface="Calibri" pitchFamily="34" charset="-122"/>
                <a:cs typeface="Calibri" pitchFamily="34" charset="-120"/>
              </a:rPr>
              <a:t>Infra\deploy-infra.ps1</a:t>
            </a:r>
            <a:endParaRPr lang="en-US" sz="1300" dirty="0"/>
          </a:p>
          <a:p>
            <a:pPr marL="0" indent="0" algn="ctr">
              <a:buNone/>
            </a:pPr>
            <a:r>
              <a:rPr lang="en-US" sz="1300" b="1" dirty="0">
                <a:solidFill>
                  <a:srgbClr val="16202B"/>
                </a:solidFill>
                <a:latin typeface="Calibri" pitchFamily="34" charset="0"/>
                <a:ea typeface="Calibri" pitchFamily="34" charset="-122"/>
                <a:cs typeface="Calibri" pitchFamily="34" charset="-120"/>
              </a:rPr>
              <a:t>MySQL, NATS, Redis (gjort i del 1)</a:t>
            </a:r>
            <a:endParaRPr lang="en-US" sz="1300" dirty="0"/>
          </a:p>
        </p:txBody>
      </p:sp>
      <p:sp>
        <p:nvSpPr>
          <p:cNvPr id="6" name="Shape 4"/>
          <p:cNvSpPr/>
          <p:nvPr/>
        </p:nvSpPr>
        <p:spPr>
          <a:xfrm>
            <a:off x="4018178" y="2194560"/>
            <a:ext cx="320040" cy="0"/>
          </a:xfrm>
          <a:prstGeom prst="line">
            <a:avLst/>
          </a:prstGeom>
          <a:noFill/>
          <a:ln w="19050">
            <a:solidFill>
              <a:srgbClr val="3762FF"/>
            </a:solidFill>
            <a:prstDash val="solid"/>
            <a:tailEnd type="triangle"/>
          </a:ln>
        </p:spPr>
      </p:sp>
      <p:sp>
        <p:nvSpPr>
          <p:cNvPr id="7" name="Shape 5"/>
          <p:cNvSpPr/>
          <p:nvPr/>
        </p:nvSpPr>
        <p:spPr>
          <a:xfrm>
            <a:off x="4383938" y="1645920"/>
            <a:ext cx="3423818" cy="109728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8" name="Text 6"/>
          <p:cNvSpPr txBox="1"/>
          <p:nvPr/>
        </p:nvSpPr>
        <p:spPr>
          <a:xfrm>
            <a:off x="4475378" y="1645920"/>
            <a:ext cx="3240938" cy="1097280"/>
          </a:xfrm>
          <a:prstGeom prst="rect">
            <a:avLst/>
          </a:prstGeom>
          <a:noFill/>
          <a:ln/>
        </p:spPr>
        <p:txBody>
          <a:bodyPr wrap="square" lIns="0" tIns="0" rIns="0" bIns="0" rtlCol="0" anchor="ctr"/>
          <a:lstStyle/>
          <a:p>
            <a:pPr marL="0" indent="0" algn="ctr">
              <a:buNone/>
            </a:pPr>
            <a:r>
              <a:rPr lang="en-US" sz="1300" b="1" dirty="0">
                <a:solidFill>
                  <a:srgbClr val="16202B"/>
                </a:solidFill>
                <a:latin typeface="Calibri" pitchFamily="34" charset="0"/>
                <a:ea typeface="Calibri" pitchFamily="34" charset="-122"/>
                <a:cs typeface="Calibri" pitchFamily="34" charset="-120"/>
              </a:rPr>
              <a:t>CQRS\setup-db.ps1</a:t>
            </a:r>
            <a:endParaRPr lang="en-US" sz="1300" dirty="0"/>
          </a:p>
          <a:p>
            <a:pPr marL="0" indent="0" algn="ctr">
              <a:buNone/>
            </a:pPr>
            <a:r>
              <a:rPr lang="en-US" sz="1300" b="1" dirty="0">
                <a:solidFill>
                  <a:srgbClr val="16202B"/>
                </a:solidFill>
                <a:latin typeface="Calibri" pitchFamily="34" charset="0"/>
                <a:ea typeface="Calibri" pitchFamily="34" charset="-122"/>
                <a:cs typeface="Calibri" pitchFamily="34" charset="-120"/>
              </a:rPr>
              <a:t>Databasen cqrs + cqrs_writer och cqrs_reader</a:t>
            </a:r>
            <a:endParaRPr lang="en-US" sz="1300" dirty="0"/>
          </a:p>
        </p:txBody>
      </p:sp>
      <p:sp>
        <p:nvSpPr>
          <p:cNvPr id="9" name="Shape 7"/>
          <p:cNvSpPr/>
          <p:nvPr/>
        </p:nvSpPr>
        <p:spPr>
          <a:xfrm>
            <a:off x="7853477" y="2194560"/>
            <a:ext cx="320040" cy="0"/>
          </a:xfrm>
          <a:prstGeom prst="line">
            <a:avLst/>
          </a:prstGeom>
          <a:noFill/>
          <a:ln w="19050">
            <a:solidFill>
              <a:srgbClr val="3762FF"/>
            </a:solidFill>
            <a:prstDash val="solid"/>
            <a:tailEnd type="triangle"/>
          </a:ln>
        </p:spPr>
      </p:sp>
      <p:sp>
        <p:nvSpPr>
          <p:cNvPr id="10" name="Shape 8"/>
          <p:cNvSpPr/>
          <p:nvPr/>
        </p:nvSpPr>
        <p:spPr>
          <a:xfrm>
            <a:off x="8219237" y="1645920"/>
            <a:ext cx="3423818" cy="1097280"/>
          </a:xfrm>
          <a:prstGeom prst="roundRect">
            <a:avLst>
              <a:gd name="adj" fmla="val 5000"/>
            </a:avLst>
          </a:prstGeom>
          <a:solidFill>
            <a:srgbClr val="3762FF"/>
          </a:solidFill>
          <a:ln w="12700">
            <a:solidFill>
              <a:srgbClr val="3762FF"/>
            </a:solidFill>
            <a:prstDash val="solid"/>
          </a:ln>
        </p:spPr>
      </p:sp>
      <p:sp>
        <p:nvSpPr>
          <p:cNvPr id="11" name="Text 9"/>
          <p:cNvSpPr txBox="1"/>
          <p:nvPr/>
        </p:nvSpPr>
        <p:spPr>
          <a:xfrm>
            <a:off x="8310677" y="1645920"/>
            <a:ext cx="3240938" cy="10972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CQRS\build.ps1</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Bygger images, pushar, helm upgrade --install</a:t>
            </a:r>
            <a:endParaRPr lang="en-US" sz="1300" dirty="0"/>
          </a:p>
        </p:txBody>
      </p:sp>
      <p:sp>
        <p:nvSpPr>
          <p:cNvPr id="12" name="Shape 10"/>
          <p:cNvSpPr/>
          <p:nvPr/>
        </p:nvSpPr>
        <p:spPr>
          <a:xfrm>
            <a:off x="548640" y="3063240"/>
            <a:ext cx="11094415" cy="2743200"/>
          </a:xfrm>
          <a:prstGeom prst="roundRect">
            <a:avLst>
              <a:gd name="adj" fmla="val 2000"/>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13" name="Shape 11"/>
          <p:cNvSpPr/>
          <p:nvPr/>
        </p:nvSpPr>
        <p:spPr>
          <a:xfrm>
            <a:off x="749808" y="3227832"/>
            <a:ext cx="109728" cy="109728"/>
          </a:xfrm>
          <a:prstGeom prst="ellipse">
            <a:avLst/>
          </a:prstGeom>
          <a:solidFill>
            <a:srgbClr val="D64545"/>
          </a:solidFill>
          <a:ln w="12700">
            <a:solidFill>
              <a:srgbClr val="D64545"/>
            </a:solidFill>
            <a:prstDash val="solid"/>
          </a:ln>
        </p:spPr>
      </p:sp>
      <p:sp>
        <p:nvSpPr>
          <p:cNvPr id="14" name="Shape 12"/>
          <p:cNvSpPr/>
          <p:nvPr/>
        </p:nvSpPr>
        <p:spPr>
          <a:xfrm>
            <a:off x="932688" y="3227832"/>
            <a:ext cx="109728" cy="109728"/>
          </a:xfrm>
          <a:prstGeom prst="ellipse">
            <a:avLst/>
          </a:prstGeom>
          <a:solidFill>
            <a:srgbClr val="FFB020"/>
          </a:solidFill>
          <a:ln w="12700">
            <a:solidFill>
              <a:srgbClr val="FFB020"/>
            </a:solidFill>
            <a:prstDash val="solid"/>
          </a:ln>
        </p:spPr>
      </p:sp>
      <p:sp>
        <p:nvSpPr>
          <p:cNvPr id="15" name="Shape 13"/>
          <p:cNvSpPr/>
          <p:nvPr/>
        </p:nvSpPr>
        <p:spPr>
          <a:xfrm>
            <a:off x="1115568" y="3227832"/>
            <a:ext cx="109728" cy="109728"/>
          </a:xfrm>
          <a:prstGeom prst="ellipse">
            <a:avLst/>
          </a:prstGeom>
          <a:solidFill>
            <a:srgbClr val="3CB371"/>
          </a:solidFill>
          <a:ln w="12700">
            <a:solidFill>
              <a:srgbClr val="3CB371"/>
            </a:solidFill>
            <a:prstDash val="solid"/>
          </a:ln>
        </p:spPr>
      </p:sp>
      <p:sp>
        <p:nvSpPr>
          <p:cNvPr id="16" name="Text 14"/>
          <p:cNvSpPr txBox="1"/>
          <p:nvPr/>
        </p:nvSpPr>
        <p:spPr>
          <a:xfrm>
            <a:off x="1371600" y="3154680"/>
            <a:ext cx="10088575"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17" name="Text 15"/>
          <p:cNvSpPr txBox="1"/>
          <p:nvPr/>
        </p:nvSpPr>
        <p:spPr>
          <a:xfrm>
            <a:off x="777240" y="3520440"/>
            <a:ext cx="10637215" cy="2148840"/>
          </a:xfrm>
          <a:prstGeom prst="rect">
            <a:avLst/>
          </a:prstGeom>
          <a:noFill/>
          <a:ln/>
        </p:spPr>
        <p:txBody>
          <a:bodyPr wrap="square" lIns="0" tIns="0" rIns="0" bIns="0" rtlCol="0" anchor="t"/>
          <a:lstStyle/>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cd D:\Kvällskurs\CQRS</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./setup-db.ps1                 # en gång - skapar användarna i MySQL</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./build.ps1                    # dotnet publish -t:PublishContainer -&gt; localhost:5000</a:t>
            </a:r>
            <a:endParaRPr lang="en-US" sz="1300" dirty="0"/>
          </a:p>
          <a:p>
            <a:pPr marL="0" indent="0">
              <a:lnSpc>
                <a:spcPct val="110000"/>
              </a:lnSpc>
              <a:buNone/>
            </a:pPr>
            <a:r>
              <a:rPr lang="en-US" sz="1300" i="1" dirty="0">
                <a:solidFill>
                  <a:srgbClr val="B9C4D1"/>
                </a:solidFill>
                <a:latin typeface="Courier New" pitchFamily="34" charset="0"/>
                <a:ea typeface="Courier New" pitchFamily="34" charset="-122"/>
                <a:cs typeface="Courier New" pitchFamily="34" charset="-120"/>
              </a:rPr>
              <a:t>                               # helm upgrade --install cqrs-worker / cqrs-api -n cqrs</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get pods -n cqrs</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logs -f deploy/cqrs-worker -n cqrs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HELM &amp; DEPLOY · TESTA</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Nå API:t utifrån klustret</a:t>
            </a:r>
            <a:endParaRPr lang="en-US" sz="3000" dirty="0"/>
          </a:p>
        </p:txBody>
      </p:sp>
      <p:sp>
        <p:nvSpPr>
          <p:cNvPr id="4" name="Shape 2"/>
          <p:cNvSpPr/>
          <p:nvPr/>
        </p:nvSpPr>
        <p:spPr>
          <a:xfrm>
            <a:off x="548640" y="1554480"/>
            <a:ext cx="6766560" cy="3749040"/>
          </a:xfrm>
          <a:prstGeom prst="roundRect">
            <a:avLst>
              <a:gd name="adj" fmla="val 1463"/>
            </a:avLst>
          </a:prstGeom>
          <a:solidFill>
            <a:srgbClr val="16294A"/>
          </a:solidFill>
          <a:ln w="12700">
            <a:solidFill>
              <a:srgbClr val="16294A"/>
            </a:solidFill>
            <a:prstDash val="solid"/>
          </a:ln>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576072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CQRSApi/CQRSApi.http</a:t>
            </a:r>
            <a:endParaRPr lang="en-US" sz="1100" dirty="0"/>
          </a:p>
        </p:txBody>
      </p:sp>
      <p:sp>
        <p:nvSpPr>
          <p:cNvPr id="9" name="Text 7"/>
          <p:cNvSpPr txBox="1"/>
          <p:nvPr/>
        </p:nvSpPr>
        <p:spPr>
          <a:xfrm>
            <a:off x="777240" y="2011680"/>
            <a:ext cx="6309360" cy="3154680"/>
          </a:xfrm>
          <a:prstGeom prst="rect">
            <a:avLst/>
          </a:prstGeom>
          <a:noFill/>
          <a:ln/>
        </p:spPr>
        <p:txBody>
          <a:bodyPr wrap="square" lIns="0" tIns="0" rIns="0" bIns="0" rtlCol="0" anchor="t"/>
          <a:lstStyle/>
          <a:p>
            <a:pPr marL="0" indent="0">
              <a:lnSpc>
                <a:spcPct val="110000"/>
              </a:lnSpc>
              <a:buNone/>
            </a:pPr>
            <a:r>
              <a:rPr lang="en-US" sz="1250" i="1" dirty="0">
                <a:solidFill>
                  <a:srgbClr val="B9C4D1"/>
                </a:solidFill>
                <a:latin typeface="Courier New" pitchFamily="34" charset="0"/>
                <a:ea typeface="Courier New" pitchFamily="34" charset="-122"/>
                <a:cs typeface="Courier New" pitchFamily="34" charset="-120"/>
              </a:rPr>
              <a:t># hosts-filen:  127.0.0.1  cqrsapi.local</a:t>
            </a:r>
            <a:endParaRPr lang="en-US" sz="1250" dirty="0"/>
          </a:p>
          <a:p>
            <a:pPr marL="0" indent="0">
              <a:lnSpc>
                <a:spcPct val="110000"/>
              </a:lnSpc>
              <a:buNone/>
            </a:pPr>
            <a:r>
              <a:rPr lang="en-US" sz="1250" dirty="0">
                <a:solidFill>
                  <a:srgbClr val="DDE3EA"/>
                </a:solidFill>
                <a:latin typeface="Courier New" pitchFamily="34" charset="0"/>
                <a:ea typeface="Courier New" pitchFamily="34" charset="-122"/>
                <a:cs typeface="Courier New" pitchFamily="34" charset="-120"/>
              </a:rPr>
              <a:t> </a:t>
            </a:r>
            <a:endParaRPr lang="en-US" sz="1250" dirty="0"/>
          </a:p>
          <a:p>
            <a:pPr marL="0" indent="0">
              <a:lnSpc>
                <a:spcPct val="110000"/>
              </a:lnSpc>
              <a:buNone/>
            </a:pPr>
            <a:r>
              <a:rPr lang="en-US" sz="1250" dirty="0">
                <a:solidFill>
                  <a:srgbClr val="DDE3EA"/>
                </a:solidFill>
                <a:latin typeface="Courier New" pitchFamily="34" charset="0"/>
                <a:ea typeface="Courier New" pitchFamily="34" charset="-122"/>
                <a:cs typeface="Courier New" pitchFamily="34" charset="-120"/>
              </a:rPr>
              <a:t>POST http://cqrsapi.local/persons</a:t>
            </a:r>
            <a:endParaRPr lang="en-US" sz="1250" dirty="0"/>
          </a:p>
          <a:p>
            <a:pPr marL="0" indent="0">
              <a:lnSpc>
                <a:spcPct val="110000"/>
              </a:lnSpc>
              <a:buNone/>
            </a:pPr>
            <a:r>
              <a:rPr lang="en-US" sz="1250" dirty="0">
                <a:solidFill>
                  <a:srgbClr val="DDE3EA"/>
                </a:solidFill>
                <a:latin typeface="Courier New" pitchFamily="34" charset="0"/>
                <a:ea typeface="Courier New" pitchFamily="34" charset="-122"/>
                <a:cs typeface="Courier New" pitchFamily="34" charset="-120"/>
              </a:rPr>
              <a:t>{ "firstName": "Ada", "lastName": "Lovelace" }</a:t>
            </a:r>
            <a:endParaRPr lang="en-US" sz="1250" dirty="0"/>
          </a:p>
          <a:p>
            <a:pPr marL="0" indent="0">
              <a:lnSpc>
                <a:spcPct val="110000"/>
              </a:lnSpc>
              <a:buNone/>
            </a:pPr>
            <a:r>
              <a:rPr lang="en-US" sz="1250" dirty="0">
                <a:solidFill>
                  <a:srgbClr val="B9C4D1"/>
                </a:solidFill>
                <a:latin typeface="Courier New" pitchFamily="34" charset="0"/>
                <a:ea typeface="Courier New" pitchFamily="34" charset="-122"/>
                <a:cs typeface="Courier New" pitchFamily="34" charset="-120"/>
              </a:rPr>
              <a:t>→ 202 Accepted  { "personId": "...", "status": "accepted" }</a:t>
            </a:r>
            <a:endParaRPr lang="en-US" sz="1250" dirty="0"/>
          </a:p>
          <a:p>
            <a:pPr marL="0" indent="0">
              <a:lnSpc>
                <a:spcPct val="110000"/>
              </a:lnSpc>
              <a:buNone/>
            </a:pPr>
            <a:r>
              <a:rPr lang="en-US" sz="1250" dirty="0">
                <a:solidFill>
                  <a:srgbClr val="DDE3EA"/>
                </a:solidFill>
                <a:latin typeface="Courier New" pitchFamily="34" charset="0"/>
                <a:ea typeface="Courier New" pitchFamily="34" charset="-122"/>
                <a:cs typeface="Courier New" pitchFamily="34" charset="-120"/>
              </a:rPr>
              <a:t> </a:t>
            </a:r>
            <a:endParaRPr lang="en-US" sz="1250" dirty="0"/>
          </a:p>
          <a:p>
            <a:pPr marL="0" indent="0">
              <a:lnSpc>
                <a:spcPct val="110000"/>
              </a:lnSpc>
              <a:buNone/>
            </a:pPr>
            <a:r>
              <a:rPr lang="en-US" sz="1250" dirty="0">
                <a:solidFill>
                  <a:srgbClr val="DDE3EA"/>
                </a:solidFill>
                <a:latin typeface="Courier New" pitchFamily="34" charset="0"/>
                <a:ea typeface="Courier New" pitchFamily="34" charset="-122"/>
                <a:cs typeface="Courier New" pitchFamily="34" charset="-120"/>
              </a:rPr>
              <a:t>GET  http://cqrsapi.local/persons</a:t>
            </a:r>
            <a:endParaRPr lang="en-US" sz="1250" dirty="0"/>
          </a:p>
          <a:p>
            <a:pPr marL="0" indent="0">
              <a:lnSpc>
                <a:spcPct val="110000"/>
              </a:lnSpc>
              <a:buNone/>
            </a:pPr>
            <a:r>
              <a:rPr lang="en-US" sz="1250" dirty="0">
                <a:solidFill>
                  <a:srgbClr val="B9C4D1"/>
                </a:solidFill>
                <a:latin typeface="Courier New" pitchFamily="34" charset="0"/>
                <a:ea typeface="Courier New" pitchFamily="34" charset="-122"/>
                <a:cs typeface="Courier New" pitchFamily="34" charset="-120"/>
              </a:rPr>
              <a:t>→ 200 OK  [ { "firstName": "Ada", ... } ]</a:t>
            </a:r>
            <a:endParaRPr lang="en-US" sz="1250" dirty="0"/>
          </a:p>
        </p:txBody>
      </p:sp>
      <p:sp>
        <p:nvSpPr>
          <p:cNvPr id="10" name="Shape 8"/>
          <p:cNvSpPr/>
          <p:nvPr/>
        </p:nvSpPr>
        <p:spPr>
          <a:xfrm>
            <a:off x="7680960" y="1554480"/>
            <a:ext cx="3962095" cy="1143000"/>
          </a:xfrm>
          <a:prstGeom prst="roundRect">
            <a:avLst>
              <a:gd name="adj" fmla="val 4800"/>
            </a:avLst>
          </a:prstGeom>
          <a:solidFill>
            <a:srgbClr val="16294A"/>
          </a:solidFill>
          <a:ln w="12700">
            <a:solidFill>
              <a:srgbClr val="16294A"/>
            </a:solidFill>
            <a:prstDash val="solid"/>
          </a:ln>
        </p:spPr>
      </p:sp>
      <p:sp>
        <p:nvSpPr>
          <p:cNvPr id="11" name="Text 9"/>
          <p:cNvSpPr txBox="1"/>
          <p:nvPr/>
        </p:nvSpPr>
        <p:spPr>
          <a:xfrm>
            <a:off x="7882128" y="1755648"/>
            <a:ext cx="3559759"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CQRSApi.http</a:t>
            </a:r>
            <a:endParaRPr lang="en-US" sz="1600" dirty="0"/>
          </a:p>
        </p:txBody>
      </p:sp>
      <p:sp>
        <p:nvSpPr>
          <p:cNvPr id="12" name="Text 10"/>
          <p:cNvSpPr txBox="1"/>
          <p:nvPr/>
        </p:nvSpPr>
        <p:spPr>
          <a:xfrm>
            <a:off x="7882128" y="2139696"/>
            <a:ext cx="3559759" cy="40233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Kör anropen direkt i Visual Studio.</a:t>
            </a:r>
            <a:endParaRPr lang="en-US" sz="1300" dirty="0"/>
          </a:p>
        </p:txBody>
      </p:sp>
      <p:sp>
        <p:nvSpPr>
          <p:cNvPr id="13" name="Shape 11"/>
          <p:cNvSpPr/>
          <p:nvPr/>
        </p:nvSpPr>
        <p:spPr>
          <a:xfrm>
            <a:off x="7680960" y="2834640"/>
            <a:ext cx="3962095" cy="1143000"/>
          </a:xfrm>
          <a:prstGeom prst="roundRect">
            <a:avLst>
              <a:gd name="adj" fmla="val 4800"/>
            </a:avLst>
          </a:prstGeom>
          <a:solidFill>
            <a:srgbClr val="16294A"/>
          </a:solidFill>
          <a:ln w="12700">
            <a:solidFill>
              <a:srgbClr val="16294A"/>
            </a:solidFill>
            <a:prstDash val="solid"/>
          </a:ln>
        </p:spPr>
      </p:sp>
      <p:sp>
        <p:nvSpPr>
          <p:cNvPr id="14" name="Text 12"/>
          <p:cNvSpPr txBox="1"/>
          <p:nvPr/>
        </p:nvSpPr>
        <p:spPr>
          <a:xfrm>
            <a:off x="7882128" y="3035808"/>
            <a:ext cx="3559759"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/scalar</a:t>
            </a:r>
            <a:endParaRPr lang="en-US" sz="1600" dirty="0"/>
          </a:p>
        </p:txBody>
      </p:sp>
      <p:sp>
        <p:nvSpPr>
          <p:cNvPr id="15" name="Text 13"/>
          <p:cNvSpPr txBox="1"/>
          <p:nvPr/>
        </p:nvSpPr>
        <p:spPr>
          <a:xfrm>
            <a:off x="7882128" y="3419856"/>
            <a:ext cx="3559759" cy="40233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http://cqrsapi.local/scalar - testa i webbläsaren.</a:t>
            </a:r>
            <a:endParaRPr lang="en-US" sz="1300" dirty="0"/>
          </a:p>
        </p:txBody>
      </p:sp>
      <p:sp>
        <p:nvSpPr>
          <p:cNvPr id="16" name="Shape 14"/>
          <p:cNvSpPr/>
          <p:nvPr/>
        </p:nvSpPr>
        <p:spPr>
          <a:xfrm>
            <a:off x="7680960" y="4114800"/>
            <a:ext cx="3962095" cy="1188720"/>
          </a:xfrm>
          <a:prstGeom prst="roundRect">
            <a:avLst>
              <a:gd name="adj" fmla="val 4615"/>
            </a:avLst>
          </a:prstGeom>
          <a:solidFill>
            <a:srgbClr val="3762FF"/>
          </a:solidFill>
          <a:ln w="12700">
            <a:solidFill>
              <a:srgbClr val="3762FF"/>
            </a:solidFill>
            <a:prstDash val="solid"/>
          </a:ln>
        </p:spPr>
      </p:sp>
      <p:sp>
        <p:nvSpPr>
          <p:cNvPr id="17" name="Text 15"/>
          <p:cNvSpPr txBox="1"/>
          <p:nvPr/>
        </p:nvSpPr>
        <p:spPr>
          <a:xfrm>
            <a:off x="7882128" y="4315968"/>
            <a:ext cx="3559759"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Bakom kulisserna</a:t>
            </a:r>
            <a:endParaRPr lang="en-US" sz="1600" dirty="0"/>
          </a:p>
        </p:txBody>
      </p:sp>
      <p:sp>
        <p:nvSpPr>
          <p:cNvPr id="18" name="Text 16"/>
          <p:cNvSpPr txBox="1"/>
          <p:nvPr/>
        </p:nvSpPr>
        <p:spPr>
          <a:xfrm>
            <a:off x="7882128" y="4700016"/>
            <a:ext cx="3559759" cy="44805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Traefik läser Host: cqrsapi.local och väljer Ingressen.</a:t>
            </a:r>
            <a:endParaRPr lang="en-US" sz="1300" dirty="0"/>
          </a:p>
        </p:txBody>
      </p:sp>
      <p:sp>
        <p:nvSpPr>
          <p:cNvPr id="19" name="Text 17"/>
          <p:cNvSpPr txBox="1"/>
          <p:nvPr/>
        </p:nvSpPr>
        <p:spPr>
          <a:xfrm>
            <a:off x="548640" y="5577840"/>
            <a:ext cx="11094415" cy="411480"/>
          </a:xfrm>
          <a:prstGeom prst="rect">
            <a:avLst/>
          </a:prstGeom>
          <a:noFill/>
          <a:ln/>
        </p:spPr>
        <p:txBody>
          <a:bodyPr wrap="square" lIns="0" tIns="0" rIns="0" bIns="0" rtlCol="0" anchor="t"/>
          <a:lstStyle/>
          <a:p>
            <a:pPr marL="0" indent="0">
              <a:lnSpc>
                <a:spcPct val="120000"/>
              </a:lnSpc>
              <a:buNone/>
            </a:pPr>
            <a:r>
              <a:rPr lang="en-US" sz="1400" dirty="0">
                <a:solidFill>
                  <a:srgbClr val="B9C4D1"/>
                </a:solidFill>
                <a:latin typeface="Arial" pitchFamily="34" charset="0"/>
                <a:ea typeface="Arial" pitchFamily="34" charset="-122"/>
                <a:cs typeface="Arial" pitchFamily="34" charset="-120"/>
              </a:rPr>
              <a:t>Inget svar alls? Kontrollera raden i hosts-filen och kubectl get ingress -n cqrs.</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SAMMANFATTNING</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Tio begrepp att ta med sig hem</a:t>
            </a:r>
            <a:endParaRPr lang="en-US" sz="3000" dirty="0"/>
          </a:p>
        </p:txBody>
      </p:sp>
      <p:sp>
        <p:nvSpPr>
          <p:cNvPr id="4" name="Shape 2"/>
          <p:cNvSpPr/>
          <p:nvPr/>
        </p:nvSpPr>
        <p:spPr>
          <a:xfrm>
            <a:off x="548640" y="160020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749808" y="180136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CQRS</a:t>
            </a:r>
            <a:endParaRPr lang="en-US" sz="1600" dirty="0"/>
          </a:p>
        </p:txBody>
      </p:sp>
      <p:sp>
        <p:nvSpPr>
          <p:cNvPr id="6" name="Text 4"/>
          <p:cNvSpPr txBox="1"/>
          <p:nvPr/>
        </p:nvSpPr>
        <p:spPr>
          <a:xfrm>
            <a:off x="749808" y="218541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Läsa och skriva på olika vägar</a:t>
            </a:r>
            <a:endParaRPr lang="en-US" sz="1300" dirty="0"/>
          </a:p>
        </p:txBody>
      </p:sp>
      <p:sp>
        <p:nvSpPr>
          <p:cNvPr id="7" name="Shape 5"/>
          <p:cNvSpPr/>
          <p:nvPr/>
        </p:nvSpPr>
        <p:spPr>
          <a:xfrm>
            <a:off x="2804099" y="160020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8" name="Text 6"/>
          <p:cNvSpPr txBox="1"/>
          <p:nvPr/>
        </p:nvSpPr>
        <p:spPr>
          <a:xfrm>
            <a:off x="3005267" y="180136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Command</a:t>
            </a:r>
            <a:endParaRPr lang="en-US" sz="1600" dirty="0"/>
          </a:p>
        </p:txBody>
      </p:sp>
      <p:sp>
        <p:nvSpPr>
          <p:cNvPr id="9" name="Text 7"/>
          <p:cNvSpPr txBox="1"/>
          <p:nvPr/>
        </p:nvSpPr>
        <p:spPr>
          <a:xfrm>
            <a:off x="3005267" y="218541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Vill ändra något, svarar med kvitto</a:t>
            </a:r>
            <a:endParaRPr lang="en-US" sz="1300" dirty="0"/>
          </a:p>
        </p:txBody>
      </p:sp>
      <p:sp>
        <p:nvSpPr>
          <p:cNvPr id="10" name="Shape 8"/>
          <p:cNvSpPr/>
          <p:nvPr/>
        </p:nvSpPr>
        <p:spPr>
          <a:xfrm>
            <a:off x="5059558" y="160020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5260726" y="180136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Query</a:t>
            </a:r>
            <a:endParaRPr lang="en-US" sz="1600" dirty="0"/>
          </a:p>
        </p:txBody>
      </p:sp>
      <p:sp>
        <p:nvSpPr>
          <p:cNvPr id="12" name="Text 10"/>
          <p:cNvSpPr txBox="1"/>
          <p:nvPr/>
        </p:nvSpPr>
        <p:spPr>
          <a:xfrm>
            <a:off x="5260726" y="218541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Läser, ändrar aldrig</a:t>
            </a:r>
            <a:endParaRPr lang="en-US" sz="1300" dirty="0"/>
          </a:p>
        </p:txBody>
      </p:sp>
      <p:sp>
        <p:nvSpPr>
          <p:cNvPr id="13" name="Shape 11"/>
          <p:cNvSpPr/>
          <p:nvPr/>
        </p:nvSpPr>
        <p:spPr>
          <a:xfrm>
            <a:off x="7315017" y="160020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7516185" y="180136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202 Accepted</a:t>
            </a:r>
            <a:endParaRPr lang="en-US" sz="1600" dirty="0"/>
          </a:p>
        </p:txBody>
      </p:sp>
      <p:sp>
        <p:nvSpPr>
          <p:cNvPr id="15" name="Text 13"/>
          <p:cNvSpPr txBox="1"/>
          <p:nvPr/>
        </p:nvSpPr>
        <p:spPr>
          <a:xfrm>
            <a:off x="7516185" y="218541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Mottaget - inte klart</a:t>
            </a:r>
            <a:endParaRPr lang="en-US" sz="1300" dirty="0"/>
          </a:p>
        </p:txBody>
      </p:sp>
      <p:sp>
        <p:nvSpPr>
          <p:cNvPr id="16" name="Shape 14"/>
          <p:cNvSpPr/>
          <p:nvPr/>
        </p:nvSpPr>
        <p:spPr>
          <a:xfrm>
            <a:off x="9570476" y="160020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9771644" y="180136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JetStream</a:t>
            </a:r>
            <a:endParaRPr lang="en-US" sz="1600" dirty="0"/>
          </a:p>
        </p:txBody>
      </p:sp>
      <p:sp>
        <p:nvSpPr>
          <p:cNvPr id="18" name="Text 16"/>
          <p:cNvSpPr txBox="1"/>
          <p:nvPr/>
        </p:nvSpPr>
        <p:spPr>
          <a:xfrm>
            <a:off x="9771644" y="218541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NATS med lagring av meddelanden</a:t>
            </a:r>
            <a:endParaRPr lang="en-US" sz="1300" dirty="0"/>
          </a:p>
        </p:txBody>
      </p:sp>
      <p:sp>
        <p:nvSpPr>
          <p:cNvPr id="19" name="Shape 17"/>
          <p:cNvSpPr/>
          <p:nvPr/>
        </p:nvSpPr>
        <p:spPr>
          <a:xfrm>
            <a:off x="548640" y="370332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0" name="Text 18"/>
          <p:cNvSpPr txBox="1"/>
          <p:nvPr/>
        </p:nvSpPr>
        <p:spPr>
          <a:xfrm>
            <a:off x="749808" y="390448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Durable consumer</a:t>
            </a:r>
            <a:endParaRPr lang="en-US" sz="1600" dirty="0"/>
          </a:p>
        </p:txBody>
      </p:sp>
      <p:sp>
        <p:nvSpPr>
          <p:cNvPr id="21" name="Text 19"/>
          <p:cNvSpPr txBox="1"/>
          <p:nvPr/>
        </p:nvSpPr>
        <p:spPr>
          <a:xfrm>
            <a:off x="749808" y="428853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Minns var i kön den är</a:t>
            </a:r>
            <a:endParaRPr lang="en-US" sz="1300" dirty="0"/>
          </a:p>
        </p:txBody>
      </p:sp>
      <p:sp>
        <p:nvSpPr>
          <p:cNvPr id="22" name="Shape 20"/>
          <p:cNvSpPr/>
          <p:nvPr/>
        </p:nvSpPr>
        <p:spPr>
          <a:xfrm>
            <a:off x="2804099" y="370332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3" name="Text 21"/>
          <p:cNvSpPr txBox="1"/>
          <p:nvPr/>
        </p:nvSpPr>
        <p:spPr>
          <a:xfrm>
            <a:off x="3005267" y="390448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Ack / Nak</a:t>
            </a:r>
            <a:endParaRPr lang="en-US" sz="1600" dirty="0"/>
          </a:p>
        </p:txBody>
      </p:sp>
      <p:sp>
        <p:nvSpPr>
          <p:cNvPr id="24" name="Text 22"/>
          <p:cNvSpPr txBox="1"/>
          <p:nvPr/>
        </p:nvSpPr>
        <p:spPr>
          <a:xfrm>
            <a:off x="3005267" y="428853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Klart, eller försök igen senare</a:t>
            </a:r>
            <a:endParaRPr lang="en-US" sz="1300" dirty="0"/>
          </a:p>
        </p:txBody>
      </p:sp>
      <p:sp>
        <p:nvSpPr>
          <p:cNvPr id="25" name="Shape 23"/>
          <p:cNvSpPr/>
          <p:nvPr/>
        </p:nvSpPr>
        <p:spPr>
          <a:xfrm>
            <a:off x="5059558" y="370332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6" name="Text 24"/>
          <p:cNvSpPr txBox="1"/>
          <p:nvPr/>
        </p:nvSpPr>
        <p:spPr>
          <a:xfrm>
            <a:off x="5260726" y="390448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Idempotens</a:t>
            </a:r>
            <a:endParaRPr lang="en-US" sz="1600" dirty="0"/>
          </a:p>
        </p:txBody>
      </p:sp>
      <p:sp>
        <p:nvSpPr>
          <p:cNvPr id="27" name="Text 25"/>
          <p:cNvSpPr txBox="1"/>
          <p:nvPr/>
        </p:nvSpPr>
        <p:spPr>
          <a:xfrm>
            <a:off x="5260726" y="428853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Samma kommando två gånger, samma resultat</a:t>
            </a:r>
            <a:endParaRPr lang="en-US" sz="1300" dirty="0"/>
          </a:p>
        </p:txBody>
      </p:sp>
      <p:sp>
        <p:nvSpPr>
          <p:cNvPr id="28" name="Shape 26"/>
          <p:cNvSpPr/>
          <p:nvPr/>
        </p:nvSpPr>
        <p:spPr>
          <a:xfrm>
            <a:off x="7315017" y="370332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9" name="Text 27"/>
          <p:cNvSpPr txBox="1"/>
          <p:nvPr/>
        </p:nvSpPr>
        <p:spPr>
          <a:xfrm>
            <a:off x="7516185" y="390448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Hosts-filen</a:t>
            </a:r>
            <a:endParaRPr lang="en-US" sz="1600" dirty="0"/>
          </a:p>
        </p:txBody>
      </p:sp>
      <p:sp>
        <p:nvSpPr>
          <p:cNvPr id="30" name="Text 28"/>
          <p:cNvSpPr txBox="1"/>
          <p:nvPr/>
        </p:nvSpPr>
        <p:spPr>
          <a:xfrm>
            <a:off x="7516185" y="428853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Namn för er dator - inte för poddarna</a:t>
            </a:r>
            <a:endParaRPr lang="en-US" sz="1300" dirty="0"/>
          </a:p>
        </p:txBody>
      </p:sp>
      <p:sp>
        <p:nvSpPr>
          <p:cNvPr id="31" name="Shape 29"/>
          <p:cNvSpPr/>
          <p:nvPr/>
        </p:nvSpPr>
        <p:spPr>
          <a:xfrm>
            <a:off x="9570476" y="3703320"/>
            <a:ext cx="2072579" cy="1874520"/>
          </a:xfrm>
          <a:prstGeom prst="roundRect">
            <a:avLst>
              <a:gd name="adj" fmla="val 2927"/>
            </a:avLst>
          </a:prstGeom>
          <a:solidFill>
            <a:srgbClr val="3762FF"/>
          </a:solidFill>
          <a:ln w="12700">
            <a:solidFill>
              <a:srgbClr val="3762FF"/>
            </a:solidFill>
            <a:prstDash val="solid"/>
          </a:ln>
        </p:spPr>
      </p:sp>
      <p:sp>
        <p:nvSpPr>
          <p:cNvPr id="32" name="Text 30"/>
          <p:cNvSpPr txBox="1"/>
          <p:nvPr/>
        </p:nvSpPr>
        <p:spPr>
          <a:xfrm>
            <a:off x="9771644" y="3904488"/>
            <a:ext cx="1670243" cy="3200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Eventual consistency</a:t>
            </a:r>
            <a:endParaRPr lang="en-US" sz="1300" dirty="0"/>
          </a:p>
        </p:txBody>
      </p:sp>
      <p:sp>
        <p:nvSpPr>
          <p:cNvPr id="33" name="Text 31"/>
          <p:cNvSpPr txBox="1"/>
          <p:nvPr/>
        </p:nvSpPr>
        <p:spPr>
          <a:xfrm>
            <a:off x="9771644" y="428853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Läs-sidan kommer ikapp - snart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VÄGEN FRAMÅT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Härifrån bygger vi vidare</a:t>
            </a:r>
            <a:endParaRPr lang="en-US" sz="3000" dirty="0"/>
          </a:p>
        </p:txBody>
      </p:sp>
      <p:sp>
        <p:nvSpPr>
          <p:cNvPr id="4" name="Text 2"/>
          <p:cNvSpPr txBox="1"/>
          <p:nvPr/>
        </p:nvSpPr>
        <p:spPr>
          <a:xfrm>
            <a:off x="548640" y="1417320"/>
            <a:ext cx="11094415" cy="457200"/>
          </a:xfrm>
          <a:prstGeom prst="rect">
            <a:avLst/>
          </a:prstGeom>
          <a:noFill/>
          <a:ln/>
        </p:spPr>
        <p:txBody>
          <a:bodyPr wrap="square" lIns="0" tIns="0" rIns="0" bIns="0" rtlCol="0" anchor="t"/>
          <a:lstStyle/>
          <a:p>
            <a:pPr marL="0" indent="0">
              <a:lnSpc>
                <a:spcPct val="120000"/>
              </a:lnSpc>
              <a:buNone/>
            </a:pPr>
            <a:r>
              <a:rPr lang="en-US" sz="1500" dirty="0">
                <a:solidFill>
                  <a:srgbClr val="B9C4D1"/>
                </a:solidFill>
                <a:latin typeface="Arial" pitchFamily="34" charset="0"/>
                <a:ea typeface="Arial" pitchFamily="34" charset="-122"/>
                <a:cs typeface="Arial" pitchFamily="34" charset="-120"/>
              </a:rPr>
              <a:t>Exempelappen är en grund. Så här kan den växa under resten av kursen:</a:t>
            </a:r>
            <a:endParaRPr lang="en-US" sz="1500" dirty="0"/>
          </a:p>
        </p:txBody>
      </p:sp>
      <p:sp>
        <p:nvSpPr>
          <p:cNvPr id="5" name="Shape 3"/>
          <p:cNvSpPr/>
          <p:nvPr/>
        </p:nvSpPr>
        <p:spPr>
          <a:xfrm>
            <a:off x="548640" y="2103120"/>
            <a:ext cx="2636444" cy="1600200"/>
          </a:xfrm>
          <a:prstGeom prst="roundRect">
            <a:avLst>
              <a:gd name="adj" fmla="val 3429"/>
            </a:avLst>
          </a:prstGeom>
          <a:solidFill>
            <a:srgbClr val="16294A"/>
          </a:solidFill>
          <a:ln w="12700">
            <a:solidFill>
              <a:srgbClr val="16294A"/>
            </a:solidFill>
            <a:prstDash val="solid"/>
          </a:ln>
        </p:spPr>
      </p:sp>
      <p:sp>
        <p:nvSpPr>
          <p:cNvPr id="6" name="Text 4"/>
          <p:cNvSpPr txBox="1"/>
          <p:nvPr/>
        </p:nvSpPr>
        <p:spPr>
          <a:xfrm>
            <a:off x="749808" y="2304288"/>
            <a:ext cx="2234108"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Angular-frontend</a:t>
            </a:r>
            <a:endParaRPr lang="en-US" sz="1600" dirty="0"/>
          </a:p>
        </p:txBody>
      </p:sp>
      <p:sp>
        <p:nvSpPr>
          <p:cNvPr id="7" name="Text 5"/>
          <p:cNvSpPr txBox="1"/>
          <p:nvPr/>
        </p:nvSpPr>
        <p:spPr>
          <a:xfrm>
            <a:off x="749808" y="2688336"/>
            <a:ext cx="2234108" cy="85953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Mot API:t - här blir CORS-läget aktuellt</a:t>
            </a:r>
            <a:endParaRPr lang="en-US" sz="1300" dirty="0"/>
          </a:p>
        </p:txBody>
      </p:sp>
      <p:sp>
        <p:nvSpPr>
          <p:cNvPr id="8" name="Shape 6"/>
          <p:cNvSpPr/>
          <p:nvPr/>
        </p:nvSpPr>
        <p:spPr>
          <a:xfrm>
            <a:off x="3367964" y="2103120"/>
            <a:ext cx="2636444" cy="1600200"/>
          </a:xfrm>
          <a:prstGeom prst="roundRect">
            <a:avLst>
              <a:gd name="adj" fmla="val 3429"/>
            </a:avLst>
          </a:prstGeom>
          <a:solidFill>
            <a:srgbClr val="16294A"/>
          </a:solidFill>
          <a:ln w="12700">
            <a:solidFill>
              <a:srgbClr val="16294A"/>
            </a:solidFill>
            <a:prstDash val="solid"/>
          </a:ln>
        </p:spPr>
      </p:sp>
      <p:sp>
        <p:nvSpPr>
          <p:cNvPr id="9" name="Text 7"/>
          <p:cNvSpPr txBox="1"/>
          <p:nvPr/>
        </p:nvSpPr>
        <p:spPr>
          <a:xfrm>
            <a:off x="3569132" y="2304288"/>
            <a:ext cx="2234108"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Läsmodell i Redis</a:t>
            </a:r>
            <a:endParaRPr lang="en-US" sz="1600" dirty="0"/>
          </a:p>
        </p:txBody>
      </p:sp>
      <p:sp>
        <p:nvSpPr>
          <p:cNvPr id="10" name="Text 8"/>
          <p:cNvSpPr txBox="1"/>
          <p:nvPr/>
        </p:nvSpPr>
        <p:spPr>
          <a:xfrm>
            <a:off x="3569132" y="2688336"/>
            <a:ext cx="2234108" cy="85953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Workern publicerar events, en projektion fyller Redis</a:t>
            </a:r>
            <a:endParaRPr lang="en-US" sz="1300" dirty="0"/>
          </a:p>
        </p:txBody>
      </p:sp>
      <p:sp>
        <p:nvSpPr>
          <p:cNvPr id="11" name="Shape 9"/>
          <p:cNvSpPr/>
          <p:nvPr/>
        </p:nvSpPr>
        <p:spPr>
          <a:xfrm>
            <a:off x="6187288" y="2103120"/>
            <a:ext cx="2636444" cy="1600200"/>
          </a:xfrm>
          <a:prstGeom prst="roundRect">
            <a:avLst>
              <a:gd name="adj" fmla="val 3429"/>
            </a:avLst>
          </a:prstGeom>
          <a:solidFill>
            <a:srgbClr val="16294A"/>
          </a:solidFill>
          <a:ln w="12700">
            <a:solidFill>
              <a:srgbClr val="16294A"/>
            </a:solidFill>
            <a:prstDash val="solid"/>
          </a:ln>
        </p:spPr>
      </p:sp>
      <p:sp>
        <p:nvSpPr>
          <p:cNvPr id="12" name="Text 10"/>
          <p:cNvSpPr txBox="1"/>
          <p:nvPr/>
        </p:nvSpPr>
        <p:spPr>
          <a:xfrm>
            <a:off x="6388456" y="2304288"/>
            <a:ext cx="2234108"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EF-migreringar</a:t>
            </a:r>
            <a:endParaRPr lang="en-US" sz="1600" dirty="0"/>
          </a:p>
        </p:txBody>
      </p:sp>
      <p:sp>
        <p:nvSpPr>
          <p:cNvPr id="13" name="Text 11"/>
          <p:cNvSpPr txBox="1"/>
          <p:nvPr/>
        </p:nvSpPr>
        <p:spPr>
          <a:xfrm>
            <a:off x="6388456" y="2688336"/>
            <a:ext cx="2234108" cy="85953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Istället för EnsureCreated</a:t>
            </a:r>
            <a:endParaRPr lang="en-US" sz="1300" dirty="0"/>
          </a:p>
        </p:txBody>
      </p:sp>
      <p:sp>
        <p:nvSpPr>
          <p:cNvPr id="14" name="Shape 12"/>
          <p:cNvSpPr/>
          <p:nvPr/>
        </p:nvSpPr>
        <p:spPr>
          <a:xfrm>
            <a:off x="9006611" y="2103120"/>
            <a:ext cx="2636444" cy="1600200"/>
          </a:xfrm>
          <a:prstGeom prst="roundRect">
            <a:avLst>
              <a:gd name="adj" fmla="val 3429"/>
            </a:avLst>
          </a:prstGeom>
          <a:solidFill>
            <a:srgbClr val="16294A"/>
          </a:solidFill>
          <a:ln w="12700">
            <a:solidFill>
              <a:srgbClr val="16294A"/>
            </a:solidFill>
            <a:prstDash val="solid"/>
          </a:ln>
        </p:spPr>
      </p:sp>
      <p:sp>
        <p:nvSpPr>
          <p:cNvPr id="15" name="Text 13"/>
          <p:cNvSpPr txBox="1"/>
          <p:nvPr/>
        </p:nvSpPr>
        <p:spPr>
          <a:xfrm>
            <a:off x="9207779" y="2304288"/>
            <a:ext cx="2234108"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Sealed Secrets</a:t>
            </a:r>
            <a:endParaRPr lang="en-US" sz="1600" dirty="0"/>
          </a:p>
        </p:txBody>
      </p:sp>
      <p:sp>
        <p:nvSpPr>
          <p:cNvPr id="16" name="Text 14"/>
          <p:cNvSpPr txBox="1"/>
          <p:nvPr/>
        </p:nvSpPr>
        <p:spPr>
          <a:xfrm>
            <a:off x="9207779" y="2688336"/>
            <a:ext cx="2234108" cy="85953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Connection strings som tål Git</a:t>
            </a:r>
            <a:endParaRPr lang="en-US" sz="1300" dirty="0"/>
          </a:p>
        </p:txBody>
      </p:sp>
      <p:sp>
        <p:nvSpPr>
          <p:cNvPr id="17" name="Shape 15"/>
          <p:cNvSpPr/>
          <p:nvPr/>
        </p:nvSpPr>
        <p:spPr>
          <a:xfrm>
            <a:off x="548640" y="3931920"/>
            <a:ext cx="2636444" cy="1600200"/>
          </a:xfrm>
          <a:prstGeom prst="roundRect">
            <a:avLst>
              <a:gd name="adj" fmla="val 3429"/>
            </a:avLst>
          </a:prstGeom>
          <a:solidFill>
            <a:srgbClr val="16294A"/>
          </a:solidFill>
          <a:ln w="12700">
            <a:solidFill>
              <a:srgbClr val="16294A"/>
            </a:solidFill>
            <a:prstDash val="solid"/>
          </a:ln>
        </p:spPr>
      </p:sp>
      <p:sp>
        <p:nvSpPr>
          <p:cNvPr id="18" name="Text 16"/>
          <p:cNvSpPr txBox="1"/>
          <p:nvPr/>
        </p:nvSpPr>
        <p:spPr>
          <a:xfrm>
            <a:off x="749808" y="4133088"/>
            <a:ext cx="2234108"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Monitorering</a:t>
            </a:r>
            <a:endParaRPr lang="en-US" sz="1600" dirty="0"/>
          </a:p>
        </p:txBody>
      </p:sp>
      <p:sp>
        <p:nvSpPr>
          <p:cNvPr id="19" name="Text 17"/>
          <p:cNvSpPr txBox="1"/>
          <p:nvPr/>
        </p:nvSpPr>
        <p:spPr>
          <a:xfrm>
            <a:off x="749808" y="4517136"/>
            <a:ext cx="2234108" cy="85953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Exportörerna i values-filerna är redan på</a:t>
            </a:r>
            <a:endParaRPr lang="en-US" sz="1300" dirty="0"/>
          </a:p>
        </p:txBody>
      </p:sp>
      <p:sp>
        <p:nvSpPr>
          <p:cNvPr id="20" name="Shape 18"/>
          <p:cNvSpPr/>
          <p:nvPr/>
        </p:nvSpPr>
        <p:spPr>
          <a:xfrm>
            <a:off x="3367964" y="3931920"/>
            <a:ext cx="2636444" cy="1600200"/>
          </a:xfrm>
          <a:prstGeom prst="roundRect">
            <a:avLst>
              <a:gd name="adj" fmla="val 3429"/>
            </a:avLst>
          </a:prstGeom>
          <a:solidFill>
            <a:srgbClr val="16294A"/>
          </a:solidFill>
          <a:ln w="12700">
            <a:solidFill>
              <a:srgbClr val="16294A"/>
            </a:solidFill>
            <a:prstDash val="solid"/>
          </a:ln>
        </p:spPr>
      </p:sp>
      <p:sp>
        <p:nvSpPr>
          <p:cNvPr id="21" name="Text 19"/>
          <p:cNvSpPr txBox="1"/>
          <p:nvPr/>
        </p:nvSpPr>
        <p:spPr>
          <a:xfrm>
            <a:off x="3569132" y="4133088"/>
            <a:ext cx="2234108"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Tracing</a:t>
            </a:r>
            <a:endParaRPr lang="en-US" sz="1600" dirty="0"/>
          </a:p>
        </p:txBody>
      </p:sp>
      <p:sp>
        <p:nvSpPr>
          <p:cNvPr id="22" name="Text 20"/>
          <p:cNvSpPr txBox="1"/>
          <p:nvPr/>
        </p:nvSpPr>
        <p:spPr>
          <a:xfrm>
            <a:off x="3569132" y="4517136"/>
            <a:ext cx="2234108" cy="85953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Följ ett kommando genom API, NATS och worker</a:t>
            </a:r>
            <a:endParaRPr lang="en-US" sz="1300" dirty="0"/>
          </a:p>
        </p:txBody>
      </p:sp>
      <p:sp>
        <p:nvSpPr>
          <p:cNvPr id="23" name="Shape 21"/>
          <p:cNvSpPr/>
          <p:nvPr/>
        </p:nvSpPr>
        <p:spPr>
          <a:xfrm>
            <a:off x="6187288" y="3931920"/>
            <a:ext cx="2636444" cy="1600200"/>
          </a:xfrm>
          <a:prstGeom prst="roundRect">
            <a:avLst>
              <a:gd name="adj" fmla="val 3429"/>
            </a:avLst>
          </a:prstGeom>
          <a:solidFill>
            <a:srgbClr val="16294A"/>
          </a:solidFill>
          <a:ln w="12700">
            <a:solidFill>
              <a:srgbClr val="16294A"/>
            </a:solidFill>
            <a:prstDash val="solid"/>
          </a:ln>
        </p:spPr>
      </p:sp>
      <p:sp>
        <p:nvSpPr>
          <p:cNvPr id="24" name="Text 22"/>
          <p:cNvSpPr txBox="1"/>
          <p:nvPr/>
        </p:nvSpPr>
        <p:spPr>
          <a:xfrm>
            <a:off x="6388456" y="4133088"/>
            <a:ext cx="2234108"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Skalning</a:t>
            </a:r>
            <a:endParaRPr lang="en-US" sz="1600" dirty="0"/>
          </a:p>
        </p:txBody>
      </p:sp>
      <p:sp>
        <p:nvSpPr>
          <p:cNvPr id="25" name="Text 23"/>
          <p:cNvSpPr txBox="1"/>
          <p:nvPr/>
        </p:nvSpPr>
        <p:spPr>
          <a:xfrm>
            <a:off x="6388456" y="4517136"/>
            <a:ext cx="2234108" cy="85953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Fler API-poddar, och vad som händer med fler workers</a:t>
            </a:r>
            <a:endParaRPr lang="en-US" sz="1300" dirty="0"/>
          </a:p>
        </p:txBody>
      </p:sp>
      <p:sp>
        <p:nvSpPr>
          <p:cNvPr id="26" name="Shape 24"/>
          <p:cNvSpPr/>
          <p:nvPr/>
        </p:nvSpPr>
        <p:spPr>
          <a:xfrm>
            <a:off x="9006611" y="3931920"/>
            <a:ext cx="2636444" cy="1600200"/>
          </a:xfrm>
          <a:prstGeom prst="roundRect">
            <a:avLst>
              <a:gd name="adj" fmla="val 3429"/>
            </a:avLst>
          </a:prstGeom>
          <a:solidFill>
            <a:srgbClr val="3762FF"/>
          </a:solidFill>
          <a:ln w="12700">
            <a:solidFill>
              <a:srgbClr val="3762FF"/>
            </a:solidFill>
            <a:prstDash val="solid"/>
          </a:ln>
        </p:spPr>
      </p:sp>
      <p:sp>
        <p:nvSpPr>
          <p:cNvPr id="27" name="Text 25"/>
          <p:cNvSpPr txBox="1"/>
          <p:nvPr/>
        </p:nvSpPr>
        <p:spPr>
          <a:xfrm>
            <a:off x="9207779" y="4133088"/>
            <a:ext cx="2234108"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Nästa gång</a:t>
            </a:r>
            <a:endParaRPr lang="en-US" sz="1600" dirty="0"/>
          </a:p>
        </p:txBody>
      </p:sp>
      <p:sp>
        <p:nvSpPr>
          <p:cNvPr id="28" name="Text 26"/>
          <p:cNvSpPr txBox="1"/>
          <p:nvPr/>
        </p:nvSpPr>
        <p:spPr>
          <a:xfrm>
            <a:off x="9207779" y="4517136"/>
            <a:ext cx="2234108" cy="85953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Frontend mot vårt CQRS-API</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17373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KVÄLL 3 AV 8 - KLAR</a:t>
            </a:r>
            <a:endParaRPr lang="en-US" sz="1200" dirty="0"/>
          </a:p>
        </p:txBody>
      </p:sp>
      <p:sp>
        <p:nvSpPr>
          <p:cNvPr id="3" name="Text 1"/>
          <p:cNvSpPr txBox="1"/>
          <p:nvPr/>
        </p:nvSpPr>
        <p:spPr>
          <a:xfrm>
            <a:off x="548640" y="2103120"/>
            <a:ext cx="11094415" cy="1097280"/>
          </a:xfrm>
          <a:prstGeom prst="rect">
            <a:avLst/>
          </a:prstGeom>
          <a:noFill/>
          <a:ln/>
        </p:spPr>
        <p:txBody>
          <a:bodyPr wrap="square" lIns="0" tIns="0" rIns="0" bIns="0" rtlCol="0" anchor="ctr"/>
          <a:lstStyle/>
          <a:p>
            <a:pPr marL="0" indent="0">
              <a:buNone/>
            </a:pPr>
            <a:r>
              <a:rPr lang="en-US" sz="6000" b="1" dirty="0">
                <a:solidFill>
                  <a:srgbClr val="F5F7FA"/>
                </a:solidFill>
                <a:latin typeface="Calibri" pitchFamily="34" charset="0"/>
                <a:ea typeface="Calibri" pitchFamily="34" charset="-122"/>
                <a:cs typeface="Calibri" pitchFamily="34" charset="-120"/>
              </a:rPr>
              <a:t>Tack! Frågor?</a:t>
            </a:r>
            <a:endParaRPr lang="en-US" sz="6000" dirty="0"/>
          </a:p>
        </p:txBody>
      </p:sp>
      <p:sp>
        <p:nvSpPr>
          <p:cNvPr id="4" name="Text 2"/>
          <p:cNvSpPr txBox="1"/>
          <p:nvPr/>
        </p:nvSpPr>
        <p:spPr>
          <a:xfrm>
            <a:off x="548640" y="3383280"/>
            <a:ext cx="10058400" cy="54864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Nästa gång: en frontend som pratar med vårt CQRS-API.</a:t>
            </a:r>
            <a:endParaRPr lang="en-US" sz="1800" dirty="0"/>
          </a:p>
        </p:txBody>
      </p:sp>
      <p:sp>
        <p:nvSpPr>
          <p:cNvPr id="5" name="Text 3"/>
          <p:cNvSpPr txBox="1"/>
          <p:nvPr/>
        </p:nvSpPr>
        <p:spPr>
          <a:xfrm>
            <a:off x="548640" y="6172200"/>
            <a:ext cx="6400800" cy="320040"/>
          </a:xfrm>
          <a:prstGeom prst="rect">
            <a:avLst/>
          </a:prstGeom>
          <a:noFill/>
          <a:ln/>
        </p:spPr>
        <p:txBody>
          <a:bodyPr wrap="square" lIns="0" tIns="0" rIns="0" bIns="0" rtlCol="0" anchor="ctr"/>
          <a:lstStyle/>
          <a:p>
            <a:pPr marL="0" indent="0">
              <a:buNone/>
            </a:pPr>
            <a:r>
              <a:rPr lang="en-US" sz="1400" dirty="0">
                <a:solidFill>
                  <a:srgbClr val="B9C4D1"/>
                </a:solidFill>
                <a:latin typeface="Arial" pitchFamily="34" charset="0"/>
                <a:ea typeface="Arial" pitchFamily="34" charset="-122"/>
                <a:cs typeface="Arial" pitchFamily="34" charset="-120"/>
              </a:rPr>
              <a:t>Kubernetes – CQRS i klustret · .NET, Frontend &amp; SQL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4816</Words>
  <Application>Microsoft Office PowerPoint</Application>
  <PresentationFormat>Widescreen</PresentationFormat>
  <Paragraphs>502</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 CQRS i klustret</dc:title>
  <dc:subject>PptxGenJS Presentation</dc:subject>
  <dc:creator>PptxGenJS</dc:creator>
  <cp:lastModifiedBy>Lennart Jansson</cp:lastModifiedBy>
  <cp:revision>2</cp:revision>
  <dcterms:created xsi:type="dcterms:W3CDTF">2026-09-25T10:45:18Z</dcterms:created>
  <dcterms:modified xsi:type="dcterms:W3CDTF">2026-09-25T11:01:39Z</dcterms:modified>
</cp:coreProperties>
</file>