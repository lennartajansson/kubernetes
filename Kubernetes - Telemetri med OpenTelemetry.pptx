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114"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2925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Välkomna tillbaka! Hittills har vi byggt och deployat. Ikväll ska vi se in i systemet medan det kör. Vi installerar en telemetristack i klustret och bygger ett litet API och en klient som är gjorda för att visa telemetri. CQRS-exemplet lämnar vi som det är. Fråga gruppen: hur felsöker ni idag när något är långsamt i produktion?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Gå igenom agendan. Ikväll handlar om att förstå delarna och få telemetrin att flöda - från ett API och en frontend in i stacken. Att använda den, med dashboards och frågespråk i Grafana, är nästa kväll. CQRS-appen rör vi inte; vi bygger ett nytt, medvetet enkelt API så att telemetrin står i centrum. Nästa bild visar målet för kvällen.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 markerade rutan är kvällens mål: att traces, metrics och loggar från både API:t och webbläsaren faktiskt kommer fram till stacken. Att använda dem - dashboards och frågor - är nästa kväll. Nu börjar vi med frågan varför.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Kort teoridel. Målet är att alla förstår skillnaden mellan traces, metrics och loggar, och varför OpenTelemetry blivit standarden för att samla in dem.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signaler som svarar på olika frågor. Metrics säger att något är fel - svarstiden har gått upp. Traces säger var - det är databasfrågan i steg tre. Loggar säger vad - just den kunden, just det felet. Traces är markerad eftersom de är nya för de flesta och är kvällens huvudnummer. Fråga: vilken av de tre använder ni mest idag? (Nästan alltid loggar.)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Så här ser en trace ut i Tempo - ett vattenfall. Överst webbläsarens span för HTTP-anropet, under det API:ts span, och under det två barn: vår egen validering och EF Cores INSERT. Längden på varje stapel är tiden. Allt binds ihop av trace_id, som skickas mellan tjänsterna i HTTP-headern traceparent. Ikväll ser vi till att den här datan skapas och kommer fram - nästa kväll tittar vi på den i Grafana.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Innan vi tittar på komponenterna: standarden som binder ihop dem. Förstår man OpenTelemetry förstår man varför vi kan blanda .NET, en webbläsare och fyra olika databaser i samma stack.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OpenTelemetry är ett CNCF-projekt, samma stiftelse som Kubernetes. Det består av API och SDK per språk, protokollet OTLP och collectorn. OTLP är markerat eftersom det är limmet: alla våra appar pratar OTLP, och vad som finns bakom collectorn kan bytas. För .NET-utvecklare: ni har redan typerna - Activity och Meter i System.Diagnostics. OpenTelemetry är det som samlar in och skickar iväg dem. Nästa bild: vilka överenskommelser standarden består av.</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OpenTelemetry är mer än ett bibliotek - det är tre överenskommelser. OTLP bestämmer hur datan skickas, semantiska konventioner vad sakerna heter, och W3C Trace Context hur anrop mellan tjänster kopplas ihop. OTLP är markerad eftersom det är därför vi kan byta och blanda komponenter fritt. Visa traceparent-headern: det mittersta värdet är trace_id, och det är samma id som syns i alla tjänster. Fråga: vad skulle hända om API:t och frontenden använde olika namn för samma attribut?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 här tabellen är hela stacken sedd som samtal. Nästan varje pil är OTLP - det är standarden i praktiken. Två undantag: Faro har ett eget format för webbläsaren, som faro-collectorn översätter till OTLP, och Prometheus hämtar själv metrics i sitt eget format. Grafana pratar med varje databas på dess eget frågespråk - dem tittar vi närmare på nästa kväll. Nu går vi igenom komponenterna en och 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går vi igenom komponenterna en och en: först flödet som helhet, sedan collectorn, de tre databaserna, Grafana och Faro.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Följ pilarna. TelemetryApi skickar OTLP direkt till otel-collectorn. Webbläsaren kan inte prata OTLP lika enkelt, så Faro skickar sitt eget format till faro-collectorn, som översätter till OTLP och skickar vidare. otel-collectorn fördelar: traces till Tempo, metrics till Prometheus, loggar till Loki. Grafana läser från alla tre. De två markerade rutorna är där ni kommer att vara: collectorn som allt passerar, och Grafana där ni tittar.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Collectorns konfiguration är en ConfigMap. Varje signal har en pipeline: receivers tar emot, processors bearbetar, exporters skickar vidare. k8sattributes är markerad eftersom den är Kubernetes-magin: collectorn frågar API-servern vem som skickade datan och lägger till poddnamn och namespace. Därför behöver den ett ServiceAccount med läsrättigheter - det finns i samma fil. Notera att metrics inte skickas till Prometheus - Prometheus hämtar dem själv från port 8889.</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är Grafanas databas för traces. Den stora poängen är att den inte indexerar innehållet - den sparar spansen billigt och letar upp dem via trace_id. Det gör att man har råd att spara alla traces. Metrics-generatorn är påslagen hos oss: den räknar ut vilka tjänster som anropar varandra och skickar det som metrics till Prometheus. Nästa: Loki, som gör samma sak för loggar.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Loki är byggt med samma idé som Prometheus: indexera lite, lagra billigt. Bara labels indexeras; själva texten söks igenom vid frågan. Structured metadata är det som gör att trace_id kan sparas på varje rad utan att bli en label. SingleBinary betyder att allt körs i en podd - perfekt för en utvecklarmiljö. Nästa: Prometheus.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Prometheus är skillnaden i stacken: den hämtar data istället för att ta emot. Chartens standardjobb letar efter Services och poddar med annotationen prometheus.io/scrape. Collectorn exponerar appernas metrics på 8889, så annotationen sitter på dess Service. MySQL-, NATS- och Redis-exportörerna från Infra har samma annotation och dyker upp automatiskt. Nästa: Grafana.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Grafana är fönstret. Den lagrar inget eget; den frågar de tre databaserna. Det värdefulla är kopplingarna, som redan är konfigurerade i grafana-values.yaml: från ett span till loggarna för samma trace, och tillbaka. Hur man bygger dashboards och skriver frågor är nästa kvälls ämne - ikväll räcker det att logga in och se att datakällorna fungerar. Nästa: Faro.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Faro är det som gör att traces börjar i webbläsaren och inte först i API:t. SDK:n i appen skickar sitt eget format; faro-collectorn är en vanlig OpenTelemetry Collector med en faro-receiver som översätter till OTLP. Därifrån går det samma väg som allt annat. Vi når den via nginx på /faro, samma knep som för /api. Sist en sammanfattning av alla komponenter.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Sammanfatta komponenterna med tabellen. Två collectorer är egna manifest, de fyra databaserna och Grafana installeras med Helm. Kolumnen med Service-namn är viktig: Helm döper Services efter releasen. Att otel-collectorn pekade på 'tempo' istället för 'telemetry-tempo' var ett av felen vi rättade inför kvällen - mer om det i installationsdelen, som kommer nu.</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Praktisk del. Vi kör installationsskriptet tillsammans och går igenom de fel som fanns i filerna innan de rättades - de är lärorika.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Samma mönster som deploy-infra.ps1: repos, helm upgrade --install med en values-fil per komponent, sedan kubectl apply för det som inte är Helm-charts. Nytt är steg 2, certifikaten. Installera mkcert först och öppna en ny terminal. Första körningen tar några minuter - följ gärna med i k9s.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Varför HTTPS lokalt? Grafana och Faro beter sig bättre, och det är så det ser ut i produktion. mkcert löser det utan varningar genom en egen rot-CA som bara er dator litar på. TLSStore med namnet default är markerad: den måste ligga i kube-system, samma namespace som Traefik. Tidigare hänvisade filen till ett skript som inte fanns - nu gör deploy-telemetry.ps1 jobbet.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Lägg in alla rader i hosts-filen på en gång, inklusive de två apparna vi deployar senare. Logga in i Grafana och visa att de tre datakällorna redan finns - de definieras i grafana-values.yaml, inklusive kopplingarna mellan dem. Öppna Prometheus Targets och leta upp otel-collector; står den som UP är scrapingen rättad. Nu har vi en stack men ingenting som skickar data - dags för API:t.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bygger vi något som skickar telemetri. Ett medvetet enkelt API för Customer, utan CQRS, så att varje rad som har med telemetri att göra syns tydligt.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Visa solution-mappen D:\Kvällskurs\TelemetryApi. API:t är minimalt: Minimal API, EF Core mot en egen databas customers i samma MySQL som tidigare. Filerna i listan är de som har med telemetri att göra - resten är vanlig CRUD. Vi går igenom dem i den ordningen.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Två paket är grunden: hosting-integrationen och OTLP-exportern. Resten är instrumentering - färdiga bibliotek som lyssnar på det ASP.NET Core, HttpClient och EF Core redan rapporterar internt. EF Core-paketet är markerat: det är det som ger SQL-frågorna som egna spans, och det är fortfarande i beta, vilket syns på versionsnumret.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Gå igenom uppifrån. Resource beskriver tjänsten och följer med varje signal. WithTracing registrerar våra egna spans via AddSource och de automatiska instrumenteringarna. WithMetrics motsvarande för metrics. WithLogging kopplar vanlig ILogger till OpenTelemetry - ni loggar som vanligt. Sist UseOtlpExporter, som läser adressen från konfigurationen. Är adressen inte satt exporteras inget, så appen fungerar även utan stack.</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Istället för egna inställningar använder vi OpenTelemetrys standardiserade miljövariabler, som alla SDK:er förstår. De kommer från telemetry-sektionen i values.yaml. Adressen pekar på collectorn i ett annat namespace - därför det fulla namnet med .monitoring.svc.cluster.local. Det markerade tricket: Kubernetes fyller i poddens namn via fieldRef, och $(K8S_POD_NAME) bygger in det i resource-attributen. Med två repliker ser ni då två instanser.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Automatisk instrumentering täcker HTTP och SQL. För det som är unikt för er domän skapar ni egna. ActivitySource ger spans, Meter ger metrics - båda från System.Diagnostics. Namnet måste registreras med AddSource och AddMeter, annars ignoreras de. Taggar läggs antingen på ett eget span eller på det span ASP.NET Core redan startat, via Activity.Current. Den markerade rutan förklarar namnet ni ska söka på i Prometheus senare.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 loggar precis som vanligt med ILogger - skillnaden är vart det tar vägen. Använd alltid meddelandemallar med {Namn}, aldrig stränginterpolering, så blir varje värde ett sökbart fält. OpenTelemetry lägger till trace_id och span_id automatiskt. Den markerade rutan är det som gör loggar och traces till ett: i Grafana är trace_id en länk - konfigurerad i grafana-values.yaml under derivedFields. Hur man använder den tittar vi på nästa kväll.</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gör alla samma sak. setup-db.ps1 skapar databasen och användaren, build.ps1 bygger imagen utan Dockerfile och installerar med Helm - exakt som för CQRS. Tabellen skapar API:t själv. Kör sedan några anrop från TelemetryApi.http, inklusive de två demo-anropen. Vänta med Grafana - först lägger vi till klienten, så att vi får hela kedjan.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Samma upplägg som CQRSClient förra gången - nginx, proxy och Helm - men med Faro, så att traces börjar redan i webbläsaren.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Faro är Grafanas SDK för webbläsaren. getWebInstrumentations ger fel, konsolloggar, Web Vitals och sidvisningar utan extra kod. TracingInstrumentation är den markerade: den skapar ett span för varje HTTP-anrop och lägger på headern traceparent. Det är den headern som gör att API:ts span blir ett barn till webbläsarens span. Faro startas i main.ts före Angular, så att även fel under uppstarten fångas.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Samma knep som förra gången, nu med två proxies. /api går till TelemetryApi - och traceparent-headern följer med automatiskt, nginx rör den inte. /faro går till faro-collectorn i namespace monitoring. Eftersom allt går via samma adress behövs ingen CORS och inget certifikat för faro.local i webbläsaren. Adresserna kommer från Helm-values via envsubst, precis som API-nyckeln i CQRSClient.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Deploya klienten och öppna customerclient.local. Be alla klicka runt en stund så att det finns data - skapa några kunder och tryck på de två demoknapparna. Öppna sedan utvecklarverktygen och visa traceparent-headern: det långa hex-värdet i mitten är trace_id, och det är det ni kan söka på i Tempo. Nästa bild: kommer datan fram?</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 avslutar praktiken med att bekräfta att alla tre signalerna kommer fram - inte mer än så ikväll. Kör de tre kontrollerna i Explore. Hittar ni en trace från customer-client med API:ts span under, fungerar hela kedjan. Saknas något: felsök i signalens riktning, och börja i collectorns logg. Att verkligen använda datan - frågespråken, kopplingarna och dashboards - är nästa kväll.</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Kör som muntlig quiz. Den markerade rutan, traceparent, är den lilla header som gör att webbläsare, API och databas blir en enda trace. Be någon förklara vägen för ett klick i CustomerClient - genom nginx, API, EF Core - och var varje del av telemetrin hamnar.</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Nästa kväll handlar om första raden: att använda telemetrin. Vi bygger dashboards, skriver frågor i de tre frågespråken och använder kopplingarna mellan signalerna för att felsöka. Dashboards är markerad eftersom det är huvudnumret. Andra raden är saker vi kommer till senare i kursen - ConfigMaps, Secrets och Sealed Secrets bland annat. Be alla låta stacken och apparna ligga kvar i klustret till nästa gång.</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Öppna för frågor. Bra fråga att ta med till nästa gång: en användare säger att det tog tio sekunder att spara en kund i går eftermiddag. Vilken av de tre signalerna börjar ni med, och hur tar ni er vidare? Det är precis vad vi övar nästa kväll.</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8229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KUBERNETES-KURS · KVÄLL 5 AV 8</a:t>
            </a:r>
            <a:endParaRPr lang="en-US" sz="1200" dirty="0"/>
          </a:p>
        </p:txBody>
      </p:sp>
      <p:sp>
        <p:nvSpPr>
          <p:cNvPr id="3" name="Text 1"/>
          <p:cNvSpPr txBox="1"/>
          <p:nvPr/>
        </p:nvSpPr>
        <p:spPr>
          <a:xfrm>
            <a:off x="548640" y="1234440"/>
            <a:ext cx="11094415" cy="1097280"/>
          </a:xfrm>
          <a:prstGeom prst="rect">
            <a:avLst/>
          </a:prstGeom>
          <a:noFill/>
          <a:ln/>
        </p:spPr>
        <p:txBody>
          <a:bodyPr wrap="square" lIns="0" tIns="0" rIns="0" bIns="0" rtlCol="0" anchor="ctr"/>
          <a:lstStyle/>
          <a:p>
            <a:pPr marL="0" indent="0">
              <a:buNone/>
            </a:pPr>
            <a:r>
              <a:rPr lang="en-US" sz="6000" b="1" dirty="0">
                <a:solidFill>
                  <a:srgbClr val="F5F7FA"/>
                </a:solidFill>
                <a:latin typeface="Calibri" pitchFamily="34" charset="0"/>
                <a:ea typeface="Calibri" pitchFamily="34" charset="-122"/>
                <a:cs typeface="Calibri" pitchFamily="34" charset="-120"/>
              </a:rPr>
              <a:t>Telemetri med OpenTelemetry</a:t>
            </a:r>
            <a:endParaRPr lang="en-US" sz="6000" dirty="0"/>
          </a:p>
        </p:txBody>
      </p:sp>
      <p:sp>
        <p:nvSpPr>
          <p:cNvPr id="4" name="Text 2"/>
          <p:cNvSpPr txBox="1"/>
          <p:nvPr/>
        </p:nvSpPr>
        <p:spPr>
          <a:xfrm>
            <a:off x="548640" y="2514600"/>
            <a:ext cx="9601200" cy="914400"/>
          </a:xfrm>
          <a:prstGeom prst="rect">
            <a:avLst/>
          </a:prstGeom>
          <a:noFill/>
          <a:ln/>
        </p:spPr>
        <p:txBody>
          <a:bodyPr wrap="square" lIns="0" tIns="0" rIns="0" bIns="0" rtlCol="0" anchor="t"/>
          <a:lstStyle/>
          <a:p>
            <a:pPr marL="0" indent="0">
              <a:lnSpc>
                <a:spcPct val="130000"/>
              </a:lnSpc>
              <a:buNone/>
            </a:pPr>
            <a:r>
              <a:rPr lang="en-US" sz="2000" dirty="0">
                <a:solidFill>
                  <a:srgbClr val="B9C4D1"/>
                </a:solidFill>
                <a:latin typeface="Arial" pitchFamily="34" charset="0"/>
                <a:ea typeface="Arial" pitchFamily="34" charset="-122"/>
                <a:cs typeface="Arial" pitchFamily="34" charset="-120"/>
              </a:rPr>
              <a:t>Komponenterna, standarden som får dem att samverka - och hur ett API och en frontend skickar traces, metrics och loggar till dem</a:t>
            </a:r>
            <a:endParaRPr lang="en-US" sz="2000" dirty="0"/>
          </a:p>
        </p:txBody>
      </p:sp>
      <p:sp>
        <p:nvSpPr>
          <p:cNvPr id="5" name="Text 3"/>
          <p:cNvSpPr txBox="1"/>
          <p:nvPr/>
        </p:nvSpPr>
        <p:spPr>
          <a:xfrm>
            <a:off x="548640" y="6172200"/>
            <a:ext cx="6400800" cy="320040"/>
          </a:xfrm>
          <a:prstGeom prst="rect">
            <a:avLst/>
          </a:prstGeom>
          <a:noFill/>
          <a:ln/>
        </p:spPr>
        <p:txBody>
          <a:bodyPr wrap="square" lIns="0" tIns="0" rIns="0" bIns="0" rtlCol="0" anchor="ctr"/>
          <a:lstStyle/>
          <a:p>
            <a:pPr marL="0" indent="0">
              <a:buNone/>
            </a:pPr>
            <a:r>
              <a:rPr lang="en-US" sz="1400" dirty="0">
                <a:solidFill>
                  <a:srgbClr val="B9C4D1"/>
                </a:solidFill>
                <a:latin typeface="Arial" pitchFamily="34" charset="0"/>
                <a:ea typeface="Arial" pitchFamily="34" charset="-122"/>
                <a:cs typeface="Arial" pitchFamily="34" charset="-120"/>
              </a:rPr>
              <a:t>.NET · Frontend · SQL — Yrkeshögskola</a:t>
            </a:r>
            <a:endParaRPr lang="en-US" sz="1400" dirty="0"/>
          </a:p>
        </p:txBody>
      </p:sp>
      <p:sp>
        <p:nvSpPr>
          <p:cNvPr id="6" name="Text 4"/>
          <p:cNvSpPr txBox="1"/>
          <p:nvPr/>
        </p:nvSpPr>
        <p:spPr>
          <a:xfrm>
            <a:off x="6156655" y="6172200"/>
            <a:ext cx="5486400" cy="320040"/>
          </a:xfrm>
          <a:prstGeom prst="rect">
            <a:avLst/>
          </a:prstGeom>
          <a:noFill/>
          <a:ln/>
        </p:spPr>
        <p:txBody>
          <a:bodyPr wrap="square" lIns="0" tIns="0" rIns="0" bIns="0" rtlCol="0" anchor="ctr"/>
          <a:lstStyle/>
          <a:p>
            <a:pPr marL="0" indent="0" algn="r">
              <a:buNone/>
            </a:pPr>
            <a:r>
              <a:rPr lang="en-US" sz="1400" b="1" dirty="0">
                <a:solidFill>
                  <a:srgbClr val="7C9CFF"/>
                </a:solidFill>
                <a:latin typeface="Arial" pitchFamily="34" charset="0"/>
                <a:ea typeface="Arial" pitchFamily="34" charset="-122"/>
                <a:cs typeface="Arial" pitchFamily="34" charset="-120"/>
              </a:rPr>
              <a:t>Del 5 av 8 · teori + gemensam övning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AGENDA · KVÄLL 5</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Så här bygger vi upp kvällen</a:t>
            </a:r>
            <a:endParaRPr lang="en-US" sz="3000" dirty="0"/>
          </a:p>
        </p:txBody>
      </p:sp>
      <p:sp>
        <p:nvSpPr>
          <p:cNvPr id="4" name="Shape 2"/>
          <p:cNvSpPr/>
          <p:nvPr/>
        </p:nvSpPr>
        <p:spPr>
          <a:xfrm>
            <a:off x="548640" y="1645920"/>
            <a:ext cx="3593592" cy="1554480"/>
          </a:xfrm>
          <a:prstGeom prst="roundRect">
            <a:avLst>
              <a:gd name="adj" fmla="val 35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5" name="Text 3"/>
          <p:cNvSpPr txBox="1"/>
          <p:nvPr/>
        </p:nvSpPr>
        <p:spPr>
          <a:xfrm>
            <a:off x="749808" y="1847088"/>
            <a:ext cx="3191256"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1. Varför telemetri?</a:t>
            </a:r>
            <a:endParaRPr lang="en-US" sz="1600" dirty="0"/>
          </a:p>
        </p:txBody>
      </p:sp>
      <p:sp>
        <p:nvSpPr>
          <p:cNvPr id="6" name="Text 4"/>
          <p:cNvSpPr txBox="1"/>
          <p:nvPr/>
        </p:nvSpPr>
        <p:spPr>
          <a:xfrm>
            <a:off x="749808" y="2231136"/>
            <a:ext cx="3191256" cy="8138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Tre signaler: traces, metrics och loggar</a:t>
            </a:r>
            <a:endParaRPr lang="en-US" sz="1300" dirty="0"/>
          </a:p>
        </p:txBody>
      </p:sp>
      <p:sp>
        <p:nvSpPr>
          <p:cNvPr id="7" name="Shape 5"/>
          <p:cNvSpPr/>
          <p:nvPr/>
        </p:nvSpPr>
        <p:spPr>
          <a:xfrm>
            <a:off x="4297680" y="1645920"/>
            <a:ext cx="3593592" cy="1554480"/>
          </a:xfrm>
          <a:prstGeom prst="roundRect">
            <a:avLst>
              <a:gd name="adj" fmla="val 35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8" name="Text 6"/>
          <p:cNvSpPr txBox="1"/>
          <p:nvPr/>
        </p:nvSpPr>
        <p:spPr>
          <a:xfrm>
            <a:off x="4498848" y="1847088"/>
            <a:ext cx="3191256"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2. OpenTelemetry</a:t>
            </a:r>
            <a:endParaRPr lang="en-US" sz="1600" dirty="0"/>
          </a:p>
        </p:txBody>
      </p:sp>
      <p:sp>
        <p:nvSpPr>
          <p:cNvPr id="9" name="Text 7"/>
          <p:cNvSpPr txBox="1"/>
          <p:nvPr/>
        </p:nvSpPr>
        <p:spPr>
          <a:xfrm>
            <a:off x="4498848" y="2231136"/>
            <a:ext cx="3191256" cy="8138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Standarden som får komponenterna att samverka</a:t>
            </a:r>
            <a:endParaRPr lang="en-US" sz="1300" dirty="0"/>
          </a:p>
        </p:txBody>
      </p:sp>
      <p:sp>
        <p:nvSpPr>
          <p:cNvPr id="10" name="Shape 8"/>
          <p:cNvSpPr/>
          <p:nvPr/>
        </p:nvSpPr>
        <p:spPr>
          <a:xfrm>
            <a:off x="8046720" y="1645920"/>
            <a:ext cx="3593592" cy="1554480"/>
          </a:xfrm>
          <a:prstGeom prst="roundRect">
            <a:avLst>
              <a:gd name="adj" fmla="val 35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8247888" y="1847088"/>
            <a:ext cx="3191256"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3. Komponenterna</a:t>
            </a:r>
            <a:endParaRPr lang="en-US" sz="1600" dirty="0"/>
          </a:p>
        </p:txBody>
      </p:sp>
      <p:sp>
        <p:nvSpPr>
          <p:cNvPr id="12" name="Text 10"/>
          <p:cNvSpPr txBox="1"/>
          <p:nvPr/>
        </p:nvSpPr>
        <p:spPr>
          <a:xfrm>
            <a:off x="8247888" y="2231136"/>
            <a:ext cx="3191256" cy="8138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otel-collector, Tempo, Loki, Prometheus, Grafana och Faro</a:t>
            </a:r>
            <a:endParaRPr lang="en-US" sz="1300" dirty="0"/>
          </a:p>
        </p:txBody>
      </p:sp>
      <p:sp>
        <p:nvSpPr>
          <p:cNvPr id="13" name="Shape 11"/>
          <p:cNvSpPr/>
          <p:nvPr/>
        </p:nvSpPr>
        <p:spPr>
          <a:xfrm>
            <a:off x="548640" y="3429000"/>
            <a:ext cx="3593592" cy="1554480"/>
          </a:xfrm>
          <a:prstGeom prst="roundRect">
            <a:avLst>
              <a:gd name="adj" fmla="val 35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749808" y="3630168"/>
            <a:ext cx="3191256"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4. Installation</a:t>
            </a:r>
            <a:endParaRPr lang="en-US" sz="1600" dirty="0"/>
          </a:p>
        </p:txBody>
      </p:sp>
      <p:sp>
        <p:nvSpPr>
          <p:cNvPr id="15" name="Text 13"/>
          <p:cNvSpPr txBox="1"/>
          <p:nvPr/>
        </p:nvSpPr>
        <p:spPr>
          <a:xfrm>
            <a:off x="749808" y="4014216"/>
            <a:ext cx="3191256" cy="8138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deploy-telemetry.ps1, certifikat med mkcert och hosts-filen</a:t>
            </a:r>
            <a:endParaRPr lang="en-US" sz="1300" dirty="0"/>
          </a:p>
        </p:txBody>
      </p:sp>
      <p:sp>
        <p:nvSpPr>
          <p:cNvPr id="16" name="Shape 14"/>
          <p:cNvSpPr/>
          <p:nvPr/>
        </p:nvSpPr>
        <p:spPr>
          <a:xfrm>
            <a:off x="4297680" y="3429000"/>
            <a:ext cx="3593592" cy="1554480"/>
          </a:xfrm>
          <a:prstGeom prst="roundRect">
            <a:avLst>
              <a:gd name="adj" fmla="val 35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7" name="Text 15"/>
          <p:cNvSpPr txBox="1"/>
          <p:nvPr/>
        </p:nvSpPr>
        <p:spPr>
          <a:xfrm>
            <a:off x="4498848" y="3630168"/>
            <a:ext cx="3191256"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5. TelemetryApi</a:t>
            </a:r>
            <a:endParaRPr lang="en-US" sz="1600" dirty="0"/>
          </a:p>
        </p:txBody>
      </p:sp>
      <p:sp>
        <p:nvSpPr>
          <p:cNvPr id="18" name="Text 16"/>
          <p:cNvSpPr txBox="1"/>
          <p:nvPr/>
        </p:nvSpPr>
        <p:spPr>
          <a:xfrm>
            <a:off x="4498848" y="4014216"/>
            <a:ext cx="3191256" cy="8138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Ett enkelt CRUD-API i .NET med OpenTelemetry</a:t>
            </a:r>
            <a:endParaRPr lang="en-US" sz="1300" dirty="0"/>
          </a:p>
        </p:txBody>
      </p:sp>
      <p:sp>
        <p:nvSpPr>
          <p:cNvPr id="19" name="Shape 17"/>
          <p:cNvSpPr/>
          <p:nvPr/>
        </p:nvSpPr>
        <p:spPr>
          <a:xfrm>
            <a:off x="8046720" y="3429000"/>
            <a:ext cx="3593592" cy="1554480"/>
          </a:xfrm>
          <a:prstGeom prst="roundRect">
            <a:avLst>
              <a:gd name="adj" fmla="val 35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0" name="Text 18"/>
          <p:cNvSpPr txBox="1"/>
          <p:nvPr/>
        </p:nvSpPr>
        <p:spPr>
          <a:xfrm>
            <a:off x="8247888" y="3630168"/>
            <a:ext cx="3191256"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6. CustomerClient</a:t>
            </a:r>
            <a:endParaRPr lang="en-US" sz="1600" dirty="0"/>
          </a:p>
        </p:txBody>
      </p:sp>
      <p:sp>
        <p:nvSpPr>
          <p:cNvPr id="21" name="Text 19"/>
          <p:cNvSpPr txBox="1"/>
          <p:nvPr/>
        </p:nvSpPr>
        <p:spPr>
          <a:xfrm>
            <a:off x="8247888" y="4014216"/>
            <a:ext cx="3191256" cy="8138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Angular med Grafana Faro - telemetri från webbläsaren</a:t>
            </a:r>
            <a:endParaRPr lang="en-US" sz="1300" dirty="0"/>
          </a:p>
        </p:txBody>
      </p:sp>
      <p:sp>
        <p:nvSpPr>
          <p:cNvPr id="22" name="Text 20"/>
          <p:cNvSpPr txBox="1"/>
          <p:nvPr/>
        </p:nvSpPr>
        <p:spPr>
          <a:xfrm>
            <a:off x="548640" y="5440680"/>
            <a:ext cx="11094415" cy="548640"/>
          </a:xfrm>
          <a:prstGeom prst="rect">
            <a:avLst/>
          </a:prstGeom>
          <a:noFill/>
          <a:ln/>
        </p:spPr>
        <p:txBody>
          <a:bodyPr wrap="square" lIns="0" tIns="0" rIns="0" bIns="0" rtlCol="0" anchor="t"/>
          <a:lstStyle/>
          <a:p>
            <a:pPr marL="0" indent="0">
              <a:lnSpc>
                <a:spcPct val="120000"/>
              </a:lnSpc>
              <a:buNone/>
            </a:pPr>
            <a:r>
              <a:rPr lang="en-US" sz="1400" dirty="0">
                <a:solidFill>
                  <a:srgbClr val="4A5568"/>
                </a:solidFill>
                <a:latin typeface="Arial" pitchFamily="34" charset="0"/>
                <a:ea typeface="Arial" pitchFamily="34" charset="-122"/>
                <a:cs typeface="Arial" pitchFamily="34" charset="-120"/>
              </a:rPr>
              <a:t>Del 1-3 är teori, del 4-6 gör vi tillsammans. Nästa kväll använder vi telemetrin: dashboards och frågor i Grafana.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MÅLBILD</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När ni går hem ikväll har ni…</a:t>
            </a:r>
            <a:endParaRPr lang="en-US" sz="3000" dirty="0"/>
          </a:p>
        </p:txBody>
      </p:sp>
      <p:sp>
        <p:nvSpPr>
          <p:cNvPr id="4" name="Shape 2"/>
          <p:cNvSpPr/>
          <p:nvPr/>
        </p:nvSpPr>
        <p:spPr>
          <a:xfrm>
            <a:off x="548640" y="1737360"/>
            <a:ext cx="2651760" cy="2103120"/>
          </a:xfrm>
          <a:prstGeom prst="roundRect">
            <a:avLst>
              <a:gd name="adj" fmla="val 2609"/>
            </a:avLst>
          </a:prstGeom>
          <a:solidFill>
            <a:srgbClr val="16294A"/>
          </a:solidFill>
          <a:ln w="12700">
            <a:solidFill>
              <a:srgbClr val="16294A"/>
            </a:solidFill>
            <a:prstDash val="solid"/>
          </a:ln>
        </p:spPr>
      </p:sp>
      <p:sp>
        <p:nvSpPr>
          <p:cNvPr id="5" name="Text 3"/>
          <p:cNvSpPr txBox="1"/>
          <p:nvPr/>
        </p:nvSpPr>
        <p:spPr>
          <a:xfrm>
            <a:off x="749808" y="1938528"/>
            <a:ext cx="2249424" cy="274320"/>
          </a:xfrm>
          <a:prstGeom prst="rect">
            <a:avLst/>
          </a:prstGeom>
          <a:noFill/>
          <a:ln/>
        </p:spPr>
        <p:txBody>
          <a:bodyPr wrap="square" lIns="0" tIns="0" rIns="0" bIns="0" rtlCol="0" anchor="ctr"/>
          <a:lstStyle/>
          <a:p>
            <a:pPr marL="0" indent="0">
              <a:buNone/>
            </a:pPr>
            <a:r>
              <a:rPr lang="en-US" sz="1100" b="1" kern="0" spc="200" dirty="0">
                <a:solidFill>
                  <a:srgbClr val="7C9CFF"/>
                </a:solidFill>
                <a:latin typeface="Arial" pitchFamily="34" charset="0"/>
                <a:ea typeface="Arial" pitchFamily="34" charset="-122"/>
                <a:cs typeface="Arial" pitchFamily="34" charset="-120"/>
              </a:rPr>
              <a:t>01</a:t>
            </a:r>
            <a:endParaRPr lang="en-US" sz="1100" dirty="0"/>
          </a:p>
        </p:txBody>
      </p:sp>
      <p:sp>
        <p:nvSpPr>
          <p:cNvPr id="6" name="Text 4"/>
          <p:cNvSpPr txBox="1"/>
          <p:nvPr/>
        </p:nvSpPr>
        <p:spPr>
          <a:xfrm>
            <a:off x="749808" y="2231136"/>
            <a:ext cx="2249424" cy="320040"/>
          </a:xfrm>
          <a:prstGeom prst="rect">
            <a:avLst/>
          </a:prstGeom>
          <a:noFill/>
          <a:ln/>
        </p:spPr>
        <p:txBody>
          <a:bodyPr wrap="square" lIns="0" tIns="0" rIns="0" bIns="0" rtlCol="0" anchor="t"/>
          <a:lstStyle/>
          <a:p>
            <a:pPr marL="0" indent="0">
              <a:buNone/>
            </a:pPr>
            <a:r>
              <a:rPr lang="en-US" sz="1600" b="1" dirty="0">
                <a:solidFill>
                  <a:srgbClr val="F5F7FA"/>
                </a:solidFill>
                <a:latin typeface="Calibri" pitchFamily="34" charset="0"/>
                <a:ea typeface="Calibri" pitchFamily="34" charset="-122"/>
                <a:cs typeface="Calibri" pitchFamily="34" charset="-120"/>
              </a:rPr>
              <a:t>Stacken</a:t>
            </a:r>
            <a:endParaRPr lang="en-US" sz="1600" dirty="0"/>
          </a:p>
        </p:txBody>
      </p:sp>
      <p:sp>
        <p:nvSpPr>
          <p:cNvPr id="7" name="Text 5"/>
          <p:cNvSpPr txBox="1"/>
          <p:nvPr/>
        </p:nvSpPr>
        <p:spPr>
          <a:xfrm>
            <a:off x="749808" y="2615184"/>
            <a:ext cx="2249424" cy="1069848"/>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Tempo, Loki, Prometheus och Grafana i namespace monitoring</a:t>
            </a:r>
            <a:endParaRPr lang="en-US" sz="1300" dirty="0"/>
          </a:p>
        </p:txBody>
      </p:sp>
      <p:sp>
        <p:nvSpPr>
          <p:cNvPr id="8" name="Shape 6"/>
          <p:cNvSpPr/>
          <p:nvPr/>
        </p:nvSpPr>
        <p:spPr>
          <a:xfrm>
            <a:off x="3362249" y="1737360"/>
            <a:ext cx="2651760" cy="2103120"/>
          </a:xfrm>
          <a:prstGeom prst="roundRect">
            <a:avLst>
              <a:gd name="adj" fmla="val 2609"/>
            </a:avLst>
          </a:prstGeom>
          <a:solidFill>
            <a:srgbClr val="16294A"/>
          </a:solidFill>
          <a:ln w="12700">
            <a:solidFill>
              <a:srgbClr val="16294A"/>
            </a:solidFill>
            <a:prstDash val="solid"/>
          </a:ln>
        </p:spPr>
      </p:sp>
      <p:sp>
        <p:nvSpPr>
          <p:cNvPr id="9" name="Text 7"/>
          <p:cNvSpPr txBox="1"/>
          <p:nvPr/>
        </p:nvSpPr>
        <p:spPr>
          <a:xfrm>
            <a:off x="3563417" y="1938528"/>
            <a:ext cx="2249424" cy="274320"/>
          </a:xfrm>
          <a:prstGeom prst="rect">
            <a:avLst/>
          </a:prstGeom>
          <a:noFill/>
          <a:ln/>
        </p:spPr>
        <p:txBody>
          <a:bodyPr wrap="square" lIns="0" tIns="0" rIns="0" bIns="0" rtlCol="0" anchor="ctr"/>
          <a:lstStyle/>
          <a:p>
            <a:pPr marL="0" indent="0">
              <a:buNone/>
            </a:pPr>
            <a:r>
              <a:rPr lang="en-US" sz="1100" b="1" kern="0" spc="200" dirty="0">
                <a:solidFill>
                  <a:srgbClr val="7C9CFF"/>
                </a:solidFill>
                <a:latin typeface="Arial" pitchFamily="34" charset="0"/>
                <a:ea typeface="Arial" pitchFamily="34" charset="-122"/>
                <a:cs typeface="Arial" pitchFamily="34" charset="-120"/>
              </a:rPr>
              <a:t>02</a:t>
            </a:r>
            <a:endParaRPr lang="en-US" sz="1100" dirty="0"/>
          </a:p>
        </p:txBody>
      </p:sp>
      <p:sp>
        <p:nvSpPr>
          <p:cNvPr id="10" name="Text 8"/>
          <p:cNvSpPr txBox="1"/>
          <p:nvPr/>
        </p:nvSpPr>
        <p:spPr>
          <a:xfrm>
            <a:off x="3563417" y="2231136"/>
            <a:ext cx="2249424" cy="320040"/>
          </a:xfrm>
          <a:prstGeom prst="rect">
            <a:avLst/>
          </a:prstGeom>
          <a:noFill/>
          <a:ln/>
        </p:spPr>
        <p:txBody>
          <a:bodyPr wrap="square" lIns="0" tIns="0" rIns="0" bIns="0" rtlCol="0" anchor="t"/>
          <a:lstStyle/>
          <a:p>
            <a:pPr marL="0" indent="0">
              <a:buNone/>
            </a:pPr>
            <a:r>
              <a:rPr lang="en-US" sz="1600" b="1" dirty="0">
                <a:solidFill>
                  <a:srgbClr val="F5F7FA"/>
                </a:solidFill>
                <a:latin typeface="Calibri" pitchFamily="34" charset="0"/>
                <a:ea typeface="Calibri" pitchFamily="34" charset="-122"/>
                <a:cs typeface="Calibri" pitchFamily="34" charset="-120"/>
              </a:rPr>
              <a:t>TelemetryApi</a:t>
            </a:r>
            <a:endParaRPr lang="en-US" sz="1600" dirty="0"/>
          </a:p>
        </p:txBody>
      </p:sp>
      <p:sp>
        <p:nvSpPr>
          <p:cNvPr id="11" name="Text 9"/>
          <p:cNvSpPr txBox="1"/>
          <p:nvPr/>
        </p:nvSpPr>
        <p:spPr>
          <a:xfrm>
            <a:off x="3563417" y="2615184"/>
            <a:ext cx="2249424" cy="1069848"/>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CRUD för Customer med traces, metrics och loggar via OTLP</a:t>
            </a:r>
            <a:endParaRPr lang="en-US" sz="1300" dirty="0"/>
          </a:p>
        </p:txBody>
      </p:sp>
      <p:sp>
        <p:nvSpPr>
          <p:cNvPr id="12" name="Shape 10"/>
          <p:cNvSpPr/>
          <p:nvPr/>
        </p:nvSpPr>
        <p:spPr>
          <a:xfrm>
            <a:off x="6175858" y="1737360"/>
            <a:ext cx="2651760" cy="2103120"/>
          </a:xfrm>
          <a:prstGeom prst="roundRect">
            <a:avLst>
              <a:gd name="adj" fmla="val 2609"/>
            </a:avLst>
          </a:prstGeom>
          <a:solidFill>
            <a:srgbClr val="16294A"/>
          </a:solidFill>
          <a:ln w="12700">
            <a:solidFill>
              <a:srgbClr val="16294A"/>
            </a:solidFill>
            <a:prstDash val="solid"/>
          </a:ln>
        </p:spPr>
      </p:sp>
      <p:sp>
        <p:nvSpPr>
          <p:cNvPr id="13" name="Text 11"/>
          <p:cNvSpPr txBox="1"/>
          <p:nvPr/>
        </p:nvSpPr>
        <p:spPr>
          <a:xfrm>
            <a:off x="6377026" y="1938528"/>
            <a:ext cx="2249424" cy="274320"/>
          </a:xfrm>
          <a:prstGeom prst="rect">
            <a:avLst/>
          </a:prstGeom>
          <a:noFill/>
          <a:ln/>
        </p:spPr>
        <p:txBody>
          <a:bodyPr wrap="square" lIns="0" tIns="0" rIns="0" bIns="0" rtlCol="0" anchor="ctr"/>
          <a:lstStyle/>
          <a:p>
            <a:pPr marL="0" indent="0">
              <a:buNone/>
            </a:pPr>
            <a:r>
              <a:rPr lang="en-US" sz="1100" b="1" kern="0" spc="200" dirty="0">
                <a:solidFill>
                  <a:srgbClr val="7C9CFF"/>
                </a:solidFill>
                <a:latin typeface="Arial" pitchFamily="34" charset="0"/>
                <a:ea typeface="Arial" pitchFamily="34" charset="-122"/>
                <a:cs typeface="Arial" pitchFamily="34" charset="-120"/>
              </a:rPr>
              <a:t>03</a:t>
            </a:r>
            <a:endParaRPr lang="en-US" sz="1100" dirty="0"/>
          </a:p>
        </p:txBody>
      </p:sp>
      <p:sp>
        <p:nvSpPr>
          <p:cNvPr id="14" name="Text 12"/>
          <p:cNvSpPr txBox="1"/>
          <p:nvPr/>
        </p:nvSpPr>
        <p:spPr>
          <a:xfrm>
            <a:off x="6377026" y="2231136"/>
            <a:ext cx="2249424" cy="320040"/>
          </a:xfrm>
          <a:prstGeom prst="rect">
            <a:avLst/>
          </a:prstGeom>
          <a:noFill/>
          <a:ln/>
        </p:spPr>
        <p:txBody>
          <a:bodyPr wrap="square" lIns="0" tIns="0" rIns="0" bIns="0" rtlCol="0" anchor="t"/>
          <a:lstStyle/>
          <a:p>
            <a:pPr marL="0" indent="0">
              <a:buNone/>
            </a:pPr>
            <a:r>
              <a:rPr lang="en-US" sz="1600" b="1" dirty="0">
                <a:solidFill>
                  <a:srgbClr val="F5F7FA"/>
                </a:solidFill>
                <a:latin typeface="Calibri" pitchFamily="34" charset="0"/>
                <a:ea typeface="Calibri" pitchFamily="34" charset="-122"/>
                <a:cs typeface="Calibri" pitchFamily="34" charset="-120"/>
              </a:rPr>
              <a:t>CustomerClient</a:t>
            </a:r>
            <a:endParaRPr lang="en-US" sz="1600" dirty="0"/>
          </a:p>
        </p:txBody>
      </p:sp>
      <p:sp>
        <p:nvSpPr>
          <p:cNvPr id="15" name="Text 13"/>
          <p:cNvSpPr txBox="1"/>
          <p:nvPr/>
        </p:nvSpPr>
        <p:spPr>
          <a:xfrm>
            <a:off x="6377026" y="2615184"/>
            <a:ext cx="2249424" cy="1069848"/>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Angular-appen skickar webbläsartelemetri via Faro</a:t>
            </a:r>
            <a:endParaRPr lang="en-US" sz="1300" dirty="0"/>
          </a:p>
        </p:txBody>
      </p:sp>
      <p:sp>
        <p:nvSpPr>
          <p:cNvPr id="16" name="Shape 14"/>
          <p:cNvSpPr/>
          <p:nvPr/>
        </p:nvSpPr>
        <p:spPr>
          <a:xfrm>
            <a:off x="8989466" y="1737360"/>
            <a:ext cx="2651760" cy="2103120"/>
          </a:xfrm>
          <a:prstGeom prst="roundRect">
            <a:avLst>
              <a:gd name="adj" fmla="val 2609"/>
            </a:avLst>
          </a:prstGeom>
          <a:solidFill>
            <a:srgbClr val="3762FF"/>
          </a:solidFill>
          <a:ln w="12700">
            <a:solidFill>
              <a:srgbClr val="3762FF"/>
            </a:solidFill>
            <a:prstDash val="solid"/>
          </a:ln>
        </p:spPr>
      </p:sp>
      <p:sp>
        <p:nvSpPr>
          <p:cNvPr id="17" name="Text 15"/>
          <p:cNvSpPr txBox="1"/>
          <p:nvPr/>
        </p:nvSpPr>
        <p:spPr>
          <a:xfrm>
            <a:off x="9190634" y="1938528"/>
            <a:ext cx="2249424" cy="274320"/>
          </a:xfrm>
          <a:prstGeom prst="rect">
            <a:avLst/>
          </a:prstGeom>
          <a:noFill/>
          <a:ln/>
        </p:spPr>
        <p:txBody>
          <a:bodyPr wrap="square" lIns="0" tIns="0" rIns="0" bIns="0" rtlCol="0" anchor="ctr"/>
          <a:lstStyle/>
          <a:p>
            <a:pPr marL="0" indent="0">
              <a:buNone/>
            </a:pPr>
            <a:r>
              <a:rPr lang="en-US" sz="1100" b="1" kern="0" spc="200" dirty="0">
                <a:solidFill>
                  <a:srgbClr val="FFFFFF"/>
                </a:solidFill>
                <a:latin typeface="Arial" pitchFamily="34" charset="0"/>
                <a:ea typeface="Arial" pitchFamily="34" charset="-122"/>
                <a:cs typeface="Arial" pitchFamily="34" charset="-120"/>
              </a:rPr>
              <a:t>04</a:t>
            </a:r>
            <a:endParaRPr lang="en-US" sz="1100" dirty="0"/>
          </a:p>
        </p:txBody>
      </p:sp>
      <p:sp>
        <p:nvSpPr>
          <p:cNvPr id="18" name="Text 16"/>
          <p:cNvSpPr txBox="1"/>
          <p:nvPr/>
        </p:nvSpPr>
        <p:spPr>
          <a:xfrm>
            <a:off x="9190634" y="2231136"/>
            <a:ext cx="2249424"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Data i Grafana</a:t>
            </a:r>
            <a:endParaRPr lang="en-US" sz="1600" dirty="0"/>
          </a:p>
        </p:txBody>
      </p:sp>
      <p:sp>
        <p:nvSpPr>
          <p:cNvPr id="19" name="Text 17"/>
          <p:cNvSpPr txBox="1"/>
          <p:nvPr/>
        </p:nvSpPr>
        <p:spPr>
          <a:xfrm>
            <a:off x="9190634" y="2615184"/>
            <a:ext cx="2249424" cy="1069848"/>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Alla tre signalerna kommer fram - att använda dem är nästa kväll</a:t>
            </a:r>
            <a:endParaRPr lang="en-US" sz="1300" dirty="0"/>
          </a:p>
        </p:txBody>
      </p:sp>
      <p:sp>
        <p:nvSpPr>
          <p:cNvPr id="20" name="Text 18"/>
          <p:cNvSpPr txBox="1"/>
          <p:nvPr/>
        </p:nvSpPr>
        <p:spPr>
          <a:xfrm>
            <a:off x="548640" y="4297680"/>
            <a:ext cx="10058400" cy="548640"/>
          </a:xfrm>
          <a:prstGeom prst="rect">
            <a:avLst/>
          </a:prstGeom>
          <a:noFill/>
          <a:ln/>
        </p:spPr>
        <p:txBody>
          <a:bodyPr wrap="square" lIns="0" tIns="0" rIns="0" bIns="0" rtlCol="0" anchor="t"/>
          <a:lstStyle/>
          <a:p>
            <a:pPr marL="0" indent="0">
              <a:lnSpc>
                <a:spcPct val="120000"/>
              </a:lnSpc>
              <a:buNone/>
            </a:pPr>
            <a:r>
              <a:rPr lang="en-US" sz="1600" dirty="0">
                <a:solidFill>
                  <a:srgbClr val="B9C4D1"/>
                </a:solidFill>
                <a:latin typeface="Arial" pitchFamily="34" charset="0"/>
                <a:ea typeface="Arial" pitchFamily="34" charset="-122"/>
                <a:cs typeface="Arial" pitchFamily="34" charset="-120"/>
              </a:rPr>
              <a:t>Stacken installerar vi en gång - den används av alla appar resten av kursen.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marL="0" indent="0">
              <a:buNone/>
            </a:pPr>
            <a:r>
              <a:rPr lang="en-US" sz="15000" b="1" dirty="0">
                <a:solidFill>
                  <a:srgbClr val="16294A"/>
                </a:solidFill>
                <a:latin typeface="Calibri" pitchFamily="34" charset="0"/>
                <a:ea typeface="Calibri" pitchFamily="34" charset="-122"/>
                <a:cs typeface="Calibri" pitchFamily="34" charset="-120"/>
              </a:rPr>
              <a:t>01</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marL="0" indent="0">
              <a:buNone/>
            </a:pPr>
            <a:r>
              <a:rPr lang="en-US" sz="5200" b="1" dirty="0">
                <a:solidFill>
                  <a:srgbClr val="F5F7FA"/>
                </a:solidFill>
                <a:latin typeface="Calibri" pitchFamily="34" charset="0"/>
                <a:ea typeface="Calibri" pitchFamily="34" charset="-122"/>
                <a:cs typeface="Calibri" pitchFamily="34" charset="-120"/>
              </a:rPr>
              <a:t>Varför telemetri?</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marL="0" indent="0">
              <a:lnSpc>
                <a:spcPct val="120000"/>
              </a:lnSpc>
              <a:buNone/>
            </a:pPr>
            <a:r>
              <a:rPr lang="en-US" sz="1800" dirty="0">
                <a:solidFill>
                  <a:srgbClr val="B9C4D1"/>
                </a:solidFill>
                <a:latin typeface="Arial" pitchFamily="34" charset="0"/>
                <a:ea typeface="Arial" pitchFamily="34" charset="-122"/>
                <a:cs typeface="Arial" pitchFamily="34" charset="-120"/>
              </a:rPr>
              <a:t>Tre signaler som svarar på tre olika frågor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VARFÖR TELEMETRI?</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Tre signaler, tre frågor</a:t>
            </a:r>
            <a:endParaRPr lang="en-US" sz="3000" dirty="0"/>
          </a:p>
        </p:txBody>
      </p:sp>
      <p:sp>
        <p:nvSpPr>
          <p:cNvPr id="4" name="Shape 2"/>
          <p:cNvSpPr/>
          <p:nvPr/>
        </p:nvSpPr>
        <p:spPr>
          <a:xfrm>
            <a:off x="548640" y="1645920"/>
            <a:ext cx="3515258" cy="3108960"/>
          </a:xfrm>
          <a:prstGeom prst="roundRect">
            <a:avLst>
              <a:gd name="adj" fmla="val 1765"/>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5" name="Text 3"/>
          <p:cNvSpPr txBox="1"/>
          <p:nvPr/>
        </p:nvSpPr>
        <p:spPr>
          <a:xfrm>
            <a:off x="777240" y="1874520"/>
            <a:ext cx="3058058"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HUR MÅR SYSTEMET?</a:t>
            </a:r>
            <a:endParaRPr lang="en-US" sz="1100" dirty="0"/>
          </a:p>
        </p:txBody>
      </p:sp>
      <p:sp>
        <p:nvSpPr>
          <p:cNvPr id="6" name="Text 4"/>
          <p:cNvSpPr txBox="1"/>
          <p:nvPr/>
        </p:nvSpPr>
        <p:spPr>
          <a:xfrm>
            <a:off x="777240" y="2194560"/>
            <a:ext cx="3058058" cy="457200"/>
          </a:xfrm>
          <a:prstGeom prst="rect">
            <a:avLst/>
          </a:prstGeom>
          <a:noFill/>
          <a:ln/>
        </p:spPr>
        <p:txBody>
          <a:bodyPr wrap="square" lIns="0" tIns="0" rIns="0" bIns="0" rtlCol="0" anchor="ctr"/>
          <a:lstStyle/>
          <a:p>
            <a:pPr marL="0" indent="0">
              <a:buNone/>
            </a:pPr>
            <a:r>
              <a:rPr lang="en-US" sz="2400" b="1" dirty="0">
                <a:solidFill>
                  <a:srgbClr val="16202B"/>
                </a:solidFill>
                <a:latin typeface="Calibri" pitchFamily="34" charset="0"/>
                <a:ea typeface="Calibri" pitchFamily="34" charset="-122"/>
                <a:cs typeface="Calibri" pitchFamily="34" charset="-120"/>
              </a:rPr>
              <a:t>Metrics</a:t>
            </a:r>
            <a:endParaRPr lang="en-US" sz="2400" dirty="0"/>
          </a:p>
        </p:txBody>
      </p:sp>
      <p:sp>
        <p:nvSpPr>
          <p:cNvPr id="7" name="Text 5"/>
          <p:cNvSpPr txBox="1"/>
          <p:nvPr/>
        </p:nvSpPr>
        <p:spPr>
          <a:xfrm>
            <a:off x="777240" y="2743200"/>
            <a:ext cx="3058058" cy="320040"/>
          </a:xfrm>
          <a:prstGeom prst="rect">
            <a:avLst/>
          </a:prstGeom>
          <a:noFill/>
          <a:ln/>
        </p:spPr>
        <p:txBody>
          <a:bodyPr wrap="square" lIns="0" tIns="0" rIns="0" bIns="0" rtlCol="0" anchor="ctr"/>
          <a:lstStyle/>
          <a:p>
            <a:pPr marL="0" indent="0">
              <a:buNone/>
            </a:pPr>
            <a:r>
              <a:rPr lang="en-US" sz="1300" dirty="0">
                <a:solidFill>
                  <a:srgbClr val="16202B"/>
                </a:solidFill>
                <a:latin typeface="Courier New" pitchFamily="34" charset="0"/>
                <a:ea typeface="Courier New" pitchFamily="34" charset="-122"/>
                <a:cs typeface="Courier New" pitchFamily="34" charset="-120"/>
              </a:rPr>
              <a:t>→ Prometheus</a:t>
            </a:r>
            <a:endParaRPr lang="en-US" sz="1300" dirty="0"/>
          </a:p>
        </p:txBody>
      </p:sp>
      <p:sp>
        <p:nvSpPr>
          <p:cNvPr id="8" name="Text 6"/>
          <p:cNvSpPr txBox="1"/>
          <p:nvPr/>
        </p:nvSpPr>
        <p:spPr>
          <a:xfrm>
            <a:off x="777240" y="3246120"/>
            <a:ext cx="3058058" cy="1371600"/>
          </a:xfrm>
          <a:prstGeom prst="rect">
            <a:avLst/>
          </a:prstGeom>
          <a:noFill/>
          <a:ln/>
        </p:spPr>
        <p:txBody>
          <a:bodyPr wrap="square" lIns="0" tIns="0" rIns="0" bIns="0" rtlCol="0" anchor="t"/>
          <a:lstStyle/>
          <a:p>
            <a:pPr marL="0" indent="0">
              <a:lnSpc>
                <a:spcPct val="115000"/>
              </a:lnSpc>
              <a:buNone/>
            </a:pPr>
            <a:r>
              <a:rPr lang="en-US" sz="1400" dirty="0">
                <a:solidFill>
                  <a:srgbClr val="4A5568"/>
                </a:solidFill>
                <a:latin typeface="Arial" pitchFamily="34" charset="0"/>
                <a:ea typeface="Arial" pitchFamily="34" charset="-122"/>
                <a:cs typeface="Arial" pitchFamily="34" charset="-120"/>
              </a:rPr>
              <a:t>Siffror över tid: anrop per sekund, svarstid, felandel, minne. Billiga att spara, bra för grafer och larm.</a:t>
            </a:r>
            <a:endParaRPr lang="en-US" sz="1400" dirty="0"/>
          </a:p>
        </p:txBody>
      </p:sp>
      <p:sp>
        <p:nvSpPr>
          <p:cNvPr id="9" name="Shape 7"/>
          <p:cNvSpPr/>
          <p:nvPr/>
        </p:nvSpPr>
        <p:spPr>
          <a:xfrm>
            <a:off x="4338218" y="1645920"/>
            <a:ext cx="3515258" cy="3108960"/>
          </a:xfrm>
          <a:prstGeom prst="roundRect">
            <a:avLst>
              <a:gd name="adj" fmla="val 1765"/>
            </a:avLst>
          </a:prstGeom>
          <a:solidFill>
            <a:srgbClr val="3762FF"/>
          </a:solidFill>
          <a:ln w="12700">
            <a:solidFill>
              <a:srgbClr val="3762FF"/>
            </a:solidFill>
            <a:prstDash val="solid"/>
          </a:ln>
        </p:spPr>
      </p:sp>
      <p:sp>
        <p:nvSpPr>
          <p:cNvPr id="10" name="Text 8"/>
          <p:cNvSpPr txBox="1"/>
          <p:nvPr/>
        </p:nvSpPr>
        <p:spPr>
          <a:xfrm>
            <a:off x="4566818" y="1874520"/>
            <a:ext cx="3058058" cy="274320"/>
          </a:xfrm>
          <a:prstGeom prst="rect">
            <a:avLst/>
          </a:prstGeom>
          <a:noFill/>
          <a:ln/>
        </p:spPr>
        <p:txBody>
          <a:bodyPr wrap="square" lIns="0" tIns="0" rIns="0" bIns="0" rtlCol="0" anchor="ctr"/>
          <a:lstStyle/>
          <a:p>
            <a:pPr marL="0" indent="0">
              <a:buNone/>
            </a:pPr>
            <a:r>
              <a:rPr lang="en-US" sz="1100" b="1" kern="0" spc="200" dirty="0">
                <a:solidFill>
                  <a:srgbClr val="FFFFFF"/>
                </a:solidFill>
                <a:latin typeface="Arial" pitchFamily="34" charset="0"/>
                <a:ea typeface="Arial" pitchFamily="34" charset="-122"/>
                <a:cs typeface="Arial" pitchFamily="34" charset="-120"/>
              </a:rPr>
              <a:t>VAR TOG TIDEN VÄGEN?</a:t>
            </a:r>
            <a:endParaRPr lang="en-US" sz="1100" dirty="0"/>
          </a:p>
        </p:txBody>
      </p:sp>
      <p:sp>
        <p:nvSpPr>
          <p:cNvPr id="11" name="Text 9"/>
          <p:cNvSpPr txBox="1"/>
          <p:nvPr/>
        </p:nvSpPr>
        <p:spPr>
          <a:xfrm>
            <a:off x="4566818" y="2194560"/>
            <a:ext cx="3058058" cy="4572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Traces</a:t>
            </a:r>
            <a:endParaRPr lang="en-US" sz="2400" dirty="0"/>
          </a:p>
        </p:txBody>
      </p:sp>
      <p:sp>
        <p:nvSpPr>
          <p:cNvPr id="12" name="Text 10"/>
          <p:cNvSpPr txBox="1"/>
          <p:nvPr/>
        </p:nvSpPr>
        <p:spPr>
          <a:xfrm>
            <a:off x="4566818" y="2743200"/>
            <a:ext cx="3058058" cy="320040"/>
          </a:xfrm>
          <a:prstGeom prst="rect">
            <a:avLst/>
          </a:prstGeom>
          <a:noFill/>
          <a:ln/>
        </p:spPr>
        <p:txBody>
          <a:bodyPr wrap="square" lIns="0" tIns="0" rIns="0" bIns="0"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Tempo</a:t>
            </a:r>
            <a:endParaRPr lang="en-US" sz="1300" dirty="0"/>
          </a:p>
        </p:txBody>
      </p:sp>
      <p:sp>
        <p:nvSpPr>
          <p:cNvPr id="13" name="Text 11"/>
          <p:cNvSpPr txBox="1"/>
          <p:nvPr/>
        </p:nvSpPr>
        <p:spPr>
          <a:xfrm>
            <a:off x="4566818" y="3246120"/>
            <a:ext cx="3058058" cy="1371600"/>
          </a:xfrm>
          <a:prstGeom prst="rect">
            <a:avLst/>
          </a:prstGeom>
          <a:noFill/>
          <a:ln/>
        </p:spPr>
        <p:txBody>
          <a:bodyPr wrap="square" lIns="0" tIns="0" rIns="0" bIns="0" rtlCol="0" anchor="t"/>
          <a:lstStyle/>
          <a:p>
            <a:pPr marL="0" indent="0">
              <a:lnSpc>
                <a:spcPct val="115000"/>
              </a:lnSpc>
              <a:buNone/>
            </a:pPr>
            <a:r>
              <a:rPr lang="en-US" sz="1400" dirty="0">
                <a:solidFill>
                  <a:srgbClr val="FFFFFF"/>
                </a:solidFill>
                <a:latin typeface="Arial" pitchFamily="34" charset="0"/>
                <a:ea typeface="Arial" pitchFamily="34" charset="-122"/>
                <a:cs typeface="Arial" pitchFamily="34" charset="-120"/>
              </a:rPr>
              <a:t>Ett anrops väg genom alla tjänster, steg för steg. Visar vilket steg som var långsamt eller gick fel.</a:t>
            </a:r>
            <a:endParaRPr lang="en-US" sz="1400" dirty="0"/>
          </a:p>
        </p:txBody>
      </p:sp>
      <p:sp>
        <p:nvSpPr>
          <p:cNvPr id="14" name="Shape 12"/>
          <p:cNvSpPr/>
          <p:nvPr/>
        </p:nvSpPr>
        <p:spPr>
          <a:xfrm>
            <a:off x="8127797" y="1645920"/>
            <a:ext cx="3515258" cy="3108960"/>
          </a:xfrm>
          <a:prstGeom prst="roundRect">
            <a:avLst>
              <a:gd name="adj" fmla="val 1765"/>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5" name="Text 13"/>
          <p:cNvSpPr txBox="1"/>
          <p:nvPr/>
        </p:nvSpPr>
        <p:spPr>
          <a:xfrm>
            <a:off x="8356397" y="1874520"/>
            <a:ext cx="3058058"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VAD HÄNDE EXAKT?</a:t>
            </a:r>
            <a:endParaRPr lang="en-US" sz="1100" dirty="0"/>
          </a:p>
        </p:txBody>
      </p:sp>
      <p:sp>
        <p:nvSpPr>
          <p:cNvPr id="16" name="Text 14"/>
          <p:cNvSpPr txBox="1"/>
          <p:nvPr/>
        </p:nvSpPr>
        <p:spPr>
          <a:xfrm>
            <a:off x="8356397" y="2194560"/>
            <a:ext cx="3058058" cy="457200"/>
          </a:xfrm>
          <a:prstGeom prst="rect">
            <a:avLst/>
          </a:prstGeom>
          <a:noFill/>
          <a:ln/>
        </p:spPr>
        <p:txBody>
          <a:bodyPr wrap="square" lIns="0" tIns="0" rIns="0" bIns="0" rtlCol="0" anchor="ctr"/>
          <a:lstStyle/>
          <a:p>
            <a:pPr marL="0" indent="0">
              <a:buNone/>
            </a:pPr>
            <a:r>
              <a:rPr lang="en-US" sz="2400" b="1" dirty="0">
                <a:solidFill>
                  <a:srgbClr val="16202B"/>
                </a:solidFill>
                <a:latin typeface="Calibri" pitchFamily="34" charset="0"/>
                <a:ea typeface="Calibri" pitchFamily="34" charset="-122"/>
                <a:cs typeface="Calibri" pitchFamily="34" charset="-120"/>
              </a:rPr>
              <a:t>Loggar</a:t>
            </a:r>
            <a:endParaRPr lang="en-US" sz="2400" dirty="0"/>
          </a:p>
        </p:txBody>
      </p:sp>
      <p:sp>
        <p:nvSpPr>
          <p:cNvPr id="17" name="Text 15"/>
          <p:cNvSpPr txBox="1"/>
          <p:nvPr/>
        </p:nvSpPr>
        <p:spPr>
          <a:xfrm>
            <a:off x="8356397" y="2743200"/>
            <a:ext cx="3058058" cy="320040"/>
          </a:xfrm>
          <a:prstGeom prst="rect">
            <a:avLst/>
          </a:prstGeom>
          <a:noFill/>
          <a:ln/>
        </p:spPr>
        <p:txBody>
          <a:bodyPr wrap="square" lIns="0" tIns="0" rIns="0" bIns="0" rtlCol="0" anchor="ctr"/>
          <a:lstStyle/>
          <a:p>
            <a:pPr marL="0" indent="0">
              <a:buNone/>
            </a:pPr>
            <a:r>
              <a:rPr lang="en-US" sz="1300" dirty="0">
                <a:solidFill>
                  <a:srgbClr val="16202B"/>
                </a:solidFill>
                <a:latin typeface="Courier New" pitchFamily="34" charset="0"/>
                <a:ea typeface="Courier New" pitchFamily="34" charset="-122"/>
                <a:cs typeface="Courier New" pitchFamily="34" charset="-120"/>
              </a:rPr>
              <a:t>→ Loki</a:t>
            </a:r>
            <a:endParaRPr lang="en-US" sz="1300" dirty="0"/>
          </a:p>
        </p:txBody>
      </p:sp>
      <p:sp>
        <p:nvSpPr>
          <p:cNvPr id="18" name="Text 16"/>
          <p:cNvSpPr txBox="1"/>
          <p:nvPr/>
        </p:nvSpPr>
        <p:spPr>
          <a:xfrm>
            <a:off x="8356397" y="3246120"/>
            <a:ext cx="3058058" cy="1371600"/>
          </a:xfrm>
          <a:prstGeom prst="rect">
            <a:avLst/>
          </a:prstGeom>
          <a:noFill/>
          <a:ln/>
        </p:spPr>
        <p:txBody>
          <a:bodyPr wrap="square" lIns="0" tIns="0" rIns="0" bIns="0" rtlCol="0" anchor="t"/>
          <a:lstStyle/>
          <a:p>
            <a:pPr marL="0" indent="0">
              <a:lnSpc>
                <a:spcPct val="115000"/>
              </a:lnSpc>
              <a:buNone/>
            </a:pPr>
            <a:r>
              <a:rPr lang="en-US" sz="1400" dirty="0">
                <a:solidFill>
                  <a:srgbClr val="4A5568"/>
                </a:solidFill>
                <a:latin typeface="Arial" pitchFamily="34" charset="0"/>
                <a:ea typeface="Arial" pitchFamily="34" charset="-122"/>
                <a:cs typeface="Arial" pitchFamily="34" charset="-120"/>
              </a:rPr>
              <a:t>Händelser med detaljer: vilket id, vilket fel, vilken stacktrace. Kopplas till sin trace via trace_id.</a:t>
            </a:r>
            <a:endParaRPr lang="en-US" sz="1400" dirty="0"/>
          </a:p>
        </p:txBody>
      </p:sp>
      <p:sp>
        <p:nvSpPr>
          <p:cNvPr id="19" name="Text 17"/>
          <p:cNvSpPr txBox="1"/>
          <p:nvPr/>
        </p:nvSpPr>
        <p:spPr>
          <a:xfrm>
            <a:off x="548640" y="5074920"/>
            <a:ext cx="11094415" cy="457200"/>
          </a:xfrm>
          <a:prstGeom prst="rect">
            <a:avLst/>
          </a:prstGeom>
          <a:noFill/>
          <a:ln/>
        </p:spPr>
        <p:txBody>
          <a:bodyPr wrap="square" lIns="0" tIns="0" rIns="0" bIns="0" rtlCol="0" anchor="t"/>
          <a:lstStyle/>
          <a:p>
            <a:pPr marL="0" indent="0">
              <a:lnSpc>
                <a:spcPct val="120000"/>
              </a:lnSpc>
              <a:buNone/>
            </a:pPr>
            <a:r>
              <a:rPr lang="en-US" sz="1500" dirty="0">
                <a:solidFill>
                  <a:srgbClr val="6A7179"/>
                </a:solidFill>
                <a:latin typeface="Arial" pitchFamily="34" charset="0"/>
                <a:ea typeface="Arial" pitchFamily="34" charset="-122"/>
                <a:cs typeface="Arial" pitchFamily="34" charset="-120"/>
              </a:rPr>
              <a:t>Var för sig är de användbara. Tillsammans - kopplade via trace_id - blir de kraftfulla.</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VARFÖR TELEMETRI? · TRACES</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Anatomin hos en trace</a:t>
            </a:r>
            <a:endParaRPr lang="en-US" sz="3000" dirty="0"/>
          </a:p>
        </p:txBody>
      </p:sp>
      <p:sp>
        <p:nvSpPr>
          <p:cNvPr id="4" name="Shape 2"/>
          <p:cNvSpPr/>
          <p:nvPr/>
        </p:nvSpPr>
        <p:spPr>
          <a:xfrm>
            <a:off x="548640" y="1600200"/>
            <a:ext cx="10881360" cy="502920"/>
          </a:xfrm>
          <a:prstGeom prst="roundRect">
            <a:avLst>
              <a:gd name="adj" fmla="val 10909"/>
            </a:avLst>
          </a:prstGeom>
          <a:solidFill>
            <a:srgbClr val="16294A"/>
          </a:solidFill>
          <a:ln w="12700">
            <a:solidFill>
              <a:srgbClr val="16294A"/>
            </a:solidFill>
            <a:prstDash val="solid"/>
          </a:ln>
        </p:spPr>
      </p:sp>
      <p:sp>
        <p:nvSpPr>
          <p:cNvPr id="5" name="Text 3"/>
          <p:cNvSpPr txBox="1"/>
          <p:nvPr/>
        </p:nvSpPr>
        <p:spPr>
          <a:xfrm>
            <a:off x="640080" y="1600200"/>
            <a:ext cx="10698480" cy="502920"/>
          </a:xfrm>
          <a:prstGeom prst="rect">
            <a:avLst/>
          </a:prstGeom>
          <a:noFill/>
          <a:ln/>
        </p:spPr>
        <p:txBody>
          <a:bodyPr wrap="square" lIns="0" tIns="0" rIns="0" bIns="0" rtlCol="0" anchor="ctr"/>
          <a:lstStyle/>
          <a:p>
            <a:pPr marL="0" indent="0" algn="ctr">
              <a:buNone/>
            </a:pPr>
            <a:r>
              <a:rPr lang="en-US" sz="1300" dirty="0">
                <a:solidFill>
                  <a:srgbClr val="F5F7FA"/>
                </a:solidFill>
                <a:latin typeface="Courier New" pitchFamily="34" charset="0"/>
                <a:ea typeface="Courier New" pitchFamily="34" charset="-122"/>
                <a:cs typeface="Courier New" pitchFamily="34" charset="-120"/>
              </a:rPr>
              <a:t>customer-client  ·  HTTP POST /api/customers</a:t>
            </a:r>
            <a:endParaRPr lang="en-US" sz="1300" dirty="0"/>
          </a:p>
        </p:txBody>
      </p:sp>
      <p:sp>
        <p:nvSpPr>
          <p:cNvPr id="6" name="Shape 4"/>
          <p:cNvSpPr/>
          <p:nvPr/>
        </p:nvSpPr>
        <p:spPr>
          <a:xfrm>
            <a:off x="1005840" y="2258568"/>
            <a:ext cx="10241280" cy="502920"/>
          </a:xfrm>
          <a:prstGeom prst="roundRect">
            <a:avLst>
              <a:gd name="adj" fmla="val 10909"/>
            </a:avLst>
          </a:prstGeom>
          <a:solidFill>
            <a:srgbClr val="3762FF"/>
          </a:solidFill>
          <a:ln w="12700">
            <a:solidFill>
              <a:srgbClr val="3762FF"/>
            </a:solidFill>
            <a:prstDash val="solid"/>
          </a:ln>
        </p:spPr>
      </p:sp>
      <p:sp>
        <p:nvSpPr>
          <p:cNvPr id="7" name="Text 5"/>
          <p:cNvSpPr txBox="1"/>
          <p:nvPr/>
        </p:nvSpPr>
        <p:spPr>
          <a:xfrm>
            <a:off x="1097280" y="2258568"/>
            <a:ext cx="10058400" cy="502920"/>
          </a:xfrm>
          <a:prstGeom prst="rect">
            <a:avLst/>
          </a:prstGeom>
          <a:noFill/>
          <a:ln/>
        </p:spPr>
        <p:txBody>
          <a:bodyPr wrap="square" lIns="0" tIns="0" rIns="0" bIns="0" rtlCol="0" anchor="ctr"/>
          <a:lstStyle/>
          <a:p>
            <a:pPr marL="0" indent="0" algn="ctr">
              <a:buNone/>
            </a:pPr>
            <a:r>
              <a:rPr lang="en-US" sz="1300" dirty="0">
                <a:solidFill>
                  <a:srgbClr val="F5F7FA"/>
                </a:solidFill>
                <a:latin typeface="Courier New" pitchFamily="34" charset="0"/>
                <a:ea typeface="Courier New" pitchFamily="34" charset="-122"/>
                <a:cs typeface="Courier New" pitchFamily="34" charset="-120"/>
              </a:rPr>
              <a:t>telemetry-api  ·  POST /customers</a:t>
            </a:r>
            <a:endParaRPr lang="en-US" sz="1300" dirty="0"/>
          </a:p>
        </p:txBody>
      </p:sp>
      <p:sp>
        <p:nvSpPr>
          <p:cNvPr id="8" name="Shape 6"/>
          <p:cNvSpPr/>
          <p:nvPr/>
        </p:nvSpPr>
        <p:spPr>
          <a:xfrm>
            <a:off x="1463040" y="2916936"/>
            <a:ext cx="2377440" cy="502920"/>
          </a:xfrm>
          <a:prstGeom prst="roundRect">
            <a:avLst>
              <a:gd name="adj" fmla="val 10909"/>
            </a:avLst>
          </a:prstGeom>
          <a:solidFill>
            <a:srgbClr val="16294A"/>
          </a:solidFill>
          <a:ln w="12700">
            <a:solidFill>
              <a:srgbClr val="16294A"/>
            </a:solidFill>
            <a:prstDash val="solid"/>
          </a:ln>
        </p:spPr>
      </p:sp>
      <p:sp>
        <p:nvSpPr>
          <p:cNvPr id="9" name="Text 7"/>
          <p:cNvSpPr txBox="1"/>
          <p:nvPr/>
        </p:nvSpPr>
        <p:spPr>
          <a:xfrm>
            <a:off x="1554480" y="2916936"/>
            <a:ext cx="2194560" cy="502920"/>
          </a:xfrm>
          <a:prstGeom prst="rect">
            <a:avLst/>
          </a:prstGeom>
          <a:noFill/>
          <a:ln/>
        </p:spPr>
        <p:txBody>
          <a:bodyPr wrap="square" lIns="0" tIns="0" rIns="0" bIns="0" rtlCol="0" anchor="ctr"/>
          <a:lstStyle/>
          <a:p>
            <a:pPr marL="0" indent="0" algn="ctr">
              <a:buNone/>
            </a:pPr>
            <a:r>
              <a:rPr lang="en-US" sz="1300" dirty="0">
                <a:solidFill>
                  <a:srgbClr val="F5F7FA"/>
                </a:solidFill>
                <a:latin typeface="Courier New" pitchFamily="34" charset="0"/>
                <a:ea typeface="Courier New" pitchFamily="34" charset="-122"/>
                <a:cs typeface="Courier New" pitchFamily="34" charset="-120"/>
              </a:rPr>
              <a:t>customers.validate</a:t>
            </a:r>
            <a:endParaRPr lang="en-US" sz="1300" dirty="0"/>
          </a:p>
        </p:txBody>
      </p:sp>
      <p:sp>
        <p:nvSpPr>
          <p:cNvPr id="10" name="Shape 8"/>
          <p:cNvSpPr/>
          <p:nvPr/>
        </p:nvSpPr>
        <p:spPr>
          <a:xfrm>
            <a:off x="4114800" y="3575304"/>
            <a:ext cx="6035040" cy="502920"/>
          </a:xfrm>
          <a:prstGeom prst="roundRect">
            <a:avLst>
              <a:gd name="adj" fmla="val 10909"/>
            </a:avLst>
          </a:prstGeom>
          <a:solidFill>
            <a:srgbClr val="16294A"/>
          </a:solidFill>
          <a:ln w="12700">
            <a:solidFill>
              <a:srgbClr val="16294A"/>
            </a:solidFill>
            <a:prstDash val="solid"/>
          </a:ln>
        </p:spPr>
      </p:sp>
      <p:sp>
        <p:nvSpPr>
          <p:cNvPr id="11" name="Text 9"/>
          <p:cNvSpPr txBox="1"/>
          <p:nvPr/>
        </p:nvSpPr>
        <p:spPr>
          <a:xfrm>
            <a:off x="4206240" y="3575304"/>
            <a:ext cx="5852160" cy="502920"/>
          </a:xfrm>
          <a:prstGeom prst="rect">
            <a:avLst/>
          </a:prstGeom>
          <a:noFill/>
          <a:ln/>
        </p:spPr>
        <p:txBody>
          <a:bodyPr wrap="square" lIns="0" tIns="0" rIns="0" bIns="0" rtlCol="0" anchor="ctr"/>
          <a:lstStyle/>
          <a:p>
            <a:pPr marL="0" indent="0" algn="ctr">
              <a:buNone/>
            </a:pPr>
            <a:r>
              <a:rPr lang="en-US" sz="1300" dirty="0">
                <a:solidFill>
                  <a:srgbClr val="F5F7FA"/>
                </a:solidFill>
                <a:latin typeface="Courier New" pitchFamily="34" charset="0"/>
                <a:ea typeface="Courier New" pitchFamily="34" charset="-122"/>
                <a:cs typeface="Courier New" pitchFamily="34" charset="-120"/>
              </a:rPr>
              <a:t>EF Core  ·  INSERT INTO Customers</a:t>
            </a:r>
            <a:endParaRPr lang="en-US" sz="1300" dirty="0"/>
          </a:p>
        </p:txBody>
      </p:sp>
      <p:sp>
        <p:nvSpPr>
          <p:cNvPr id="12" name="Shape 10"/>
          <p:cNvSpPr/>
          <p:nvPr/>
        </p:nvSpPr>
        <p:spPr>
          <a:xfrm>
            <a:off x="548640" y="4434840"/>
            <a:ext cx="3606698" cy="1417320"/>
          </a:xfrm>
          <a:prstGeom prst="roundRect">
            <a:avLst>
              <a:gd name="adj" fmla="val 3871"/>
            </a:avLst>
          </a:prstGeom>
          <a:solidFill>
            <a:srgbClr val="16294A"/>
          </a:solidFill>
          <a:ln w="12700">
            <a:solidFill>
              <a:srgbClr val="16294A"/>
            </a:solidFill>
            <a:prstDash val="solid"/>
          </a:ln>
        </p:spPr>
      </p:sp>
      <p:sp>
        <p:nvSpPr>
          <p:cNvPr id="13" name="Text 11"/>
          <p:cNvSpPr txBox="1"/>
          <p:nvPr/>
        </p:nvSpPr>
        <p:spPr>
          <a:xfrm>
            <a:off x="749808" y="4636008"/>
            <a:ext cx="3204362" cy="320040"/>
          </a:xfrm>
          <a:prstGeom prst="rect">
            <a:avLst/>
          </a:prstGeom>
          <a:noFill/>
          <a:ln/>
        </p:spPr>
        <p:txBody>
          <a:bodyPr wrap="square" lIns="0" tIns="0" rIns="0" bIns="0" rtlCol="0" anchor="t"/>
          <a:lstStyle/>
          <a:p>
            <a:pPr marL="0" indent="0">
              <a:buNone/>
            </a:pPr>
            <a:r>
              <a:rPr lang="en-US" sz="1500" b="1" dirty="0">
                <a:solidFill>
                  <a:srgbClr val="F5F7FA"/>
                </a:solidFill>
                <a:latin typeface="Calibri" pitchFamily="34" charset="0"/>
                <a:ea typeface="Calibri" pitchFamily="34" charset="-122"/>
                <a:cs typeface="Calibri" pitchFamily="34" charset="-120"/>
              </a:rPr>
              <a:t>trace_id</a:t>
            </a:r>
            <a:endParaRPr lang="en-US" sz="1500" dirty="0"/>
          </a:p>
        </p:txBody>
      </p:sp>
      <p:sp>
        <p:nvSpPr>
          <p:cNvPr id="14" name="Text 12"/>
          <p:cNvSpPr txBox="1"/>
          <p:nvPr/>
        </p:nvSpPr>
        <p:spPr>
          <a:xfrm>
            <a:off x="749808" y="5020056"/>
            <a:ext cx="3204362" cy="67665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Samma id på alla spans i kedjan - följer med i headern traceparent mellan tjänsterna.</a:t>
            </a:r>
            <a:endParaRPr lang="en-US" sz="1300" dirty="0"/>
          </a:p>
        </p:txBody>
      </p:sp>
      <p:sp>
        <p:nvSpPr>
          <p:cNvPr id="15" name="Shape 13"/>
          <p:cNvSpPr/>
          <p:nvPr/>
        </p:nvSpPr>
        <p:spPr>
          <a:xfrm>
            <a:off x="4292498" y="4434840"/>
            <a:ext cx="3606698" cy="1417320"/>
          </a:xfrm>
          <a:prstGeom prst="roundRect">
            <a:avLst>
              <a:gd name="adj" fmla="val 3871"/>
            </a:avLst>
          </a:prstGeom>
          <a:solidFill>
            <a:srgbClr val="16294A"/>
          </a:solidFill>
          <a:ln w="12700">
            <a:solidFill>
              <a:srgbClr val="16294A"/>
            </a:solidFill>
            <a:prstDash val="solid"/>
          </a:ln>
        </p:spPr>
      </p:sp>
      <p:sp>
        <p:nvSpPr>
          <p:cNvPr id="16" name="Text 14"/>
          <p:cNvSpPr txBox="1"/>
          <p:nvPr/>
        </p:nvSpPr>
        <p:spPr>
          <a:xfrm>
            <a:off x="4493666" y="4636008"/>
            <a:ext cx="3204362" cy="320040"/>
          </a:xfrm>
          <a:prstGeom prst="rect">
            <a:avLst/>
          </a:prstGeom>
          <a:noFill/>
          <a:ln/>
        </p:spPr>
        <p:txBody>
          <a:bodyPr wrap="square" lIns="0" tIns="0" rIns="0" bIns="0" rtlCol="0" anchor="t"/>
          <a:lstStyle/>
          <a:p>
            <a:pPr marL="0" indent="0">
              <a:buNone/>
            </a:pPr>
            <a:r>
              <a:rPr lang="en-US" sz="1500" b="1" dirty="0">
                <a:solidFill>
                  <a:srgbClr val="F5F7FA"/>
                </a:solidFill>
                <a:latin typeface="Calibri" pitchFamily="34" charset="0"/>
                <a:ea typeface="Calibri" pitchFamily="34" charset="-122"/>
                <a:cs typeface="Calibri" pitchFamily="34" charset="-120"/>
              </a:rPr>
              <a:t>span</a:t>
            </a:r>
            <a:endParaRPr lang="en-US" sz="1500" dirty="0"/>
          </a:p>
        </p:txBody>
      </p:sp>
      <p:sp>
        <p:nvSpPr>
          <p:cNvPr id="17" name="Text 15"/>
          <p:cNvSpPr txBox="1"/>
          <p:nvPr/>
        </p:nvSpPr>
        <p:spPr>
          <a:xfrm>
            <a:off x="4493666" y="5020056"/>
            <a:ext cx="3204362" cy="67665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Ett steg med start, längd, namn och attribut (t.ex. customer.id, http.status_code).</a:t>
            </a:r>
            <a:endParaRPr lang="en-US" sz="1300" dirty="0"/>
          </a:p>
        </p:txBody>
      </p:sp>
      <p:sp>
        <p:nvSpPr>
          <p:cNvPr id="18" name="Shape 16"/>
          <p:cNvSpPr/>
          <p:nvPr/>
        </p:nvSpPr>
        <p:spPr>
          <a:xfrm>
            <a:off x="8036357" y="4434840"/>
            <a:ext cx="3606698" cy="1417320"/>
          </a:xfrm>
          <a:prstGeom prst="roundRect">
            <a:avLst>
              <a:gd name="adj" fmla="val 3871"/>
            </a:avLst>
          </a:prstGeom>
          <a:solidFill>
            <a:srgbClr val="16294A"/>
          </a:solidFill>
          <a:ln w="12700">
            <a:solidFill>
              <a:srgbClr val="16294A"/>
            </a:solidFill>
            <a:prstDash val="solid"/>
          </a:ln>
        </p:spPr>
      </p:sp>
      <p:sp>
        <p:nvSpPr>
          <p:cNvPr id="19" name="Text 17"/>
          <p:cNvSpPr txBox="1"/>
          <p:nvPr/>
        </p:nvSpPr>
        <p:spPr>
          <a:xfrm>
            <a:off x="8237525" y="4636008"/>
            <a:ext cx="3204362" cy="320040"/>
          </a:xfrm>
          <a:prstGeom prst="rect">
            <a:avLst/>
          </a:prstGeom>
          <a:noFill/>
          <a:ln/>
        </p:spPr>
        <p:txBody>
          <a:bodyPr wrap="square" lIns="0" tIns="0" rIns="0" bIns="0" rtlCol="0" anchor="t"/>
          <a:lstStyle/>
          <a:p>
            <a:pPr marL="0" indent="0">
              <a:buNone/>
            </a:pPr>
            <a:r>
              <a:rPr lang="en-US" sz="1500" b="1" dirty="0">
                <a:solidFill>
                  <a:srgbClr val="F5F7FA"/>
                </a:solidFill>
                <a:latin typeface="Calibri" pitchFamily="34" charset="0"/>
                <a:ea typeface="Calibri" pitchFamily="34" charset="-122"/>
                <a:cs typeface="Calibri" pitchFamily="34" charset="-120"/>
              </a:rPr>
              <a:t>parent</a:t>
            </a:r>
            <a:endParaRPr lang="en-US" sz="1500" dirty="0"/>
          </a:p>
        </p:txBody>
      </p:sp>
      <p:sp>
        <p:nvSpPr>
          <p:cNvPr id="20" name="Text 18"/>
          <p:cNvSpPr txBox="1"/>
          <p:nvPr/>
        </p:nvSpPr>
        <p:spPr>
          <a:xfrm>
            <a:off x="8237525" y="5020056"/>
            <a:ext cx="3204362" cy="67665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Varje span vet vem som startade det - därför kan Grafana rita trappan.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marL="0" indent="0">
              <a:buNone/>
            </a:pPr>
            <a:r>
              <a:rPr lang="en-US" sz="15000" b="1" dirty="0">
                <a:solidFill>
                  <a:srgbClr val="16294A"/>
                </a:solidFill>
                <a:latin typeface="Calibri" pitchFamily="34" charset="0"/>
                <a:ea typeface="Calibri" pitchFamily="34" charset="-122"/>
                <a:cs typeface="Calibri" pitchFamily="34" charset="-120"/>
              </a:rPr>
              <a:t>02</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marL="0" indent="0">
              <a:buNone/>
            </a:pPr>
            <a:r>
              <a:rPr lang="en-US" sz="5200" b="1" dirty="0">
                <a:solidFill>
                  <a:srgbClr val="F5F7FA"/>
                </a:solidFill>
                <a:latin typeface="Calibri" pitchFamily="34" charset="0"/>
                <a:ea typeface="Calibri" pitchFamily="34" charset="-122"/>
                <a:cs typeface="Calibri" pitchFamily="34" charset="-120"/>
              </a:rPr>
              <a:t>OpenTelemetry</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marL="0" indent="0">
              <a:lnSpc>
                <a:spcPct val="120000"/>
              </a:lnSpc>
              <a:buNone/>
            </a:pPr>
            <a:r>
              <a:rPr lang="en-US" sz="1800" dirty="0">
                <a:solidFill>
                  <a:srgbClr val="B9C4D1"/>
                </a:solidFill>
                <a:latin typeface="Arial" pitchFamily="34" charset="0"/>
                <a:ea typeface="Arial" pitchFamily="34" charset="-122"/>
                <a:cs typeface="Arial" pitchFamily="34" charset="-120"/>
              </a:rPr>
              <a:t>En standard - så att alla komponenter kan prata med varandra</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OPENTELEMETRY · VAD ÄR DET?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OpenTelemetry - en standard, många verktyg</a:t>
            </a:r>
            <a:endParaRPr lang="en-US" sz="3000" dirty="0"/>
          </a:p>
        </p:txBody>
      </p:sp>
      <p:sp>
        <p:nvSpPr>
          <p:cNvPr id="4" name="Shape 2"/>
          <p:cNvSpPr/>
          <p:nvPr/>
        </p:nvSpPr>
        <p:spPr>
          <a:xfrm>
            <a:off x="548640" y="1645920"/>
            <a:ext cx="2651760" cy="2194560"/>
          </a:xfrm>
          <a:prstGeom prst="roundRect">
            <a:avLst>
              <a:gd name="adj" fmla="val 25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5" name="Text 3"/>
          <p:cNvSpPr txBox="1"/>
          <p:nvPr/>
        </p:nvSpPr>
        <p:spPr>
          <a:xfrm>
            <a:off x="749808" y="1847088"/>
            <a:ext cx="2249424"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01</a:t>
            </a:r>
            <a:endParaRPr lang="en-US" sz="1100" dirty="0"/>
          </a:p>
        </p:txBody>
      </p:sp>
      <p:sp>
        <p:nvSpPr>
          <p:cNvPr id="6" name="Text 4"/>
          <p:cNvSpPr txBox="1"/>
          <p:nvPr/>
        </p:nvSpPr>
        <p:spPr>
          <a:xfrm>
            <a:off x="749808" y="2139696"/>
            <a:ext cx="2249424"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API + SDK</a:t>
            </a:r>
            <a:endParaRPr lang="en-US" sz="1600" dirty="0"/>
          </a:p>
        </p:txBody>
      </p:sp>
      <p:sp>
        <p:nvSpPr>
          <p:cNvPr id="7" name="Text 5"/>
          <p:cNvSpPr txBox="1"/>
          <p:nvPr/>
        </p:nvSpPr>
        <p:spPr>
          <a:xfrm>
            <a:off x="749808" y="2523744"/>
            <a:ext cx="2249424" cy="1161288"/>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Bibliotek för .NET, JavaScript, Java, Go … Samma begrepp i alla språk.</a:t>
            </a:r>
            <a:endParaRPr lang="en-US" sz="1300" dirty="0"/>
          </a:p>
        </p:txBody>
      </p:sp>
      <p:sp>
        <p:nvSpPr>
          <p:cNvPr id="8" name="Shape 6"/>
          <p:cNvSpPr/>
          <p:nvPr/>
        </p:nvSpPr>
        <p:spPr>
          <a:xfrm>
            <a:off x="3362249" y="1645920"/>
            <a:ext cx="2651760" cy="2194560"/>
          </a:xfrm>
          <a:prstGeom prst="roundRect">
            <a:avLst>
              <a:gd name="adj" fmla="val 2500"/>
            </a:avLst>
          </a:prstGeom>
          <a:solidFill>
            <a:srgbClr val="3762FF"/>
          </a:solidFill>
          <a:ln w="12700">
            <a:solidFill>
              <a:srgbClr val="3762FF"/>
            </a:solidFill>
            <a:prstDash val="solid"/>
          </a:ln>
        </p:spPr>
      </p:sp>
      <p:sp>
        <p:nvSpPr>
          <p:cNvPr id="9" name="Text 7"/>
          <p:cNvSpPr txBox="1"/>
          <p:nvPr/>
        </p:nvSpPr>
        <p:spPr>
          <a:xfrm>
            <a:off x="3563417" y="1847088"/>
            <a:ext cx="2249424" cy="274320"/>
          </a:xfrm>
          <a:prstGeom prst="rect">
            <a:avLst/>
          </a:prstGeom>
          <a:noFill/>
          <a:ln/>
        </p:spPr>
        <p:txBody>
          <a:bodyPr wrap="square" lIns="0" tIns="0" rIns="0" bIns="0" rtlCol="0" anchor="ctr"/>
          <a:lstStyle/>
          <a:p>
            <a:pPr marL="0" indent="0">
              <a:buNone/>
            </a:pPr>
            <a:r>
              <a:rPr lang="en-US" sz="1100" b="1" kern="0" spc="200" dirty="0">
                <a:solidFill>
                  <a:srgbClr val="FFFFFF"/>
                </a:solidFill>
                <a:latin typeface="Arial" pitchFamily="34" charset="0"/>
                <a:ea typeface="Arial" pitchFamily="34" charset="-122"/>
                <a:cs typeface="Arial" pitchFamily="34" charset="-120"/>
              </a:rPr>
              <a:t>02</a:t>
            </a:r>
            <a:endParaRPr lang="en-US" sz="1100" dirty="0"/>
          </a:p>
        </p:txBody>
      </p:sp>
      <p:sp>
        <p:nvSpPr>
          <p:cNvPr id="10" name="Text 8"/>
          <p:cNvSpPr txBox="1"/>
          <p:nvPr/>
        </p:nvSpPr>
        <p:spPr>
          <a:xfrm>
            <a:off x="3563417" y="2139696"/>
            <a:ext cx="2249424"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OTLP</a:t>
            </a:r>
            <a:endParaRPr lang="en-US" sz="1600" dirty="0"/>
          </a:p>
        </p:txBody>
      </p:sp>
      <p:sp>
        <p:nvSpPr>
          <p:cNvPr id="11" name="Text 9"/>
          <p:cNvSpPr txBox="1"/>
          <p:nvPr/>
        </p:nvSpPr>
        <p:spPr>
          <a:xfrm>
            <a:off x="3563417" y="2523744"/>
            <a:ext cx="2249424" cy="1161288"/>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Protokollet som all telemetri skickas med - gRPC (4317) eller HTTP (4318).</a:t>
            </a:r>
            <a:endParaRPr lang="en-US" sz="1300" dirty="0"/>
          </a:p>
        </p:txBody>
      </p:sp>
      <p:sp>
        <p:nvSpPr>
          <p:cNvPr id="12" name="Shape 10"/>
          <p:cNvSpPr/>
          <p:nvPr/>
        </p:nvSpPr>
        <p:spPr>
          <a:xfrm>
            <a:off x="6175858" y="1645920"/>
            <a:ext cx="2651760" cy="2194560"/>
          </a:xfrm>
          <a:prstGeom prst="roundRect">
            <a:avLst>
              <a:gd name="adj" fmla="val 25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3" name="Text 11"/>
          <p:cNvSpPr txBox="1"/>
          <p:nvPr/>
        </p:nvSpPr>
        <p:spPr>
          <a:xfrm>
            <a:off x="6377026" y="1847088"/>
            <a:ext cx="2249424"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03</a:t>
            </a:r>
            <a:endParaRPr lang="en-US" sz="1100" dirty="0"/>
          </a:p>
        </p:txBody>
      </p:sp>
      <p:sp>
        <p:nvSpPr>
          <p:cNvPr id="14" name="Text 12"/>
          <p:cNvSpPr txBox="1"/>
          <p:nvPr/>
        </p:nvSpPr>
        <p:spPr>
          <a:xfrm>
            <a:off x="6377026" y="2139696"/>
            <a:ext cx="2249424"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Collector</a:t>
            </a:r>
            <a:endParaRPr lang="en-US" sz="1600" dirty="0"/>
          </a:p>
        </p:txBody>
      </p:sp>
      <p:sp>
        <p:nvSpPr>
          <p:cNvPr id="15" name="Text 13"/>
          <p:cNvSpPr txBox="1"/>
          <p:nvPr/>
        </p:nvSpPr>
        <p:spPr>
          <a:xfrm>
            <a:off x="6377026" y="2523744"/>
            <a:ext cx="2249424" cy="1161288"/>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Tar emot, berikar och fördelar telemetrin till rätt databas.</a:t>
            </a:r>
            <a:endParaRPr lang="en-US" sz="1300" dirty="0"/>
          </a:p>
        </p:txBody>
      </p:sp>
      <p:sp>
        <p:nvSpPr>
          <p:cNvPr id="16" name="Shape 14"/>
          <p:cNvSpPr/>
          <p:nvPr/>
        </p:nvSpPr>
        <p:spPr>
          <a:xfrm>
            <a:off x="8989466" y="1645920"/>
            <a:ext cx="2651760" cy="2194560"/>
          </a:xfrm>
          <a:prstGeom prst="roundRect">
            <a:avLst>
              <a:gd name="adj" fmla="val 25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7" name="Text 15"/>
          <p:cNvSpPr txBox="1"/>
          <p:nvPr/>
        </p:nvSpPr>
        <p:spPr>
          <a:xfrm>
            <a:off x="9190634" y="1847088"/>
            <a:ext cx="2249424"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04</a:t>
            </a:r>
            <a:endParaRPr lang="en-US" sz="1100" dirty="0"/>
          </a:p>
        </p:txBody>
      </p:sp>
      <p:sp>
        <p:nvSpPr>
          <p:cNvPr id="18" name="Text 16"/>
          <p:cNvSpPr txBox="1"/>
          <p:nvPr/>
        </p:nvSpPr>
        <p:spPr>
          <a:xfrm>
            <a:off x="9190634" y="2139696"/>
            <a:ext cx="2249424"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Leverantörsneutralt</a:t>
            </a:r>
            <a:endParaRPr lang="en-US" sz="1600" dirty="0"/>
          </a:p>
        </p:txBody>
      </p:sp>
      <p:sp>
        <p:nvSpPr>
          <p:cNvPr id="19" name="Text 17"/>
          <p:cNvSpPr txBox="1"/>
          <p:nvPr/>
        </p:nvSpPr>
        <p:spPr>
          <a:xfrm>
            <a:off x="9190634" y="2523744"/>
            <a:ext cx="2249424" cy="1161288"/>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Byt Tempo mot Jaeger eller ett molnverktyg utan att röra appens kod.</a:t>
            </a:r>
            <a:endParaRPr lang="en-US" sz="1300" dirty="0"/>
          </a:p>
        </p:txBody>
      </p:sp>
      <p:sp>
        <p:nvSpPr>
          <p:cNvPr id="20" name="Shape 18"/>
          <p:cNvSpPr/>
          <p:nvPr/>
        </p:nvSpPr>
        <p:spPr>
          <a:xfrm>
            <a:off x="548640" y="4206240"/>
            <a:ext cx="11094415" cy="1097280"/>
          </a:xfrm>
          <a:prstGeom prst="roundRect">
            <a:avLst>
              <a:gd name="adj" fmla="val 5000"/>
            </a:avLst>
          </a:prstGeom>
          <a:solidFill>
            <a:srgbClr val="E8EDFF"/>
          </a:solidFill>
          <a:ln w="12700">
            <a:solidFill>
              <a:srgbClr val="E8EDFF"/>
            </a:solidFill>
            <a:prstDash val="solid"/>
          </a:ln>
        </p:spPr>
      </p:sp>
      <p:sp>
        <p:nvSpPr>
          <p:cNvPr id="21" name="Text 19"/>
          <p:cNvSpPr txBox="1"/>
          <p:nvPr/>
        </p:nvSpPr>
        <p:spPr>
          <a:xfrm>
            <a:off x="822960" y="4206240"/>
            <a:ext cx="10545775" cy="1097280"/>
          </a:xfrm>
          <a:prstGeom prst="rect">
            <a:avLst/>
          </a:prstGeom>
          <a:noFill/>
          <a:ln/>
        </p:spPr>
        <p:txBody>
          <a:bodyPr wrap="square" lIns="0" tIns="0" rIns="0" bIns="0" rtlCol="0" anchor="ctr"/>
          <a:lstStyle/>
          <a:p>
            <a:pPr marL="0" indent="0">
              <a:buNone/>
            </a:pPr>
            <a:r>
              <a:rPr lang="en-US" sz="1500" b="1" dirty="0">
                <a:solidFill>
                  <a:srgbClr val="16202B"/>
                </a:solidFill>
                <a:latin typeface="Arial" pitchFamily="34" charset="0"/>
                <a:ea typeface="Arial" pitchFamily="34" charset="-122"/>
                <a:cs typeface="Arial" pitchFamily="34" charset="-120"/>
              </a:rPr>
              <a:t>I .NET: </a:t>
            </a:r>
            <a:r>
              <a:rPr lang="en-US" sz="1500" dirty="0">
                <a:solidFill>
                  <a:srgbClr val="4A5568"/>
                </a:solidFill>
                <a:latin typeface="Arial" pitchFamily="34" charset="0"/>
                <a:ea typeface="Arial" pitchFamily="34" charset="-122"/>
                <a:cs typeface="Arial" pitchFamily="34" charset="-120"/>
              </a:rPr>
              <a:t>Activity = span och Meter = metrics finns redan i System.Diagnostics. OpenTelemetry-SDK:n samlar in dem och skickar dem med OTLP.</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OPENTELEMETRY · STANDARDEN</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Tre överenskommelser som gör samverkan möjlig</a:t>
            </a:r>
            <a:endParaRPr lang="en-US" sz="3000" dirty="0"/>
          </a:p>
        </p:txBody>
      </p:sp>
      <p:sp>
        <p:nvSpPr>
          <p:cNvPr id="4" name="Shape 2"/>
          <p:cNvSpPr/>
          <p:nvPr/>
        </p:nvSpPr>
        <p:spPr>
          <a:xfrm>
            <a:off x="548640" y="1645920"/>
            <a:ext cx="3515258" cy="3017520"/>
          </a:xfrm>
          <a:prstGeom prst="roundRect">
            <a:avLst>
              <a:gd name="adj" fmla="val 1818"/>
            </a:avLst>
          </a:prstGeom>
          <a:solidFill>
            <a:srgbClr val="3762FF"/>
          </a:solidFill>
          <a:ln w="12700">
            <a:solidFill>
              <a:srgbClr val="3762FF"/>
            </a:solidFill>
            <a:prstDash val="solid"/>
          </a:ln>
        </p:spPr>
      </p:sp>
      <p:sp>
        <p:nvSpPr>
          <p:cNvPr id="5" name="Text 3"/>
          <p:cNvSpPr txBox="1"/>
          <p:nvPr/>
        </p:nvSpPr>
        <p:spPr>
          <a:xfrm>
            <a:off x="777240" y="1874520"/>
            <a:ext cx="3058058" cy="274320"/>
          </a:xfrm>
          <a:prstGeom prst="rect">
            <a:avLst/>
          </a:prstGeom>
          <a:noFill/>
          <a:ln/>
        </p:spPr>
        <p:txBody>
          <a:bodyPr wrap="square" lIns="0" tIns="0" rIns="0" bIns="0" rtlCol="0" anchor="ctr"/>
          <a:lstStyle/>
          <a:p>
            <a:pPr marL="0" indent="0">
              <a:buNone/>
            </a:pPr>
            <a:r>
              <a:rPr lang="en-US" sz="1100" b="1" kern="0" spc="200" dirty="0">
                <a:solidFill>
                  <a:srgbClr val="FFFFFF"/>
                </a:solidFill>
                <a:latin typeface="Arial" pitchFamily="34" charset="0"/>
                <a:ea typeface="Arial" pitchFamily="34" charset="-122"/>
                <a:cs typeface="Arial" pitchFamily="34" charset="-120"/>
              </a:rPr>
              <a:t>HUR SKICKAS DATAN?</a:t>
            </a:r>
            <a:endParaRPr lang="en-US" sz="1100" dirty="0"/>
          </a:p>
        </p:txBody>
      </p:sp>
      <p:sp>
        <p:nvSpPr>
          <p:cNvPr id="6" name="Text 4"/>
          <p:cNvSpPr txBox="1"/>
          <p:nvPr/>
        </p:nvSpPr>
        <p:spPr>
          <a:xfrm>
            <a:off x="777240" y="2194560"/>
            <a:ext cx="3058058" cy="457200"/>
          </a:xfrm>
          <a:prstGeom prst="rect">
            <a:avLst/>
          </a:prstGeom>
          <a:noFill/>
          <a:ln/>
        </p:spPr>
        <p:txBody>
          <a:bodyPr wrap="square" lIns="0" tIns="0" rIns="0" bIns="0" rtlCol="0" anchor="ctr"/>
          <a:lstStyle/>
          <a:p>
            <a:pPr marL="0" indent="0">
              <a:buNone/>
            </a:pPr>
            <a:r>
              <a:rPr lang="en-US" sz="2200" b="1" dirty="0">
                <a:solidFill>
                  <a:srgbClr val="F5F7FA"/>
                </a:solidFill>
                <a:latin typeface="Calibri" pitchFamily="34" charset="0"/>
                <a:ea typeface="Calibri" pitchFamily="34" charset="-122"/>
                <a:cs typeface="Calibri" pitchFamily="34" charset="-120"/>
              </a:rPr>
              <a:t>OTLP</a:t>
            </a:r>
            <a:endParaRPr lang="en-US" sz="2200" dirty="0"/>
          </a:p>
        </p:txBody>
      </p:sp>
      <p:sp>
        <p:nvSpPr>
          <p:cNvPr id="7" name="Text 5"/>
          <p:cNvSpPr txBox="1"/>
          <p:nvPr/>
        </p:nvSpPr>
        <p:spPr>
          <a:xfrm>
            <a:off x="777240" y="2834640"/>
            <a:ext cx="3058058" cy="1737360"/>
          </a:xfrm>
          <a:prstGeom prst="rect">
            <a:avLst/>
          </a:prstGeom>
          <a:noFill/>
          <a:ln/>
        </p:spPr>
        <p:txBody>
          <a:bodyPr wrap="square" lIns="0" tIns="0" rIns="0" bIns="0" rtlCol="0" anchor="t"/>
          <a:lstStyle/>
          <a:p>
            <a:pPr marL="0" indent="0">
              <a:lnSpc>
                <a:spcPct val="115000"/>
              </a:lnSpc>
              <a:buNone/>
            </a:pPr>
            <a:r>
              <a:rPr lang="en-US" sz="1400" dirty="0">
                <a:solidFill>
                  <a:srgbClr val="FFFFFF"/>
                </a:solidFill>
                <a:latin typeface="Arial" pitchFamily="34" charset="0"/>
                <a:ea typeface="Arial" pitchFamily="34" charset="-122"/>
                <a:cs typeface="Arial" pitchFamily="34" charset="-120"/>
              </a:rPr>
              <a:t>Ett gemensamt protokoll för traces, metrics och loggar - gRPC på 4317, HTTP på 4318. Alla SDK:er skickar det, collectorn och Tempo/Loki tar emot det.</a:t>
            </a:r>
            <a:endParaRPr lang="en-US" sz="1400" dirty="0"/>
          </a:p>
        </p:txBody>
      </p:sp>
      <p:sp>
        <p:nvSpPr>
          <p:cNvPr id="8" name="Shape 6"/>
          <p:cNvSpPr/>
          <p:nvPr/>
        </p:nvSpPr>
        <p:spPr>
          <a:xfrm>
            <a:off x="4338218" y="1645920"/>
            <a:ext cx="3515258" cy="3017520"/>
          </a:xfrm>
          <a:prstGeom prst="roundRect">
            <a:avLst>
              <a:gd name="adj" fmla="val 1818"/>
            </a:avLst>
          </a:prstGeom>
          <a:solidFill>
            <a:srgbClr val="16294A"/>
          </a:solidFill>
          <a:ln w="12700">
            <a:solidFill>
              <a:srgbClr val="16294A"/>
            </a:solidFill>
            <a:prstDash val="solid"/>
          </a:ln>
        </p:spPr>
      </p:sp>
      <p:sp>
        <p:nvSpPr>
          <p:cNvPr id="9" name="Text 7"/>
          <p:cNvSpPr txBox="1"/>
          <p:nvPr/>
        </p:nvSpPr>
        <p:spPr>
          <a:xfrm>
            <a:off x="4566818" y="1874520"/>
            <a:ext cx="3058058" cy="274320"/>
          </a:xfrm>
          <a:prstGeom prst="rect">
            <a:avLst/>
          </a:prstGeom>
          <a:noFill/>
          <a:ln/>
        </p:spPr>
        <p:txBody>
          <a:bodyPr wrap="square" lIns="0" tIns="0" rIns="0" bIns="0" rtlCol="0" anchor="ctr"/>
          <a:lstStyle/>
          <a:p>
            <a:pPr marL="0" indent="0">
              <a:buNone/>
            </a:pPr>
            <a:r>
              <a:rPr lang="en-US" sz="1100" b="1" kern="0" spc="200" dirty="0">
                <a:solidFill>
                  <a:srgbClr val="7C9CFF"/>
                </a:solidFill>
                <a:latin typeface="Arial" pitchFamily="34" charset="0"/>
                <a:ea typeface="Arial" pitchFamily="34" charset="-122"/>
                <a:cs typeface="Arial" pitchFamily="34" charset="-120"/>
              </a:rPr>
              <a:t>VAD HETER SAKERNA?</a:t>
            </a:r>
            <a:endParaRPr lang="en-US" sz="1100" dirty="0"/>
          </a:p>
        </p:txBody>
      </p:sp>
      <p:sp>
        <p:nvSpPr>
          <p:cNvPr id="10" name="Text 8"/>
          <p:cNvSpPr txBox="1"/>
          <p:nvPr/>
        </p:nvSpPr>
        <p:spPr>
          <a:xfrm>
            <a:off x="4566818" y="2194560"/>
            <a:ext cx="3058058" cy="457200"/>
          </a:xfrm>
          <a:prstGeom prst="rect">
            <a:avLst/>
          </a:prstGeom>
          <a:noFill/>
          <a:ln/>
        </p:spPr>
        <p:txBody>
          <a:bodyPr wrap="square" lIns="0" tIns="0" rIns="0" bIns="0" rtlCol="0" anchor="ctr"/>
          <a:lstStyle/>
          <a:p>
            <a:pPr marL="0" indent="0">
              <a:buNone/>
            </a:pPr>
            <a:r>
              <a:rPr lang="en-US" sz="2200" b="1" dirty="0">
                <a:solidFill>
                  <a:srgbClr val="F5F7FA"/>
                </a:solidFill>
                <a:latin typeface="Calibri" pitchFamily="34" charset="0"/>
                <a:ea typeface="Calibri" pitchFamily="34" charset="-122"/>
                <a:cs typeface="Calibri" pitchFamily="34" charset="-120"/>
              </a:rPr>
              <a:t>Semantiska konventioner</a:t>
            </a:r>
            <a:endParaRPr lang="en-US" sz="2200" dirty="0"/>
          </a:p>
        </p:txBody>
      </p:sp>
      <p:sp>
        <p:nvSpPr>
          <p:cNvPr id="11" name="Text 9"/>
          <p:cNvSpPr txBox="1"/>
          <p:nvPr/>
        </p:nvSpPr>
        <p:spPr>
          <a:xfrm>
            <a:off x="4566818" y="2834640"/>
            <a:ext cx="3058058" cy="1737360"/>
          </a:xfrm>
          <a:prstGeom prst="rect">
            <a:avLst/>
          </a:prstGeom>
          <a:noFill/>
          <a:ln/>
        </p:spPr>
        <p:txBody>
          <a:bodyPr wrap="square" lIns="0" tIns="0" rIns="0" bIns="0" rtlCol="0" anchor="t"/>
          <a:lstStyle/>
          <a:p>
            <a:pPr marL="0" indent="0">
              <a:lnSpc>
                <a:spcPct val="115000"/>
              </a:lnSpc>
              <a:buNone/>
            </a:pPr>
            <a:r>
              <a:rPr lang="en-US" sz="1400" dirty="0">
                <a:solidFill>
                  <a:srgbClr val="B9C4D1"/>
                </a:solidFill>
                <a:latin typeface="Arial" pitchFamily="34" charset="0"/>
                <a:ea typeface="Arial" pitchFamily="34" charset="-122"/>
                <a:cs typeface="Arial" pitchFamily="34" charset="-120"/>
              </a:rPr>
              <a:t>Gemensamma attributnamn: service.name, http.request.method, http.response.status_code, db.system … Samma namn oavsett språk.</a:t>
            </a:r>
            <a:endParaRPr lang="en-US" sz="1400" dirty="0"/>
          </a:p>
        </p:txBody>
      </p:sp>
      <p:sp>
        <p:nvSpPr>
          <p:cNvPr id="12" name="Shape 10"/>
          <p:cNvSpPr/>
          <p:nvPr/>
        </p:nvSpPr>
        <p:spPr>
          <a:xfrm>
            <a:off x="8127797" y="1645920"/>
            <a:ext cx="3515258" cy="3017520"/>
          </a:xfrm>
          <a:prstGeom prst="roundRect">
            <a:avLst>
              <a:gd name="adj" fmla="val 1818"/>
            </a:avLst>
          </a:prstGeom>
          <a:solidFill>
            <a:srgbClr val="16294A"/>
          </a:solidFill>
          <a:ln w="12700">
            <a:solidFill>
              <a:srgbClr val="16294A"/>
            </a:solidFill>
            <a:prstDash val="solid"/>
          </a:ln>
        </p:spPr>
      </p:sp>
      <p:sp>
        <p:nvSpPr>
          <p:cNvPr id="13" name="Text 11"/>
          <p:cNvSpPr txBox="1"/>
          <p:nvPr/>
        </p:nvSpPr>
        <p:spPr>
          <a:xfrm>
            <a:off x="8356397" y="1874520"/>
            <a:ext cx="3058058" cy="274320"/>
          </a:xfrm>
          <a:prstGeom prst="rect">
            <a:avLst/>
          </a:prstGeom>
          <a:noFill/>
          <a:ln/>
        </p:spPr>
        <p:txBody>
          <a:bodyPr wrap="square" lIns="0" tIns="0" rIns="0" bIns="0" rtlCol="0" anchor="ctr"/>
          <a:lstStyle/>
          <a:p>
            <a:pPr marL="0" indent="0">
              <a:buNone/>
            </a:pPr>
            <a:r>
              <a:rPr lang="en-US" sz="1100" b="1" kern="0" spc="200" dirty="0">
                <a:solidFill>
                  <a:srgbClr val="7C9CFF"/>
                </a:solidFill>
                <a:latin typeface="Arial" pitchFamily="34" charset="0"/>
                <a:ea typeface="Arial" pitchFamily="34" charset="-122"/>
                <a:cs typeface="Arial" pitchFamily="34" charset="-120"/>
              </a:rPr>
              <a:t>HUR HÄNGER ANROPEN IHOP?</a:t>
            </a:r>
            <a:endParaRPr lang="en-US" sz="1100" dirty="0"/>
          </a:p>
        </p:txBody>
      </p:sp>
      <p:sp>
        <p:nvSpPr>
          <p:cNvPr id="14" name="Text 12"/>
          <p:cNvSpPr txBox="1"/>
          <p:nvPr/>
        </p:nvSpPr>
        <p:spPr>
          <a:xfrm>
            <a:off x="8356397" y="2194560"/>
            <a:ext cx="3058058" cy="457200"/>
          </a:xfrm>
          <a:prstGeom prst="rect">
            <a:avLst/>
          </a:prstGeom>
          <a:noFill/>
          <a:ln/>
        </p:spPr>
        <p:txBody>
          <a:bodyPr wrap="square" lIns="0" tIns="0" rIns="0" bIns="0" rtlCol="0" anchor="ctr"/>
          <a:lstStyle/>
          <a:p>
            <a:pPr marL="0" indent="0">
              <a:buNone/>
            </a:pPr>
            <a:r>
              <a:rPr lang="en-US" sz="2200" b="1" dirty="0">
                <a:solidFill>
                  <a:srgbClr val="F5F7FA"/>
                </a:solidFill>
                <a:latin typeface="Calibri" pitchFamily="34" charset="0"/>
                <a:ea typeface="Calibri" pitchFamily="34" charset="-122"/>
                <a:cs typeface="Calibri" pitchFamily="34" charset="-120"/>
              </a:rPr>
              <a:t>W3C Trace Context</a:t>
            </a:r>
            <a:endParaRPr lang="en-US" sz="2200" dirty="0"/>
          </a:p>
        </p:txBody>
      </p:sp>
      <p:sp>
        <p:nvSpPr>
          <p:cNvPr id="15" name="Text 13"/>
          <p:cNvSpPr txBox="1"/>
          <p:nvPr/>
        </p:nvSpPr>
        <p:spPr>
          <a:xfrm>
            <a:off x="8356397" y="2834640"/>
            <a:ext cx="3058058" cy="1737360"/>
          </a:xfrm>
          <a:prstGeom prst="rect">
            <a:avLst/>
          </a:prstGeom>
          <a:noFill/>
          <a:ln/>
        </p:spPr>
        <p:txBody>
          <a:bodyPr wrap="square" lIns="0" tIns="0" rIns="0" bIns="0" rtlCol="0" anchor="t"/>
          <a:lstStyle/>
          <a:p>
            <a:pPr marL="0" indent="0">
              <a:lnSpc>
                <a:spcPct val="115000"/>
              </a:lnSpc>
              <a:buNone/>
            </a:pPr>
            <a:r>
              <a:rPr lang="en-US" sz="1400" dirty="0">
                <a:solidFill>
                  <a:srgbClr val="B9C4D1"/>
                </a:solidFill>
                <a:latin typeface="Arial" pitchFamily="34" charset="0"/>
                <a:ea typeface="Arial" pitchFamily="34" charset="-122"/>
                <a:cs typeface="Arial" pitchFamily="34" charset="-120"/>
              </a:rPr>
              <a:t>Headern traceparent bär trace_id mellan tjänster - webbläsare, nginx och .NET förstår samma format.</a:t>
            </a:r>
            <a:endParaRPr lang="en-US" sz="1400" dirty="0"/>
          </a:p>
        </p:txBody>
      </p:sp>
      <p:sp>
        <p:nvSpPr>
          <p:cNvPr id="16" name="Shape 14"/>
          <p:cNvSpPr/>
          <p:nvPr/>
        </p:nvSpPr>
        <p:spPr>
          <a:xfrm>
            <a:off x="548640" y="4892040"/>
            <a:ext cx="11094415" cy="960120"/>
          </a:xfrm>
          <a:prstGeom prst="roundRect">
            <a:avLst>
              <a:gd name="adj" fmla="val 5714"/>
            </a:avLst>
          </a:prstGeom>
          <a:solidFill>
            <a:srgbClr val="16294A"/>
          </a:solidFill>
          <a:ln w="12700">
            <a:solidFill>
              <a:srgbClr val="16294A"/>
            </a:solidFill>
            <a:prstDash val="solid"/>
          </a:ln>
        </p:spPr>
      </p:sp>
      <p:sp>
        <p:nvSpPr>
          <p:cNvPr id="17" name="Shape 15"/>
          <p:cNvSpPr/>
          <p:nvPr/>
        </p:nvSpPr>
        <p:spPr>
          <a:xfrm>
            <a:off x="749808" y="5056632"/>
            <a:ext cx="109728" cy="109728"/>
          </a:xfrm>
          <a:prstGeom prst="ellipse">
            <a:avLst/>
          </a:prstGeom>
          <a:solidFill>
            <a:srgbClr val="D64545"/>
          </a:solidFill>
          <a:ln w="12700">
            <a:solidFill>
              <a:srgbClr val="D64545"/>
            </a:solidFill>
            <a:prstDash val="solid"/>
          </a:ln>
        </p:spPr>
      </p:sp>
      <p:sp>
        <p:nvSpPr>
          <p:cNvPr id="18" name="Shape 16"/>
          <p:cNvSpPr/>
          <p:nvPr/>
        </p:nvSpPr>
        <p:spPr>
          <a:xfrm>
            <a:off x="932688" y="5056632"/>
            <a:ext cx="109728" cy="109728"/>
          </a:xfrm>
          <a:prstGeom prst="ellipse">
            <a:avLst/>
          </a:prstGeom>
          <a:solidFill>
            <a:srgbClr val="FFB020"/>
          </a:solidFill>
          <a:ln w="12700">
            <a:solidFill>
              <a:srgbClr val="FFB020"/>
            </a:solidFill>
            <a:prstDash val="solid"/>
          </a:ln>
        </p:spPr>
      </p:sp>
      <p:sp>
        <p:nvSpPr>
          <p:cNvPr id="19" name="Shape 17"/>
          <p:cNvSpPr/>
          <p:nvPr/>
        </p:nvSpPr>
        <p:spPr>
          <a:xfrm>
            <a:off x="1115568" y="5056632"/>
            <a:ext cx="109728" cy="109728"/>
          </a:xfrm>
          <a:prstGeom prst="ellipse">
            <a:avLst/>
          </a:prstGeom>
          <a:solidFill>
            <a:srgbClr val="3CB371"/>
          </a:solidFill>
          <a:ln w="12700">
            <a:solidFill>
              <a:srgbClr val="3CB371"/>
            </a:solidFill>
            <a:prstDash val="solid"/>
          </a:ln>
        </p:spPr>
      </p:sp>
      <p:sp>
        <p:nvSpPr>
          <p:cNvPr id="20" name="Text 18"/>
          <p:cNvSpPr txBox="1"/>
          <p:nvPr/>
        </p:nvSpPr>
        <p:spPr>
          <a:xfrm>
            <a:off x="1371600" y="4983480"/>
            <a:ext cx="10088575"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W3C Trace Context</a:t>
            </a:r>
            <a:endParaRPr lang="en-US" sz="1100" dirty="0"/>
          </a:p>
        </p:txBody>
      </p:sp>
      <p:sp>
        <p:nvSpPr>
          <p:cNvPr id="21" name="Text 19"/>
          <p:cNvSpPr txBox="1"/>
          <p:nvPr/>
        </p:nvSpPr>
        <p:spPr>
          <a:xfrm>
            <a:off x="777240" y="5349240"/>
            <a:ext cx="10637215" cy="365760"/>
          </a:xfrm>
          <a:prstGeom prst="rect">
            <a:avLst/>
          </a:prstGeom>
          <a:noFill/>
          <a:ln/>
        </p:spPr>
        <p:txBody>
          <a:bodyPr wrap="square" lIns="0" tIns="0" rIns="0" bIns="0" rtlCol="0" anchor="t"/>
          <a:lstStyle/>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traceparent: 00-4bf92f3577b34da6a3ce929d0e0e4736-00f067aa0ba902b7-01      # version - trace_id - span_id - flaggor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OPENTELEMETRY · SAMVERKAN</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Så pratar komponenterna med varandra</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3364992"/>
        </p:xfrm>
        <a:graphic>
          <a:graphicData uri="http://schemas.openxmlformats.org/drawingml/2006/table">
            <a:tbl>
              <a:tblPr/>
              <a:tblGrid>
                <a:gridCol w="26517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679192">
                  <a:extLst>
                    <a:ext uri="{9D8B030D-6E8A-4147-A177-3AD203B41FA5}">
                      <a16:colId xmlns:a16="http://schemas.microsoft.com/office/drawing/2014/main" val="20003"/>
                    </a:ext>
                  </a:extLst>
                </a:gridCol>
              </a:tblGrid>
              <a:tr h="420624">
                <a:tc>
                  <a:txBody>
                    <a:bodyPr/>
                    <a:lstStyle/>
                    <a:p>
                      <a:pPr marL="0" indent="0">
                        <a:buNone/>
                      </a:pPr>
                      <a:r>
                        <a:rPr lang="en-US" sz="1200" b="1" dirty="0">
                          <a:solidFill>
                            <a:srgbClr val="3762FF"/>
                          </a:solidFill>
                          <a:latin typeface="Arial" pitchFamily="34" charset="0"/>
                          <a:ea typeface="Arial" pitchFamily="34" charset="-122"/>
                          <a:cs typeface="Arial" pitchFamily="34" charset="-120"/>
                        </a:rPr>
                        <a:t>Från</a:t>
                      </a:r>
                      <a:endParaRPr lang="en-US" sz="1200" dirty="0">
                        <a:latin typeface="Arial" charset="0"/>
                        <a:ea typeface="Arial" charset="0"/>
                        <a:cs typeface="Arial" charset="0"/>
                      </a:endParaRPr>
                    </a:p>
                  </a:txBody>
                  <a:tcPr marL="73152" marR="73152">
                    <a:lnL w="0" cap="flat" cmpd="sng" algn="ctr">
                      <a:noFill/>
                    </a:lnL>
                    <a:lnR w="0" cap="flat" cmpd="sng" algn="ctr">
                      <a:noFill/>
                    </a:lnR>
                    <a:lnT w="0" cap="flat" cmpd="sng" algn="ctr">
                      <a:noFill/>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b="1" dirty="0">
                          <a:solidFill>
                            <a:srgbClr val="3762FF"/>
                          </a:solidFill>
                          <a:latin typeface="Arial" pitchFamily="34" charset="0"/>
                          <a:ea typeface="Arial" pitchFamily="34" charset="-122"/>
                          <a:cs typeface="Arial" pitchFamily="34" charset="-120"/>
                        </a:rPr>
                        <a:t>Till</a:t>
                      </a:r>
                      <a:endParaRPr lang="en-US" sz="1200" dirty="0">
                        <a:latin typeface="Arial" charset="0"/>
                        <a:ea typeface="Arial" charset="0"/>
                        <a:cs typeface="Arial" charset="0"/>
                      </a:endParaRPr>
                    </a:p>
                  </a:txBody>
                  <a:tcPr marL="73152" marR="73152">
                    <a:lnL w="0" cap="flat" cmpd="sng" algn="ctr">
                      <a:noFill/>
                    </a:lnL>
                    <a:lnR w="0" cap="flat" cmpd="sng" algn="ctr">
                      <a:noFill/>
                    </a:lnR>
                    <a:lnT w="0" cap="flat" cmpd="sng" algn="ctr">
                      <a:noFill/>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b="1" dirty="0">
                          <a:solidFill>
                            <a:srgbClr val="3762FF"/>
                          </a:solidFill>
                          <a:latin typeface="Arial" pitchFamily="34" charset="0"/>
                          <a:ea typeface="Arial" pitchFamily="34" charset="-122"/>
                          <a:cs typeface="Arial" pitchFamily="34" charset="-120"/>
                        </a:rPr>
                        <a:t>Format</a:t>
                      </a:r>
                      <a:endParaRPr lang="en-US" sz="1200" dirty="0">
                        <a:latin typeface="Arial" charset="0"/>
                        <a:ea typeface="Arial" charset="0"/>
                        <a:cs typeface="Arial" charset="0"/>
                      </a:endParaRPr>
                    </a:p>
                  </a:txBody>
                  <a:tcPr marL="73152" marR="73152">
                    <a:lnL w="0" cap="flat" cmpd="sng" algn="ctr">
                      <a:noFill/>
                    </a:lnL>
                    <a:lnR w="0" cap="flat" cmpd="sng" algn="ctr">
                      <a:noFill/>
                    </a:lnR>
                    <a:lnT w="0" cap="flat" cmpd="sng" algn="ctr">
                      <a:noFill/>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b="1" dirty="0">
                          <a:solidFill>
                            <a:srgbClr val="3762FF"/>
                          </a:solidFill>
                          <a:latin typeface="Arial" pitchFamily="34" charset="0"/>
                          <a:ea typeface="Arial" pitchFamily="34" charset="-122"/>
                          <a:cs typeface="Arial" pitchFamily="34" charset="-120"/>
                        </a:rPr>
                        <a:t>Standard</a:t>
                      </a:r>
                      <a:endParaRPr lang="en-US" sz="1200" dirty="0">
                        <a:latin typeface="Arial" charset="0"/>
                        <a:ea typeface="Arial" charset="0"/>
                        <a:cs typeface="Arial" charset="0"/>
                      </a:endParaRPr>
                    </a:p>
                  </a:txBody>
                  <a:tcPr marL="73152" marR="73152">
                    <a:lnL w="0" cap="flat" cmpd="sng" algn="ctr">
                      <a:noFill/>
                    </a:lnL>
                    <a:lnR w="0" cap="flat" cmpd="sng" algn="ctr">
                      <a:noFill/>
                    </a:lnR>
                    <a:lnT w="0" cap="flat" cmpd="sng" algn="ctr">
                      <a:noFill/>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0"/>
                  </a:ext>
                </a:extLst>
              </a:tr>
              <a:tr h="420624">
                <a:tc>
                  <a:txBody>
                    <a:bodyPr/>
                    <a:lstStyle/>
                    <a:p>
                      <a:pPr marL="0" indent="0">
                        <a:buNone/>
                      </a:pPr>
                      <a:r>
                        <a:rPr lang="en-US" sz="1200" dirty="0">
                          <a:solidFill>
                            <a:srgbClr val="16202B"/>
                          </a:solidFill>
                          <a:latin typeface="Arial" pitchFamily="34" charset="0"/>
                          <a:ea typeface="Arial" pitchFamily="34" charset="-122"/>
                          <a:cs typeface="Arial" pitchFamily="34" charset="-120"/>
                        </a:rPr>
                        <a:t>TelemetryApi (.NET)</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Arial" pitchFamily="34" charset="0"/>
                          <a:ea typeface="Arial" pitchFamily="34" charset="-122"/>
                          <a:cs typeface="Arial" pitchFamily="34" charset="-120"/>
                        </a:rPr>
                        <a:t>otel-collector</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OTLP/gRPC :4317</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3762FF"/>
                          </a:solidFill>
                          <a:latin typeface="Arial" pitchFamily="34" charset="0"/>
                          <a:ea typeface="Arial" pitchFamily="34" charset="-122"/>
                          <a:cs typeface="Arial" pitchFamily="34" charset="-120"/>
                        </a:rPr>
                        <a:t>OpenTelemetry</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1"/>
                  </a:ext>
                </a:extLst>
              </a:tr>
              <a:tr h="420624">
                <a:tc>
                  <a:txBody>
                    <a:bodyPr/>
                    <a:lstStyle/>
                    <a:p>
                      <a:pPr marL="0" indent="0">
                        <a:buNone/>
                      </a:pPr>
                      <a:r>
                        <a:rPr lang="en-US" sz="1200" dirty="0">
                          <a:solidFill>
                            <a:srgbClr val="16202B"/>
                          </a:solidFill>
                          <a:latin typeface="Arial" pitchFamily="34" charset="0"/>
                          <a:ea typeface="Arial" pitchFamily="34" charset="-122"/>
                          <a:cs typeface="Arial" pitchFamily="34" charset="-120"/>
                        </a:rPr>
                        <a:t>Webbläsaren (Faro)</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Arial" pitchFamily="34" charset="0"/>
                          <a:ea typeface="Arial" pitchFamily="34" charset="-122"/>
                          <a:cs typeface="Arial" pitchFamily="34" charset="-120"/>
                        </a:rPr>
                        <a:t>faro-collector</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Faro-JSON via /faro</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Arial" pitchFamily="34" charset="0"/>
                          <a:ea typeface="Arial" pitchFamily="34" charset="-122"/>
                          <a:cs typeface="Arial" pitchFamily="34" charset="-120"/>
                        </a:rPr>
                        <a:t>Grafana Faro</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2"/>
                  </a:ext>
                </a:extLst>
              </a:tr>
              <a:tr h="420624">
                <a:tc>
                  <a:txBody>
                    <a:bodyPr/>
                    <a:lstStyle/>
                    <a:p>
                      <a:pPr marL="0" indent="0">
                        <a:buNone/>
                      </a:pPr>
                      <a:r>
                        <a:rPr lang="en-US" sz="1200" dirty="0">
                          <a:solidFill>
                            <a:srgbClr val="16202B"/>
                          </a:solidFill>
                          <a:latin typeface="Arial" pitchFamily="34" charset="0"/>
                          <a:ea typeface="Arial" pitchFamily="34" charset="-122"/>
                          <a:cs typeface="Arial" pitchFamily="34" charset="-120"/>
                        </a:rPr>
                        <a:t>faro-collector</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Arial" pitchFamily="34" charset="0"/>
                          <a:ea typeface="Arial" pitchFamily="34" charset="-122"/>
                          <a:cs typeface="Arial" pitchFamily="34" charset="-120"/>
                        </a:rPr>
                        <a:t>otel-collector</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OTLP/gRPC :4317</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3762FF"/>
                          </a:solidFill>
                          <a:latin typeface="Arial" pitchFamily="34" charset="0"/>
                          <a:ea typeface="Arial" pitchFamily="34" charset="-122"/>
                          <a:cs typeface="Arial" pitchFamily="34" charset="-120"/>
                        </a:rPr>
                        <a:t>OpenTelemetry</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3"/>
                  </a:ext>
                </a:extLst>
              </a:tr>
              <a:tr h="420624">
                <a:tc>
                  <a:txBody>
                    <a:bodyPr/>
                    <a:lstStyle/>
                    <a:p>
                      <a:pPr marL="0" indent="0">
                        <a:buNone/>
                      </a:pPr>
                      <a:r>
                        <a:rPr lang="en-US" sz="1200" dirty="0">
                          <a:solidFill>
                            <a:srgbClr val="16202B"/>
                          </a:solidFill>
                          <a:latin typeface="Arial" pitchFamily="34" charset="0"/>
                          <a:ea typeface="Arial" pitchFamily="34" charset="-122"/>
                          <a:cs typeface="Arial" pitchFamily="34" charset="-120"/>
                        </a:rPr>
                        <a:t>otel-collector</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Arial" pitchFamily="34" charset="0"/>
                          <a:ea typeface="Arial" pitchFamily="34" charset="-122"/>
                          <a:cs typeface="Arial" pitchFamily="34" charset="-120"/>
                        </a:rPr>
                        <a:t>Tempo</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OTLP/gRPC :4317</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3762FF"/>
                          </a:solidFill>
                          <a:latin typeface="Arial" pitchFamily="34" charset="0"/>
                          <a:ea typeface="Arial" pitchFamily="34" charset="-122"/>
                          <a:cs typeface="Arial" pitchFamily="34" charset="-120"/>
                        </a:rPr>
                        <a:t>OpenTelemetry</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4"/>
                  </a:ext>
                </a:extLst>
              </a:tr>
              <a:tr h="420624">
                <a:tc>
                  <a:txBody>
                    <a:bodyPr/>
                    <a:lstStyle/>
                    <a:p>
                      <a:pPr marL="0" indent="0">
                        <a:buNone/>
                      </a:pPr>
                      <a:r>
                        <a:rPr lang="en-US" sz="1200" dirty="0">
                          <a:solidFill>
                            <a:srgbClr val="16202B"/>
                          </a:solidFill>
                          <a:latin typeface="Arial" pitchFamily="34" charset="0"/>
                          <a:ea typeface="Arial" pitchFamily="34" charset="-122"/>
                          <a:cs typeface="Arial" pitchFamily="34" charset="-120"/>
                        </a:rPr>
                        <a:t>otel-collector</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Arial" pitchFamily="34" charset="0"/>
                          <a:ea typeface="Arial" pitchFamily="34" charset="-122"/>
                          <a:cs typeface="Arial" pitchFamily="34" charset="-120"/>
                        </a:rPr>
                        <a:t>Loki</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OTLP/HTTP /otlp</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3762FF"/>
                          </a:solidFill>
                          <a:latin typeface="Arial" pitchFamily="34" charset="0"/>
                          <a:ea typeface="Arial" pitchFamily="34" charset="-122"/>
                          <a:cs typeface="Arial" pitchFamily="34" charset="-120"/>
                        </a:rPr>
                        <a:t>OpenTelemetry</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5"/>
                  </a:ext>
                </a:extLst>
              </a:tr>
              <a:tr h="420624">
                <a:tc>
                  <a:txBody>
                    <a:bodyPr/>
                    <a:lstStyle/>
                    <a:p>
                      <a:pPr marL="0" indent="0">
                        <a:buNone/>
                      </a:pPr>
                      <a:r>
                        <a:rPr lang="en-US" sz="1200" dirty="0">
                          <a:solidFill>
                            <a:srgbClr val="16202B"/>
                          </a:solidFill>
                          <a:latin typeface="Arial" pitchFamily="34" charset="0"/>
                          <a:ea typeface="Arial" pitchFamily="34" charset="-122"/>
                          <a:cs typeface="Arial" pitchFamily="34" charset="-120"/>
                        </a:rPr>
                        <a:t>Prometheus</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Arial" pitchFamily="34" charset="0"/>
                          <a:ea typeface="Arial" pitchFamily="34" charset="-122"/>
                          <a:cs typeface="Arial" pitchFamily="34" charset="-120"/>
                        </a:rPr>
                        <a:t>otel-collector :8889</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hämtar /metrics (scrape)</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Arial" pitchFamily="34" charset="0"/>
                          <a:ea typeface="Arial" pitchFamily="34" charset="-122"/>
                          <a:cs typeface="Arial" pitchFamily="34" charset="-120"/>
                        </a:rPr>
                        <a:t>Prometheus-format</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6"/>
                  </a:ext>
                </a:extLst>
              </a:tr>
              <a:tr h="420624">
                <a:tc>
                  <a:txBody>
                    <a:bodyPr/>
                    <a:lstStyle/>
                    <a:p>
                      <a:pPr marL="0" indent="0">
                        <a:buNone/>
                      </a:pPr>
                      <a:r>
                        <a:rPr lang="en-US" sz="1200" dirty="0">
                          <a:solidFill>
                            <a:srgbClr val="16202B"/>
                          </a:solidFill>
                          <a:latin typeface="Arial" pitchFamily="34" charset="0"/>
                          <a:ea typeface="Arial" pitchFamily="34" charset="-122"/>
                          <a:cs typeface="Arial" pitchFamily="34" charset="-120"/>
                        </a:rPr>
                        <a:t>Grafana</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Arial" pitchFamily="34" charset="0"/>
                          <a:ea typeface="Arial" pitchFamily="34" charset="-122"/>
                          <a:cs typeface="Arial" pitchFamily="34" charset="-120"/>
                        </a:rPr>
                        <a:t>Tempo / Loki / Prometheus</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TraceQL / LogQL / PromQL</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Arial" pitchFamily="34" charset="0"/>
                          <a:ea typeface="Arial" pitchFamily="34" charset="-122"/>
                          <a:cs typeface="Arial" pitchFamily="34" charset="-120"/>
                        </a:rPr>
                        <a:t>respektive frågespråk</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7"/>
                  </a:ext>
                </a:extLst>
              </a:tr>
            </a:tbl>
          </a:graphicData>
        </a:graphic>
      </p:graphicFrame>
      <p:sp>
        <p:nvSpPr>
          <p:cNvPr id="5" name="Text 2"/>
          <p:cNvSpPr txBox="1"/>
          <p:nvPr/>
        </p:nvSpPr>
        <p:spPr>
          <a:xfrm>
            <a:off x="548640" y="5166360"/>
            <a:ext cx="11094415" cy="640080"/>
          </a:xfrm>
          <a:prstGeom prst="rect">
            <a:avLst/>
          </a:prstGeom>
          <a:noFill/>
          <a:ln/>
        </p:spPr>
        <p:txBody>
          <a:bodyPr wrap="square" lIns="0" tIns="0" rIns="0" bIns="0" rtlCol="0" anchor="t"/>
          <a:lstStyle/>
          <a:p>
            <a:pPr marL="0" indent="0">
              <a:lnSpc>
                <a:spcPct val="120000"/>
              </a:lnSpc>
              <a:buNone/>
            </a:pPr>
            <a:r>
              <a:rPr lang="en-US" sz="1400" dirty="0">
                <a:solidFill>
                  <a:srgbClr val="4A5568"/>
                </a:solidFill>
                <a:latin typeface="Arial" pitchFamily="34" charset="0"/>
                <a:ea typeface="Arial" pitchFamily="34" charset="-122"/>
                <a:cs typeface="Arial" pitchFamily="34" charset="-120"/>
              </a:rPr>
              <a:t>Allt in till collectorn och ut till lagringen är OTLP. Bara webbläsaren (Faro) och Prometheus egen hämtning avviker - och collectorn översätter.</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marL="0" indent="0">
              <a:buNone/>
            </a:pPr>
            <a:r>
              <a:rPr lang="en-US" sz="15000" b="1" dirty="0">
                <a:solidFill>
                  <a:srgbClr val="16294A"/>
                </a:solidFill>
                <a:latin typeface="Calibri" pitchFamily="34" charset="0"/>
                <a:ea typeface="Calibri" pitchFamily="34" charset="-122"/>
                <a:cs typeface="Calibri" pitchFamily="34" charset="-120"/>
              </a:rPr>
              <a:t>03</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marL="0" indent="0">
              <a:buNone/>
            </a:pPr>
            <a:r>
              <a:rPr lang="en-US" sz="5200" b="1" dirty="0">
                <a:solidFill>
                  <a:srgbClr val="F5F7FA"/>
                </a:solidFill>
                <a:latin typeface="Calibri" pitchFamily="34" charset="0"/>
                <a:ea typeface="Calibri" pitchFamily="34" charset="-122"/>
                <a:cs typeface="Calibri" pitchFamily="34" charset="-120"/>
              </a:rPr>
              <a:t>Komponenterna</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marL="0" indent="0">
              <a:lnSpc>
                <a:spcPct val="120000"/>
              </a:lnSpc>
              <a:buNone/>
            </a:pPr>
            <a:r>
              <a:rPr lang="en-US" sz="1800" dirty="0">
                <a:solidFill>
                  <a:srgbClr val="B9C4D1"/>
                </a:solidFill>
                <a:latin typeface="Arial" pitchFamily="34" charset="0"/>
                <a:ea typeface="Arial" pitchFamily="34" charset="-122"/>
                <a:cs typeface="Arial" pitchFamily="34" charset="-120"/>
              </a:rPr>
              <a:t>Sex delar i namespace monitoring - vad var och en gör</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KOMPONENTERNA · FLÖDET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Från app till Grafana</a:t>
            </a:r>
            <a:endParaRPr lang="en-US" sz="3000" dirty="0"/>
          </a:p>
        </p:txBody>
      </p:sp>
      <p:sp>
        <p:nvSpPr>
          <p:cNvPr id="4" name="Shape 2"/>
          <p:cNvSpPr/>
          <p:nvPr/>
        </p:nvSpPr>
        <p:spPr>
          <a:xfrm>
            <a:off x="548640" y="1737360"/>
            <a:ext cx="2194560" cy="822960"/>
          </a:xfrm>
          <a:prstGeom prst="roundRect">
            <a:avLst>
              <a:gd name="adj" fmla="val 6667"/>
            </a:avLst>
          </a:prstGeom>
          <a:solidFill>
            <a:srgbClr val="16294A"/>
          </a:solidFill>
          <a:ln w="12700">
            <a:solidFill>
              <a:srgbClr val="16294A"/>
            </a:solidFill>
            <a:prstDash val="solid"/>
          </a:ln>
        </p:spPr>
      </p:sp>
      <p:sp>
        <p:nvSpPr>
          <p:cNvPr id="5" name="Text 3"/>
          <p:cNvSpPr txBox="1"/>
          <p:nvPr/>
        </p:nvSpPr>
        <p:spPr>
          <a:xfrm>
            <a:off x="640080" y="1737360"/>
            <a:ext cx="2011680" cy="822960"/>
          </a:xfrm>
          <a:prstGeom prst="rect">
            <a:avLst/>
          </a:prstGeom>
          <a:noFill/>
          <a:ln/>
        </p:spPr>
        <p:txBody>
          <a:bodyPr wrap="square" lIns="0" tIns="0" rIns="0" bIns="0" rtlCol="0" anchor="ctr"/>
          <a:lstStyle/>
          <a:p>
            <a:pPr marL="0" indent="0" algn="ctr">
              <a:buNone/>
            </a:pPr>
            <a:r>
              <a:rPr lang="en-US" sz="1400" b="1" dirty="0">
                <a:solidFill>
                  <a:srgbClr val="F5F7FA"/>
                </a:solidFill>
                <a:latin typeface="Calibri" pitchFamily="34" charset="0"/>
                <a:ea typeface="Calibri" pitchFamily="34" charset="-122"/>
                <a:cs typeface="Calibri" pitchFamily="34" charset="-120"/>
              </a:rPr>
              <a:t>TelemetryApi</a:t>
            </a:r>
            <a:endParaRPr lang="en-US" sz="1400" dirty="0"/>
          </a:p>
          <a:p>
            <a:pPr marL="0" indent="0" algn="ctr">
              <a:buNone/>
            </a:pPr>
            <a:r>
              <a:rPr lang="en-US" sz="1400" b="1" dirty="0">
                <a:solidFill>
                  <a:srgbClr val="F5F7FA"/>
                </a:solidFill>
                <a:latin typeface="Calibri" pitchFamily="34" charset="0"/>
                <a:ea typeface="Calibri" pitchFamily="34" charset="-122"/>
                <a:cs typeface="Calibri" pitchFamily="34" charset="-120"/>
              </a:rPr>
              <a:t>.NET</a:t>
            </a:r>
            <a:endParaRPr lang="en-US" sz="1400" dirty="0"/>
          </a:p>
        </p:txBody>
      </p:sp>
      <p:sp>
        <p:nvSpPr>
          <p:cNvPr id="6" name="Shape 4"/>
          <p:cNvSpPr/>
          <p:nvPr/>
        </p:nvSpPr>
        <p:spPr>
          <a:xfrm>
            <a:off x="548640" y="3200400"/>
            <a:ext cx="2194560" cy="822960"/>
          </a:xfrm>
          <a:prstGeom prst="roundRect">
            <a:avLst>
              <a:gd name="adj" fmla="val 6667"/>
            </a:avLst>
          </a:prstGeom>
          <a:solidFill>
            <a:srgbClr val="16294A"/>
          </a:solidFill>
          <a:ln w="12700">
            <a:solidFill>
              <a:srgbClr val="16294A"/>
            </a:solidFill>
            <a:prstDash val="solid"/>
          </a:ln>
        </p:spPr>
      </p:sp>
      <p:sp>
        <p:nvSpPr>
          <p:cNvPr id="7" name="Text 5"/>
          <p:cNvSpPr txBox="1"/>
          <p:nvPr/>
        </p:nvSpPr>
        <p:spPr>
          <a:xfrm>
            <a:off x="640080" y="3200400"/>
            <a:ext cx="2011680" cy="822960"/>
          </a:xfrm>
          <a:prstGeom prst="rect">
            <a:avLst/>
          </a:prstGeom>
          <a:noFill/>
          <a:ln/>
        </p:spPr>
        <p:txBody>
          <a:bodyPr wrap="square" lIns="0" tIns="0" rIns="0" bIns="0" rtlCol="0" anchor="ctr"/>
          <a:lstStyle/>
          <a:p>
            <a:pPr marL="0" indent="0" algn="ctr">
              <a:buNone/>
            </a:pPr>
            <a:r>
              <a:rPr lang="en-US" sz="1400" b="1" dirty="0">
                <a:solidFill>
                  <a:srgbClr val="F5F7FA"/>
                </a:solidFill>
                <a:latin typeface="Calibri" pitchFamily="34" charset="0"/>
                <a:ea typeface="Calibri" pitchFamily="34" charset="-122"/>
                <a:cs typeface="Calibri" pitchFamily="34" charset="-120"/>
              </a:rPr>
              <a:t>CustomerClient</a:t>
            </a:r>
            <a:endParaRPr lang="en-US" sz="1400" dirty="0"/>
          </a:p>
          <a:p>
            <a:pPr marL="0" indent="0" algn="ctr">
              <a:buNone/>
            </a:pPr>
            <a:r>
              <a:rPr lang="en-US" sz="1400" b="1" dirty="0">
                <a:solidFill>
                  <a:srgbClr val="F5F7FA"/>
                </a:solidFill>
                <a:latin typeface="Calibri" pitchFamily="34" charset="0"/>
                <a:ea typeface="Calibri" pitchFamily="34" charset="-122"/>
                <a:cs typeface="Calibri" pitchFamily="34" charset="-120"/>
              </a:rPr>
              <a:t>webbläsare</a:t>
            </a:r>
            <a:endParaRPr lang="en-US" sz="1400" dirty="0"/>
          </a:p>
        </p:txBody>
      </p:sp>
      <p:sp>
        <p:nvSpPr>
          <p:cNvPr id="8" name="Shape 6"/>
          <p:cNvSpPr/>
          <p:nvPr/>
        </p:nvSpPr>
        <p:spPr>
          <a:xfrm>
            <a:off x="3291840" y="3200400"/>
            <a:ext cx="2011680" cy="822960"/>
          </a:xfrm>
          <a:prstGeom prst="roundRect">
            <a:avLst>
              <a:gd name="adj" fmla="val 6667"/>
            </a:avLst>
          </a:prstGeom>
          <a:solidFill>
            <a:srgbClr val="16294A"/>
          </a:solidFill>
          <a:ln w="12700">
            <a:solidFill>
              <a:srgbClr val="16294A"/>
            </a:solidFill>
            <a:prstDash val="solid"/>
          </a:ln>
        </p:spPr>
      </p:sp>
      <p:sp>
        <p:nvSpPr>
          <p:cNvPr id="9" name="Text 7"/>
          <p:cNvSpPr txBox="1"/>
          <p:nvPr/>
        </p:nvSpPr>
        <p:spPr>
          <a:xfrm>
            <a:off x="3383280" y="3200400"/>
            <a:ext cx="1828800" cy="822960"/>
          </a:xfrm>
          <a:prstGeom prst="rect">
            <a:avLst/>
          </a:prstGeom>
          <a:noFill/>
          <a:ln/>
        </p:spPr>
        <p:txBody>
          <a:bodyPr wrap="square" lIns="0" tIns="0" rIns="0" bIns="0" rtlCol="0" anchor="ctr"/>
          <a:lstStyle/>
          <a:p>
            <a:pPr marL="0" indent="0" algn="ctr">
              <a:buNone/>
            </a:pPr>
            <a:r>
              <a:rPr lang="en-US" sz="1400" b="1" dirty="0">
                <a:solidFill>
                  <a:srgbClr val="F5F7FA"/>
                </a:solidFill>
                <a:latin typeface="Calibri" pitchFamily="34" charset="0"/>
                <a:ea typeface="Calibri" pitchFamily="34" charset="-122"/>
                <a:cs typeface="Calibri" pitchFamily="34" charset="-120"/>
              </a:rPr>
              <a:t>faro-collector</a:t>
            </a:r>
            <a:endParaRPr lang="en-US" sz="1400" dirty="0"/>
          </a:p>
        </p:txBody>
      </p:sp>
      <p:sp>
        <p:nvSpPr>
          <p:cNvPr id="10" name="Shape 8"/>
          <p:cNvSpPr/>
          <p:nvPr/>
        </p:nvSpPr>
        <p:spPr>
          <a:xfrm>
            <a:off x="3291840" y="1737360"/>
            <a:ext cx="2011680" cy="822960"/>
          </a:xfrm>
          <a:prstGeom prst="roundRect">
            <a:avLst>
              <a:gd name="adj" fmla="val 6667"/>
            </a:avLst>
          </a:prstGeom>
          <a:solidFill>
            <a:srgbClr val="3762FF"/>
          </a:solidFill>
          <a:ln w="12700">
            <a:solidFill>
              <a:srgbClr val="3762FF"/>
            </a:solidFill>
            <a:prstDash val="solid"/>
          </a:ln>
        </p:spPr>
      </p:sp>
      <p:sp>
        <p:nvSpPr>
          <p:cNvPr id="11" name="Text 9"/>
          <p:cNvSpPr txBox="1"/>
          <p:nvPr/>
        </p:nvSpPr>
        <p:spPr>
          <a:xfrm>
            <a:off x="3383280" y="1737360"/>
            <a:ext cx="1828800" cy="8229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otel-collector</a:t>
            </a:r>
            <a:endParaRPr lang="en-US" sz="1500" dirty="0"/>
          </a:p>
        </p:txBody>
      </p:sp>
      <p:sp>
        <p:nvSpPr>
          <p:cNvPr id="12" name="Shape 10"/>
          <p:cNvSpPr/>
          <p:nvPr/>
        </p:nvSpPr>
        <p:spPr>
          <a:xfrm>
            <a:off x="2788920" y="2148840"/>
            <a:ext cx="457200" cy="0"/>
          </a:xfrm>
          <a:prstGeom prst="line">
            <a:avLst/>
          </a:prstGeom>
          <a:noFill/>
          <a:ln w="19050">
            <a:solidFill>
              <a:srgbClr val="7C9CFF"/>
            </a:solidFill>
            <a:prstDash val="solid"/>
            <a:tailEnd type="triangle"/>
          </a:ln>
        </p:spPr>
      </p:sp>
      <p:sp>
        <p:nvSpPr>
          <p:cNvPr id="13" name="Shape 11"/>
          <p:cNvSpPr/>
          <p:nvPr/>
        </p:nvSpPr>
        <p:spPr>
          <a:xfrm>
            <a:off x="2788920" y="3611880"/>
            <a:ext cx="457200" cy="0"/>
          </a:xfrm>
          <a:prstGeom prst="line">
            <a:avLst/>
          </a:prstGeom>
          <a:noFill/>
          <a:ln w="19050">
            <a:solidFill>
              <a:srgbClr val="7C9CFF"/>
            </a:solidFill>
            <a:prstDash val="solid"/>
            <a:tailEnd type="triangle"/>
          </a:ln>
        </p:spPr>
      </p:sp>
      <p:sp>
        <p:nvSpPr>
          <p:cNvPr id="14" name="Shape 12"/>
          <p:cNvSpPr/>
          <p:nvPr/>
        </p:nvSpPr>
        <p:spPr>
          <a:xfrm flipV="1">
            <a:off x="4297680" y="2606040"/>
            <a:ext cx="0" cy="548640"/>
          </a:xfrm>
          <a:prstGeom prst="line">
            <a:avLst/>
          </a:prstGeom>
          <a:noFill/>
          <a:ln w="19050">
            <a:solidFill>
              <a:srgbClr val="7C9CFF"/>
            </a:solidFill>
            <a:prstDash val="solid"/>
            <a:tailEnd type="triangle"/>
          </a:ln>
        </p:spPr>
      </p:sp>
      <p:sp>
        <p:nvSpPr>
          <p:cNvPr id="15" name="Shape 13"/>
          <p:cNvSpPr/>
          <p:nvPr/>
        </p:nvSpPr>
        <p:spPr>
          <a:xfrm>
            <a:off x="6400800" y="1097280"/>
            <a:ext cx="2194560" cy="777240"/>
          </a:xfrm>
          <a:prstGeom prst="roundRect">
            <a:avLst>
              <a:gd name="adj" fmla="val 7059"/>
            </a:avLst>
          </a:prstGeom>
          <a:solidFill>
            <a:srgbClr val="16294A"/>
          </a:solidFill>
          <a:ln w="12700">
            <a:solidFill>
              <a:srgbClr val="16294A"/>
            </a:solidFill>
            <a:prstDash val="solid"/>
          </a:ln>
        </p:spPr>
      </p:sp>
      <p:sp>
        <p:nvSpPr>
          <p:cNvPr id="16" name="Text 14"/>
          <p:cNvSpPr txBox="1"/>
          <p:nvPr/>
        </p:nvSpPr>
        <p:spPr>
          <a:xfrm>
            <a:off x="6492240" y="1097280"/>
            <a:ext cx="2011680" cy="777240"/>
          </a:xfrm>
          <a:prstGeom prst="rect">
            <a:avLst/>
          </a:prstGeom>
          <a:noFill/>
          <a:ln/>
        </p:spPr>
        <p:txBody>
          <a:bodyPr wrap="square" lIns="0" tIns="0" rIns="0" bIns="0" rtlCol="0" anchor="ctr"/>
          <a:lstStyle/>
          <a:p>
            <a:pPr marL="0" indent="0" algn="ctr">
              <a:buNone/>
            </a:pPr>
            <a:r>
              <a:rPr lang="en-US" sz="1300" b="1" dirty="0">
                <a:solidFill>
                  <a:srgbClr val="F5F7FA"/>
                </a:solidFill>
                <a:latin typeface="Calibri" pitchFamily="34" charset="0"/>
                <a:ea typeface="Calibri" pitchFamily="34" charset="-122"/>
                <a:cs typeface="Calibri" pitchFamily="34" charset="-120"/>
              </a:rPr>
              <a:t>Tempo</a:t>
            </a:r>
            <a:endParaRPr lang="en-US" sz="1300" dirty="0"/>
          </a:p>
          <a:p>
            <a:pPr marL="0" indent="0" algn="ctr">
              <a:buNone/>
            </a:pPr>
            <a:r>
              <a:rPr lang="en-US" sz="1300" b="1" dirty="0">
                <a:solidFill>
                  <a:srgbClr val="F5F7FA"/>
                </a:solidFill>
                <a:latin typeface="Calibri" pitchFamily="34" charset="0"/>
                <a:ea typeface="Calibri" pitchFamily="34" charset="-122"/>
                <a:cs typeface="Calibri" pitchFamily="34" charset="-120"/>
              </a:rPr>
              <a:t>traces</a:t>
            </a:r>
            <a:endParaRPr lang="en-US" sz="1300" dirty="0"/>
          </a:p>
        </p:txBody>
      </p:sp>
      <p:sp>
        <p:nvSpPr>
          <p:cNvPr id="17" name="Shape 15"/>
          <p:cNvSpPr/>
          <p:nvPr/>
        </p:nvSpPr>
        <p:spPr>
          <a:xfrm flipV="1">
            <a:off x="5349240" y="1481328"/>
            <a:ext cx="1005840" cy="667512"/>
          </a:xfrm>
          <a:prstGeom prst="line">
            <a:avLst/>
          </a:prstGeom>
          <a:noFill/>
          <a:ln w="19050">
            <a:solidFill>
              <a:srgbClr val="7C9CFF"/>
            </a:solidFill>
            <a:prstDash val="solid"/>
            <a:tailEnd type="triangle"/>
          </a:ln>
        </p:spPr>
      </p:sp>
      <p:sp>
        <p:nvSpPr>
          <p:cNvPr id="18" name="Shape 16"/>
          <p:cNvSpPr/>
          <p:nvPr/>
        </p:nvSpPr>
        <p:spPr>
          <a:xfrm>
            <a:off x="8641080" y="1481328"/>
            <a:ext cx="914400" cy="1051560"/>
          </a:xfrm>
          <a:prstGeom prst="line">
            <a:avLst/>
          </a:prstGeom>
          <a:noFill/>
          <a:ln w="19050">
            <a:solidFill>
              <a:srgbClr val="7C9CFF"/>
            </a:solidFill>
            <a:prstDash val="solid"/>
            <a:tailEnd type="triangle"/>
          </a:ln>
        </p:spPr>
      </p:sp>
      <p:sp>
        <p:nvSpPr>
          <p:cNvPr id="19" name="Shape 17"/>
          <p:cNvSpPr/>
          <p:nvPr/>
        </p:nvSpPr>
        <p:spPr>
          <a:xfrm>
            <a:off x="6400800" y="2148840"/>
            <a:ext cx="2194560" cy="777240"/>
          </a:xfrm>
          <a:prstGeom prst="roundRect">
            <a:avLst>
              <a:gd name="adj" fmla="val 7059"/>
            </a:avLst>
          </a:prstGeom>
          <a:solidFill>
            <a:srgbClr val="16294A"/>
          </a:solidFill>
          <a:ln w="12700">
            <a:solidFill>
              <a:srgbClr val="16294A"/>
            </a:solidFill>
            <a:prstDash val="solid"/>
          </a:ln>
        </p:spPr>
      </p:sp>
      <p:sp>
        <p:nvSpPr>
          <p:cNvPr id="20" name="Text 18"/>
          <p:cNvSpPr txBox="1"/>
          <p:nvPr/>
        </p:nvSpPr>
        <p:spPr>
          <a:xfrm>
            <a:off x="6492240" y="2148840"/>
            <a:ext cx="2011680" cy="777240"/>
          </a:xfrm>
          <a:prstGeom prst="rect">
            <a:avLst/>
          </a:prstGeom>
          <a:noFill/>
          <a:ln/>
        </p:spPr>
        <p:txBody>
          <a:bodyPr wrap="square" lIns="0" tIns="0" rIns="0" bIns="0" rtlCol="0" anchor="ctr"/>
          <a:lstStyle/>
          <a:p>
            <a:pPr marL="0" indent="0" algn="ctr">
              <a:buNone/>
            </a:pPr>
            <a:r>
              <a:rPr lang="en-US" sz="1300" b="1" dirty="0">
                <a:solidFill>
                  <a:srgbClr val="F5F7FA"/>
                </a:solidFill>
                <a:latin typeface="Calibri" pitchFamily="34" charset="0"/>
                <a:ea typeface="Calibri" pitchFamily="34" charset="-122"/>
                <a:cs typeface="Calibri" pitchFamily="34" charset="-120"/>
              </a:rPr>
              <a:t>Prometheus</a:t>
            </a:r>
            <a:endParaRPr lang="en-US" sz="1300" dirty="0"/>
          </a:p>
          <a:p>
            <a:pPr marL="0" indent="0" algn="ctr">
              <a:buNone/>
            </a:pPr>
            <a:r>
              <a:rPr lang="en-US" sz="1300" b="1" dirty="0">
                <a:solidFill>
                  <a:srgbClr val="F5F7FA"/>
                </a:solidFill>
                <a:latin typeface="Calibri" pitchFamily="34" charset="0"/>
                <a:ea typeface="Calibri" pitchFamily="34" charset="-122"/>
                <a:cs typeface="Calibri" pitchFamily="34" charset="-120"/>
              </a:rPr>
              <a:t>metrics</a:t>
            </a:r>
            <a:endParaRPr lang="en-US" sz="1300" dirty="0"/>
          </a:p>
        </p:txBody>
      </p:sp>
      <p:sp>
        <p:nvSpPr>
          <p:cNvPr id="21" name="Shape 19"/>
          <p:cNvSpPr/>
          <p:nvPr/>
        </p:nvSpPr>
        <p:spPr>
          <a:xfrm>
            <a:off x="5349240" y="2148840"/>
            <a:ext cx="1005840" cy="384048"/>
          </a:xfrm>
          <a:prstGeom prst="line">
            <a:avLst/>
          </a:prstGeom>
          <a:noFill/>
          <a:ln w="19050">
            <a:solidFill>
              <a:srgbClr val="7C9CFF"/>
            </a:solidFill>
            <a:prstDash val="solid"/>
            <a:tailEnd type="triangle"/>
          </a:ln>
        </p:spPr>
      </p:sp>
      <p:sp>
        <p:nvSpPr>
          <p:cNvPr id="22" name="Shape 20"/>
          <p:cNvSpPr/>
          <p:nvPr/>
        </p:nvSpPr>
        <p:spPr>
          <a:xfrm>
            <a:off x="8641080" y="2532888"/>
            <a:ext cx="914400" cy="0"/>
          </a:xfrm>
          <a:prstGeom prst="line">
            <a:avLst/>
          </a:prstGeom>
          <a:noFill/>
          <a:ln w="19050">
            <a:solidFill>
              <a:srgbClr val="7C9CFF"/>
            </a:solidFill>
            <a:prstDash val="solid"/>
            <a:tailEnd type="triangle"/>
          </a:ln>
        </p:spPr>
      </p:sp>
      <p:sp>
        <p:nvSpPr>
          <p:cNvPr id="23" name="Shape 21"/>
          <p:cNvSpPr/>
          <p:nvPr/>
        </p:nvSpPr>
        <p:spPr>
          <a:xfrm>
            <a:off x="6400800" y="3200400"/>
            <a:ext cx="2194560" cy="777240"/>
          </a:xfrm>
          <a:prstGeom prst="roundRect">
            <a:avLst>
              <a:gd name="adj" fmla="val 7059"/>
            </a:avLst>
          </a:prstGeom>
          <a:solidFill>
            <a:srgbClr val="16294A"/>
          </a:solidFill>
          <a:ln w="12700">
            <a:solidFill>
              <a:srgbClr val="16294A"/>
            </a:solidFill>
            <a:prstDash val="solid"/>
          </a:ln>
        </p:spPr>
      </p:sp>
      <p:sp>
        <p:nvSpPr>
          <p:cNvPr id="24" name="Text 22"/>
          <p:cNvSpPr txBox="1"/>
          <p:nvPr/>
        </p:nvSpPr>
        <p:spPr>
          <a:xfrm>
            <a:off x="6492240" y="3200400"/>
            <a:ext cx="2011680" cy="777240"/>
          </a:xfrm>
          <a:prstGeom prst="rect">
            <a:avLst/>
          </a:prstGeom>
          <a:noFill/>
          <a:ln/>
        </p:spPr>
        <p:txBody>
          <a:bodyPr wrap="square" lIns="0" tIns="0" rIns="0" bIns="0" rtlCol="0" anchor="ctr"/>
          <a:lstStyle/>
          <a:p>
            <a:pPr marL="0" indent="0" algn="ctr">
              <a:buNone/>
            </a:pPr>
            <a:r>
              <a:rPr lang="en-US" sz="1300" b="1" dirty="0">
                <a:solidFill>
                  <a:srgbClr val="F5F7FA"/>
                </a:solidFill>
                <a:latin typeface="Calibri" pitchFamily="34" charset="0"/>
                <a:ea typeface="Calibri" pitchFamily="34" charset="-122"/>
                <a:cs typeface="Calibri" pitchFamily="34" charset="-120"/>
              </a:rPr>
              <a:t>Loki</a:t>
            </a:r>
            <a:endParaRPr lang="en-US" sz="1300" dirty="0"/>
          </a:p>
          <a:p>
            <a:pPr marL="0" indent="0" algn="ctr">
              <a:buNone/>
            </a:pPr>
            <a:r>
              <a:rPr lang="en-US" sz="1300" b="1" dirty="0">
                <a:solidFill>
                  <a:srgbClr val="F5F7FA"/>
                </a:solidFill>
                <a:latin typeface="Calibri" pitchFamily="34" charset="0"/>
                <a:ea typeface="Calibri" pitchFamily="34" charset="-122"/>
                <a:cs typeface="Calibri" pitchFamily="34" charset="-120"/>
              </a:rPr>
              <a:t>loggar</a:t>
            </a:r>
            <a:endParaRPr lang="en-US" sz="1300" dirty="0"/>
          </a:p>
        </p:txBody>
      </p:sp>
      <p:sp>
        <p:nvSpPr>
          <p:cNvPr id="25" name="Shape 23"/>
          <p:cNvSpPr/>
          <p:nvPr/>
        </p:nvSpPr>
        <p:spPr>
          <a:xfrm>
            <a:off x="5349240" y="2148840"/>
            <a:ext cx="1005840" cy="1435608"/>
          </a:xfrm>
          <a:prstGeom prst="line">
            <a:avLst/>
          </a:prstGeom>
          <a:noFill/>
          <a:ln w="19050">
            <a:solidFill>
              <a:srgbClr val="7C9CFF"/>
            </a:solidFill>
            <a:prstDash val="solid"/>
            <a:tailEnd type="triangle"/>
          </a:ln>
        </p:spPr>
      </p:sp>
      <p:sp>
        <p:nvSpPr>
          <p:cNvPr id="26" name="Shape 24"/>
          <p:cNvSpPr/>
          <p:nvPr/>
        </p:nvSpPr>
        <p:spPr>
          <a:xfrm flipV="1">
            <a:off x="8641080" y="2532888"/>
            <a:ext cx="914400" cy="1051560"/>
          </a:xfrm>
          <a:prstGeom prst="line">
            <a:avLst/>
          </a:prstGeom>
          <a:noFill/>
          <a:ln w="19050">
            <a:solidFill>
              <a:srgbClr val="7C9CFF"/>
            </a:solidFill>
            <a:prstDash val="solid"/>
            <a:tailEnd type="triangle"/>
          </a:ln>
        </p:spPr>
      </p:sp>
      <p:sp>
        <p:nvSpPr>
          <p:cNvPr id="27" name="Shape 25"/>
          <p:cNvSpPr/>
          <p:nvPr/>
        </p:nvSpPr>
        <p:spPr>
          <a:xfrm>
            <a:off x="9601200" y="2148840"/>
            <a:ext cx="2011680" cy="777240"/>
          </a:xfrm>
          <a:prstGeom prst="roundRect">
            <a:avLst>
              <a:gd name="adj" fmla="val 7059"/>
            </a:avLst>
          </a:prstGeom>
          <a:solidFill>
            <a:srgbClr val="3762FF"/>
          </a:solidFill>
          <a:ln w="12700">
            <a:solidFill>
              <a:srgbClr val="3762FF"/>
            </a:solidFill>
            <a:prstDash val="solid"/>
          </a:ln>
        </p:spPr>
      </p:sp>
      <p:sp>
        <p:nvSpPr>
          <p:cNvPr id="28" name="Text 26"/>
          <p:cNvSpPr txBox="1"/>
          <p:nvPr/>
        </p:nvSpPr>
        <p:spPr>
          <a:xfrm>
            <a:off x="9692640" y="2148840"/>
            <a:ext cx="1828800" cy="7772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Grafana</a:t>
            </a:r>
            <a:endParaRPr lang="en-US" sz="1600" dirty="0"/>
          </a:p>
        </p:txBody>
      </p:sp>
      <p:sp>
        <p:nvSpPr>
          <p:cNvPr id="29" name="Text 27"/>
          <p:cNvSpPr txBox="1"/>
          <p:nvPr/>
        </p:nvSpPr>
        <p:spPr>
          <a:xfrm>
            <a:off x="548640" y="4434840"/>
            <a:ext cx="11094415" cy="457200"/>
          </a:xfrm>
          <a:prstGeom prst="rect">
            <a:avLst/>
          </a:prstGeom>
          <a:noFill/>
          <a:ln/>
        </p:spPr>
        <p:txBody>
          <a:bodyPr wrap="square" lIns="0" tIns="0" rIns="0" bIns="0" rtlCol="0" anchor="t"/>
          <a:lstStyle/>
          <a:p>
            <a:pPr marL="0" indent="0">
              <a:lnSpc>
                <a:spcPct val="120000"/>
              </a:lnSpc>
              <a:buNone/>
            </a:pPr>
            <a:r>
              <a:rPr lang="en-US" sz="1500" dirty="0">
                <a:solidFill>
                  <a:srgbClr val="B9C4D1"/>
                </a:solidFill>
                <a:latin typeface="Arial" pitchFamily="34" charset="0"/>
                <a:ea typeface="Arial" pitchFamily="34" charset="-122"/>
                <a:cs typeface="Arial" pitchFamily="34" charset="-120"/>
              </a:rPr>
              <a:t>OTLP in till vänster, en databas per signal i mitten, en gemensam vy till höger.</a:t>
            </a:r>
            <a:endParaRPr lang="en-US" sz="1500" dirty="0"/>
          </a:p>
        </p:txBody>
      </p:sp>
      <p:sp>
        <p:nvSpPr>
          <p:cNvPr id="30" name="Shape 28"/>
          <p:cNvSpPr/>
          <p:nvPr/>
        </p:nvSpPr>
        <p:spPr>
          <a:xfrm>
            <a:off x="548640" y="4983480"/>
            <a:ext cx="3606698" cy="914400"/>
          </a:xfrm>
          <a:prstGeom prst="roundRect">
            <a:avLst>
              <a:gd name="adj" fmla="val 6000"/>
            </a:avLst>
          </a:prstGeom>
          <a:solidFill>
            <a:srgbClr val="16294A"/>
          </a:solidFill>
          <a:ln w="12700">
            <a:solidFill>
              <a:srgbClr val="16294A"/>
            </a:solidFill>
            <a:prstDash val="solid"/>
          </a:ln>
        </p:spPr>
      </p:sp>
      <p:sp>
        <p:nvSpPr>
          <p:cNvPr id="31" name="Text 29"/>
          <p:cNvSpPr txBox="1"/>
          <p:nvPr/>
        </p:nvSpPr>
        <p:spPr>
          <a:xfrm>
            <a:off x="749808" y="5184648"/>
            <a:ext cx="3204362" cy="320040"/>
          </a:xfrm>
          <a:prstGeom prst="rect">
            <a:avLst/>
          </a:prstGeom>
          <a:noFill/>
          <a:ln/>
        </p:spPr>
        <p:txBody>
          <a:bodyPr wrap="square" lIns="0" tIns="0" rIns="0" bIns="0" rtlCol="0" anchor="t"/>
          <a:lstStyle/>
          <a:p>
            <a:pPr marL="0" indent="0">
              <a:buNone/>
            </a:pPr>
            <a:r>
              <a:rPr lang="en-US" sz="1400" b="1" dirty="0">
                <a:solidFill>
                  <a:srgbClr val="F5F7FA"/>
                </a:solidFill>
                <a:latin typeface="Calibri" pitchFamily="34" charset="0"/>
                <a:ea typeface="Calibri" pitchFamily="34" charset="-122"/>
                <a:cs typeface="Calibri" pitchFamily="34" charset="-120"/>
              </a:rPr>
              <a:t>OTLP</a:t>
            </a:r>
            <a:endParaRPr lang="en-US" sz="1400" dirty="0"/>
          </a:p>
        </p:txBody>
      </p:sp>
      <p:sp>
        <p:nvSpPr>
          <p:cNvPr id="32" name="Text 30"/>
          <p:cNvSpPr txBox="1"/>
          <p:nvPr/>
        </p:nvSpPr>
        <p:spPr>
          <a:xfrm>
            <a:off x="749808" y="5568696"/>
            <a:ext cx="3204362" cy="173736"/>
          </a:xfrm>
          <a:prstGeom prst="rect">
            <a:avLst/>
          </a:prstGeom>
          <a:noFill/>
          <a:ln/>
        </p:spPr>
        <p:txBody>
          <a:bodyPr wrap="square" lIns="0" tIns="0" rIns="0" bIns="0" rtlCol="0" anchor="t"/>
          <a:lstStyle/>
          <a:p>
            <a:pPr marL="0" indent="0">
              <a:lnSpc>
                <a:spcPct val="115000"/>
              </a:lnSpc>
              <a:buNone/>
            </a:pPr>
            <a:r>
              <a:rPr lang="en-US" sz="1200" dirty="0">
                <a:solidFill>
                  <a:srgbClr val="B9C4D1"/>
                </a:solidFill>
                <a:latin typeface="Arial" pitchFamily="34" charset="0"/>
                <a:ea typeface="Arial" pitchFamily="34" charset="-122"/>
                <a:cs typeface="Arial" pitchFamily="34" charset="-120"/>
              </a:rPr>
              <a:t>gRPC 4317 / HTTP 4318</a:t>
            </a:r>
            <a:endParaRPr lang="en-US" sz="1200" dirty="0"/>
          </a:p>
        </p:txBody>
      </p:sp>
      <p:sp>
        <p:nvSpPr>
          <p:cNvPr id="33" name="Shape 31"/>
          <p:cNvSpPr/>
          <p:nvPr/>
        </p:nvSpPr>
        <p:spPr>
          <a:xfrm>
            <a:off x="4292498" y="4983480"/>
            <a:ext cx="3606698" cy="914400"/>
          </a:xfrm>
          <a:prstGeom prst="roundRect">
            <a:avLst>
              <a:gd name="adj" fmla="val 6000"/>
            </a:avLst>
          </a:prstGeom>
          <a:solidFill>
            <a:srgbClr val="16294A"/>
          </a:solidFill>
          <a:ln w="12700">
            <a:solidFill>
              <a:srgbClr val="16294A"/>
            </a:solidFill>
            <a:prstDash val="solid"/>
          </a:ln>
        </p:spPr>
      </p:sp>
      <p:sp>
        <p:nvSpPr>
          <p:cNvPr id="34" name="Text 32"/>
          <p:cNvSpPr txBox="1"/>
          <p:nvPr/>
        </p:nvSpPr>
        <p:spPr>
          <a:xfrm>
            <a:off x="4493666" y="5184648"/>
            <a:ext cx="3204362" cy="320040"/>
          </a:xfrm>
          <a:prstGeom prst="rect">
            <a:avLst/>
          </a:prstGeom>
          <a:noFill/>
          <a:ln/>
        </p:spPr>
        <p:txBody>
          <a:bodyPr wrap="square" lIns="0" tIns="0" rIns="0" bIns="0" rtlCol="0" anchor="t"/>
          <a:lstStyle/>
          <a:p>
            <a:pPr marL="0" indent="0">
              <a:buNone/>
            </a:pPr>
            <a:r>
              <a:rPr lang="en-US" sz="1400" b="1" dirty="0">
                <a:solidFill>
                  <a:srgbClr val="F5F7FA"/>
                </a:solidFill>
                <a:latin typeface="Calibri" pitchFamily="34" charset="0"/>
                <a:ea typeface="Calibri" pitchFamily="34" charset="-122"/>
                <a:cs typeface="Calibri" pitchFamily="34" charset="-120"/>
              </a:rPr>
              <a:t>Faro</a:t>
            </a:r>
            <a:endParaRPr lang="en-US" sz="1400" dirty="0"/>
          </a:p>
        </p:txBody>
      </p:sp>
      <p:sp>
        <p:nvSpPr>
          <p:cNvPr id="35" name="Text 33"/>
          <p:cNvSpPr txBox="1"/>
          <p:nvPr/>
        </p:nvSpPr>
        <p:spPr>
          <a:xfrm>
            <a:off x="4493666" y="5568696"/>
            <a:ext cx="3204362" cy="173736"/>
          </a:xfrm>
          <a:prstGeom prst="rect">
            <a:avLst/>
          </a:prstGeom>
          <a:noFill/>
          <a:ln/>
        </p:spPr>
        <p:txBody>
          <a:bodyPr wrap="square" lIns="0" tIns="0" rIns="0" bIns="0" rtlCol="0" anchor="t"/>
          <a:lstStyle/>
          <a:p>
            <a:pPr marL="0" indent="0">
              <a:lnSpc>
                <a:spcPct val="115000"/>
              </a:lnSpc>
              <a:buNone/>
            </a:pPr>
            <a:r>
              <a:rPr lang="en-US" sz="1200" dirty="0">
                <a:solidFill>
                  <a:srgbClr val="B9C4D1"/>
                </a:solidFill>
                <a:latin typeface="Arial" pitchFamily="34" charset="0"/>
                <a:ea typeface="Arial" pitchFamily="34" charset="-122"/>
                <a:cs typeface="Arial" pitchFamily="34" charset="-120"/>
              </a:rPr>
              <a:t>webbläsarens eget format</a:t>
            </a:r>
            <a:endParaRPr lang="en-US" sz="1200" dirty="0"/>
          </a:p>
        </p:txBody>
      </p:sp>
      <p:sp>
        <p:nvSpPr>
          <p:cNvPr id="36" name="Shape 34"/>
          <p:cNvSpPr/>
          <p:nvPr/>
        </p:nvSpPr>
        <p:spPr>
          <a:xfrm>
            <a:off x="8036357" y="4983480"/>
            <a:ext cx="3606698" cy="914400"/>
          </a:xfrm>
          <a:prstGeom prst="roundRect">
            <a:avLst>
              <a:gd name="adj" fmla="val 6000"/>
            </a:avLst>
          </a:prstGeom>
          <a:solidFill>
            <a:srgbClr val="16294A"/>
          </a:solidFill>
          <a:ln w="12700">
            <a:solidFill>
              <a:srgbClr val="16294A"/>
            </a:solidFill>
            <a:prstDash val="solid"/>
          </a:ln>
        </p:spPr>
      </p:sp>
      <p:sp>
        <p:nvSpPr>
          <p:cNvPr id="37" name="Text 35"/>
          <p:cNvSpPr txBox="1"/>
          <p:nvPr/>
        </p:nvSpPr>
        <p:spPr>
          <a:xfrm>
            <a:off x="8237525" y="5184648"/>
            <a:ext cx="3204362" cy="320040"/>
          </a:xfrm>
          <a:prstGeom prst="rect">
            <a:avLst/>
          </a:prstGeom>
          <a:noFill/>
          <a:ln/>
        </p:spPr>
        <p:txBody>
          <a:bodyPr wrap="square" lIns="0" tIns="0" rIns="0" bIns="0" rtlCol="0" anchor="t"/>
          <a:lstStyle/>
          <a:p>
            <a:pPr marL="0" indent="0">
              <a:buNone/>
            </a:pPr>
            <a:r>
              <a:rPr lang="en-US" sz="1400" b="1" dirty="0">
                <a:solidFill>
                  <a:srgbClr val="F5F7FA"/>
                </a:solidFill>
                <a:latin typeface="Calibri" pitchFamily="34" charset="0"/>
                <a:ea typeface="Calibri" pitchFamily="34" charset="-122"/>
                <a:cs typeface="Calibri" pitchFamily="34" charset="-120"/>
              </a:rPr>
              <a:t>grafana.local</a:t>
            </a:r>
            <a:endParaRPr lang="en-US" sz="1400" dirty="0"/>
          </a:p>
        </p:txBody>
      </p:sp>
      <p:sp>
        <p:nvSpPr>
          <p:cNvPr id="38" name="Text 36"/>
          <p:cNvSpPr txBox="1"/>
          <p:nvPr/>
        </p:nvSpPr>
        <p:spPr>
          <a:xfrm>
            <a:off x="8237525" y="5568696"/>
            <a:ext cx="3204362" cy="173736"/>
          </a:xfrm>
          <a:prstGeom prst="rect">
            <a:avLst/>
          </a:prstGeom>
          <a:noFill/>
          <a:ln/>
        </p:spPr>
        <p:txBody>
          <a:bodyPr wrap="square" lIns="0" tIns="0" rIns="0" bIns="0" rtlCol="0" anchor="t"/>
          <a:lstStyle/>
          <a:p>
            <a:pPr marL="0" indent="0">
              <a:lnSpc>
                <a:spcPct val="115000"/>
              </a:lnSpc>
              <a:buNone/>
            </a:pPr>
            <a:r>
              <a:rPr lang="en-US" sz="1200" dirty="0">
                <a:solidFill>
                  <a:srgbClr val="B9C4D1"/>
                </a:solidFill>
                <a:latin typeface="Arial" pitchFamily="34" charset="0"/>
                <a:ea typeface="Arial" pitchFamily="34" charset="-122"/>
                <a:cs typeface="Arial" pitchFamily="34" charset="-120"/>
              </a:rPr>
              <a:t>admin / admin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KOMPONENTERNA · OTEL-COLLECTOR</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Receivers → processors → exporters</a:t>
            </a:r>
            <a:endParaRPr lang="en-US" sz="3000" dirty="0"/>
          </a:p>
        </p:txBody>
      </p:sp>
      <p:sp>
        <p:nvSpPr>
          <p:cNvPr id="4" name="Shape 2"/>
          <p:cNvSpPr/>
          <p:nvPr/>
        </p:nvSpPr>
        <p:spPr>
          <a:xfrm>
            <a:off x="548640" y="1554480"/>
            <a:ext cx="6583680" cy="4389120"/>
          </a:xfrm>
          <a:prstGeom prst="roundRect">
            <a:avLst>
              <a:gd name="adj" fmla="val 1250"/>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5577840"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Telemetry/otel-collector.yaml (ConfigMap, utdrag)</a:t>
            </a:r>
            <a:endParaRPr lang="en-US" sz="1100" dirty="0"/>
          </a:p>
        </p:txBody>
      </p:sp>
      <p:sp>
        <p:nvSpPr>
          <p:cNvPr id="9" name="Text 7"/>
          <p:cNvSpPr txBox="1"/>
          <p:nvPr/>
        </p:nvSpPr>
        <p:spPr>
          <a:xfrm>
            <a:off x="777240" y="2011680"/>
            <a:ext cx="6126480" cy="3794760"/>
          </a:xfrm>
          <a:prstGeom prst="rect">
            <a:avLst/>
          </a:prstGeom>
          <a:noFill/>
          <a:ln/>
        </p:spPr>
        <p:txBody>
          <a:bodyPr wrap="square" lIns="0" tIns="0" rIns="0" bIns="0" rtlCol="0" anchor="t"/>
          <a:lstStyle/>
          <a:p>
            <a:pPr marL="0" indent="0">
              <a:lnSpc>
                <a:spcPct val="110000"/>
              </a:lnSpc>
              <a:buNone/>
            </a:pPr>
            <a:r>
              <a:rPr lang="en-US" sz="1150" dirty="0">
                <a:solidFill>
                  <a:srgbClr val="7C9CFF"/>
                </a:solidFill>
                <a:latin typeface="Courier New" pitchFamily="34" charset="0"/>
                <a:ea typeface="Courier New" pitchFamily="34" charset="-122"/>
                <a:cs typeface="Courier New" pitchFamily="34" charset="-120"/>
              </a:rPr>
              <a:t>service:</a:t>
            </a: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r>
              <a:rPr lang="en-US" sz="1150" dirty="0">
                <a:solidFill>
                  <a:srgbClr val="7C9CFF"/>
                </a:solidFill>
                <a:latin typeface="Courier New" pitchFamily="34" charset="0"/>
                <a:ea typeface="Courier New" pitchFamily="34" charset="-122"/>
                <a:cs typeface="Courier New" pitchFamily="34" charset="-120"/>
              </a:rPr>
              <a:t>pipelines:</a:t>
            </a: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r>
              <a:rPr lang="en-US" sz="1150" dirty="0">
                <a:solidFill>
                  <a:srgbClr val="7C9CFF"/>
                </a:solidFill>
                <a:latin typeface="Courier New" pitchFamily="34" charset="0"/>
                <a:ea typeface="Courier New" pitchFamily="34" charset="-122"/>
                <a:cs typeface="Courier New" pitchFamily="34" charset="-120"/>
              </a:rPr>
              <a:t>traces:</a:t>
            </a: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r>
              <a:rPr lang="en-US" sz="1150" dirty="0">
                <a:solidFill>
                  <a:srgbClr val="7C9CFF"/>
                </a:solidFill>
                <a:latin typeface="Courier New" pitchFamily="34" charset="0"/>
                <a:ea typeface="Courier New" pitchFamily="34" charset="-122"/>
                <a:cs typeface="Courier New" pitchFamily="34" charset="-120"/>
              </a:rPr>
              <a:t>receivers:</a:t>
            </a:r>
            <a:r>
              <a:rPr lang="en-US" sz="1150" dirty="0">
                <a:solidFill>
                  <a:srgbClr val="DDE3EA"/>
                </a:solidFill>
                <a:latin typeface="Courier New" pitchFamily="34" charset="0"/>
                <a:ea typeface="Courier New" pitchFamily="34" charset="-122"/>
                <a:cs typeface="Courier New" pitchFamily="34" charset="-120"/>
              </a:rPr>
              <a:t>  [otlp]</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r>
              <a:rPr lang="en-US" sz="1150" dirty="0">
                <a:solidFill>
                  <a:srgbClr val="7C9CFF"/>
                </a:solidFill>
                <a:latin typeface="Courier New" pitchFamily="34" charset="0"/>
                <a:ea typeface="Courier New" pitchFamily="34" charset="-122"/>
                <a:cs typeface="Courier New" pitchFamily="34" charset="-120"/>
              </a:rPr>
              <a:t>processors:</a:t>
            </a:r>
            <a:r>
              <a:rPr lang="en-US" sz="1150" dirty="0">
                <a:solidFill>
                  <a:srgbClr val="DDE3EA"/>
                </a:solidFill>
                <a:latin typeface="Courier New" pitchFamily="34" charset="0"/>
                <a:ea typeface="Courier New" pitchFamily="34" charset="-122"/>
                <a:cs typeface="Courier New" pitchFamily="34" charset="-120"/>
              </a:rPr>
              <a:t> [memory_limiter, k8sattributes, batch]</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r>
              <a:rPr lang="en-US" sz="1150" dirty="0">
                <a:solidFill>
                  <a:srgbClr val="7C9CFF"/>
                </a:solidFill>
                <a:latin typeface="Courier New" pitchFamily="34" charset="0"/>
                <a:ea typeface="Courier New" pitchFamily="34" charset="-122"/>
                <a:cs typeface="Courier New" pitchFamily="34" charset="-120"/>
              </a:rPr>
              <a:t>exporters:</a:t>
            </a:r>
            <a:r>
              <a:rPr lang="en-US" sz="1150" dirty="0">
                <a:solidFill>
                  <a:srgbClr val="DDE3EA"/>
                </a:solidFill>
                <a:latin typeface="Courier New" pitchFamily="34" charset="0"/>
                <a:ea typeface="Courier New" pitchFamily="34" charset="-122"/>
                <a:cs typeface="Courier New" pitchFamily="34" charset="-120"/>
              </a:rPr>
              <a:t>  [otlp/tempo]</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r>
              <a:rPr lang="en-US" sz="1150" dirty="0">
                <a:solidFill>
                  <a:srgbClr val="7C9CFF"/>
                </a:solidFill>
                <a:latin typeface="Courier New" pitchFamily="34" charset="0"/>
                <a:ea typeface="Courier New" pitchFamily="34" charset="-122"/>
                <a:cs typeface="Courier New" pitchFamily="34" charset="-120"/>
              </a:rPr>
              <a:t>metrics:</a:t>
            </a: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r>
              <a:rPr lang="en-US" sz="1150" dirty="0">
                <a:solidFill>
                  <a:srgbClr val="7C9CFF"/>
                </a:solidFill>
                <a:latin typeface="Courier New" pitchFamily="34" charset="0"/>
                <a:ea typeface="Courier New" pitchFamily="34" charset="-122"/>
                <a:cs typeface="Courier New" pitchFamily="34" charset="-120"/>
              </a:rPr>
              <a:t>receivers:</a:t>
            </a:r>
            <a:r>
              <a:rPr lang="en-US" sz="1150" dirty="0">
                <a:solidFill>
                  <a:srgbClr val="DDE3EA"/>
                </a:solidFill>
                <a:latin typeface="Courier New" pitchFamily="34" charset="0"/>
                <a:ea typeface="Courier New" pitchFamily="34" charset="-122"/>
                <a:cs typeface="Courier New" pitchFamily="34" charset="-120"/>
              </a:rPr>
              <a:t>  [otlp]</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r>
              <a:rPr lang="en-US" sz="1150" dirty="0">
                <a:solidFill>
                  <a:srgbClr val="7C9CFF"/>
                </a:solidFill>
                <a:latin typeface="Courier New" pitchFamily="34" charset="0"/>
                <a:ea typeface="Courier New" pitchFamily="34" charset="-122"/>
                <a:cs typeface="Courier New" pitchFamily="34" charset="-120"/>
              </a:rPr>
              <a:t>processors:</a:t>
            </a:r>
            <a:r>
              <a:rPr lang="en-US" sz="1150" dirty="0">
                <a:solidFill>
                  <a:srgbClr val="DDE3EA"/>
                </a:solidFill>
                <a:latin typeface="Courier New" pitchFamily="34" charset="0"/>
                <a:ea typeface="Courier New" pitchFamily="34" charset="-122"/>
                <a:cs typeface="Courier New" pitchFamily="34" charset="-120"/>
              </a:rPr>
              <a:t> [memory_limiter, k8sattributes, batch]</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r>
              <a:rPr lang="en-US" sz="1150" dirty="0">
                <a:solidFill>
                  <a:srgbClr val="7C9CFF"/>
                </a:solidFill>
                <a:latin typeface="Courier New" pitchFamily="34" charset="0"/>
                <a:ea typeface="Courier New" pitchFamily="34" charset="-122"/>
                <a:cs typeface="Courier New" pitchFamily="34" charset="-120"/>
              </a:rPr>
              <a:t>exporters:</a:t>
            </a:r>
            <a:r>
              <a:rPr lang="en-US" sz="1150" dirty="0">
                <a:solidFill>
                  <a:srgbClr val="DDE3EA"/>
                </a:solidFill>
                <a:latin typeface="Courier New" pitchFamily="34" charset="0"/>
                <a:ea typeface="Courier New" pitchFamily="34" charset="-122"/>
                <a:cs typeface="Courier New" pitchFamily="34" charset="-120"/>
              </a:rPr>
              <a:t>  [prometheus]      # :8889, skrapas</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r>
              <a:rPr lang="en-US" sz="1150" dirty="0">
                <a:solidFill>
                  <a:srgbClr val="7C9CFF"/>
                </a:solidFill>
                <a:latin typeface="Courier New" pitchFamily="34" charset="0"/>
                <a:ea typeface="Courier New" pitchFamily="34" charset="-122"/>
                <a:cs typeface="Courier New" pitchFamily="34" charset="-120"/>
              </a:rPr>
              <a:t>logs:</a:t>
            </a: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r>
              <a:rPr lang="en-US" sz="1150" dirty="0">
                <a:solidFill>
                  <a:srgbClr val="7C9CFF"/>
                </a:solidFill>
                <a:latin typeface="Courier New" pitchFamily="34" charset="0"/>
                <a:ea typeface="Courier New" pitchFamily="34" charset="-122"/>
                <a:cs typeface="Courier New" pitchFamily="34" charset="-120"/>
              </a:rPr>
              <a:t>receivers:</a:t>
            </a:r>
            <a:r>
              <a:rPr lang="en-US" sz="1150" dirty="0">
                <a:solidFill>
                  <a:srgbClr val="DDE3EA"/>
                </a:solidFill>
                <a:latin typeface="Courier New" pitchFamily="34" charset="0"/>
                <a:ea typeface="Courier New" pitchFamily="34" charset="-122"/>
                <a:cs typeface="Courier New" pitchFamily="34" charset="-120"/>
              </a:rPr>
              <a:t>  [otlp]</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r>
              <a:rPr lang="en-US" sz="1150" dirty="0">
                <a:solidFill>
                  <a:srgbClr val="7C9CFF"/>
                </a:solidFill>
                <a:latin typeface="Courier New" pitchFamily="34" charset="0"/>
                <a:ea typeface="Courier New" pitchFamily="34" charset="-122"/>
                <a:cs typeface="Courier New" pitchFamily="34" charset="-120"/>
              </a:rPr>
              <a:t>processors:</a:t>
            </a:r>
            <a:r>
              <a:rPr lang="en-US" sz="1150" dirty="0">
                <a:solidFill>
                  <a:srgbClr val="DDE3EA"/>
                </a:solidFill>
                <a:latin typeface="Courier New" pitchFamily="34" charset="0"/>
                <a:ea typeface="Courier New" pitchFamily="34" charset="-122"/>
                <a:cs typeface="Courier New" pitchFamily="34" charset="-120"/>
              </a:rPr>
              <a:t> [memory_limiter, k8sattributes, batch]</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r>
              <a:rPr lang="en-US" sz="1150" dirty="0">
                <a:solidFill>
                  <a:srgbClr val="7C9CFF"/>
                </a:solidFill>
                <a:latin typeface="Courier New" pitchFamily="34" charset="0"/>
                <a:ea typeface="Courier New" pitchFamily="34" charset="-122"/>
                <a:cs typeface="Courier New" pitchFamily="34" charset="-120"/>
              </a:rPr>
              <a:t>exporters:</a:t>
            </a:r>
            <a:r>
              <a:rPr lang="en-US" sz="1150" dirty="0">
                <a:solidFill>
                  <a:srgbClr val="DDE3EA"/>
                </a:solidFill>
                <a:latin typeface="Courier New" pitchFamily="34" charset="0"/>
                <a:ea typeface="Courier New" pitchFamily="34" charset="-122"/>
                <a:cs typeface="Courier New" pitchFamily="34" charset="-120"/>
              </a:rPr>
              <a:t>  [otlphttp/loki]</a:t>
            </a:r>
            <a:endParaRPr lang="en-US" sz="1150" dirty="0"/>
          </a:p>
        </p:txBody>
      </p:sp>
      <p:sp>
        <p:nvSpPr>
          <p:cNvPr id="10" name="Shape 8"/>
          <p:cNvSpPr/>
          <p:nvPr/>
        </p:nvSpPr>
        <p:spPr>
          <a:xfrm>
            <a:off x="7498080" y="1554480"/>
            <a:ext cx="4144975" cy="132588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7699248" y="1755648"/>
            <a:ext cx="3742639"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memory_limiter</a:t>
            </a:r>
            <a:endParaRPr lang="en-US" sz="1400" dirty="0"/>
          </a:p>
        </p:txBody>
      </p:sp>
      <p:sp>
        <p:nvSpPr>
          <p:cNvPr id="12" name="Text 10"/>
          <p:cNvSpPr txBox="1"/>
          <p:nvPr/>
        </p:nvSpPr>
        <p:spPr>
          <a:xfrm>
            <a:off x="7699248" y="2139696"/>
            <a:ext cx="3742639" cy="58521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Skyddar collectorn mot att dödas vid trafiktoppar.</a:t>
            </a:r>
            <a:endParaRPr lang="en-US" sz="1200" dirty="0"/>
          </a:p>
        </p:txBody>
      </p:sp>
      <p:sp>
        <p:nvSpPr>
          <p:cNvPr id="13" name="Shape 11"/>
          <p:cNvSpPr/>
          <p:nvPr/>
        </p:nvSpPr>
        <p:spPr>
          <a:xfrm>
            <a:off x="7498080" y="3017520"/>
            <a:ext cx="4144975" cy="1371600"/>
          </a:xfrm>
          <a:prstGeom prst="roundRect">
            <a:avLst>
              <a:gd name="adj" fmla="val 4000"/>
            </a:avLst>
          </a:prstGeom>
          <a:solidFill>
            <a:srgbClr val="3762FF"/>
          </a:solidFill>
          <a:ln w="12700">
            <a:solidFill>
              <a:srgbClr val="3762FF"/>
            </a:solidFill>
            <a:prstDash val="solid"/>
          </a:ln>
        </p:spPr>
      </p:sp>
      <p:sp>
        <p:nvSpPr>
          <p:cNvPr id="14" name="Text 12"/>
          <p:cNvSpPr txBox="1"/>
          <p:nvPr/>
        </p:nvSpPr>
        <p:spPr>
          <a:xfrm>
            <a:off x="7699248" y="3218688"/>
            <a:ext cx="3742639"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k8sattributes</a:t>
            </a:r>
            <a:endParaRPr lang="en-US" sz="1400" dirty="0"/>
          </a:p>
        </p:txBody>
      </p:sp>
      <p:sp>
        <p:nvSpPr>
          <p:cNvPr id="15" name="Text 13"/>
          <p:cNvSpPr txBox="1"/>
          <p:nvPr/>
        </p:nvSpPr>
        <p:spPr>
          <a:xfrm>
            <a:off x="7699248" y="3602736"/>
            <a:ext cx="3742639" cy="630936"/>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Lägger till poddnamn, namespace och deployment på all telemetri.</a:t>
            </a:r>
            <a:endParaRPr lang="en-US" sz="1200" dirty="0"/>
          </a:p>
        </p:txBody>
      </p:sp>
      <p:sp>
        <p:nvSpPr>
          <p:cNvPr id="16" name="Shape 14"/>
          <p:cNvSpPr/>
          <p:nvPr/>
        </p:nvSpPr>
        <p:spPr>
          <a:xfrm>
            <a:off x="7498080" y="4526280"/>
            <a:ext cx="4144975" cy="1417320"/>
          </a:xfrm>
          <a:prstGeom prst="roundRect">
            <a:avLst>
              <a:gd name="adj" fmla="val 3871"/>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7" name="Text 15"/>
          <p:cNvSpPr txBox="1"/>
          <p:nvPr/>
        </p:nvSpPr>
        <p:spPr>
          <a:xfrm>
            <a:off x="7699248" y="4727448"/>
            <a:ext cx="3742639"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batch</a:t>
            </a:r>
            <a:endParaRPr lang="en-US" sz="1400" dirty="0"/>
          </a:p>
        </p:txBody>
      </p:sp>
      <p:sp>
        <p:nvSpPr>
          <p:cNvPr id="18" name="Text 16"/>
          <p:cNvSpPr txBox="1"/>
          <p:nvPr/>
        </p:nvSpPr>
        <p:spPr>
          <a:xfrm>
            <a:off x="7699248" y="5111496"/>
            <a:ext cx="3742639" cy="67665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Skickar i klump istället för en och en - mycket effektivare.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KOMPONENTERNA · TEMPO</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Tempo - lagrar traces</a:t>
            </a:r>
            <a:endParaRPr lang="en-US" sz="3000" dirty="0"/>
          </a:p>
        </p:txBody>
      </p:sp>
      <p:sp>
        <p:nvSpPr>
          <p:cNvPr id="4" name="Shape 2"/>
          <p:cNvSpPr/>
          <p:nvPr/>
        </p:nvSpPr>
        <p:spPr>
          <a:xfrm>
            <a:off x="548640" y="1554480"/>
            <a:ext cx="4846320" cy="1965960"/>
          </a:xfrm>
          <a:prstGeom prst="roundRect">
            <a:avLst>
              <a:gd name="adj" fmla="val 2791"/>
            </a:avLst>
          </a:prstGeom>
          <a:solidFill>
            <a:srgbClr val="3762FF"/>
          </a:solidFill>
          <a:ln w="12700">
            <a:solidFill>
              <a:srgbClr val="3762FF"/>
            </a:solidFill>
            <a:prstDash val="solid"/>
          </a:ln>
        </p:spPr>
      </p:sp>
      <p:sp>
        <p:nvSpPr>
          <p:cNvPr id="5" name="Text 3"/>
          <p:cNvSpPr txBox="1"/>
          <p:nvPr/>
        </p:nvSpPr>
        <p:spPr>
          <a:xfrm>
            <a:off x="777240" y="1691640"/>
            <a:ext cx="4389120" cy="274320"/>
          </a:xfrm>
          <a:prstGeom prst="rect">
            <a:avLst/>
          </a:prstGeom>
          <a:noFill/>
          <a:ln/>
        </p:spPr>
        <p:txBody>
          <a:bodyPr wrap="square" lIns="0" tIns="0" rIns="0" bIns="0" rtlCol="0" anchor="ctr"/>
          <a:lstStyle/>
          <a:p>
            <a:pPr marL="0" indent="0">
              <a:buNone/>
            </a:pPr>
            <a:r>
              <a:rPr lang="en-US" sz="1100" b="1" kern="0" spc="200" dirty="0">
                <a:solidFill>
                  <a:srgbClr val="FFFFFF"/>
                </a:solidFill>
                <a:latin typeface="Arial" pitchFamily="34" charset="0"/>
                <a:ea typeface="Arial" pitchFamily="34" charset="-122"/>
                <a:cs typeface="Arial" pitchFamily="34" charset="-120"/>
              </a:rPr>
              <a:t>TRACES</a:t>
            </a:r>
            <a:endParaRPr lang="en-US" sz="1100" dirty="0"/>
          </a:p>
        </p:txBody>
      </p:sp>
      <p:sp>
        <p:nvSpPr>
          <p:cNvPr id="6" name="Text 4"/>
          <p:cNvSpPr txBox="1"/>
          <p:nvPr/>
        </p:nvSpPr>
        <p:spPr>
          <a:xfrm>
            <a:off x="777240" y="2011680"/>
            <a:ext cx="4389120" cy="1417320"/>
          </a:xfrm>
          <a:prstGeom prst="rect">
            <a:avLst/>
          </a:prstGeom>
          <a:noFill/>
          <a:ln/>
        </p:spPr>
        <p:txBody>
          <a:bodyPr wrap="square" lIns="0" tIns="0" rIns="0" bIns="0" rtlCol="0" anchor="t"/>
          <a:lstStyle/>
          <a:p>
            <a:pPr marL="0" indent="0">
              <a:lnSpc>
                <a:spcPct val="115000"/>
              </a:lnSpc>
              <a:buNone/>
            </a:pPr>
            <a:r>
              <a:rPr lang="en-US" sz="1400" dirty="0">
                <a:solidFill>
                  <a:srgbClr val="FFFFFF"/>
                </a:solidFill>
                <a:latin typeface="Arial" pitchFamily="34" charset="0"/>
                <a:ea typeface="Arial" pitchFamily="34" charset="-122"/>
                <a:cs typeface="Arial" pitchFamily="34" charset="-120"/>
              </a:rPr>
              <a:t>Tar emot spans med OTLP och sparar dem som filer. Indexerar nästan ingenting - därför billigt. Man hittar en trace via trace_id eller söker med TraceQL.</a:t>
            </a:r>
            <a:endParaRPr lang="en-US" sz="1400" dirty="0"/>
          </a:p>
        </p:txBody>
      </p:sp>
      <p:sp>
        <p:nvSpPr>
          <p:cNvPr id="7" name="Shape 5"/>
          <p:cNvSpPr/>
          <p:nvPr/>
        </p:nvSpPr>
        <p:spPr>
          <a:xfrm>
            <a:off x="548640" y="3703320"/>
            <a:ext cx="4846320" cy="4572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8" name="Text 6"/>
          <p:cNvSpPr txBox="1"/>
          <p:nvPr/>
        </p:nvSpPr>
        <p:spPr>
          <a:xfrm>
            <a:off x="731520" y="3703320"/>
            <a:ext cx="1371600" cy="457200"/>
          </a:xfrm>
          <a:prstGeom prst="rect">
            <a:avLst/>
          </a:prstGeom>
          <a:noFill/>
          <a:ln/>
        </p:spPr>
        <p:txBody>
          <a:bodyPr wrap="square" lIns="0" tIns="0" rIns="0" bIns="0" rtlCol="0" anchor="ctr"/>
          <a:lstStyle/>
          <a:p>
            <a:pPr marL="0" indent="0">
              <a:buNone/>
            </a:pPr>
            <a:r>
              <a:rPr lang="en-US" sz="1100" b="1" dirty="0">
                <a:solidFill>
                  <a:srgbClr val="3762FF"/>
                </a:solidFill>
                <a:latin typeface="Arial" pitchFamily="34" charset="0"/>
                <a:ea typeface="Arial" pitchFamily="34" charset="-122"/>
                <a:cs typeface="Arial" pitchFamily="34" charset="-120"/>
              </a:rPr>
              <a:t>Tar emot</a:t>
            </a:r>
            <a:endParaRPr lang="en-US" sz="1100" dirty="0"/>
          </a:p>
        </p:txBody>
      </p:sp>
      <p:sp>
        <p:nvSpPr>
          <p:cNvPr id="9" name="Text 7"/>
          <p:cNvSpPr txBox="1"/>
          <p:nvPr/>
        </p:nvSpPr>
        <p:spPr>
          <a:xfrm>
            <a:off x="2148840" y="3703320"/>
            <a:ext cx="3108960" cy="457200"/>
          </a:xfrm>
          <a:prstGeom prst="rect">
            <a:avLst/>
          </a:prstGeom>
          <a:noFill/>
          <a:ln/>
        </p:spPr>
        <p:txBody>
          <a:bodyPr wrap="square" lIns="0" tIns="0" rIns="0" bIns="0" rtlCol="0" anchor="ctr"/>
          <a:lstStyle/>
          <a:p>
            <a:pPr marL="0" indent="0">
              <a:buNone/>
            </a:pPr>
            <a:r>
              <a:rPr lang="en-US" sz="1200" dirty="0">
                <a:solidFill>
                  <a:srgbClr val="16202B"/>
                </a:solidFill>
                <a:latin typeface="Arial" pitchFamily="34" charset="0"/>
                <a:ea typeface="Arial" pitchFamily="34" charset="-122"/>
                <a:cs typeface="Arial" pitchFamily="34" charset="-120"/>
              </a:rPr>
              <a:t>OTLP gRPC 4317 / HTTP 4318</a:t>
            </a:r>
            <a:endParaRPr lang="en-US" sz="1200" dirty="0"/>
          </a:p>
        </p:txBody>
      </p:sp>
      <p:sp>
        <p:nvSpPr>
          <p:cNvPr id="10" name="Shape 8"/>
          <p:cNvSpPr/>
          <p:nvPr/>
        </p:nvSpPr>
        <p:spPr>
          <a:xfrm>
            <a:off x="548640" y="4251960"/>
            <a:ext cx="4846320" cy="4572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731520" y="4251960"/>
            <a:ext cx="1371600" cy="457200"/>
          </a:xfrm>
          <a:prstGeom prst="rect">
            <a:avLst/>
          </a:prstGeom>
          <a:noFill/>
          <a:ln/>
        </p:spPr>
        <p:txBody>
          <a:bodyPr wrap="square" lIns="0" tIns="0" rIns="0" bIns="0" rtlCol="0" anchor="ctr"/>
          <a:lstStyle/>
          <a:p>
            <a:pPr marL="0" indent="0">
              <a:buNone/>
            </a:pPr>
            <a:r>
              <a:rPr lang="en-US" sz="1100" b="1" dirty="0">
                <a:solidFill>
                  <a:srgbClr val="3762FF"/>
                </a:solidFill>
                <a:latin typeface="Arial" pitchFamily="34" charset="0"/>
                <a:ea typeface="Arial" pitchFamily="34" charset="-122"/>
                <a:cs typeface="Arial" pitchFamily="34" charset="-120"/>
              </a:rPr>
              <a:t>Frågespråk</a:t>
            </a:r>
            <a:endParaRPr lang="en-US" sz="1100" dirty="0"/>
          </a:p>
        </p:txBody>
      </p:sp>
      <p:sp>
        <p:nvSpPr>
          <p:cNvPr id="12" name="Text 10"/>
          <p:cNvSpPr txBox="1"/>
          <p:nvPr/>
        </p:nvSpPr>
        <p:spPr>
          <a:xfrm>
            <a:off x="2148840" y="4251960"/>
            <a:ext cx="3108960" cy="457200"/>
          </a:xfrm>
          <a:prstGeom prst="rect">
            <a:avLst/>
          </a:prstGeom>
          <a:noFill/>
          <a:ln/>
        </p:spPr>
        <p:txBody>
          <a:bodyPr wrap="square" lIns="0" tIns="0" rIns="0" bIns="0" rtlCol="0" anchor="ctr"/>
          <a:lstStyle/>
          <a:p>
            <a:pPr marL="0" indent="0">
              <a:buNone/>
            </a:pPr>
            <a:r>
              <a:rPr lang="en-US" sz="1200" dirty="0">
                <a:solidFill>
                  <a:srgbClr val="16202B"/>
                </a:solidFill>
                <a:latin typeface="Arial" pitchFamily="34" charset="0"/>
                <a:ea typeface="Arial" pitchFamily="34" charset="-122"/>
                <a:cs typeface="Arial" pitchFamily="34" charset="-120"/>
              </a:rPr>
              <a:t>TraceQL</a:t>
            </a:r>
            <a:endParaRPr lang="en-US" sz="1200" dirty="0"/>
          </a:p>
        </p:txBody>
      </p:sp>
      <p:sp>
        <p:nvSpPr>
          <p:cNvPr id="13" name="Shape 11"/>
          <p:cNvSpPr/>
          <p:nvPr/>
        </p:nvSpPr>
        <p:spPr>
          <a:xfrm>
            <a:off x="548640" y="4800600"/>
            <a:ext cx="4846320" cy="4572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731520" y="4800600"/>
            <a:ext cx="1371600" cy="457200"/>
          </a:xfrm>
          <a:prstGeom prst="rect">
            <a:avLst/>
          </a:prstGeom>
          <a:noFill/>
          <a:ln/>
        </p:spPr>
        <p:txBody>
          <a:bodyPr wrap="square" lIns="0" tIns="0" rIns="0" bIns="0" rtlCol="0" anchor="ctr"/>
          <a:lstStyle/>
          <a:p>
            <a:pPr marL="0" indent="0">
              <a:buNone/>
            </a:pPr>
            <a:r>
              <a:rPr lang="en-US" sz="1100" b="1" dirty="0">
                <a:solidFill>
                  <a:srgbClr val="3762FF"/>
                </a:solidFill>
                <a:latin typeface="Arial" pitchFamily="34" charset="0"/>
                <a:ea typeface="Arial" pitchFamily="34" charset="-122"/>
                <a:cs typeface="Arial" pitchFamily="34" charset="-120"/>
              </a:rPr>
              <a:t>Service</a:t>
            </a:r>
            <a:endParaRPr lang="en-US" sz="1100" dirty="0"/>
          </a:p>
        </p:txBody>
      </p:sp>
      <p:sp>
        <p:nvSpPr>
          <p:cNvPr id="15" name="Text 13"/>
          <p:cNvSpPr txBox="1"/>
          <p:nvPr/>
        </p:nvSpPr>
        <p:spPr>
          <a:xfrm>
            <a:off x="2148840" y="4800600"/>
            <a:ext cx="3108960" cy="457200"/>
          </a:xfrm>
          <a:prstGeom prst="rect">
            <a:avLst/>
          </a:prstGeom>
          <a:noFill/>
          <a:ln/>
        </p:spPr>
        <p:txBody>
          <a:bodyPr wrap="square" lIns="0" tIns="0" rIns="0" bIns="0" rtlCol="0" anchor="ctr"/>
          <a:lstStyle/>
          <a:p>
            <a:pPr marL="0" indent="0">
              <a:buNone/>
            </a:pPr>
            <a:r>
              <a:rPr lang="en-US" sz="1200" dirty="0">
                <a:solidFill>
                  <a:srgbClr val="16202B"/>
                </a:solidFill>
                <a:latin typeface="Arial" pitchFamily="34" charset="0"/>
                <a:ea typeface="Arial" pitchFamily="34" charset="-122"/>
                <a:cs typeface="Arial" pitchFamily="34" charset="-120"/>
              </a:rPr>
              <a:t>telemetry-tempo:3200</a:t>
            </a:r>
            <a:endParaRPr lang="en-US" sz="1200" dirty="0"/>
          </a:p>
        </p:txBody>
      </p:sp>
      <p:sp>
        <p:nvSpPr>
          <p:cNvPr id="16" name="Shape 14"/>
          <p:cNvSpPr/>
          <p:nvPr/>
        </p:nvSpPr>
        <p:spPr>
          <a:xfrm>
            <a:off x="548640" y="5349240"/>
            <a:ext cx="4846320" cy="4572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7" name="Text 15"/>
          <p:cNvSpPr txBox="1"/>
          <p:nvPr/>
        </p:nvSpPr>
        <p:spPr>
          <a:xfrm>
            <a:off x="731520" y="5349240"/>
            <a:ext cx="1371600" cy="457200"/>
          </a:xfrm>
          <a:prstGeom prst="rect">
            <a:avLst/>
          </a:prstGeom>
          <a:noFill/>
          <a:ln/>
        </p:spPr>
        <p:txBody>
          <a:bodyPr wrap="square" lIns="0" tIns="0" rIns="0" bIns="0" rtlCol="0" anchor="ctr"/>
          <a:lstStyle/>
          <a:p>
            <a:pPr marL="0" indent="0">
              <a:buNone/>
            </a:pPr>
            <a:r>
              <a:rPr lang="en-US" sz="1100" b="1" dirty="0">
                <a:solidFill>
                  <a:srgbClr val="3762FF"/>
                </a:solidFill>
                <a:latin typeface="Arial" pitchFamily="34" charset="0"/>
                <a:ea typeface="Arial" pitchFamily="34" charset="-122"/>
                <a:cs typeface="Arial" pitchFamily="34" charset="-120"/>
              </a:rPr>
              <a:t>Lagring</a:t>
            </a:r>
            <a:endParaRPr lang="en-US" sz="1100" dirty="0"/>
          </a:p>
        </p:txBody>
      </p:sp>
      <p:sp>
        <p:nvSpPr>
          <p:cNvPr id="18" name="Text 16"/>
          <p:cNvSpPr txBox="1"/>
          <p:nvPr/>
        </p:nvSpPr>
        <p:spPr>
          <a:xfrm>
            <a:off x="2148840" y="5349240"/>
            <a:ext cx="3108960" cy="457200"/>
          </a:xfrm>
          <a:prstGeom prst="rect">
            <a:avLst/>
          </a:prstGeom>
          <a:noFill/>
          <a:ln/>
        </p:spPr>
        <p:txBody>
          <a:bodyPr wrap="square" lIns="0" tIns="0" rIns="0" bIns="0" rtlCol="0" anchor="ctr"/>
          <a:lstStyle/>
          <a:p>
            <a:pPr marL="0" indent="0">
              <a:buNone/>
            </a:pPr>
            <a:r>
              <a:rPr lang="en-US" sz="1200" dirty="0">
                <a:solidFill>
                  <a:srgbClr val="16202B"/>
                </a:solidFill>
                <a:latin typeface="Arial" pitchFamily="34" charset="0"/>
                <a:ea typeface="Arial" pitchFamily="34" charset="-122"/>
                <a:cs typeface="Arial" pitchFamily="34" charset="-120"/>
              </a:rPr>
              <a:t>PVC i local-path (10 Gi)</a:t>
            </a:r>
            <a:endParaRPr lang="en-US" sz="1200" dirty="0"/>
          </a:p>
        </p:txBody>
      </p:sp>
      <p:sp>
        <p:nvSpPr>
          <p:cNvPr id="19" name="Shape 17"/>
          <p:cNvSpPr/>
          <p:nvPr/>
        </p:nvSpPr>
        <p:spPr>
          <a:xfrm>
            <a:off x="5715000" y="1554480"/>
            <a:ext cx="5928055" cy="2880360"/>
          </a:xfrm>
          <a:prstGeom prst="roundRect">
            <a:avLst>
              <a:gd name="adj" fmla="val 1905"/>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20" name="Shape 18"/>
          <p:cNvSpPr/>
          <p:nvPr/>
        </p:nvSpPr>
        <p:spPr>
          <a:xfrm>
            <a:off x="5916168" y="1719072"/>
            <a:ext cx="109728" cy="109728"/>
          </a:xfrm>
          <a:prstGeom prst="ellipse">
            <a:avLst/>
          </a:prstGeom>
          <a:solidFill>
            <a:srgbClr val="D64545"/>
          </a:solidFill>
          <a:ln w="12700">
            <a:solidFill>
              <a:srgbClr val="D64545"/>
            </a:solidFill>
            <a:prstDash val="solid"/>
          </a:ln>
        </p:spPr>
      </p:sp>
      <p:sp>
        <p:nvSpPr>
          <p:cNvPr id="21" name="Shape 19"/>
          <p:cNvSpPr/>
          <p:nvPr/>
        </p:nvSpPr>
        <p:spPr>
          <a:xfrm>
            <a:off x="6099048" y="1719072"/>
            <a:ext cx="109728" cy="109728"/>
          </a:xfrm>
          <a:prstGeom prst="ellipse">
            <a:avLst/>
          </a:prstGeom>
          <a:solidFill>
            <a:srgbClr val="FFB020"/>
          </a:solidFill>
          <a:ln w="12700">
            <a:solidFill>
              <a:srgbClr val="FFB020"/>
            </a:solidFill>
            <a:prstDash val="solid"/>
          </a:ln>
        </p:spPr>
      </p:sp>
      <p:sp>
        <p:nvSpPr>
          <p:cNvPr id="22" name="Shape 20"/>
          <p:cNvSpPr/>
          <p:nvPr/>
        </p:nvSpPr>
        <p:spPr>
          <a:xfrm>
            <a:off x="6281928" y="1719072"/>
            <a:ext cx="109728" cy="109728"/>
          </a:xfrm>
          <a:prstGeom prst="ellipse">
            <a:avLst/>
          </a:prstGeom>
          <a:solidFill>
            <a:srgbClr val="3CB371"/>
          </a:solidFill>
          <a:ln w="12700">
            <a:solidFill>
              <a:srgbClr val="3CB371"/>
            </a:solidFill>
            <a:prstDash val="solid"/>
          </a:ln>
        </p:spPr>
      </p:sp>
      <p:sp>
        <p:nvSpPr>
          <p:cNvPr id="23" name="Text 21"/>
          <p:cNvSpPr txBox="1"/>
          <p:nvPr/>
        </p:nvSpPr>
        <p:spPr>
          <a:xfrm>
            <a:off x="6537960" y="1645920"/>
            <a:ext cx="4922215"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Telemetry/tempo-values.yaml (utdrag)</a:t>
            </a:r>
            <a:endParaRPr lang="en-US" sz="1100" dirty="0"/>
          </a:p>
        </p:txBody>
      </p:sp>
      <p:sp>
        <p:nvSpPr>
          <p:cNvPr id="24" name="Text 22"/>
          <p:cNvSpPr txBox="1"/>
          <p:nvPr/>
        </p:nvSpPr>
        <p:spPr>
          <a:xfrm>
            <a:off x="5943600" y="2011680"/>
            <a:ext cx="5470855" cy="2286000"/>
          </a:xfrm>
          <a:prstGeom prst="rect">
            <a:avLst/>
          </a:prstGeom>
          <a:noFill/>
          <a:ln/>
        </p:spPr>
        <p:txBody>
          <a:bodyPr wrap="square" lIns="0" tIns="0" rIns="0" bIns="0" rtlCol="0" anchor="t"/>
          <a:lstStyle/>
          <a:p>
            <a:pPr marL="0" indent="0">
              <a:lnSpc>
                <a:spcPct val="110000"/>
              </a:lnSpc>
              <a:buNone/>
            </a:pPr>
            <a:r>
              <a:rPr lang="en-US" sz="1100" dirty="0">
                <a:solidFill>
                  <a:srgbClr val="7C9CFF"/>
                </a:solidFill>
                <a:latin typeface="Courier New" pitchFamily="34" charset="0"/>
                <a:ea typeface="Courier New" pitchFamily="34" charset="-122"/>
                <a:cs typeface="Courier New" pitchFamily="34" charset="-120"/>
              </a:rPr>
              <a:t>tempo:</a:t>
            </a: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storage:</a:t>
            </a: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trace:</a:t>
            </a: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backend:</a:t>
            </a:r>
            <a:r>
              <a:rPr lang="en-US" sz="1100" dirty="0">
                <a:solidFill>
                  <a:srgbClr val="DDE3EA"/>
                </a:solidFill>
                <a:latin typeface="Courier New" pitchFamily="34" charset="0"/>
                <a:ea typeface="Courier New" pitchFamily="34" charset="-122"/>
                <a:cs typeface="Courier New" pitchFamily="34" charset="-120"/>
              </a:rPr>
              <a:t> local</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metricsGenerator:</a:t>
            </a: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enabled:</a:t>
            </a:r>
            <a:r>
              <a:rPr lang="en-US" sz="1100" dirty="0">
                <a:solidFill>
                  <a:srgbClr val="DDE3EA"/>
                </a:solidFill>
                <a:latin typeface="Courier New" pitchFamily="34" charset="0"/>
                <a:ea typeface="Courier New" pitchFamily="34" charset="-122"/>
                <a:cs typeface="Courier New" pitchFamily="34" charset="-120"/>
              </a:rPr>
              <a:t> true</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remoteWriteUrl:</a:t>
            </a:r>
            <a:r>
              <a:rPr lang="en-US" sz="1100" dirty="0">
                <a:solidFill>
                  <a:srgbClr val="DDE3EA"/>
                </a:solidFill>
                <a:latin typeface="Courier New" pitchFamily="34" charset="0"/>
                <a:ea typeface="Courier New" pitchFamily="34" charset="-122"/>
                <a:cs typeface="Courier New" pitchFamily="34" charset="-120"/>
              </a:rPr>
              <a:t> ".../api/v1/write"</a:t>
            </a:r>
            <a:endParaRPr lang="en-US" sz="1100" dirty="0"/>
          </a:p>
          <a:p>
            <a:pPr marL="0" indent="0">
              <a:lnSpc>
                <a:spcPct val="110000"/>
              </a:lnSpc>
              <a:buNone/>
            </a:pPr>
            <a:r>
              <a:rPr lang="en-US" sz="1100" dirty="0">
                <a:solidFill>
                  <a:srgbClr val="7C9CFF"/>
                </a:solidFill>
                <a:latin typeface="Courier New" pitchFamily="34" charset="0"/>
                <a:ea typeface="Courier New" pitchFamily="34" charset="-122"/>
                <a:cs typeface="Courier New" pitchFamily="34" charset="-120"/>
              </a:rPr>
              <a:t>persistence:</a:t>
            </a: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storageClassName:</a:t>
            </a:r>
            <a:r>
              <a:rPr lang="en-US" sz="1100" dirty="0">
                <a:solidFill>
                  <a:srgbClr val="DDE3EA"/>
                </a:solidFill>
                <a:latin typeface="Courier New" pitchFamily="34" charset="0"/>
                <a:ea typeface="Courier New" pitchFamily="34" charset="-122"/>
                <a:cs typeface="Courier New" pitchFamily="34" charset="-120"/>
              </a:rPr>
              <a:t> "local-path"</a:t>
            </a:r>
            <a:endParaRPr lang="en-US" sz="1100" dirty="0"/>
          </a:p>
        </p:txBody>
      </p:sp>
      <p:sp>
        <p:nvSpPr>
          <p:cNvPr id="25" name="Shape 23"/>
          <p:cNvSpPr/>
          <p:nvPr/>
        </p:nvSpPr>
        <p:spPr>
          <a:xfrm>
            <a:off x="5715000" y="4617720"/>
            <a:ext cx="5928055" cy="1280160"/>
          </a:xfrm>
          <a:prstGeom prst="roundRect">
            <a:avLst>
              <a:gd name="adj" fmla="val 4286"/>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6" name="Text 24"/>
          <p:cNvSpPr txBox="1"/>
          <p:nvPr/>
        </p:nvSpPr>
        <p:spPr>
          <a:xfrm>
            <a:off x="5916168" y="4818888"/>
            <a:ext cx="5525719"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metrics-generator</a:t>
            </a:r>
            <a:endParaRPr lang="en-US" sz="1400" dirty="0"/>
          </a:p>
        </p:txBody>
      </p:sp>
      <p:sp>
        <p:nvSpPr>
          <p:cNvPr id="27" name="Text 25"/>
          <p:cNvSpPr txBox="1"/>
          <p:nvPr/>
        </p:nvSpPr>
        <p:spPr>
          <a:xfrm>
            <a:off x="5916168" y="5202936"/>
            <a:ext cx="5525719" cy="53949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Räknar fram metrics ur spansen (service graph) och skickar dem till Prometheus.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KOMPONENTERNA · LOKI</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Loki - lagrar loggar</a:t>
            </a:r>
            <a:endParaRPr lang="en-US" sz="3000" dirty="0"/>
          </a:p>
        </p:txBody>
      </p:sp>
      <p:sp>
        <p:nvSpPr>
          <p:cNvPr id="4" name="Shape 2"/>
          <p:cNvSpPr/>
          <p:nvPr/>
        </p:nvSpPr>
        <p:spPr>
          <a:xfrm>
            <a:off x="548640" y="1554480"/>
            <a:ext cx="4846320" cy="1965960"/>
          </a:xfrm>
          <a:prstGeom prst="roundRect">
            <a:avLst>
              <a:gd name="adj" fmla="val 2791"/>
            </a:avLst>
          </a:prstGeom>
          <a:solidFill>
            <a:srgbClr val="3762FF"/>
          </a:solidFill>
          <a:ln w="12700">
            <a:solidFill>
              <a:srgbClr val="3762FF"/>
            </a:solidFill>
            <a:prstDash val="solid"/>
          </a:ln>
        </p:spPr>
      </p:sp>
      <p:sp>
        <p:nvSpPr>
          <p:cNvPr id="5" name="Text 3"/>
          <p:cNvSpPr txBox="1"/>
          <p:nvPr/>
        </p:nvSpPr>
        <p:spPr>
          <a:xfrm>
            <a:off x="777240" y="1691640"/>
            <a:ext cx="4389120" cy="274320"/>
          </a:xfrm>
          <a:prstGeom prst="rect">
            <a:avLst/>
          </a:prstGeom>
          <a:noFill/>
          <a:ln/>
        </p:spPr>
        <p:txBody>
          <a:bodyPr wrap="square" lIns="0" tIns="0" rIns="0" bIns="0" rtlCol="0" anchor="ctr"/>
          <a:lstStyle/>
          <a:p>
            <a:pPr marL="0" indent="0">
              <a:buNone/>
            </a:pPr>
            <a:r>
              <a:rPr lang="en-US" sz="1100" b="1" kern="0" spc="200" dirty="0">
                <a:solidFill>
                  <a:srgbClr val="FFFFFF"/>
                </a:solidFill>
                <a:latin typeface="Arial" pitchFamily="34" charset="0"/>
                <a:ea typeface="Arial" pitchFamily="34" charset="-122"/>
                <a:cs typeface="Arial" pitchFamily="34" charset="-120"/>
              </a:rPr>
              <a:t>LOGGAR</a:t>
            </a:r>
            <a:endParaRPr lang="en-US" sz="1100" dirty="0"/>
          </a:p>
        </p:txBody>
      </p:sp>
      <p:sp>
        <p:nvSpPr>
          <p:cNvPr id="6" name="Text 4"/>
          <p:cNvSpPr txBox="1"/>
          <p:nvPr/>
        </p:nvSpPr>
        <p:spPr>
          <a:xfrm>
            <a:off x="777240" y="2011680"/>
            <a:ext cx="4389120" cy="1417320"/>
          </a:xfrm>
          <a:prstGeom prst="rect">
            <a:avLst/>
          </a:prstGeom>
          <a:noFill/>
          <a:ln/>
        </p:spPr>
        <p:txBody>
          <a:bodyPr wrap="square" lIns="0" tIns="0" rIns="0" bIns="0" rtlCol="0" anchor="t"/>
          <a:lstStyle/>
          <a:p>
            <a:pPr marL="0" indent="0">
              <a:lnSpc>
                <a:spcPct val="115000"/>
              </a:lnSpc>
              <a:buNone/>
            </a:pPr>
            <a:r>
              <a:rPr lang="en-US" sz="1400" dirty="0">
                <a:solidFill>
                  <a:srgbClr val="FFFFFF"/>
                </a:solidFill>
                <a:latin typeface="Arial" pitchFamily="34" charset="0"/>
                <a:ea typeface="Arial" pitchFamily="34" charset="-122"/>
                <a:cs typeface="Arial" pitchFamily="34" charset="-120"/>
              </a:rPr>
              <a:t>"Prometheus för loggar": indexerar bara labels (t.ex. service_name), inte själva texten. Tar emot OTLP direkt och sparar trace_id som metadata på varje rad.</a:t>
            </a:r>
            <a:endParaRPr lang="en-US" sz="1400" dirty="0"/>
          </a:p>
        </p:txBody>
      </p:sp>
      <p:sp>
        <p:nvSpPr>
          <p:cNvPr id="7" name="Shape 5"/>
          <p:cNvSpPr/>
          <p:nvPr/>
        </p:nvSpPr>
        <p:spPr>
          <a:xfrm>
            <a:off x="548640" y="3703320"/>
            <a:ext cx="4846320" cy="457200"/>
          </a:xfrm>
          <a:prstGeom prst="roundRect">
            <a:avLst>
              <a:gd name="adj" fmla="val 10000"/>
            </a:avLst>
          </a:prstGeom>
          <a:solidFill>
            <a:srgbClr val="16294A"/>
          </a:solidFill>
          <a:ln w="12700">
            <a:solidFill>
              <a:srgbClr val="16294A"/>
            </a:solidFill>
            <a:prstDash val="solid"/>
          </a:ln>
        </p:spPr>
      </p:sp>
      <p:sp>
        <p:nvSpPr>
          <p:cNvPr id="8" name="Text 6"/>
          <p:cNvSpPr txBox="1"/>
          <p:nvPr/>
        </p:nvSpPr>
        <p:spPr>
          <a:xfrm>
            <a:off x="731520" y="3703320"/>
            <a:ext cx="1371600" cy="457200"/>
          </a:xfrm>
          <a:prstGeom prst="rect">
            <a:avLst/>
          </a:prstGeom>
          <a:noFill/>
          <a:ln/>
        </p:spPr>
        <p:txBody>
          <a:bodyPr wrap="square" lIns="0" tIns="0" rIns="0" bIns="0" rtlCol="0" anchor="ctr"/>
          <a:lstStyle/>
          <a:p>
            <a:pPr marL="0" indent="0">
              <a:buNone/>
            </a:pPr>
            <a:r>
              <a:rPr lang="en-US" sz="1100" b="1" dirty="0">
                <a:solidFill>
                  <a:srgbClr val="7C9CFF"/>
                </a:solidFill>
                <a:latin typeface="Arial" pitchFamily="34" charset="0"/>
                <a:ea typeface="Arial" pitchFamily="34" charset="-122"/>
                <a:cs typeface="Arial" pitchFamily="34" charset="-120"/>
              </a:rPr>
              <a:t>Tar emot</a:t>
            </a:r>
            <a:endParaRPr lang="en-US" sz="1100" dirty="0"/>
          </a:p>
        </p:txBody>
      </p:sp>
      <p:sp>
        <p:nvSpPr>
          <p:cNvPr id="9" name="Text 7"/>
          <p:cNvSpPr txBox="1"/>
          <p:nvPr/>
        </p:nvSpPr>
        <p:spPr>
          <a:xfrm>
            <a:off x="2148840" y="3703320"/>
            <a:ext cx="3108960" cy="457200"/>
          </a:xfrm>
          <a:prstGeom prst="rect">
            <a:avLst/>
          </a:prstGeom>
          <a:noFill/>
          <a:ln/>
        </p:spPr>
        <p:txBody>
          <a:bodyPr wrap="square" lIns="0" tIns="0" rIns="0" bIns="0" rtlCol="0" anchor="ctr"/>
          <a:lstStyle/>
          <a:p>
            <a:pPr marL="0" indent="0">
              <a:buNone/>
            </a:pPr>
            <a:r>
              <a:rPr lang="en-US" sz="1200" dirty="0">
                <a:solidFill>
                  <a:srgbClr val="F5F7FA"/>
                </a:solidFill>
                <a:latin typeface="Arial" pitchFamily="34" charset="0"/>
                <a:ea typeface="Arial" pitchFamily="34" charset="-122"/>
                <a:cs typeface="Arial" pitchFamily="34" charset="-120"/>
              </a:rPr>
              <a:t>OTLP/HTTP på /otlp</a:t>
            </a:r>
            <a:endParaRPr lang="en-US" sz="1200" dirty="0"/>
          </a:p>
        </p:txBody>
      </p:sp>
      <p:sp>
        <p:nvSpPr>
          <p:cNvPr id="10" name="Shape 8"/>
          <p:cNvSpPr/>
          <p:nvPr/>
        </p:nvSpPr>
        <p:spPr>
          <a:xfrm>
            <a:off x="548640" y="4251960"/>
            <a:ext cx="4846320" cy="457200"/>
          </a:xfrm>
          <a:prstGeom prst="roundRect">
            <a:avLst>
              <a:gd name="adj" fmla="val 10000"/>
            </a:avLst>
          </a:prstGeom>
          <a:solidFill>
            <a:srgbClr val="16294A"/>
          </a:solidFill>
          <a:ln w="12700">
            <a:solidFill>
              <a:srgbClr val="16294A"/>
            </a:solidFill>
            <a:prstDash val="solid"/>
          </a:ln>
        </p:spPr>
      </p:sp>
      <p:sp>
        <p:nvSpPr>
          <p:cNvPr id="11" name="Text 9"/>
          <p:cNvSpPr txBox="1"/>
          <p:nvPr/>
        </p:nvSpPr>
        <p:spPr>
          <a:xfrm>
            <a:off x="731520" y="4251960"/>
            <a:ext cx="1371600" cy="457200"/>
          </a:xfrm>
          <a:prstGeom prst="rect">
            <a:avLst/>
          </a:prstGeom>
          <a:noFill/>
          <a:ln/>
        </p:spPr>
        <p:txBody>
          <a:bodyPr wrap="square" lIns="0" tIns="0" rIns="0" bIns="0" rtlCol="0" anchor="ctr"/>
          <a:lstStyle/>
          <a:p>
            <a:pPr marL="0" indent="0">
              <a:buNone/>
            </a:pPr>
            <a:r>
              <a:rPr lang="en-US" sz="1100" b="1" dirty="0">
                <a:solidFill>
                  <a:srgbClr val="7C9CFF"/>
                </a:solidFill>
                <a:latin typeface="Arial" pitchFamily="34" charset="0"/>
                <a:ea typeface="Arial" pitchFamily="34" charset="-122"/>
                <a:cs typeface="Arial" pitchFamily="34" charset="-120"/>
              </a:rPr>
              <a:t>Frågespråk</a:t>
            </a:r>
            <a:endParaRPr lang="en-US" sz="1100" dirty="0"/>
          </a:p>
        </p:txBody>
      </p:sp>
      <p:sp>
        <p:nvSpPr>
          <p:cNvPr id="12" name="Text 10"/>
          <p:cNvSpPr txBox="1"/>
          <p:nvPr/>
        </p:nvSpPr>
        <p:spPr>
          <a:xfrm>
            <a:off x="2148840" y="4251960"/>
            <a:ext cx="3108960" cy="457200"/>
          </a:xfrm>
          <a:prstGeom prst="rect">
            <a:avLst/>
          </a:prstGeom>
          <a:noFill/>
          <a:ln/>
        </p:spPr>
        <p:txBody>
          <a:bodyPr wrap="square" lIns="0" tIns="0" rIns="0" bIns="0" rtlCol="0" anchor="ctr"/>
          <a:lstStyle/>
          <a:p>
            <a:pPr marL="0" indent="0">
              <a:buNone/>
            </a:pPr>
            <a:r>
              <a:rPr lang="en-US" sz="1200" dirty="0">
                <a:solidFill>
                  <a:srgbClr val="F5F7FA"/>
                </a:solidFill>
                <a:latin typeface="Arial" pitchFamily="34" charset="0"/>
                <a:ea typeface="Arial" pitchFamily="34" charset="-122"/>
                <a:cs typeface="Arial" pitchFamily="34" charset="-120"/>
              </a:rPr>
              <a:t>LogQL</a:t>
            </a:r>
            <a:endParaRPr lang="en-US" sz="1200" dirty="0"/>
          </a:p>
        </p:txBody>
      </p:sp>
      <p:sp>
        <p:nvSpPr>
          <p:cNvPr id="13" name="Shape 11"/>
          <p:cNvSpPr/>
          <p:nvPr/>
        </p:nvSpPr>
        <p:spPr>
          <a:xfrm>
            <a:off x="548640" y="4800600"/>
            <a:ext cx="4846320" cy="457200"/>
          </a:xfrm>
          <a:prstGeom prst="roundRect">
            <a:avLst>
              <a:gd name="adj" fmla="val 10000"/>
            </a:avLst>
          </a:prstGeom>
          <a:solidFill>
            <a:srgbClr val="16294A"/>
          </a:solidFill>
          <a:ln w="12700">
            <a:solidFill>
              <a:srgbClr val="16294A"/>
            </a:solidFill>
            <a:prstDash val="solid"/>
          </a:ln>
        </p:spPr>
      </p:sp>
      <p:sp>
        <p:nvSpPr>
          <p:cNvPr id="14" name="Text 12"/>
          <p:cNvSpPr txBox="1"/>
          <p:nvPr/>
        </p:nvSpPr>
        <p:spPr>
          <a:xfrm>
            <a:off x="731520" y="4800600"/>
            <a:ext cx="1371600" cy="457200"/>
          </a:xfrm>
          <a:prstGeom prst="rect">
            <a:avLst/>
          </a:prstGeom>
          <a:noFill/>
          <a:ln/>
        </p:spPr>
        <p:txBody>
          <a:bodyPr wrap="square" lIns="0" tIns="0" rIns="0" bIns="0" rtlCol="0" anchor="ctr"/>
          <a:lstStyle/>
          <a:p>
            <a:pPr marL="0" indent="0">
              <a:buNone/>
            </a:pPr>
            <a:r>
              <a:rPr lang="en-US" sz="1100" b="1" dirty="0">
                <a:solidFill>
                  <a:srgbClr val="7C9CFF"/>
                </a:solidFill>
                <a:latin typeface="Arial" pitchFamily="34" charset="0"/>
                <a:ea typeface="Arial" pitchFamily="34" charset="-122"/>
                <a:cs typeface="Arial" pitchFamily="34" charset="-120"/>
              </a:rPr>
              <a:t>Service</a:t>
            </a:r>
            <a:endParaRPr lang="en-US" sz="1100" dirty="0"/>
          </a:p>
        </p:txBody>
      </p:sp>
      <p:sp>
        <p:nvSpPr>
          <p:cNvPr id="15" name="Text 13"/>
          <p:cNvSpPr txBox="1"/>
          <p:nvPr/>
        </p:nvSpPr>
        <p:spPr>
          <a:xfrm>
            <a:off x="2148840" y="4800600"/>
            <a:ext cx="3108960" cy="457200"/>
          </a:xfrm>
          <a:prstGeom prst="rect">
            <a:avLst/>
          </a:prstGeom>
          <a:noFill/>
          <a:ln/>
        </p:spPr>
        <p:txBody>
          <a:bodyPr wrap="square" lIns="0" tIns="0" rIns="0" bIns="0" rtlCol="0" anchor="ctr"/>
          <a:lstStyle/>
          <a:p>
            <a:pPr marL="0" indent="0">
              <a:buNone/>
            </a:pPr>
            <a:r>
              <a:rPr lang="en-US" sz="1200" dirty="0">
                <a:solidFill>
                  <a:srgbClr val="F5F7FA"/>
                </a:solidFill>
                <a:latin typeface="Arial" pitchFamily="34" charset="0"/>
                <a:ea typeface="Arial" pitchFamily="34" charset="-122"/>
                <a:cs typeface="Arial" pitchFamily="34" charset="-120"/>
              </a:rPr>
              <a:t>telemetry-loki-gateway:80</a:t>
            </a:r>
            <a:endParaRPr lang="en-US" sz="1200" dirty="0"/>
          </a:p>
        </p:txBody>
      </p:sp>
      <p:sp>
        <p:nvSpPr>
          <p:cNvPr id="16" name="Shape 14"/>
          <p:cNvSpPr/>
          <p:nvPr/>
        </p:nvSpPr>
        <p:spPr>
          <a:xfrm>
            <a:off x="548640" y="5349240"/>
            <a:ext cx="4846320" cy="457200"/>
          </a:xfrm>
          <a:prstGeom prst="roundRect">
            <a:avLst>
              <a:gd name="adj" fmla="val 10000"/>
            </a:avLst>
          </a:prstGeom>
          <a:solidFill>
            <a:srgbClr val="16294A"/>
          </a:solidFill>
          <a:ln w="12700">
            <a:solidFill>
              <a:srgbClr val="16294A"/>
            </a:solidFill>
            <a:prstDash val="solid"/>
          </a:ln>
        </p:spPr>
      </p:sp>
      <p:sp>
        <p:nvSpPr>
          <p:cNvPr id="17" name="Text 15"/>
          <p:cNvSpPr txBox="1"/>
          <p:nvPr/>
        </p:nvSpPr>
        <p:spPr>
          <a:xfrm>
            <a:off x="731520" y="5349240"/>
            <a:ext cx="1371600" cy="457200"/>
          </a:xfrm>
          <a:prstGeom prst="rect">
            <a:avLst/>
          </a:prstGeom>
          <a:noFill/>
          <a:ln/>
        </p:spPr>
        <p:txBody>
          <a:bodyPr wrap="square" lIns="0" tIns="0" rIns="0" bIns="0" rtlCol="0" anchor="ctr"/>
          <a:lstStyle/>
          <a:p>
            <a:pPr marL="0" indent="0">
              <a:buNone/>
            </a:pPr>
            <a:r>
              <a:rPr lang="en-US" sz="1100" b="1" dirty="0">
                <a:solidFill>
                  <a:srgbClr val="7C9CFF"/>
                </a:solidFill>
                <a:latin typeface="Arial" pitchFamily="34" charset="0"/>
                <a:ea typeface="Arial" pitchFamily="34" charset="-122"/>
                <a:cs typeface="Arial" pitchFamily="34" charset="-120"/>
              </a:rPr>
              <a:t>Läge</a:t>
            </a:r>
            <a:endParaRPr lang="en-US" sz="1100" dirty="0"/>
          </a:p>
        </p:txBody>
      </p:sp>
      <p:sp>
        <p:nvSpPr>
          <p:cNvPr id="18" name="Text 16"/>
          <p:cNvSpPr txBox="1"/>
          <p:nvPr/>
        </p:nvSpPr>
        <p:spPr>
          <a:xfrm>
            <a:off x="2148840" y="5349240"/>
            <a:ext cx="3108960" cy="457200"/>
          </a:xfrm>
          <a:prstGeom prst="rect">
            <a:avLst/>
          </a:prstGeom>
          <a:noFill/>
          <a:ln/>
        </p:spPr>
        <p:txBody>
          <a:bodyPr wrap="square" lIns="0" tIns="0" rIns="0" bIns="0" rtlCol="0" anchor="ctr"/>
          <a:lstStyle/>
          <a:p>
            <a:pPr marL="0" indent="0">
              <a:buNone/>
            </a:pPr>
            <a:r>
              <a:rPr lang="en-US" sz="1200" dirty="0">
                <a:solidFill>
                  <a:srgbClr val="F5F7FA"/>
                </a:solidFill>
                <a:latin typeface="Arial" pitchFamily="34" charset="0"/>
                <a:ea typeface="Arial" pitchFamily="34" charset="-122"/>
                <a:cs typeface="Arial" pitchFamily="34" charset="-120"/>
              </a:rPr>
              <a:t>SingleBinary - en podd</a:t>
            </a:r>
            <a:endParaRPr lang="en-US" sz="1200" dirty="0"/>
          </a:p>
        </p:txBody>
      </p:sp>
      <p:sp>
        <p:nvSpPr>
          <p:cNvPr id="19" name="Shape 17"/>
          <p:cNvSpPr/>
          <p:nvPr/>
        </p:nvSpPr>
        <p:spPr>
          <a:xfrm>
            <a:off x="5715000" y="1554480"/>
            <a:ext cx="5928055" cy="2880360"/>
          </a:xfrm>
          <a:prstGeom prst="roundRect">
            <a:avLst>
              <a:gd name="adj" fmla="val 1905"/>
            </a:avLst>
          </a:prstGeom>
          <a:solidFill>
            <a:srgbClr val="16294A"/>
          </a:solidFill>
          <a:ln w="12700">
            <a:solidFill>
              <a:srgbClr val="16294A"/>
            </a:solidFill>
            <a:prstDash val="solid"/>
          </a:ln>
        </p:spPr>
      </p:sp>
      <p:sp>
        <p:nvSpPr>
          <p:cNvPr id="20" name="Shape 18"/>
          <p:cNvSpPr/>
          <p:nvPr/>
        </p:nvSpPr>
        <p:spPr>
          <a:xfrm>
            <a:off x="5916168" y="1719072"/>
            <a:ext cx="109728" cy="109728"/>
          </a:xfrm>
          <a:prstGeom prst="ellipse">
            <a:avLst/>
          </a:prstGeom>
          <a:solidFill>
            <a:srgbClr val="D64545"/>
          </a:solidFill>
          <a:ln w="12700">
            <a:solidFill>
              <a:srgbClr val="D64545"/>
            </a:solidFill>
            <a:prstDash val="solid"/>
          </a:ln>
        </p:spPr>
      </p:sp>
      <p:sp>
        <p:nvSpPr>
          <p:cNvPr id="21" name="Shape 19"/>
          <p:cNvSpPr/>
          <p:nvPr/>
        </p:nvSpPr>
        <p:spPr>
          <a:xfrm>
            <a:off x="6099048" y="1719072"/>
            <a:ext cx="109728" cy="109728"/>
          </a:xfrm>
          <a:prstGeom prst="ellipse">
            <a:avLst/>
          </a:prstGeom>
          <a:solidFill>
            <a:srgbClr val="FFB020"/>
          </a:solidFill>
          <a:ln w="12700">
            <a:solidFill>
              <a:srgbClr val="FFB020"/>
            </a:solidFill>
            <a:prstDash val="solid"/>
          </a:ln>
        </p:spPr>
      </p:sp>
      <p:sp>
        <p:nvSpPr>
          <p:cNvPr id="22" name="Shape 20"/>
          <p:cNvSpPr/>
          <p:nvPr/>
        </p:nvSpPr>
        <p:spPr>
          <a:xfrm>
            <a:off x="6281928" y="1719072"/>
            <a:ext cx="109728" cy="109728"/>
          </a:xfrm>
          <a:prstGeom prst="ellipse">
            <a:avLst/>
          </a:prstGeom>
          <a:solidFill>
            <a:srgbClr val="3CB371"/>
          </a:solidFill>
          <a:ln w="12700">
            <a:solidFill>
              <a:srgbClr val="3CB371"/>
            </a:solidFill>
            <a:prstDash val="solid"/>
          </a:ln>
        </p:spPr>
      </p:sp>
      <p:sp>
        <p:nvSpPr>
          <p:cNvPr id="23" name="Text 21"/>
          <p:cNvSpPr txBox="1"/>
          <p:nvPr/>
        </p:nvSpPr>
        <p:spPr>
          <a:xfrm>
            <a:off x="6537960" y="1645920"/>
            <a:ext cx="4922215"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Telemetry/loki-values.yaml (utdrag)</a:t>
            </a:r>
            <a:endParaRPr lang="en-US" sz="1100" dirty="0"/>
          </a:p>
        </p:txBody>
      </p:sp>
      <p:sp>
        <p:nvSpPr>
          <p:cNvPr id="24" name="Text 22"/>
          <p:cNvSpPr txBox="1"/>
          <p:nvPr/>
        </p:nvSpPr>
        <p:spPr>
          <a:xfrm>
            <a:off x="5943600" y="2011680"/>
            <a:ext cx="5470855" cy="2286000"/>
          </a:xfrm>
          <a:prstGeom prst="rect">
            <a:avLst/>
          </a:prstGeom>
          <a:noFill/>
          <a:ln/>
        </p:spPr>
        <p:txBody>
          <a:bodyPr wrap="square" lIns="0" tIns="0" rIns="0" bIns="0" rtlCol="0" anchor="t"/>
          <a:lstStyle/>
          <a:p>
            <a:pPr marL="0" indent="0">
              <a:lnSpc>
                <a:spcPct val="110000"/>
              </a:lnSpc>
              <a:buNone/>
            </a:pPr>
            <a:r>
              <a:rPr lang="en-US" sz="1100" dirty="0">
                <a:solidFill>
                  <a:srgbClr val="7C9CFF"/>
                </a:solidFill>
                <a:latin typeface="Courier New" pitchFamily="34" charset="0"/>
                <a:ea typeface="Courier New" pitchFamily="34" charset="-122"/>
                <a:cs typeface="Courier New" pitchFamily="34" charset="-120"/>
              </a:rPr>
              <a:t>deploymentMode:</a:t>
            </a:r>
            <a:r>
              <a:rPr lang="en-US" sz="1100" dirty="0">
                <a:solidFill>
                  <a:srgbClr val="DDE3EA"/>
                </a:solidFill>
                <a:latin typeface="Courier New" pitchFamily="34" charset="0"/>
                <a:ea typeface="Courier New" pitchFamily="34" charset="-122"/>
                <a:cs typeface="Courier New" pitchFamily="34" charset="-120"/>
              </a:rPr>
              <a:t> SingleBinary</a:t>
            </a:r>
            <a:endParaRPr lang="en-US" sz="1100" dirty="0"/>
          </a:p>
          <a:p>
            <a:pPr marL="0" indent="0">
              <a:lnSpc>
                <a:spcPct val="110000"/>
              </a:lnSpc>
              <a:buNone/>
            </a:pPr>
            <a:r>
              <a:rPr lang="en-US" sz="1100" dirty="0">
                <a:solidFill>
                  <a:srgbClr val="7C9CFF"/>
                </a:solidFill>
                <a:latin typeface="Courier New" pitchFamily="34" charset="0"/>
                <a:ea typeface="Courier New" pitchFamily="34" charset="-122"/>
                <a:cs typeface="Courier New" pitchFamily="34" charset="-120"/>
              </a:rPr>
              <a:t>loki:</a:t>
            </a: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storage:</a:t>
            </a: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type:</a:t>
            </a:r>
            <a:r>
              <a:rPr lang="en-US" sz="1100" dirty="0">
                <a:solidFill>
                  <a:srgbClr val="DDE3EA"/>
                </a:solidFill>
                <a:latin typeface="Courier New" pitchFamily="34" charset="0"/>
                <a:ea typeface="Courier New" pitchFamily="34" charset="-122"/>
                <a:cs typeface="Courier New" pitchFamily="34" charset="-120"/>
              </a:rPr>
              <a:t> filesystem</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limits_config:</a:t>
            </a: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allow_structured_metadata:</a:t>
            </a:r>
            <a:r>
              <a:rPr lang="en-US" sz="1100" dirty="0">
                <a:solidFill>
                  <a:srgbClr val="DDE3EA"/>
                </a:solidFill>
                <a:latin typeface="Courier New" pitchFamily="34" charset="0"/>
                <a:ea typeface="Courier New" pitchFamily="34" charset="-122"/>
                <a:cs typeface="Courier New" pitchFamily="34" charset="-120"/>
              </a:rPr>
              <a:t> true</a:t>
            </a:r>
            <a:endParaRPr lang="en-US" sz="1100" dirty="0"/>
          </a:p>
          <a:p>
            <a:pPr marL="0" indent="0">
              <a:lnSpc>
                <a:spcPct val="110000"/>
              </a:lnSpc>
              <a:buNone/>
            </a:pPr>
            <a:r>
              <a:rPr lang="en-US" sz="1100" dirty="0">
                <a:solidFill>
                  <a:srgbClr val="7C9CFF"/>
                </a:solidFill>
                <a:latin typeface="Courier New" pitchFamily="34" charset="0"/>
                <a:ea typeface="Courier New" pitchFamily="34" charset="-122"/>
                <a:cs typeface="Courier New" pitchFamily="34" charset="-120"/>
              </a:rPr>
              <a:t>chunksCache:</a:t>
            </a: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enabled:</a:t>
            </a:r>
            <a:r>
              <a:rPr lang="en-US" sz="1100" dirty="0">
                <a:solidFill>
                  <a:srgbClr val="DDE3EA"/>
                </a:solidFill>
                <a:latin typeface="Courier New" pitchFamily="34" charset="0"/>
                <a:ea typeface="Courier New" pitchFamily="34" charset="-122"/>
                <a:cs typeface="Courier New" pitchFamily="34" charset="-120"/>
              </a:rPr>
              <a:t> false</a:t>
            </a:r>
            <a:endParaRPr lang="en-US" sz="1100" dirty="0"/>
          </a:p>
        </p:txBody>
      </p:sp>
      <p:sp>
        <p:nvSpPr>
          <p:cNvPr id="25" name="Shape 23"/>
          <p:cNvSpPr/>
          <p:nvPr/>
        </p:nvSpPr>
        <p:spPr>
          <a:xfrm>
            <a:off x="5715000" y="4617720"/>
            <a:ext cx="5928055" cy="1280160"/>
          </a:xfrm>
          <a:prstGeom prst="roundRect">
            <a:avLst>
              <a:gd name="adj" fmla="val 4286"/>
            </a:avLst>
          </a:prstGeom>
          <a:solidFill>
            <a:srgbClr val="16294A"/>
          </a:solidFill>
          <a:ln w="12700">
            <a:solidFill>
              <a:srgbClr val="16294A"/>
            </a:solidFill>
            <a:prstDash val="solid"/>
          </a:ln>
        </p:spPr>
      </p:sp>
      <p:sp>
        <p:nvSpPr>
          <p:cNvPr id="26" name="Text 24"/>
          <p:cNvSpPr txBox="1"/>
          <p:nvPr/>
        </p:nvSpPr>
        <p:spPr>
          <a:xfrm>
            <a:off x="5916168" y="4818888"/>
            <a:ext cx="5525719" cy="320040"/>
          </a:xfrm>
          <a:prstGeom prst="rect">
            <a:avLst/>
          </a:prstGeom>
          <a:noFill/>
          <a:ln/>
        </p:spPr>
        <p:txBody>
          <a:bodyPr wrap="square" lIns="0" tIns="0" rIns="0" bIns="0" rtlCol="0" anchor="t"/>
          <a:lstStyle/>
          <a:p>
            <a:pPr marL="0" indent="0">
              <a:buNone/>
            </a:pPr>
            <a:r>
              <a:rPr lang="en-US" sz="1400" b="1" dirty="0">
                <a:solidFill>
                  <a:srgbClr val="F5F7FA"/>
                </a:solidFill>
                <a:latin typeface="Calibri" pitchFamily="34" charset="0"/>
                <a:ea typeface="Calibri" pitchFamily="34" charset="-122"/>
                <a:cs typeface="Calibri" pitchFamily="34" charset="-120"/>
              </a:rPr>
              <a:t>Gateway</a:t>
            </a:r>
            <a:endParaRPr lang="en-US" sz="1400" dirty="0"/>
          </a:p>
        </p:txBody>
      </p:sp>
      <p:sp>
        <p:nvSpPr>
          <p:cNvPr id="27" name="Text 25"/>
          <p:cNvSpPr txBox="1"/>
          <p:nvPr/>
        </p:nvSpPr>
        <p:spPr>
          <a:xfrm>
            <a:off x="5916168" y="5202936"/>
            <a:ext cx="5525719" cy="539496"/>
          </a:xfrm>
          <a:prstGeom prst="rect">
            <a:avLst/>
          </a:prstGeom>
          <a:noFill/>
          <a:ln/>
        </p:spPr>
        <p:txBody>
          <a:bodyPr wrap="square" lIns="0" tIns="0" rIns="0" bIns="0" rtlCol="0" anchor="t"/>
          <a:lstStyle/>
          <a:p>
            <a:pPr marL="0" indent="0">
              <a:lnSpc>
                <a:spcPct val="115000"/>
              </a:lnSpc>
              <a:buNone/>
            </a:pPr>
            <a:r>
              <a:rPr lang="en-US" sz="1200" dirty="0">
                <a:solidFill>
                  <a:srgbClr val="B9C4D1"/>
                </a:solidFill>
                <a:latin typeface="Arial" pitchFamily="34" charset="0"/>
                <a:ea typeface="Arial" pitchFamily="34" charset="-122"/>
                <a:cs typeface="Arial" pitchFamily="34" charset="-120"/>
              </a:rPr>
              <a:t>En nginx framför Loki - collectorn skickar till gatewayen, inte direkt till Loki.</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KOMPONENTERNA · PROMETHEUS</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Prometheus - lagrar metrics</a:t>
            </a:r>
            <a:endParaRPr lang="en-US" sz="3000" dirty="0"/>
          </a:p>
        </p:txBody>
      </p:sp>
      <p:sp>
        <p:nvSpPr>
          <p:cNvPr id="4" name="Shape 2"/>
          <p:cNvSpPr/>
          <p:nvPr/>
        </p:nvSpPr>
        <p:spPr>
          <a:xfrm>
            <a:off x="548640" y="1554480"/>
            <a:ext cx="4846320" cy="1965960"/>
          </a:xfrm>
          <a:prstGeom prst="roundRect">
            <a:avLst>
              <a:gd name="adj" fmla="val 2791"/>
            </a:avLst>
          </a:prstGeom>
          <a:solidFill>
            <a:srgbClr val="3762FF"/>
          </a:solidFill>
          <a:ln w="12700">
            <a:solidFill>
              <a:srgbClr val="3762FF"/>
            </a:solidFill>
            <a:prstDash val="solid"/>
          </a:ln>
        </p:spPr>
      </p:sp>
      <p:sp>
        <p:nvSpPr>
          <p:cNvPr id="5" name="Text 3"/>
          <p:cNvSpPr txBox="1"/>
          <p:nvPr/>
        </p:nvSpPr>
        <p:spPr>
          <a:xfrm>
            <a:off x="777240" y="1691640"/>
            <a:ext cx="4389120" cy="274320"/>
          </a:xfrm>
          <a:prstGeom prst="rect">
            <a:avLst/>
          </a:prstGeom>
          <a:noFill/>
          <a:ln/>
        </p:spPr>
        <p:txBody>
          <a:bodyPr wrap="square" lIns="0" tIns="0" rIns="0" bIns="0" rtlCol="0" anchor="ctr"/>
          <a:lstStyle/>
          <a:p>
            <a:pPr marL="0" indent="0">
              <a:buNone/>
            </a:pPr>
            <a:r>
              <a:rPr lang="en-US" sz="1100" b="1" kern="0" spc="200" dirty="0">
                <a:solidFill>
                  <a:srgbClr val="FFFFFF"/>
                </a:solidFill>
                <a:latin typeface="Arial" pitchFamily="34" charset="0"/>
                <a:ea typeface="Arial" pitchFamily="34" charset="-122"/>
                <a:cs typeface="Arial" pitchFamily="34" charset="-120"/>
              </a:rPr>
              <a:t>METRICS</a:t>
            </a:r>
            <a:endParaRPr lang="en-US" sz="1100" dirty="0"/>
          </a:p>
        </p:txBody>
      </p:sp>
      <p:sp>
        <p:nvSpPr>
          <p:cNvPr id="6" name="Text 4"/>
          <p:cNvSpPr txBox="1"/>
          <p:nvPr/>
        </p:nvSpPr>
        <p:spPr>
          <a:xfrm>
            <a:off x="777240" y="2011680"/>
            <a:ext cx="4389120" cy="1417320"/>
          </a:xfrm>
          <a:prstGeom prst="rect">
            <a:avLst/>
          </a:prstGeom>
          <a:noFill/>
          <a:ln/>
        </p:spPr>
        <p:txBody>
          <a:bodyPr wrap="square" lIns="0" tIns="0" rIns="0" bIns="0" rtlCol="0" anchor="t"/>
          <a:lstStyle/>
          <a:p>
            <a:pPr marL="0" indent="0">
              <a:lnSpc>
                <a:spcPct val="115000"/>
              </a:lnSpc>
              <a:buNone/>
            </a:pPr>
            <a:r>
              <a:rPr lang="en-US" sz="1400" dirty="0">
                <a:solidFill>
                  <a:srgbClr val="FFFFFF"/>
                </a:solidFill>
                <a:latin typeface="Arial" pitchFamily="34" charset="0"/>
                <a:ea typeface="Arial" pitchFamily="34" charset="-122"/>
                <a:cs typeface="Arial" pitchFamily="34" charset="-120"/>
              </a:rPr>
              <a:t>Tidsseriedatabas. Hämtar (skrapar) själv metrics från tjänster som har annotationen prometheus.io/scrape - var 15:e sekund eller enligt inställning.</a:t>
            </a:r>
            <a:endParaRPr lang="en-US" sz="1400" dirty="0"/>
          </a:p>
        </p:txBody>
      </p:sp>
      <p:sp>
        <p:nvSpPr>
          <p:cNvPr id="7" name="Shape 5"/>
          <p:cNvSpPr/>
          <p:nvPr/>
        </p:nvSpPr>
        <p:spPr>
          <a:xfrm>
            <a:off x="548640" y="3703320"/>
            <a:ext cx="4846320" cy="4572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8" name="Text 6"/>
          <p:cNvSpPr txBox="1"/>
          <p:nvPr/>
        </p:nvSpPr>
        <p:spPr>
          <a:xfrm>
            <a:off x="731520" y="3703320"/>
            <a:ext cx="1371600" cy="457200"/>
          </a:xfrm>
          <a:prstGeom prst="rect">
            <a:avLst/>
          </a:prstGeom>
          <a:noFill/>
          <a:ln/>
        </p:spPr>
        <p:txBody>
          <a:bodyPr wrap="square" lIns="0" tIns="0" rIns="0" bIns="0" rtlCol="0" anchor="ctr"/>
          <a:lstStyle/>
          <a:p>
            <a:pPr marL="0" indent="0">
              <a:buNone/>
            </a:pPr>
            <a:r>
              <a:rPr lang="en-US" sz="1100" b="1" dirty="0">
                <a:solidFill>
                  <a:srgbClr val="3762FF"/>
                </a:solidFill>
                <a:latin typeface="Arial" pitchFamily="34" charset="0"/>
                <a:ea typeface="Arial" pitchFamily="34" charset="-122"/>
                <a:cs typeface="Arial" pitchFamily="34" charset="-120"/>
              </a:rPr>
              <a:t>Hämtar från</a:t>
            </a:r>
            <a:endParaRPr lang="en-US" sz="1100" dirty="0"/>
          </a:p>
        </p:txBody>
      </p:sp>
      <p:sp>
        <p:nvSpPr>
          <p:cNvPr id="9" name="Text 7"/>
          <p:cNvSpPr txBox="1"/>
          <p:nvPr/>
        </p:nvSpPr>
        <p:spPr>
          <a:xfrm>
            <a:off x="2148840" y="3703320"/>
            <a:ext cx="3108960" cy="457200"/>
          </a:xfrm>
          <a:prstGeom prst="rect">
            <a:avLst/>
          </a:prstGeom>
          <a:noFill/>
          <a:ln/>
        </p:spPr>
        <p:txBody>
          <a:bodyPr wrap="square" lIns="0" tIns="0" rIns="0" bIns="0" rtlCol="0" anchor="ctr"/>
          <a:lstStyle/>
          <a:p>
            <a:pPr marL="0" indent="0">
              <a:buNone/>
            </a:pPr>
            <a:r>
              <a:rPr lang="en-US" sz="1200" dirty="0">
                <a:solidFill>
                  <a:srgbClr val="16202B"/>
                </a:solidFill>
                <a:latin typeface="Arial" pitchFamily="34" charset="0"/>
                <a:ea typeface="Arial" pitchFamily="34" charset="-122"/>
                <a:cs typeface="Arial" pitchFamily="34" charset="-120"/>
              </a:rPr>
              <a:t>otel-collector :8889 + exportörer</a:t>
            </a:r>
            <a:endParaRPr lang="en-US" sz="1200" dirty="0"/>
          </a:p>
        </p:txBody>
      </p:sp>
      <p:sp>
        <p:nvSpPr>
          <p:cNvPr id="10" name="Shape 8"/>
          <p:cNvSpPr/>
          <p:nvPr/>
        </p:nvSpPr>
        <p:spPr>
          <a:xfrm>
            <a:off x="548640" y="4251960"/>
            <a:ext cx="4846320" cy="4572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731520" y="4251960"/>
            <a:ext cx="1371600" cy="457200"/>
          </a:xfrm>
          <a:prstGeom prst="rect">
            <a:avLst/>
          </a:prstGeom>
          <a:noFill/>
          <a:ln/>
        </p:spPr>
        <p:txBody>
          <a:bodyPr wrap="square" lIns="0" tIns="0" rIns="0" bIns="0" rtlCol="0" anchor="ctr"/>
          <a:lstStyle/>
          <a:p>
            <a:pPr marL="0" indent="0">
              <a:buNone/>
            </a:pPr>
            <a:r>
              <a:rPr lang="en-US" sz="1100" b="1" dirty="0">
                <a:solidFill>
                  <a:srgbClr val="3762FF"/>
                </a:solidFill>
                <a:latin typeface="Arial" pitchFamily="34" charset="0"/>
                <a:ea typeface="Arial" pitchFamily="34" charset="-122"/>
                <a:cs typeface="Arial" pitchFamily="34" charset="-120"/>
              </a:rPr>
              <a:t>Frågespråk</a:t>
            </a:r>
            <a:endParaRPr lang="en-US" sz="1100" dirty="0"/>
          </a:p>
        </p:txBody>
      </p:sp>
      <p:sp>
        <p:nvSpPr>
          <p:cNvPr id="12" name="Text 10"/>
          <p:cNvSpPr txBox="1"/>
          <p:nvPr/>
        </p:nvSpPr>
        <p:spPr>
          <a:xfrm>
            <a:off x="2148840" y="4251960"/>
            <a:ext cx="3108960" cy="457200"/>
          </a:xfrm>
          <a:prstGeom prst="rect">
            <a:avLst/>
          </a:prstGeom>
          <a:noFill/>
          <a:ln/>
        </p:spPr>
        <p:txBody>
          <a:bodyPr wrap="square" lIns="0" tIns="0" rIns="0" bIns="0" rtlCol="0" anchor="ctr"/>
          <a:lstStyle/>
          <a:p>
            <a:pPr marL="0" indent="0">
              <a:buNone/>
            </a:pPr>
            <a:r>
              <a:rPr lang="en-US" sz="1200" dirty="0">
                <a:solidFill>
                  <a:srgbClr val="16202B"/>
                </a:solidFill>
                <a:latin typeface="Arial" pitchFamily="34" charset="0"/>
                <a:ea typeface="Arial" pitchFamily="34" charset="-122"/>
                <a:cs typeface="Arial" pitchFamily="34" charset="-120"/>
              </a:rPr>
              <a:t>PromQL</a:t>
            </a:r>
            <a:endParaRPr lang="en-US" sz="1200" dirty="0"/>
          </a:p>
        </p:txBody>
      </p:sp>
      <p:sp>
        <p:nvSpPr>
          <p:cNvPr id="13" name="Shape 11"/>
          <p:cNvSpPr/>
          <p:nvPr/>
        </p:nvSpPr>
        <p:spPr>
          <a:xfrm>
            <a:off x="548640" y="4800600"/>
            <a:ext cx="4846320" cy="4572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731520" y="4800600"/>
            <a:ext cx="1371600" cy="457200"/>
          </a:xfrm>
          <a:prstGeom prst="rect">
            <a:avLst/>
          </a:prstGeom>
          <a:noFill/>
          <a:ln/>
        </p:spPr>
        <p:txBody>
          <a:bodyPr wrap="square" lIns="0" tIns="0" rIns="0" bIns="0" rtlCol="0" anchor="ctr"/>
          <a:lstStyle/>
          <a:p>
            <a:pPr marL="0" indent="0">
              <a:buNone/>
            </a:pPr>
            <a:r>
              <a:rPr lang="en-US" sz="1100" b="1" dirty="0">
                <a:solidFill>
                  <a:srgbClr val="3762FF"/>
                </a:solidFill>
                <a:latin typeface="Arial" pitchFamily="34" charset="0"/>
                <a:ea typeface="Arial" pitchFamily="34" charset="-122"/>
                <a:cs typeface="Arial" pitchFamily="34" charset="-120"/>
              </a:rPr>
              <a:t>Service</a:t>
            </a:r>
            <a:endParaRPr lang="en-US" sz="1100" dirty="0"/>
          </a:p>
        </p:txBody>
      </p:sp>
      <p:sp>
        <p:nvSpPr>
          <p:cNvPr id="15" name="Text 13"/>
          <p:cNvSpPr txBox="1"/>
          <p:nvPr/>
        </p:nvSpPr>
        <p:spPr>
          <a:xfrm>
            <a:off x="2148840" y="4800600"/>
            <a:ext cx="3108960" cy="457200"/>
          </a:xfrm>
          <a:prstGeom prst="rect">
            <a:avLst/>
          </a:prstGeom>
          <a:noFill/>
          <a:ln/>
        </p:spPr>
        <p:txBody>
          <a:bodyPr wrap="square" lIns="0" tIns="0" rIns="0" bIns="0" rtlCol="0" anchor="ctr"/>
          <a:lstStyle/>
          <a:p>
            <a:pPr marL="0" indent="0">
              <a:buNone/>
            </a:pPr>
            <a:r>
              <a:rPr lang="en-US" sz="1200" dirty="0">
                <a:solidFill>
                  <a:srgbClr val="16202B"/>
                </a:solidFill>
                <a:latin typeface="Arial" pitchFamily="34" charset="0"/>
                <a:ea typeface="Arial" pitchFamily="34" charset="-122"/>
                <a:cs typeface="Arial" pitchFamily="34" charset="-120"/>
              </a:rPr>
              <a:t>telemetry-prometheus-server:80</a:t>
            </a:r>
            <a:endParaRPr lang="en-US" sz="1200" dirty="0"/>
          </a:p>
        </p:txBody>
      </p:sp>
      <p:sp>
        <p:nvSpPr>
          <p:cNvPr id="16" name="Shape 14"/>
          <p:cNvSpPr/>
          <p:nvPr/>
        </p:nvSpPr>
        <p:spPr>
          <a:xfrm>
            <a:off x="548640" y="5349240"/>
            <a:ext cx="4846320" cy="4572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7" name="Text 15"/>
          <p:cNvSpPr txBox="1"/>
          <p:nvPr/>
        </p:nvSpPr>
        <p:spPr>
          <a:xfrm>
            <a:off x="731520" y="5349240"/>
            <a:ext cx="1371600" cy="457200"/>
          </a:xfrm>
          <a:prstGeom prst="rect">
            <a:avLst/>
          </a:prstGeom>
          <a:noFill/>
          <a:ln/>
        </p:spPr>
        <p:txBody>
          <a:bodyPr wrap="square" lIns="0" tIns="0" rIns="0" bIns="0" rtlCol="0" anchor="ctr"/>
          <a:lstStyle/>
          <a:p>
            <a:pPr marL="0" indent="0">
              <a:buNone/>
            </a:pPr>
            <a:r>
              <a:rPr lang="en-US" sz="1100" b="1" dirty="0">
                <a:solidFill>
                  <a:srgbClr val="3762FF"/>
                </a:solidFill>
                <a:latin typeface="Arial" pitchFamily="34" charset="0"/>
                <a:ea typeface="Arial" pitchFamily="34" charset="-122"/>
                <a:cs typeface="Arial" pitchFamily="34" charset="-120"/>
              </a:rPr>
              <a:t>Tar emot</a:t>
            </a:r>
            <a:endParaRPr lang="en-US" sz="1100" dirty="0"/>
          </a:p>
        </p:txBody>
      </p:sp>
      <p:sp>
        <p:nvSpPr>
          <p:cNvPr id="18" name="Text 16"/>
          <p:cNvSpPr txBox="1"/>
          <p:nvPr/>
        </p:nvSpPr>
        <p:spPr>
          <a:xfrm>
            <a:off x="2148840" y="5349240"/>
            <a:ext cx="3108960" cy="457200"/>
          </a:xfrm>
          <a:prstGeom prst="rect">
            <a:avLst/>
          </a:prstGeom>
          <a:noFill/>
          <a:ln/>
        </p:spPr>
        <p:txBody>
          <a:bodyPr wrap="square" lIns="0" tIns="0" rIns="0" bIns="0" rtlCol="0" anchor="ctr"/>
          <a:lstStyle/>
          <a:p>
            <a:pPr marL="0" indent="0">
              <a:buNone/>
            </a:pPr>
            <a:r>
              <a:rPr lang="en-US" sz="1200" dirty="0">
                <a:solidFill>
                  <a:srgbClr val="16202B"/>
                </a:solidFill>
                <a:latin typeface="Arial" pitchFamily="34" charset="0"/>
                <a:ea typeface="Arial" pitchFamily="34" charset="-122"/>
                <a:cs typeface="Arial" pitchFamily="34" charset="-120"/>
              </a:rPr>
              <a:t>remote write (från Tempo)</a:t>
            </a:r>
            <a:endParaRPr lang="en-US" sz="1200" dirty="0"/>
          </a:p>
        </p:txBody>
      </p:sp>
      <p:sp>
        <p:nvSpPr>
          <p:cNvPr id="19" name="Shape 17"/>
          <p:cNvSpPr/>
          <p:nvPr/>
        </p:nvSpPr>
        <p:spPr>
          <a:xfrm>
            <a:off x="5715000" y="1554480"/>
            <a:ext cx="5928055" cy="2880360"/>
          </a:xfrm>
          <a:prstGeom prst="roundRect">
            <a:avLst>
              <a:gd name="adj" fmla="val 1905"/>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20" name="Shape 18"/>
          <p:cNvSpPr/>
          <p:nvPr/>
        </p:nvSpPr>
        <p:spPr>
          <a:xfrm>
            <a:off x="5916168" y="1719072"/>
            <a:ext cx="109728" cy="109728"/>
          </a:xfrm>
          <a:prstGeom prst="ellipse">
            <a:avLst/>
          </a:prstGeom>
          <a:solidFill>
            <a:srgbClr val="D64545"/>
          </a:solidFill>
          <a:ln w="12700">
            <a:solidFill>
              <a:srgbClr val="D64545"/>
            </a:solidFill>
            <a:prstDash val="solid"/>
          </a:ln>
        </p:spPr>
      </p:sp>
      <p:sp>
        <p:nvSpPr>
          <p:cNvPr id="21" name="Shape 19"/>
          <p:cNvSpPr/>
          <p:nvPr/>
        </p:nvSpPr>
        <p:spPr>
          <a:xfrm>
            <a:off x="6099048" y="1719072"/>
            <a:ext cx="109728" cy="109728"/>
          </a:xfrm>
          <a:prstGeom prst="ellipse">
            <a:avLst/>
          </a:prstGeom>
          <a:solidFill>
            <a:srgbClr val="FFB020"/>
          </a:solidFill>
          <a:ln w="12700">
            <a:solidFill>
              <a:srgbClr val="FFB020"/>
            </a:solidFill>
            <a:prstDash val="solid"/>
          </a:ln>
        </p:spPr>
      </p:sp>
      <p:sp>
        <p:nvSpPr>
          <p:cNvPr id="22" name="Shape 20"/>
          <p:cNvSpPr/>
          <p:nvPr/>
        </p:nvSpPr>
        <p:spPr>
          <a:xfrm>
            <a:off x="6281928" y="1719072"/>
            <a:ext cx="109728" cy="109728"/>
          </a:xfrm>
          <a:prstGeom prst="ellipse">
            <a:avLst/>
          </a:prstGeom>
          <a:solidFill>
            <a:srgbClr val="3CB371"/>
          </a:solidFill>
          <a:ln w="12700">
            <a:solidFill>
              <a:srgbClr val="3CB371"/>
            </a:solidFill>
            <a:prstDash val="solid"/>
          </a:ln>
        </p:spPr>
      </p:sp>
      <p:sp>
        <p:nvSpPr>
          <p:cNvPr id="23" name="Text 21"/>
          <p:cNvSpPr txBox="1"/>
          <p:nvPr/>
        </p:nvSpPr>
        <p:spPr>
          <a:xfrm>
            <a:off x="6537960" y="1645920"/>
            <a:ext cx="4922215"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Telemetry/otel-collector.yaml (Service, utdrag)</a:t>
            </a:r>
            <a:endParaRPr lang="en-US" sz="1100" dirty="0"/>
          </a:p>
        </p:txBody>
      </p:sp>
      <p:sp>
        <p:nvSpPr>
          <p:cNvPr id="24" name="Text 22"/>
          <p:cNvSpPr txBox="1"/>
          <p:nvPr/>
        </p:nvSpPr>
        <p:spPr>
          <a:xfrm>
            <a:off x="5943600" y="2011680"/>
            <a:ext cx="5470855" cy="2286000"/>
          </a:xfrm>
          <a:prstGeom prst="rect">
            <a:avLst/>
          </a:prstGeom>
          <a:noFill/>
          <a:ln/>
        </p:spPr>
        <p:txBody>
          <a:bodyPr wrap="square" lIns="0" tIns="0" rIns="0" bIns="0" rtlCol="0" anchor="t"/>
          <a:lstStyle/>
          <a:p>
            <a:pPr marL="0" indent="0">
              <a:lnSpc>
                <a:spcPct val="110000"/>
              </a:lnSpc>
              <a:buNone/>
            </a:pPr>
            <a:r>
              <a:rPr lang="en-US" sz="1100" dirty="0">
                <a:solidFill>
                  <a:srgbClr val="7C9CFF"/>
                </a:solidFill>
                <a:latin typeface="Courier New" pitchFamily="34" charset="0"/>
                <a:ea typeface="Courier New" pitchFamily="34" charset="-122"/>
                <a:cs typeface="Courier New" pitchFamily="34" charset="-120"/>
              </a:rPr>
              <a:t>kind:</a:t>
            </a:r>
            <a:r>
              <a:rPr lang="en-US" sz="1100" dirty="0">
                <a:solidFill>
                  <a:srgbClr val="DDE3EA"/>
                </a:solidFill>
                <a:latin typeface="Courier New" pitchFamily="34" charset="0"/>
                <a:ea typeface="Courier New" pitchFamily="34" charset="-122"/>
                <a:cs typeface="Courier New" pitchFamily="34" charset="-120"/>
              </a:rPr>
              <a:t> Service</a:t>
            </a:r>
            <a:endParaRPr lang="en-US" sz="1100" dirty="0"/>
          </a:p>
          <a:p>
            <a:pPr marL="0" indent="0">
              <a:lnSpc>
                <a:spcPct val="110000"/>
              </a:lnSpc>
              <a:buNone/>
            </a:pPr>
            <a:r>
              <a:rPr lang="en-US" sz="1100" dirty="0">
                <a:solidFill>
                  <a:srgbClr val="7C9CFF"/>
                </a:solidFill>
                <a:latin typeface="Courier New" pitchFamily="34" charset="0"/>
                <a:ea typeface="Courier New" pitchFamily="34" charset="-122"/>
                <a:cs typeface="Courier New" pitchFamily="34" charset="-120"/>
              </a:rPr>
              <a:t>metadata:</a:t>
            </a: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name:</a:t>
            </a:r>
            <a:r>
              <a:rPr lang="en-US" sz="1100" dirty="0">
                <a:solidFill>
                  <a:srgbClr val="DDE3EA"/>
                </a:solidFill>
                <a:latin typeface="Courier New" pitchFamily="34" charset="0"/>
                <a:ea typeface="Courier New" pitchFamily="34" charset="-122"/>
                <a:cs typeface="Courier New" pitchFamily="34" charset="-120"/>
              </a:rPr>
              <a:t> otel-collector</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annotations:</a:t>
            </a: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prometheus.io/scrape: "true"</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prometheus.io/port: "8889"</a:t>
            </a:r>
            <a:endParaRPr lang="en-US" sz="1100" dirty="0"/>
          </a:p>
        </p:txBody>
      </p:sp>
      <p:sp>
        <p:nvSpPr>
          <p:cNvPr id="25" name="Shape 23"/>
          <p:cNvSpPr/>
          <p:nvPr/>
        </p:nvSpPr>
        <p:spPr>
          <a:xfrm>
            <a:off x="5715000" y="4617720"/>
            <a:ext cx="5928055" cy="1280160"/>
          </a:xfrm>
          <a:prstGeom prst="roundRect">
            <a:avLst>
              <a:gd name="adj" fmla="val 4286"/>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6" name="Text 24"/>
          <p:cNvSpPr txBox="1"/>
          <p:nvPr/>
        </p:nvSpPr>
        <p:spPr>
          <a:xfrm>
            <a:off x="5916168" y="4818888"/>
            <a:ext cx="5525719"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Pull, inte push</a:t>
            </a:r>
            <a:endParaRPr lang="en-US" sz="1400" dirty="0"/>
          </a:p>
        </p:txBody>
      </p:sp>
      <p:sp>
        <p:nvSpPr>
          <p:cNvPr id="27" name="Text 25"/>
          <p:cNvSpPr txBox="1"/>
          <p:nvPr/>
        </p:nvSpPr>
        <p:spPr>
          <a:xfrm>
            <a:off x="5916168" y="5202936"/>
            <a:ext cx="5525719" cy="53949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Prometheus frågar tjänsterna - därför annotationen. Infra-exportörerna har samma.</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KOMPONENTERNA · GRAFANA</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Grafana - en vy över allt</a:t>
            </a:r>
            <a:endParaRPr lang="en-US" sz="3000" dirty="0"/>
          </a:p>
        </p:txBody>
      </p:sp>
      <p:sp>
        <p:nvSpPr>
          <p:cNvPr id="4" name="Shape 2"/>
          <p:cNvSpPr/>
          <p:nvPr/>
        </p:nvSpPr>
        <p:spPr>
          <a:xfrm>
            <a:off x="548640" y="1554480"/>
            <a:ext cx="4846320" cy="1965960"/>
          </a:xfrm>
          <a:prstGeom prst="roundRect">
            <a:avLst>
              <a:gd name="adj" fmla="val 2791"/>
            </a:avLst>
          </a:prstGeom>
          <a:solidFill>
            <a:srgbClr val="3762FF"/>
          </a:solidFill>
          <a:ln w="12700">
            <a:solidFill>
              <a:srgbClr val="3762FF"/>
            </a:solidFill>
            <a:prstDash val="solid"/>
          </a:ln>
        </p:spPr>
      </p:sp>
      <p:sp>
        <p:nvSpPr>
          <p:cNvPr id="5" name="Text 3"/>
          <p:cNvSpPr txBox="1"/>
          <p:nvPr/>
        </p:nvSpPr>
        <p:spPr>
          <a:xfrm>
            <a:off x="777240" y="1691640"/>
            <a:ext cx="4389120" cy="274320"/>
          </a:xfrm>
          <a:prstGeom prst="rect">
            <a:avLst/>
          </a:prstGeom>
          <a:noFill/>
          <a:ln/>
        </p:spPr>
        <p:txBody>
          <a:bodyPr wrap="square" lIns="0" tIns="0" rIns="0" bIns="0" rtlCol="0" anchor="ctr"/>
          <a:lstStyle/>
          <a:p>
            <a:pPr marL="0" indent="0">
              <a:buNone/>
            </a:pPr>
            <a:r>
              <a:rPr lang="en-US" sz="1100" b="1" kern="0" spc="200" dirty="0">
                <a:solidFill>
                  <a:srgbClr val="FFFFFF"/>
                </a:solidFill>
                <a:latin typeface="Arial" pitchFamily="34" charset="0"/>
                <a:ea typeface="Arial" pitchFamily="34" charset="-122"/>
                <a:cs typeface="Arial" pitchFamily="34" charset="-120"/>
              </a:rPr>
              <a:t>VISUALISERING</a:t>
            </a:r>
            <a:endParaRPr lang="en-US" sz="1100" dirty="0"/>
          </a:p>
        </p:txBody>
      </p:sp>
      <p:sp>
        <p:nvSpPr>
          <p:cNvPr id="6" name="Text 4"/>
          <p:cNvSpPr txBox="1"/>
          <p:nvPr/>
        </p:nvSpPr>
        <p:spPr>
          <a:xfrm>
            <a:off x="777240" y="2011680"/>
            <a:ext cx="4389120" cy="1417320"/>
          </a:xfrm>
          <a:prstGeom prst="rect">
            <a:avLst/>
          </a:prstGeom>
          <a:noFill/>
          <a:ln/>
        </p:spPr>
        <p:txBody>
          <a:bodyPr wrap="square" lIns="0" tIns="0" rIns="0" bIns="0" rtlCol="0" anchor="t"/>
          <a:lstStyle/>
          <a:p>
            <a:pPr marL="0" indent="0">
              <a:lnSpc>
                <a:spcPct val="115000"/>
              </a:lnSpc>
              <a:buNone/>
            </a:pPr>
            <a:r>
              <a:rPr lang="en-US" sz="1400" dirty="0">
                <a:solidFill>
                  <a:srgbClr val="FFFFFF"/>
                </a:solidFill>
                <a:latin typeface="Arial" pitchFamily="34" charset="0"/>
                <a:ea typeface="Arial" pitchFamily="34" charset="-122"/>
                <a:cs typeface="Arial" pitchFamily="34" charset="-120"/>
              </a:rPr>
              <a:t>Lagrar ingen telemetri själv. Pratar med Tempo, Loki och Prometheus som datakällor, och knyter ihop dem: från en trace till dess loggar, från en logg till dess trace.</a:t>
            </a:r>
            <a:endParaRPr lang="en-US" sz="1400" dirty="0"/>
          </a:p>
        </p:txBody>
      </p:sp>
      <p:sp>
        <p:nvSpPr>
          <p:cNvPr id="7" name="Shape 5"/>
          <p:cNvSpPr/>
          <p:nvPr/>
        </p:nvSpPr>
        <p:spPr>
          <a:xfrm>
            <a:off x="548640" y="3703320"/>
            <a:ext cx="4846320" cy="457200"/>
          </a:xfrm>
          <a:prstGeom prst="roundRect">
            <a:avLst>
              <a:gd name="adj" fmla="val 10000"/>
            </a:avLst>
          </a:prstGeom>
          <a:solidFill>
            <a:srgbClr val="16294A"/>
          </a:solidFill>
          <a:ln w="12700">
            <a:solidFill>
              <a:srgbClr val="16294A"/>
            </a:solidFill>
            <a:prstDash val="solid"/>
          </a:ln>
        </p:spPr>
      </p:sp>
      <p:sp>
        <p:nvSpPr>
          <p:cNvPr id="8" name="Text 6"/>
          <p:cNvSpPr txBox="1"/>
          <p:nvPr/>
        </p:nvSpPr>
        <p:spPr>
          <a:xfrm>
            <a:off x="731520" y="3703320"/>
            <a:ext cx="1371600" cy="457200"/>
          </a:xfrm>
          <a:prstGeom prst="rect">
            <a:avLst/>
          </a:prstGeom>
          <a:noFill/>
          <a:ln/>
        </p:spPr>
        <p:txBody>
          <a:bodyPr wrap="square" lIns="0" tIns="0" rIns="0" bIns="0" rtlCol="0" anchor="ctr"/>
          <a:lstStyle/>
          <a:p>
            <a:pPr marL="0" indent="0">
              <a:buNone/>
            </a:pPr>
            <a:r>
              <a:rPr lang="en-US" sz="1100" b="1" dirty="0">
                <a:solidFill>
                  <a:srgbClr val="7C9CFF"/>
                </a:solidFill>
                <a:latin typeface="Arial" pitchFamily="34" charset="0"/>
                <a:ea typeface="Arial" pitchFamily="34" charset="-122"/>
                <a:cs typeface="Arial" pitchFamily="34" charset="-120"/>
              </a:rPr>
              <a:t>Adress</a:t>
            </a:r>
            <a:endParaRPr lang="en-US" sz="1100" dirty="0"/>
          </a:p>
        </p:txBody>
      </p:sp>
      <p:sp>
        <p:nvSpPr>
          <p:cNvPr id="9" name="Text 7"/>
          <p:cNvSpPr txBox="1"/>
          <p:nvPr/>
        </p:nvSpPr>
        <p:spPr>
          <a:xfrm>
            <a:off x="2148840" y="3703320"/>
            <a:ext cx="3108960" cy="457200"/>
          </a:xfrm>
          <a:prstGeom prst="rect">
            <a:avLst/>
          </a:prstGeom>
          <a:noFill/>
          <a:ln/>
        </p:spPr>
        <p:txBody>
          <a:bodyPr wrap="square" lIns="0" tIns="0" rIns="0" bIns="0" rtlCol="0" anchor="ctr"/>
          <a:lstStyle/>
          <a:p>
            <a:pPr marL="0" indent="0">
              <a:buNone/>
            </a:pPr>
            <a:r>
              <a:rPr lang="en-US" sz="1200" dirty="0">
                <a:solidFill>
                  <a:srgbClr val="F5F7FA"/>
                </a:solidFill>
                <a:latin typeface="Arial" pitchFamily="34" charset="0"/>
                <a:ea typeface="Arial" pitchFamily="34" charset="-122"/>
                <a:cs typeface="Arial" pitchFamily="34" charset="-120"/>
              </a:rPr>
              <a:t>https://grafana.local</a:t>
            </a:r>
            <a:endParaRPr lang="en-US" sz="1200" dirty="0"/>
          </a:p>
        </p:txBody>
      </p:sp>
      <p:sp>
        <p:nvSpPr>
          <p:cNvPr id="10" name="Shape 8"/>
          <p:cNvSpPr/>
          <p:nvPr/>
        </p:nvSpPr>
        <p:spPr>
          <a:xfrm>
            <a:off x="548640" y="4251960"/>
            <a:ext cx="4846320" cy="457200"/>
          </a:xfrm>
          <a:prstGeom prst="roundRect">
            <a:avLst>
              <a:gd name="adj" fmla="val 10000"/>
            </a:avLst>
          </a:prstGeom>
          <a:solidFill>
            <a:srgbClr val="16294A"/>
          </a:solidFill>
          <a:ln w="12700">
            <a:solidFill>
              <a:srgbClr val="16294A"/>
            </a:solidFill>
            <a:prstDash val="solid"/>
          </a:ln>
        </p:spPr>
      </p:sp>
      <p:sp>
        <p:nvSpPr>
          <p:cNvPr id="11" name="Text 9"/>
          <p:cNvSpPr txBox="1"/>
          <p:nvPr/>
        </p:nvSpPr>
        <p:spPr>
          <a:xfrm>
            <a:off x="731520" y="4251960"/>
            <a:ext cx="1371600" cy="457200"/>
          </a:xfrm>
          <a:prstGeom prst="rect">
            <a:avLst/>
          </a:prstGeom>
          <a:noFill/>
          <a:ln/>
        </p:spPr>
        <p:txBody>
          <a:bodyPr wrap="square" lIns="0" tIns="0" rIns="0" bIns="0" rtlCol="0" anchor="ctr"/>
          <a:lstStyle/>
          <a:p>
            <a:pPr marL="0" indent="0">
              <a:buNone/>
            </a:pPr>
            <a:r>
              <a:rPr lang="en-US" sz="1100" b="1" dirty="0">
                <a:solidFill>
                  <a:srgbClr val="7C9CFF"/>
                </a:solidFill>
                <a:latin typeface="Arial" pitchFamily="34" charset="0"/>
                <a:ea typeface="Arial" pitchFamily="34" charset="-122"/>
                <a:cs typeface="Arial" pitchFamily="34" charset="-120"/>
              </a:rPr>
              <a:t>Inloggning</a:t>
            </a:r>
            <a:endParaRPr lang="en-US" sz="1100" dirty="0"/>
          </a:p>
        </p:txBody>
      </p:sp>
      <p:sp>
        <p:nvSpPr>
          <p:cNvPr id="12" name="Text 10"/>
          <p:cNvSpPr txBox="1"/>
          <p:nvPr/>
        </p:nvSpPr>
        <p:spPr>
          <a:xfrm>
            <a:off x="2148840" y="4251960"/>
            <a:ext cx="3108960" cy="457200"/>
          </a:xfrm>
          <a:prstGeom prst="rect">
            <a:avLst/>
          </a:prstGeom>
          <a:noFill/>
          <a:ln/>
        </p:spPr>
        <p:txBody>
          <a:bodyPr wrap="square" lIns="0" tIns="0" rIns="0" bIns="0" rtlCol="0" anchor="ctr"/>
          <a:lstStyle/>
          <a:p>
            <a:pPr marL="0" indent="0">
              <a:buNone/>
            </a:pPr>
            <a:r>
              <a:rPr lang="en-US" sz="1200" dirty="0">
                <a:solidFill>
                  <a:srgbClr val="F5F7FA"/>
                </a:solidFill>
                <a:latin typeface="Arial" pitchFamily="34" charset="0"/>
                <a:ea typeface="Arial" pitchFamily="34" charset="-122"/>
                <a:cs typeface="Arial" pitchFamily="34" charset="-120"/>
              </a:rPr>
              <a:t>admin / admin</a:t>
            </a:r>
            <a:endParaRPr lang="en-US" sz="1200" dirty="0"/>
          </a:p>
        </p:txBody>
      </p:sp>
      <p:sp>
        <p:nvSpPr>
          <p:cNvPr id="13" name="Shape 11"/>
          <p:cNvSpPr/>
          <p:nvPr/>
        </p:nvSpPr>
        <p:spPr>
          <a:xfrm>
            <a:off x="548640" y="4800600"/>
            <a:ext cx="4846320" cy="457200"/>
          </a:xfrm>
          <a:prstGeom prst="roundRect">
            <a:avLst>
              <a:gd name="adj" fmla="val 10000"/>
            </a:avLst>
          </a:prstGeom>
          <a:solidFill>
            <a:srgbClr val="16294A"/>
          </a:solidFill>
          <a:ln w="12700">
            <a:solidFill>
              <a:srgbClr val="16294A"/>
            </a:solidFill>
            <a:prstDash val="solid"/>
          </a:ln>
        </p:spPr>
      </p:sp>
      <p:sp>
        <p:nvSpPr>
          <p:cNvPr id="14" name="Text 12"/>
          <p:cNvSpPr txBox="1"/>
          <p:nvPr/>
        </p:nvSpPr>
        <p:spPr>
          <a:xfrm>
            <a:off x="731520" y="4800600"/>
            <a:ext cx="1371600" cy="457200"/>
          </a:xfrm>
          <a:prstGeom prst="rect">
            <a:avLst/>
          </a:prstGeom>
          <a:noFill/>
          <a:ln/>
        </p:spPr>
        <p:txBody>
          <a:bodyPr wrap="square" lIns="0" tIns="0" rIns="0" bIns="0" rtlCol="0" anchor="ctr"/>
          <a:lstStyle/>
          <a:p>
            <a:pPr marL="0" indent="0">
              <a:buNone/>
            </a:pPr>
            <a:r>
              <a:rPr lang="en-US" sz="1100" b="1" dirty="0">
                <a:solidFill>
                  <a:srgbClr val="7C9CFF"/>
                </a:solidFill>
                <a:latin typeface="Arial" pitchFamily="34" charset="0"/>
                <a:ea typeface="Arial" pitchFamily="34" charset="-122"/>
                <a:cs typeface="Arial" pitchFamily="34" charset="-120"/>
              </a:rPr>
              <a:t>Datakällor</a:t>
            </a:r>
            <a:endParaRPr lang="en-US" sz="1100" dirty="0"/>
          </a:p>
        </p:txBody>
      </p:sp>
      <p:sp>
        <p:nvSpPr>
          <p:cNvPr id="15" name="Text 13"/>
          <p:cNvSpPr txBox="1"/>
          <p:nvPr/>
        </p:nvSpPr>
        <p:spPr>
          <a:xfrm>
            <a:off x="2148840" y="4800600"/>
            <a:ext cx="3108960" cy="457200"/>
          </a:xfrm>
          <a:prstGeom prst="rect">
            <a:avLst/>
          </a:prstGeom>
          <a:noFill/>
          <a:ln/>
        </p:spPr>
        <p:txBody>
          <a:bodyPr wrap="square" lIns="0" tIns="0" rIns="0" bIns="0" rtlCol="0" anchor="ctr"/>
          <a:lstStyle/>
          <a:p>
            <a:pPr marL="0" indent="0">
              <a:buNone/>
            </a:pPr>
            <a:r>
              <a:rPr lang="en-US" sz="1200" dirty="0">
                <a:solidFill>
                  <a:srgbClr val="F5F7FA"/>
                </a:solidFill>
                <a:latin typeface="Arial" pitchFamily="34" charset="0"/>
                <a:ea typeface="Arial" pitchFamily="34" charset="-122"/>
                <a:cs typeface="Arial" pitchFamily="34" charset="-120"/>
              </a:rPr>
              <a:t>Prometheus, Loki, Tempo</a:t>
            </a:r>
            <a:endParaRPr lang="en-US" sz="1200" dirty="0"/>
          </a:p>
        </p:txBody>
      </p:sp>
      <p:sp>
        <p:nvSpPr>
          <p:cNvPr id="16" name="Shape 14"/>
          <p:cNvSpPr/>
          <p:nvPr/>
        </p:nvSpPr>
        <p:spPr>
          <a:xfrm>
            <a:off x="548640" y="5349240"/>
            <a:ext cx="4846320" cy="457200"/>
          </a:xfrm>
          <a:prstGeom prst="roundRect">
            <a:avLst>
              <a:gd name="adj" fmla="val 10000"/>
            </a:avLst>
          </a:prstGeom>
          <a:solidFill>
            <a:srgbClr val="16294A"/>
          </a:solidFill>
          <a:ln w="12700">
            <a:solidFill>
              <a:srgbClr val="16294A"/>
            </a:solidFill>
            <a:prstDash val="solid"/>
          </a:ln>
        </p:spPr>
      </p:sp>
      <p:sp>
        <p:nvSpPr>
          <p:cNvPr id="17" name="Text 15"/>
          <p:cNvSpPr txBox="1"/>
          <p:nvPr/>
        </p:nvSpPr>
        <p:spPr>
          <a:xfrm>
            <a:off x="731520" y="5349240"/>
            <a:ext cx="1371600" cy="457200"/>
          </a:xfrm>
          <a:prstGeom prst="rect">
            <a:avLst/>
          </a:prstGeom>
          <a:noFill/>
          <a:ln/>
        </p:spPr>
        <p:txBody>
          <a:bodyPr wrap="square" lIns="0" tIns="0" rIns="0" bIns="0" rtlCol="0" anchor="ctr"/>
          <a:lstStyle/>
          <a:p>
            <a:pPr marL="0" indent="0">
              <a:buNone/>
            </a:pPr>
            <a:r>
              <a:rPr lang="en-US" sz="1100" b="1" dirty="0">
                <a:solidFill>
                  <a:srgbClr val="7C9CFF"/>
                </a:solidFill>
                <a:latin typeface="Arial" pitchFamily="34" charset="0"/>
                <a:ea typeface="Arial" pitchFamily="34" charset="-122"/>
                <a:cs typeface="Arial" pitchFamily="34" charset="-120"/>
              </a:rPr>
              <a:t>Nästa kväll</a:t>
            </a:r>
            <a:endParaRPr lang="en-US" sz="1100" dirty="0"/>
          </a:p>
        </p:txBody>
      </p:sp>
      <p:sp>
        <p:nvSpPr>
          <p:cNvPr id="18" name="Text 16"/>
          <p:cNvSpPr txBox="1"/>
          <p:nvPr/>
        </p:nvSpPr>
        <p:spPr>
          <a:xfrm>
            <a:off x="2148840" y="5349240"/>
            <a:ext cx="3108960" cy="457200"/>
          </a:xfrm>
          <a:prstGeom prst="rect">
            <a:avLst/>
          </a:prstGeom>
          <a:noFill/>
          <a:ln/>
        </p:spPr>
        <p:txBody>
          <a:bodyPr wrap="square" lIns="0" tIns="0" rIns="0" bIns="0" rtlCol="0" anchor="ctr"/>
          <a:lstStyle/>
          <a:p>
            <a:pPr marL="0" indent="0">
              <a:buNone/>
            </a:pPr>
            <a:r>
              <a:rPr lang="en-US" sz="1200" dirty="0">
                <a:solidFill>
                  <a:srgbClr val="F5F7FA"/>
                </a:solidFill>
                <a:latin typeface="Arial" pitchFamily="34" charset="0"/>
                <a:ea typeface="Arial" pitchFamily="34" charset="-122"/>
                <a:cs typeface="Arial" pitchFamily="34" charset="-120"/>
              </a:rPr>
              <a:t>Explore och dashboards</a:t>
            </a:r>
            <a:endParaRPr lang="en-US" sz="1200" dirty="0"/>
          </a:p>
        </p:txBody>
      </p:sp>
      <p:sp>
        <p:nvSpPr>
          <p:cNvPr id="19" name="Shape 17"/>
          <p:cNvSpPr/>
          <p:nvPr/>
        </p:nvSpPr>
        <p:spPr>
          <a:xfrm>
            <a:off x="5715000" y="1554480"/>
            <a:ext cx="5928055" cy="2880360"/>
          </a:xfrm>
          <a:prstGeom prst="roundRect">
            <a:avLst>
              <a:gd name="adj" fmla="val 1905"/>
            </a:avLst>
          </a:prstGeom>
          <a:solidFill>
            <a:srgbClr val="16294A"/>
          </a:solidFill>
          <a:ln w="12700">
            <a:solidFill>
              <a:srgbClr val="16294A"/>
            </a:solidFill>
            <a:prstDash val="solid"/>
          </a:ln>
        </p:spPr>
      </p:sp>
      <p:sp>
        <p:nvSpPr>
          <p:cNvPr id="20" name="Shape 18"/>
          <p:cNvSpPr/>
          <p:nvPr/>
        </p:nvSpPr>
        <p:spPr>
          <a:xfrm>
            <a:off x="5916168" y="1719072"/>
            <a:ext cx="109728" cy="109728"/>
          </a:xfrm>
          <a:prstGeom prst="ellipse">
            <a:avLst/>
          </a:prstGeom>
          <a:solidFill>
            <a:srgbClr val="D64545"/>
          </a:solidFill>
          <a:ln w="12700">
            <a:solidFill>
              <a:srgbClr val="D64545"/>
            </a:solidFill>
            <a:prstDash val="solid"/>
          </a:ln>
        </p:spPr>
      </p:sp>
      <p:sp>
        <p:nvSpPr>
          <p:cNvPr id="21" name="Shape 19"/>
          <p:cNvSpPr/>
          <p:nvPr/>
        </p:nvSpPr>
        <p:spPr>
          <a:xfrm>
            <a:off x="6099048" y="1719072"/>
            <a:ext cx="109728" cy="109728"/>
          </a:xfrm>
          <a:prstGeom prst="ellipse">
            <a:avLst/>
          </a:prstGeom>
          <a:solidFill>
            <a:srgbClr val="FFB020"/>
          </a:solidFill>
          <a:ln w="12700">
            <a:solidFill>
              <a:srgbClr val="FFB020"/>
            </a:solidFill>
            <a:prstDash val="solid"/>
          </a:ln>
        </p:spPr>
      </p:sp>
      <p:sp>
        <p:nvSpPr>
          <p:cNvPr id="22" name="Shape 20"/>
          <p:cNvSpPr/>
          <p:nvPr/>
        </p:nvSpPr>
        <p:spPr>
          <a:xfrm>
            <a:off x="6281928" y="1719072"/>
            <a:ext cx="109728" cy="109728"/>
          </a:xfrm>
          <a:prstGeom prst="ellipse">
            <a:avLst/>
          </a:prstGeom>
          <a:solidFill>
            <a:srgbClr val="3CB371"/>
          </a:solidFill>
          <a:ln w="12700">
            <a:solidFill>
              <a:srgbClr val="3CB371"/>
            </a:solidFill>
            <a:prstDash val="solid"/>
          </a:ln>
        </p:spPr>
      </p:sp>
      <p:sp>
        <p:nvSpPr>
          <p:cNvPr id="23" name="Text 21"/>
          <p:cNvSpPr txBox="1"/>
          <p:nvPr/>
        </p:nvSpPr>
        <p:spPr>
          <a:xfrm>
            <a:off x="6537960" y="1645920"/>
            <a:ext cx="4922215"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Telemetry/grafana-values.yaml (utdrag)</a:t>
            </a:r>
            <a:endParaRPr lang="en-US" sz="1100" dirty="0"/>
          </a:p>
        </p:txBody>
      </p:sp>
      <p:sp>
        <p:nvSpPr>
          <p:cNvPr id="24" name="Text 22"/>
          <p:cNvSpPr txBox="1"/>
          <p:nvPr/>
        </p:nvSpPr>
        <p:spPr>
          <a:xfrm>
            <a:off x="5943600" y="2011680"/>
            <a:ext cx="5470855" cy="2286000"/>
          </a:xfrm>
          <a:prstGeom prst="rect">
            <a:avLst/>
          </a:prstGeom>
          <a:noFill/>
          <a:ln/>
        </p:spPr>
        <p:txBody>
          <a:bodyPr wrap="square" lIns="0" tIns="0" rIns="0" bIns="0" rtlCol="0" anchor="t"/>
          <a:lstStyle/>
          <a:p>
            <a:pPr marL="0" indent="0">
              <a:lnSpc>
                <a:spcPct val="110000"/>
              </a:lnSpc>
              <a:buNone/>
            </a:pPr>
            <a:r>
              <a:rPr lang="en-US" sz="1100" dirty="0">
                <a:solidFill>
                  <a:srgbClr val="7C9CFF"/>
                </a:solidFill>
                <a:latin typeface="Courier New" pitchFamily="34" charset="0"/>
                <a:ea typeface="Courier New" pitchFamily="34" charset="-122"/>
                <a:cs typeface="Courier New" pitchFamily="34" charset="-120"/>
              </a:rPr>
              <a:t>datasources:</a:t>
            </a: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 </a:t>
            </a:r>
            <a:r>
              <a:rPr lang="en-US" sz="1100" dirty="0">
                <a:solidFill>
                  <a:srgbClr val="7C9CFF"/>
                </a:solidFill>
                <a:latin typeface="Courier New" pitchFamily="34" charset="0"/>
                <a:ea typeface="Courier New" pitchFamily="34" charset="-122"/>
                <a:cs typeface="Courier New" pitchFamily="34" charset="-120"/>
              </a:rPr>
              <a:t>name:</a:t>
            </a:r>
            <a:r>
              <a:rPr lang="en-US" sz="1100" dirty="0">
                <a:solidFill>
                  <a:srgbClr val="DDE3EA"/>
                </a:solidFill>
                <a:latin typeface="Courier New" pitchFamily="34" charset="0"/>
                <a:ea typeface="Courier New" pitchFamily="34" charset="-122"/>
                <a:cs typeface="Courier New" pitchFamily="34" charset="-120"/>
              </a:rPr>
              <a:t> Tempo</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url:</a:t>
            </a:r>
            <a:r>
              <a:rPr lang="en-US" sz="1100" dirty="0">
                <a:solidFill>
                  <a:srgbClr val="DDE3EA"/>
                </a:solidFill>
                <a:latin typeface="Courier New" pitchFamily="34" charset="0"/>
                <a:ea typeface="Courier New" pitchFamily="34" charset="-122"/>
                <a:cs typeface="Courier New" pitchFamily="34" charset="-120"/>
              </a:rPr>
              <a:t> http://telemetry-tempo:3200</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jsonData:</a:t>
            </a: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tracesToLogsV2:</a:t>
            </a: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datasourceUid:</a:t>
            </a:r>
            <a:r>
              <a:rPr lang="en-US" sz="1100" dirty="0">
                <a:solidFill>
                  <a:srgbClr val="DDE3EA"/>
                </a:solidFill>
                <a:latin typeface="Courier New" pitchFamily="34" charset="0"/>
                <a:ea typeface="Courier New" pitchFamily="34" charset="-122"/>
                <a:cs typeface="Courier New" pitchFamily="34" charset="-120"/>
              </a:rPr>
              <a:t> loki</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serviceMap:</a:t>
            </a: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datasourceUid:</a:t>
            </a:r>
            <a:r>
              <a:rPr lang="en-US" sz="1100" dirty="0">
                <a:solidFill>
                  <a:srgbClr val="DDE3EA"/>
                </a:solidFill>
                <a:latin typeface="Courier New" pitchFamily="34" charset="0"/>
                <a:ea typeface="Courier New" pitchFamily="34" charset="-122"/>
                <a:cs typeface="Courier New" pitchFamily="34" charset="-120"/>
              </a:rPr>
              <a:t> prometheus</a:t>
            </a:r>
            <a:endParaRPr lang="en-US" sz="1100" dirty="0"/>
          </a:p>
        </p:txBody>
      </p:sp>
      <p:sp>
        <p:nvSpPr>
          <p:cNvPr id="25" name="Shape 23"/>
          <p:cNvSpPr/>
          <p:nvPr/>
        </p:nvSpPr>
        <p:spPr>
          <a:xfrm>
            <a:off x="5715000" y="4617720"/>
            <a:ext cx="5928055" cy="1280160"/>
          </a:xfrm>
          <a:prstGeom prst="roundRect">
            <a:avLst>
              <a:gd name="adj" fmla="val 4286"/>
            </a:avLst>
          </a:prstGeom>
          <a:solidFill>
            <a:srgbClr val="16294A"/>
          </a:solidFill>
          <a:ln w="12700">
            <a:solidFill>
              <a:srgbClr val="16294A"/>
            </a:solidFill>
            <a:prstDash val="solid"/>
          </a:ln>
        </p:spPr>
      </p:sp>
      <p:sp>
        <p:nvSpPr>
          <p:cNvPr id="26" name="Text 24"/>
          <p:cNvSpPr txBox="1"/>
          <p:nvPr/>
        </p:nvSpPr>
        <p:spPr>
          <a:xfrm>
            <a:off x="5916168" y="4818888"/>
            <a:ext cx="5525719" cy="320040"/>
          </a:xfrm>
          <a:prstGeom prst="rect">
            <a:avLst/>
          </a:prstGeom>
          <a:noFill/>
          <a:ln/>
        </p:spPr>
        <p:txBody>
          <a:bodyPr wrap="square" lIns="0" tIns="0" rIns="0" bIns="0" rtlCol="0" anchor="t"/>
          <a:lstStyle/>
          <a:p>
            <a:pPr marL="0" indent="0">
              <a:buNone/>
            </a:pPr>
            <a:r>
              <a:rPr lang="en-US" sz="1400" b="1" dirty="0">
                <a:solidFill>
                  <a:srgbClr val="F5F7FA"/>
                </a:solidFill>
                <a:latin typeface="Calibri" pitchFamily="34" charset="0"/>
                <a:ea typeface="Calibri" pitchFamily="34" charset="-122"/>
                <a:cs typeface="Calibri" pitchFamily="34" charset="-120"/>
              </a:rPr>
              <a:t>Färdigkonfigurerat</a:t>
            </a:r>
            <a:endParaRPr lang="en-US" sz="1400" dirty="0"/>
          </a:p>
        </p:txBody>
      </p:sp>
      <p:sp>
        <p:nvSpPr>
          <p:cNvPr id="27" name="Text 25"/>
          <p:cNvSpPr txBox="1"/>
          <p:nvPr/>
        </p:nvSpPr>
        <p:spPr>
          <a:xfrm>
            <a:off x="5916168" y="5202936"/>
            <a:ext cx="5525719" cy="539496"/>
          </a:xfrm>
          <a:prstGeom prst="rect">
            <a:avLst/>
          </a:prstGeom>
          <a:noFill/>
          <a:ln/>
        </p:spPr>
        <p:txBody>
          <a:bodyPr wrap="square" lIns="0" tIns="0" rIns="0" bIns="0" rtlCol="0" anchor="t"/>
          <a:lstStyle/>
          <a:p>
            <a:pPr marL="0" indent="0">
              <a:lnSpc>
                <a:spcPct val="115000"/>
              </a:lnSpc>
              <a:buNone/>
            </a:pPr>
            <a:r>
              <a:rPr lang="en-US" sz="1200" dirty="0">
                <a:solidFill>
                  <a:srgbClr val="B9C4D1"/>
                </a:solidFill>
                <a:latin typeface="Arial" pitchFamily="34" charset="0"/>
                <a:ea typeface="Arial" pitchFamily="34" charset="-122"/>
                <a:cs typeface="Arial" pitchFamily="34" charset="-120"/>
              </a:rPr>
              <a:t>Datakällor och kopplingar finns redan i values-filen - inget klickande vid installationen.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KOMPONENTERNA · FARO</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Faro - telemetri från webbläsaren</a:t>
            </a:r>
            <a:endParaRPr lang="en-US" sz="3000" dirty="0"/>
          </a:p>
        </p:txBody>
      </p:sp>
      <p:sp>
        <p:nvSpPr>
          <p:cNvPr id="4" name="Shape 2"/>
          <p:cNvSpPr/>
          <p:nvPr/>
        </p:nvSpPr>
        <p:spPr>
          <a:xfrm>
            <a:off x="548640" y="1554480"/>
            <a:ext cx="4846320" cy="1965960"/>
          </a:xfrm>
          <a:prstGeom prst="roundRect">
            <a:avLst>
              <a:gd name="adj" fmla="val 2791"/>
            </a:avLst>
          </a:prstGeom>
          <a:solidFill>
            <a:srgbClr val="3762FF"/>
          </a:solidFill>
          <a:ln w="12700">
            <a:solidFill>
              <a:srgbClr val="3762FF"/>
            </a:solidFill>
            <a:prstDash val="solid"/>
          </a:ln>
        </p:spPr>
      </p:sp>
      <p:sp>
        <p:nvSpPr>
          <p:cNvPr id="5" name="Text 3"/>
          <p:cNvSpPr txBox="1"/>
          <p:nvPr/>
        </p:nvSpPr>
        <p:spPr>
          <a:xfrm>
            <a:off x="777240" y="1691640"/>
            <a:ext cx="4389120" cy="274320"/>
          </a:xfrm>
          <a:prstGeom prst="rect">
            <a:avLst/>
          </a:prstGeom>
          <a:noFill/>
          <a:ln/>
        </p:spPr>
        <p:txBody>
          <a:bodyPr wrap="square" lIns="0" tIns="0" rIns="0" bIns="0" rtlCol="0" anchor="ctr"/>
          <a:lstStyle/>
          <a:p>
            <a:pPr marL="0" indent="0">
              <a:buNone/>
            </a:pPr>
            <a:r>
              <a:rPr lang="en-US" sz="1100" b="1" kern="0" spc="200" dirty="0">
                <a:solidFill>
                  <a:srgbClr val="FFFFFF"/>
                </a:solidFill>
                <a:latin typeface="Arial" pitchFamily="34" charset="0"/>
                <a:ea typeface="Arial" pitchFamily="34" charset="-122"/>
                <a:cs typeface="Arial" pitchFamily="34" charset="-120"/>
              </a:rPr>
              <a:t>FRONTEND</a:t>
            </a:r>
            <a:endParaRPr lang="en-US" sz="1100" dirty="0"/>
          </a:p>
        </p:txBody>
      </p:sp>
      <p:sp>
        <p:nvSpPr>
          <p:cNvPr id="6" name="Text 4"/>
          <p:cNvSpPr txBox="1"/>
          <p:nvPr/>
        </p:nvSpPr>
        <p:spPr>
          <a:xfrm>
            <a:off x="777240" y="2011680"/>
            <a:ext cx="4389120" cy="1417320"/>
          </a:xfrm>
          <a:prstGeom prst="rect">
            <a:avLst/>
          </a:prstGeom>
          <a:noFill/>
          <a:ln/>
        </p:spPr>
        <p:txBody>
          <a:bodyPr wrap="square" lIns="0" tIns="0" rIns="0" bIns="0" rtlCol="0" anchor="t"/>
          <a:lstStyle/>
          <a:p>
            <a:pPr marL="0" indent="0">
              <a:lnSpc>
                <a:spcPct val="115000"/>
              </a:lnSpc>
              <a:buNone/>
            </a:pPr>
            <a:r>
              <a:rPr lang="en-US" sz="1400" dirty="0">
                <a:solidFill>
                  <a:srgbClr val="FFFFFF"/>
                </a:solidFill>
                <a:latin typeface="Arial" pitchFamily="34" charset="0"/>
                <a:ea typeface="Arial" pitchFamily="34" charset="-122"/>
                <a:cs typeface="Arial" pitchFamily="34" charset="-120"/>
              </a:rPr>
              <a:t>Grafanas SDK för webbläsaren fångar fel, konsolloggar, Web Vitals och HTTP-anrop som spans. faro-collectorn översätter till OTLP och skickar vidare till otel-collectorn.</a:t>
            </a:r>
            <a:endParaRPr lang="en-US" sz="1400" dirty="0"/>
          </a:p>
        </p:txBody>
      </p:sp>
      <p:sp>
        <p:nvSpPr>
          <p:cNvPr id="7" name="Shape 5"/>
          <p:cNvSpPr/>
          <p:nvPr/>
        </p:nvSpPr>
        <p:spPr>
          <a:xfrm>
            <a:off x="548640" y="3703320"/>
            <a:ext cx="4846320" cy="4572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8" name="Text 6"/>
          <p:cNvSpPr txBox="1"/>
          <p:nvPr/>
        </p:nvSpPr>
        <p:spPr>
          <a:xfrm>
            <a:off x="731520" y="3703320"/>
            <a:ext cx="1371600" cy="457200"/>
          </a:xfrm>
          <a:prstGeom prst="rect">
            <a:avLst/>
          </a:prstGeom>
          <a:noFill/>
          <a:ln/>
        </p:spPr>
        <p:txBody>
          <a:bodyPr wrap="square" lIns="0" tIns="0" rIns="0" bIns="0" rtlCol="0" anchor="ctr"/>
          <a:lstStyle/>
          <a:p>
            <a:pPr marL="0" indent="0">
              <a:buNone/>
            </a:pPr>
            <a:r>
              <a:rPr lang="en-US" sz="1100" b="1" dirty="0">
                <a:solidFill>
                  <a:srgbClr val="3762FF"/>
                </a:solidFill>
                <a:latin typeface="Arial" pitchFamily="34" charset="0"/>
                <a:ea typeface="Arial" pitchFamily="34" charset="-122"/>
                <a:cs typeface="Arial" pitchFamily="34" charset="-120"/>
              </a:rPr>
              <a:t>SDK</a:t>
            </a:r>
            <a:endParaRPr lang="en-US" sz="1100" dirty="0"/>
          </a:p>
        </p:txBody>
      </p:sp>
      <p:sp>
        <p:nvSpPr>
          <p:cNvPr id="9" name="Text 7"/>
          <p:cNvSpPr txBox="1"/>
          <p:nvPr/>
        </p:nvSpPr>
        <p:spPr>
          <a:xfrm>
            <a:off x="2148840" y="3703320"/>
            <a:ext cx="3108960" cy="457200"/>
          </a:xfrm>
          <a:prstGeom prst="rect">
            <a:avLst/>
          </a:prstGeom>
          <a:noFill/>
          <a:ln/>
        </p:spPr>
        <p:txBody>
          <a:bodyPr wrap="square" lIns="0" tIns="0" rIns="0" bIns="0" rtlCol="0" anchor="ctr"/>
          <a:lstStyle/>
          <a:p>
            <a:pPr marL="0" indent="0">
              <a:buNone/>
            </a:pPr>
            <a:r>
              <a:rPr lang="en-US" sz="1200" dirty="0">
                <a:solidFill>
                  <a:srgbClr val="16202B"/>
                </a:solidFill>
                <a:latin typeface="Arial" pitchFamily="34" charset="0"/>
                <a:ea typeface="Arial" pitchFamily="34" charset="-122"/>
                <a:cs typeface="Arial" pitchFamily="34" charset="-120"/>
              </a:rPr>
              <a:t>@grafana/faro-web-sdk + -tracing</a:t>
            </a:r>
            <a:endParaRPr lang="en-US" sz="1200" dirty="0"/>
          </a:p>
        </p:txBody>
      </p:sp>
      <p:sp>
        <p:nvSpPr>
          <p:cNvPr id="10" name="Shape 8"/>
          <p:cNvSpPr/>
          <p:nvPr/>
        </p:nvSpPr>
        <p:spPr>
          <a:xfrm>
            <a:off x="548640" y="4251960"/>
            <a:ext cx="4846320" cy="4572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731520" y="4251960"/>
            <a:ext cx="1371600" cy="457200"/>
          </a:xfrm>
          <a:prstGeom prst="rect">
            <a:avLst/>
          </a:prstGeom>
          <a:noFill/>
          <a:ln/>
        </p:spPr>
        <p:txBody>
          <a:bodyPr wrap="square" lIns="0" tIns="0" rIns="0" bIns="0" rtlCol="0" anchor="ctr"/>
          <a:lstStyle/>
          <a:p>
            <a:pPr marL="0" indent="0">
              <a:buNone/>
            </a:pPr>
            <a:r>
              <a:rPr lang="en-US" sz="1100" b="1" dirty="0">
                <a:solidFill>
                  <a:srgbClr val="3762FF"/>
                </a:solidFill>
                <a:latin typeface="Arial" pitchFamily="34" charset="0"/>
                <a:ea typeface="Arial" pitchFamily="34" charset="-122"/>
                <a:cs typeface="Arial" pitchFamily="34" charset="-120"/>
              </a:rPr>
              <a:t>Collector</a:t>
            </a:r>
            <a:endParaRPr lang="en-US" sz="1100" dirty="0"/>
          </a:p>
        </p:txBody>
      </p:sp>
      <p:sp>
        <p:nvSpPr>
          <p:cNvPr id="12" name="Text 10"/>
          <p:cNvSpPr txBox="1"/>
          <p:nvPr/>
        </p:nvSpPr>
        <p:spPr>
          <a:xfrm>
            <a:off x="2148840" y="4251960"/>
            <a:ext cx="3108960" cy="457200"/>
          </a:xfrm>
          <a:prstGeom prst="rect">
            <a:avLst/>
          </a:prstGeom>
          <a:noFill/>
          <a:ln/>
        </p:spPr>
        <p:txBody>
          <a:bodyPr wrap="square" lIns="0" tIns="0" rIns="0" bIns="0" rtlCol="0" anchor="ctr"/>
          <a:lstStyle/>
          <a:p>
            <a:pPr marL="0" indent="0">
              <a:buNone/>
            </a:pPr>
            <a:r>
              <a:rPr lang="en-US" sz="1200" dirty="0">
                <a:solidFill>
                  <a:srgbClr val="16202B"/>
                </a:solidFill>
                <a:latin typeface="Arial" pitchFamily="34" charset="0"/>
                <a:ea typeface="Arial" pitchFamily="34" charset="-122"/>
                <a:cs typeface="Arial" pitchFamily="34" charset="-120"/>
              </a:rPr>
              <a:t>faro-collector:8080</a:t>
            </a:r>
            <a:endParaRPr lang="en-US" sz="1200" dirty="0"/>
          </a:p>
        </p:txBody>
      </p:sp>
      <p:sp>
        <p:nvSpPr>
          <p:cNvPr id="13" name="Shape 11"/>
          <p:cNvSpPr/>
          <p:nvPr/>
        </p:nvSpPr>
        <p:spPr>
          <a:xfrm>
            <a:off x="548640" y="4800600"/>
            <a:ext cx="4846320" cy="4572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731520" y="4800600"/>
            <a:ext cx="1371600" cy="457200"/>
          </a:xfrm>
          <a:prstGeom prst="rect">
            <a:avLst/>
          </a:prstGeom>
          <a:noFill/>
          <a:ln/>
        </p:spPr>
        <p:txBody>
          <a:bodyPr wrap="square" lIns="0" tIns="0" rIns="0" bIns="0" rtlCol="0" anchor="ctr"/>
          <a:lstStyle/>
          <a:p>
            <a:pPr marL="0" indent="0">
              <a:buNone/>
            </a:pPr>
            <a:r>
              <a:rPr lang="en-US" sz="1100" b="1" dirty="0">
                <a:solidFill>
                  <a:srgbClr val="3762FF"/>
                </a:solidFill>
                <a:latin typeface="Arial" pitchFamily="34" charset="0"/>
                <a:ea typeface="Arial" pitchFamily="34" charset="-122"/>
                <a:cs typeface="Arial" pitchFamily="34" charset="-120"/>
              </a:rPr>
              <a:t>Format</a:t>
            </a:r>
            <a:endParaRPr lang="en-US" sz="1100" dirty="0"/>
          </a:p>
        </p:txBody>
      </p:sp>
      <p:sp>
        <p:nvSpPr>
          <p:cNvPr id="15" name="Text 13"/>
          <p:cNvSpPr txBox="1"/>
          <p:nvPr/>
        </p:nvSpPr>
        <p:spPr>
          <a:xfrm>
            <a:off x="2148840" y="4800600"/>
            <a:ext cx="3108960" cy="457200"/>
          </a:xfrm>
          <a:prstGeom prst="rect">
            <a:avLst/>
          </a:prstGeom>
          <a:noFill/>
          <a:ln/>
        </p:spPr>
        <p:txBody>
          <a:bodyPr wrap="square" lIns="0" tIns="0" rIns="0" bIns="0" rtlCol="0" anchor="ctr"/>
          <a:lstStyle/>
          <a:p>
            <a:pPr marL="0" indent="0">
              <a:buNone/>
            </a:pPr>
            <a:r>
              <a:rPr lang="en-US" sz="1200" dirty="0">
                <a:solidFill>
                  <a:srgbClr val="16202B"/>
                </a:solidFill>
                <a:latin typeface="Arial" pitchFamily="34" charset="0"/>
                <a:ea typeface="Arial" pitchFamily="34" charset="-122"/>
                <a:cs typeface="Arial" pitchFamily="34" charset="-120"/>
              </a:rPr>
              <a:t>Faro-JSON → OTLP</a:t>
            </a:r>
            <a:endParaRPr lang="en-US" sz="1200" dirty="0"/>
          </a:p>
        </p:txBody>
      </p:sp>
      <p:sp>
        <p:nvSpPr>
          <p:cNvPr id="16" name="Shape 14"/>
          <p:cNvSpPr/>
          <p:nvPr/>
        </p:nvSpPr>
        <p:spPr>
          <a:xfrm>
            <a:off x="548640" y="5349240"/>
            <a:ext cx="4846320" cy="4572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7" name="Text 15"/>
          <p:cNvSpPr txBox="1"/>
          <p:nvPr/>
        </p:nvSpPr>
        <p:spPr>
          <a:xfrm>
            <a:off x="731520" y="5349240"/>
            <a:ext cx="1371600" cy="457200"/>
          </a:xfrm>
          <a:prstGeom prst="rect">
            <a:avLst/>
          </a:prstGeom>
          <a:noFill/>
          <a:ln/>
        </p:spPr>
        <p:txBody>
          <a:bodyPr wrap="square" lIns="0" tIns="0" rIns="0" bIns="0" rtlCol="0" anchor="ctr"/>
          <a:lstStyle/>
          <a:p>
            <a:pPr marL="0" indent="0">
              <a:buNone/>
            </a:pPr>
            <a:r>
              <a:rPr lang="en-US" sz="1100" b="1" dirty="0">
                <a:solidFill>
                  <a:srgbClr val="3762FF"/>
                </a:solidFill>
                <a:latin typeface="Arial" pitchFamily="34" charset="0"/>
                <a:ea typeface="Arial" pitchFamily="34" charset="-122"/>
                <a:cs typeface="Arial" pitchFamily="34" charset="-120"/>
              </a:rPr>
              <a:t>Når den via</a:t>
            </a:r>
            <a:endParaRPr lang="en-US" sz="1100" dirty="0"/>
          </a:p>
        </p:txBody>
      </p:sp>
      <p:sp>
        <p:nvSpPr>
          <p:cNvPr id="18" name="Text 16"/>
          <p:cNvSpPr txBox="1"/>
          <p:nvPr/>
        </p:nvSpPr>
        <p:spPr>
          <a:xfrm>
            <a:off x="2148840" y="5349240"/>
            <a:ext cx="3108960" cy="457200"/>
          </a:xfrm>
          <a:prstGeom prst="rect">
            <a:avLst/>
          </a:prstGeom>
          <a:noFill/>
          <a:ln/>
        </p:spPr>
        <p:txBody>
          <a:bodyPr wrap="square" lIns="0" tIns="0" rIns="0" bIns="0" rtlCol="0" anchor="ctr"/>
          <a:lstStyle/>
          <a:p>
            <a:pPr marL="0" indent="0">
              <a:buNone/>
            </a:pPr>
            <a:r>
              <a:rPr lang="en-US" sz="1200" dirty="0">
                <a:solidFill>
                  <a:srgbClr val="16202B"/>
                </a:solidFill>
                <a:latin typeface="Arial" pitchFamily="34" charset="0"/>
                <a:ea typeface="Arial" pitchFamily="34" charset="-122"/>
                <a:cs typeface="Arial" pitchFamily="34" charset="-120"/>
              </a:rPr>
              <a:t>/faro i nginx (samma origin)</a:t>
            </a:r>
            <a:endParaRPr lang="en-US" sz="1200" dirty="0"/>
          </a:p>
        </p:txBody>
      </p:sp>
      <p:sp>
        <p:nvSpPr>
          <p:cNvPr id="19" name="Shape 17"/>
          <p:cNvSpPr/>
          <p:nvPr/>
        </p:nvSpPr>
        <p:spPr>
          <a:xfrm>
            <a:off x="5715000" y="1554480"/>
            <a:ext cx="5928055" cy="2880360"/>
          </a:xfrm>
          <a:prstGeom prst="roundRect">
            <a:avLst>
              <a:gd name="adj" fmla="val 1905"/>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20" name="Shape 18"/>
          <p:cNvSpPr/>
          <p:nvPr/>
        </p:nvSpPr>
        <p:spPr>
          <a:xfrm>
            <a:off x="5916168" y="1719072"/>
            <a:ext cx="109728" cy="109728"/>
          </a:xfrm>
          <a:prstGeom prst="ellipse">
            <a:avLst/>
          </a:prstGeom>
          <a:solidFill>
            <a:srgbClr val="D64545"/>
          </a:solidFill>
          <a:ln w="12700">
            <a:solidFill>
              <a:srgbClr val="D64545"/>
            </a:solidFill>
            <a:prstDash val="solid"/>
          </a:ln>
        </p:spPr>
      </p:sp>
      <p:sp>
        <p:nvSpPr>
          <p:cNvPr id="21" name="Shape 19"/>
          <p:cNvSpPr/>
          <p:nvPr/>
        </p:nvSpPr>
        <p:spPr>
          <a:xfrm>
            <a:off x="6099048" y="1719072"/>
            <a:ext cx="109728" cy="109728"/>
          </a:xfrm>
          <a:prstGeom prst="ellipse">
            <a:avLst/>
          </a:prstGeom>
          <a:solidFill>
            <a:srgbClr val="FFB020"/>
          </a:solidFill>
          <a:ln w="12700">
            <a:solidFill>
              <a:srgbClr val="FFB020"/>
            </a:solidFill>
            <a:prstDash val="solid"/>
          </a:ln>
        </p:spPr>
      </p:sp>
      <p:sp>
        <p:nvSpPr>
          <p:cNvPr id="22" name="Shape 20"/>
          <p:cNvSpPr/>
          <p:nvPr/>
        </p:nvSpPr>
        <p:spPr>
          <a:xfrm>
            <a:off x="6281928" y="1719072"/>
            <a:ext cx="109728" cy="109728"/>
          </a:xfrm>
          <a:prstGeom prst="ellipse">
            <a:avLst/>
          </a:prstGeom>
          <a:solidFill>
            <a:srgbClr val="3CB371"/>
          </a:solidFill>
          <a:ln w="12700">
            <a:solidFill>
              <a:srgbClr val="3CB371"/>
            </a:solidFill>
            <a:prstDash val="solid"/>
          </a:ln>
        </p:spPr>
      </p:sp>
      <p:sp>
        <p:nvSpPr>
          <p:cNvPr id="23" name="Text 21"/>
          <p:cNvSpPr txBox="1"/>
          <p:nvPr/>
        </p:nvSpPr>
        <p:spPr>
          <a:xfrm>
            <a:off x="6537960" y="1645920"/>
            <a:ext cx="4922215"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Telemetry/faro-collector.yaml (ConfigMap, utdrag)</a:t>
            </a:r>
            <a:endParaRPr lang="en-US" sz="1100" dirty="0"/>
          </a:p>
        </p:txBody>
      </p:sp>
      <p:sp>
        <p:nvSpPr>
          <p:cNvPr id="24" name="Text 22"/>
          <p:cNvSpPr txBox="1"/>
          <p:nvPr/>
        </p:nvSpPr>
        <p:spPr>
          <a:xfrm>
            <a:off x="5943600" y="2011680"/>
            <a:ext cx="5470855" cy="2286000"/>
          </a:xfrm>
          <a:prstGeom prst="rect">
            <a:avLst/>
          </a:prstGeom>
          <a:noFill/>
          <a:ln/>
        </p:spPr>
        <p:txBody>
          <a:bodyPr wrap="square" lIns="0" tIns="0" rIns="0" bIns="0" rtlCol="0" anchor="t"/>
          <a:lstStyle/>
          <a:p>
            <a:pPr marL="0" indent="0">
              <a:lnSpc>
                <a:spcPct val="110000"/>
              </a:lnSpc>
              <a:buNone/>
            </a:pPr>
            <a:r>
              <a:rPr lang="en-US" sz="1100" dirty="0">
                <a:solidFill>
                  <a:srgbClr val="7C9CFF"/>
                </a:solidFill>
                <a:latin typeface="Courier New" pitchFamily="34" charset="0"/>
                <a:ea typeface="Courier New" pitchFamily="34" charset="-122"/>
                <a:cs typeface="Courier New" pitchFamily="34" charset="-120"/>
              </a:rPr>
              <a:t>receivers:</a:t>
            </a: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faro:</a:t>
            </a: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endpoint:</a:t>
            </a:r>
            <a:r>
              <a:rPr lang="en-US" sz="1100" dirty="0">
                <a:solidFill>
                  <a:srgbClr val="DDE3EA"/>
                </a:solidFill>
                <a:latin typeface="Courier New" pitchFamily="34" charset="0"/>
                <a:ea typeface="Courier New" pitchFamily="34" charset="-122"/>
                <a:cs typeface="Courier New" pitchFamily="34" charset="-120"/>
              </a:rPr>
              <a:t> 0.0.0.0:8080</a:t>
            </a:r>
            <a:endParaRPr lang="en-US" sz="1100" dirty="0"/>
          </a:p>
          <a:p>
            <a:pPr marL="0" indent="0">
              <a:lnSpc>
                <a:spcPct val="110000"/>
              </a:lnSpc>
              <a:buNone/>
            </a:pPr>
            <a:r>
              <a:rPr lang="en-US" sz="1100" dirty="0">
                <a:solidFill>
                  <a:srgbClr val="7C9CFF"/>
                </a:solidFill>
                <a:latin typeface="Courier New" pitchFamily="34" charset="0"/>
                <a:ea typeface="Courier New" pitchFamily="34" charset="-122"/>
                <a:cs typeface="Courier New" pitchFamily="34" charset="-120"/>
              </a:rPr>
              <a:t>exporters:</a:t>
            </a: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otlp/collector:</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endpoint:</a:t>
            </a:r>
            <a:r>
              <a:rPr lang="en-US" sz="1100" dirty="0">
                <a:solidFill>
                  <a:srgbClr val="DDE3EA"/>
                </a:solidFill>
                <a:latin typeface="Courier New" pitchFamily="34" charset="0"/>
                <a:ea typeface="Courier New" pitchFamily="34" charset="-122"/>
                <a:cs typeface="Courier New" pitchFamily="34" charset="-120"/>
              </a:rPr>
              <a:t> otel-collector.monitoring...:4317</a:t>
            </a:r>
            <a:endParaRPr lang="en-US" sz="1100" dirty="0"/>
          </a:p>
          <a:p>
            <a:pPr marL="0" indent="0">
              <a:lnSpc>
                <a:spcPct val="110000"/>
              </a:lnSpc>
              <a:buNone/>
            </a:pPr>
            <a:r>
              <a:rPr lang="en-US" sz="1100" dirty="0">
                <a:solidFill>
                  <a:srgbClr val="7C9CFF"/>
                </a:solidFill>
                <a:latin typeface="Courier New" pitchFamily="34" charset="0"/>
                <a:ea typeface="Courier New" pitchFamily="34" charset="-122"/>
                <a:cs typeface="Courier New" pitchFamily="34" charset="-120"/>
              </a:rPr>
              <a:t>service:</a:t>
            </a: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pipelines:</a:t>
            </a: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r>
              <a:rPr lang="en-US" sz="1100" dirty="0">
                <a:solidFill>
                  <a:srgbClr val="7C9CFF"/>
                </a:solidFill>
                <a:latin typeface="Courier New" pitchFamily="34" charset="0"/>
                <a:ea typeface="Courier New" pitchFamily="34" charset="-122"/>
                <a:cs typeface="Courier New" pitchFamily="34" charset="-120"/>
              </a:rPr>
              <a:t>traces:</a:t>
            </a:r>
            <a:r>
              <a:rPr lang="en-US" sz="1100" dirty="0">
                <a:solidFill>
                  <a:srgbClr val="DDE3EA"/>
                </a:solidFill>
                <a:latin typeface="Courier New" pitchFamily="34" charset="0"/>
                <a:ea typeface="Courier New" pitchFamily="34" charset="-122"/>
                <a:cs typeface="Courier New" pitchFamily="34" charset="-120"/>
              </a:rPr>
              <a:t> { receivers: [faro], exporters: [otlp/collector] }</a:t>
            </a:r>
            <a:endParaRPr lang="en-US" sz="1100" dirty="0"/>
          </a:p>
        </p:txBody>
      </p:sp>
      <p:sp>
        <p:nvSpPr>
          <p:cNvPr id="25" name="Shape 23"/>
          <p:cNvSpPr/>
          <p:nvPr/>
        </p:nvSpPr>
        <p:spPr>
          <a:xfrm>
            <a:off x="5715000" y="4617720"/>
            <a:ext cx="5928055" cy="1280160"/>
          </a:xfrm>
          <a:prstGeom prst="roundRect">
            <a:avLst>
              <a:gd name="adj" fmla="val 4286"/>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6" name="Text 24"/>
          <p:cNvSpPr txBox="1"/>
          <p:nvPr/>
        </p:nvSpPr>
        <p:spPr>
          <a:xfrm>
            <a:off x="5916168" y="4818888"/>
            <a:ext cx="5525719"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Samma trace</a:t>
            </a:r>
            <a:endParaRPr lang="en-US" sz="1400" dirty="0"/>
          </a:p>
        </p:txBody>
      </p:sp>
      <p:sp>
        <p:nvSpPr>
          <p:cNvPr id="27" name="Text 25"/>
          <p:cNvSpPr txBox="1"/>
          <p:nvPr/>
        </p:nvSpPr>
        <p:spPr>
          <a:xfrm>
            <a:off x="5916168" y="5202936"/>
            <a:ext cx="5525719" cy="53949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Faro lägger traceparent på anropen - webbläsarens span blir förälder till API:ts.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KOMPONENTERNA · SAMMANFATTNING</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Sex komponenter, sex Helm-releaser och manifest</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3328416"/>
        </p:xfrm>
        <a:graphic>
          <a:graphicData uri="http://schemas.openxmlformats.org/drawingml/2006/table">
            <a:tbl>
              <a:tblPr/>
              <a:tblGrid>
                <a:gridCol w="18288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136392">
                  <a:extLst>
                    <a:ext uri="{9D8B030D-6E8A-4147-A177-3AD203B41FA5}">
                      <a16:colId xmlns:a16="http://schemas.microsoft.com/office/drawing/2014/main" val="20003"/>
                    </a:ext>
                  </a:extLst>
                </a:gridCol>
              </a:tblGrid>
              <a:tr h="475488">
                <a:tc>
                  <a:txBody>
                    <a:bodyPr/>
                    <a:lstStyle/>
                    <a:p>
                      <a:pPr marL="0" indent="0">
                        <a:buNone/>
                      </a:pPr>
                      <a:r>
                        <a:rPr lang="en-US" sz="1200" b="1" dirty="0">
                          <a:solidFill>
                            <a:srgbClr val="3762FF"/>
                          </a:solidFill>
                          <a:latin typeface="Arial" pitchFamily="34" charset="0"/>
                          <a:ea typeface="Arial" pitchFamily="34" charset="-122"/>
                          <a:cs typeface="Arial" pitchFamily="34" charset="-120"/>
                        </a:rPr>
                        <a:t>Komponent</a:t>
                      </a:r>
                      <a:endParaRPr lang="en-US" sz="1200" dirty="0">
                        <a:latin typeface="Arial" charset="0"/>
                        <a:ea typeface="Arial" charset="0"/>
                        <a:cs typeface="Arial" charset="0"/>
                      </a:endParaRPr>
                    </a:p>
                  </a:txBody>
                  <a:tcPr marL="73152" marR="73152">
                    <a:lnL w="0" cap="flat" cmpd="sng" algn="ctr">
                      <a:noFill/>
                    </a:lnL>
                    <a:lnR w="0" cap="flat" cmpd="sng" algn="ctr">
                      <a:noFill/>
                    </a:lnR>
                    <a:lnT w="0" cap="flat" cmpd="sng" algn="ctr">
                      <a:noFill/>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b="1" dirty="0">
                          <a:solidFill>
                            <a:srgbClr val="3762FF"/>
                          </a:solidFill>
                          <a:latin typeface="Arial" pitchFamily="34" charset="0"/>
                          <a:ea typeface="Arial" pitchFamily="34" charset="-122"/>
                          <a:cs typeface="Arial" pitchFamily="34" charset="-120"/>
                        </a:rPr>
                        <a:t>Installeras med</a:t>
                      </a:r>
                      <a:endParaRPr lang="en-US" sz="1200" dirty="0">
                        <a:latin typeface="Arial" charset="0"/>
                        <a:ea typeface="Arial" charset="0"/>
                        <a:cs typeface="Arial" charset="0"/>
                      </a:endParaRPr>
                    </a:p>
                  </a:txBody>
                  <a:tcPr marL="73152" marR="73152">
                    <a:lnL w="0" cap="flat" cmpd="sng" algn="ctr">
                      <a:noFill/>
                    </a:lnL>
                    <a:lnR w="0" cap="flat" cmpd="sng" algn="ctr">
                      <a:noFill/>
                    </a:lnR>
                    <a:lnT w="0" cap="flat" cmpd="sng" algn="ctr">
                      <a:noFill/>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b="1" dirty="0">
                          <a:solidFill>
                            <a:srgbClr val="3762FF"/>
                          </a:solidFill>
                          <a:latin typeface="Arial" pitchFamily="34" charset="0"/>
                          <a:ea typeface="Arial" pitchFamily="34" charset="-122"/>
                          <a:cs typeface="Arial" pitchFamily="34" charset="-120"/>
                        </a:rPr>
                        <a:t>Service i klustret</a:t>
                      </a:r>
                      <a:endParaRPr lang="en-US" sz="1200" dirty="0">
                        <a:latin typeface="Arial" charset="0"/>
                        <a:ea typeface="Arial" charset="0"/>
                        <a:cs typeface="Arial" charset="0"/>
                      </a:endParaRPr>
                    </a:p>
                  </a:txBody>
                  <a:tcPr marL="73152" marR="73152">
                    <a:lnL w="0" cap="flat" cmpd="sng" algn="ctr">
                      <a:noFill/>
                    </a:lnL>
                    <a:lnR w="0" cap="flat" cmpd="sng" algn="ctr">
                      <a:noFill/>
                    </a:lnR>
                    <a:lnT w="0" cap="flat" cmpd="sng" algn="ctr">
                      <a:noFill/>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b="1" dirty="0">
                          <a:solidFill>
                            <a:srgbClr val="3762FF"/>
                          </a:solidFill>
                          <a:latin typeface="Arial" pitchFamily="34" charset="0"/>
                          <a:ea typeface="Arial" pitchFamily="34" charset="-122"/>
                          <a:cs typeface="Arial" pitchFamily="34" charset="-120"/>
                        </a:rPr>
                        <a:t>Jobb</a:t>
                      </a:r>
                      <a:endParaRPr lang="en-US" sz="1200" dirty="0">
                        <a:latin typeface="Arial" charset="0"/>
                        <a:ea typeface="Arial" charset="0"/>
                        <a:cs typeface="Arial" charset="0"/>
                      </a:endParaRPr>
                    </a:p>
                  </a:txBody>
                  <a:tcPr marL="73152" marR="73152">
                    <a:lnL w="0" cap="flat" cmpd="sng" algn="ctr">
                      <a:noFill/>
                    </a:lnL>
                    <a:lnR w="0" cap="flat" cmpd="sng" algn="ctr">
                      <a:noFill/>
                    </a:lnR>
                    <a:lnT w="0" cap="flat" cmpd="sng" algn="ctr">
                      <a:noFill/>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0"/>
                  </a:ext>
                </a:extLst>
              </a:tr>
              <a:tr h="475488">
                <a:tc>
                  <a:txBody>
                    <a:bodyPr/>
                    <a:lstStyle/>
                    <a:p>
                      <a:pPr marL="0" indent="0">
                        <a:buNone/>
                      </a:pPr>
                      <a:r>
                        <a:rPr lang="en-US" sz="1200" dirty="0">
                          <a:solidFill>
                            <a:srgbClr val="16202B"/>
                          </a:solidFill>
                          <a:latin typeface="Arial" pitchFamily="34" charset="0"/>
                          <a:ea typeface="Arial" pitchFamily="34" charset="-122"/>
                          <a:cs typeface="Arial" pitchFamily="34" charset="-120"/>
                        </a:rPr>
                        <a:t>otel-collector</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otel-collector.yaml</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otel-collector:4317 / 4318</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Arial" pitchFamily="34" charset="0"/>
                          <a:ea typeface="Arial" pitchFamily="34" charset="-122"/>
                          <a:cs typeface="Arial" pitchFamily="34" charset="-120"/>
                        </a:rPr>
                        <a:t>Tar emot OTLP, fördelar signalerna</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1"/>
                  </a:ext>
                </a:extLst>
              </a:tr>
              <a:tr h="475488">
                <a:tc>
                  <a:txBody>
                    <a:bodyPr/>
                    <a:lstStyle/>
                    <a:p>
                      <a:pPr marL="0" indent="0">
                        <a:buNone/>
                      </a:pPr>
                      <a:r>
                        <a:rPr lang="en-US" sz="1200" dirty="0">
                          <a:solidFill>
                            <a:srgbClr val="16202B"/>
                          </a:solidFill>
                          <a:latin typeface="Arial" pitchFamily="34" charset="0"/>
                          <a:ea typeface="Arial" pitchFamily="34" charset="-122"/>
                          <a:cs typeface="Arial" pitchFamily="34" charset="-120"/>
                        </a:rPr>
                        <a:t>faro-collector</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faro-collector.yaml</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faro-collector:8080</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Arial" pitchFamily="34" charset="0"/>
                          <a:ea typeface="Arial" pitchFamily="34" charset="-122"/>
                          <a:cs typeface="Arial" pitchFamily="34" charset="-120"/>
                        </a:rPr>
                        <a:t>Webbläsarens telemetri → OTLP</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2"/>
                  </a:ext>
                </a:extLst>
              </a:tr>
              <a:tr h="475488">
                <a:tc>
                  <a:txBody>
                    <a:bodyPr/>
                    <a:lstStyle/>
                    <a:p>
                      <a:pPr marL="0" indent="0">
                        <a:buNone/>
                      </a:pPr>
                      <a:r>
                        <a:rPr lang="en-US" sz="1200" dirty="0">
                          <a:solidFill>
                            <a:srgbClr val="16202B"/>
                          </a:solidFill>
                          <a:latin typeface="Arial" pitchFamily="34" charset="0"/>
                          <a:ea typeface="Arial" pitchFamily="34" charset="-122"/>
                          <a:cs typeface="Arial" pitchFamily="34" charset="-120"/>
                        </a:rPr>
                        <a:t>Tempo</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grafana/tempo</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telemetry-tempo:3200 / 4317</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Arial" pitchFamily="34" charset="0"/>
                          <a:ea typeface="Arial" pitchFamily="34" charset="-122"/>
                          <a:cs typeface="Arial" pitchFamily="34" charset="-120"/>
                        </a:rPr>
                        <a:t>Lagrar traces</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3"/>
                  </a:ext>
                </a:extLst>
              </a:tr>
              <a:tr h="475488">
                <a:tc>
                  <a:txBody>
                    <a:bodyPr/>
                    <a:lstStyle/>
                    <a:p>
                      <a:pPr marL="0" indent="0">
                        <a:buNone/>
                      </a:pPr>
                      <a:r>
                        <a:rPr lang="en-US" sz="1200" dirty="0">
                          <a:solidFill>
                            <a:srgbClr val="16202B"/>
                          </a:solidFill>
                          <a:latin typeface="Arial" pitchFamily="34" charset="0"/>
                          <a:ea typeface="Arial" pitchFamily="34" charset="-122"/>
                          <a:cs typeface="Arial" pitchFamily="34" charset="-120"/>
                        </a:rPr>
                        <a:t>Loki</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grafana/loki</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telemetry-loki-gateway:80</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Lagrar loggar (OTLP på /otlp)</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4"/>
                  </a:ext>
                </a:extLst>
              </a:tr>
              <a:tr h="475488">
                <a:tc>
                  <a:txBody>
                    <a:bodyPr/>
                    <a:lstStyle/>
                    <a:p>
                      <a:pPr marL="0" indent="0">
                        <a:buNone/>
                      </a:pPr>
                      <a:r>
                        <a:rPr lang="en-US" sz="1200" dirty="0">
                          <a:solidFill>
                            <a:srgbClr val="16202B"/>
                          </a:solidFill>
                          <a:latin typeface="Arial" pitchFamily="34" charset="0"/>
                          <a:ea typeface="Arial" pitchFamily="34" charset="-122"/>
                          <a:cs typeface="Arial" pitchFamily="34" charset="-120"/>
                        </a:rPr>
                        <a:t>Prometheus</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prometheus-community/prometheus</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telemetry-prometheus-server:80</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Arial" pitchFamily="34" charset="0"/>
                          <a:ea typeface="Arial" pitchFamily="34" charset="-122"/>
                          <a:cs typeface="Arial" pitchFamily="34" charset="-120"/>
                        </a:rPr>
                        <a:t>Skrapar och lagrar metrics</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5"/>
                  </a:ext>
                </a:extLst>
              </a:tr>
              <a:tr h="475488">
                <a:tc>
                  <a:txBody>
                    <a:bodyPr/>
                    <a:lstStyle/>
                    <a:p>
                      <a:pPr marL="0" indent="0">
                        <a:buNone/>
                      </a:pPr>
                      <a:r>
                        <a:rPr lang="en-US" sz="1200" dirty="0">
                          <a:solidFill>
                            <a:srgbClr val="16202B"/>
                          </a:solidFill>
                          <a:latin typeface="Arial" pitchFamily="34" charset="0"/>
                          <a:ea typeface="Arial" pitchFamily="34" charset="-122"/>
                          <a:cs typeface="Arial" pitchFamily="34" charset="-120"/>
                        </a:rPr>
                        <a:t>Grafana</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grafana/grafana</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telemetry-grafana:80</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Arial" pitchFamily="34" charset="0"/>
                          <a:ea typeface="Arial" pitchFamily="34" charset="-122"/>
                          <a:cs typeface="Arial" pitchFamily="34" charset="-120"/>
                        </a:rPr>
                        <a:t>Gemensam vy, datakällor förkonfigurerade</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548640" y="5166360"/>
            <a:ext cx="11094415" cy="548640"/>
          </a:xfrm>
          <a:prstGeom prst="rect">
            <a:avLst/>
          </a:prstGeom>
          <a:noFill/>
          <a:ln/>
        </p:spPr>
        <p:txBody>
          <a:bodyPr wrap="square" lIns="0" tIns="0" rIns="0" bIns="0" rtlCol="0" anchor="t"/>
          <a:lstStyle/>
          <a:p>
            <a:pPr marL="0" indent="0">
              <a:lnSpc>
                <a:spcPct val="120000"/>
              </a:lnSpc>
              <a:buNone/>
            </a:pPr>
            <a:r>
              <a:rPr lang="en-US" sz="1400" dirty="0">
                <a:solidFill>
                  <a:srgbClr val="4A5568"/>
                </a:solidFill>
                <a:latin typeface="Arial" pitchFamily="34" charset="0"/>
                <a:ea typeface="Arial" pitchFamily="34" charset="-122"/>
                <a:cs typeface="Arial" pitchFamily="34" charset="-120"/>
              </a:rPr>
              <a:t>Namnen på Services kommer från Helm-releasen: telemetry-tempo, inte tempo. Det spelar roll när collectorn ska hitta dem.</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marL="0" indent="0">
              <a:buNone/>
            </a:pPr>
            <a:r>
              <a:rPr lang="en-US" sz="15000" b="1" dirty="0">
                <a:solidFill>
                  <a:srgbClr val="16294A"/>
                </a:solidFill>
                <a:latin typeface="Calibri" pitchFamily="34" charset="0"/>
                <a:ea typeface="Calibri" pitchFamily="34" charset="-122"/>
                <a:cs typeface="Calibri" pitchFamily="34" charset="-120"/>
              </a:rPr>
              <a:t>04</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marL="0" indent="0">
              <a:buNone/>
            </a:pPr>
            <a:r>
              <a:rPr lang="en-US" sz="5200" b="1" dirty="0">
                <a:solidFill>
                  <a:srgbClr val="F5F7FA"/>
                </a:solidFill>
                <a:latin typeface="Calibri" pitchFamily="34" charset="0"/>
                <a:ea typeface="Calibri" pitchFamily="34" charset="-122"/>
                <a:cs typeface="Calibri" pitchFamily="34" charset="-120"/>
              </a:rPr>
              <a:t>Installation</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marL="0" indent="0">
              <a:lnSpc>
                <a:spcPct val="120000"/>
              </a:lnSpc>
              <a:buNone/>
            </a:pPr>
            <a:r>
              <a:rPr lang="en-US" sz="1800" dirty="0">
                <a:solidFill>
                  <a:srgbClr val="B9C4D1"/>
                </a:solidFill>
                <a:latin typeface="Arial" pitchFamily="34" charset="0"/>
                <a:ea typeface="Arial" pitchFamily="34" charset="-122"/>
                <a:cs typeface="Arial" pitchFamily="34" charset="-120"/>
              </a:rPr>
              <a:t>deploy-telemetry.ps1, certifikat och hosts-filen</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INSTALLATION · SKRIPTET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deploy-telemetry.ps1 i fem steg</a:t>
            </a:r>
            <a:endParaRPr lang="en-US" sz="3000" dirty="0"/>
          </a:p>
        </p:txBody>
      </p:sp>
      <p:sp>
        <p:nvSpPr>
          <p:cNvPr id="4" name="Shape 2"/>
          <p:cNvSpPr/>
          <p:nvPr/>
        </p:nvSpPr>
        <p:spPr>
          <a:xfrm>
            <a:off x="548640" y="1645920"/>
            <a:ext cx="1962851" cy="1600200"/>
          </a:xfrm>
          <a:prstGeom prst="roundRect">
            <a:avLst>
              <a:gd name="adj" fmla="val 34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5" name="Text 3"/>
          <p:cNvSpPr txBox="1"/>
          <p:nvPr/>
        </p:nvSpPr>
        <p:spPr>
          <a:xfrm>
            <a:off x="749808" y="1847088"/>
            <a:ext cx="1560515"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STEG 1</a:t>
            </a:r>
            <a:endParaRPr lang="en-US" sz="1100" dirty="0"/>
          </a:p>
        </p:txBody>
      </p:sp>
      <p:sp>
        <p:nvSpPr>
          <p:cNvPr id="6" name="Text 4"/>
          <p:cNvSpPr txBox="1"/>
          <p:nvPr/>
        </p:nvSpPr>
        <p:spPr>
          <a:xfrm>
            <a:off x="749808" y="2139696"/>
            <a:ext cx="1560515" cy="320040"/>
          </a:xfrm>
          <a:prstGeom prst="rect">
            <a:avLst/>
          </a:prstGeom>
          <a:noFill/>
          <a:ln/>
        </p:spPr>
        <p:txBody>
          <a:bodyPr wrap="square" lIns="0" tIns="0" rIns="0" bIns="0" rtlCol="0" anchor="t"/>
          <a:lstStyle/>
          <a:p>
            <a:pPr marL="0" indent="0">
              <a:buNone/>
            </a:pPr>
            <a:r>
              <a:rPr lang="en-US" sz="1500" b="1" dirty="0">
                <a:solidFill>
                  <a:srgbClr val="16202B"/>
                </a:solidFill>
                <a:latin typeface="Calibri" pitchFamily="34" charset="0"/>
                <a:ea typeface="Calibri" pitchFamily="34" charset="-122"/>
                <a:cs typeface="Calibri" pitchFamily="34" charset="-120"/>
              </a:rPr>
              <a:t>Repos</a:t>
            </a:r>
            <a:endParaRPr lang="en-US" sz="1500" dirty="0"/>
          </a:p>
        </p:txBody>
      </p:sp>
      <p:sp>
        <p:nvSpPr>
          <p:cNvPr id="7" name="Text 5"/>
          <p:cNvSpPr txBox="1"/>
          <p:nvPr/>
        </p:nvSpPr>
        <p:spPr>
          <a:xfrm>
            <a:off x="749808" y="2523744"/>
            <a:ext cx="1560515" cy="566928"/>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grafana och prometheus-community</a:t>
            </a:r>
            <a:endParaRPr lang="en-US" sz="1200" dirty="0"/>
          </a:p>
        </p:txBody>
      </p:sp>
      <p:sp>
        <p:nvSpPr>
          <p:cNvPr id="8" name="Shape 6"/>
          <p:cNvSpPr/>
          <p:nvPr/>
        </p:nvSpPr>
        <p:spPr>
          <a:xfrm>
            <a:off x="2538923" y="2441448"/>
            <a:ext cx="265176" cy="0"/>
          </a:xfrm>
          <a:prstGeom prst="line">
            <a:avLst/>
          </a:prstGeom>
          <a:noFill/>
          <a:ln w="19050">
            <a:solidFill>
              <a:srgbClr val="3762FF"/>
            </a:solidFill>
            <a:prstDash val="solid"/>
            <a:tailEnd type="triangle"/>
          </a:ln>
        </p:spPr>
      </p:sp>
      <p:sp>
        <p:nvSpPr>
          <p:cNvPr id="9" name="Shape 7"/>
          <p:cNvSpPr/>
          <p:nvPr/>
        </p:nvSpPr>
        <p:spPr>
          <a:xfrm>
            <a:off x="2831531" y="1645920"/>
            <a:ext cx="1962851" cy="1600200"/>
          </a:xfrm>
          <a:prstGeom prst="roundRect">
            <a:avLst>
              <a:gd name="adj" fmla="val 34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0" name="Text 8"/>
          <p:cNvSpPr txBox="1"/>
          <p:nvPr/>
        </p:nvSpPr>
        <p:spPr>
          <a:xfrm>
            <a:off x="3032699" y="1847088"/>
            <a:ext cx="1560515"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STEG 2</a:t>
            </a:r>
            <a:endParaRPr lang="en-US" sz="1100" dirty="0"/>
          </a:p>
        </p:txBody>
      </p:sp>
      <p:sp>
        <p:nvSpPr>
          <p:cNvPr id="11" name="Text 9"/>
          <p:cNvSpPr txBox="1"/>
          <p:nvPr/>
        </p:nvSpPr>
        <p:spPr>
          <a:xfrm>
            <a:off x="3032699" y="2139696"/>
            <a:ext cx="1560515" cy="320040"/>
          </a:xfrm>
          <a:prstGeom prst="rect">
            <a:avLst/>
          </a:prstGeom>
          <a:noFill/>
          <a:ln/>
        </p:spPr>
        <p:txBody>
          <a:bodyPr wrap="square" lIns="0" tIns="0" rIns="0" bIns="0" rtlCol="0" anchor="t"/>
          <a:lstStyle/>
          <a:p>
            <a:pPr marL="0" indent="0">
              <a:buNone/>
            </a:pPr>
            <a:r>
              <a:rPr lang="en-US" sz="1500" b="1" dirty="0">
                <a:solidFill>
                  <a:srgbClr val="16202B"/>
                </a:solidFill>
                <a:latin typeface="Calibri" pitchFamily="34" charset="0"/>
                <a:ea typeface="Calibri" pitchFamily="34" charset="-122"/>
                <a:cs typeface="Calibri" pitchFamily="34" charset="-120"/>
              </a:rPr>
              <a:t>TLS</a:t>
            </a:r>
            <a:endParaRPr lang="en-US" sz="1500" dirty="0"/>
          </a:p>
        </p:txBody>
      </p:sp>
      <p:sp>
        <p:nvSpPr>
          <p:cNvPr id="12" name="Text 10"/>
          <p:cNvSpPr txBox="1"/>
          <p:nvPr/>
        </p:nvSpPr>
        <p:spPr>
          <a:xfrm>
            <a:off x="3032699" y="2523744"/>
            <a:ext cx="1560515" cy="566928"/>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mkcert-certifikat + TLSStore</a:t>
            </a:r>
            <a:endParaRPr lang="en-US" sz="1200" dirty="0"/>
          </a:p>
        </p:txBody>
      </p:sp>
      <p:sp>
        <p:nvSpPr>
          <p:cNvPr id="13" name="Shape 11"/>
          <p:cNvSpPr/>
          <p:nvPr/>
        </p:nvSpPr>
        <p:spPr>
          <a:xfrm>
            <a:off x="4821814" y="2441448"/>
            <a:ext cx="265176" cy="0"/>
          </a:xfrm>
          <a:prstGeom prst="line">
            <a:avLst/>
          </a:prstGeom>
          <a:noFill/>
          <a:ln w="19050">
            <a:solidFill>
              <a:srgbClr val="3762FF"/>
            </a:solidFill>
            <a:prstDash val="solid"/>
            <a:tailEnd type="triangle"/>
          </a:ln>
        </p:spPr>
      </p:sp>
      <p:sp>
        <p:nvSpPr>
          <p:cNvPr id="14" name="Shape 12"/>
          <p:cNvSpPr/>
          <p:nvPr/>
        </p:nvSpPr>
        <p:spPr>
          <a:xfrm>
            <a:off x="5114422" y="1645920"/>
            <a:ext cx="1962851" cy="1600200"/>
          </a:xfrm>
          <a:prstGeom prst="roundRect">
            <a:avLst>
              <a:gd name="adj" fmla="val 3429"/>
            </a:avLst>
          </a:prstGeom>
          <a:solidFill>
            <a:srgbClr val="3762FF"/>
          </a:solidFill>
          <a:ln w="12700">
            <a:solidFill>
              <a:srgbClr val="3762FF"/>
            </a:solidFill>
            <a:prstDash val="solid"/>
          </a:ln>
        </p:spPr>
      </p:sp>
      <p:sp>
        <p:nvSpPr>
          <p:cNvPr id="15" name="Text 13"/>
          <p:cNvSpPr txBox="1"/>
          <p:nvPr/>
        </p:nvSpPr>
        <p:spPr>
          <a:xfrm>
            <a:off x="5315590" y="1847088"/>
            <a:ext cx="1560515" cy="274320"/>
          </a:xfrm>
          <a:prstGeom prst="rect">
            <a:avLst/>
          </a:prstGeom>
          <a:noFill/>
          <a:ln/>
        </p:spPr>
        <p:txBody>
          <a:bodyPr wrap="square" lIns="0" tIns="0" rIns="0" bIns="0" rtlCol="0" anchor="ctr"/>
          <a:lstStyle/>
          <a:p>
            <a:pPr marL="0" indent="0">
              <a:buNone/>
            </a:pPr>
            <a:r>
              <a:rPr lang="en-US" sz="1100" b="1" kern="0" spc="200" dirty="0">
                <a:solidFill>
                  <a:srgbClr val="FFFFFF"/>
                </a:solidFill>
                <a:latin typeface="Arial" pitchFamily="34" charset="0"/>
                <a:ea typeface="Arial" pitchFamily="34" charset="-122"/>
                <a:cs typeface="Arial" pitchFamily="34" charset="-120"/>
              </a:rPr>
              <a:t>STEG 3</a:t>
            </a:r>
            <a:endParaRPr lang="en-US" sz="1100" dirty="0"/>
          </a:p>
        </p:txBody>
      </p:sp>
      <p:sp>
        <p:nvSpPr>
          <p:cNvPr id="16" name="Text 14"/>
          <p:cNvSpPr txBox="1"/>
          <p:nvPr/>
        </p:nvSpPr>
        <p:spPr>
          <a:xfrm>
            <a:off x="5315590" y="2139696"/>
            <a:ext cx="1560515"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Helm</a:t>
            </a:r>
            <a:endParaRPr lang="en-US" sz="1500" dirty="0"/>
          </a:p>
        </p:txBody>
      </p:sp>
      <p:sp>
        <p:nvSpPr>
          <p:cNvPr id="17" name="Text 15"/>
          <p:cNvSpPr txBox="1"/>
          <p:nvPr/>
        </p:nvSpPr>
        <p:spPr>
          <a:xfrm>
            <a:off x="5315590" y="2523744"/>
            <a:ext cx="1560515" cy="566928"/>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Tempo, Loki, Prometheus, Grafana</a:t>
            </a:r>
            <a:endParaRPr lang="en-US" sz="1200" dirty="0"/>
          </a:p>
        </p:txBody>
      </p:sp>
      <p:sp>
        <p:nvSpPr>
          <p:cNvPr id="18" name="Shape 16"/>
          <p:cNvSpPr/>
          <p:nvPr/>
        </p:nvSpPr>
        <p:spPr>
          <a:xfrm>
            <a:off x="7104705" y="2441448"/>
            <a:ext cx="265176" cy="0"/>
          </a:xfrm>
          <a:prstGeom prst="line">
            <a:avLst/>
          </a:prstGeom>
          <a:noFill/>
          <a:ln w="19050">
            <a:solidFill>
              <a:srgbClr val="3762FF"/>
            </a:solidFill>
            <a:prstDash val="solid"/>
            <a:tailEnd type="triangle"/>
          </a:ln>
        </p:spPr>
      </p:sp>
      <p:sp>
        <p:nvSpPr>
          <p:cNvPr id="19" name="Shape 17"/>
          <p:cNvSpPr/>
          <p:nvPr/>
        </p:nvSpPr>
        <p:spPr>
          <a:xfrm>
            <a:off x="7397313" y="1645920"/>
            <a:ext cx="1962851" cy="1600200"/>
          </a:xfrm>
          <a:prstGeom prst="roundRect">
            <a:avLst>
              <a:gd name="adj" fmla="val 34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0" name="Text 18"/>
          <p:cNvSpPr txBox="1"/>
          <p:nvPr/>
        </p:nvSpPr>
        <p:spPr>
          <a:xfrm>
            <a:off x="7598481" y="1847088"/>
            <a:ext cx="1560515"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STEG 4</a:t>
            </a:r>
            <a:endParaRPr lang="en-US" sz="1100" dirty="0"/>
          </a:p>
        </p:txBody>
      </p:sp>
      <p:sp>
        <p:nvSpPr>
          <p:cNvPr id="21" name="Text 19"/>
          <p:cNvSpPr txBox="1"/>
          <p:nvPr/>
        </p:nvSpPr>
        <p:spPr>
          <a:xfrm>
            <a:off x="7598481" y="2139696"/>
            <a:ext cx="1560515" cy="320040"/>
          </a:xfrm>
          <a:prstGeom prst="rect">
            <a:avLst/>
          </a:prstGeom>
          <a:noFill/>
          <a:ln/>
        </p:spPr>
        <p:txBody>
          <a:bodyPr wrap="square" lIns="0" tIns="0" rIns="0" bIns="0" rtlCol="0" anchor="t"/>
          <a:lstStyle/>
          <a:p>
            <a:pPr marL="0" indent="0">
              <a:buNone/>
            </a:pPr>
            <a:r>
              <a:rPr lang="en-US" sz="1500" b="1" dirty="0">
                <a:solidFill>
                  <a:srgbClr val="16202B"/>
                </a:solidFill>
                <a:latin typeface="Calibri" pitchFamily="34" charset="0"/>
                <a:ea typeface="Calibri" pitchFamily="34" charset="-122"/>
                <a:cs typeface="Calibri" pitchFamily="34" charset="-120"/>
              </a:rPr>
              <a:t>Manifest</a:t>
            </a:r>
            <a:endParaRPr lang="en-US" sz="1500" dirty="0"/>
          </a:p>
        </p:txBody>
      </p:sp>
      <p:sp>
        <p:nvSpPr>
          <p:cNvPr id="22" name="Text 20"/>
          <p:cNvSpPr txBox="1"/>
          <p:nvPr/>
        </p:nvSpPr>
        <p:spPr>
          <a:xfrm>
            <a:off x="7598481" y="2523744"/>
            <a:ext cx="1560515" cy="566928"/>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collectorer + ingresser</a:t>
            </a:r>
            <a:endParaRPr lang="en-US" sz="1200" dirty="0"/>
          </a:p>
        </p:txBody>
      </p:sp>
      <p:sp>
        <p:nvSpPr>
          <p:cNvPr id="23" name="Shape 21"/>
          <p:cNvSpPr/>
          <p:nvPr/>
        </p:nvSpPr>
        <p:spPr>
          <a:xfrm>
            <a:off x="9387596" y="2441448"/>
            <a:ext cx="265176" cy="0"/>
          </a:xfrm>
          <a:prstGeom prst="line">
            <a:avLst/>
          </a:prstGeom>
          <a:noFill/>
          <a:ln w="19050">
            <a:solidFill>
              <a:srgbClr val="3762FF"/>
            </a:solidFill>
            <a:prstDash val="solid"/>
            <a:tailEnd type="triangle"/>
          </a:ln>
        </p:spPr>
      </p:sp>
      <p:sp>
        <p:nvSpPr>
          <p:cNvPr id="24" name="Shape 22"/>
          <p:cNvSpPr/>
          <p:nvPr/>
        </p:nvSpPr>
        <p:spPr>
          <a:xfrm>
            <a:off x="9680204" y="1645920"/>
            <a:ext cx="1962851" cy="1600200"/>
          </a:xfrm>
          <a:prstGeom prst="roundRect">
            <a:avLst>
              <a:gd name="adj" fmla="val 34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5" name="Text 23"/>
          <p:cNvSpPr txBox="1"/>
          <p:nvPr/>
        </p:nvSpPr>
        <p:spPr>
          <a:xfrm>
            <a:off x="9881372" y="1847088"/>
            <a:ext cx="1560515"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STEG 5</a:t>
            </a:r>
            <a:endParaRPr lang="en-US" sz="1100" dirty="0"/>
          </a:p>
        </p:txBody>
      </p:sp>
      <p:sp>
        <p:nvSpPr>
          <p:cNvPr id="26" name="Text 24"/>
          <p:cNvSpPr txBox="1"/>
          <p:nvPr/>
        </p:nvSpPr>
        <p:spPr>
          <a:xfrm>
            <a:off x="9881372" y="2139696"/>
            <a:ext cx="1560515" cy="320040"/>
          </a:xfrm>
          <a:prstGeom prst="rect">
            <a:avLst/>
          </a:prstGeom>
          <a:noFill/>
          <a:ln/>
        </p:spPr>
        <p:txBody>
          <a:bodyPr wrap="square" lIns="0" tIns="0" rIns="0" bIns="0" rtlCol="0" anchor="t"/>
          <a:lstStyle/>
          <a:p>
            <a:pPr marL="0" indent="0">
              <a:buNone/>
            </a:pPr>
            <a:r>
              <a:rPr lang="en-US" sz="1500" b="1" dirty="0">
                <a:solidFill>
                  <a:srgbClr val="16202B"/>
                </a:solidFill>
                <a:latin typeface="Calibri" pitchFamily="34" charset="0"/>
                <a:ea typeface="Calibri" pitchFamily="34" charset="-122"/>
                <a:cs typeface="Calibri" pitchFamily="34" charset="-120"/>
              </a:rPr>
              <a:t>Kontroll</a:t>
            </a:r>
            <a:endParaRPr lang="en-US" sz="1500" dirty="0"/>
          </a:p>
        </p:txBody>
      </p:sp>
      <p:sp>
        <p:nvSpPr>
          <p:cNvPr id="27" name="Text 25"/>
          <p:cNvSpPr txBox="1"/>
          <p:nvPr/>
        </p:nvSpPr>
        <p:spPr>
          <a:xfrm>
            <a:off x="9881372" y="2523744"/>
            <a:ext cx="1560515" cy="566928"/>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vänta på Ready, visa PVC:er</a:t>
            </a:r>
            <a:endParaRPr lang="en-US" sz="1200" dirty="0"/>
          </a:p>
        </p:txBody>
      </p:sp>
      <p:sp>
        <p:nvSpPr>
          <p:cNvPr id="28" name="Shape 26"/>
          <p:cNvSpPr/>
          <p:nvPr/>
        </p:nvSpPr>
        <p:spPr>
          <a:xfrm>
            <a:off x="548640" y="3566160"/>
            <a:ext cx="11094415" cy="2286000"/>
          </a:xfrm>
          <a:prstGeom prst="roundRect">
            <a:avLst>
              <a:gd name="adj" fmla="val 2400"/>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29" name="Shape 27"/>
          <p:cNvSpPr/>
          <p:nvPr/>
        </p:nvSpPr>
        <p:spPr>
          <a:xfrm>
            <a:off x="749808" y="3730752"/>
            <a:ext cx="109728" cy="109728"/>
          </a:xfrm>
          <a:prstGeom prst="ellipse">
            <a:avLst/>
          </a:prstGeom>
          <a:solidFill>
            <a:srgbClr val="D64545"/>
          </a:solidFill>
          <a:ln w="12700">
            <a:solidFill>
              <a:srgbClr val="D64545"/>
            </a:solidFill>
            <a:prstDash val="solid"/>
          </a:ln>
        </p:spPr>
      </p:sp>
      <p:sp>
        <p:nvSpPr>
          <p:cNvPr id="30" name="Shape 28"/>
          <p:cNvSpPr/>
          <p:nvPr/>
        </p:nvSpPr>
        <p:spPr>
          <a:xfrm>
            <a:off x="932688" y="3730752"/>
            <a:ext cx="109728" cy="109728"/>
          </a:xfrm>
          <a:prstGeom prst="ellipse">
            <a:avLst/>
          </a:prstGeom>
          <a:solidFill>
            <a:srgbClr val="FFB020"/>
          </a:solidFill>
          <a:ln w="12700">
            <a:solidFill>
              <a:srgbClr val="FFB020"/>
            </a:solidFill>
            <a:prstDash val="solid"/>
          </a:ln>
        </p:spPr>
      </p:sp>
      <p:sp>
        <p:nvSpPr>
          <p:cNvPr id="31" name="Shape 29"/>
          <p:cNvSpPr/>
          <p:nvPr/>
        </p:nvSpPr>
        <p:spPr>
          <a:xfrm>
            <a:off x="1115568" y="3730752"/>
            <a:ext cx="109728" cy="109728"/>
          </a:xfrm>
          <a:prstGeom prst="ellipse">
            <a:avLst/>
          </a:prstGeom>
          <a:solidFill>
            <a:srgbClr val="3CB371"/>
          </a:solidFill>
          <a:ln w="12700">
            <a:solidFill>
              <a:srgbClr val="3CB371"/>
            </a:solidFill>
            <a:prstDash val="solid"/>
          </a:ln>
        </p:spPr>
      </p:sp>
      <p:sp>
        <p:nvSpPr>
          <p:cNvPr id="32" name="Text 30"/>
          <p:cNvSpPr txBox="1"/>
          <p:nvPr/>
        </p:nvSpPr>
        <p:spPr>
          <a:xfrm>
            <a:off x="1371600" y="3657600"/>
            <a:ext cx="10088575"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33" name="Text 31"/>
          <p:cNvSpPr txBox="1"/>
          <p:nvPr/>
        </p:nvSpPr>
        <p:spPr>
          <a:xfrm>
            <a:off x="777240" y="4023360"/>
            <a:ext cx="10637215" cy="1691640"/>
          </a:xfrm>
          <a:prstGeom prst="rect">
            <a:avLst/>
          </a:prstGeom>
          <a:noFill/>
          <a:ln/>
        </p:spPr>
        <p:txBody>
          <a:bodyPr wrap="square" lIns="0" tIns="0" rIns="0" bIns="0" rtlCol="0" anchor="t"/>
          <a:lstStyle/>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winget install FiloSottile.mkcert      # en gång - ny terminal efteråt</a:t>
            </a:r>
            <a:endParaRPr lang="en-US" sz="1300" dirty="0"/>
          </a:p>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cd D:\Kvällskurs\Telemetry</a:t>
            </a:r>
            <a:endParaRPr lang="en-US" sz="1300" dirty="0"/>
          </a:p>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./deploy-telemetry.ps1</a:t>
            </a:r>
            <a:endParaRPr lang="en-US" sz="1300" dirty="0"/>
          </a:p>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 </a:t>
            </a:r>
            <a:endParaRPr lang="en-US" sz="1300" dirty="0"/>
          </a:p>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kubectl get pods -n monitoring         # alla Running</a:t>
            </a:r>
            <a:endParaRPr lang="en-US" sz="1300" dirty="0"/>
          </a:p>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kubectl get pvc  -n monitoring         # alla Bound (local-path)</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INSTALLATION · CERTIFIKAT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https://*.local med mkcert och Traefik</a:t>
            </a:r>
            <a:endParaRPr lang="en-US" sz="3000" dirty="0"/>
          </a:p>
        </p:txBody>
      </p:sp>
      <p:sp>
        <p:nvSpPr>
          <p:cNvPr id="4" name="Shape 2"/>
          <p:cNvSpPr/>
          <p:nvPr/>
        </p:nvSpPr>
        <p:spPr>
          <a:xfrm>
            <a:off x="548640" y="1645920"/>
            <a:ext cx="2651760" cy="2377440"/>
          </a:xfrm>
          <a:prstGeom prst="roundRect">
            <a:avLst>
              <a:gd name="adj" fmla="val 2308"/>
            </a:avLst>
          </a:prstGeom>
          <a:solidFill>
            <a:srgbClr val="16294A"/>
          </a:solidFill>
          <a:ln w="12700">
            <a:solidFill>
              <a:srgbClr val="16294A"/>
            </a:solidFill>
            <a:prstDash val="solid"/>
          </a:ln>
        </p:spPr>
      </p:sp>
      <p:sp>
        <p:nvSpPr>
          <p:cNvPr id="5" name="Text 3"/>
          <p:cNvSpPr txBox="1"/>
          <p:nvPr/>
        </p:nvSpPr>
        <p:spPr>
          <a:xfrm>
            <a:off x="749808" y="1847088"/>
            <a:ext cx="2249424" cy="274320"/>
          </a:xfrm>
          <a:prstGeom prst="rect">
            <a:avLst/>
          </a:prstGeom>
          <a:noFill/>
          <a:ln/>
        </p:spPr>
        <p:txBody>
          <a:bodyPr wrap="square" lIns="0" tIns="0" rIns="0" bIns="0" rtlCol="0" anchor="ctr"/>
          <a:lstStyle/>
          <a:p>
            <a:pPr marL="0" indent="0">
              <a:buNone/>
            </a:pPr>
            <a:r>
              <a:rPr lang="en-US" sz="1100" b="1" kern="0" spc="200" dirty="0">
                <a:solidFill>
                  <a:srgbClr val="7C9CFF"/>
                </a:solidFill>
                <a:latin typeface="Arial" pitchFamily="34" charset="0"/>
                <a:ea typeface="Arial" pitchFamily="34" charset="-122"/>
                <a:cs typeface="Arial" pitchFamily="34" charset="-120"/>
              </a:rPr>
              <a:t>01</a:t>
            </a:r>
            <a:endParaRPr lang="en-US" sz="1100" dirty="0"/>
          </a:p>
        </p:txBody>
      </p:sp>
      <p:sp>
        <p:nvSpPr>
          <p:cNvPr id="6" name="Text 4"/>
          <p:cNvSpPr txBox="1"/>
          <p:nvPr/>
        </p:nvSpPr>
        <p:spPr>
          <a:xfrm>
            <a:off x="749808" y="2139696"/>
            <a:ext cx="2249424" cy="320040"/>
          </a:xfrm>
          <a:prstGeom prst="rect">
            <a:avLst/>
          </a:prstGeom>
          <a:noFill/>
          <a:ln/>
        </p:spPr>
        <p:txBody>
          <a:bodyPr wrap="square" lIns="0" tIns="0" rIns="0" bIns="0" rtlCol="0" anchor="t"/>
          <a:lstStyle/>
          <a:p>
            <a:pPr marL="0" indent="0">
              <a:buNone/>
            </a:pPr>
            <a:r>
              <a:rPr lang="en-US" sz="1500" b="1" dirty="0">
                <a:solidFill>
                  <a:srgbClr val="F5F7FA"/>
                </a:solidFill>
                <a:latin typeface="Calibri" pitchFamily="34" charset="0"/>
                <a:ea typeface="Calibri" pitchFamily="34" charset="-122"/>
                <a:cs typeface="Calibri" pitchFamily="34" charset="-120"/>
              </a:rPr>
              <a:t>mkcert -install</a:t>
            </a:r>
            <a:endParaRPr lang="en-US" sz="1500" dirty="0"/>
          </a:p>
        </p:txBody>
      </p:sp>
      <p:sp>
        <p:nvSpPr>
          <p:cNvPr id="7" name="Text 5"/>
          <p:cNvSpPr txBox="1"/>
          <p:nvPr/>
        </p:nvSpPr>
        <p:spPr>
          <a:xfrm>
            <a:off x="749808" y="2523744"/>
            <a:ext cx="2249424" cy="1344168"/>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Skapar en egen rot-CA och lägger den i Windows certifikatlager. Webbläsaren litar på den.</a:t>
            </a:r>
            <a:endParaRPr lang="en-US" sz="1300" dirty="0"/>
          </a:p>
        </p:txBody>
      </p:sp>
      <p:sp>
        <p:nvSpPr>
          <p:cNvPr id="8" name="Shape 6"/>
          <p:cNvSpPr/>
          <p:nvPr/>
        </p:nvSpPr>
        <p:spPr>
          <a:xfrm>
            <a:off x="3362249" y="1645920"/>
            <a:ext cx="2651760" cy="2377440"/>
          </a:xfrm>
          <a:prstGeom prst="roundRect">
            <a:avLst>
              <a:gd name="adj" fmla="val 2308"/>
            </a:avLst>
          </a:prstGeom>
          <a:solidFill>
            <a:srgbClr val="16294A"/>
          </a:solidFill>
          <a:ln w="12700">
            <a:solidFill>
              <a:srgbClr val="16294A"/>
            </a:solidFill>
            <a:prstDash val="solid"/>
          </a:ln>
        </p:spPr>
      </p:sp>
      <p:sp>
        <p:nvSpPr>
          <p:cNvPr id="9" name="Text 7"/>
          <p:cNvSpPr txBox="1"/>
          <p:nvPr/>
        </p:nvSpPr>
        <p:spPr>
          <a:xfrm>
            <a:off x="3563417" y="1847088"/>
            <a:ext cx="2249424" cy="274320"/>
          </a:xfrm>
          <a:prstGeom prst="rect">
            <a:avLst/>
          </a:prstGeom>
          <a:noFill/>
          <a:ln/>
        </p:spPr>
        <p:txBody>
          <a:bodyPr wrap="square" lIns="0" tIns="0" rIns="0" bIns="0" rtlCol="0" anchor="ctr"/>
          <a:lstStyle/>
          <a:p>
            <a:pPr marL="0" indent="0">
              <a:buNone/>
            </a:pPr>
            <a:r>
              <a:rPr lang="en-US" sz="1100" b="1" kern="0" spc="200" dirty="0">
                <a:solidFill>
                  <a:srgbClr val="7C9CFF"/>
                </a:solidFill>
                <a:latin typeface="Arial" pitchFamily="34" charset="0"/>
                <a:ea typeface="Arial" pitchFamily="34" charset="-122"/>
                <a:cs typeface="Arial" pitchFamily="34" charset="-120"/>
              </a:rPr>
              <a:t>02</a:t>
            </a:r>
            <a:endParaRPr lang="en-US" sz="1100" dirty="0"/>
          </a:p>
        </p:txBody>
      </p:sp>
      <p:sp>
        <p:nvSpPr>
          <p:cNvPr id="10" name="Text 8"/>
          <p:cNvSpPr txBox="1"/>
          <p:nvPr/>
        </p:nvSpPr>
        <p:spPr>
          <a:xfrm>
            <a:off x="3563417" y="2139696"/>
            <a:ext cx="2249424" cy="320040"/>
          </a:xfrm>
          <a:prstGeom prst="rect">
            <a:avLst/>
          </a:prstGeom>
          <a:noFill/>
          <a:ln/>
        </p:spPr>
        <p:txBody>
          <a:bodyPr wrap="square" lIns="0" tIns="0" rIns="0" bIns="0" rtlCol="0" anchor="t"/>
          <a:lstStyle/>
          <a:p>
            <a:pPr marL="0" indent="0">
              <a:buNone/>
            </a:pPr>
            <a:r>
              <a:rPr lang="en-US" sz="1500" b="1" dirty="0">
                <a:solidFill>
                  <a:srgbClr val="F5F7FA"/>
                </a:solidFill>
                <a:latin typeface="Calibri" pitchFamily="34" charset="0"/>
                <a:ea typeface="Calibri" pitchFamily="34" charset="-122"/>
                <a:cs typeface="Calibri" pitchFamily="34" charset="-120"/>
              </a:rPr>
              <a:t>mkcert *.local …</a:t>
            </a:r>
            <a:endParaRPr lang="en-US" sz="1500" dirty="0"/>
          </a:p>
        </p:txBody>
      </p:sp>
      <p:sp>
        <p:nvSpPr>
          <p:cNvPr id="11" name="Text 9"/>
          <p:cNvSpPr txBox="1"/>
          <p:nvPr/>
        </p:nvSpPr>
        <p:spPr>
          <a:xfrm>
            <a:off x="3563417" y="2523744"/>
            <a:ext cx="2249424" cy="1344168"/>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Certifikat för grafana.local, otel.local, faro.local m.fl. i C:\data\shared\certs.</a:t>
            </a:r>
            <a:endParaRPr lang="en-US" sz="1300" dirty="0"/>
          </a:p>
        </p:txBody>
      </p:sp>
      <p:sp>
        <p:nvSpPr>
          <p:cNvPr id="12" name="Shape 10"/>
          <p:cNvSpPr/>
          <p:nvPr/>
        </p:nvSpPr>
        <p:spPr>
          <a:xfrm>
            <a:off x="6175858" y="1645920"/>
            <a:ext cx="2651760" cy="2377440"/>
          </a:xfrm>
          <a:prstGeom prst="roundRect">
            <a:avLst>
              <a:gd name="adj" fmla="val 2308"/>
            </a:avLst>
          </a:prstGeom>
          <a:solidFill>
            <a:srgbClr val="16294A"/>
          </a:solidFill>
          <a:ln w="12700">
            <a:solidFill>
              <a:srgbClr val="16294A"/>
            </a:solidFill>
            <a:prstDash val="solid"/>
          </a:ln>
        </p:spPr>
      </p:sp>
      <p:sp>
        <p:nvSpPr>
          <p:cNvPr id="13" name="Text 11"/>
          <p:cNvSpPr txBox="1"/>
          <p:nvPr/>
        </p:nvSpPr>
        <p:spPr>
          <a:xfrm>
            <a:off x="6377026" y="1847088"/>
            <a:ext cx="2249424" cy="274320"/>
          </a:xfrm>
          <a:prstGeom prst="rect">
            <a:avLst/>
          </a:prstGeom>
          <a:noFill/>
          <a:ln/>
        </p:spPr>
        <p:txBody>
          <a:bodyPr wrap="square" lIns="0" tIns="0" rIns="0" bIns="0" rtlCol="0" anchor="ctr"/>
          <a:lstStyle/>
          <a:p>
            <a:pPr marL="0" indent="0">
              <a:buNone/>
            </a:pPr>
            <a:r>
              <a:rPr lang="en-US" sz="1100" b="1" kern="0" spc="200" dirty="0">
                <a:solidFill>
                  <a:srgbClr val="7C9CFF"/>
                </a:solidFill>
                <a:latin typeface="Arial" pitchFamily="34" charset="0"/>
                <a:ea typeface="Arial" pitchFamily="34" charset="-122"/>
                <a:cs typeface="Arial" pitchFamily="34" charset="-120"/>
              </a:rPr>
              <a:t>03</a:t>
            </a:r>
            <a:endParaRPr lang="en-US" sz="1100" dirty="0"/>
          </a:p>
        </p:txBody>
      </p:sp>
      <p:sp>
        <p:nvSpPr>
          <p:cNvPr id="14" name="Text 12"/>
          <p:cNvSpPr txBox="1"/>
          <p:nvPr/>
        </p:nvSpPr>
        <p:spPr>
          <a:xfrm>
            <a:off x="6377026" y="2139696"/>
            <a:ext cx="2249424" cy="320040"/>
          </a:xfrm>
          <a:prstGeom prst="rect">
            <a:avLst/>
          </a:prstGeom>
          <a:noFill/>
          <a:ln/>
        </p:spPr>
        <p:txBody>
          <a:bodyPr wrap="square" lIns="0" tIns="0" rIns="0" bIns="0" rtlCol="0" anchor="t"/>
          <a:lstStyle/>
          <a:p>
            <a:pPr marL="0" indent="0">
              <a:buNone/>
            </a:pPr>
            <a:r>
              <a:rPr lang="en-US" sz="1500" b="1" dirty="0">
                <a:solidFill>
                  <a:srgbClr val="F5F7FA"/>
                </a:solidFill>
                <a:latin typeface="Calibri" pitchFamily="34" charset="0"/>
                <a:ea typeface="Calibri" pitchFamily="34" charset="-122"/>
                <a:cs typeface="Calibri" pitchFamily="34" charset="-120"/>
              </a:rPr>
              <a:t>Secret i kube-system</a:t>
            </a:r>
            <a:endParaRPr lang="en-US" sz="1500" dirty="0"/>
          </a:p>
        </p:txBody>
      </p:sp>
      <p:sp>
        <p:nvSpPr>
          <p:cNvPr id="15" name="Text 13"/>
          <p:cNvSpPr txBox="1"/>
          <p:nvPr/>
        </p:nvSpPr>
        <p:spPr>
          <a:xfrm>
            <a:off x="6377026" y="2523744"/>
            <a:ext cx="2249424" cy="1344168"/>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kubectl create secret tls local-tls-secret - skriptet gör det om den saknas.</a:t>
            </a:r>
            <a:endParaRPr lang="en-US" sz="1300" dirty="0"/>
          </a:p>
        </p:txBody>
      </p:sp>
      <p:sp>
        <p:nvSpPr>
          <p:cNvPr id="16" name="Shape 14"/>
          <p:cNvSpPr/>
          <p:nvPr/>
        </p:nvSpPr>
        <p:spPr>
          <a:xfrm>
            <a:off x="8989466" y="1645920"/>
            <a:ext cx="2651760" cy="2377440"/>
          </a:xfrm>
          <a:prstGeom prst="roundRect">
            <a:avLst>
              <a:gd name="adj" fmla="val 2308"/>
            </a:avLst>
          </a:prstGeom>
          <a:solidFill>
            <a:srgbClr val="3762FF"/>
          </a:solidFill>
          <a:ln w="12700">
            <a:solidFill>
              <a:srgbClr val="3762FF"/>
            </a:solidFill>
            <a:prstDash val="solid"/>
          </a:ln>
        </p:spPr>
      </p:sp>
      <p:sp>
        <p:nvSpPr>
          <p:cNvPr id="17" name="Text 15"/>
          <p:cNvSpPr txBox="1"/>
          <p:nvPr/>
        </p:nvSpPr>
        <p:spPr>
          <a:xfrm>
            <a:off x="9190634" y="1847088"/>
            <a:ext cx="2249424" cy="274320"/>
          </a:xfrm>
          <a:prstGeom prst="rect">
            <a:avLst/>
          </a:prstGeom>
          <a:noFill/>
          <a:ln/>
        </p:spPr>
        <p:txBody>
          <a:bodyPr wrap="square" lIns="0" tIns="0" rIns="0" bIns="0" rtlCol="0" anchor="ctr"/>
          <a:lstStyle/>
          <a:p>
            <a:pPr marL="0" indent="0">
              <a:buNone/>
            </a:pPr>
            <a:r>
              <a:rPr lang="en-US" sz="1100" b="1" kern="0" spc="200" dirty="0">
                <a:solidFill>
                  <a:srgbClr val="FFFFFF"/>
                </a:solidFill>
                <a:latin typeface="Arial" pitchFamily="34" charset="0"/>
                <a:ea typeface="Arial" pitchFamily="34" charset="-122"/>
                <a:cs typeface="Arial" pitchFamily="34" charset="-120"/>
              </a:rPr>
              <a:t>04</a:t>
            </a:r>
            <a:endParaRPr lang="en-US" sz="1100" dirty="0"/>
          </a:p>
        </p:txBody>
      </p:sp>
      <p:sp>
        <p:nvSpPr>
          <p:cNvPr id="18" name="Text 16"/>
          <p:cNvSpPr txBox="1"/>
          <p:nvPr/>
        </p:nvSpPr>
        <p:spPr>
          <a:xfrm>
            <a:off x="9190634" y="2139696"/>
            <a:ext cx="2249424"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TLSStore default</a:t>
            </a:r>
            <a:endParaRPr lang="en-US" sz="1500" dirty="0"/>
          </a:p>
        </p:txBody>
      </p:sp>
      <p:sp>
        <p:nvSpPr>
          <p:cNvPr id="19" name="Text 17"/>
          <p:cNvSpPr txBox="1"/>
          <p:nvPr/>
        </p:nvSpPr>
        <p:spPr>
          <a:xfrm>
            <a:off x="9190634" y="2523744"/>
            <a:ext cx="2249424" cy="1344168"/>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Traefik använder certifikatet för ALLA HTTPS-ingresser som inte anger ett eget.</a:t>
            </a:r>
            <a:endParaRPr lang="en-US" sz="1300" dirty="0"/>
          </a:p>
        </p:txBody>
      </p:sp>
      <p:sp>
        <p:nvSpPr>
          <p:cNvPr id="20" name="Text 18"/>
          <p:cNvSpPr txBox="1"/>
          <p:nvPr/>
        </p:nvSpPr>
        <p:spPr>
          <a:xfrm>
            <a:off x="548640" y="4389120"/>
            <a:ext cx="11094415" cy="822960"/>
          </a:xfrm>
          <a:prstGeom prst="rect">
            <a:avLst/>
          </a:prstGeom>
          <a:noFill/>
          <a:ln/>
        </p:spPr>
        <p:txBody>
          <a:bodyPr wrap="square" lIns="0" tIns="0" rIns="0" bIns="0" rtlCol="0" anchor="t"/>
          <a:lstStyle/>
          <a:p>
            <a:pPr marL="0" indent="0">
              <a:lnSpc>
                <a:spcPct val="120000"/>
              </a:lnSpc>
              <a:buNone/>
            </a:pPr>
            <a:r>
              <a:rPr lang="en-US" sz="1500" dirty="0">
                <a:solidFill>
                  <a:srgbClr val="B9C4D1"/>
                </a:solidFill>
                <a:latin typeface="Arial" pitchFamily="34" charset="0"/>
                <a:ea typeface="Arial" pitchFamily="34" charset="-122"/>
                <a:cs typeface="Arial" pitchFamily="34" charset="-120"/>
              </a:rPr>
              <a:t>Därför behöver ingresserna i ingress.yaml bara ange tls.hosts - certifikatet ärver de från TLSStore. Ser du "TRAEFIK DEFAULT CERT" i webbläsaren ligger TLSStore eller hemligheten på fel ställe.</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INSTALLATION · KONTROLL</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Hosts-filen och första inloggningen</a:t>
            </a:r>
            <a:endParaRPr lang="en-US" sz="3000" dirty="0"/>
          </a:p>
        </p:txBody>
      </p:sp>
      <p:sp>
        <p:nvSpPr>
          <p:cNvPr id="4" name="Shape 2"/>
          <p:cNvSpPr/>
          <p:nvPr/>
        </p:nvSpPr>
        <p:spPr>
          <a:xfrm>
            <a:off x="548640" y="1554480"/>
            <a:ext cx="6766560" cy="2468880"/>
          </a:xfrm>
          <a:prstGeom prst="roundRect">
            <a:avLst>
              <a:gd name="adj" fmla="val 2222"/>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5760720"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hosts</a:t>
            </a:r>
            <a:endParaRPr lang="en-US" sz="1100" dirty="0"/>
          </a:p>
        </p:txBody>
      </p:sp>
      <p:sp>
        <p:nvSpPr>
          <p:cNvPr id="9" name="Text 7"/>
          <p:cNvSpPr txBox="1"/>
          <p:nvPr/>
        </p:nvSpPr>
        <p:spPr>
          <a:xfrm>
            <a:off x="777240" y="2011680"/>
            <a:ext cx="6309360" cy="1874520"/>
          </a:xfrm>
          <a:prstGeom prst="rect">
            <a:avLst/>
          </a:prstGeom>
          <a:noFill/>
          <a:ln/>
        </p:spPr>
        <p:txBody>
          <a:bodyPr wrap="square" lIns="0" tIns="0" rIns="0" bIns="0" rtlCol="0" anchor="t"/>
          <a:lstStyle/>
          <a:p>
            <a:pPr marL="0" indent="0">
              <a:lnSpc>
                <a:spcPct val="110000"/>
              </a:lnSpc>
              <a:buNone/>
            </a:pPr>
            <a:r>
              <a:rPr lang="en-US" sz="1300" i="1" dirty="0">
                <a:solidFill>
                  <a:srgbClr val="B9C4D1"/>
                </a:solidFill>
                <a:latin typeface="Courier New" pitchFamily="34" charset="0"/>
                <a:ea typeface="Courier New" pitchFamily="34" charset="-122"/>
                <a:cs typeface="Courier New" pitchFamily="34" charset="-120"/>
              </a:rPr>
              <a:t># C:\Windows\System32\drivers\etc\hosts</a:t>
            </a:r>
            <a:endParaRPr lang="en-US" sz="1300" dirty="0"/>
          </a:p>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127.0.0.1  grafana.local prometheus.local loki.local</a:t>
            </a:r>
            <a:endParaRPr lang="en-US" sz="1300" dirty="0"/>
          </a:p>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127.0.0.1  tempo.local otel.local otel-grpc.local faro.local</a:t>
            </a:r>
            <a:endParaRPr lang="en-US" sz="1300" dirty="0"/>
          </a:p>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127.0.0.1  telemetryapi.local customerclient.local</a:t>
            </a:r>
            <a:endParaRPr lang="en-US" sz="1300" dirty="0"/>
          </a:p>
        </p:txBody>
      </p:sp>
      <p:sp>
        <p:nvSpPr>
          <p:cNvPr id="10" name="Shape 8"/>
          <p:cNvSpPr/>
          <p:nvPr/>
        </p:nvSpPr>
        <p:spPr>
          <a:xfrm>
            <a:off x="548640" y="4206240"/>
            <a:ext cx="6766560" cy="1645920"/>
          </a:xfrm>
          <a:prstGeom prst="roundRect">
            <a:avLst>
              <a:gd name="adj" fmla="val 3333"/>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11" name="Shape 9"/>
          <p:cNvSpPr/>
          <p:nvPr/>
        </p:nvSpPr>
        <p:spPr>
          <a:xfrm>
            <a:off x="749808" y="4370832"/>
            <a:ext cx="109728" cy="109728"/>
          </a:xfrm>
          <a:prstGeom prst="ellipse">
            <a:avLst/>
          </a:prstGeom>
          <a:solidFill>
            <a:srgbClr val="D64545"/>
          </a:solidFill>
          <a:ln w="12700">
            <a:solidFill>
              <a:srgbClr val="D64545"/>
            </a:solidFill>
            <a:prstDash val="solid"/>
          </a:ln>
        </p:spPr>
      </p:sp>
      <p:sp>
        <p:nvSpPr>
          <p:cNvPr id="12" name="Shape 10"/>
          <p:cNvSpPr/>
          <p:nvPr/>
        </p:nvSpPr>
        <p:spPr>
          <a:xfrm>
            <a:off x="932688" y="4370832"/>
            <a:ext cx="109728" cy="109728"/>
          </a:xfrm>
          <a:prstGeom prst="ellipse">
            <a:avLst/>
          </a:prstGeom>
          <a:solidFill>
            <a:srgbClr val="FFB020"/>
          </a:solidFill>
          <a:ln w="12700">
            <a:solidFill>
              <a:srgbClr val="FFB020"/>
            </a:solidFill>
            <a:prstDash val="solid"/>
          </a:ln>
        </p:spPr>
      </p:sp>
      <p:sp>
        <p:nvSpPr>
          <p:cNvPr id="13" name="Shape 11"/>
          <p:cNvSpPr/>
          <p:nvPr/>
        </p:nvSpPr>
        <p:spPr>
          <a:xfrm>
            <a:off x="1115568" y="4370832"/>
            <a:ext cx="109728" cy="109728"/>
          </a:xfrm>
          <a:prstGeom prst="ellipse">
            <a:avLst/>
          </a:prstGeom>
          <a:solidFill>
            <a:srgbClr val="3CB371"/>
          </a:solidFill>
          <a:ln w="12700">
            <a:solidFill>
              <a:srgbClr val="3CB371"/>
            </a:solidFill>
            <a:prstDash val="solid"/>
          </a:ln>
        </p:spPr>
      </p:sp>
      <p:sp>
        <p:nvSpPr>
          <p:cNvPr id="14" name="Text 12"/>
          <p:cNvSpPr txBox="1"/>
          <p:nvPr/>
        </p:nvSpPr>
        <p:spPr>
          <a:xfrm>
            <a:off x="1371600" y="4297680"/>
            <a:ext cx="5760720"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webbläsaren</a:t>
            </a:r>
            <a:endParaRPr lang="en-US" sz="1100" dirty="0"/>
          </a:p>
        </p:txBody>
      </p:sp>
      <p:sp>
        <p:nvSpPr>
          <p:cNvPr id="15" name="Text 13"/>
          <p:cNvSpPr txBox="1"/>
          <p:nvPr/>
        </p:nvSpPr>
        <p:spPr>
          <a:xfrm>
            <a:off x="777240" y="4663440"/>
            <a:ext cx="6309360" cy="1051560"/>
          </a:xfrm>
          <a:prstGeom prst="rect">
            <a:avLst/>
          </a:prstGeom>
          <a:noFill/>
          <a:ln/>
        </p:spPr>
        <p:txBody>
          <a:bodyPr wrap="square" lIns="0" tIns="0" rIns="0" bIns="0" rtlCol="0" anchor="t"/>
          <a:lstStyle/>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https://grafana.local          # admin / admin</a:t>
            </a:r>
            <a:endParaRPr lang="en-US" sz="1300" dirty="0"/>
          </a:p>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https://prometheus.local       # Status -&gt; Targets</a:t>
            </a:r>
            <a:endParaRPr lang="en-US" sz="1300" dirty="0"/>
          </a:p>
        </p:txBody>
      </p:sp>
      <p:sp>
        <p:nvSpPr>
          <p:cNvPr id="16" name="Shape 14"/>
          <p:cNvSpPr/>
          <p:nvPr/>
        </p:nvSpPr>
        <p:spPr>
          <a:xfrm>
            <a:off x="7680960" y="1554480"/>
            <a:ext cx="3962095" cy="1325880"/>
          </a:xfrm>
          <a:prstGeom prst="roundRect">
            <a:avLst>
              <a:gd name="adj" fmla="val 4138"/>
            </a:avLst>
          </a:prstGeom>
          <a:solidFill>
            <a:srgbClr val="3762FF"/>
          </a:solidFill>
          <a:ln w="12700">
            <a:solidFill>
              <a:srgbClr val="3762FF"/>
            </a:solidFill>
            <a:prstDash val="solid"/>
          </a:ln>
        </p:spPr>
      </p:sp>
      <p:sp>
        <p:nvSpPr>
          <p:cNvPr id="17" name="Text 15"/>
          <p:cNvSpPr txBox="1"/>
          <p:nvPr/>
        </p:nvSpPr>
        <p:spPr>
          <a:xfrm>
            <a:off x="7882128" y="1755648"/>
            <a:ext cx="3559759"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Datakällor klara</a:t>
            </a:r>
            <a:endParaRPr lang="en-US" sz="1400" dirty="0"/>
          </a:p>
        </p:txBody>
      </p:sp>
      <p:sp>
        <p:nvSpPr>
          <p:cNvPr id="18" name="Text 16"/>
          <p:cNvSpPr txBox="1"/>
          <p:nvPr/>
        </p:nvSpPr>
        <p:spPr>
          <a:xfrm>
            <a:off x="7882128" y="2139696"/>
            <a:ext cx="3559759" cy="585216"/>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Prometheus, Loki och Tempo finns redan i Grafana.</a:t>
            </a:r>
            <a:endParaRPr lang="en-US" sz="1200" dirty="0"/>
          </a:p>
        </p:txBody>
      </p:sp>
      <p:sp>
        <p:nvSpPr>
          <p:cNvPr id="19" name="Shape 17"/>
          <p:cNvSpPr/>
          <p:nvPr/>
        </p:nvSpPr>
        <p:spPr>
          <a:xfrm>
            <a:off x="7680960" y="3017520"/>
            <a:ext cx="3962095" cy="132588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0" name="Text 18"/>
          <p:cNvSpPr txBox="1"/>
          <p:nvPr/>
        </p:nvSpPr>
        <p:spPr>
          <a:xfrm>
            <a:off x="7882128" y="3218688"/>
            <a:ext cx="3559759"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Targets</a:t>
            </a:r>
            <a:endParaRPr lang="en-US" sz="1400" dirty="0"/>
          </a:p>
        </p:txBody>
      </p:sp>
      <p:sp>
        <p:nvSpPr>
          <p:cNvPr id="21" name="Text 19"/>
          <p:cNvSpPr txBox="1"/>
          <p:nvPr/>
        </p:nvSpPr>
        <p:spPr>
          <a:xfrm>
            <a:off x="7882128" y="3602736"/>
            <a:ext cx="3559759" cy="58521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otel-collector ska synas som UP i Prometheus.</a:t>
            </a:r>
            <a:endParaRPr lang="en-US" sz="1200" dirty="0"/>
          </a:p>
        </p:txBody>
      </p:sp>
      <p:sp>
        <p:nvSpPr>
          <p:cNvPr id="22" name="Shape 20"/>
          <p:cNvSpPr/>
          <p:nvPr/>
        </p:nvSpPr>
        <p:spPr>
          <a:xfrm>
            <a:off x="7680960" y="4480560"/>
            <a:ext cx="3962095" cy="1371600"/>
          </a:xfrm>
          <a:prstGeom prst="roundRect">
            <a:avLst>
              <a:gd name="adj" fmla="val 4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3" name="Text 21"/>
          <p:cNvSpPr txBox="1"/>
          <p:nvPr/>
        </p:nvSpPr>
        <p:spPr>
          <a:xfrm>
            <a:off x="7882128" y="4681728"/>
            <a:ext cx="3559759"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Två nya namn</a:t>
            </a:r>
            <a:endParaRPr lang="en-US" sz="1400" dirty="0"/>
          </a:p>
        </p:txBody>
      </p:sp>
      <p:sp>
        <p:nvSpPr>
          <p:cNvPr id="24" name="Text 22"/>
          <p:cNvSpPr txBox="1"/>
          <p:nvPr/>
        </p:nvSpPr>
        <p:spPr>
          <a:xfrm>
            <a:off x="7882128" y="5065776"/>
            <a:ext cx="3559759" cy="63093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telemetryapi.local och customerclient.local - ikvällens appar.</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marL="0" indent="0">
              <a:buNone/>
            </a:pPr>
            <a:r>
              <a:rPr lang="en-US" sz="15000" b="1" dirty="0">
                <a:solidFill>
                  <a:srgbClr val="16294A"/>
                </a:solidFill>
                <a:latin typeface="Calibri" pitchFamily="34" charset="0"/>
                <a:ea typeface="Calibri" pitchFamily="34" charset="-122"/>
                <a:cs typeface="Calibri" pitchFamily="34" charset="-120"/>
              </a:rPr>
              <a:t>05</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marL="0" indent="0">
              <a:buNone/>
            </a:pPr>
            <a:r>
              <a:rPr lang="en-US" sz="5200" b="1" dirty="0">
                <a:solidFill>
                  <a:srgbClr val="F5F7FA"/>
                </a:solidFill>
                <a:latin typeface="Calibri" pitchFamily="34" charset="0"/>
                <a:ea typeface="Calibri" pitchFamily="34" charset="-122"/>
                <a:cs typeface="Calibri" pitchFamily="34" charset="-120"/>
              </a:rPr>
              <a:t>TelemetryApi</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marL="0" indent="0">
              <a:lnSpc>
                <a:spcPct val="120000"/>
              </a:lnSpc>
              <a:buNone/>
            </a:pPr>
            <a:r>
              <a:rPr lang="en-US" sz="1800" dirty="0">
                <a:solidFill>
                  <a:srgbClr val="B9C4D1"/>
                </a:solidFill>
                <a:latin typeface="Arial" pitchFamily="34" charset="0"/>
                <a:ea typeface="Arial" pitchFamily="34" charset="-122"/>
                <a:cs typeface="Arial" pitchFamily="34" charset="-120"/>
              </a:rPr>
              <a:t>Ett enkelt CRUD-API i .NET - med telemetrin i centrum</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TELEMETRYAPI · ÖVERSIKT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CRUD för Customer - ingen CQRS</a:t>
            </a:r>
            <a:endParaRPr lang="en-US" sz="3000" dirty="0"/>
          </a:p>
        </p:txBody>
      </p:sp>
      <p:sp>
        <p:nvSpPr>
          <p:cNvPr id="4" name="Shape 2"/>
          <p:cNvSpPr/>
          <p:nvPr/>
        </p:nvSpPr>
        <p:spPr>
          <a:xfrm>
            <a:off x="548640" y="1645920"/>
            <a:ext cx="2286000" cy="822960"/>
          </a:xfrm>
          <a:prstGeom prst="roundRect">
            <a:avLst>
              <a:gd name="adj" fmla="val 666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5" name="Text 3"/>
          <p:cNvSpPr txBox="1"/>
          <p:nvPr/>
        </p:nvSpPr>
        <p:spPr>
          <a:xfrm>
            <a:off x="640080" y="1645920"/>
            <a:ext cx="2103120" cy="822960"/>
          </a:xfrm>
          <a:prstGeom prst="rect">
            <a:avLst/>
          </a:prstGeom>
          <a:noFill/>
          <a:ln/>
        </p:spPr>
        <p:txBody>
          <a:bodyPr wrap="square" lIns="0" tIns="0" rIns="0" bIns="0" rtlCol="0" anchor="ctr"/>
          <a:lstStyle/>
          <a:p>
            <a:pPr marL="0" indent="0" algn="ctr">
              <a:buNone/>
            </a:pPr>
            <a:r>
              <a:rPr lang="en-US" sz="1500" b="1" dirty="0">
                <a:solidFill>
                  <a:srgbClr val="16202B"/>
                </a:solidFill>
                <a:latin typeface="Calibri" pitchFamily="34" charset="0"/>
                <a:ea typeface="Calibri" pitchFamily="34" charset="-122"/>
                <a:cs typeface="Calibri" pitchFamily="34" charset="-120"/>
              </a:rPr>
              <a:t>CustomerClient</a:t>
            </a:r>
            <a:endParaRPr lang="en-US" sz="1500" dirty="0"/>
          </a:p>
        </p:txBody>
      </p:sp>
      <p:sp>
        <p:nvSpPr>
          <p:cNvPr id="6" name="Shape 4"/>
          <p:cNvSpPr/>
          <p:nvPr/>
        </p:nvSpPr>
        <p:spPr>
          <a:xfrm>
            <a:off x="2880360" y="2057400"/>
            <a:ext cx="457200" cy="0"/>
          </a:xfrm>
          <a:prstGeom prst="line">
            <a:avLst/>
          </a:prstGeom>
          <a:noFill/>
          <a:ln w="19050">
            <a:solidFill>
              <a:srgbClr val="3762FF"/>
            </a:solidFill>
            <a:prstDash val="solid"/>
            <a:tailEnd type="triangle"/>
          </a:ln>
        </p:spPr>
      </p:sp>
      <p:sp>
        <p:nvSpPr>
          <p:cNvPr id="7" name="Shape 5"/>
          <p:cNvSpPr/>
          <p:nvPr/>
        </p:nvSpPr>
        <p:spPr>
          <a:xfrm>
            <a:off x="3383280" y="1645920"/>
            <a:ext cx="2286000" cy="822960"/>
          </a:xfrm>
          <a:prstGeom prst="roundRect">
            <a:avLst>
              <a:gd name="adj" fmla="val 6667"/>
            </a:avLst>
          </a:prstGeom>
          <a:solidFill>
            <a:srgbClr val="3762FF"/>
          </a:solidFill>
          <a:ln w="12700">
            <a:solidFill>
              <a:srgbClr val="3762FF"/>
            </a:solidFill>
            <a:prstDash val="solid"/>
          </a:ln>
          <a:effectLst>
            <a:outerShdw blurRad="101600" dist="25400" dir="5400000" algn="bl" rotWithShape="0">
              <a:srgbClr val="000000">
                <a:alpha val="10000"/>
              </a:srgbClr>
            </a:outerShdw>
          </a:effectLst>
        </p:spPr>
      </p:sp>
      <p:sp>
        <p:nvSpPr>
          <p:cNvPr id="8" name="Text 6"/>
          <p:cNvSpPr txBox="1"/>
          <p:nvPr/>
        </p:nvSpPr>
        <p:spPr>
          <a:xfrm>
            <a:off x="3474720" y="1645920"/>
            <a:ext cx="2103120" cy="8229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TelemetryApi</a:t>
            </a:r>
            <a:endParaRPr lang="en-US" sz="1500" dirty="0"/>
          </a:p>
        </p:txBody>
      </p:sp>
      <p:sp>
        <p:nvSpPr>
          <p:cNvPr id="9" name="Shape 7"/>
          <p:cNvSpPr/>
          <p:nvPr/>
        </p:nvSpPr>
        <p:spPr>
          <a:xfrm>
            <a:off x="5715000" y="2057400"/>
            <a:ext cx="457200" cy="0"/>
          </a:xfrm>
          <a:prstGeom prst="line">
            <a:avLst/>
          </a:prstGeom>
          <a:noFill/>
          <a:ln w="19050">
            <a:solidFill>
              <a:srgbClr val="3762FF"/>
            </a:solidFill>
            <a:prstDash val="solid"/>
            <a:tailEnd type="triangle"/>
          </a:ln>
        </p:spPr>
      </p:sp>
      <p:sp>
        <p:nvSpPr>
          <p:cNvPr id="10" name="Shape 8"/>
          <p:cNvSpPr/>
          <p:nvPr/>
        </p:nvSpPr>
        <p:spPr>
          <a:xfrm>
            <a:off x="6217920" y="1645920"/>
            <a:ext cx="2286000" cy="822960"/>
          </a:xfrm>
          <a:prstGeom prst="roundRect">
            <a:avLst>
              <a:gd name="adj" fmla="val 666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6309360" y="1645920"/>
            <a:ext cx="2103120" cy="822960"/>
          </a:xfrm>
          <a:prstGeom prst="rect">
            <a:avLst/>
          </a:prstGeom>
          <a:noFill/>
          <a:ln/>
        </p:spPr>
        <p:txBody>
          <a:bodyPr wrap="square" lIns="0" tIns="0" rIns="0" bIns="0" rtlCol="0" anchor="ctr"/>
          <a:lstStyle/>
          <a:p>
            <a:pPr marL="0" indent="0" algn="ctr">
              <a:buNone/>
            </a:pPr>
            <a:r>
              <a:rPr lang="en-US" sz="1500" b="1" dirty="0">
                <a:solidFill>
                  <a:srgbClr val="16202B"/>
                </a:solidFill>
                <a:latin typeface="Calibri" pitchFamily="34" charset="0"/>
                <a:ea typeface="Calibri" pitchFamily="34" charset="-122"/>
                <a:cs typeface="Calibri" pitchFamily="34" charset="-120"/>
              </a:rPr>
              <a:t>EF Core</a:t>
            </a:r>
            <a:endParaRPr lang="en-US" sz="1500" dirty="0"/>
          </a:p>
        </p:txBody>
      </p:sp>
      <p:sp>
        <p:nvSpPr>
          <p:cNvPr id="12" name="Shape 10"/>
          <p:cNvSpPr/>
          <p:nvPr/>
        </p:nvSpPr>
        <p:spPr>
          <a:xfrm>
            <a:off x="8549640" y="2057400"/>
            <a:ext cx="457200" cy="0"/>
          </a:xfrm>
          <a:prstGeom prst="line">
            <a:avLst/>
          </a:prstGeom>
          <a:noFill/>
          <a:ln w="19050">
            <a:solidFill>
              <a:srgbClr val="3762FF"/>
            </a:solidFill>
            <a:prstDash val="solid"/>
            <a:tailEnd type="triangle"/>
          </a:ln>
        </p:spPr>
      </p:sp>
      <p:sp>
        <p:nvSpPr>
          <p:cNvPr id="13" name="Shape 11"/>
          <p:cNvSpPr/>
          <p:nvPr/>
        </p:nvSpPr>
        <p:spPr>
          <a:xfrm>
            <a:off x="9052560" y="1645920"/>
            <a:ext cx="2286000" cy="822960"/>
          </a:xfrm>
          <a:prstGeom prst="roundRect">
            <a:avLst>
              <a:gd name="adj" fmla="val 666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9144000" y="1645920"/>
            <a:ext cx="2103120" cy="822960"/>
          </a:xfrm>
          <a:prstGeom prst="rect">
            <a:avLst/>
          </a:prstGeom>
          <a:noFill/>
          <a:ln/>
        </p:spPr>
        <p:txBody>
          <a:bodyPr wrap="square" lIns="0" tIns="0" rIns="0" bIns="0" rtlCol="0" anchor="ctr"/>
          <a:lstStyle/>
          <a:p>
            <a:pPr marL="0" indent="0" algn="ctr">
              <a:buNone/>
            </a:pPr>
            <a:r>
              <a:rPr lang="en-US" sz="1500" b="1" dirty="0">
                <a:solidFill>
                  <a:srgbClr val="16202B"/>
                </a:solidFill>
                <a:latin typeface="Calibri" pitchFamily="34" charset="0"/>
                <a:ea typeface="Calibri" pitchFamily="34" charset="-122"/>
                <a:cs typeface="Calibri" pitchFamily="34" charset="-120"/>
              </a:rPr>
              <a:t>MySQL</a:t>
            </a:r>
            <a:endParaRPr lang="en-US" sz="1500" dirty="0"/>
          </a:p>
        </p:txBody>
      </p:sp>
      <p:sp>
        <p:nvSpPr>
          <p:cNvPr id="15" name="Shape 13"/>
          <p:cNvSpPr/>
          <p:nvPr/>
        </p:nvSpPr>
        <p:spPr>
          <a:xfrm>
            <a:off x="548640" y="2834640"/>
            <a:ext cx="11094415" cy="512064"/>
          </a:xfrm>
          <a:prstGeom prst="roundRect">
            <a:avLst>
              <a:gd name="adj" fmla="val 89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6" name="Text 14"/>
          <p:cNvSpPr txBox="1"/>
          <p:nvPr/>
        </p:nvSpPr>
        <p:spPr>
          <a:xfrm>
            <a:off x="731520" y="2834640"/>
            <a:ext cx="4206240" cy="512064"/>
          </a:xfrm>
          <a:prstGeom prst="rect">
            <a:avLst/>
          </a:prstGeom>
          <a:noFill/>
          <a:ln/>
        </p:spPr>
        <p:txBody>
          <a:bodyPr wrap="square" lIns="0" tIns="0" rIns="0" bIns="0" rtlCol="0" anchor="ctr"/>
          <a:lstStyle/>
          <a:p>
            <a:pPr marL="0" indent="0">
              <a:buNone/>
            </a:pPr>
            <a:r>
              <a:rPr lang="en-US" sz="1250" b="1" dirty="0">
                <a:solidFill>
                  <a:srgbClr val="16202B"/>
                </a:solidFill>
                <a:latin typeface="Courier New" pitchFamily="34" charset="0"/>
                <a:ea typeface="Courier New" pitchFamily="34" charset="-122"/>
                <a:cs typeface="Courier New" pitchFamily="34" charset="-120"/>
              </a:rPr>
              <a:t>Telemetry/TelemetryExtensions.cs</a:t>
            </a:r>
            <a:endParaRPr lang="en-US" sz="1250" dirty="0"/>
          </a:p>
        </p:txBody>
      </p:sp>
      <p:sp>
        <p:nvSpPr>
          <p:cNvPr id="17" name="Text 15"/>
          <p:cNvSpPr txBox="1"/>
          <p:nvPr/>
        </p:nvSpPr>
        <p:spPr>
          <a:xfrm>
            <a:off x="5120640" y="2834640"/>
            <a:ext cx="6339535" cy="512064"/>
          </a:xfrm>
          <a:prstGeom prst="rect">
            <a:avLst/>
          </a:prstGeom>
          <a:noFill/>
          <a:ln/>
        </p:spPr>
        <p:txBody>
          <a:bodyPr wrap="square" lIns="0" tIns="0" rIns="0" bIns="0" rtlCol="0" anchor="ctr"/>
          <a:lstStyle/>
          <a:p>
            <a:pPr marL="0" indent="0">
              <a:buNone/>
            </a:pPr>
            <a:r>
              <a:rPr lang="en-US" sz="1300" dirty="0">
                <a:solidFill>
                  <a:srgbClr val="4A5568"/>
                </a:solidFill>
                <a:latin typeface="Arial" pitchFamily="34" charset="0"/>
                <a:ea typeface="Arial" pitchFamily="34" charset="-122"/>
                <a:cs typeface="Arial" pitchFamily="34" charset="-120"/>
              </a:rPr>
              <a:t>AddOpenTelemetry() - all konfiguration på ett ställe</a:t>
            </a:r>
            <a:endParaRPr lang="en-US" sz="1300" dirty="0"/>
          </a:p>
        </p:txBody>
      </p:sp>
      <p:sp>
        <p:nvSpPr>
          <p:cNvPr id="18" name="Shape 16"/>
          <p:cNvSpPr/>
          <p:nvPr/>
        </p:nvSpPr>
        <p:spPr>
          <a:xfrm>
            <a:off x="548640" y="3438144"/>
            <a:ext cx="11094415" cy="512064"/>
          </a:xfrm>
          <a:prstGeom prst="roundRect">
            <a:avLst>
              <a:gd name="adj" fmla="val 89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9" name="Text 17"/>
          <p:cNvSpPr txBox="1"/>
          <p:nvPr/>
        </p:nvSpPr>
        <p:spPr>
          <a:xfrm>
            <a:off x="731520" y="3438144"/>
            <a:ext cx="4206240" cy="512064"/>
          </a:xfrm>
          <a:prstGeom prst="rect">
            <a:avLst/>
          </a:prstGeom>
          <a:noFill/>
          <a:ln/>
        </p:spPr>
        <p:txBody>
          <a:bodyPr wrap="square" lIns="0" tIns="0" rIns="0" bIns="0" rtlCol="0" anchor="ctr"/>
          <a:lstStyle/>
          <a:p>
            <a:pPr marL="0" indent="0">
              <a:buNone/>
            </a:pPr>
            <a:r>
              <a:rPr lang="en-US" sz="1250" b="1" dirty="0">
                <a:solidFill>
                  <a:srgbClr val="16202B"/>
                </a:solidFill>
                <a:latin typeface="Courier New" pitchFamily="34" charset="0"/>
                <a:ea typeface="Courier New" pitchFamily="34" charset="-122"/>
                <a:cs typeface="Courier New" pitchFamily="34" charset="-120"/>
              </a:rPr>
              <a:t>Telemetry/CustomerTelemetry.cs</a:t>
            </a:r>
            <a:endParaRPr lang="en-US" sz="1250" dirty="0"/>
          </a:p>
        </p:txBody>
      </p:sp>
      <p:sp>
        <p:nvSpPr>
          <p:cNvPr id="20" name="Text 18"/>
          <p:cNvSpPr txBox="1"/>
          <p:nvPr/>
        </p:nvSpPr>
        <p:spPr>
          <a:xfrm>
            <a:off x="5120640" y="3438144"/>
            <a:ext cx="6339535" cy="512064"/>
          </a:xfrm>
          <a:prstGeom prst="rect">
            <a:avLst/>
          </a:prstGeom>
          <a:noFill/>
          <a:ln/>
        </p:spPr>
        <p:txBody>
          <a:bodyPr wrap="square" lIns="0" tIns="0" rIns="0" bIns="0" rtlCol="0" anchor="ctr"/>
          <a:lstStyle/>
          <a:p>
            <a:pPr marL="0" indent="0">
              <a:buNone/>
            </a:pPr>
            <a:r>
              <a:rPr lang="en-US" sz="1300" dirty="0">
                <a:solidFill>
                  <a:srgbClr val="4A5568"/>
                </a:solidFill>
                <a:latin typeface="Arial" pitchFamily="34" charset="0"/>
                <a:ea typeface="Arial" pitchFamily="34" charset="-122"/>
                <a:cs typeface="Arial" pitchFamily="34" charset="-120"/>
              </a:rPr>
              <a:t>Egen ActivitySource och Meter</a:t>
            </a:r>
            <a:endParaRPr lang="en-US" sz="1300" dirty="0"/>
          </a:p>
        </p:txBody>
      </p:sp>
      <p:sp>
        <p:nvSpPr>
          <p:cNvPr id="21" name="Shape 19"/>
          <p:cNvSpPr/>
          <p:nvPr/>
        </p:nvSpPr>
        <p:spPr>
          <a:xfrm>
            <a:off x="548640" y="4041648"/>
            <a:ext cx="11094415" cy="512064"/>
          </a:xfrm>
          <a:prstGeom prst="roundRect">
            <a:avLst>
              <a:gd name="adj" fmla="val 89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2" name="Text 20"/>
          <p:cNvSpPr txBox="1"/>
          <p:nvPr/>
        </p:nvSpPr>
        <p:spPr>
          <a:xfrm>
            <a:off x="731520" y="4041648"/>
            <a:ext cx="4206240" cy="512064"/>
          </a:xfrm>
          <a:prstGeom prst="rect">
            <a:avLst/>
          </a:prstGeom>
          <a:noFill/>
          <a:ln/>
        </p:spPr>
        <p:txBody>
          <a:bodyPr wrap="square" lIns="0" tIns="0" rIns="0" bIns="0" rtlCol="0" anchor="ctr"/>
          <a:lstStyle/>
          <a:p>
            <a:pPr marL="0" indent="0">
              <a:buNone/>
            </a:pPr>
            <a:r>
              <a:rPr lang="en-US" sz="1250" b="1" dirty="0">
                <a:solidFill>
                  <a:srgbClr val="16202B"/>
                </a:solidFill>
                <a:latin typeface="Courier New" pitchFamily="34" charset="0"/>
                <a:ea typeface="Courier New" pitchFamily="34" charset="-122"/>
                <a:cs typeface="Courier New" pitchFamily="34" charset="-120"/>
              </a:rPr>
              <a:t>Customers/CustomerEndpoints.cs</a:t>
            </a:r>
            <a:endParaRPr lang="en-US" sz="1250" dirty="0"/>
          </a:p>
        </p:txBody>
      </p:sp>
      <p:sp>
        <p:nvSpPr>
          <p:cNvPr id="23" name="Text 21"/>
          <p:cNvSpPr txBox="1"/>
          <p:nvPr/>
        </p:nvSpPr>
        <p:spPr>
          <a:xfrm>
            <a:off x="5120640" y="4041648"/>
            <a:ext cx="6339535" cy="512064"/>
          </a:xfrm>
          <a:prstGeom prst="rect">
            <a:avLst/>
          </a:prstGeom>
          <a:noFill/>
          <a:ln/>
        </p:spPr>
        <p:txBody>
          <a:bodyPr wrap="square" lIns="0" tIns="0" rIns="0" bIns="0" rtlCol="0" anchor="ctr"/>
          <a:lstStyle/>
          <a:p>
            <a:pPr marL="0" indent="0">
              <a:buNone/>
            </a:pPr>
            <a:r>
              <a:rPr lang="en-US" sz="1300" dirty="0">
                <a:solidFill>
                  <a:srgbClr val="4A5568"/>
                </a:solidFill>
                <a:latin typeface="Arial" pitchFamily="34" charset="0"/>
                <a:ea typeface="Arial" pitchFamily="34" charset="-122"/>
                <a:cs typeface="Arial" pitchFamily="34" charset="-120"/>
              </a:rPr>
              <a:t>CRUD, strukturerade loggar, taggar, eget span</a:t>
            </a:r>
            <a:endParaRPr lang="en-US" sz="1300" dirty="0"/>
          </a:p>
        </p:txBody>
      </p:sp>
      <p:sp>
        <p:nvSpPr>
          <p:cNvPr id="24" name="Shape 22"/>
          <p:cNvSpPr/>
          <p:nvPr/>
        </p:nvSpPr>
        <p:spPr>
          <a:xfrm>
            <a:off x="548640" y="4645152"/>
            <a:ext cx="11094415" cy="512064"/>
          </a:xfrm>
          <a:prstGeom prst="roundRect">
            <a:avLst>
              <a:gd name="adj" fmla="val 89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5" name="Text 23"/>
          <p:cNvSpPr txBox="1"/>
          <p:nvPr/>
        </p:nvSpPr>
        <p:spPr>
          <a:xfrm>
            <a:off x="731520" y="4645152"/>
            <a:ext cx="4206240" cy="512064"/>
          </a:xfrm>
          <a:prstGeom prst="rect">
            <a:avLst/>
          </a:prstGeom>
          <a:noFill/>
          <a:ln/>
        </p:spPr>
        <p:txBody>
          <a:bodyPr wrap="square" lIns="0" tIns="0" rIns="0" bIns="0" rtlCol="0" anchor="ctr"/>
          <a:lstStyle/>
          <a:p>
            <a:pPr marL="0" indent="0">
              <a:buNone/>
            </a:pPr>
            <a:r>
              <a:rPr lang="en-US" sz="1250" b="1" dirty="0">
                <a:solidFill>
                  <a:srgbClr val="16202B"/>
                </a:solidFill>
                <a:latin typeface="Courier New" pitchFamily="34" charset="0"/>
                <a:ea typeface="Courier New" pitchFamily="34" charset="-122"/>
                <a:cs typeface="Courier New" pitchFamily="34" charset="-120"/>
              </a:rPr>
              <a:t>Demo/DemoEndpoints.cs</a:t>
            </a:r>
            <a:endParaRPr lang="en-US" sz="1250" dirty="0"/>
          </a:p>
        </p:txBody>
      </p:sp>
      <p:sp>
        <p:nvSpPr>
          <p:cNvPr id="26" name="Text 24"/>
          <p:cNvSpPr txBox="1"/>
          <p:nvPr/>
        </p:nvSpPr>
        <p:spPr>
          <a:xfrm>
            <a:off x="5120640" y="4645152"/>
            <a:ext cx="6339535" cy="512064"/>
          </a:xfrm>
          <a:prstGeom prst="rect">
            <a:avLst/>
          </a:prstGeom>
          <a:noFill/>
          <a:ln/>
        </p:spPr>
        <p:txBody>
          <a:bodyPr wrap="square" lIns="0" tIns="0" rIns="0" bIns="0" rtlCol="0" anchor="ctr"/>
          <a:lstStyle/>
          <a:p>
            <a:pPr marL="0" indent="0">
              <a:buNone/>
            </a:pPr>
            <a:r>
              <a:rPr lang="en-US" sz="1300" dirty="0">
                <a:solidFill>
                  <a:srgbClr val="4A5568"/>
                </a:solidFill>
                <a:latin typeface="Arial" pitchFamily="34" charset="0"/>
                <a:ea typeface="Arial" pitchFamily="34" charset="-122"/>
                <a:cs typeface="Arial" pitchFamily="34" charset="-120"/>
              </a:rPr>
              <a:t>/demo/slow och /demo/error - något att titta på</a:t>
            </a:r>
            <a:endParaRPr lang="en-US" sz="1300" dirty="0"/>
          </a:p>
        </p:txBody>
      </p:sp>
      <p:sp>
        <p:nvSpPr>
          <p:cNvPr id="27" name="Shape 25"/>
          <p:cNvSpPr/>
          <p:nvPr/>
        </p:nvSpPr>
        <p:spPr>
          <a:xfrm>
            <a:off x="548640" y="5248656"/>
            <a:ext cx="11094415" cy="512064"/>
          </a:xfrm>
          <a:prstGeom prst="roundRect">
            <a:avLst>
              <a:gd name="adj" fmla="val 89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8" name="Text 26"/>
          <p:cNvSpPr txBox="1"/>
          <p:nvPr/>
        </p:nvSpPr>
        <p:spPr>
          <a:xfrm>
            <a:off x="731520" y="5248656"/>
            <a:ext cx="4206240" cy="512064"/>
          </a:xfrm>
          <a:prstGeom prst="rect">
            <a:avLst/>
          </a:prstGeom>
          <a:noFill/>
          <a:ln/>
        </p:spPr>
        <p:txBody>
          <a:bodyPr wrap="square" lIns="0" tIns="0" rIns="0" bIns="0" rtlCol="0" anchor="ctr"/>
          <a:lstStyle/>
          <a:p>
            <a:pPr marL="0" indent="0">
              <a:buNone/>
            </a:pPr>
            <a:r>
              <a:rPr lang="en-US" sz="1250" b="1" dirty="0">
                <a:solidFill>
                  <a:srgbClr val="16202B"/>
                </a:solidFill>
                <a:latin typeface="Courier New" pitchFamily="34" charset="0"/>
                <a:ea typeface="Courier New" pitchFamily="34" charset="-122"/>
                <a:cs typeface="Courier New" pitchFamily="34" charset="-120"/>
              </a:rPr>
              <a:t>charts/telemetry-api</a:t>
            </a:r>
            <a:endParaRPr lang="en-US" sz="1250" dirty="0"/>
          </a:p>
        </p:txBody>
      </p:sp>
      <p:sp>
        <p:nvSpPr>
          <p:cNvPr id="29" name="Text 27"/>
          <p:cNvSpPr txBox="1"/>
          <p:nvPr/>
        </p:nvSpPr>
        <p:spPr>
          <a:xfrm>
            <a:off x="5120640" y="5248656"/>
            <a:ext cx="6339535" cy="512064"/>
          </a:xfrm>
          <a:prstGeom prst="rect">
            <a:avLst/>
          </a:prstGeom>
          <a:noFill/>
          <a:ln/>
        </p:spPr>
        <p:txBody>
          <a:bodyPr wrap="square" lIns="0" tIns="0" rIns="0" bIns="0" rtlCol="0" anchor="ctr"/>
          <a:lstStyle/>
          <a:p>
            <a:pPr marL="0" indent="0">
              <a:buNone/>
            </a:pPr>
            <a:r>
              <a:rPr lang="en-US" sz="1300" dirty="0">
                <a:solidFill>
                  <a:srgbClr val="4A5568"/>
                </a:solidFill>
                <a:latin typeface="Arial" pitchFamily="34" charset="0"/>
                <a:ea typeface="Arial" pitchFamily="34" charset="-122"/>
                <a:cs typeface="Arial" pitchFamily="34" charset="-120"/>
              </a:rPr>
              <a:t>OTEL_*-miljövariabler från Helm-values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TELEMETRYAPI · NUGET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Sex paket - två grund, fyra instrumentering</a:t>
            </a:r>
            <a:endParaRPr lang="en-US" sz="3000" dirty="0"/>
          </a:p>
        </p:txBody>
      </p:sp>
      <p:sp>
        <p:nvSpPr>
          <p:cNvPr id="4" name="Shape 2"/>
          <p:cNvSpPr/>
          <p:nvPr/>
        </p:nvSpPr>
        <p:spPr>
          <a:xfrm>
            <a:off x="548640" y="1554480"/>
            <a:ext cx="6949440" cy="3291840"/>
          </a:xfrm>
          <a:prstGeom prst="roundRect">
            <a:avLst>
              <a:gd name="adj" fmla="val 1667"/>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5943600"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TelemetryApi.csproj (förkortad)</a:t>
            </a:r>
            <a:endParaRPr lang="en-US" sz="1100" dirty="0"/>
          </a:p>
        </p:txBody>
      </p:sp>
      <p:sp>
        <p:nvSpPr>
          <p:cNvPr id="9" name="Text 7"/>
          <p:cNvSpPr txBox="1"/>
          <p:nvPr/>
        </p:nvSpPr>
        <p:spPr>
          <a:xfrm>
            <a:off x="777240" y="2011680"/>
            <a:ext cx="6492240" cy="2697480"/>
          </a:xfrm>
          <a:prstGeom prst="rect">
            <a:avLst/>
          </a:prstGeom>
          <a:noFill/>
          <a:ln/>
        </p:spPr>
        <p:txBody>
          <a:bodyPr wrap="square" lIns="0" tIns="0" rIns="0" bIns="0" rtlCol="0" anchor="t"/>
          <a:lstStyle/>
          <a:p>
            <a:pPr marL="0" indent="0">
              <a:lnSpc>
                <a:spcPct val="110000"/>
              </a:lnSpc>
              <a:buNone/>
            </a:pPr>
            <a:r>
              <a:rPr lang="en-US" sz="1150" dirty="0">
                <a:solidFill>
                  <a:srgbClr val="B9C4D1"/>
                </a:solidFill>
                <a:latin typeface="Courier New" pitchFamily="34" charset="0"/>
                <a:ea typeface="Courier New" pitchFamily="34" charset="-122"/>
                <a:cs typeface="Courier New" pitchFamily="34" charset="-120"/>
              </a:rPr>
              <a:t>&lt;!-- SDK + export --&gt;</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OpenTelemetry.Extensions.Hosting              1.19.1</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OpenTelemetry.Exporter.OpenTelemetryProtocol  1.19.1</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marL="0" indent="0">
              <a:lnSpc>
                <a:spcPct val="110000"/>
              </a:lnSpc>
              <a:buNone/>
            </a:pPr>
            <a:r>
              <a:rPr lang="en-US" sz="1150" dirty="0">
                <a:solidFill>
                  <a:srgbClr val="B9C4D1"/>
                </a:solidFill>
                <a:latin typeface="Courier New" pitchFamily="34" charset="0"/>
                <a:ea typeface="Courier New" pitchFamily="34" charset="-122"/>
                <a:cs typeface="Courier New" pitchFamily="34" charset="-120"/>
              </a:rPr>
              <a:t>&lt;!-- Automatisk instrumentering --&gt;</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OpenTelemetry.Instrumentation.AspNetCore      1.19.0</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OpenTelemetry.Instrumentation.Http            1.19.0</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OpenTelemetry.Instrumentation.EntityFrameworkCore  1.19.1-beta.1</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OpenTelemetry.Instrumentation.Runtime         1.19.0</a:t>
            </a:r>
            <a:endParaRPr lang="en-US" sz="1150" dirty="0"/>
          </a:p>
        </p:txBody>
      </p:sp>
      <p:sp>
        <p:nvSpPr>
          <p:cNvPr id="10" name="Shape 8"/>
          <p:cNvSpPr/>
          <p:nvPr/>
        </p:nvSpPr>
        <p:spPr>
          <a:xfrm>
            <a:off x="7863840" y="1554480"/>
            <a:ext cx="3779215" cy="868680"/>
          </a:xfrm>
          <a:prstGeom prst="roundRect">
            <a:avLst>
              <a:gd name="adj" fmla="val 6316"/>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8065008" y="1755648"/>
            <a:ext cx="3376879" cy="320040"/>
          </a:xfrm>
          <a:prstGeom prst="rect">
            <a:avLst/>
          </a:prstGeom>
          <a:noFill/>
          <a:ln/>
        </p:spPr>
        <p:txBody>
          <a:bodyPr wrap="square" lIns="0" tIns="0" rIns="0" bIns="0" rtlCol="0" anchor="t"/>
          <a:lstStyle/>
          <a:p>
            <a:pPr marL="0" indent="0">
              <a:buNone/>
            </a:pPr>
            <a:r>
              <a:rPr lang="en-US" sz="1300" b="1" dirty="0">
                <a:solidFill>
                  <a:srgbClr val="16202B"/>
                </a:solidFill>
                <a:latin typeface="Calibri" pitchFamily="34" charset="0"/>
                <a:ea typeface="Calibri" pitchFamily="34" charset="-122"/>
                <a:cs typeface="Calibri" pitchFamily="34" charset="-120"/>
              </a:rPr>
              <a:t>AspNetCore</a:t>
            </a:r>
            <a:endParaRPr lang="en-US" sz="1300" dirty="0"/>
          </a:p>
        </p:txBody>
      </p:sp>
      <p:sp>
        <p:nvSpPr>
          <p:cNvPr id="12" name="Text 10"/>
          <p:cNvSpPr txBox="1"/>
          <p:nvPr/>
        </p:nvSpPr>
        <p:spPr>
          <a:xfrm>
            <a:off x="8065008" y="2139696"/>
            <a:ext cx="3376879" cy="128016"/>
          </a:xfrm>
          <a:prstGeom prst="rect">
            <a:avLst/>
          </a:prstGeom>
          <a:noFill/>
          <a:ln/>
        </p:spPr>
        <p:txBody>
          <a:bodyPr wrap="square" lIns="0" tIns="0" rIns="0" bIns="0" rtlCol="0" anchor="t"/>
          <a:lstStyle/>
          <a:p>
            <a:pPr marL="0" indent="0">
              <a:lnSpc>
                <a:spcPct val="115000"/>
              </a:lnSpc>
              <a:buNone/>
            </a:pPr>
            <a:r>
              <a:rPr lang="en-US" sz="1100" dirty="0">
                <a:solidFill>
                  <a:srgbClr val="4A5568"/>
                </a:solidFill>
                <a:latin typeface="Arial" pitchFamily="34" charset="0"/>
                <a:ea typeface="Arial" pitchFamily="34" charset="-122"/>
                <a:cs typeface="Arial" pitchFamily="34" charset="-120"/>
              </a:rPr>
              <a:t>Ett span per inkommande anrop + http.server-metrics</a:t>
            </a:r>
            <a:endParaRPr lang="en-US" sz="1100" dirty="0"/>
          </a:p>
        </p:txBody>
      </p:sp>
      <p:sp>
        <p:nvSpPr>
          <p:cNvPr id="13" name="Shape 11"/>
          <p:cNvSpPr/>
          <p:nvPr/>
        </p:nvSpPr>
        <p:spPr>
          <a:xfrm>
            <a:off x="7863840" y="2496312"/>
            <a:ext cx="3779215" cy="868680"/>
          </a:xfrm>
          <a:prstGeom prst="roundRect">
            <a:avLst>
              <a:gd name="adj" fmla="val 6316"/>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8065008" y="2697480"/>
            <a:ext cx="3376879" cy="320040"/>
          </a:xfrm>
          <a:prstGeom prst="rect">
            <a:avLst/>
          </a:prstGeom>
          <a:noFill/>
          <a:ln/>
        </p:spPr>
        <p:txBody>
          <a:bodyPr wrap="square" lIns="0" tIns="0" rIns="0" bIns="0" rtlCol="0" anchor="t"/>
          <a:lstStyle/>
          <a:p>
            <a:pPr marL="0" indent="0">
              <a:buNone/>
            </a:pPr>
            <a:r>
              <a:rPr lang="en-US" sz="1300" b="1" dirty="0">
                <a:solidFill>
                  <a:srgbClr val="16202B"/>
                </a:solidFill>
                <a:latin typeface="Calibri" pitchFamily="34" charset="0"/>
                <a:ea typeface="Calibri" pitchFamily="34" charset="-122"/>
                <a:cs typeface="Calibri" pitchFamily="34" charset="-120"/>
              </a:rPr>
              <a:t>Http</a:t>
            </a:r>
            <a:endParaRPr lang="en-US" sz="1300" dirty="0"/>
          </a:p>
        </p:txBody>
      </p:sp>
      <p:sp>
        <p:nvSpPr>
          <p:cNvPr id="15" name="Text 13"/>
          <p:cNvSpPr txBox="1"/>
          <p:nvPr/>
        </p:nvSpPr>
        <p:spPr>
          <a:xfrm>
            <a:off x="8065008" y="3081528"/>
            <a:ext cx="3376879" cy="128016"/>
          </a:xfrm>
          <a:prstGeom prst="rect">
            <a:avLst/>
          </a:prstGeom>
          <a:noFill/>
          <a:ln/>
        </p:spPr>
        <p:txBody>
          <a:bodyPr wrap="square" lIns="0" tIns="0" rIns="0" bIns="0" rtlCol="0" anchor="t"/>
          <a:lstStyle/>
          <a:p>
            <a:pPr marL="0" indent="0">
              <a:lnSpc>
                <a:spcPct val="115000"/>
              </a:lnSpc>
              <a:buNone/>
            </a:pPr>
            <a:r>
              <a:rPr lang="en-US" sz="1100" dirty="0">
                <a:solidFill>
                  <a:srgbClr val="4A5568"/>
                </a:solidFill>
                <a:latin typeface="Arial" pitchFamily="34" charset="0"/>
                <a:ea typeface="Arial" pitchFamily="34" charset="-122"/>
                <a:cs typeface="Arial" pitchFamily="34" charset="-120"/>
              </a:rPr>
              <a:t>Utgående HttpClient-anrop</a:t>
            </a:r>
            <a:endParaRPr lang="en-US" sz="1100" dirty="0"/>
          </a:p>
        </p:txBody>
      </p:sp>
      <p:sp>
        <p:nvSpPr>
          <p:cNvPr id="16" name="Shape 14"/>
          <p:cNvSpPr/>
          <p:nvPr/>
        </p:nvSpPr>
        <p:spPr>
          <a:xfrm>
            <a:off x="7863840" y="3438144"/>
            <a:ext cx="3779215" cy="868680"/>
          </a:xfrm>
          <a:prstGeom prst="roundRect">
            <a:avLst>
              <a:gd name="adj" fmla="val 6316"/>
            </a:avLst>
          </a:prstGeom>
          <a:solidFill>
            <a:srgbClr val="3762FF"/>
          </a:solidFill>
          <a:ln w="12700">
            <a:solidFill>
              <a:srgbClr val="3762FF"/>
            </a:solidFill>
            <a:prstDash val="solid"/>
          </a:ln>
        </p:spPr>
      </p:sp>
      <p:sp>
        <p:nvSpPr>
          <p:cNvPr id="17" name="Text 15"/>
          <p:cNvSpPr txBox="1"/>
          <p:nvPr/>
        </p:nvSpPr>
        <p:spPr>
          <a:xfrm>
            <a:off x="8065008" y="3639312"/>
            <a:ext cx="3376879" cy="3200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EntityFrameworkCore</a:t>
            </a:r>
            <a:endParaRPr lang="en-US" sz="1300" dirty="0"/>
          </a:p>
        </p:txBody>
      </p:sp>
      <p:sp>
        <p:nvSpPr>
          <p:cNvPr id="18" name="Text 16"/>
          <p:cNvSpPr txBox="1"/>
          <p:nvPr/>
        </p:nvSpPr>
        <p:spPr>
          <a:xfrm>
            <a:off x="8065008" y="4023360"/>
            <a:ext cx="3376879" cy="128016"/>
          </a:xfrm>
          <a:prstGeom prst="rect">
            <a:avLst/>
          </a:prstGeom>
          <a:noFill/>
          <a:ln/>
        </p:spPr>
        <p:txBody>
          <a:bodyPr wrap="square" lIns="0" tIns="0" rIns="0" bIns="0" rtlCol="0" anchor="t"/>
          <a:lstStyle/>
          <a:p>
            <a:pPr marL="0" indent="0">
              <a:lnSpc>
                <a:spcPct val="115000"/>
              </a:lnSpc>
              <a:buNone/>
            </a:pPr>
            <a:r>
              <a:rPr lang="en-US" sz="1100" dirty="0">
                <a:solidFill>
                  <a:srgbClr val="FFFFFF"/>
                </a:solidFill>
                <a:latin typeface="Arial" pitchFamily="34" charset="0"/>
                <a:ea typeface="Arial" pitchFamily="34" charset="-122"/>
                <a:cs typeface="Arial" pitchFamily="34" charset="-120"/>
              </a:rPr>
              <a:t>Ett span per SQL-fråga</a:t>
            </a:r>
            <a:endParaRPr lang="en-US" sz="1100" dirty="0"/>
          </a:p>
        </p:txBody>
      </p:sp>
      <p:sp>
        <p:nvSpPr>
          <p:cNvPr id="19" name="Shape 17"/>
          <p:cNvSpPr/>
          <p:nvPr/>
        </p:nvSpPr>
        <p:spPr>
          <a:xfrm>
            <a:off x="7863840" y="4379976"/>
            <a:ext cx="3779215" cy="868680"/>
          </a:xfrm>
          <a:prstGeom prst="roundRect">
            <a:avLst>
              <a:gd name="adj" fmla="val 6316"/>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0" name="Text 18"/>
          <p:cNvSpPr txBox="1"/>
          <p:nvPr/>
        </p:nvSpPr>
        <p:spPr>
          <a:xfrm>
            <a:off x="8065008" y="4581144"/>
            <a:ext cx="3376879" cy="320040"/>
          </a:xfrm>
          <a:prstGeom prst="rect">
            <a:avLst/>
          </a:prstGeom>
          <a:noFill/>
          <a:ln/>
        </p:spPr>
        <p:txBody>
          <a:bodyPr wrap="square" lIns="0" tIns="0" rIns="0" bIns="0" rtlCol="0" anchor="t"/>
          <a:lstStyle/>
          <a:p>
            <a:pPr marL="0" indent="0">
              <a:buNone/>
            </a:pPr>
            <a:r>
              <a:rPr lang="en-US" sz="1300" b="1" dirty="0">
                <a:solidFill>
                  <a:srgbClr val="16202B"/>
                </a:solidFill>
                <a:latin typeface="Calibri" pitchFamily="34" charset="0"/>
                <a:ea typeface="Calibri" pitchFamily="34" charset="-122"/>
                <a:cs typeface="Calibri" pitchFamily="34" charset="-120"/>
              </a:rPr>
              <a:t>Runtime</a:t>
            </a:r>
            <a:endParaRPr lang="en-US" sz="1300" dirty="0"/>
          </a:p>
        </p:txBody>
      </p:sp>
      <p:sp>
        <p:nvSpPr>
          <p:cNvPr id="21" name="Text 19"/>
          <p:cNvSpPr txBox="1"/>
          <p:nvPr/>
        </p:nvSpPr>
        <p:spPr>
          <a:xfrm>
            <a:off x="8065008" y="4965192"/>
            <a:ext cx="3376879" cy="128016"/>
          </a:xfrm>
          <a:prstGeom prst="rect">
            <a:avLst/>
          </a:prstGeom>
          <a:noFill/>
          <a:ln/>
        </p:spPr>
        <p:txBody>
          <a:bodyPr wrap="square" lIns="0" tIns="0" rIns="0" bIns="0" rtlCol="0" anchor="t"/>
          <a:lstStyle/>
          <a:p>
            <a:pPr marL="0" indent="0">
              <a:lnSpc>
                <a:spcPct val="115000"/>
              </a:lnSpc>
              <a:buNone/>
            </a:pPr>
            <a:r>
              <a:rPr lang="en-US" sz="1100" dirty="0">
                <a:solidFill>
                  <a:srgbClr val="4A5568"/>
                </a:solidFill>
                <a:latin typeface="Arial" pitchFamily="34" charset="0"/>
                <a:ea typeface="Arial" pitchFamily="34" charset="-122"/>
                <a:cs typeface="Arial" pitchFamily="34" charset="-120"/>
              </a:rPr>
              <a:t>GC, minne och trådar</a:t>
            </a:r>
            <a:endParaRPr lang="en-US" sz="1100" dirty="0"/>
          </a:p>
        </p:txBody>
      </p:sp>
      <p:sp>
        <p:nvSpPr>
          <p:cNvPr id="22" name="Text 20"/>
          <p:cNvSpPr txBox="1"/>
          <p:nvPr/>
        </p:nvSpPr>
        <p:spPr>
          <a:xfrm>
            <a:off x="548640" y="5440680"/>
            <a:ext cx="11094415" cy="640080"/>
          </a:xfrm>
          <a:prstGeom prst="rect">
            <a:avLst/>
          </a:prstGeom>
          <a:noFill/>
          <a:ln/>
        </p:spPr>
        <p:txBody>
          <a:bodyPr wrap="square" lIns="0" tIns="0" rIns="0" bIns="0" rtlCol="0" anchor="t"/>
          <a:lstStyle/>
          <a:p>
            <a:pPr marL="0" indent="0">
              <a:lnSpc>
                <a:spcPct val="120000"/>
              </a:lnSpc>
              <a:buNone/>
            </a:pPr>
            <a:r>
              <a:rPr lang="en-US" sz="1400" dirty="0">
                <a:solidFill>
                  <a:srgbClr val="4A5568"/>
                </a:solidFill>
                <a:latin typeface="Arial" pitchFamily="34" charset="0"/>
                <a:ea typeface="Arial" pitchFamily="34" charset="-122"/>
                <a:cs typeface="Arial" pitchFamily="34" charset="-120"/>
              </a:rPr>
              <a:t>Instrumentering = färdig kod som skapar spans och metrics åt er. Ni skriver inte en rad för att få HTTP- och SQL-spans.</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TELEMETRYAPI · KONFIGURATION</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AddTelemetry() - en metod, tre signaler</a:t>
            </a:r>
            <a:endParaRPr lang="en-US" sz="3000" dirty="0"/>
          </a:p>
        </p:txBody>
      </p:sp>
      <p:sp>
        <p:nvSpPr>
          <p:cNvPr id="4" name="Shape 2"/>
          <p:cNvSpPr/>
          <p:nvPr/>
        </p:nvSpPr>
        <p:spPr>
          <a:xfrm>
            <a:off x="548640" y="1554480"/>
            <a:ext cx="7498080" cy="4480560"/>
          </a:xfrm>
          <a:prstGeom prst="roundRect">
            <a:avLst>
              <a:gd name="adj" fmla="val 1224"/>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Telemetry/TelemetryExtensions.cs (förkortad)</a:t>
            </a:r>
            <a:endParaRPr lang="en-US" sz="1100" dirty="0"/>
          </a:p>
        </p:txBody>
      </p:sp>
      <p:sp>
        <p:nvSpPr>
          <p:cNvPr id="9" name="Text 7"/>
          <p:cNvSpPr txBox="1"/>
          <p:nvPr/>
        </p:nvSpPr>
        <p:spPr>
          <a:xfrm>
            <a:off x="777240" y="2011680"/>
            <a:ext cx="7040880" cy="3886200"/>
          </a:xfrm>
          <a:prstGeom prst="rect">
            <a:avLst/>
          </a:prstGeom>
          <a:noFill/>
          <a:ln/>
        </p:spPr>
        <p:txBody>
          <a:bodyPr wrap="square" lIns="0" tIns="0" rIns="0" bIns="0" rtlCol="0" anchor="t"/>
          <a:lstStyle/>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builder.Services.AddOpenTelemetry()</a:t>
            </a:r>
            <a:endParaRPr lang="en-US" sz="1050" dirty="0"/>
          </a:p>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    .ConfigureResource(r =&gt; r.AddService(serviceName, serviceVersion: version))</a:t>
            </a:r>
            <a:endParaRPr lang="en-US" sz="1050" dirty="0"/>
          </a:p>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    .WithTracing(t =&gt; t</a:t>
            </a:r>
            <a:endParaRPr lang="en-US" sz="1050" dirty="0"/>
          </a:p>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        .AddSource(CustomerTelemetry.Name)</a:t>
            </a:r>
            <a:endParaRPr lang="en-US" sz="1050" dirty="0"/>
          </a:p>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        .AddAspNetCoreInstrumentation(o =&gt;</a:t>
            </a:r>
            <a:endParaRPr lang="en-US" sz="1050" dirty="0"/>
          </a:p>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            o.Filter = ctx =&gt; !ctx.Request.Path.StartsWithSegments("/healthz"))</a:t>
            </a:r>
            <a:endParaRPr lang="en-US" sz="1050" dirty="0"/>
          </a:p>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        .AddHttpClientInstrumentation()</a:t>
            </a:r>
            <a:endParaRPr lang="en-US" sz="1050" dirty="0"/>
          </a:p>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        .AddEntityFrameworkCoreInstrumentation())</a:t>
            </a:r>
            <a:endParaRPr lang="en-US" sz="1050" dirty="0"/>
          </a:p>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    .WithMetrics(m =&gt; m</a:t>
            </a:r>
            <a:endParaRPr lang="en-US" sz="1050" dirty="0"/>
          </a:p>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        .AddMeter(CustomerTelemetry.Name)</a:t>
            </a:r>
            <a:endParaRPr lang="en-US" sz="1050" dirty="0"/>
          </a:p>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        .AddAspNetCoreInstrumentation()</a:t>
            </a:r>
            <a:endParaRPr lang="en-US" sz="1050" dirty="0"/>
          </a:p>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        .AddRuntimeInstrumentation())</a:t>
            </a:r>
            <a:endParaRPr lang="en-US" sz="1050" dirty="0"/>
          </a:p>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    .WithLogging(l =&gt; { }, o =&gt; o.IncludeScopes = true);</a:t>
            </a:r>
            <a:endParaRPr lang="en-US" sz="1050" dirty="0"/>
          </a:p>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 </a:t>
            </a:r>
            <a:endParaRPr lang="en-US" sz="1050" dirty="0"/>
          </a:p>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otel.UseOtlpExporter();   // alla tre signalerna, adress från OTEL_*</a:t>
            </a:r>
            <a:endParaRPr lang="en-US" sz="1050" dirty="0"/>
          </a:p>
        </p:txBody>
      </p:sp>
      <p:sp>
        <p:nvSpPr>
          <p:cNvPr id="10" name="Shape 8"/>
          <p:cNvSpPr/>
          <p:nvPr/>
        </p:nvSpPr>
        <p:spPr>
          <a:xfrm>
            <a:off x="8412480" y="1554480"/>
            <a:ext cx="3230575" cy="1371600"/>
          </a:xfrm>
          <a:prstGeom prst="roundRect">
            <a:avLst>
              <a:gd name="adj" fmla="val 4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Resource</a:t>
            </a:r>
            <a:endParaRPr lang="en-US" sz="1400" dirty="0"/>
          </a:p>
        </p:txBody>
      </p:sp>
      <p:sp>
        <p:nvSpPr>
          <p:cNvPr id="12" name="Text 10"/>
          <p:cNvSpPr txBox="1"/>
          <p:nvPr/>
        </p:nvSpPr>
        <p:spPr>
          <a:xfrm>
            <a:off x="8613648" y="2139696"/>
            <a:ext cx="2828239" cy="63093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"Vem skickar?" - blir service_name i Grafana.</a:t>
            </a:r>
            <a:endParaRPr lang="en-US" sz="1200" dirty="0"/>
          </a:p>
        </p:txBody>
      </p:sp>
      <p:sp>
        <p:nvSpPr>
          <p:cNvPr id="13" name="Shape 11"/>
          <p:cNvSpPr/>
          <p:nvPr/>
        </p:nvSpPr>
        <p:spPr>
          <a:xfrm>
            <a:off x="8412480" y="3063240"/>
            <a:ext cx="3230575" cy="1371600"/>
          </a:xfrm>
          <a:prstGeom prst="roundRect">
            <a:avLst>
              <a:gd name="adj" fmla="val 4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8613648" y="3264408"/>
            <a:ext cx="2828239"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Filter</a:t>
            </a:r>
            <a:endParaRPr lang="en-US" sz="1400" dirty="0"/>
          </a:p>
        </p:txBody>
      </p:sp>
      <p:sp>
        <p:nvSpPr>
          <p:cNvPr id="15" name="Text 13"/>
          <p:cNvSpPr txBox="1"/>
          <p:nvPr/>
        </p:nvSpPr>
        <p:spPr>
          <a:xfrm>
            <a:off x="8613648" y="3648456"/>
            <a:ext cx="2828239" cy="63093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Probes mot /healthz blir inga spans - mindre brus.</a:t>
            </a:r>
            <a:endParaRPr lang="en-US" sz="1200" dirty="0"/>
          </a:p>
        </p:txBody>
      </p:sp>
      <p:sp>
        <p:nvSpPr>
          <p:cNvPr id="16" name="Shape 14"/>
          <p:cNvSpPr/>
          <p:nvPr/>
        </p:nvSpPr>
        <p:spPr>
          <a:xfrm>
            <a:off x="8412480" y="4572000"/>
            <a:ext cx="3230575" cy="1463040"/>
          </a:xfrm>
          <a:prstGeom prst="roundRect">
            <a:avLst>
              <a:gd name="adj" fmla="val 3750"/>
            </a:avLst>
          </a:prstGeom>
          <a:solidFill>
            <a:srgbClr val="3762FF"/>
          </a:solidFill>
          <a:ln w="12700">
            <a:solidFill>
              <a:srgbClr val="3762FF"/>
            </a:solidFill>
            <a:prstDash val="solid"/>
          </a:ln>
        </p:spPr>
      </p:sp>
      <p:sp>
        <p:nvSpPr>
          <p:cNvPr id="17" name="Text 15"/>
          <p:cNvSpPr txBox="1"/>
          <p:nvPr/>
        </p:nvSpPr>
        <p:spPr>
          <a:xfrm>
            <a:off x="8613648" y="4773168"/>
            <a:ext cx="2828239"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UseOtlpExporter</a:t>
            </a:r>
            <a:endParaRPr lang="en-US" sz="1400" dirty="0"/>
          </a:p>
        </p:txBody>
      </p:sp>
      <p:sp>
        <p:nvSpPr>
          <p:cNvPr id="18" name="Text 16"/>
          <p:cNvSpPr txBox="1"/>
          <p:nvPr/>
        </p:nvSpPr>
        <p:spPr>
          <a:xfrm>
            <a:off x="8613648" y="5157216"/>
            <a:ext cx="2828239" cy="722376"/>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En rad för export av traces, metrics och loggar.</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TELEMETRYAPI · HELM</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Standardvariabler istället för egen konfiguration</a:t>
            </a:r>
            <a:endParaRPr lang="en-US" sz="3000" dirty="0"/>
          </a:p>
        </p:txBody>
      </p:sp>
      <p:sp>
        <p:nvSpPr>
          <p:cNvPr id="4" name="Shape 2"/>
          <p:cNvSpPr/>
          <p:nvPr/>
        </p:nvSpPr>
        <p:spPr>
          <a:xfrm>
            <a:off x="548640" y="1554480"/>
            <a:ext cx="6949440" cy="4206240"/>
          </a:xfrm>
          <a:prstGeom prst="roundRect">
            <a:avLst>
              <a:gd name="adj" fmla="val 1304"/>
            </a:avLst>
          </a:prstGeom>
          <a:solidFill>
            <a:srgbClr val="16294A"/>
          </a:solidFill>
          <a:ln w="12700">
            <a:solidFill>
              <a:srgbClr val="16294A"/>
            </a:solidFill>
            <a:prstDash val="solid"/>
          </a:ln>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5943600"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charts/telemetry-api/templates/deployment.yaml (renderad)</a:t>
            </a:r>
            <a:endParaRPr lang="en-US" sz="1100" dirty="0"/>
          </a:p>
        </p:txBody>
      </p:sp>
      <p:sp>
        <p:nvSpPr>
          <p:cNvPr id="9" name="Text 7"/>
          <p:cNvSpPr txBox="1"/>
          <p:nvPr/>
        </p:nvSpPr>
        <p:spPr>
          <a:xfrm>
            <a:off x="777240" y="2011680"/>
            <a:ext cx="6492240" cy="3611880"/>
          </a:xfrm>
          <a:prstGeom prst="rect">
            <a:avLst/>
          </a:prstGeom>
          <a:noFill/>
          <a:ln/>
        </p:spPr>
        <p:txBody>
          <a:bodyPr wrap="square" lIns="0" tIns="0" rIns="0" bIns="0" rtlCol="0" anchor="t"/>
          <a:lstStyle/>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r>
              <a:rPr lang="en-US" sz="1150" dirty="0">
                <a:solidFill>
                  <a:srgbClr val="7C9CFF"/>
                </a:solidFill>
                <a:latin typeface="Courier New" pitchFamily="34" charset="0"/>
                <a:ea typeface="Courier New" pitchFamily="34" charset="-122"/>
                <a:cs typeface="Courier New" pitchFamily="34" charset="-120"/>
              </a:rPr>
              <a:t>name:</a:t>
            </a:r>
            <a:r>
              <a:rPr lang="en-US" sz="1150" dirty="0">
                <a:solidFill>
                  <a:srgbClr val="DDE3EA"/>
                </a:solidFill>
                <a:latin typeface="Courier New" pitchFamily="34" charset="0"/>
                <a:ea typeface="Courier New" pitchFamily="34" charset="-122"/>
                <a:cs typeface="Courier New" pitchFamily="34" charset="-120"/>
              </a:rPr>
              <a:t> OTEL_SERVICE_NAME</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r>
              <a:rPr lang="en-US" sz="1150" dirty="0">
                <a:solidFill>
                  <a:srgbClr val="7C9CFF"/>
                </a:solidFill>
                <a:latin typeface="Courier New" pitchFamily="34" charset="0"/>
                <a:ea typeface="Courier New" pitchFamily="34" charset="-122"/>
                <a:cs typeface="Courier New" pitchFamily="34" charset="-120"/>
              </a:rPr>
              <a:t>value:</a:t>
            </a:r>
            <a:r>
              <a:rPr lang="en-US" sz="1150" dirty="0">
                <a:solidFill>
                  <a:srgbClr val="DDE3EA"/>
                </a:solidFill>
                <a:latin typeface="Courier New" pitchFamily="34" charset="0"/>
                <a:ea typeface="Courier New" pitchFamily="34" charset="-122"/>
                <a:cs typeface="Courier New" pitchFamily="34" charset="-120"/>
              </a:rPr>
              <a:t> "telemetry-api"</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r>
              <a:rPr lang="en-US" sz="1150" dirty="0">
                <a:solidFill>
                  <a:srgbClr val="7C9CFF"/>
                </a:solidFill>
                <a:latin typeface="Courier New" pitchFamily="34" charset="0"/>
                <a:ea typeface="Courier New" pitchFamily="34" charset="-122"/>
                <a:cs typeface="Courier New" pitchFamily="34" charset="-120"/>
              </a:rPr>
              <a:t>name:</a:t>
            </a:r>
            <a:r>
              <a:rPr lang="en-US" sz="1150" dirty="0">
                <a:solidFill>
                  <a:srgbClr val="DDE3EA"/>
                </a:solidFill>
                <a:latin typeface="Courier New" pitchFamily="34" charset="0"/>
                <a:ea typeface="Courier New" pitchFamily="34" charset="-122"/>
                <a:cs typeface="Courier New" pitchFamily="34" charset="-120"/>
              </a:rPr>
              <a:t> OTEL_EXPORTER_OTLP_ENDPOINT</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r>
              <a:rPr lang="en-US" sz="1150" dirty="0">
                <a:solidFill>
                  <a:srgbClr val="7C9CFF"/>
                </a:solidFill>
                <a:latin typeface="Courier New" pitchFamily="34" charset="0"/>
                <a:ea typeface="Courier New" pitchFamily="34" charset="-122"/>
                <a:cs typeface="Courier New" pitchFamily="34" charset="-120"/>
              </a:rPr>
              <a:t>value:</a:t>
            </a:r>
            <a:r>
              <a:rPr lang="en-US" sz="1150" dirty="0">
                <a:solidFill>
                  <a:srgbClr val="DDE3EA"/>
                </a:solidFill>
                <a:latin typeface="Courier New" pitchFamily="34" charset="0"/>
                <a:ea typeface="Courier New" pitchFamily="34" charset="-122"/>
                <a:cs typeface="Courier New" pitchFamily="34" charset="-120"/>
              </a:rPr>
              <a:t> "http://otel-collector.monitoring.svc.cluster.local:4317"</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r>
              <a:rPr lang="en-US" sz="1150" dirty="0">
                <a:solidFill>
                  <a:srgbClr val="7C9CFF"/>
                </a:solidFill>
                <a:latin typeface="Courier New" pitchFamily="34" charset="0"/>
                <a:ea typeface="Courier New" pitchFamily="34" charset="-122"/>
                <a:cs typeface="Courier New" pitchFamily="34" charset="-120"/>
              </a:rPr>
              <a:t>name:</a:t>
            </a:r>
            <a:r>
              <a:rPr lang="en-US" sz="1150" dirty="0">
                <a:solidFill>
                  <a:srgbClr val="DDE3EA"/>
                </a:solidFill>
                <a:latin typeface="Courier New" pitchFamily="34" charset="0"/>
                <a:ea typeface="Courier New" pitchFamily="34" charset="-122"/>
                <a:cs typeface="Courier New" pitchFamily="34" charset="-120"/>
              </a:rPr>
              <a:t> OTEL_EXPORTER_OTLP_PROTOCOL</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r>
              <a:rPr lang="en-US" sz="1150" dirty="0">
                <a:solidFill>
                  <a:srgbClr val="7C9CFF"/>
                </a:solidFill>
                <a:latin typeface="Courier New" pitchFamily="34" charset="0"/>
                <a:ea typeface="Courier New" pitchFamily="34" charset="-122"/>
                <a:cs typeface="Courier New" pitchFamily="34" charset="-120"/>
              </a:rPr>
              <a:t>value:</a:t>
            </a:r>
            <a:r>
              <a:rPr lang="en-US" sz="1150" dirty="0">
                <a:solidFill>
                  <a:srgbClr val="DDE3EA"/>
                </a:solidFill>
                <a:latin typeface="Courier New" pitchFamily="34" charset="0"/>
                <a:ea typeface="Courier New" pitchFamily="34" charset="-122"/>
                <a:cs typeface="Courier New" pitchFamily="34" charset="-120"/>
              </a:rPr>
              <a:t> "grpc"</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r>
              <a:rPr lang="en-US" sz="1150" dirty="0">
                <a:solidFill>
                  <a:srgbClr val="7C9CFF"/>
                </a:solidFill>
                <a:latin typeface="Courier New" pitchFamily="34" charset="0"/>
                <a:ea typeface="Courier New" pitchFamily="34" charset="-122"/>
                <a:cs typeface="Courier New" pitchFamily="34" charset="-120"/>
              </a:rPr>
              <a:t>name:</a:t>
            </a:r>
            <a:r>
              <a:rPr lang="en-US" sz="1150" dirty="0">
                <a:solidFill>
                  <a:srgbClr val="DDE3EA"/>
                </a:solidFill>
                <a:latin typeface="Courier New" pitchFamily="34" charset="0"/>
                <a:ea typeface="Courier New" pitchFamily="34" charset="-122"/>
                <a:cs typeface="Courier New" pitchFamily="34" charset="-120"/>
              </a:rPr>
              <a:t> K8S_POD_NAME</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r>
              <a:rPr lang="en-US" sz="1150" dirty="0">
                <a:solidFill>
                  <a:srgbClr val="7C9CFF"/>
                </a:solidFill>
                <a:latin typeface="Courier New" pitchFamily="34" charset="0"/>
                <a:ea typeface="Courier New" pitchFamily="34" charset="-122"/>
                <a:cs typeface="Courier New" pitchFamily="34" charset="-120"/>
              </a:rPr>
              <a:t>valueFrom:</a:t>
            </a:r>
            <a:r>
              <a:rPr lang="en-US" sz="1150" dirty="0">
                <a:solidFill>
                  <a:srgbClr val="DDE3EA"/>
                </a:solidFill>
                <a:latin typeface="Courier New" pitchFamily="34" charset="0"/>
                <a:ea typeface="Courier New" pitchFamily="34" charset="-122"/>
                <a:cs typeface="Courier New" pitchFamily="34" charset="-120"/>
              </a:rPr>
              <a:t> { fieldRef: { fieldPath: metadata.name } }</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r>
              <a:rPr lang="en-US" sz="1150" dirty="0">
                <a:solidFill>
                  <a:srgbClr val="7C9CFF"/>
                </a:solidFill>
                <a:latin typeface="Courier New" pitchFamily="34" charset="0"/>
                <a:ea typeface="Courier New" pitchFamily="34" charset="-122"/>
                <a:cs typeface="Courier New" pitchFamily="34" charset="-120"/>
              </a:rPr>
              <a:t>name:</a:t>
            </a:r>
            <a:r>
              <a:rPr lang="en-US" sz="1150" dirty="0">
                <a:solidFill>
                  <a:srgbClr val="DDE3EA"/>
                </a:solidFill>
                <a:latin typeface="Courier New" pitchFamily="34" charset="0"/>
                <a:ea typeface="Courier New" pitchFamily="34" charset="-122"/>
                <a:cs typeface="Courier New" pitchFamily="34" charset="-120"/>
              </a:rPr>
              <a:t> OTEL_RESOURCE_ATTRIBUTES</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r>
              <a:rPr lang="en-US" sz="1150" dirty="0">
                <a:solidFill>
                  <a:srgbClr val="7C9CFF"/>
                </a:solidFill>
                <a:latin typeface="Courier New" pitchFamily="34" charset="0"/>
                <a:ea typeface="Courier New" pitchFamily="34" charset="-122"/>
                <a:cs typeface="Courier New" pitchFamily="34" charset="-120"/>
              </a:rPr>
              <a:t>value:</a:t>
            </a:r>
            <a:r>
              <a:rPr lang="en-US" sz="1150" dirty="0">
                <a:solidFill>
                  <a:srgbClr val="DDE3EA"/>
                </a:solidFill>
                <a:latin typeface="Courier New" pitchFamily="34" charset="0"/>
                <a:ea typeface="Courier New" pitchFamily="34" charset="-122"/>
                <a:cs typeface="Courier New" pitchFamily="34" charset="-120"/>
              </a:rPr>
              <a:t> "service.instance.id=$(K8S_POD_NAME),..."</a:t>
            </a:r>
            <a:endParaRPr lang="en-US" sz="1150" dirty="0"/>
          </a:p>
        </p:txBody>
      </p:sp>
      <p:sp>
        <p:nvSpPr>
          <p:cNvPr id="10" name="Shape 8"/>
          <p:cNvSpPr/>
          <p:nvPr/>
        </p:nvSpPr>
        <p:spPr>
          <a:xfrm>
            <a:off x="7863840" y="1554480"/>
            <a:ext cx="3779215" cy="1325880"/>
          </a:xfrm>
          <a:prstGeom prst="roundRect">
            <a:avLst>
              <a:gd name="adj" fmla="val 4138"/>
            </a:avLst>
          </a:prstGeom>
          <a:solidFill>
            <a:srgbClr val="16294A"/>
          </a:solidFill>
          <a:ln w="12700">
            <a:solidFill>
              <a:srgbClr val="16294A"/>
            </a:solidFill>
            <a:prstDash val="solid"/>
          </a:ln>
        </p:spPr>
      </p:sp>
      <p:sp>
        <p:nvSpPr>
          <p:cNvPr id="11" name="Text 9"/>
          <p:cNvSpPr txBox="1"/>
          <p:nvPr/>
        </p:nvSpPr>
        <p:spPr>
          <a:xfrm>
            <a:off x="8065008" y="1755648"/>
            <a:ext cx="3376879" cy="320040"/>
          </a:xfrm>
          <a:prstGeom prst="rect">
            <a:avLst/>
          </a:prstGeom>
          <a:noFill/>
          <a:ln/>
        </p:spPr>
        <p:txBody>
          <a:bodyPr wrap="square" lIns="0" tIns="0" rIns="0" bIns="0" rtlCol="0" anchor="t"/>
          <a:lstStyle/>
          <a:p>
            <a:pPr marL="0" indent="0">
              <a:buNone/>
            </a:pPr>
            <a:r>
              <a:rPr lang="en-US" sz="1400" b="1" dirty="0">
                <a:solidFill>
                  <a:srgbClr val="F5F7FA"/>
                </a:solidFill>
                <a:latin typeface="Calibri" pitchFamily="34" charset="0"/>
                <a:ea typeface="Calibri" pitchFamily="34" charset="-122"/>
                <a:cs typeface="Calibri" pitchFamily="34" charset="-120"/>
              </a:rPr>
              <a:t>OTEL_*</a:t>
            </a:r>
            <a:endParaRPr lang="en-US" sz="1400" dirty="0"/>
          </a:p>
        </p:txBody>
      </p:sp>
      <p:sp>
        <p:nvSpPr>
          <p:cNvPr id="12" name="Text 10"/>
          <p:cNvSpPr txBox="1"/>
          <p:nvPr/>
        </p:nvSpPr>
        <p:spPr>
          <a:xfrm>
            <a:off x="8065008" y="2139696"/>
            <a:ext cx="3376879" cy="585216"/>
          </a:xfrm>
          <a:prstGeom prst="rect">
            <a:avLst/>
          </a:prstGeom>
          <a:noFill/>
          <a:ln/>
        </p:spPr>
        <p:txBody>
          <a:bodyPr wrap="square" lIns="0" tIns="0" rIns="0" bIns="0" rtlCol="0" anchor="t"/>
          <a:lstStyle/>
          <a:p>
            <a:pPr marL="0" indent="0">
              <a:lnSpc>
                <a:spcPct val="115000"/>
              </a:lnSpc>
              <a:buNone/>
            </a:pPr>
            <a:r>
              <a:rPr lang="en-US" sz="1200" dirty="0">
                <a:solidFill>
                  <a:srgbClr val="B9C4D1"/>
                </a:solidFill>
                <a:latin typeface="Arial" pitchFamily="34" charset="0"/>
                <a:ea typeface="Arial" pitchFamily="34" charset="-122"/>
                <a:cs typeface="Arial" pitchFamily="34" charset="-120"/>
              </a:rPr>
              <a:t>Samma namn i alla språk och SDK:er.</a:t>
            </a:r>
            <a:endParaRPr lang="en-US" sz="1200" dirty="0"/>
          </a:p>
        </p:txBody>
      </p:sp>
      <p:sp>
        <p:nvSpPr>
          <p:cNvPr id="13" name="Shape 11"/>
          <p:cNvSpPr/>
          <p:nvPr/>
        </p:nvSpPr>
        <p:spPr>
          <a:xfrm>
            <a:off x="7863840" y="3017520"/>
            <a:ext cx="3779215" cy="1325880"/>
          </a:xfrm>
          <a:prstGeom prst="roundRect">
            <a:avLst>
              <a:gd name="adj" fmla="val 4138"/>
            </a:avLst>
          </a:prstGeom>
          <a:solidFill>
            <a:srgbClr val="16294A"/>
          </a:solidFill>
          <a:ln w="12700">
            <a:solidFill>
              <a:srgbClr val="16294A"/>
            </a:solidFill>
            <a:prstDash val="solid"/>
          </a:ln>
        </p:spPr>
      </p:sp>
      <p:sp>
        <p:nvSpPr>
          <p:cNvPr id="14" name="Text 12"/>
          <p:cNvSpPr txBox="1"/>
          <p:nvPr/>
        </p:nvSpPr>
        <p:spPr>
          <a:xfrm>
            <a:off x="8065008" y="3218688"/>
            <a:ext cx="3376879" cy="320040"/>
          </a:xfrm>
          <a:prstGeom prst="rect">
            <a:avLst/>
          </a:prstGeom>
          <a:noFill/>
          <a:ln/>
        </p:spPr>
        <p:txBody>
          <a:bodyPr wrap="square" lIns="0" tIns="0" rIns="0" bIns="0" rtlCol="0" anchor="t"/>
          <a:lstStyle/>
          <a:p>
            <a:pPr marL="0" indent="0">
              <a:buNone/>
            </a:pPr>
            <a:r>
              <a:rPr lang="en-US" sz="1400" b="1" dirty="0">
                <a:solidFill>
                  <a:srgbClr val="F5F7FA"/>
                </a:solidFill>
                <a:latin typeface="Calibri" pitchFamily="34" charset="0"/>
                <a:ea typeface="Calibri" pitchFamily="34" charset="-122"/>
                <a:cs typeface="Calibri" pitchFamily="34" charset="-120"/>
              </a:rPr>
              <a:t>Namespace-adress</a:t>
            </a:r>
            <a:endParaRPr lang="en-US" sz="1400" dirty="0"/>
          </a:p>
        </p:txBody>
      </p:sp>
      <p:sp>
        <p:nvSpPr>
          <p:cNvPr id="15" name="Text 13"/>
          <p:cNvSpPr txBox="1"/>
          <p:nvPr/>
        </p:nvSpPr>
        <p:spPr>
          <a:xfrm>
            <a:off x="8065008" y="3602736"/>
            <a:ext cx="3376879" cy="585216"/>
          </a:xfrm>
          <a:prstGeom prst="rect">
            <a:avLst/>
          </a:prstGeom>
          <a:noFill/>
          <a:ln/>
        </p:spPr>
        <p:txBody>
          <a:bodyPr wrap="square" lIns="0" tIns="0" rIns="0" bIns="0" rtlCol="0" anchor="t"/>
          <a:lstStyle/>
          <a:p>
            <a:pPr marL="0" indent="0">
              <a:lnSpc>
                <a:spcPct val="115000"/>
              </a:lnSpc>
              <a:buNone/>
            </a:pPr>
            <a:r>
              <a:rPr lang="en-US" sz="1200" dirty="0">
                <a:solidFill>
                  <a:srgbClr val="B9C4D1"/>
                </a:solidFill>
                <a:latin typeface="Arial" pitchFamily="34" charset="0"/>
                <a:ea typeface="Arial" pitchFamily="34" charset="-122"/>
                <a:cs typeface="Arial" pitchFamily="34" charset="-120"/>
              </a:rPr>
              <a:t>Appen i customers, collectorn i monitoring.</a:t>
            </a:r>
            <a:endParaRPr lang="en-US" sz="1200" dirty="0"/>
          </a:p>
        </p:txBody>
      </p:sp>
      <p:sp>
        <p:nvSpPr>
          <p:cNvPr id="16" name="Shape 14"/>
          <p:cNvSpPr/>
          <p:nvPr/>
        </p:nvSpPr>
        <p:spPr>
          <a:xfrm>
            <a:off x="7863840" y="4434840"/>
            <a:ext cx="3779215" cy="1325880"/>
          </a:xfrm>
          <a:prstGeom prst="roundRect">
            <a:avLst>
              <a:gd name="adj" fmla="val 4138"/>
            </a:avLst>
          </a:prstGeom>
          <a:solidFill>
            <a:srgbClr val="3762FF"/>
          </a:solidFill>
          <a:ln w="12700">
            <a:solidFill>
              <a:srgbClr val="3762FF"/>
            </a:solidFill>
            <a:prstDash val="solid"/>
          </a:ln>
        </p:spPr>
      </p:sp>
      <p:sp>
        <p:nvSpPr>
          <p:cNvPr id="17" name="Text 15"/>
          <p:cNvSpPr txBox="1"/>
          <p:nvPr/>
        </p:nvSpPr>
        <p:spPr>
          <a:xfrm>
            <a:off x="8065008" y="4636008"/>
            <a:ext cx="3376879"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$(K8S_POD_NAME)</a:t>
            </a:r>
            <a:endParaRPr lang="en-US" sz="1400" dirty="0"/>
          </a:p>
        </p:txBody>
      </p:sp>
      <p:sp>
        <p:nvSpPr>
          <p:cNvPr id="18" name="Text 16"/>
          <p:cNvSpPr txBox="1"/>
          <p:nvPr/>
        </p:nvSpPr>
        <p:spPr>
          <a:xfrm>
            <a:off x="8065008" y="5020056"/>
            <a:ext cx="3376879" cy="585216"/>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Varje podd blir en egen instans i Grafana.</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TELEMETRYAPI · EGEN TELEMETRI</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Egna spans och egna metrics</a:t>
            </a:r>
            <a:endParaRPr lang="en-US" sz="3000" dirty="0"/>
          </a:p>
        </p:txBody>
      </p:sp>
      <p:sp>
        <p:nvSpPr>
          <p:cNvPr id="4" name="Shape 2"/>
          <p:cNvSpPr/>
          <p:nvPr/>
        </p:nvSpPr>
        <p:spPr>
          <a:xfrm>
            <a:off x="548640" y="1554480"/>
            <a:ext cx="5486400" cy="4206240"/>
          </a:xfrm>
          <a:prstGeom prst="roundRect">
            <a:avLst>
              <a:gd name="adj" fmla="val 1304"/>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4480560"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Telemetry/CustomerTelemetry.cs</a:t>
            </a:r>
            <a:endParaRPr lang="en-US" sz="1100" dirty="0"/>
          </a:p>
        </p:txBody>
      </p:sp>
      <p:sp>
        <p:nvSpPr>
          <p:cNvPr id="9" name="Text 7"/>
          <p:cNvSpPr txBox="1"/>
          <p:nvPr/>
        </p:nvSpPr>
        <p:spPr>
          <a:xfrm>
            <a:off x="777240" y="2011680"/>
            <a:ext cx="5029200" cy="3611880"/>
          </a:xfrm>
          <a:prstGeom prst="rect">
            <a:avLst/>
          </a:prstGeom>
          <a:noFill/>
          <a:ln/>
        </p:spPr>
        <p:txBody>
          <a:bodyPr wrap="square" lIns="0" tIns="0" rIns="0" bIns="0" rtlCol="0" anchor="t"/>
          <a:lstStyle/>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public const string Name = "TelemetryApi.Customers";</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public static readonly ActivitySource ActivitySource = new(Name);</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public CustomerTelemetry(IMeterFactory meterFactory)</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var meter = meterFactory.Create(Name);</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Created = meter.CreateCounter&lt;long&gt;(</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"customers.created", unit: "{customer}");</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6309360" y="1554480"/>
            <a:ext cx="5333695" cy="2651760"/>
          </a:xfrm>
          <a:prstGeom prst="roundRect">
            <a:avLst>
              <a:gd name="adj" fmla="val 2069"/>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11" name="Shape 9"/>
          <p:cNvSpPr/>
          <p:nvPr/>
        </p:nvSpPr>
        <p:spPr>
          <a:xfrm>
            <a:off x="6510528" y="1719072"/>
            <a:ext cx="109728" cy="109728"/>
          </a:xfrm>
          <a:prstGeom prst="ellipse">
            <a:avLst/>
          </a:prstGeom>
          <a:solidFill>
            <a:srgbClr val="D64545"/>
          </a:solidFill>
          <a:ln w="12700">
            <a:solidFill>
              <a:srgbClr val="D64545"/>
            </a:solidFill>
            <a:prstDash val="solid"/>
          </a:ln>
        </p:spPr>
      </p:sp>
      <p:sp>
        <p:nvSpPr>
          <p:cNvPr id="12" name="Shape 10"/>
          <p:cNvSpPr/>
          <p:nvPr/>
        </p:nvSpPr>
        <p:spPr>
          <a:xfrm>
            <a:off x="6693408" y="1719072"/>
            <a:ext cx="109728" cy="109728"/>
          </a:xfrm>
          <a:prstGeom prst="ellipse">
            <a:avLst/>
          </a:prstGeom>
          <a:solidFill>
            <a:srgbClr val="FFB020"/>
          </a:solidFill>
          <a:ln w="12700">
            <a:solidFill>
              <a:srgbClr val="FFB020"/>
            </a:solidFill>
            <a:prstDash val="solid"/>
          </a:ln>
        </p:spPr>
      </p:sp>
      <p:sp>
        <p:nvSpPr>
          <p:cNvPr id="13" name="Shape 11"/>
          <p:cNvSpPr/>
          <p:nvPr/>
        </p:nvSpPr>
        <p:spPr>
          <a:xfrm>
            <a:off x="6876288" y="1719072"/>
            <a:ext cx="109728" cy="109728"/>
          </a:xfrm>
          <a:prstGeom prst="ellipse">
            <a:avLst/>
          </a:prstGeom>
          <a:solidFill>
            <a:srgbClr val="3CB371"/>
          </a:solidFill>
          <a:ln w="12700">
            <a:solidFill>
              <a:srgbClr val="3CB371"/>
            </a:solidFill>
            <a:prstDash val="solid"/>
          </a:ln>
        </p:spPr>
      </p:sp>
      <p:sp>
        <p:nvSpPr>
          <p:cNvPr id="14" name="Text 12"/>
          <p:cNvSpPr txBox="1"/>
          <p:nvPr/>
        </p:nvSpPr>
        <p:spPr>
          <a:xfrm>
            <a:off x="7132320" y="1645920"/>
            <a:ext cx="4327855"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Customers/CustomerEndpoints.cs (utdrag)</a:t>
            </a:r>
            <a:endParaRPr lang="en-US" sz="1100" dirty="0"/>
          </a:p>
        </p:txBody>
      </p:sp>
      <p:sp>
        <p:nvSpPr>
          <p:cNvPr id="15" name="Text 13"/>
          <p:cNvSpPr txBox="1"/>
          <p:nvPr/>
        </p:nvSpPr>
        <p:spPr>
          <a:xfrm>
            <a:off x="6537960" y="2011680"/>
            <a:ext cx="4876495" cy="2057400"/>
          </a:xfrm>
          <a:prstGeom prst="rect">
            <a:avLst/>
          </a:prstGeom>
          <a:noFill/>
          <a:ln/>
        </p:spPr>
        <p:txBody>
          <a:bodyPr wrap="square" lIns="0" tIns="0" rIns="0" bIns="0" rtlCol="0" anchor="t"/>
          <a:lstStyle/>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using var activity = CustomerTelemetry</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.ActivitySource.StartActivity("customers.validate");</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activity?.SetTag("validation.valid", errors is null);</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telemetry.Created.Add(1);</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Activity.Current?.SetTag("customer.id", id);</a:t>
            </a:r>
            <a:endParaRPr lang="en-US" sz="1100" dirty="0"/>
          </a:p>
        </p:txBody>
      </p:sp>
      <p:sp>
        <p:nvSpPr>
          <p:cNvPr id="16" name="Shape 14"/>
          <p:cNvSpPr/>
          <p:nvPr/>
        </p:nvSpPr>
        <p:spPr>
          <a:xfrm>
            <a:off x="6309360" y="4389120"/>
            <a:ext cx="5333695" cy="1371600"/>
          </a:xfrm>
          <a:prstGeom prst="roundRect">
            <a:avLst>
              <a:gd name="adj" fmla="val 4000"/>
            </a:avLst>
          </a:prstGeom>
          <a:solidFill>
            <a:srgbClr val="3762FF"/>
          </a:solidFill>
          <a:ln w="12700">
            <a:solidFill>
              <a:srgbClr val="3762FF"/>
            </a:solidFill>
            <a:prstDash val="solid"/>
          </a:ln>
        </p:spPr>
      </p:sp>
      <p:sp>
        <p:nvSpPr>
          <p:cNvPr id="17" name="Text 15"/>
          <p:cNvSpPr txBox="1"/>
          <p:nvPr/>
        </p:nvSpPr>
        <p:spPr>
          <a:xfrm>
            <a:off x="6510528" y="4590288"/>
            <a:ext cx="4931359"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I Prometheus</a:t>
            </a:r>
            <a:endParaRPr lang="en-US" sz="1400" dirty="0"/>
          </a:p>
        </p:txBody>
      </p:sp>
      <p:sp>
        <p:nvSpPr>
          <p:cNvPr id="18" name="Text 16"/>
          <p:cNvSpPr txBox="1"/>
          <p:nvPr/>
        </p:nvSpPr>
        <p:spPr>
          <a:xfrm>
            <a:off x="6510528" y="4974336"/>
            <a:ext cx="4931359" cy="630936"/>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customers.created blir otel_customers_created_total - prefix från collectorn, _total för räknare.</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TELEMETRYAPI · LOGGAR</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Strukturerad loggning - med trace_id på köpet</a:t>
            </a:r>
            <a:endParaRPr lang="en-US" sz="3000" dirty="0"/>
          </a:p>
        </p:txBody>
      </p:sp>
      <p:sp>
        <p:nvSpPr>
          <p:cNvPr id="4" name="Shape 2"/>
          <p:cNvSpPr/>
          <p:nvPr/>
        </p:nvSpPr>
        <p:spPr>
          <a:xfrm>
            <a:off x="548640" y="1554480"/>
            <a:ext cx="11094415" cy="1188720"/>
          </a:xfrm>
          <a:prstGeom prst="roundRect">
            <a:avLst>
              <a:gd name="adj" fmla="val 4615"/>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10088575"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Customers/CustomerEndpoints.cs</a:t>
            </a:r>
            <a:endParaRPr lang="en-US" sz="1100" dirty="0"/>
          </a:p>
        </p:txBody>
      </p:sp>
      <p:sp>
        <p:nvSpPr>
          <p:cNvPr id="9" name="Text 7"/>
          <p:cNvSpPr txBox="1"/>
          <p:nvPr/>
        </p:nvSpPr>
        <p:spPr>
          <a:xfrm>
            <a:off x="777240" y="2011680"/>
            <a:ext cx="10637215" cy="594360"/>
          </a:xfrm>
          <a:prstGeom prst="rect">
            <a:avLst/>
          </a:prstGeom>
          <a:noFill/>
          <a:ln/>
        </p:spPr>
        <p:txBody>
          <a:bodyPr wrap="square" lIns="0" tIns="0" rIns="0" bIns="0" rtlCol="0" anchor="t"/>
          <a:lstStyle/>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logger.LogInformation("Kund {CustomerId} skapad: {CustomerName} ({City})", customer.Id, customer.Name, customer.City);</a:t>
            </a:r>
            <a:endParaRPr lang="en-US" sz="1150" dirty="0"/>
          </a:p>
        </p:txBody>
      </p:sp>
      <p:sp>
        <p:nvSpPr>
          <p:cNvPr id="10" name="Shape 8"/>
          <p:cNvSpPr/>
          <p:nvPr/>
        </p:nvSpPr>
        <p:spPr>
          <a:xfrm>
            <a:off x="548640" y="3017520"/>
            <a:ext cx="3606698" cy="1645920"/>
          </a:xfrm>
          <a:prstGeom prst="roundRect">
            <a:avLst>
              <a:gd name="adj" fmla="val 3333"/>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749808" y="3218688"/>
            <a:ext cx="3204362"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Meddelandemall</a:t>
            </a:r>
            <a:endParaRPr lang="en-US" sz="1600" dirty="0"/>
          </a:p>
        </p:txBody>
      </p:sp>
      <p:sp>
        <p:nvSpPr>
          <p:cNvPr id="12" name="Text 10"/>
          <p:cNvSpPr txBox="1"/>
          <p:nvPr/>
        </p:nvSpPr>
        <p:spPr>
          <a:xfrm>
            <a:off x="749808" y="3602736"/>
            <a:ext cx="3204362" cy="9052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{CustomerId} blir ett eget fält i Loki - inte bara text i en sträng.</a:t>
            </a:r>
            <a:endParaRPr lang="en-US" sz="1300" dirty="0"/>
          </a:p>
        </p:txBody>
      </p:sp>
      <p:sp>
        <p:nvSpPr>
          <p:cNvPr id="13" name="Shape 11"/>
          <p:cNvSpPr/>
          <p:nvPr/>
        </p:nvSpPr>
        <p:spPr>
          <a:xfrm>
            <a:off x="4292498" y="3017520"/>
            <a:ext cx="3606698" cy="1645920"/>
          </a:xfrm>
          <a:prstGeom prst="roundRect">
            <a:avLst>
              <a:gd name="adj" fmla="val 3333"/>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4493666" y="3218688"/>
            <a:ext cx="3204362"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trace_id + span_id</a:t>
            </a:r>
            <a:endParaRPr lang="en-US" sz="1600" dirty="0"/>
          </a:p>
        </p:txBody>
      </p:sp>
      <p:sp>
        <p:nvSpPr>
          <p:cNvPr id="15" name="Text 13"/>
          <p:cNvSpPr txBox="1"/>
          <p:nvPr/>
        </p:nvSpPr>
        <p:spPr>
          <a:xfrm>
            <a:off x="4493666" y="3602736"/>
            <a:ext cx="3204362" cy="9052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Sätts automatiskt på varje loggrad som skrivs under ett anrop.</a:t>
            </a:r>
            <a:endParaRPr lang="en-US" sz="1300" dirty="0"/>
          </a:p>
        </p:txBody>
      </p:sp>
      <p:sp>
        <p:nvSpPr>
          <p:cNvPr id="16" name="Shape 14"/>
          <p:cNvSpPr/>
          <p:nvPr/>
        </p:nvSpPr>
        <p:spPr>
          <a:xfrm>
            <a:off x="8036357" y="3017520"/>
            <a:ext cx="3606698" cy="1645920"/>
          </a:xfrm>
          <a:prstGeom prst="roundRect">
            <a:avLst>
              <a:gd name="adj" fmla="val 3333"/>
            </a:avLst>
          </a:prstGeom>
          <a:solidFill>
            <a:srgbClr val="3762FF"/>
          </a:solidFill>
          <a:ln w="12700">
            <a:solidFill>
              <a:srgbClr val="3762FF"/>
            </a:solidFill>
            <a:prstDash val="solid"/>
          </a:ln>
        </p:spPr>
      </p:sp>
      <p:sp>
        <p:nvSpPr>
          <p:cNvPr id="17" name="Text 15"/>
          <p:cNvSpPr txBox="1"/>
          <p:nvPr/>
        </p:nvSpPr>
        <p:spPr>
          <a:xfrm>
            <a:off x="8237525" y="3218688"/>
            <a:ext cx="3204362"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Ett klick bort</a:t>
            </a:r>
            <a:endParaRPr lang="en-US" sz="1600" dirty="0"/>
          </a:p>
        </p:txBody>
      </p:sp>
      <p:sp>
        <p:nvSpPr>
          <p:cNvPr id="18" name="Text 16"/>
          <p:cNvSpPr txBox="1"/>
          <p:nvPr/>
        </p:nvSpPr>
        <p:spPr>
          <a:xfrm>
            <a:off x="8237525" y="3602736"/>
            <a:ext cx="3204362" cy="905256"/>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Grafana gör trace_id klickbart - från loggraden direkt till traces i Tempo.</a:t>
            </a:r>
            <a:endParaRPr lang="en-US" sz="1300" dirty="0"/>
          </a:p>
        </p:txBody>
      </p:sp>
      <p:sp>
        <p:nvSpPr>
          <p:cNvPr id="19" name="Shape 17"/>
          <p:cNvSpPr/>
          <p:nvPr/>
        </p:nvSpPr>
        <p:spPr>
          <a:xfrm>
            <a:off x="548640" y="4892040"/>
            <a:ext cx="11094415" cy="914400"/>
          </a:xfrm>
          <a:prstGeom prst="roundRect">
            <a:avLst>
              <a:gd name="adj" fmla="val 6000"/>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20" name="Shape 18"/>
          <p:cNvSpPr/>
          <p:nvPr/>
        </p:nvSpPr>
        <p:spPr>
          <a:xfrm>
            <a:off x="749808" y="5056632"/>
            <a:ext cx="109728" cy="109728"/>
          </a:xfrm>
          <a:prstGeom prst="ellipse">
            <a:avLst/>
          </a:prstGeom>
          <a:solidFill>
            <a:srgbClr val="D64545"/>
          </a:solidFill>
          <a:ln w="12700">
            <a:solidFill>
              <a:srgbClr val="D64545"/>
            </a:solidFill>
            <a:prstDash val="solid"/>
          </a:ln>
        </p:spPr>
      </p:sp>
      <p:sp>
        <p:nvSpPr>
          <p:cNvPr id="21" name="Shape 19"/>
          <p:cNvSpPr/>
          <p:nvPr/>
        </p:nvSpPr>
        <p:spPr>
          <a:xfrm>
            <a:off x="932688" y="5056632"/>
            <a:ext cx="109728" cy="109728"/>
          </a:xfrm>
          <a:prstGeom prst="ellipse">
            <a:avLst/>
          </a:prstGeom>
          <a:solidFill>
            <a:srgbClr val="FFB020"/>
          </a:solidFill>
          <a:ln w="12700">
            <a:solidFill>
              <a:srgbClr val="FFB020"/>
            </a:solidFill>
            <a:prstDash val="solid"/>
          </a:ln>
        </p:spPr>
      </p:sp>
      <p:sp>
        <p:nvSpPr>
          <p:cNvPr id="22" name="Shape 20"/>
          <p:cNvSpPr/>
          <p:nvPr/>
        </p:nvSpPr>
        <p:spPr>
          <a:xfrm>
            <a:off x="1115568" y="5056632"/>
            <a:ext cx="109728" cy="109728"/>
          </a:xfrm>
          <a:prstGeom prst="ellipse">
            <a:avLst/>
          </a:prstGeom>
          <a:solidFill>
            <a:srgbClr val="3CB371"/>
          </a:solidFill>
          <a:ln w="12700">
            <a:solidFill>
              <a:srgbClr val="3CB371"/>
            </a:solidFill>
            <a:prstDash val="solid"/>
          </a:ln>
        </p:spPr>
      </p:sp>
      <p:sp>
        <p:nvSpPr>
          <p:cNvPr id="23" name="Text 21"/>
          <p:cNvSpPr txBox="1"/>
          <p:nvPr/>
        </p:nvSpPr>
        <p:spPr>
          <a:xfrm>
            <a:off x="1371600" y="4983480"/>
            <a:ext cx="10088575"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LogQL</a:t>
            </a:r>
            <a:endParaRPr lang="en-US" sz="1100" dirty="0"/>
          </a:p>
        </p:txBody>
      </p:sp>
      <p:sp>
        <p:nvSpPr>
          <p:cNvPr id="24" name="Text 22"/>
          <p:cNvSpPr txBox="1"/>
          <p:nvPr/>
        </p:nvSpPr>
        <p:spPr>
          <a:xfrm>
            <a:off x="777240" y="5349240"/>
            <a:ext cx="10637215" cy="320040"/>
          </a:xfrm>
          <a:prstGeom prst="rect">
            <a:avLst/>
          </a:prstGeom>
          <a:noFill/>
          <a:ln/>
        </p:spPr>
        <p:txBody>
          <a:bodyPr wrap="square" lIns="0" tIns="0" rIns="0" bIns="0" rtlCol="0" anchor="t"/>
          <a:lstStyle/>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{service_name="telemetry-api"} | CustomerId != ""        # LogQL i Grafana Explore -&gt; Loki</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TELEMETRYAPI · DEPLOY</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Databas, bygg och testa</a:t>
            </a:r>
            <a:endParaRPr lang="en-US" sz="3000" dirty="0"/>
          </a:p>
        </p:txBody>
      </p:sp>
      <p:sp>
        <p:nvSpPr>
          <p:cNvPr id="4" name="Shape 2"/>
          <p:cNvSpPr/>
          <p:nvPr/>
        </p:nvSpPr>
        <p:spPr>
          <a:xfrm>
            <a:off x="548640" y="1554480"/>
            <a:ext cx="6949440" cy="4206240"/>
          </a:xfrm>
          <a:prstGeom prst="roundRect">
            <a:avLst>
              <a:gd name="adj" fmla="val 1304"/>
            </a:avLst>
          </a:prstGeom>
          <a:solidFill>
            <a:srgbClr val="16294A"/>
          </a:solidFill>
          <a:ln w="12700">
            <a:solidFill>
              <a:srgbClr val="16294A"/>
            </a:solidFill>
            <a:prstDash val="solid"/>
          </a:ln>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5943600"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6492240" cy="3611880"/>
          </a:xfrm>
          <a:prstGeom prst="rect">
            <a:avLst/>
          </a:prstGeom>
          <a:noFill/>
          <a:ln/>
        </p:spPr>
        <p:txBody>
          <a:bodyPr wrap="square" lIns="0" tIns="0" rIns="0" bIns="0" rtlCol="0" anchor="t"/>
          <a:lstStyle/>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cd D:\Kvällskurs\TelemetryApi</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./setup-db.ps1      # databasen customers + customers_app</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./build.ps1         # dotnet publish -t:PublishContainer</a:t>
            </a:r>
            <a:endParaRPr lang="en-US" sz="1200" dirty="0"/>
          </a:p>
          <a:p>
            <a:pPr marL="0" indent="0">
              <a:lnSpc>
                <a:spcPct val="110000"/>
              </a:lnSpc>
              <a:buNone/>
            </a:pPr>
            <a:r>
              <a:rPr lang="en-US" sz="1200" i="1" dirty="0">
                <a:solidFill>
                  <a:srgbClr val="B9C4D1"/>
                </a:solidFill>
                <a:latin typeface="Courier New" pitchFamily="34" charset="0"/>
                <a:ea typeface="Courier New" pitchFamily="34" charset="-122"/>
                <a:cs typeface="Courier New" pitchFamily="34" charset="-120"/>
              </a:rPr>
              <a:t>                    # helm upgrade --install telemetry-api -n customers</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kubectl get pods -n customers</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marL="0" indent="0">
              <a:lnSpc>
                <a:spcPct val="110000"/>
              </a:lnSpc>
              <a:buNone/>
            </a:pPr>
            <a:r>
              <a:rPr lang="en-US" sz="1200" i="1" dirty="0">
                <a:solidFill>
                  <a:srgbClr val="B9C4D1"/>
                </a:solidFill>
                <a:latin typeface="Courier New" pitchFamily="34" charset="0"/>
                <a:ea typeface="Courier New" pitchFamily="34" charset="-122"/>
                <a:cs typeface="Courier New" pitchFamily="34" charset="-120"/>
              </a:rPr>
              <a:t># TelemetryApi.http - kör i Visual Studio:</a:t>
            </a:r>
            <a:endParaRPr lang="en-US" sz="1200" dirty="0"/>
          </a:p>
          <a:p>
            <a:pPr marL="0" indent="0">
              <a:lnSpc>
                <a:spcPct val="110000"/>
              </a:lnSpc>
              <a:buNone/>
            </a:pPr>
            <a:r>
              <a:rPr lang="en-US" sz="1200" dirty="0">
                <a:solidFill>
                  <a:srgbClr val="B9C4D1"/>
                </a:solidFill>
                <a:latin typeface="Courier New" pitchFamily="34" charset="0"/>
                <a:ea typeface="Courier New" pitchFamily="34" charset="-122"/>
                <a:cs typeface="Courier New" pitchFamily="34" charset="-120"/>
              </a:rPr>
              <a:t>POST http://telemetryapi.local/customers   → 201</a:t>
            </a:r>
            <a:endParaRPr lang="en-US" sz="1200" dirty="0"/>
          </a:p>
          <a:p>
            <a:pPr marL="0" indent="0">
              <a:lnSpc>
                <a:spcPct val="110000"/>
              </a:lnSpc>
              <a:buNone/>
            </a:pPr>
            <a:r>
              <a:rPr lang="en-US" sz="1200" dirty="0">
                <a:solidFill>
                  <a:srgbClr val="B9C4D1"/>
                </a:solidFill>
                <a:latin typeface="Courier New" pitchFamily="34" charset="0"/>
                <a:ea typeface="Courier New" pitchFamily="34" charset="-122"/>
                <a:cs typeface="Courier New" pitchFamily="34" charset="-120"/>
              </a:rPr>
              <a:t>GET  http://telemetryapi.local/demo/slow   → 2 s</a:t>
            </a:r>
            <a:endParaRPr lang="en-US" sz="1200" dirty="0"/>
          </a:p>
          <a:p>
            <a:pPr marL="0" indent="0">
              <a:lnSpc>
                <a:spcPct val="110000"/>
              </a:lnSpc>
              <a:buNone/>
            </a:pPr>
            <a:r>
              <a:rPr lang="en-US" sz="1200" dirty="0">
                <a:solidFill>
                  <a:srgbClr val="B9C4D1"/>
                </a:solidFill>
                <a:latin typeface="Courier New" pitchFamily="34" charset="0"/>
                <a:ea typeface="Courier New" pitchFamily="34" charset="-122"/>
                <a:cs typeface="Courier New" pitchFamily="34" charset="-120"/>
              </a:rPr>
              <a:t>GET  http://telemetryapi.local/demo/error  → 500</a:t>
            </a:r>
            <a:endParaRPr lang="en-US" sz="1200" dirty="0"/>
          </a:p>
        </p:txBody>
      </p:sp>
      <p:sp>
        <p:nvSpPr>
          <p:cNvPr id="10" name="Shape 8"/>
          <p:cNvSpPr/>
          <p:nvPr/>
        </p:nvSpPr>
        <p:spPr>
          <a:xfrm>
            <a:off x="7863840" y="1554480"/>
            <a:ext cx="3779215" cy="1325880"/>
          </a:xfrm>
          <a:prstGeom prst="roundRect">
            <a:avLst>
              <a:gd name="adj" fmla="val 4138"/>
            </a:avLst>
          </a:prstGeom>
          <a:solidFill>
            <a:srgbClr val="16294A"/>
          </a:solidFill>
          <a:ln w="12700">
            <a:solidFill>
              <a:srgbClr val="16294A"/>
            </a:solidFill>
            <a:prstDash val="solid"/>
          </a:ln>
        </p:spPr>
      </p:sp>
      <p:sp>
        <p:nvSpPr>
          <p:cNvPr id="11" name="Text 9"/>
          <p:cNvSpPr txBox="1"/>
          <p:nvPr/>
        </p:nvSpPr>
        <p:spPr>
          <a:xfrm>
            <a:off x="8065008" y="1755648"/>
            <a:ext cx="3376879" cy="320040"/>
          </a:xfrm>
          <a:prstGeom prst="rect">
            <a:avLst/>
          </a:prstGeom>
          <a:noFill/>
          <a:ln/>
        </p:spPr>
        <p:txBody>
          <a:bodyPr wrap="square" lIns="0" tIns="0" rIns="0" bIns="0" rtlCol="0" anchor="t"/>
          <a:lstStyle/>
          <a:p>
            <a:pPr marL="0" indent="0">
              <a:buNone/>
            </a:pPr>
            <a:r>
              <a:rPr lang="en-US" sz="1400" b="1" dirty="0">
                <a:solidFill>
                  <a:srgbClr val="F5F7FA"/>
                </a:solidFill>
                <a:latin typeface="Calibri" pitchFamily="34" charset="0"/>
                <a:ea typeface="Calibri" pitchFamily="34" charset="-122"/>
                <a:cs typeface="Calibri" pitchFamily="34" charset="-120"/>
              </a:rPr>
              <a:t>Samma mönster</a:t>
            </a:r>
            <a:endParaRPr lang="en-US" sz="1400" dirty="0"/>
          </a:p>
        </p:txBody>
      </p:sp>
      <p:sp>
        <p:nvSpPr>
          <p:cNvPr id="12" name="Text 10"/>
          <p:cNvSpPr txBox="1"/>
          <p:nvPr/>
        </p:nvSpPr>
        <p:spPr>
          <a:xfrm>
            <a:off x="8065008" y="2139696"/>
            <a:ext cx="3376879" cy="585216"/>
          </a:xfrm>
          <a:prstGeom prst="rect">
            <a:avLst/>
          </a:prstGeom>
          <a:noFill/>
          <a:ln/>
        </p:spPr>
        <p:txBody>
          <a:bodyPr wrap="square" lIns="0" tIns="0" rIns="0" bIns="0" rtlCol="0" anchor="t"/>
          <a:lstStyle/>
          <a:p>
            <a:pPr marL="0" indent="0">
              <a:lnSpc>
                <a:spcPct val="115000"/>
              </a:lnSpc>
              <a:buNone/>
            </a:pPr>
            <a:r>
              <a:rPr lang="en-US" sz="1200" dirty="0">
                <a:solidFill>
                  <a:srgbClr val="B9C4D1"/>
                </a:solidFill>
                <a:latin typeface="Arial" pitchFamily="34" charset="0"/>
                <a:ea typeface="Arial" pitchFamily="34" charset="-122"/>
                <a:cs typeface="Arial" pitchFamily="34" charset="-120"/>
              </a:rPr>
              <a:t>setup-db.ps1 och build.ps1 som i CQRS.</a:t>
            </a:r>
            <a:endParaRPr lang="en-US" sz="1200" dirty="0"/>
          </a:p>
        </p:txBody>
      </p:sp>
      <p:sp>
        <p:nvSpPr>
          <p:cNvPr id="13" name="Shape 11"/>
          <p:cNvSpPr/>
          <p:nvPr/>
        </p:nvSpPr>
        <p:spPr>
          <a:xfrm>
            <a:off x="7863840" y="3017520"/>
            <a:ext cx="3779215" cy="1325880"/>
          </a:xfrm>
          <a:prstGeom prst="roundRect">
            <a:avLst>
              <a:gd name="adj" fmla="val 4138"/>
            </a:avLst>
          </a:prstGeom>
          <a:solidFill>
            <a:srgbClr val="16294A"/>
          </a:solidFill>
          <a:ln w="12700">
            <a:solidFill>
              <a:srgbClr val="16294A"/>
            </a:solidFill>
            <a:prstDash val="solid"/>
          </a:ln>
        </p:spPr>
      </p:sp>
      <p:sp>
        <p:nvSpPr>
          <p:cNvPr id="14" name="Text 12"/>
          <p:cNvSpPr txBox="1"/>
          <p:nvPr/>
        </p:nvSpPr>
        <p:spPr>
          <a:xfrm>
            <a:off x="8065008" y="3218688"/>
            <a:ext cx="3376879" cy="320040"/>
          </a:xfrm>
          <a:prstGeom prst="rect">
            <a:avLst/>
          </a:prstGeom>
          <a:noFill/>
          <a:ln/>
        </p:spPr>
        <p:txBody>
          <a:bodyPr wrap="square" lIns="0" tIns="0" rIns="0" bIns="0" rtlCol="0" anchor="t"/>
          <a:lstStyle/>
          <a:p>
            <a:pPr marL="0" indent="0">
              <a:buNone/>
            </a:pPr>
            <a:r>
              <a:rPr lang="en-US" sz="1400" b="1" dirty="0">
                <a:solidFill>
                  <a:srgbClr val="F5F7FA"/>
                </a:solidFill>
                <a:latin typeface="Calibri" pitchFamily="34" charset="0"/>
                <a:ea typeface="Calibri" pitchFamily="34" charset="-122"/>
                <a:cs typeface="Calibri" pitchFamily="34" charset="-120"/>
              </a:rPr>
              <a:t>/scalar</a:t>
            </a:r>
            <a:endParaRPr lang="en-US" sz="1400" dirty="0"/>
          </a:p>
        </p:txBody>
      </p:sp>
      <p:sp>
        <p:nvSpPr>
          <p:cNvPr id="15" name="Text 13"/>
          <p:cNvSpPr txBox="1"/>
          <p:nvPr/>
        </p:nvSpPr>
        <p:spPr>
          <a:xfrm>
            <a:off x="8065008" y="3602736"/>
            <a:ext cx="3376879" cy="585216"/>
          </a:xfrm>
          <a:prstGeom prst="rect">
            <a:avLst/>
          </a:prstGeom>
          <a:noFill/>
          <a:ln/>
        </p:spPr>
        <p:txBody>
          <a:bodyPr wrap="square" lIns="0" tIns="0" rIns="0" bIns="0" rtlCol="0" anchor="t"/>
          <a:lstStyle/>
          <a:p>
            <a:pPr marL="0" indent="0">
              <a:lnSpc>
                <a:spcPct val="115000"/>
              </a:lnSpc>
              <a:buNone/>
            </a:pPr>
            <a:r>
              <a:rPr lang="en-US" sz="1200" dirty="0">
                <a:solidFill>
                  <a:srgbClr val="B9C4D1"/>
                </a:solidFill>
                <a:latin typeface="Arial" pitchFamily="34" charset="0"/>
                <a:ea typeface="Arial" pitchFamily="34" charset="-122"/>
                <a:cs typeface="Arial" pitchFamily="34" charset="-120"/>
              </a:rPr>
              <a:t>telemetryapi.local/scalar - testa i webbläsaren.</a:t>
            </a:r>
            <a:endParaRPr lang="en-US" sz="1200" dirty="0"/>
          </a:p>
        </p:txBody>
      </p:sp>
      <p:sp>
        <p:nvSpPr>
          <p:cNvPr id="16" name="Shape 14"/>
          <p:cNvSpPr/>
          <p:nvPr/>
        </p:nvSpPr>
        <p:spPr>
          <a:xfrm>
            <a:off x="7863840" y="4434840"/>
            <a:ext cx="3779215" cy="1325880"/>
          </a:xfrm>
          <a:prstGeom prst="roundRect">
            <a:avLst>
              <a:gd name="adj" fmla="val 4138"/>
            </a:avLst>
          </a:prstGeom>
          <a:solidFill>
            <a:srgbClr val="3762FF"/>
          </a:solidFill>
          <a:ln w="12700">
            <a:solidFill>
              <a:srgbClr val="3762FF"/>
            </a:solidFill>
            <a:prstDash val="solid"/>
          </a:ln>
        </p:spPr>
      </p:sp>
      <p:sp>
        <p:nvSpPr>
          <p:cNvPr id="17" name="Text 15"/>
          <p:cNvSpPr txBox="1"/>
          <p:nvPr/>
        </p:nvSpPr>
        <p:spPr>
          <a:xfrm>
            <a:off x="8065008" y="4636008"/>
            <a:ext cx="3376879"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Demo-endpoints</a:t>
            </a:r>
            <a:endParaRPr lang="en-US" sz="1400" dirty="0"/>
          </a:p>
        </p:txBody>
      </p:sp>
      <p:sp>
        <p:nvSpPr>
          <p:cNvPr id="18" name="Text 16"/>
          <p:cNvSpPr txBox="1"/>
          <p:nvPr/>
        </p:nvSpPr>
        <p:spPr>
          <a:xfrm>
            <a:off x="8065008" y="5020056"/>
            <a:ext cx="3376879" cy="585216"/>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Ett långt span och ett rött span att leta efter.</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marL="0" indent="0">
              <a:buNone/>
            </a:pPr>
            <a:r>
              <a:rPr lang="en-US" sz="15000" b="1" dirty="0">
                <a:solidFill>
                  <a:srgbClr val="16294A"/>
                </a:solidFill>
                <a:latin typeface="Calibri" pitchFamily="34" charset="0"/>
                <a:ea typeface="Calibri" pitchFamily="34" charset="-122"/>
                <a:cs typeface="Calibri" pitchFamily="34" charset="-120"/>
              </a:rPr>
              <a:t>06</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marL="0" indent="0">
              <a:buNone/>
            </a:pPr>
            <a:r>
              <a:rPr lang="en-US" sz="5200" b="1" dirty="0">
                <a:solidFill>
                  <a:srgbClr val="F5F7FA"/>
                </a:solidFill>
                <a:latin typeface="Calibri" pitchFamily="34" charset="0"/>
                <a:ea typeface="Calibri" pitchFamily="34" charset="-122"/>
                <a:cs typeface="Calibri" pitchFamily="34" charset="-120"/>
              </a:rPr>
              <a:t>CustomerClient</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marL="0" indent="0">
              <a:lnSpc>
                <a:spcPct val="120000"/>
              </a:lnSpc>
              <a:buNone/>
            </a:pPr>
            <a:r>
              <a:rPr lang="en-US" sz="1800" dirty="0">
                <a:solidFill>
                  <a:srgbClr val="B9C4D1"/>
                </a:solidFill>
                <a:latin typeface="Arial" pitchFamily="34" charset="0"/>
                <a:ea typeface="Arial" pitchFamily="34" charset="-122"/>
                <a:cs typeface="Arial" pitchFamily="34" charset="-120"/>
              </a:rPr>
              <a:t>Angular med Grafana Faro - telemetri från webbläsaren</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CUSTOMERCLIENT · FARO</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initializeFaro() innan Angular startar</a:t>
            </a:r>
            <a:endParaRPr lang="en-US" sz="3000" dirty="0"/>
          </a:p>
        </p:txBody>
      </p:sp>
      <p:sp>
        <p:nvSpPr>
          <p:cNvPr id="4" name="Shape 2"/>
          <p:cNvSpPr/>
          <p:nvPr/>
        </p:nvSpPr>
        <p:spPr>
          <a:xfrm>
            <a:off x="548640" y="1554480"/>
            <a:ext cx="6949440" cy="4206240"/>
          </a:xfrm>
          <a:prstGeom prst="roundRect">
            <a:avLst>
              <a:gd name="adj" fmla="val 1304"/>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5943600"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src/app/faro.ts (förkortad)</a:t>
            </a:r>
            <a:endParaRPr lang="en-US" sz="1100" dirty="0"/>
          </a:p>
        </p:txBody>
      </p:sp>
      <p:sp>
        <p:nvSpPr>
          <p:cNvPr id="9" name="Text 7"/>
          <p:cNvSpPr txBox="1"/>
          <p:nvPr/>
        </p:nvSpPr>
        <p:spPr>
          <a:xfrm>
            <a:off x="777240" y="2011680"/>
            <a:ext cx="6492240" cy="3611880"/>
          </a:xfrm>
          <a:prstGeom prst="rect">
            <a:avLst/>
          </a:prstGeom>
          <a:noFill/>
          <a:ln/>
        </p:spPr>
        <p:txBody>
          <a:bodyPr wrap="square" lIns="0" tIns="0" rIns="0" bIns="0" rtlCol="0" anchor="t"/>
          <a:lstStyle/>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initializeFaro({</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url: `${window.location.origin}/faro/collect`,</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app: {</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name: 'customer-client',     // service.name</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version: '1.0.0',</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environment: 'k3d',</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instrumentations: [</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...getWebInstrumentations(),  // fel, konsol, Web Vitals</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new TracingInstrumentation(), // spans + traceparent</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a:t>
            </a:r>
            <a:endParaRPr lang="en-US" sz="1200" dirty="0"/>
          </a:p>
        </p:txBody>
      </p:sp>
      <p:sp>
        <p:nvSpPr>
          <p:cNvPr id="10" name="Shape 8"/>
          <p:cNvSpPr/>
          <p:nvPr/>
        </p:nvSpPr>
        <p:spPr>
          <a:xfrm>
            <a:off x="7863840" y="1554480"/>
            <a:ext cx="3779215" cy="132588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8065008" y="1755648"/>
            <a:ext cx="3376879"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Två npm-paket</a:t>
            </a:r>
            <a:endParaRPr lang="en-US" sz="1400" dirty="0"/>
          </a:p>
        </p:txBody>
      </p:sp>
      <p:sp>
        <p:nvSpPr>
          <p:cNvPr id="12" name="Text 10"/>
          <p:cNvSpPr txBox="1"/>
          <p:nvPr/>
        </p:nvSpPr>
        <p:spPr>
          <a:xfrm>
            <a:off x="8065008" y="2139696"/>
            <a:ext cx="3376879" cy="58521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@grafana/faro-web-sdk och @grafana/faro-web-tracing</a:t>
            </a:r>
            <a:endParaRPr lang="en-US" sz="1200" dirty="0"/>
          </a:p>
        </p:txBody>
      </p:sp>
      <p:sp>
        <p:nvSpPr>
          <p:cNvPr id="13" name="Shape 11"/>
          <p:cNvSpPr/>
          <p:nvPr/>
        </p:nvSpPr>
        <p:spPr>
          <a:xfrm>
            <a:off x="7863840" y="3017520"/>
            <a:ext cx="3779215" cy="132588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8065008" y="3218688"/>
            <a:ext cx="3376879"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main.ts</a:t>
            </a:r>
            <a:endParaRPr lang="en-US" sz="1400" dirty="0"/>
          </a:p>
        </p:txBody>
      </p:sp>
      <p:sp>
        <p:nvSpPr>
          <p:cNvPr id="15" name="Text 13"/>
          <p:cNvSpPr txBox="1"/>
          <p:nvPr/>
        </p:nvSpPr>
        <p:spPr>
          <a:xfrm>
            <a:off x="8065008" y="3602736"/>
            <a:ext cx="3376879" cy="58521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initTelemetry() före bootstrapApplication.</a:t>
            </a:r>
            <a:endParaRPr lang="en-US" sz="1200" dirty="0"/>
          </a:p>
        </p:txBody>
      </p:sp>
      <p:sp>
        <p:nvSpPr>
          <p:cNvPr id="16" name="Shape 14"/>
          <p:cNvSpPr/>
          <p:nvPr/>
        </p:nvSpPr>
        <p:spPr>
          <a:xfrm>
            <a:off x="7863840" y="4434840"/>
            <a:ext cx="3779215" cy="1325880"/>
          </a:xfrm>
          <a:prstGeom prst="roundRect">
            <a:avLst>
              <a:gd name="adj" fmla="val 4138"/>
            </a:avLst>
          </a:prstGeom>
          <a:solidFill>
            <a:srgbClr val="3762FF"/>
          </a:solidFill>
          <a:ln w="12700">
            <a:solidFill>
              <a:srgbClr val="3762FF"/>
            </a:solidFill>
            <a:prstDash val="solid"/>
          </a:ln>
        </p:spPr>
      </p:sp>
      <p:sp>
        <p:nvSpPr>
          <p:cNvPr id="17" name="Text 15"/>
          <p:cNvSpPr txBox="1"/>
          <p:nvPr/>
        </p:nvSpPr>
        <p:spPr>
          <a:xfrm>
            <a:off x="8065008" y="4636008"/>
            <a:ext cx="3376879"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TracingInstrumentation</a:t>
            </a:r>
            <a:endParaRPr lang="en-US" sz="1400" dirty="0"/>
          </a:p>
        </p:txBody>
      </p:sp>
      <p:sp>
        <p:nvSpPr>
          <p:cNvPr id="18" name="Text 16"/>
          <p:cNvSpPr txBox="1"/>
          <p:nvPr/>
        </p:nvSpPr>
        <p:spPr>
          <a:xfrm>
            <a:off x="8065008" y="5020056"/>
            <a:ext cx="3376879" cy="585216"/>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Lägger traceparent på alla anrop till /api.</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CUSTOMERCLIENT · NGINX</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Två proxies, samma origin</a:t>
            </a:r>
            <a:endParaRPr lang="en-US" sz="3000" dirty="0"/>
          </a:p>
        </p:txBody>
      </p:sp>
      <p:sp>
        <p:nvSpPr>
          <p:cNvPr id="4" name="Shape 2"/>
          <p:cNvSpPr/>
          <p:nvPr/>
        </p:nvSpPr>
        <p:spPr>
          <a:xfrm>
            <a:off x="548640" y="2103120"/>
            <a:ext cx="2377440" cy="1097280"/>
          </a:xfrm>
          <a:prstGeom prst="roundRect">
            <a:avLst>
              <a:gd name="adj" fmla="val 5000"/>
            </a:avLst>
          </a:prstGeom>
          <a:solidFill>
            <a:srgbClr val="16294A"/>
          </a:solidFill>
          <a:ln w="12700">
            <a:solidFill>
              <a:srgbClr val="16294A"/>
            </a:solidFill>
            <a:prstDash val="solid"/>
          </a:ln>
        </p:spPr>
      </p:sp>
      <p:sp>
        <p:nvSpPr>
          <p:cNvPr id="5" name="Text 3"/>
          <p:cNvSpPr txBox="1"/>
          <p:nvPr/>
        </p:nvSpPr>
        <p:spPr>
          <a:xfrm>
            <a:off x="640080" y="2103120"/>
            <a:ext cx="2194560" cy="1097280"/>
          </a:xfrm>
          <a:prstGeom prst="rect">
            <a:avLst/>
          </a:prstGeom>
          <a:noFill/>
          <a:ln/>
        </p:spPr>
        <p:txBody>
          <a:bodyPr wrap="square" lIns="0" tIns="0" rIns="0" bIns="0" rtlCol="0" anchor="ctr"/>
          <a:lstStyle/>
          <a:p>
            <a:pPr marL="0" indent="0" algn="ctr">
              <a:buNone/>
            </a:pPr>
            <a:r>
              <a:rPr lang="en-US" sz="1400" b="1" dirty="0">
                <a:solidFill>
                  <a:srgbClr val="F5F7FA"/>
                </a:solidFill>
                <a:latin typeface="Calibri" pitchFamily="34" charset="0"/>
                <a:ea typeface="Calibri" pitchFamily="34" charset="-122"/>
                <a:cs typeface="Calibri" pitchFamily="34" charset="-120"/>
              </a:rPr>
              <a:t>Webbläsare</a:t>
            </a:r>
            <a:endParaRPr lang="en-US" sz="1400" dirty="0"/>
          </a:p>
          <a:p>
            <a:pPr marL="0" indent="0" algn="ctr">
              <a:buNone/>
            </a:pPr>
            <a:r>
              <a:rPr lang="en-US" sz="1400" b="1" dirty="0">
                <a:solidFill>
                  <a:srgbClr val="F5F7FA"/>
                </a:solidFill>
                <a:latin typeface="Calibri" pitchFamily="34" charset="0"/>
                <a:ea typeface="Calibri" pitchFamily="34" charset="-122"/>
                <a:cs typeface="Calibri" pitchFamily="34" charset="-120"/>
              </a:rPr>
              <a:t>customerclient.local</a:t>
            </a:r>
            <a:endParaRPr lang="en-US" sz="1400" dirty="0"/>
          </a:p>
        </p:txBody>
      </p:sp>
      <p:sp>
        <p:nvSpPr>
          <p:cNvPr id="6" name="Shape 4"/>
          <p:cNvSpPr/>
          <p:nvPr/>
        </p:nvSpPr>
        <p:spPr>
          <a:xfrm>
            <a:off x="3840480" y="2103120"/>
            <a:ext cx="2194560" cy="1097280"/>
          </a:xfrm>
          <a:prstGeom prst="roundRect">
            <a:avLst>
              <a:gd name="adj" fmla="val 5000"/>
            </a:avLst>
          </a:prstGeom>
          <a:solidFill>
            <a:srgbClr val="3762FF"/>
          </a:solidFill>
          <a:ln w="12700">
            <a:solidFill>
              <a:srgbClr val="3762FF"/>
            </a:solidFill>
            <a:prstDash val="solid"/>
          </a:ln>
        </p:spPr>
      </p:sp>
      <p:sp>
        <p:nvSpPr>
          <p:cNvPr id="7" name="Text 5"/>
          <p:cNvSpPr txBox="1"/>
          <p:nvPr/>
        </p:nvSpPr>
        <p:spPr>
          <a:xfrm>
            <a:off x="3931920" y="2103120"/>
            <a:ext cx="2011680" cy="10972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nginx</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/api/  /faro/</a:t>
            </a:r>
            <a:endParaRPr lang="en-US" sz="1400" dirty="0"/>
          </a:p>
        </p:txBody>
      </p:sp>
      <p:sp>
        <p:nvSpPr>
          <p:cNvPr id="8" name="Shape 6"/>
          <p:cNvSpPr/>
          <p:nvPr/>
        </p:nvSpPr>
        <p:spPr>
          <a:xfrm>
            <a:off x="2971800" y="2651760"/>
            <a:ext cx="822960" cy="0"/>
          </a:xfrm>
          <a:prstGeom prst="line">
            <a:avLst/>
          </a:prstGeom>
          <a:noFill/>
          <a:ln w="19050">
            <a:solidFill>
              <a:srgbClr val="7C9CFF"/>
            </a:solidFill>
            <a:prstDash val="solid"/>
            <a:tailEnd type="triangle"/>
          </a:ln>
        </p:spPr>
      </p:sp>
      <p:sp>
        <p:nvSpPr>
          <p:cNvPr id="9" name="Shape 7"/>
          <p:cNvSpPr/>
          <p:nvPr/>
        </p:nvSpPr>
        <p:spPr>
          <a:xfrm>
            <a:off x="7315200" y="1463040"/>
            <a:ext cx="4297680" cy="914400"/>
          </a:xfrm>
          <a:prstGeom prst="roundRect">
            <a:avLst>
              <a:gd name="adj" fmla="val 6000"/>
            </a:avLst>
          </a:prstGeom>
          <a:solidFill>
            <a:srgbClr val="16294A"/>
          </a:solidFill>
          <a:ln w="12700">
            <a:solidFill>
              <a:srgbClr val="16294A"/>
            </a:solidFill>
            <a:prstDash val="solid"/>
          </a:ln>
        </p:spPr>
      </p:sp>
      <p:sp>
        <p:nvSpPr>
          <p:cNvPr id="10" name="Text 8"/>
          <p:cNvSpPr txBox="1"/>
          <p:nvPr/>
        </p:nvSpPr>
        <p:spPr>
          <a:xfrm>
            <a:off x="7406640" y="1463040"/>
            <a:ext cx="4114800" cy="914400"/>
          </a:xfrm>
          <a:prstGeom prst="rect">
            <a:avLst/>
          </a:prstGeom>
          <a:noFill/>
          <a:ln/>
        </p:spPr>
        <p:txBody>
          <a:bodyPr wrap="square" lIns="0" tIns="0" rIns="0" bIns="0" rtlCol="0" anchor="ctr"/>
          <a:lstStyle/>
          <a:p>
            <a:pPr marL="0" indent="0" algn="ctr">
              <a:buNone/>
            </a:pPr>
            <a:r>
              <a:rPr lang="en-US" sz="1300" b="1" dirty="0">
                <a:solidFill>
                  <a:srgbClr val="F5F7FA"/>
                </a:solidFill>
                <a:latin typeface="Calibri" pitchFamily="34" charset="0"/>
                <a:ea typeface="Calibri" pitchFamily="34" charset="-122"/>
                <a:cs typeface="Calibri" pitchFamily="34" charset="-120"/>
              </a:rPr>
              <a:t>telemetry-api.customers</a:t>
            </a:r>
            <a:endParaRPr lang="en-US" sz="1300" dirty="0"/>
          </a:p>
          <a:p>
            <a:pPr marL="0" indent="0" algn="ctr">
              <a:buNone/>
            </a:pPr>
            <a:r>
              <a:rPr lang="en-US" sz="1300" b="1" dirty="0">
                <a:solidFill>
                  <a:srgbClr val="F5F7FA"/>
                </a:solidFill>
                <a:latin typeface="Calibri" pitchFamily="34" charset="0"/>
                <a:ea typeface="Calibri" pitchFamily="34" charset="-122"/>
                <a:cs typeface="Calibri" pitchFamily="34" charset="-120"/>
              </a:rPr>
              <a:t>+ traceparent följer med</a:t>
            </a:r>
            <a:endParaRPr lang="en-US" sz="1300" dirty="0"/>
          </a:p>
        </p:txBody>
      </p:sp>
      <p:sp>
        <p:nvSpPr>
          <p:cNvPr id="11" name="Shape 9"/>
          <p:cNvSpPr/>
          <p:nvPr/>
        </p:nvSpPr>
        <p:spPr>
          <a:xfrm>
            <a:off x="7315200" y="2926080"/>
            <a:ext cx="4297680" cy="914400"/>
          </a:xfrm>
          <a:prstGeom prst="roundRect">
            <a:avLst>
              <a:gd name="adj" fmla="val 6000"/>
            </a:avLst>
          </a:prstGeom>
          <a:solidFill>
            <a:srgbClr val="16294A"/>
          </a:solidFill>
          <a:ln w="12700">
            <a:solidFill>
              <a:srgbClr val="16294A"/>
            </a:solidFill>
            <a:prstDash val="solid"/>
          </a:ln>
        </p:spPr>
      </p:sp>
      <p:sp>
        <p:nvSpPr>
          <p:cNvPr id="12" name="Text 10"/>
          <p:cNvSpPr txBox="1"/>
          <p:nvPr/>
        </p:nvSpPr>
        <p:spPr>
          <a:xfrm>
            <a:off x="7406640" y="2926080"/>
            <a:ext cx="4114800" cy="914400"/>
          </a:xfrm>
          <a:prstGeom prst="rect">
            <a:avLst/>
          </a:prstGeom>
          <a:noFill/>
          <a:ln/>
        </p:spPr>
        <p:txBody>
          <a:bodyPr wrap="square" lIns="0" tIns="0" rIns="0" bIns="0" rtlCol="0" anchor="ctr"/>
          <a:lstStyle/>
          <a:p>
            <a:pPr marL="0" indent="0" algn="ctr">
              <a:buNone/>
            </a:pPr>
            <a:r>
              <a:rPr lang="en-US" sz="1300" b="1" dirty="0">
                <a:solidFill>
                  <a:srgbClr val="F5F7FA"/>
                </a:solidFill>
                <a:latin typeface="Calibri" pitchFamily="34" charset="0"/>
                <a:ea typeface="Calibri" pitchFamily="34" charset="-122"/>
                <a:cs typeface="Calibri" pitchFamily="34" charset="-120"/>
              </a:rPr>
              <a:t>faro-collector.monitoring:8080</a:t>
            </a:r>
            <a:endParaRPr lang="en-US" sz="1300" dirty="0"/>
          </a:p>
          <a:p>
            <a:pPr marL="0" indent="0" algn="ctr">
              <a:buNone/>
            </a:pPr>
            <a:r>
              <a:rPr lang="en-US" sz="1300" b="1" dirty="0">
                <a:solidFill>
                  <a:srgbClr val="F5F7FA"/>
                </a:solidFill>
                <a:latin typeface="Calibri" pitchFamily="34" charset="0"/>
                <a:ea typeface="Calibri" pitchFamily="34" charset="-122"/>
                <a:cs typeface="Calibri" pitchFamily="34" charset="-120"/>
              </a:rPr>
              <a:t>→ OTLP → otel-collector</a:t>
            </a:r>
            <a:endParaRPr lang="en-US" sz="1300" dirty="0"/>
          </a:p>
        </p:txBody>
      </p:sp>
      <p:sp>
        <p:nvSpPr>
          <p:cNvPr id="13" name="Shape 11"/>
          <p:cNvSpPr/>
          <p:nvPr/>
        </p:nvSpPr>
        <p:spPr>
          <a:xfrm flipV="1">
            <a:off x="6080760" y="1920240"/>
            <a:ext cx="1188720" cy="548640"/>
          </a:xfrm>
          <a:prstGeom prst="line">
            <a:avLst/>
          </a:prstGeom>
          <a:noFill/>
          <a:ln w="19050">
            <a:solidFill>
              <a:srgbClr val="7C9CFF"/>
            </a:solidFill>
            <a:prstDash val="solid"/>
            <a:tailEnd type="triangle"/>
          </a:ln>
        </p:spPr>
      </p:sp>
      <p:sp>
        <p:nvSpPr>
          <p:cNvPr id="14" name="Shape 12"/>
          <p:cNvSpPr/>
          <p:nvPr/>
        </p:nvSpPr>
        <p:spPr>
          <a:xfrm>
            <a:off x="6080760" y="2834640"/>
            <a:ext cx="1188720" cy="548640"/>
          </a:xfrm>
          <a:prstGeom prst="line">
            <a:avLst/>
          </a:prstGeom>
          <a:noFill/>
          <a:ln w="19050">
            <a:solidFill>
              <a:srgbClr val="7C9CFF"/>
            </a:solidFill>
            <a:prstDash val="solid"/>
            <a:tailEnd type="triangle"/>
          </a:ln>
        </p:spPr>
      </p:sp>
      <p:sp>
        <p:nvSpPr>
          <p:cNvPr id="15" name="Shape 13"/>
          <p:cNvSpPr/>
          <p:nvPr/>
        </p:nvSpPr>
        <p:spPr>
          <a:xfrm>
            <a:off x="548640" y="4206240"/>
            <a:ext cx="11094415" cy="1600200"/>
          </a:xfrm>
          <a:prstGeom prst="roundRect">
            <a:avLst>
              <a:gd name="adj" fmla="val 3429"/>
            </a:avLst>
          </a:prstGeom>
          <a:solidFill>
            <a:srgbClr val="16294A"/>
          </a:solidFill>
          <a:ln w="12700">
            <a:solidFill>
              <a:srgbClr val="16294A"/>
            </a:solidFill>
            <a:prstDash val="solid"/>
          </a:ln>
        </p:spPr>
      </p:sp>
      <p:sp>
        <p:nvSpPr>
          <p:cNvPr id="16" name="Shape 14"/>
          <p:cNvSpPr/>
          <p:nvPr/>
        </p:nvSpPr>
        <p:spPr>
          <a:xfrm>
            <a:off x="749808" y="4370832"/>
            <a:ext cx="109728" cy="109728"/>
          </a:xfrm>
          <a:prstGeom prst="ellipse">
            <a:avLst/>
          </a:prstGeom>
          <a:solidFill>
            <a:srgbClr val="D64545"/>
          </a:solidFill>
          <a:ln w="12700">
            <a:solidFill>
              <a:srgbClr val="D64545"/>
            </a:solidFill>
            <a:prstDash val="solid"/>
          </a:ln>
        </p:spPr>
      </p:sp>
      <p:sp>
        <p:nvSpPr>
          <p:cNvPr id="17" name="Shape 15"/>
          <p:cNvSpPr/>
          <p:nvPr/>
        </p:nvSpPr>
        <p:spPr>
          <a:xfrm>
            <a:off x="932688" y="4370832"/>
            <a:ext cx="109728" cy="109728"/>
          </a:xfrm>
          <a:prstGeom prst="ellipse">
            <a:avLst/>
          </a:prstGeom>
          <a:solidFill>
            <a:srgbClr val="FFB020"/>
          </a:solidFill>
          <a:ln w="12700">
            <a:solidFill>
              <a:srgbClr val="FFB020"/>
            </a:solidFill>
            <a:prstDash val="solid"/>
          </a:ln>
        </p:spPr>
      </p:sp>
      <p:sp>
        <p:nvSpPr>
          <p:cNvPr id="18" name="Shape 16"/>
          <p:cNvSpPr/>
          <p:nvPr/>
        </p:nvSpPr>
        <p:spPr>
          <a:xfrm>
            <a:off x="1115568" y="4370832"/>
            <a:ext cx="109728" cy="109728"/>
          </a:xfrm>
          <a:prstGeom prst="ellipse">
            <a:avLst/>
          </a:prstGeom>
          <a:solidFill>
            <a:srgbClr val="3CB371"/>
          </a:solidFill>
          <a:ln w="12700">
            <a:solidFill>
              <a:srgbClr val="3CB371"/>
            </a:solidFill>
            <a:prstDash val="solid"/>
          </a:ln>
        </p:spPr>
      </p:sp>
      <p:sp>
        <p:nvSpPr>
          <p:cNvPr id="19" name="Text 17"/>
          <p:cNvSpPr txBox="1"/>
          <p:nvPr/>
        </p:nvSpPr>
        <p:spPr>
          <a:xfrm>
            <a:off x="1371600" y="4297680"/>
            <a:ext cx="10088575"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CustomerClient/nginx.conf (utdrag)</a:t>
            </a:r>
            <a:endParaRPr lang="en-US" sz="1100" dirty="0"/>
          </a:p>
        </p:txBody>
      </p:sp>
      <p:sp>
        <p:nvSpPr>
          <p:cNvPr id="20" name="Text 18"/>
          <p:cNvSpPr txBox="1"/>
          <p:nvPr/>
        </p:nvSpPr>
        <p:spPr>
          <a:xfrm>
            <a:off x="777240" y="4663440"/>
            <a:ext cx="10637215" cy="1005840"/>
          </a:xfrm>
          <a:prstGeom prst="rect">
            <a:avLst/>
          </a:prstGeom>
          <a:noFill/>
          <a:ln/>
        </p:spPr>
        <p:txBody>
          <a:bodyPr wrap="square" lIns="0" tIns="0" rIns="0" bIns="0" rtlCol="0" anchor="t"/>
          <a:lstStyle/>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location /api/  { proxy_pass ${API_UPSTREAM}/;  }   # values: api.upstream</a:t>
            </a:r>
            <a:endParaRPr lang="en-US" sz="1300" dirty="0"/>
          </a:p>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location /faro/ { proxy_pass ${FARO_UPSTREAM}/; }   # values: faro.upstream</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CUSTOMERCLIENT · DEPLOY</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build.ps1 - och klicka runt</a:t>
            </a:r>
            <a:endParaRPr lang="en-US" sz="3000" dirty="0"/>
          </a:p>
        </p:txBody>
      </p:sp>
      <p:sp>
        <p:nvSpPr>
          <p:cNvPr id="4" name="Shape 2"/>
          <p:cNvSpPr/>
          <p:nvPr/>
        </p:nvSpPr>
        <p:spPr>
          <a:xfrm>
            <a:off x="548640" y="1554480"/>
            <a:ext cx="6949440" cy="2743200"/>
          </a:xfrm>
          <a:prstGeom prst="roundRect">
            <a:avLst>
              <a:gd name="adj" fmla="val 2000"/>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5943600"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6492240" cy="2148840"/>
          </a:xfrm>
          <a:prstGeom prst="rect">
            <a:avLst/>
          </a:prstGeom>
          <a:noFill/>
          <a:ln/>
        </p:spPr>
        <p:txBody>
          <a:bodyPr wrap="square" lIns="0" tIns="0" rIns="0" bIns="0" rtlCol="0" anchor="t"/>
          <a:lstStyle/>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cd D:\Kvällskurs\CustomerClient</a:t>
            </a:r>
            <a:endParaRPr lang="en-US" sz="1300" dirty="0"/>
          </a:p>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npm install</a:t>
            </a:r>
            <a:endParaRPr lang="en-US" sz="1300" dirty="0"/>
          </a:p>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./build.ps1        # docker build + push, helm upgrade --install</a:t>
            </a:r>
            <a:endParaRPr lang="en-US" sz="1300" dirty="0"/>
          </a:p>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 </a:t>
            </a:r>
            <a:endParaRPr lang="en-US" sz="1300" dirty="0"/>
          </a:p>
          <a:p>
            <a:pPr marL="0" indent="0">
              <a:lnSpc>
                <a:spcPct val="110000"/>
              </a:lnSpc>
              <a:buNone/>
            </a:pPr>
            <a:r>
              <a:rPr lang="en-US" sz="1300" dirty="0">
                <a:solidFill>
                  <a:srgbClr val="DDE3EA"/>
                </a:solidFill>
                <a:latin typeface="Courier New" pitchFamily="34" charset="0"/>
                <a:ea typeface="Courier New" pitchFamily="34" charset="-122"/>
                <a:cs typeface="Courier New" pitchFamily="34" charset="-120"/>
              </a:rPr>
              <a:t>kubectl get pods -n customers   # telemetry-api + customer-client</a:t>
            </a:r>
            <a:endParaRPr lang="en-US" sz="1300" dirty="0"/>
          </a:p>
        </p:txBody>
      </p:sp>
      <p:sp>
        <p:nvSpPr>
          <p:cNvPr id="10" name="Shape 8"/>
          <p:cNvSpPr/>
          <p:nvPr/>
        </p:nvSpPr>
        <p:spPr>
          <a:xfrm>
            <a:off x="7863840" y="1554480"/>
            <a:ext cx="3779215" cy="914400"/>
          </a:xfrm>
          <a:prstGeom prst="roundRect">
            <a:avLst>
              <a:gd name="adj" fmla="val 6000"/>
            </a:avLst>
          </a:prstGeom>
          <a:solidFill>
            <a:srgbClr val="3762FF"/>
          </a:solidFill>
          <a:ln w="12700">
            <a:solidFill>
              <a:srgbClr val="3762FF"/>
            </a:solidFill>
            <a:prstDash val="solid"/>
          </a:ln>
        </p:spPr>
      </p:sp>
      <p:sp>
        <p:nvSpPr>
          <p:cNvPr id="11" name="Text 9"/>
          <p:cNvSpPr txBox="1"/>
          <p:nvPr/>
        </p:nvSpPr>
        <p:spPr>
          <a:xfrm>
            <a:off x="8065008" y="1755648"/>
            <a:ext cx="3376879" cy="3200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Lägg till kunder</a:t>
            </a:r>
            <a:endParaRPr lang="en-US" sz="1300" dirty="0"/>
          </a:p>
        </p:txBody>
      </p:sp>
      <p:sp>
        <p:nvSpPr>
          <p:cNvPr id="12" name="Text 10"/>
          <p:cNvSpPr txBox="1"/>
          <p:nvPr/>
        </p:nvSpPr>
        <p:spPr>
          <a:xfrm>
            <a:off x="8065008" y="2139696"/>
            <a:ext cx="3376879" cy="173736"/>
          </a:xfrm>
          <a:prstGeom prst="rect">
            <a:avLst/>
          </a:prstGeom>
          <a:noFill/>
          <a:ln/>
        </p:spPr>
        <p:txBody>
          <a:bodyPr wrap="square" lIns="0" tIns="0" rIns="0" bIns="0" rtlCol="0" anchor="t"/>
          <a:lstStyle/>
          <a:p>
            <a:pPr marL="0" indent="0">
              <a:lnSpc>
                <a:spcPct val="115000"/>
              </a:lnSpc>
              <a:buNone/>
            </a:pPr>
            <a:r>
              <a:rPr lang="en-US" sz="1100" dirty="0">
                <a:solidFill>
                  <a:srgbClr val="FFFFFF"/>
                </a:solidFill>
                <a:latin typeface="Arial" pitchFamily="34" charset="0"/>
                <a:ea typeface="Arial" pitchFamily="34" charset="-122"/>
                <a:cs typeface="Arial" pitchFamily="34" charset="-120"/>
              </a:rPr>
              <a:t>Skapa, ändra och radera några kunder.</a:t>
            </a:r>
            <a:endParaRPr lang="en-US" sz="1100" dirty="0"/>
          </a:p>
        </p:txBody>
      </p:sp>
      <p:sp>
        <p:nvSpPr>
          <p:cNvPr id="13" name="Shape 11"/>
          <p:cNvSpPr/>
          <p:nvPr/>
        </p:nvSpPr>
        <p:spPr>
          <a:xfrm>
            <a:off x="7863840" y="2560320"/>
            <a:ext cx="3779215" cy="914400"/>
          </a:xfrm>
          <a:prstGeom prst="roundRect">
            <a:avLst>
              <a:gd name="adj" fmla="val 6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8065008" y="2761488"/>
            <a:ext cx="3376879" cy="320040"/>
          </a:xfrm>
          <a:prstGeom prst="rect">
            <a:avLst/>
          </a:prstGeom>
          <a:noFill/>
          <a:ln/>
        </p:spPr>
        <p:txBody>
          <a:bodyPr wrap="square" lIns="0" tIns="0" rIns="0" bIns="0" rtlCol="0" anchor="t"/>
          <a:lstStyle/>
          <a:p>
            <a:pPr marL="0" indent="0">
              <a:buNone/>
            </a:pPr>
            <a:r>
              <a:rPr lang="en-US" sz="1300" b="1" dirty="0">
                <a:solidFill>
                  <a:srgbClr val="16202B"/>
                </a:solidFill>
                <a:latin typeface="Calibri" pitchFamily="34" charset="0"/>
                <a:ea typeface="Calibri" pitchFamily="34" charset="-122"/>
                <a:cs typeface="Calibri" pitchFamily="34" charset="-120"/>
              </a:rPr>
              <a:t>Långsamt anrop</a:t>
            </a:r>
            <a:endParaRPr lang="en-US" sz="1300" dirty="0"/>
          </a:p>
        </p:txBody>
      </p:sp>
      <p:sp>
        <p:nvSpPr>
          <p:cNvPr id="15" name="Text 13"/>
          <p:cNvSpPr txBox="1"/>
          <p:nvPr/>
        </p:nvSpPr>
        <p:spPr>
          <a:xfrm>
            <a:off x="8065008" y="3145536"/>
            <a:ext cx="3376879" cy="173736"/>
          </a:xfrm>
          <a:prstGeom prst="rect">
            <a:avLst/>
          </a:prstGeom>
          <a:noFill/>
          <a:ln/>
        </p:spPr>
        <p:txBody>
          <a:bodyPr wrap="square" lIns="0" tIns="0" rIns="0" bIns="0" rtlCol="0" anchor="t"/>
          <a:lstStyle/>
          <a:p>
            <a:pPr marL="0" indent="0">
              <a:lnSpc>
                <a:spcPct val="115000"/>
              </a:lnSpc>
              <a:buNone/>
            </a:pPr>
            <a:r>
              <a:rPr lang="en-US" sz="1100" dirty="0">
                <a:solidFill>
                  <a:srgbClr val="4A5568"/>
                </a:solidFill>
                <a:latin typeface="Arial" pitchFamily="34" charset="0"/>
                <a:ea typeface="Arial" pitchFamily="34" charset="-122"/>
                <a:cs typeface="Arial" pitchFamily="34" charset="-120"/>
              </a:rPr>
              <a:t>Knappen anropar /api/demo/slow.</a:t>
            </a:r>
            <a:endParaRPr lang="en-US" sz="1100" dirty="0"/>
          </a:p>
        </p:txBody>
      </p:sp>
      <p:sp>
        <p:nvSpPr>
          <p:cNvPr id="16" name="Shape 14"/>
          <p:cNvSpPr/>
          <p:nvPr/>
        </p:nvSpPr>
        <p:spPr>
          <a:xfrm>
            <a:off x="7863840" y="3566160"/>
            <a:ext cx="3779215" cy="914400"/>
          </a:xfrm>
          <a:prstGeom prst="roundRect">
            <a:avLst>
              <a:gd name="adj" fmla="val 6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7" name="Text 15"/>
          <p:cNvSpPr txBox="1"/>
          <p:nvPr/>
        </p:nvSpPr>
        <p:spPr>
          <a:xfrm>
            <a:off x="8065008" y="3767328"/>
            <a:ext cx="3376879" cy="320040"/>
          </a:xfrm>
          <a:prstGeom prst="rect">
            <a:avLst/>
          </a:prstGeom>
          <a:noFill/>
          <a:ln/>
        </p:spPr>
        <p:txBody>
          <a:bodyPr wrap="square" lIns="0" tIns="0" rIns="0" bIns="0" rtlCol="0" anchor="t"/>
          <a:lstStyle/>
          <a:p>
            <a:pPr marL="0" indent="0">
              <a:buNone/>
            </a:pPr>
            <a:r>
              <a:rPr lang="en-US" sz="1300" b="1" dirty="0">
                <a:solidFill>
                  <a:srgbClr val="16202B"/>
                </a:solidFill>
                <a:latin typeface="Calibri" pitchFamily="34" charset="0"/>
                <a:ea typeface="Calibri" pitchFamily="34" charset="-122"/>
                <a:cs typeface="Calibri" pitchFamily="34" charset="-120"/>
              </a:rPr>
              <a:t>Orsaka fel</a:t>
            </a:r>
            <a:endParaRPr lang="en-US" sz="1300" dirty="0"/>
          </a:p>
        </p:txBody>
      </p:sp>
      <p:sp>
        <p:nvSpPr>
          <p:cNvPr id="18" name="Text 16"/>
          <p:cNvSpPr txBox="1"/>
          <p:nvPr/>
        </p:nvSpPr>
        <p:spPr>
          <a:xfrm>
            <a:off x="8065008" y="4151376"/>
            <a:ext cx="3376879" cy="173736"/>
          </a:xfrm>
          <a:prstGeom prst="rect">
            <a:avLst/>
          </a:prstGeom>
          <a:noFill/>
          <a:ln/>
        </p:spPr>
        <p:txBody>
          <a:bodyPr wrap="square" lIns="0" tIns="0" rIns="0" bIns="0" rtlCol="0" anchor="t"/>
          <a:lstStyle/>
          <a:p>
            <a:pPr marL="0" indent="0">
              <a:lnSpc>
                <a:spcPct val="115000"/>
              </a:lnSpc>
              <a:buNone/>
            </a:pPr>
            <a:r>
              <a:rPr lang="en-US" sz="1100" dirty="0">
                <a:solidFill>
                  <a:srgbClr val="4A5568"/>
                </a:solidFill>
                <a:latin typeface="Arial" pitchFamily="34" charset="0"/>
                <a:ea typeface="Arial" pitchFamily="34" charset="-122"/>
                <a:cs typeface="Arial" pitchFamily="34" charset="-120"/>
              </a:rPr>
              <a:t>Knappen anropar /api/demo/error.</a:t>
            </a:r>
            <a:endParaRPr lang="en-US" sz="1100" dirty="0"/>
          </a:p>
        </p:txBody>
      </p:sp>
      <p:sp>
        <p:nvSpPr>
          <p:cNvPr id="19" name="Shape 17"/>
          <p:cNvSpPr/>
          <p:nvPr/>
        </p:nvSpPr>
        <p:spPr>
          <a:xfrm>
            <a:off x="548640" y="4754880"/>
            <a:ext cx="11094415" cy="1005840"/>
          </a:xfrm>
          <a:prstGeom prst="roundRect">
            <a:avLst>
              <a:gd name="adj" fmla="val 5455"/>
            </a:avLst>
          </a:prstGeom>
          <a:solidFill>
            <a:srgbClr val="E8EDFF"/>
          </a:solidFill>
          <a:ln w="12700">
            <a:solidFill>
              <a:srgbClr val="E8EDFF"/>
            </a:solidFill>
            <a:prstDash val="solid"/>
          </a:ln>
        </p:spPr>
      </p:sp>
      <p:sp>
        <p:nvSpPr>
          <p:cNvPr id="20" name="Text 18"/>
          <p:cNvSpPr txBox="1"/>
          <p:nvPr/>
        </p:nvSpPr>
        <p:spPr>
          <a:xfrm>
            <a:off x="822960" y="4754880"/>
            <a:ext cx="10545775" cy="1005840"/>
          </a:xfrm>
          <a:prstGeom prst="rect">
            <a:avLst/>
          </a:prstGeom>
          <a:noFill/>
          <a:ln/>
        </p:spPr>
        <p:txBody>
          <a:bodyPr wrap="square" lIns="0" tIns="0" rIns="0" bIns="0" rtlCol="0" anchor="ctr"/>
          <a:lstStyle/>
          <a:p>
            <a:pPr marL="0" indent="0">
              <a:buNone/>
            </a:pPr>
            <a:r>
              <a:rPr lang="en-US" sz="1500" b="1" dirty="0">
                <a:solidFill>
                  <a:srgbClr val="16202B"/>
                </a:solidFill>
                <a:latin typeface="Arial" pitchFamily="34" charset="0"/>
                <a:ea typeface="Arial" pitchFamily="34" charset="-122"/>
                <a:cs typeface="Arial" pitchFamily="34" charset="-120"/>
              </a:rPr>
              <a:t>DevTools → Network: </a:t>
            </a:r>
            <a:r>
              <a:rPr lang="en-US" sz="1500" dirty="0">
                <a:solidFill>
                  <a:srgbClr val="4A5568"/>
                </a:solidFill>
                <a:latin typeface="Arial" pitchFamily="34" charset="0"/>
                <a:ea typeface="Arial" pitchFamily="34" charset="-122"/>
                <a:cs typeface="Arial" pitchFamily="34" charset="-120"/>
              </a:rPr>
              <a:t>anropen till /api har en header traceparent: 00-&lt;trace_id&gt;-&lt;span_id&gt;-01, och anrop till /faro/collect skickar telemetrin.</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CUSTOMERCLIENT · KONTROLL</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Kommer datan fram?</a:t>
            </a:r>
            <a:endParaRPr lang="en-US" sz="3000" dirty="0"/>
          </a:p>
        </p:txBody>
      </p:sp>
      <p:sp>
        <p:nvSpPr>
          <p:cNvPr id="4" name="Shape 2"/>
          <p:cNvSpPr/>
          <p:nvPr/>
        </p:nvSpPr>
        <p:spPr>
          <a:xfrm>
            <a:off x="548640" y="1554480"/>
            <a:ext cx="11094415" cy="2057400"/>
          </a:xfrm>
          <a:prstGeom prst="roundRect">
            <a:avLst>
              <a:gd name="adj" fmla="val 2667"/>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10088575"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tre snabba kontroller</a:t>
            </a:r>
            <a:endParaRPr lang="en-US" sz="1100" dirty="0"/>
          </a:p>
        </p:txBody>
      </p:sp>
      <p:sp>
        <p:nvSpPr>
          <p:cNvPr id="9" name="Text 7"/>
          <p:cNvSpPr txBox="1"/>
          <p:nvPr/>
        </p:nvSpPr>
        <p:spPr>
          <a:xfrm>
            <a:off x="777240" y="2011680"/>
            <a:ext cx="10637215" cy="1463040"/>
          </a:xfrm>
          <a:prstGeom prst="rect">
            <a:avLst/>
          </a:prstGeom>
          <a:noFill/>
          <a:ln/>
        </p:spPr>
        <p:txBody>
          <a:bodyPr wrap="square" lIns="0" tIns="0" rIns="0" bIns="0" rtlCol="0" anchor="t"/>
          <a:lstStyle/>
          <a:p>
            <a:pPr marL="0" indent="0">
              <a:lnSpc>
                <a:spcPct val="110000"/>
              </a:lnSpc>
              <a:buNone/>
            </a:pPr>
            <a:r>
              <a:rPr lang="en-US" sz="1250" i="1" dirty="0">
                <a:solidFill>
                  <a:srgbClr val="B9C4D1"/>
                </a:solidFill>
                <a:latin typeface="Courier New" pitchFamily="34" charset="0"/>
                <a:ea typeface="Courier New" pitchFamily="34" charset="-122"/>
                <a:cs typeface="Courier New" pitchFamily="34" charset="-120"/>
              </a:rPr>
              <a:t># Grafana -&gt; Explore</a:t>
            </a:r>
            <a:endParaRPr lang="en-US" sz="1250" dirty="0"/>
          </a:p>
          <a:p>
            <a:pPr marL="0" indent="0">
              <a:lnSpc>
                <a:spcPct val="110000"/>
              </a:lnSpc>
              <a:buNone/>
            </a:pPr>
            <a:r>
              <a:rPr lang="en-US" sz="1250" dirty="0">
                <a:solidFill>
                  <a:srgbClr val="DDE3EA"/>
                </a:solidFill>
                <a:latin typeface="Courier New" pitchFamily="34" charset="0"/>
                <a:ea typeface="Courier New" pitchFamily="34" charset="-122"/>
                <a:cs typeface="Courier New" pitchFamily="34" charset="-120"/>
              </a:rPr>
              <a:t>Tempo:       Search -&gt; Service Name = customer-client     # traces från webbläsaren</a:t>
            </a:r>
            <a:endParaRPr lang="en-US" sz="1250" dirty="0"/>
          </a:p>
          <a:p>
            <a:pPr marL="0" indent="0">
              <a:lnSpc>
                <a:spcPct val="110000"/>
              </a:lnSpc>
              <a:buNone/>
            </a:pPr>
            <a:r>
              <a:rPr lang="en-US" sz="1250" dirty="0">
                <a:solidFill>
                  <a:srgbClr val="DDE3EA"/>
                </a:solidFill>
                <a:latin typeface="Courier New" pitchFamily="34" charset="0"/>
                <a:ea typeface="Courier New" pitchFamily="34" charset="-122"/>
                <a:cs typeface="Courier New" pitchFamily="34" charset="-120"/>
              </a:rPr>
              <a:t>Loki:        {service_name="telemetry-api"}               # API:ts loggar</a:t>
            </a:r>
            <a:endParaRPr lang="en-US" sz="1250" dirty="0"/>
          </a:p>
          <a:p>
            <a:pPr marL="0" indent="0">
              <a:lnSpc>
                <a:spcPct val="110000"/>
              </a:lnSpc>
              <a:buNone/>
            </a:pPr>
            <a:r>
              <a:rPr lang="en-US" sz="1250" dirty="0">
                <a:solidFill>
                  <a:srgbClr val="DDE3EA"/>
                </a:solidFill>
                <a:latin typeface="Courier New" pitchFamily="34" charset="0"/>
                <a:ea typeface="Courier New" pitchFamily="34" charset="-122"/>
                <a:cs typeface="Courier New" pitchFamily="34" charset="-120"/>
              </a:rPr>
              <a:t>Prometheus:  otel_customers_created_total                 # vår egen räknare</a:t>
            </a:r>
            <a:endParaRPr lang="en-US" sz="1250" dirty="0"/>
          </a:p>
        </p:txBody>
      </p:sp>
      <p:sp>
        <p:nvSpPr>
          <p:cNvPr id="10" name="Shape 8"/>
          <p:cNvSpPr/>
          <p:nvPr/>
        </p:nvSpPr>
        <p:spPr>
          <a:xfrm>
            <a:off x="548640" y="3794760"/>
            <a:ext cx="5455768" cy="1024128"/>
          </a:xfrm>
          <a:prstGeom prst="roundRect">
            <a:avLst>
              <a:gd name="adj" fmla="val 5357"/>
            </a:avLst>
          </a:prstGeom>
          <a:solidFill>
            <a:srgbClr val="3762FF"/>
          </a:solidFill>
          <a:ln w="12700">
            <a:solidFill>
              <a:srgbClr val="3762FF"/>
            </a:solidFill>
            <a:prstDash val="solid"/>
          </a:ln>
        </p:spPr>
      </p:sp>
      <p:sp>
        <p:nvSpPr>
          <p:cNvPr id="11" name="Text 9"/>
          <p:cNvSpPr txBox="1"/>
          <p:nvPr/>
        </p:nvSpPr>
        <p:spPr>
          <a:xfrm>
            <a:off x="749808" y="3995928"/>
            <a:ext cx="5053432"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Inga traces</a:t>
            </a:r>
            <a:endParaRPr lang="en-US" sz="1400" dirty="0"/>
          </a:p>
        </p:txBody>
      </p:sp>
      <p:sp>
        <p:nvSpPr>
          <p:cNvPr id="12" name="Text 10"/>
          <p:cNvSpPr txBox="1"/>
          <p:nvPr/>
        </p:nvSpPr>
        <p:spPr>
          <a:xfrm>
            <a:off x="749808" y="4379976"/>
            <a:ext cx="5053432" cy="283464"/>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Collectorns logg - och stämmer OTEL_EXPORTER_OTLP_ENDPOINT?</a:t>
            </a:r>
            <a:endParaRPr lang="en-US" sz="1200" dirty="0"/>
          </a:p>
        </p:txBody>
      </p:sp>
      <p:sp>
        <p:nvSpPr>
          <p:cNvPr id="13" name="Shape 11"/>
          <p:cNvSpPr/>
          <p:nvPr/>
        </p:nvSpPr>
        <p:spPr>
          <a:xfrm>
            <a:off x="6187288" y="3794760"/>
            <a:ext cx="5455768" cy="1024128"/>
          </a:xfrm>
          <a:prstGeom prst="roundRect">
            <a:avLst>
              <a:gd name="adj" fmla="val 535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6388456" y="3995928"/>
            <a:ext cx="5053432"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Inga metrics</a:t>
            </a:r>
            <a:endParaRPr lang="en-US" sz="1400" dirty="0"/>
          </a:p>
        </p:txBody>
      </p:sp>
      <p:sp>
        <p:nvSpPr>
          <p:cNvPr id="15" name="Text 13"/>
          <p:cNvSpPr txBox="1"/>
          <p:nvPr/>
        </p:nvSpPr>
        <p:spPr>
          <a:xfrm>
            <a:off x="6388456" y="4379976"/>
            <a:ext cx="5053432" cy="283464"/>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prometheus.local → Status → Targets: är otel-collector UP?</a:t>
            </a:r>
            <a:endParaRPr lang="en-US" sz="1200" dirty="0"/>
          </a:p>
        </p:txBody>
      </p:sp>
      <p:sp>
        <p:nvSpPr>
          <p:cNvPr id="16" name="Shape 14"/>
          <p:cNvSpPr/>
          <p:nvPr/>
        </p:nvSpPr>
        <p:spPr>
          <a:xfrm>
            <a:off x="548640" y="4937760"/>
            <a:ext cx="5455768" cy="1024128"/>
          </a:xfrm>
          <a:prstGeom prst="roundRect">
            <a:avLst>
              <a:gd name="adj" fmla="val 535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7" name="Text 15"/>
          <p:cNvSpPr txBox="1"/>
          <p:nvPr/>
        </p:nvSpPr>
        <p:spPr>
          <a:xfrm>
            <a:off x="749808" y="5138928"/>
            <a:ext cx="5053432"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Inga loggar</a:t>
            </a:r>
            <a:endParaRPr lang="en-US" sz="1400" dirty="0"/>
          </a:p>
        </p:txBody>
      </p:sp>
      <p:sp>
        <p:nvSpPr>
          <p:cNvPr id="18" name="Text 16"/>
          <p:cNvSpPr txBox="1"/>
          <p:nvPr/>
        </p:nvSpPr>
        <p:spPr>
          <a:xfrm>
            <a:off x="749808" y="5522976"/>
            <a:ext cx="5053432" cy="283464"/>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Collectorns logg visar exportfel mot Loki-gatewayen.</a:t>
            </a:r>
            <a:endParaRPr lang="en-US" sz="1200" dirty="0"/>
          </a:p>
        </p:txBody>
      </p:sp>
      <p:sp>
        <p:nvSpPr>
          <p:cNvPr id="19" name="Shape 17"/>
          <p:cNvSpPr/>
          <p:nvPr/>
        </p:nvSpPr>
        <p:spPr>
          <a:xfrm>
            <a:off x="6187288" y="4937760"/>
            <a:ext cx="5455768" cy="1024128"/>
          </a:xfrm>
          <a:prstGeom prst="roundRect">
            <a:avLst>
              <a:gd name="adj" fmla="val 535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0" name="Text 18"/>
          <p:cNvSpPr txBox="1"/>
          <p:nvPr/>
        </p:nvSpPr>
        <p:spPr>
          <a:xfrm>
            <a:off x="6388456" y="5138928"/>
            <a:ext cx="5053432"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Ingen frontend</a:t>
            </a:r>
            <a:endParaRPr lang="en-US" sz="1400" dirty="0"/>
          </a:p>
        </p:txBody>
      </p:sp>
      <p:sp>
        <p:nvSpPr>
          <p:cNvPr id="21" name="Text 19"/>
          <p:cNvSpPr txBox="1"/>
          <p:nvPr/>
        </p:nvSpPr>
        <p:spPr>
          <a:xfrm>
            <a:off x="6388456" y="5522976"/>
            <a:ext cx="5053432" cy="283464"/>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DevTools: svarar /faro/collect 2xx? Logg i deploy/faro-collector.</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SAMMANFATTNING</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Tio begrepp att ta med sig hem</a:t>
            </a:r>
            <a:endParaRPr lang="en-US" sz="3000" dirty="0"/>
          </a:p>
        </p:txBody>
      </p:sp>
      <p:sp>
        <p:nvSpPr>
          <p:cNvPr id="4" name="Shape 2"/>
          <p:cNvSpPr/>
          <p:nvPr/>
        </p:nvSpPr>
        <p:spPr>
          <a:xfrm>
            <a:off x="548640" y="160020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5" name="Text 3"/>
          <p:cNvSpPr txBox="1"/>
          <p:nvPr/>
        </p:nvSpPr>
        <p:spPr>
          <a:xfrm>
            <a:off x="749808" y="1801368"/>
            <a:ext cx="1670243"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Trace</a:t>
            </a:r>
            <a:endParaRPr lang="en-US" sz="1600" dirty="0"/>
          </a:p>
        </p:txBody>
      </p:sp>
      <p:sp>
        <p:nvSpPr>
          <p:cNvPr id="6" name="Text 4"/>
          <p:cNvSpPr txBox="1"/>
          <p:nvPr/>
        </p:nvSpPr>
        <p:spPr>
          <a:xfrm>
            <a:off x="749808" y="218541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Ett anrops väg genom systemet</a:t>
            </a:r>
            <a:endParaRPr lang="en-US" sz="1300" dirty="0"/>
          </a:p>
        </p:txBody>
      </p:sp>
      <p:sp>
        <p:nvSpPr>
          <p:cNvPr id="7" name="Shape 5"/>
          <p:cNvSpPr/>
          <p:nvPr/>
        </p:nvSpPr>
        <p:spPr>
          <a:xfrm>
            <a:off x="2804099" y="160020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8" name="Text 6"/>
          <p:cNvSpPr txBox="1"/>
          <p:nvPr/>
        </p:nvSpPr>
        <p:spPr>
          <a:xfrm>
            <a:off x="3005267" y="1801368"/>
            <a:ext cx="1670243"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Span</a:t>
            </a:r>
            <a:endParaRPr lang="en-US" sz="1600" dirty="0"/>
          </a:p>
        </p:txBody>
      </p:sp>
      <p:sp>
        <p:nvSpPr>
          <p:cNvPr id="9" name="Text 7"/>
          <p:cNvSpPr txBox="1"/>
          <p:nvPr/>
        </p:nvSpPr>
        <p:spPr>
          <a:xfrm>
            <a:off x="3005267" y="218541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Ett steg i en trace</a:t>
            </a:r>
            <a:endParaRPr lang="en-US" sz="1300" dirty="0"/>
          </a:p>
        </p:txBody>
      </p:sp>
      <p:sp>
        <p:nvSpPr>
          <p:cNvPr id="10" name="Shape 8"/>
          <p:cNvSpPr/>
          <p:nvPr/>
        </p:nvSpPr>
        <p:spPr>
          <a:xfrm>
            <a:off x="5059558" y="160020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5260726" y="1801368"/>
            <a:ext cx="1670243"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Metric</a:t>
            </a:r>
            <a:endParaRPr lang="en-US" sz="1600" dirty="0"/>
          </a:p>
        </p:txBody>
      </p:sp>
      <p:sp>
        <p:nvSpPr>
          <p:cNvPr id="12" name="Text 10"/>
          <p:cNvSpPr txBox="1"/>
          <p:nvPr/>
        </p:nvSpPr>
        <p:spPr>
          <a:xfrm>
            <a:off x="5260726" y="218541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Siffra över tid</a:t>
            </a:r>
            <a:endParaRPr lang="en-US" sz="1300" dirty="0"/>
          </a:p>
        </p:txBody>
      </p:sp>
      <p:sp>
        <p:nvSpPr>
          <p:cNvPr id="13" name="Shape 11"/>
          <p:cNvSpPr/>
          <p:nvPr/>
        </p:nvSpPr>
        <p:spPr>
          <a:xfrm>
            <a:off x="7315017" y="160020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7516185" y="1801368"/>
            <a:ext cx="1670243"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Strukturerad logg</a:t>
            </a:r>
            <a:endParaRPr lang="en-US" sz="1400" dirty="0"/>
          </a:p>
        </p:txBody>
      </p:sp>
      <p:sp>
        <p:nvSpPr>
          <p:cNvPr id="15" name="Text 13"/>
          <p:cNvSpPr txBox="1"/>
          <p:nvPr/>
        </p:nvSpPr>
        <p:spPr>
          <a:xfrm>
            <a:off x="7516185" y="218541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Fält istället för fri text</a:t>
            </a:r>
            <a:endParaRPr lang="en-US" sz="1300" dirty="0"/>
          </a:p>
        </p:txBody>
      </p:sp>
      <p:sp>
        <p:nvSpPr>
          <p:cNvPr id="16" name="Shape 14"/>
          <p:cNvSpPr/>
          <p:nvPr/>
        </p:nvSpPr>
        <p:spPr>
          <a:xfrm>
            <a:off x="9570476" y="160020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7" name="Text 15"/>
          <p:cNvSpPr txBox="1"/>
          <p:nvPr/>
        </p:nvSpPr>
        <p:spPr>
          <a:xfrm>
            <a:off x="9771644" y="1801368"/>
            <a:ext cx="1670243"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OTLP</a:t>
            </a:r>
            <a:endParaRPr lang="en-US" sz="1600" dirty="0"/>
          </a:p>
        </p:txBody>
      </p:sp>
      <p:sp>
        <p:nvSpPr>
          <p:cNvPr id="18" name="Text 16"/>
          <p:cNvSpPr txBox="1"/>
          <p:nvPr/>
        </p:nvSpPr>
        <p:spPr>
          <a:xfrm>
            <a:off x="9771644" y="218541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Protokollet för all telemetri</a:t>
            </a:r>
            <a:endParaRPr lang="en-US" sz="1300" dirty="0"/>
          </a:p>
        </p:txBody>
      </p:sp>
      <p:sp>
        <p:nvSpPr>
          <p:cNvPr id="19" name="Shape 17"/>
          <p:cNvSpPr/>
          <p:nvPr/>
        </p:nvSpPr>
        <p:spPr>
          <a:xfrm>
            <a:off x="548640" y="370332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0" name="Text 18"/>
          <p:cNvSpPr txBox="1"/>
          <p:nvPr/>
        </p:nvSpPr>
        <p:spPr>
          <a:xfrm>
            <a:off x="749808" y="3904488"/>
            <a:ext cx="1670243"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Collector</a:t>
            </a:r>
            <a:endParaRPr lang="en-US" sz="1600" dirty="0"/>
          </a:p>
        </p:txBody>
      </p:sp>
      <p:sp>
        <p:nvSpPr>
          <p:cNvPr id="21" name="Text 19"/>
          <p:cNvSpPr txBox="1"/>
          <p:nvPr/>
        </p:nvSpPr>
        <p:spPr>
          <a:xfrm>
            <a:off x="749808" y="428853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Tar emot och fördelar</a:t>
            </a:r>
            <a:endParaRPr lang="en-US" sz="1300" dirty="0"/>
          </a:p>
        </p:txBody>
      </p:sp>
      <p:sp>
        <p:nvSpPr>
          <p:cNvPr id="22" name="Shape 20"/>
          <p:cNvSpPr/>
          <p:nvPr/>
        </p:nvSpPr>
        <p:spPr>
          <a:xfrm>
            <a:off x="2804099" y="370332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3" name="Text 21"/>
          <p:cNvSpPr txBox="1"/>
          <p:nvPr/>
        </p:nvSpPr>
        <p:spPr>
          <a:xfrm>
            <a:off x="3005267" y="3904488"/>
            <a:ext cx="1670243"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Instrumentering</a:t>
            </a:r>
            <a:endParaRPr lang="en-US" sz="1400" dirty="0"/>
          </a:p>
        </p:txBody>
      </p:sp>
      <p:sp>
        <p:nvSpPr>
          <p:cNvPr id="24" name="Text 22"/>
          <p:cNvSpPr txBox="1"/>
          <p:nvPr/>
        </p:nvSpPr>
        <p:spPr>
          <a:xfrm>
            <a:off x="3005267" y="428853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Färdiga spans och metrics</a:t>
            </a:r>
            <a:endParaRPr lang="en-US" sz="1300" dirty="0"/>
          </a:p>
        </p:txBody>
      </p:sp>
      <p:sp>
        <p:nvSpPr>
          <p:cNvPr id="25" name="Shape 23"/>
          <p:cNvSpPr/>
          <p:nvPr/>
        </p:nvSpPr>
        <p:spPr>
          <a:xfrm>
            <a:off x="5059558" y="370332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6" name="Text 24"/>
          <p:cNvSpPr txBox="1"/>
          <p:nvPr/>
        </p:nvSpPr>
        <p:spPr>
          <a:xfrm>
            <a:off x="5260726" y="3904488"/>
            <a:ext cx="1670243"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Resource</a:t>
            </a:r>
            <a:endParaRPr lang="en-US" sz="1600" dirty="0"/>
          </a:p>
        </p:txBody>
      </p:sp>
      <p:sp>
        <p:nvSpPr>
          <p:cNvPr id="27" name="Text 25"/>
          <p:cNvSpPr txBox="1"/>
          <p:nvPr/>
        </p:nvSpPr>
        <p:spPr>
          <a:xfrm>
            <a:off x="5260726" y="428853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Vem som skickar</a:t>
            </a:r>
            <a:endParaRPr lang="en-US" sz="1300" dirty="0"/>
          </a:p>
        </p:txBody>
      </p:sp>
      <p:sp>
        <p:nvSpPr>
          <p:cNvPr id="28" name="Shape 26"/>
          <p:cNvSpPr/>
          <p:nvPr/>
        </p:nvSpPr>
        <p:spPr>
          <a:xfrm>
            <a:off x="7315017" y="370332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9" name="Text 27"/>
          <p:cNvSpPr txBox="1"/>
          <p:nvPr/>
        </p:nvSpPr>
        <p:spPr>
          <a:xfrm>
            <a:off x="7516185" y="3904488"/>
            <a:ext cx="1670243"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Faro</a:t>
            </a:r>
            <a:endParaRPr lang="en-US" sz="1600" dirty="0"/>
          </a:p>
        </p:txBody>
      </p:sp>
      <p:sp>
        <p:nvSpPr>
          <p:cNvPr id="30" name="Text 28"/>
          <p:cNvSpPr txBox="1"/>
          <p:nvPr/>
        </p:nvSpPr>
        <p:spPr>
          <a:xfrm>
            <a:off x="7516185" y="428853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Telemetri från webbläsaren</a:t>
            </a:r>
            <a:endParaRPr lang="en-US" sz="1300" dirty="0"/>
          </a:p>
        </p:txBody>
      </p:sp>
      <p:sp>
        <p:nvSpPr>
          <p:cNvPr id="31" name="Shape 29"/>
          <p:cNvSpPr/>
          <p:nvPr/>
        </p:nvSpPr>
        <p:spPr>
          <a:xfrm>
            <a:off x="9570476" y="3703320"/>
            <a:ext cx="2072579" cy="1874520"/>
          </a:xfrm>
          <a:prstGeom prst="roundRect">
            <a:avLst>
              <a:gd name="adj" fmla="val 2927"/>
            </a:avLst>
          </a:prstGeom>
          <a:solidFill>
            <a:srgbClr val="3762FF"/>
          </a:solidFill>
          <a:ln w="12700">
            <a:solidFill>
              <a:srgbClr val="3762FF"/>
            </a:solidFill>
            <a:prstDash val="solid"/>
          </a:ln>
        </p:spPr>
      </p:sp>
      <p:sp>
        <p:nvSpPr>
          <p:cNvPr id="32" name="Text 30"/>
          <p:cNvSpPr txBox="1"/>
          <p:nvPr/>
        </p:nvSpPr>
        <p:spPr>
          <a:xfrm>
            <a:off x="9771644" y="3904488"/>
            <a:ext cx="1670243"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traceparent</a:t>
            </a:r>
            <a:endParaRPr lang="en-US" sz="1600" dirty="0"/>
          </a:p>
        </p:txBody>
      </p:sp>
      <p:sp>
        <p:nvSpPr>
          <p:cNvPr id="33" name="Text 31"/>
          <p:cNvSpPr txBox="1"/>
          <p:nvPr/>
        </p:nvSpPr>
        <p:spPr>
          <a:xfrm>
            <a:off x="9771644" y="428853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Headern som binder ihop allt</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VÄGEN FRAMÅT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Nästa kväll: att använda telemetrin</a:t>
            </a:r>
            <a:endParaRPr lang="en-US" sz="3000" dirty="0"/>
          </a:p>
        </p:txBody>
      </p:sp>
      <p:sp>
        <p:nvSpPr>
          <p:cNvPr id="4" name="Text 2"/>
          <p:cNvSpPr txBox="1"/>
          <p:nvPr/>
        </p:nvSpPr>
        <p:spPr>
          <a:xfrm>
            <a:off x="548640" y="1417320"/>
            <a:ext cx="11094415" cy="457200"/>
          </a:xfrm>
          <a:prstGeom prst="rect">
            <a:avLst/>
          </a:prstGeom>
          <a:noFill/>
          <a:ln/>
        </p:spPr>
        <p:txBody>
          <a:bodyPr wrap="square" lIns="0" tIns="0" rIns="0" bIns="0" rtlCol="0" anchor="t"/>
          <a:lstStyle/>
          <a:p>
            <a:pPr marL="0" indent="0">
              <a:lnSpc>
                <a:spcPct val="120000"/>
              </a:lnSpc>
              <a:buNone/>
            </a:pPr>
            <a:r>
              <a:rPr lang="en-US" sz="1500" dirty="0">
                <a:solidFill>
                  <a:srgbClr val="B9C4D1"/>
                </a:solidFill>
                <a:latin typeface="Arial" pitchFamily="34" charset="0"/>
                <a:ea typeface="Arial" pitchFamily="34" charset="-122"/>
                <a:cs typeface="Arial" pitchFamily="34" charset="-120"/>
              </a:rPr>
              <a:t>Datan flödar. Nu ska vi konsumera den - och sedan bygga vidare:</a:t>
            </a:r>
            <a:endParaRPr lang="en-US" sz="1500" dirty="0"/>
          </a:p>
        </p:txBody>
      </p:sp>
      <p:sp>
        <p:nvSpPr>
          <p:cNvPr id="5" name="Shape 3"/>
          <p:cNvSpPr/>
          <p:nvPr/>
        </p:nvSpPr>
        <p:spPr>
          <a:xfrm>
            <a:off x="548640" y="2057400"/>
            <a:ext cx="2636444" cy="1645920"/>
          </a:xfrm>
          <a:prstGeom prst="roundRect">
            <a:avLst>
              <a:gd name="adj" fmla="val 3333"/>
            </a:avLst>
          </a:prstGeom>
          <a:solidFill>
            <a:srgbClr val="3762FF"/>
          </a:solidFill>
          <a:ln w="12700">
            <a:solidFill>
              <a:srgbClr val="3762FF"/>
            </a:solidFill>
            <a:prstDash val="solid"/>
          </a:ln>
        </p:spPr>
      </p:sp>
      <p:sp>
        <p:nvSpPr>
          <p:cNvPr id="6" name="Text 4"/>
          <p:cNvSpPr txBox="1"/>
          <p:nvPr/>
        </p:nvSpPr>
        <p:spPr>
          <a:xfrm>
            <a:off x="749808" y="2258568"/>
            <a:ext cx="2234108"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Dashboards</a:t>
            </a:r>
            <a:endParaRPr lang="en-US" sz="1500" dirty="0"/>
          </a:p>
        </p:txBody>
      </p:sp>
      <p:sp>
        <p:nvSpPr>
          <p:cNvPr id="7" name="Text 5"/>
          <p:cNvSpPr txBox="1"/>
          <p:nvPr/>
        </p:nvSpPr>
        <p:spPr>
          <a:xfrm>
            <a:off x="749808" y="2642616"/>
            <a:ext cx="2234108" cy="905256"/>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Egna paneler i Grafana för TelemetryApi och klustret</a:t>
            </a:r>
            <a:endParaRPr lang="en-US" sz="1300" dirty="0"/>
          </a:p>
        </p:txBody>
      </p:sp>
      <p:sp>
        <p:nvSpPr>
          <p:cNvPr id="8" name="Shape 6"/>
          <p:cNvSpPr/>
          <p:nvPr/>
        </p:nvSpPr>
        <p:spPr>
          <a:xfrm>
            <a:off x="3367964" y="2057400"/>
            <a:ext cx="2636444" cy="1645920"/>
          </a:xfrm>
          <a:prstGeom prst="roundRect">
            <a:avLst>
              <a:gd name="adj" fmla="val 3333"/>
            </a:avLst>
          </a:prstGeom>
          <a:solidFill>
            <a:srgbClr val="16294A"/>
          </a:solidFill>
          <a:ln w="12700">
            <a:solidFill>
              <a:srgbClr val="16294A"/>
            </a:solidFill>
            <a:prstDash val="solid"/>
          </a:ln>
        </p:spPr>
      </p:sp>
      <p:sp>
        <p:nvSpPr>
          <p:cNvPr id="9" name="Text 7"/>
          <p:cNvSpPr txBox="1"/>
          <p:nvPr/>
        </p:nvSpPr>
        <p:spPr>
          <a:xfrm>
            <a:off x="3569132" y="2258568"/>
            <a:ext cx="2234108" cy="320040"/>
          </a:xfrm>
          <a:prstGeom prst="rect">
            <a:avLst/>
          </a:prstGeom>
          <a:noFill/>
          <a:ln/>
        </p:spPr>
        <p:txBody>
          <a:bodyPr wrap="square" lIns="0" tIns="0" rIns="0" bIns="0" rtlCol="0" anchor="t"/>
          <a:lstStyle/>
          <a:p>
            <a:pPr marL="0" indent="0">
              <a:buNone/>
            </a:pPr>
            <a:r>
              <a:rPr lang="en-US" sz="1500" b="1" dirty="0">
                <a:solidFill>
                  <a:srgbClr val="F5F7FA"/>
                </a:solidFill>
                <a:latin typeface="Calibri" pitchFamily="34" charset="0"/>
                <a:ea typeface="Calibri" pitchFamily="34" charset="-122"/>
                <a:cs typeface="Calibri" pitchFamily="34" charset="-120"/>
              </a:rPr>
              <a:t>Explore</a:t>
            </a:r>
            <a:endParaRPr lang="en-US" sz="1500" dirty="0"/>
          </a:p>
        </p:txBody>
      </p:sp>
      <p:sp>
        <p:nvSpPr>
          <p:cNvPr id="10" name="Text 8"/>
          <p:cNvSpPr txBox="1"/>
          <p:nvPr/>
        </p:nvSpPr>
        <p:spPr>
          <a:xfrm>
            <a:off x="3569132" y="2642616"/>
            <a:ext cx="2234108" cy="90525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TraceQL, LogQL och PromQL - frågespråken</a:t>
            </a:r>
            <a:endParaRPr lang="en-US" sz="1300" dirty="0"/>
          </a:p>
        </p:txBody>
      </p:sp>
      <p:sp>
        <p:nvSpPr>
          <p:cNvPr id="11" name="Shape 9"/>
          <p:cNvSpPr/>
          <p:nvPr/>
        </p:nvSpPr>
        <p:spPr>
          <a:xfrm>
            <a:off x="6187288" y="2057400"/>
            <a:ext cx="2636444" cy="1645920"/>
          </a:xfrm>
          <a:prstGeom prst="roundRect">
            <a:avLst>
              <a:gd name="adj" fmla="val 3333"/>
            </a:avLst>
          </a:prstGeom>
          <a:solidFill>
            <a:srgbClr val="16294A"/>
          </a:solidFill>
          <a:ln w="12700">
            <a:solidFill>
              <a:srgbClr val="16294A"/>
            </a:solidFill>
            <a:prstDash val="solid"/>
          </a:ln>
        </p:spPr>
      </p:sp>
      <p:sp>
        <p:nvSpPr>
          <p:cNvPr id="12" name="Text 10"/>
          <p:cNvSpPr txBox="1"/>
          <p:nvPr/>
        </p:nvSpPr>
        <p:spPr>
          <a:xfrm>
            <a:off x="6388456" y="2258568"/>
            <a:ext cx="2234108" cy="320040"/>
          </a:xfrm>
          <a:prstGeom prst="rect">
            <a:avLst/>
          </a:prstGeom>
          <a:noFill/>
          <a:ln/>
        </p:spPr>
        <p:txBody>
          <a:bodyPr wrap="square" lIns="0" tIns="0" rIns="0" bIns="0" rtlCol="0" anchor="t"/>
          <a:lstStyle/>
          <a:p>
            <a:pPr marL="0" indent="0">
              <a:buNone/>
            </a:pPr>
            <a:r>
              <a:rPr lang="en-US" sz="1500" b="1" dirty="0">
                <a:solidFill>
                  <a:srgbClr val="F5F7FA"/>
                </a:solidFill>
                <a:latin typeface="Calibri" pitchFamily="34" charset="0"/>
                <a:ea typeface="Calibri" pitchFamily="34" charset="-122"/>
                <a:cs typeface="Calibri" pitchFamily="34" charset="-120"/>
              </a:rPr>
              <a:t>Kopplingar</a:t>
            </a:r>
            <a:endParaRPr lang="en-US" sz="1500" dirty="0"/>
          </a:p>
        </p:txBody>
      </p:sp>
      <p:sp>
        <p:nvSpPr>
          <p:cNvPr id="13" name="Text 11"/>
          <p:cNvSpPr txBox="1"/>
          <p:nvPr/>
        </p:nvSpPr>
        <p:spPr>
          <a:xfrm>
            <a:off x="6388456" y="2642616"/>
            <a:ext cx="2234108" cy="90525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Från metric till trace till logg</a:t>
            </a:r>
            <a:endParaRPr lang="en-US" sz="1300" dirty="0"/>
          </a:p>
        </p:txBody>
      </p:sp>
      <p:sp>
        <p:nvSpPr>
          <p:cNvPr id="14" name="Shape 12"/>
          <p:cNvSpPr/>
          <p:nvPr/>
        </p:nvSpPr>
        <p:spPr>
          <a:xfrm>
            <a:off x="9006611" y="2057400"/>
            <a:ext cx="2636444" cy="1645920"/>
          </a:xfrm>
          <a:prstGeom prst="roundRect">
            <a:avLst>
              <a:gd name="adj" fmla="val 3333"/>
            </a:avLst>
          </a:prstGeom>
          <a:solidFill>
            <a:srgbClr val="16294A"/>
          </a:solidFill>
          <a:ln w="12700">
            <a:solidFill>
              <a:srgbClr val="16294A"/>
            </a:solidFill>
            <a:prstDash val="solid"/>
          </a:ln>
        </p:spPr>
      </p:sp>
      <p:sp>
        <p:nvSpPr>
          <p:cNvPr id="15" name="Text 13"/>
          <p:cNvSpPr txBox="1"/>
          <p:nvPr/>
        </p:nvSpPr>
        <p:spPr>
          <a:xfrm>
            <a:off x="9207779" y="2258568"/>
            <a:ext cx="2234108" cy="320040"/>
          </a:xfrm>
          <a:prstGeom prst="rect">
            <a:avLst/>
          </a:prstGeom>
          <a:noFill/>
          <a:ln/>
        </p:spPr>
        <p:txBody>
          <a:bodyPr wrap="square" lIns="0" tIns="0" rIns="0" bIns="0" rtlCol="0" anchor="t"/>
          <a:lstStyle/>
          <a:p>
            <a:pPr marL="0" indent="0">
              <a:buNone/>
            </a:pPr>
            <a:r>
              <a:rPr lang="en-US" sz="1500" b="1" dirty="0">
                <a:solidFill>
                  <a:srgbClr val="F5F7FA"/>
                </a:solidFill>
                <a:latin typeface="Calibri" pitchFamily="34" charset="0"/>
                <a:ea typeface="Calibri" pitchFamily="34" charset="-122"/>
                <a:cs typeface="Calibri" pitchFamily="34" charset="-120"/>
              </a:rPr>
              <a:t>Larm</a:t>
            </a:r>
            <a:endParaRPr lang="en-US" sz="1500" dirty="0"/>
          </a:p>
        </p:txBody>
      </p:sp>
      <p:sp>
        <p:nvSpPr>
          <p:cNvPr id="16" name="Text 14"/>
          <p:cNvSpPr txBox="1"/>
          <p:nvPr/>
        </p:nvSpPr>
        <p:spPr>
          <a:xfrm>
            <a:off x="9207779" y="2642616"/>
            <a:ext cx="2234108" cy="90525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När svarstid eller felandel stiger</a:t>
            </a:r>
            <a:endParaRPr lang="en-US" sz="1300" dirty="0"/>
          </a:p>
        </p:txBody>
      </p:sp>
      <p:sp>
        <p:nvSpPr>
          <p:cNvPr id="17" name="Shape 15"/>
          <p:cNvSpPr/>
          <p:nvPr/>
        </p:nvSpPr>
        <p:spPr>
          <a:xfrm>
            <a:off x="548640" y="3886200"/>
            <a:ext cx="2636444" cy="1645920"/>
          </a:xfrm>
          <a:prstGeom prst="roundRect">
            <a:avLst>
              <a:gd name="adj" fmla="val 3333"/>
            </a:avLst>
          </a:prstGeom>
          <a:solidFill>
            <a:srgbClr val="16294A"/>
          </a:solidFill>
          <a:ln w="12700">
            <a:solidFill>
              <a:srgbClr val="16294A"/>
            </a:solidFill>
            <a:prstDash val="solid"/>
          </a:ln>
        </p:spPr>
      </p:sp>
      <p:sp>
        <p:nvSpPr>
          <p:cNvPr id="18" name="Text 16"/>
          <p:cNvSpPr txBox="1"/>
          <p:nvPr/>
        </p:nvSpPr>
        <p:spPr>
          <a:xfrm>
            <a:off x="749808" y="4087368"/>
            <a:ext cx="2234108" cy="320040"/>
          </a:xfrm>
          <a:prstGeom prst="rect">
            <a:avLst/>
          </a:prstGeom>
          <a:noFill/>
          <a:ln/>
        </p:spPr>
        <p:txBody>
          <a:bodyPr wrap="square" lIns="0" tIns="0" rIns="0" bIns="0" rtlCol="0" anchor="t"/>
          <a:lstStyle/>
          <a:p>
            <a:pPr marL="0" indent="0">
              <a:buNone/>
            </a:pPr>
            <a:r>
              <a:rPr lang="en-US" sz="1500" b="1" dirty="0">
                <a:solidFill>
                  <a:srgbClr val="F5F7FA"/>
                </a:solidFill>
                <a:latin typeface="Calibri" pitchFamily="34" charset="0"/>
                <a:ea typeface="Calibri" pitchFamily="34" charset="-122"/>
                <a:cs typeface="Calibri" pitchFamily="34" charset="-120"/>
              </a:rPr>
              <a:t>Infra-metrics</a:t>
            </a:r>
            <a:endParaRPr lang="en-US" sz="1500" dirty="0"/>
          </a:p>
        </p:txBody>
      </p:sp>
      <p:sp>
        <p:nvSpPr>
          <p:cNvPr id="19" name="Text 17"/>
          <p:cNvSpPr txBox="1"/>
          <p:nvPr/>
        </p:nvSpPr>
        <p:spPr>
          <a:xfrm>
            <a:off x="749808" y="4471416"/>
            <a:ext cx="2234108" cy="90525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MySQL, NATS och Redis-exportörerna</a:t>
            </a:r>
            <a:endParaRPr lang="en-US" sz="1300" dirty="0"/>
          </a:p>
        </p:txBody>
      </p:sp>
      <p:sp>
        <p:nvSpPr>
          <p:cNvPr id="20" name="Shape 18"/>
          <p:cNvSpPr/>
          <p:nvPr/>
        </p:nvSpPr>
        <p:spPr>
          <a:xfrm>
            <a:off x="3367964" y="3886200"/>
            <a:ext cx="2636444" cy="1645920"/>
          </a:xfrm>
          <a:prstGeom prst="roundRect">
            <a:avLst>
              <a:gd name="adj" fmla="val 3333"/>
            </a:avLst>
          </a:prstGeom>
          <a:solidFill>
            <a:srgbClr val="16294A"/>
          </a:solidFill>
          <a:ln w="12700">
            <a:solidFill>
              <a:srgbClr val="16294A"/>
            </a:solidFill>
            <a:prstDash val="solid"/>
          </a:ln>
        </p:spPr>
      </p:sp>
      <p:sp>
        <p:nvSpPr>
          <p:cNvPr id="21" name="Text 19"/>
          <p:cNvSpPr txBox="1"/>
          <p:nvPr/>
        </p:nvSpPr>
        <p:spPr>
          <a:xfrm>
            <a:off x="3569132" y="4087368"/>
            <a:ext cx="2234108" cy="320040"/>
          </a:xfrm>
          <a:prstGeom prst="rect">
            <a:avLst/>
          </a:prstGeom>
          <a:noFill/>
          <a:ln/>
        </p:spPr>
        <p:txBody>
          <a:bodyPr wrap="square" lIns="0" tIns="0" rIns="0" bIns="0" rtlCol="0" anchor="t"/>
          <a:lstStyle/>
          <a:p>
            <a:pPr marL="0" indent="0">
              <a:buNone/>
            </a:pPr>
            <a:r>
              <a:rPr lang="en-US" sz="1500" b="1" dirty="0">
                <a:solidFill>
                  <a:srgbClr val="F5F7FA"/>
                </a:solidFill>
                <a:latin typeface="Calibri" pitchFamily="34" charset="0"/>
                <a:ea typeface="Calibri" pitchFamily="34" charset="-122"/>
                <a:cs typeface="Calibri" pitchFamily="34" charset="-120"/>
              </a:rPr>
              <a:t>CQRS-appen</a:t>
            </a:r>
            <a:endParaRPr lang="en-US" sz="1500" dirty="0"/>
          </a:p>
        </p:txBody>
      </p:sp>
      <p:sp>
        <p:nvSpPr>
          <p:cNvPr id="22" name="Text 20"/>
          <p:cNvSpPr txBox="1"/>
          <p:nvPr/>
        </p:nvSpPr>
        <p:spPr>
          <a:xfrm>
            <a:off x="3569132" y="4471416"/>
            <a:ext cx="2234108" cy="90525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En trace genom NATS och workern</a:t>
            </a:r>
            <a:endParaRPr lang="en-US" sz="1300" dirty="0"/>
          </a:p>
        </p:txBody>
      </p:sp>
      <p:sp>
        <p:nvSpPr>
          <p:cNvPr id="23" name="Shape 21"/>
          <p:cNvSpPr/>
          <p:nvPr/>
        </p:nvSpPr>
        <p:spPr>
          <a:xfrm>
            <a:off x="6187288" y="3886200"/>
            <a:ext cx="2636444" cy="1645920"/>
          </a:xfrm>
          <a:prstGeom prst="roundRect">
            <a:avLst>
              <a:gd name="adj" fmla="val 3333"/>
            </a:avLst>
          </a:prstGeom>
          <a:solidFill>
            <a:srgbClr val="16294A"/>
          </a:solidFill>
          <a:ln w="12700">
            <a:solidFill>
              <a:srgbClr val="16294A"/>
            </a:solidFill>
            <a:prstDash val="solid"/>
          </a:ln>
        </p:spPr>
      </p:sp>
      <p:sp>
        <p:nvSpPr>
          <p:cNvPr id="24" name="Text 22"/>
          <p:cNvSpPr txBox="1"/>
          <p:nvPr/>
        </p:nvSpPr>
        <p:spPr>
          <a:xfrm>
            <a:off x="6388456" y="4087368"/>
            <a:ext cx="2234108" cy="320040"/>
          </a:xfrm>
          <a:prstGeom prst="rect">
            <a:avLst/>
          </a:prstGeom>
          <a:noFill/>
          <a:ln/>
        </p:spPr>
        <p:txBody>
          <a:bodyPr wrap="square" lIns="0" tIns="0" rIns="0" bIns="0" rtlCol="0" anchor="t"/>
          <a:lstStyle/>
          <a:p>
            <a:pPr marL="0" indent="0">
              <a:buNone/>
            </a:pPr>
            <a:r>
              <a:rPr lang="en-US" sz="1500" b="1" dirty="0">
                <a:solidFill>
                  <a:srgbClr val="F5F7FA"/>
                </a:solidFill>
                <a:latin typeface="Calibri" pitchFamily="34" charset="0"/>
                <a:ea typeface="Calibri" pitchFamily="34" charset="-122"/>
                <a:cs typeface="Calibri" pitchFamily="34" charset="-120"/>
              </a:rPr>
              <a:t>ConfigMaps &amp; Secrets</a:t>
            </a:r>
            <a:endParaRPr lang="en-US" sz="1500" dirty="0"/>
          </a:p>
        </p:txBody>
      </p:sp>
      <p:sp>
        <p:nvSpPr>
          <p:cNvPr id="25" name="Text 23"/>
          <p:cNvSpPr txBox="1"/>
          <p:nvPr/>
        </p:nvSpPr>
        <p:spPr>
          <a:xfrm>
            <a:off x="6388456" y="4471416"/>
            <a:ext cx="2234108" cy="90525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Konfiguration och hemligheter på riktigt</a:t>
            </a:r>
            <a:endParaRPr lang="en-US" sz="1300" dirty="0"/>
          </a:p>
        </p:txBody>
      </p:sp>
      <p:sp>
        <p:nvSpPr>
          <p:cNvPr id="26" name="Shape 24"/>
          <p:cNvSpPr/>
          <p:nvPr/>
        </p:nvSpPr>
        <p:spPr>
          <a:xfrm>
            <a:off x="9006611" y="3886200"/>
            <a:ext cx="2636444" cy="1645920"/>
          </a:xfrm>
          <a:prstGeom prst="roundRect">
            <a:avLst>
              <a:gd name="adj" fmla="val 3333"/>
            </a:avLst>
          </a:prstGeom>
          <a:solidFill>
            <a:srgbClr val="16294A"/>
          </a:solidFill>
          <a:ln w="12700">
            <a:solidFill>
              <a:srgbClr val="16294A"/>
            </a:solidFill>
            <a:prstDash val="solid"/>
          </a:ln>
        </p:spPr>
      </p:sp>
      <p:sp>
        <p:nvSpPr>
          <p:cNvPr id="27" name="Text 25"/>
          <p:cNvSpPr txBox="1"/>
          <p:nvPr/>
        </p:nvSpPr>
        <p:spPr>
          <a:xfrm>
            <a:off x="9207779" y="4087368"/>
            <a:ext cx="2234108" cy="320040"/>
          </a:xfrm>
          <a:prstGeom prst="rect">
            <a:avLst/>
          </a:prstGeom>
          <a:noFill/>
          <a:ln/>
        </p:spPr>
        <p:txBody>
          <a:bodyPr wrap="square" lIns="0" tIns="0" rIns="0" bIns="0" rtlCol="0" anchor="t"/>
          <a:lstStyle/>
          <a:p>
            <a:pPr marL="0" indent="0">
              <a:buNone/>
            </a:pPr>
            <a:r>
              <a:rPr lang="en-US" sz="1500" b="1" dirty="0">
                <a:solidFill>
                  <a:srgbClr val="F5F7FA"/>
                </a:solidFill>
                <a:latin typeface="Calibri" pitchFamily="34" charset="0"/>
                <a:ea typeface="Calibri" pitchFamily="34" charset="-122"/>
                <a:cs typeface="Calibri" pitchFamily="34" charset="-120"/>
              </a:rPr>
              <a:t>Sealed Secrets</a:t>
            </a:r>
            <a:endParaRPr lang="en-US" sz="1500" dirty="0"/>
          </a:p>
        </p:txBody>
      </p:sp>
      <p:sp>
        <p:nvSpPr>
          <p:cNvPr id="28" name="Text 26"/>
          <p:cNvSpPr txBox="1"/>
          <p:nvPr/>
        </p:nvSpPr>
        <p:spPr>
          <a:xfrm>
            <a:off x="9207779" y="4471416"/>
            <a:ext cx="2234108" cy="90525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Krypterade Secrets som tål Git</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17373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KVÄLL 5 AV 8 - KLAR</a:t>
            </a:r>
            <a:endParaRPr lang="en-US" sz="1200" dirty="0"/>
          </a:p>
        </p:txBody>
      </p:sp>
      <p:sp>
        <p:nvSpPr>
          <p:cNvPr id="3" name="Text 1"/>
          <p:cNvSpPr txBox="1"/>
          <p:nvPr/>
        </p:nvSpPr>
        <p:spPr>
          <a:xfrm>
            <a:off x="548640" y="2103120"/>
            <a:ext cx="11094415" cy="1097280"/>
          </a:xfrm>
          <a:prstGeom prst="rect">
            <a:avLst/>
          </a:prstGeom>
          <a:noFill/>
          <a:ln/>
        </p:spPr>
        <p:txBody>
          <a:bodyPr wrap="square" lIns="0" tIns="0" rIns="0" bIns="0" rtlCol="0" anchor="ctr"/>
          <a:lstStyle/>
          <a:p>
            <a:pPr marL="0" indent="0">
              <a:buNone/>
            </a:pPr>
            <a:r>
              <a:rPr lang="en-US" sz="6000" b="1" dirty="0">
                <a:solidFill>
                  <a:srgbClr val="F5F7FA"/>
                </a:solidFill>
                <a:latin typeface="Calibri" pitchFamily="34" charset="0"/>
                <a:ea typeface="Calibri" pitchFamily="34" charset="-122"/>
                <a:cs typeface="Calibri" pitchFamily="34" charset="-120"/>
              </a:rPr>
              <a:t>Tack! Frågor?</a:t>
            </a:r>
            <a:endParaRPr lang="en-US" sz="6000" dirty="0"/>
          </a:p>
        </p:txBody>
      </p:sp>
      <p:sp>
        <p:nvSpPr>
          <p:cNvPr id="4" name="Text 2"/>
          <p:cNvSpPr txBox="1"/>
          <p:nvPr/>
        </p:nvSpPr>
        <p:spPr>
          <a:xfrm>
            <a:off x="548640" y="3383280"/>
            <a:ext cx="10058400" cy="548640"/>
          </a:xfrm>
          <a:prstGeom prst="rect">
            <a:avLst/>
          </a:prstGeom>
          <a:noFill/>
          <a:ln/>
        </p:spPr>
        <p:txBody>
          <a:bodyPr wrap="square" lIns="0" tIns="0" rIns="0" bIns="0" rtlCol="0" anchor="t"/>
          <a:lstStyle/>
          <a:p>
            <a:pPr marL="0" indent="0">
              <a:lnSpc>
                <a:spcPct val="120000"/>
              </a:lnSpc>
              <a:buNone/>
            </a:pPr>
            <a:r>
              <a:rPr lang="en-US" sz="1800" dirty="0">
                <a:solidFill>
                  <a:srgbClr val="B9C4D1"/>
                </a:solidFill>
                <a:latin typeface="Arial" pitchFamily="34" charset="0"/>
                <a:ea typeface="Arial" pitchFamily="34" charset="-122"/>
                <a:cs typeface="Arial" pitchFamily="34" charset="-120"/>
              </a:rPr>
              <a:t>Nästa gång: dashboards i Grafana - vi konsumerar telemetrin.</a:t>
            </a:r>
            <a:endParaRPr lang="en-US" sz="1800" dirty="0"/>
          </a:p>
        </p:txBody>
      </p:sp>
      <p:sp>
        <p:nvSpPr>
          <p:cNvPr id="5" name="Text 3"/>
          <p:cNvSpPr txBox="1"/>
          <p:nvPr/>
        </p:nvSpPr>
        <p:spPr>
          <a:xfrm>
            <a:off x="548640" y="6172200"/>
            <a:ext cx="6400800" cy="320040"/>
          </a:xfrm>
          <a:prstGeom prst="rect">
            <a:avLst/>
          </a:prstGeom>
          <a:noFill/>
          <a:ln/>
        </p:spPr>
        <p:txBody>
          <a:bodyPr wrap="square" lIns="0" tIns="0" rIns="0" bIns="0" rtlCol="0" anchor="ctr"/>
          <a:lstStyle/>
          <a:p>
            <a:pPr marL="0" indent="0">
              <a:buNone/>
            </a:pPr>
            <a:r>
              <a:rPr lang="en-US" sz="1400" dirty="0">
                <a:solidFill>
                  <a:srgbClr val="B9C4D1"/>
                </a:solidFill>
                <a:latin typeface="Arial" pitchFamily="34" charset="0"/>
                <a:ea typeface="Arial" pitchFamily="34" charset="-122"/>
                <a:cs typeface="Arial" pitchFamily="34" charset="-120"/>
              </a:rPr>
              <a:t>Kubernetes – Telemetri med OpenTelemetry · .NET, Frontend &amp; SQL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6140</Words>
  <Application>Microsoft Office PowerPoint</Application>
  <PresentationFormat>Widescreen</PresentationFormat>
  <Paragraphs>710</Paragraphs>
  <Slides>39</Slides>
  <Notes>39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 Telemetri med OpenTelemetry</dc:title>
  <dc:subject>PptxGenJS Presentation</dc:subject>
  <dc:creator>PptxGenJS</dc:creator>
  <cp:lastModifiedBy>Lennart Jansson</cp:lastModifiedBy>
  <cp:revision>2</cp:revision>
  <dcterms:created xsi:type="dcterms:W3CDTF">2026-10-04T15:48:41Z</dcterms:created>
  <dcterms:modified xsi:type="dcterms:W3CDTF">2026-10-04T16:07:06Z</dcterms:modified>
</cp:coreProperties>
</file>