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Välkomna! Ikväll bygger vi inga nya appar. Det är en labbkväll med kubectl i centrum. Vi tar det som stod under Vägen framåt förra gången: ConfigMaps, Secrets och Sealed Secrets - och vi knäcker vår egen krypterade hemlighet för att förstå var säkerheten faktiskt sitter. Efter det drift: infra-metrics, larm, SLO, sampling och skalning. Sist skapar vi en användare med eget klientcertifikat och låser den till ett enda namespace.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Sex delar, var och en med en eller flera labbar. Del 4 är markerad - den brukar vara kvällens aha-upplevelse: en krypterad hemlighet är bara så säker som nyckeln, och vi ska hitta nyckeln själva. Allt sker i namespacet lab så att det är enkelt att städa.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 markerade rutan är viktigast: att förstå hotmodellen. Kryptering i Git är bra, men hela säkerheten vilar på en privat nyckel i klustret - och på vem som får läsa 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Gå igenom tillsammans innan första labben. kubeseal laddades ner till Infra-mappen av deploy-infra.ps1 redan kväll 3, men lades bara i PATH för det fönstret. Den markerade rutan är en klassisk fälla: kubeseal letar som standard efter controllern i kube-system, men hos oss ligger den i sealed-secrets. Därför har alla kubeseal-kommandon ikväll flaggan --controller-namespace.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Hittills har vi satt inställningar som miljövariabler direkt i Helm-charternas deployment. En ConfigMap lyfter ut dem till ett eget objekt.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ConfigMap är ett Kubernetes-objekt med nyckel/värde-par. Podden kan använda den på tre sätt: en nyckel som miljövariabel, alla nycklar som miljövariabler med envFrom, eller som filer i en volym. Den markerade principen är poängen: imagen byggs en gång och samma image körs i test och produktion - bara konfigurationen skiljer. Nästa bild: ConfigMaps ni redan använt utan att tänka på det.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Låt alla köra kommandona. Det är ett bra sätt att se att ConfigMaps inte är något nytt: hela collectorns konfiguration är en ConfigMap, och dashboarden från förra veckan likaså. kube-root-ca.crt skapas automatiskt i varje namespace. Nu skapar vi egna.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vägar. Den markerade är den viktigaste vanan: --dry-run=client -o yaml skapar ingenting, utan skriver ut YAML som man sparar i Git och applicerar deklarativt. Samma trick använder vi för Secrets och kubeseal om en stund. describe visar innehållet utan YAML-brus.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Kvällens första riktiga insikt. Kör labbfilen och följ loggen. Ändra båda värdena med kubectl edit. Efter en stund ändras filen i loggen men inte miljövariabeln - kubelet synkar monterade ConfigMaps, men en process miljö sätts bara vid start. rollout restart tar fram nya poddar som läser de nya värdena. I .NET kan appsettings-filen läsas om med reloadOnChange - därför är fil-varianten intressant.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saker man stöter på. Checksum-annotationen är markerad eftersom den redan finns i våra egna charts: Helm räknar en hash av Secret- eller ConfigMap-mallen och lägger i podden, så att en ändring i values ger nya poddar. immutable skyddar mot oavsiktliga ändringar. subPath är en vanlig fallgrop: praktiskt, men filen uppdateras aldrig automatiskt.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Secrets ser ut som ConfigMaps med ett annat namn. Vi tittar på vad som faktiskt skiljer - och vad som inte gör det.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viktigaste att förstå om Secrets: base64 är en kodning, inte en kryptering. Alla kan avkoda den utan nyckel. Det Secrets ger är annat: en egen resurstyp som kan skyddas med RBAC, montering i minnet istället för på disk, och möjlighet till kryptering i etcd. Det markerade är problemet vi löser i del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Låt alla göra det själva - det är mer övertygande än att se det på projektorn. describe döljer värdena, vilket ger en falsk trygghet. -o yaml visar base64, och go-template med base64decode ger klartext direkt. PowerShell-varianten visar att det inte finns någon hemlig nyckel inblandad.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Podden använder Secret:en exakt som en ConfigMap - secretKeyRef istället för configMapKeyRef. df visar att volymen är tmpfs, alltså minne. Den markerade rutan är viktig för RBAC-labben sist ikväll: rätten att köra exec i en pod är i praktiken rätten att läsa dess hemligheter.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 på riktigt: våra egna hemligheter. Root-lösenordet till MySQL, connection strings och till och med den privata TLS-nyckeln går att läsa för den som har admin-rätt. Den markerade rutan är det verkliga problemet: lösenorden finns också i klartext i values-filer och skript som vi vill ha i Git. Ställ frågan - och gå vidare till lösningen.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Bitnamis Sealed Secrets löser Git-problemet med asymmetrisk kryptering. Controllern installerades redan kväll 3 med deploy-infra.ps1.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Hela idén på en bild. Man skapar en vanlig Secret som YAML utan att applicera den, skickar den genom kubeseal som krypterar med controllerns publika certifikat, och får en SealedSecret som kan checkas in. I klustret ser controllern SealedSecret:en, dekrypterar med sin privata nyckel och skapar en vanlig Secret som podden använder. Asymmetrin är markerad: det publika certifikatet är ofarligt att dela - all säkerhet sitter i den privata nyckeln, som aldrig lämnar klustret. Eller gör den? Det tar vi i del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Controllern är en vanlig Deployment. Loggen visar att den genererade ett nyckelpar första gången den startade. CRD:n är markerad: den gör att Kubernetes förstår en ny resurstyp, SealedSecret - samma mekanism som för ServiceMonitor och många andra verktyg. Certifikatet sparar vi som fil; med det kan man kryptera utan kontakt med klustret, till exempel i en CI-pipeline.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Kärnlabben. Först tar vi bort den vanliga Secret:en. Sedan samma create-kommando som förut men med --dry-run - YAML:en går direkt via röret in i kubeseal, så klartexten hamnar aldrig på disk. Titta på filen: värdena är krypterade. Applicera, och se att controllern skapar en vanlig Secret med samma namn. Podden startas om och visar samma lösenord - för applikationen är allt som förut.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Varför kan man inte bara kopiera en SealedSecret till ett namespace man själv kontrollerar och läsa den där? För att namn och namespace är en del av krypteringen. Labben visar felet i events. Det skyddar mot att någon med rätt i ett namespace lånar en hemlighet från ett annat. Scopen kan lättas upp med --scope, men strict är standard av goda skäl.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verkligheten ändras hemligheter. --merge-into krypterar bara det nya värdet och skriver in det i den befintliga filen - username rörs inte, och man behöver aldrig se det. --cert visar att kryptering bara kräver det publika certifikatet: en utvecklare eller en CI-pipeline kan skapa SealedSecrets utan någon åtkomst till klustret.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 vänder vi på det. Vi har en krypterad fil i Git. Vad krävs för att läsa den? Svaret säger allt om var säkerheten egentligen sitter.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Svaret på frågan var nyckeln bor: i en helt vanlig Secret i namespacet sealed-secrets, med labeln active. Controller-podden läser den via Kubernetes API när den startar. Secret:en innehåller ett certifikat - det publika, som kubeseal --fetch-cert gav oss - och en privat nyckel. Den privata nyckeln är markerad: den kan dekryptera varenda SealedSecret i klustret. Och den skyddas av exakt samma mekanism som de Secrets vi läste i del 2: RBAC.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 hämtar vi nyckeln. Namnet på Secret:en slumpas, så vi använder labeln. Sista kommandot skriver ut certifikatet ur nyckel-Secret:en - låt alla jämföra med pub-cert.pem från labb 3a: det är samma. Den sparade filen innehåller också den privata nyckeln. Med den filen kan man läsa allt - nästa labb visar hur.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Kvällens aha. Med den krypterade filen från Git och nyckelfilen från klustret får vi tillbaka Secret:en, utan att klustret är inblandat. --recovery-unseal finns för att man ska kunna rädda sina hemligheter om klustret går förlorat - men visar också precis vad en angripare behöver. Slutsatsen i den markerade rutan: Sealed Secrets flyttar problemet från 'lösenord i Git' till 'skydda en nyckel i klustret', och det är ett mycket mindre och mer hanterbart problem. Radera filen när labben är klar.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Fyra regler. RBAC är markerad: den privata nyckeln skyddas bara av behörigheter. Backup är den motsatta risken - tappar man klustret och saknar nyckeln går ingen SealedSecret i Git att använda; vid återställning lägger man tillbaka nyckel-Secret:en innan controllern startar. Rotation sker automatiskt, men nya nycklar betyder inte att gamla hemligheter krypteras om - det får man göra själv med kubeseal --re-encrypt. Och städa: radera nyckelfilen 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Tillbaka till telemetrin från förra veckan - nu med fokus på drift: hur mår infrastrukturen, när ska någon bli väckt, och hur bra är bra nog?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Exportörerna slogs på redan kväll 3 i values-filerna i Infra, med prometheus.io/scrape-annotationer. Därför har Prometheus samlat in dem hela tiden. Låt deltagarna leta i Targets och använda autokompletteringen - mysql_, redis_, gnatsd_ och jetstream_. Exakta metric-namn kan skilja mellan exportörversioner, så autokompletteringen är facit. Uppgiften: en liten infra-dashboard med en panel per tjänst, med teknikerna från förra veckan.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Larm är dashboards som tittar åt en. Bygg regeln tillsammans. Frågan är felandelen från förra veckan. Pending period är viktig: villkoret måste vara uppfyllt en hel minut innan larmet går, så att en enstaka topp inte väcker någon. Utan e-post konfigurerad syns larmet ändå under Alerting med status Firing. Det markerade steget är beviset: tryck på Orsaka fel några gånger och se larmet gå från Normal via Pending till Firing - och tillbaka när felen upphör. Notera att /healthz-anropen späder ut felandelen; en bra diskussion om vad man egentligen vill larma på.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begrepp från Googles SRE-tradition. SLI är det man mäter, SLO är målet, felbudgeten är skillnaden upp till 100 procent. Felbudgeten är markerad eftersom den gör SLO användbart i vardagen: den är en gemensam valuta mellan utveckling och drift. Nästa labb räknar ut den i Prometheus.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Bygg SLI-frågan i Prometheus först - arbetsflödet från förra veckan - och lägg den sedan i en Stat-panel. Felbudgeten räknas ut från SLI:n: med SLO 99 procent får 1 procent gå fel, och kvoten visar hur stor del av den som är förbrukad. Latens-SLO:n använder en bucket direkt: le="0.25" är antal anrop under 250 ms. Låt deltagarna se felbudgeten sjunka när de orsakar fel.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Sista delen: tre praktiska driftfrågor. Vi ändrar beteendet på befintliga appar med kubectl och Helm - utan ny kod.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produktion kan traces bli den dyraste signalen. Sampling betyder att bara spara en andel. Den första markerade rutan är viktig: metrics räknas fortfarande på alla anrop, så dashboards blir lika rätta. Parent-based är standardvalet: om anropet redan har ett beslut från webbläsaren följer API:t det, annars blir det halva traces. Det demonstrerar vi i labben.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Ytterligare ett exempel på konfiguration utanför koden: extraEnv i charten blir miljövariabler, och OpenTelemetry-SDK:n läser OTEL_TRACES_SAMPLER själv. 20 direkta anrop ger ungefär fem traces i Tempo, men panelen Anrop per sekund visar fortfarande alla 20. Anrop från CustomerClient syns däremot alla - Faro har redan fattat beslutet och skickar det i traceparent, och parent-based följer det. Glöm inte att återställa.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HPA är en kontrollslinga: metrics-server mäter CPU, HPA jämför mot målet och ändrar replicas i Deployment. k3s levererar metrics-server, så det fungerar direkt. Det markerade är vanligaste felet: utan CPU-request i podden finns ingen procent att räkna på. Koppla tillbaka till CQRS: workern ska inte skalas hur som helst, eftersom ordningen på kommandona spelar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fönster: ett för hpa -w, ett för lasten och ett för describe. När lasten startar stiger CPU över målet och HPA ökar antalet repliker inom någon minut. Avbryt lasten och vänta: nedskalningen är långsam med flit, så att poddar inte startas och stoppas fram och tillbaka. Den som vill kan skala cqrs-api manuellt med kubectl scale och se instanserna i Grafana.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kubeconfig består av tre listor: clusters, users och contexts. Ett context binder ihop en cluster, en user och valfritt ett namespace. Många tror att namespace i contextet begränsar - men det är bara standardvärdet. Det markerade kortet är nyckeln: låsningen sitter i användaren. Admin-användaren från k3d har rätt till allt. I labben skapar vi en ny användare med ett eget certifikat och en Role som bara gäller i namespacet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här brukar överraska: det finns inget kubectl create user. API-servern litar på alla klientcertifikat som är signerade av klustrets CA, och läser användarnamnet ur CN och grupperna ur O. Admin-användaren i er kubeconfig är precis ett sådant certifikat - kolla gärna med kubectl config view --raw. Det markerade steget, signeringen, gör vi med Kubernetes eget API för certifikatförfrågningar, så vi behöver aldrig röra CA-nyckeln. Viktigt: ett utfärdat certifikat kan inte spärras. Vill man stänga ute någon tar man bort RoleBindingen - certifikatet gäller fortfarande för inloggning men ger inga rättigheter. Därför kort livstid.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Kontrollera först att openssl fungerar: openssl version. Finns det i PATH behövs inte Set-Alias. Nyckeln är det hemliga - i verkligheten skapar användaren den på sin egen dator och skickar bara CSR:en till klusteradministratören. CSR:en innehåller den publika nyckeln och önskat namn, och är signerad med den privata nyckeln så att man vet att avsändaren har den. Ett facit-skript, 07-create-user.ps1, gör alla stegen om någon fastnar.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Här sker signeringen. Vi skickar CSR:en till klustret som ett vanligt Kubernetes-objekt - samma apply som allt annat. Den hamnar i Pending tills en admin godkänner den, och det är det markerade steget. Efter approve finns certifikatet base64-kodat i status. Läs utskriften från openssl x509: subject är vår användare, issuer är klustrets klient-CA, och enddate ligger 24 timmar fram. Fallgrop: IO.File-metoderna använder processens arbetskatalog, inte PowerShells aktuella mapp, därför står $PWD i sökvägen.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Role:n ger vanliga utvecklarrättigheter i namespacet lab och får skapa SealedSecrets, men har ingen regel för secrets - användaren kan leverera en krypterad hemlighet utan att kunna läsa den i klartext. Testa först som admin med --as, sedan på riktigt. Lägg märke till skillnaden mellan felen: ett ogiltigt certifikat ger Unauthorized (vem är du?), medan Forbidden betyder att API-servern vet vem du är men inte tillåter det. Prova gärna kubectl get pods utan RoleBinding - då får lab-user logga in men inte göra något. Byt tillbaka till k3d-home!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 ta bort ett namespace tar bort allt i det, även Role och RoleBinding, vilket gör det till ett bra sätt att isolera labbar. CSR-objektet ligger utanför namespaces och tas bort för sig. Context och användare i kubeconfig ligger på er egen dator. Kontrollera att nyckelfilerna från labb 4 och 7 är borta - certifikatet för lab-user gäller i 24 timmar till, men utan RoleBinding ger det inga rättigheter.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Muntlig quiz. RBAC är markerad eftersom kvällens alla trådar möts där: Secrets skyddas av RBAC, nyckeln till Sealed Secrets skyddas av RBAC, och ett låst context är RBAC. Be någon förklara varför en SealedSecret i Git är säker - och vad som skulle göra den osäker.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Anpassa efter hur sista kvällen planeras. Förslaget är att knyta ihop helheten: byta ut lösenorden i våra egna charts mot SealedSecrets, ge våra ingresser egna certifikat, och ta upp det deltagarna vill fördjupa sig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Öppna för frågor. Avslutande fråga: en kollega checkar av misstag in sealed-secrets-key.yaml i Git. Vad behöver ni göra? (Rotera nyckeln, kryptera om alla SealedSecrets och - viktigast - byta alla lösenord, eftersom de kan ha lästs.)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F33"/>
        </a:solidFill>
      </p:bgPr>
    </p:bg>
    <p:spTree>
      <p:nvGrpSpPr>
        <p:cNvPr id="1" name=""/>
        <p:cNvGrpSpPr/>
        <p:nvPr/>
      </p:nvGrpSpPr>
      <p:grpSpPr>
        <a:xfrm>
          <a:off x="0" y="0"/>
          <a:ext cx="0" cy="0"/>
          <a:chOff x="0" y="0"/>
          <a:chExt cx="0" cy="0"/>
        </a:xfrm>
      </p:grpSpPr>
      <p:sp>
        <p:nvSpPr>
          <p:cNvPr id="2" name="Text 0"/>
          <p:cNvSpPr txBox="1"/>
          <p:nvPr/>
        </p:nvSpPr>
        <p:spPr>
          <a:xfrm>
            <a:off x="548640" y="822960"/>
            <a:ext cx="11094415" cy="274320"/>
          </a:xfrm>
          <a:prstGeom prst="rect">
            <a:avLst/>
          </a:prstGeom>
          <a:noFill/>
          <a:ln/>
        </p:spPr>
        <p:txBody>
          <a:bodyPr wrap="square" lIns="0" tIns="0" rIns="0" bIns="0" rtlCol="0" anchor="ctr"/>
          <a:lstStyle/>
          <a:p>
            <a:pPr indent="0" marL="0">
              <a:buNone/>
            </a:pPr>
            <a:r>
              <a:rPr lang="en-US" sz="1200" b="1" spc="200" kern="0" dirty="0">
                <a:solidFill>
                  <a:srgbClr val="7C9CFF"/>
                </a:solidFill>
                <a:latin typeface="Arial" pitchFamily="34" charset="0"/>
                <a:ea typeface="Arial" pitchFamily="34" charset="-122"/>
                <a:cs typeface="Arial" pitchFamily="34" charset="-120"/>
              </a:rPr>
              <a:t>KUBERNETES-KURS · KVÄLL 7 AV 8</a:t>
            </a:r>
            <a:endParaRPr lang="en-US" sz="1200" dirty="0"/>
          </a:p>
        </p:txBody>
      </p:sp>
      <p:sp>
        <p:nvSpPr>
          <p:cNvPr id="3" name="Text 1"/>
          <p:cNvSpPr txBox="1"/>
          <p:nvPr/>
        </p:nvSpPr>
        <p:spPr>
          <a:xfrm>
            <a:off x="548640" y="1234440"/>
            <a:ext cx="11094415" cy="1097280"/>
          </a:xfrm>
          <a:prstGeom prst="rect">
            <a:avLst/>
          </a:prstGeom>
          <a:noFill/>
          <a:ln/>
        </p:spPr>
        <p:txBody>
          <a:bodyPr wrap="square" lIns="0" tIns="0" rIns="0" bIns="0" rtlCol="0" anchor="ctr"/>
          <a:lstStyle/>
          <a:p>
            <a:pPr indent="0" marL="0">
              <a:buNone/>
            </a:pPr>
            <a:r>
              <a:rPr lang="en-US" sz="5200" b="1" dirty="0">
                <a:solidFill>
                  <a:srgbClr val="F5F7FA"/>
                </a:solidFill>
                <a:latin typeface="Calibri" pitchFamily="34" charset="0"/>
                <a:ea typeface="Calibri" pitchFamily="34" charset="-122"/>
                <a:cs typeface="Calibri" pitchFamily="34" charset="-120"/>
              </a:rPr>
              <a:t>Konfiguration, hemligheter och drift</a:t>
            </a:r>
            <a:endParaRPr lang="en-US" sz="5200" dirty="0"/>
          </a:p>
        </p:txBody>
      </p:sp>
      <p:sp>
        <p:nvSpPr>
          <p:cNvPr id="4" name="Text 2"/>
          <p:cNvSpPr txBox="1"/>
          <p:nvPr/>
        </p:nvSpPr>
        <p:spPr>
          <a:xfrm>
            <a:off x="548640" y="2514600"/>
            <a:ext cx="9875520" cy="914400"/>
          </a:xfrm>
          <a:prstGeom prst="rect">
            <a:avLst/>
          </a:prstGeom>
          <a:noFill/>
          <a:ln/>
        </p:spPr>
        <p:txBody>
          <a:bodyPr wrap="square" lIns="0" tIns="0" rIns="0" bIns="0" rtlCol="0" anchor="t"/>
          <a:lstStyle/>
          <a:p>
            <a:pPr indent="0" marL="0">
              <a:lnSpc>
                <a:spcPct val="130000"/>
              </a:lnSpc>
              <a:buNone/>
            </a:pPr>
            <a:r>
              <a:rPr lang="en-US" sz="2000" dirty="0">
                <a:solidFill>
                  <a:srgbClr val="B9C4D1"/>
                </a:solidFill>
                <a:latin typeface="Arial" pitchFamily="34" charset="0"/>
                <a:ea typeface="Arial" pitchFamily="34" charset="-122"/>
                <a:cs typeface="Arial" pitchFamily="34" charset="-120"/>
              </a:rPr>
              <a:t>ConfigMaps, Secrets och Sealed Secrets med kubeseal - och labbar med kubectl kring larm, SLO, sampling, skalning och åtkomst per namespace</a:t>
            </a:r>
            <a:endParaRPr lang="en-US" sz="2000" dirty="0"/>
          </a:p>
        </p:txBody>
      </p:sp>
      <p:sp>
        <p:nvSpPr>
          <p:cNvPr id="5" name="Text 3"/>
          <p:cNvSpPr txBox="1"/>
          <p:nvPr/>
        </p:nvSpPr>
        <p:spPr>
          <a:xfrm>
            <a:off x="548640" y="6172200"/>
            <a:ext cx="6400800" cy="320040"/>
          </a:xfrm>
          <a:prstGeom prst="rect">
            <a:avLst/>
          </a:prstGeom>
          <a:noFill/>
          <a:ln/>
        </p:spPr>
        <p:txBody>
          <a:bodyPr wrap="square" lIns="0" tIns="0" rIns="0" bIns="0" rtlCol="0" anchor="ctr"/>
          <a:lstStyle/>
          <a:p>
            <a:pPr indent="0" marL="0">
              <a:buNone/>
            </a:pPr>
            <a:r>
              <a:rPr lang="en-US" sz="1400" dirty="0">
                <a:solidFill>
                  <a:srgbClr val="B9C4D1"/>
                </a:solidFill>
                <a:latin typeface="Arial" pitchFamily="34" charset="0"/>
                <a:ea typeface="Arial" pitchFamily="34" charset="-122"/>
                <a:cs typeface="Arial" pitchFamily="34" charset="-120"/>
              </a:rPr>
              <a:t>.NET · Frontend · SQL — Yrkeshögskola</a:t>
            </a:r>
            <a:endParaRPr lang="en-US" sz="1400" dirty="0"/>
          </a:p>
        </p:txBody>
      </p:sp>
      <p:sp>
        <p:nvSpPr>
          <p:cNvPr id="6" name="Text 4"/>
          <p:cNvSpPr txBox="1"/>
          <p:nvPr/>
        </p:nvSpPr>
        <p:spPr>
          <a:xfrm>
            <a:off x="6156655" y="6172200"/>
            <a:ext cx="5486400" cy="320040"/>
          </a:xfrm>
          <a:prstGeom prst="rect">
            <a:avLst/>
          </a:prstGeom>
          <a:noFill/>
          <a:ln/>
        </p:spPr>
        <p:txBody>
          <a:bodyPr wrap="square" lIns="0" tIns="0" rIns="0" bIns="0" rtlCol="0" anchor="ctr"/>
          <a:lstStyle/>
          <a:p>
            <a:pPr algn="r" indent="0" marL="0">
              <a:buNone/>
            </a:pPr>
            <a:r>
              <a:rPr lang="en-US" sz="1400" b="1" dirty="0">
                <a:solidFill>
                  <a:srgbClr val="7C9CFF"/>
                </a:solidFill>
                <a:latin typeface="Arial" pitchFamily="34" charset="0"/>
                <a:ea typeface="Arial" pitchFamily="34" charset="-122"/>
                <a:cs typeface="Arial" pitchFamily="34" charset="-120"/>
              </a:rPr>
              <a:t>Del 7 av 8 · labbkväll</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AGENDA · KVÄLL 7</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Så här bygger vi upp kvällen</a:t>
            </a:r>
            <a:endParaRPr lang="en-US" sz="3000" dirty="0"/>
          </a:p>
        </p:txBody>
      </p:sp>
      <p:sp>
        <p:nvSpPr>
          <p:cNvPr id="4" name="Shape 2"/>
          <p:cNvSpPr/>
          <p:nvPr/>
        </p:nvSpPr>
        <p:spPr>
          <a:xfrm>
            <a:off x="548640" y="1645920"/>
            <a:ext cx="3593592" cy="1554480"/>
          </a:xfrm>
          <a:prstGeom prst="roundRect">
            <a:avLst>
              <a:gd name="adj" fmla="val 3529"/>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5" name="Text 3"/>
          <p:cNvSpPr txBox="1"/>
          <p:nvPr/>
        </p:nvSpPr>
        <p:spPr>
          <a:xfrm>
            <a:off x="749808" y="1847088"/>
            <a:ext cx="3191256" cy="320040"/>
          </a:xfrm>
          <a:prstGeom prst="rect">
            <a:avLst/>
          </a:prstGeom>
          <a:noFill/>
          <a:ln/>
        </p:spPr>
        <p:txBody>
          <a:bodyPr wrap="square" lIns="0" tIns="0" rIns="0" bIns="0" rtlCol="0" anchor="t"/>
          <a:lstStyle/>
          <a:p>
            <a:pPr indent="0" marL="0">
              <a:buNone/>
            </a:pPr>
            <a:r>
              <a:rPr lang="en-US" sz="1600" b="1" dirty="0">
                <a:solidFill>
                  <a:srgbClr val="16202B"/>
                </a:solidFill>
                <a:latin typeface="Calibri" pitchFamily="34" charset="0"/>
                <a:ea typeface="Calibri" pitchFamily="34" charset="-122"/>
                <a:cs typeface="Calibri" pitchFamily="34" charset="-120"/>
              </a:rPr>
              <a:t>1. ConfigMaps</a:t>
            </a:r>
            <a:endParaRPr lang="en-US" sz="1600" dirty="0"/>
          </a:p>
        </p:txBody>
      </p:sp>
      <p:sp>
        <p:nvSpPr>
          <p:cNvPr id="6" name="Text 4"/>
          <p:cNvSpPr txBox="1"/>
          <p:nvPr/>
        </p:nvSpPr>
        <p:spPr>
          <a:xfrm>
            <a:off x="749808" y="2231136"/>
            <a:ext cx="3191256" cy="81381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Konfiguration utanför imagen - env, fil och uppdatering</a:t>
            </a:r>
            <a:endParaRPr lang="en-US" sz="1300" dirty="0"/>
          </a:p>
        </p:txBody>
      </p:sp>
      <p:sp>
        <p:nvSpPr>
          <p:cNvPr id="7" name="Shape 5"/>
          <p:cNvSpPr/>
          <p:nvPr/>
        </p:nvSpPr>
        <p:spPr>
          <a:xfrm>
            <a:off x="4297680" y="1645920"/>
            <a:ext cx="3593592" cy="1554480"/>
          </a:xfrm>
          <a:prstGeom prst="roundRect">
            <a:avLst>
              <a:gd name="adj" fmla="val 3529"/>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8" name="Text 6"/>
          <p:cNvSpPr txBox="1"/>
          <p:nvPr/>
        </p:nvSpPr>
        <p:spPr>
          <a:xfrm>
            <a:off x="4498848" y="1847088"/>
            <a:ext cx="3191256" cy="320040"/>
          </a:xfrm>
          <a:prstGeom prst="rect">
            <a:avLst/>
          </a:prstGeom>
          <a:noFill/>
          <a:ln/>
        </p:spPr>
        <p:txBody>
          <a:bodyPr wrap="square" lIns="0" tIns="0" rIns="0" bIns="0" rtlCol="0" anchor="t"/>
          <a:lstStyle/>
          <a:p>
            <a:pPr indent="0" marL="0">
              <a:buNone/>
            </a:pPr>
            <a:r>
              <a:rPr lang="en-US" sz="1600" b="1" dirty="0">
                <a:solidFill>
                  <a:srgbClr val="16202B"/>
                </a:solidFill>
                <a:latin typeface="Calibri" pitchFamily="34" charset="0"/>
                <a:ea typeface="Calibri" pitchFamily="34" charset="-122"/>
                <a:cs typeface="Calibri" pitchFamily="34" charset="-120"/>
              </a:rPr>
              <a:t>2. Secrets</a:t>
            </a:r>
            <a:endParaRPr lang="en-US" sz="1600" dirty="0"/>
          </a:p>
        </p:txBody>
      </p:sp>
      <p:sp>
        <p:nvSpPr>
          <p:cNvPr id="9" name="Text 7"/>
          <p:cNvSpPr txBox="1"/>
          <p:nvPr/>
        </p:nvSpPr>
        <p:spPr>
          <a:xfrm>
            <a:off x="4498848" y="2231136"/>
            <a:ext cx="3191256" cy="81381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Base64 är inte kryptering - och vem kan läsa?</a:t>
            </a:r>
            <a:endParaRPr lang="en-US" sz="1300" dirty="0"/>
          </a:p>
        </p:txBody>
      </p:sp>
      <p:sp>
        <p:nvSpPr>
          <p:cNvPr id="10" name="Shape 8"/>
          <p:cNvSpPr/>
          <p:nvPr/>
        </p:nvSpPr>
        <p:spPr>
          <a:xfrm>
            <a:off x="8046720" y="1645920"/>
            <a:ext cx="3593592" cy="1554480"/>
          </a:xfrm>
          <a:prstGeom prst="roundRect">
            <a:avLst>
              <a:gd name="adj" fmla="val 3529"/>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1" name="Text 9"/>
          <p:cNvSpPr txBox="1"/>
          <p:nvPr/>
        </p:nvSpPr>
        <p:spPr>
          <a:xfrm>
            <a:off x="8247888" y="1847088"/>
            <a:ext cx="3191256" cy="320040"/>
          </a:xfrm>
          <a:prstGeom prst="rect">
            <a:avLst/>
          </a:prstGeom>
          <a:noFill/>
          <a:ln/>
        </p:spPr>
        <p:txBody>
          <a:bodyPr wrap="square" lIns="0" tIns="0" rIns="0" bIns="0" rtlCol="0" anchor="t"/>
          <a:lstStyle/>
          <a:p>
            <a:pPr indent="0" marL="0">
              <a:buNone/>
            </a:pPr>
            <a:r>
              <a:rPr lang="en-US" sz="1600" b="1" dirty="0">
                <a:solidFill>
                  <a:srgbClr val="16202B"/>
                </a:solidFill>
                <a:latin typeface="Calibri" pitchFamily="34" charset="0"/>
                <a:ea typeface="Calibri" pitchFamily="34" charset="-122"/>
                <a:cs typeface="Calibri" pitchFamily="34" charset="-120"/>
              </a:rPr>
              <a:t>3. Sealed Secrets</a:t>
            </a:r>
            <a:endParaRPr lang="en-US" sz="1600" dirty="0"/>
          </a:p>
        </p:txBody>
      </p:sp>
      <p:sp>
        <p:nvSpPr>
          <p:cNvPr id="12" name="Text 10"/>
          <p:cNvSpPr txBox="1"/>
          <p:nvPr/>
        </p:nvSpPr>
        <p:spPr>
          <a:xfrm>
            <a:off x="8247888" y="2231136"/>
            <a:ext cx="3191256" cy="81381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kubeseal: hemligheter som tål Git</a:t>
            </a:r>
            <a:endParaRPr lang="en-US" sz="1300" dirty="0"/>
          </a:p>
        </p:txBody>
      </p:sp>
      <p:sp>
        <p:nvSpPr>
          <p:cNvPr id="13" name="Shape 11"/>
          <p:cNvSpPr/>
          <p:nvPr/>
        </p:nvSpPr>
        <p:spPr>
          <a:xfrm>
            <a:off x="548640" y="3429000"/>
            <a:ext cx="3593592" cy="1554480"/>
          </a:xfrm>
          <a:prstGeom prst="roundRect">
            <a:avLst>
              <a:gd name="adj" fmla="val 3529"/>
            </a:avLst>
          </a:prstGeom>
          <a:solidFill>
            <a:srgbClr val="3762FF"/>
          </a:solidFill>
          <a:ln w="12700">
            <a:solidFill>
              <a:srgbClr val="3762FF"/>
            </a:solidFill>
            <a:prstDash val="solid"/>
          </a:ln>
        </p:spPr>
      </p:sp>
      <p:sp>
        <p:nvSpPr>
          <p:cNvPr id="14" name="Text 12"/>
          <p:cNvSpPr txBox="1"/>
          <p:nvPr/>
        </p:nvSpPr>
        <p:spPr>
          <a:xfrm>
            <a:off x="749808" y="3630168"/>
            <a:ext cx="3191256" cy="3200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4. Knäck nyckeln</a:t>
            </a:r>
            <a:endParaRPr lang="en-US" sz="1600" dirty="0"/>
          </a:p>
        </p:txBody>
      </p:sp>
      <p:sp>
        <p:nvSpPr>
          <p:cNvPr id="15" name="Text 13"/>
          <p:cNvSpPr txBox="1"/>
          <p:nvPr/>
        </p:nvSpPr>
        <p:spPr>
          <a:xfrm>
            <a:off x="749808" y="4014216"/>
            <a:ext cx="3191256" cy="813816"/>
          </a:xfrm>
          <a:prstGeom prst="rect">
            <a:avLst/>
          </a:prstGeom>
          <a:noFill/>
          <a:ln/>
        </p:spPr>
        <p:txBody>
          <a:bodyPr wrap="square" lIns="0" tIns="0" rIns="0" bIns="0" rtlCol="0" anchor="t"/>
          <a:lstStyle/>
          <a:p>
            <a:pPr indent="0" marL="0">
              <a:lnSpc>
                <a:spcPct val="115000"/>
              </a:lnSpc>
              <a:buNone/>
            </a:pPr>
            <a:r>
              <a:rPr lang="en-US" sz="1300" dirty="0">
                <a:solidFill>
                  <a:srgbClr val="FFFFFF"/>
                </a:solidFill>
                <a:latin typeface="Arial" pitchFamily="34" charset="0"/>
                <a:ea typeface="Arial" pitchFamily="34" charset="-122"/>
                <a:cs typeface="Arial" pitchFamily="34" charset="-120"/>
              </a:rPr>
              <a:t>Dekryptera med controllerns privata nyckel</a:t>
            </a:r>
            <a:endParaRPr lang="en-US" sz="1300" dirty="0"/>
          </a:p>
        </p:txBody>
      </p:sp>
      <p:sp>
        <p:nvSpPr>
          <p:cNvPr id="16" name="Shape 14"/>
          <p:cNvSpPr/>
          <p:nvPr/>
        </p:nvSpPr>
        <p:spPr>
          <a:xfrm>
            <a:off x="4297680" y="3429000"/>
            <a:ext cx="3593592" cy="1554480"/>
          </a:xfrm>
          <a:prstGeom prst="roundRect">
            <a:avLst>
              <a:gd name="adj" fmla="val 3529"/>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7" name="Text 15"/>
          <p:cNvSpPr txBox="1"/>
          <p:nvPr/>
        </p:nvSpPr>
        <p:spPr>
          <a:xfrm>
            <a:off x="4498848" y="3630168"/>
            <a:ext cx="3191256" cy="320040"/>
          </a:xfrm>
          <a:prstGeom prst="rect">
            <a:avLst/>
          </a:prstGeom>
          <a:noFill/>
          <a:ln/>
        </p:spPr>
        <p:txBody>
          <a:bodyPr wrap="square" lIns="0" tIns="0" rIns="0" bIns="0" rtlCol="0" anchor="t"/>
          <a:lstStyle/>
          <a:p>
            <a:pPr indent="0" marL="0">
              <a:buNone/>
            </a:pPr>
            <a:r>
              <a:rPr lang="en-US" sz="1600" b="1" dirty="0">
                <a:solidFill>
                  <a:srgbClr val="16202B"/>
                </a:solidFill>
                <a:latin typeface="Calibri" pitchFamily="34" charset="0"/>
                <a:ea typeface="Calibri" pitchFamily="34" charset="-122"/>
                <a:cs typeface="Calibri" pitchFamily="34" charset="-120"/>
              </a:rPr>
              <a:t>5. Drift</a:t>
            </a:r>
            <a:endParaRPr lang="en-US" sz="1600" dirty="0"/>
          </a:p>
        </p:txBody>
      </p:sp>
      <p:sp>
        <p:nvSpPr>
          <p:cNvPr id="18" name="Text 16"/>
          <p:cNvSpPr txBox="1"/>
          <p:nvPr/>
        </p:nvSpPr>
        <p:spPr>
          <a:xfrm>
            <a:off x="4498848" y="4014216"/>
            <a:ext cx="3191256" cy="81381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Infra-metrics, larm i Grafana och SLO</a:t>
            </a:r>
            <a:endParaRPr lang="en-US" sz="1300" dirty="0"/>
          </a:p>
        </p:txBody>
      </p:sp>
      <p:sp>
        <p:nvSpPr>
          <p:cNvPr id="19" name="Shape 17"/>
          <p:cNvSpPr/>
          <p:nvPr/>
        </p:nvSpPr>
        <p:spPr>
          <a:xfrm>
            <a:off x="8046720" y="3429000"/>
            <a:ext cx="3593592" cy="1554480"/>
          </a:xfrm>
          <a:prstGeom prst="roundRect">
            <a:avLst>
              <a:gd name="adj" fmla="val 3529"/>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20" name="Text 18"/>
          <p:cNvSpPr txBox="1"/>
          <p:nvPr/>
        </p:nvSpPr>
        <p:spPr>
          <a:xfrm>
            <a:off x="8247888" y="3630168"/>
            <a:ext cx="3191256" cy="320040"/>
          </a:xfrm>
          <a:prstGeom prst="rect">
            <a:avLst/>
          </a:prstGeom>
          <a:noFill/>
          <a:ln/>
        </p:spPr>
        <p:txBody>
          <a:bodyPr wrap="square" lIns="0" tIns="0" rIns="0" bIns="0" rtlCol="0" anchor="t"/>
          <a:lstStyle/>
          <a:p>
            <a:pPr indent="0" marL="0">
              <a:buNone/>
            </a:pPr>
            <a:r>
              <a:rPr lang="en-US" sz="1600" b="1" dirty="0">
                <a:solidFill>
                  <a:srgbClr val="16202B"/>
                </a:solidFill>
                <a:latin typeface="Calibri" pitchFamily="34" charset="0"/>
                <a:ea typeface="Calibri" pitchFamily="34" charset="-122"/>
                <a:cs typeface="Calibri" pitchFamily="34" charset="-120"/>
              </a:rPr>
              <a:t>6. Sampling, skalning, åtkomst</a:t>
            </a:r>
            <a:endParaRPr lang="en-US" sz="1600" dirty="0"/>
          </a:p>
        </p:txBody>
      </p:sp>
      <p:sp>
        <p:nvSpPr>
          <p:cNvPr id="21" name="Text 19"/>
          <p:cNvSpPr txBox="1"/>
          <p:nvPr/>
        </p:nvSpPr>
        <p:spPr>
          <a:xfrm>
            <a:off x="8247888" y="4014216"/>
            <a:ext cx="3191256" cy="81381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Färre traces, fler poddar, egen användare per namespace</a:t>
            </a:r>
            <a:endParaRPr lang="en-US" sz="1300" dirty="0"/>
          </a:p>
        </p:txBody>
      </p:sp>
      <p:sp>
        <p:nvSpPr>
          <p:cNvPr id="22" name="Text 20"/>
          <p:cNvSpPr txBox="1"/>
          <p:nvPr/>
        </p:nvSpPr>
        <p:spPr>
          <a:xfrm>
            <a:off x="548640" y="5440680"/>
            <a:ext cx="11094415" cy="548640"/>
          </a:xfrm>
          <a:prstGeom prst="rect">
            <a:avLst/>
          </a:prstGeom>
          <a:noFill/>
          <a:ln/>
        </p:spPr>
        <p:txBody>
          <a:bodyPr wrap="square" lIns="0" tIns="0" rIns="0" bIns="0" rtlCol="0" anchor="t"/>
          <a:lstStyle/>
          <a:p>
            <a:pPr indent="0" marL="0">
              <a:lnSpc>
                <a:spcPct val="120000"/>
              </a:lnSpc>
              <a:buNone/>
            </a:pPr>
            <a:r>
              <a:rPr lang="en-US" sz="1400" dirty="0">
                <a:solidFill>
                  <a:srgbClr val="4A5568"/>
                </a:solidFill>
                <a:latin typeface="Arial" pitchFamily="34" charset="0"/>
                <a:ea typeface="Arial" pitchFamily="34" charset="-122"/>
                <a:cs typeface="Arial" pitchFamily="34" charset="-120"/>
              </a:rPr>
              <a:t>Varje del är en kort genomgång följd av en labb. Alla labbar körs i namespacet lab - det städas bort i slutet.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F33"/>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7C9CFF"/>
                </a:solidFill>
                <a:latin typeface="Arial" pitchFamily="34" charset="0"/>
                <a:ea typeface="Arial" pitchFamily="34" charset="-122"/>
                <a:cs typeface="Arial" pitchFamily="34" charset="-120"/>
              </a:rPr>
              <a:t>MÅLBILD</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F5F7FA"/>
                </a:solidFill>
                <a:latin typeface="Calibri" pitchFamily="34" charset="0"/>
                <a:ea typeface="Calibri" pitchFamily="34" charset="-122"/>
                <a:cs typeface="Calibri" pitchFamily="34" charset="-120"/>
              </a:rPr>
              <a:t>När ni går hem ikväll kan ni…</a:t>
            </a:r>
            <a:endParaRPr lang="en-US" sz="3000" dirty="0"/>
          </a:p>
        </p:txBody>
      </p:sp>
      <p:sp>
        <p:nvSpPr>
          <p:cNvPr id="4" name="Shape 2"/>
          <p:cNvSpPr/>
          <p:nvPr/>
        </p:nvSpPr>
        <p:spPr>
          <a:xfrm>
            <a:off x="548640" y="1737360"/>
            <a:ext cx="2651760" cy="2103120"/>
          </a:xfrm>
          <a:prstGeom prst="roundRect">
            <a:avLst>
              <a:gd name="adj" fmla="val 2609"/>
            </a:avLst>
          </a:prstGeom>
          <a:solidFill>
            <a:srgbClr val="16294A"/>
          </a:solidFill>
          <a:ln w="12700">
            <a:solidFill>
              <a:srgbClr val="16294A"/>
            </a:solidFill>
            <a:prstDash val="solid"/>
          </a:ln>
        </p:spPr>
      </p:sp>
      <p:sp>
        <p:nvSpPr>
          <p:cNvPr id="5" name="Text 3"/>
          <p:cNvSpPr txBox="1"/>
          <p:nvPr/>
        </p:nvSpPr>
        <p:spPr>
          <a:xfrm>
            <a:off x="749808" y="1938528"/>
            <a:ext cx="2249424" cy="274320"/>
          </a:xfrm>
          <a:prstGeom prst="rect">
            <a:avLst/>
          </a:prstGeom>
          <a:noFill/>
          <a:ln/>
        </p:spPr>
        <p:txBody>
          <a:bodyPr wrap="square" lIns="0" tIns="0" rIns="0" bIns="0" rtlCol="0" anchor="ctr"/>
          <a:lstStyle/>
          <a:p>
            <a:pPr indent="0" marL="0">
              <a:buNone/>
            </a:pPr>
            <a:r>
              <a:rPr lang="en-US" sz="1100" b="1" spc="200" kern="0" dirty="0">
                <a:solidFill>
                  <a:srgbClr val="7C9CFF"/>
                </a:solidFill>
                <a:latin typeface="Arial" pitchFamily="34" charset="0"/>
                <a:ea typeface="Arial" pitchFamily="34" charset="-122"/>
                <a:cs typeface="Arial" pitchFamily="34" charset="-120"/>
              </a:rPr>
              <a:t>01</a:t>
            </a:r>
            <a:endParaRPr lang="en-US" sz="1100" dirty="0"/>
          </a:p>
        </p:txBody>
      </p:sp>
      <p:sp>
        <p:nvSpPr>
          <p:cNvPr id="6" name="Text 4"/>
          <p:cNvSpPr txBox="1"/>
          <p:nvPr/>
        </p:nvSpPr>
        <p:spPr>
          <a:xfrm>
            <a:off x="749808" y="2231136"/>
            <a:ext cx="2249424" cy="320040"/>
          </a:xfrm>
          <a:prstGeom prst="rect">
            <a:avLst/>
          </a:prstGeom>
          <a:noFill/>
          <a:ln/>
        </p:spPr>
        <p:txBody>
          <a:bodyPr wrap="square" lIns="0" tIns="0" rIns="0" bIns="0" rtlCol="0" anchor="t"/>
          <a:lstStyle/>
          <a:p>
            <a:pPr indent="0" marL="0">
              <a:buNone/>
            </a:pPr>
            <a:r>
              <a:rPr lang="en-US" sz="1600" b="1" dirty="0">
                <a:solidFill>
                  <a:srgbClr val="F5F7FA"/>
                </a:solidFill>
                <a:latin typeface="Calibri" pitchFamily="34" charset="0"/>
                <a:ea typeface="Calibri" pitchFamily="34" charset="-122"/>
                <a:cs typeface="Calibri" pitchFamily="34" charset="-120"/>
              </a:rPr>
              <a:t>Konfigurera</a:t>
            </a:r>
            <a:endParaRPr lang="en-US" sz="1600" dirty="0"/>
          </a:p>
        </p:txBody>
      </p:sp>
      <p:sp>
        <p:nvSpPr>
          <p:cNvPr id="7" name="Text 5"/>
          <p:cNvSpPr txBox="1"/>
          <p:nvPr/>
        </p:nvSpPr>
        <p:spPr>
          <a:xfrm>
            <a:off x="749808" y="2615184"/>
            <a:ext cx="2249424" cy="1069848"/>
          </a:xfrm>
          <a:prstGeom prst="rect">
            <a:avLst/>
          </a:prstGeom>
          <a:noFill/>
          <a:ln/>
        </p:spPr>
        <p:txBody>
          <a:bodyPr wrap="square" lIns="0" tIns="0" rIns="0" bIns="0" rtlCol="0" anchor="t"/>
          <a:lstStyle/>
          <a:p>
            <a:pPr indent="0" marL="0">
              <a:lnSpc>
                <a:spcPct val="115000"/>
              </a:lnSpc>
              <a:buNone/>
            </a:pPr>
            <a:r>
              <a:rPr lang="en-US" sz="1300" dirty="0">
                <a:solidFill>
                  <a:srgbClr val="B9C4D1"/>
                </a:solidFill>
                <a:latin typeface="Arial" pitchFamily="34" charset="0"/>
                <a:ea typeface="Arial" pitchFamily="34" charset="-122"/>
                <a:cs typeface="Arial" pitchFamily="34" charset="-120"/>
              </a:rPr>
              <a:t>Lägga inställningar i ConfigMaps - som env och som fil</a:t>
            </a:r>
            <a:endParaRPr lang="en-US" sz="1300" dirty="0"/>
          </a:p>
        </p:txBody>
      </p:sp>
      <p:sp>
        <p:nvSpPr>
          <p:cNvPr id="8" name="Shape 6"/>
          <p:cNvSpPr/>
          <p:nvPr/>
        </p:nvSpPr>
        <p:spPr>
          <a:xfrm>
            <a:off x="3362249" y="1737360"/>
            <a:ext cx="2651760" cy="2103120"/>
          </a:xfrm>
          <a:prstGeom prst="roundRect">
            <a:avLst>
              <a:gd name="adj" fmla="val 2609"/>
            </a:avLst>
          </a:prstGeom>
          <a:solidFill>
            <a:srgbClr val="16294A"/>
          </a:solidFill>
          <a:ln w="12700">
            <a:solidFill>
              <a:srgbClr val="16294A"/>
            </a:solidFill>
            <a:prstDash val="solid"/>
          </a:ln>
        </p:spPr>
      </p:sp>
      <p:sp>
        <p:nvSpPr>
          <p:cNvPr id="9" name="Text 7"/>
          <p:cNvSpPr txBox="1"/>
          <p:nvPr/>
        </p:nvSpPr>
        <p:spPr>
          <a:xfrm>
            <a:off x="3563417" y="1938528"/>
            <a:ext cx="2249424" cy="274320"/>
          </a:xfrm>
          <a:prstGeom prst="rect">
            <a:avLst/>
          </a:prstGeom>
          <a:noFill/>
          <a:ln/>
        </p:spPr>
        <p:txBody>
          <a:bodyPr wrap="square" lIns="0" tIns="0" rIns="0" bIns="0" rtlCol="0" anchor="ctr"/>
          <a:lstStyle/>
          <a:p>
            <a:pPr indent="0" marL="0">
              <a:buNone/>
            </a:pPr>
            <a:r>
              <a:rPr lang="en-US" sz="1100" b="1" spc="200" kern="0" dirty="0">
                <a:solidFill>
                  <a:srgbClr val="7C9CFF"/>
                </a:solidFill>
                <a:latin typeface="Arial" pitchFamily="34" charset="0"/>
                <a:ea typeface="Arial" pitchFamily="34" charset="-122"/>
                <a:cs typeface="Arial" pitchFamily="34" charset="-120"/>
              </a:rPr>
              <a:t>02</a:t>
            </a:r>
            <a:endParaRPr lang="en-US" sz="1100" dirty="0"/>
          </a:p>
        </p:txBody>
      </p:sp>
      <p:sp>
        <p:nvSpPr>
          <p:cNvPr id="10" name="Text 8"/>
          <p:cNvSpPr txBox="1"/>
          <p:nvPr/>
        </p:nvSpPr>
        <p:spPr>
          <a:xfrm>
            <a:off x="3563417" y="2231136"/>
            <a:ext cx="2249424" cy="320040"/>
          </a:xfrm>
          <a:prstGeom prst="rect">
            <a:avLst/>
          </a:prstGeom>
          <a:noFill/>
          <a:ln/>
        </p:spPr>
        <p:txBody>
          <a:bodyPr wrap="square" lIns="0" tIns="0" rIns="0" bIns="0" rtlCol="0" anchor="t"/>
          <a:lstStyle/>
          <a:p>
            <a:pPr indent="0" marL="0">
              <a:buNone/>
            </a:pPr>
            <a:r>
              <a:rPr lang="en-US" sz="1600" b="1" dirty="0">
                <a:solidFill>
                  <a:srgbClr val="F5F7FA"/>
                </a:solidFill>
                <a:latin typeface="Calibri" pitchFamily="34" charset="0"/>
                <a:ea typeface="Calibri" pitchFamily="34" charset="-122"/>
                <a:cs typeface="Calibri" pitchFamily="34" charset="-120"/>
              </a:rPr>
              <a:t>Skydda</a:t>
            </a:r>
            <a:endParaRPr lang="en-US" sz="1600" dirty="0"/>
          </a:p>
        </p:txBody>
      </p:sp>
      <p:sp>
        <p:nvSpPr>
          <p:cNvPr id="11" name="Text 9"/>
          <p:cNvSpPr txBox="1"/>
          <p:nvPr/>
        </p:nvSpPr>
        <p:spPr>
          <a:xfrm>
            <a:off x="3563417" y="2615184"/>
            <a:ext cx="2249424" cy="1069848"/>
          </a:xfrm>
          <a:prstGeom prst="rect">
            <a:avLst/>
          </a:prstGeom>
          <a:noFill/>
          <a:ln/>
        </p:spPr>
        <p:txBody>
          <a:bodyPr wrap="square" lIns="0" tIns="0" rIns="0" bIns="0" rtlCol="0" anchor="t"/>
          <a:lstStyle/>
          <a:p>
            <a:pPr indent="0" marL="0">
              <a:lnSpc>
                <a:spcPct val="115000"/>
              </a:lnSpc>
              <a:buNone/>
            </a:pPr>
            <a:r>
              <a:rPr lang="en-US" sz="1300" dirty="0">
                <a:solidFill>
                  <a:srgbClr val="B9C4D1"/>
                </a:solidFill>
                <a:latin typeface="Arial" pitchFamily="34" charset="0"/>
                <a:ea typeface="Arial" pitchFamily="34" charset="-122"/>
                <a:cs typeface="Arial" pitchFamily="34" charset="-120"/>
              </a:rPr>
              <a:t>Kryptera hemligheter med kubeseal och checka in dem</a:t>
            </a:r>
            <a:endParaRPr lang="en-US" sz="1300" dirty="0"/>
          </a:p>
        </p:txBody>
      </p:sp>
      <p:sp>
        <p:nvSpPr>
          <p:cNvPr id="12" name="Shape 10"/>
          <p:cNvSpPr/>
          <p:nvPr/>
        </p:nvSpPr>
        <p:spPr>
          <a:xfrm>
            <a:off x="6175858" y="1737360"/>
            <a:ext cx="2651760" cy="2103120"/>
          </a:xfrm>
          <a:prstGeom prst="roundRect">
            <a:avLst>
              <a:gd name="adj" fmla="val 2609"/>
            </a:avLst>
          </a:prstGeom>
          <a:solidFill>
            <a:srgbClr val="3762FF"/>
          </a:solidFill>
          <a:ln w="12700">
            <a:solidFill>
              <a:srgbClr val="3762FF"/>
            </a:solidFill>
            <a:prstDash val="solid"/>
          </a:ln>
        </p:spPr>
      </p:sp>
      <p:sp>
        <p:nvSpPr>
          <p:cNvPr id="13" name="Text 11"/>
          <p:cNvSpPr txBox="1"/>
          <p:nvPr/>
        </p:nvSpPr>
        <p:spPr>
          <a:xfrm>
            <a:off x="6377026" y="1938528"/>
            <a:ext cx="2249424" cy="274320"/>
          </a:xfrm>
          <a:prstGeom prst="rect">
            <a:avLst/>
          </a:prstGeom>
          <a:noFill/>
          <a:ln/>
        </p:spPr>
        <p:txBody>
          <a:bodyPr wrap="square" lIns="0" tIns="0" rIns="0" bIns="0" rtlCol="0" anchor="ctr"/>
          <a:lstStyle/>
          <a:p>
            <a:pPr indent="0" marL="0">
              <a:buNone/>
            </a:pPr>
            <a:r>
              <a:rPr lang="en-US" sz="1100" b="1" spc="200" kern="0" dirty="0">
                <a:solidFill>
                  <a:srgbClr val="FFFFFF"/>
                </a:solidFill>
                <a:latin typeface="Arial" pitchFamily="34" charset="0"/>
                <a:ea typeface="Arial" pitchFamily="34" charset="-122"/>
                <a:cs typeface="Arial" pitchFamily="34" charset="-120"/>
              </a:rPr>
              <a:t>03</a:t>
            </a:r>
            <a:endParaRPr lang="en-US" sz="1100" dirty="0"/>
          </a:p>
        </p:txBody>
      </p:sp>
      <p:sp>
        <p:nvSpPr>
          <p:cNvPr id="14" name="Text 12"/>
          <p:cNvSpPr txBox="1"/>
          <p:nvPr/>
        </p:nvSpPr>
        <p:spPr>
          <a:xfrm>
            <a:off x="6377026" y="2231136"/>
            <a:ext cx="2249424" cy="3200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Förstå hotet</a:t>
            </a:r>
            <a:endParaRPr lang="en-US" sz="1600" dirty="0"/>
          </a:p>
        </p:txBody>
      </p:sp>
      <p:sp>
        <p:nvSpPr>
          <p:cNvPr id="15" name="Text 13"/>
          <p:cNvSpPr txBox="1"/>
          <p:nvPr/>
        </p:nvSpPr>
        <p:spPr>
          <a:xfrm>
            <a:off x="6377026" y="2615184"/>
            <a:ext cx="2249424" cy="1069848"/>
          </a:xfrm>
          <a:prstGeom prst="rect">
            <a:avLst/>
          </a:prstGeom>
          <a:noFill/>
          <a:ln/>
        </p:spPr>
        <p:txBody>
          <a:bodyPr wrap="square" lIns="0" tIns="0" rIns="0" bIns="0" rtlCol="0" anchor="t"/>
          <a:lstStyle/>
          <a:p>
            <a:pPr indent="0" marL="0">
              <a:lnSpc>
                <a:spcPct val="115000"/>
              </a:lnSpc>
              <a:buNone/>
            </a:pPr>
            <a:r>
              <a:rPr lang="en-US" sz="1300" dirty="0">
                <a:solidFill>
                  <a:srgbClr val="FFFFFF"/>
                </a:solidFill>
                <a:latin typeface="Arial" pitchFamily="34" charset="0"/>
                <a:ea typeface="Arial" pitchFamily="34" charset="-122"/>
                <a:cs typeface="Arial" pitchFamily="34" charset="-120"/>
              </a:rPr>
              <a:t>Förklara vem som kan läsa en Secret - och dekryptera en SealedSecret</a:t>
            </a:r>
            <a:endParaRPr lang="en-US" sz="1300" dirty="0"/>
          </a:p>
        </p:txBody>
      </p:sp>
      <p:sp>
        <p:nvSpPr>
          <p:cNvPr id="16" name="Shape 14"/>
          <p:cNvSpPr/>
          <p:nvPr/>
        </p:nvSpPr>
        <p:spPr>
          <a:xfrm>
            <a:off x="8989466" y="1737360"/>
            <a:ext cx="2651760" cy="2103120"/>
          </a:xfrm>
          <a:prstGeom prst="roundRect">
            <a:avLst>
              <a:gd name="adj" fmla="val 2609"/>
            </a:avLst>
          </a:prstGeom>
          <a:solidFill>
            <a:srgbClr val="16294A"/>
          </a:solidFill>
          <a:ln w="12700">
            <a:solidFill>
              <a:srgbClr val="16294A"/>
            </a:solidFill>
            <a:prstDash val="solid"/>
          </a:ln>
        </p:spPr>
      </p:sp>
      <p:sp>
        <p:nvSpPr>
          <p:cNvPr id="17" name="Text 15"/>
          <p:cNvSpPr txBox="1"/>
          <p:nvPr/>
        </p:nvSpPr>
        <p:spPr>
          <a:xfrm>
            <a:off x="9190634" y="1938528"/>
            <a:ext cx="2249424" cy="274320"/>
          </a:xfrm>
          <a:prstGeom prst="rect">
            <a:avLst/>
          </a:prstGeom>
          <a:noFill/>
          <a:ln/>
        </p:spPr>
        <p:txBody>
          <a:bodyPr wrap="square" lIns="0" tIns="0" rIns="0" bIns="0" rtlCol="0" anchor="ctr"/>
          <a:lstStyle/>
          <a:p>
            <a:pPr indent="0" marL="0">
              <a:buNone/>
            </a:pPr>
            <a:r>
              <a:rPr lang="en-US" sz="1100" b="1" spc="200" kern="0" dirty="0">
                <a:solidFill>
                  <a:srgbClr val="7C9CFF"/>
                </a:solidFill>
                <a:latin typeface="Arial" pitchFamily="34" charset="0"/>
                <a:ea typeface="Arial" pitchFamily="34" charset="-122"/>
                <a:cs typeface="Arial" pitchFamily="34" charset="-120"/>
              </a:rPr>
              <a:t>04</a:t>
            </a:r>
            <a:endParaRPr lang="en-US" sz="1100" dirty="0"/>
          </a:p>
        </p:txBody>
      </p:sp>
      <p:sp>
        <p:nvSpPr>
          <p:cNvPr id="18" name="Text 16"/>
          <p:cNvSpPr txBox="1"/>
          <p:nvPr/>
        </p:nvSpPr>
        <p:spPr>
          <a:xfrm>
            <a:off x="9190634" y="2231136"/>
            <a:ext cx="2249424" cy="320040"/>
          </a:xfrm>
          <a:prstGeom prst="rect">
            <a:avLst/>
          </a:prstGeom>
          <a:noFill/>
          <a:ln/>
        </p:spPr>
        <p:txBody>
          <a:bodyPr wrap="square" lIns="0" tIns="0" rIns="0" bIns="0" rtlCol="0" anchor="t"/>
          <a:lstStyle/>
          <a:p>
            <a:pPr indent="0" marL="0">
              <a:buNone/>
            </a:pPr>
            <a:r>
              <a:rPr lang="en-US" sz="1600" b="1" dirty="0">
                <a:solidFill>
                  <a:srgbClr val="F5F7FA"/>
                </a:solidFill>
                <a:latin typeface="Calibri" pitchFamily="34" charset="0"/>
                <a:ea typeface="Calibri" pitchFamily="34" charset="-122"/>
                <a:cs typeface="Calibri" pitchFamily="34" charset="-120"/>
              </a:rPr>
              <a:t>Driva</a:t>
            </a:r>
            <a:endParaRPr lang="en-US" sz="1600" dirty="0"/>
          </a:p>
        </p:txBody>
      </p:sp>
      <p:sp>
        <p:nvSpPr>
          <p:cNvPr id="19" name="Text 17"/>
          <p:cNvSpPr txBox="1"/>
          <p:nvPr/>
        </p:nvSpPr>
        <p:spPr>
          <a:xfrm>
            <a:off x="9190634" y="2615184"/>
            <a:ext cx="2249424" cy="1069848"/>
          </a:xfrm>
          <a:prstGeom prst="rect">
            <a:avLst/>
          </a:prstGeom>
          <a:noFill/>
          <a:ln/>
        </p:spPr>
        <p:txBody>
          <a:bodyPr wrap="square" lIns="0" tIns="0" rIns="0" bIns="0" rtlCol="0" anchor="t"/>
          <a:lstStyle/>
          <a:p>
            <a:pPr indent="0" marL="0">
              <a:lnSpc>
                <a:spcPct val="115000"/>
              </a:lnSpc>
              <a:buNone/>
            </a:pPr>
            <a:r>
              <a:rPr lang="en-US" sz="1300" dirty="0">
                <a:solidFill>
                  <a:srgbClr val="B9C4D1"/>
                </a:solidFill>
                <a:latin typeface="Arial" pitchFamily="34" charset="0"/>
                <a:ea typeface="Arial" pitchFamily="34" charset="-122"/>
                <a:cs typeface="Arial" pitchFamily="34" charset="-120"/>
              </a:rPr>
              <a:t>Larma, mäta SLO, sampla traces, skala - och låsa åtkomst</a:t>
            </a:r>
            <a:endParaRPr lang="en-US" sz="1300" dirty="0"/>
          </a:p>
        </p:txBody>
      </p:sp>
      <p:sp>
        <p:nvSpPr>
          <p:cNvPr id="20" name="Text 18"/>
          <p:cNvSpPr txBox="1"/>
          <p:nvPr/>
        </p:nvSpPr>
        <p:spPr>
          <a:xfrm>
            <a:off x="548640" y="4297680"/>
            <a:ext cx="10515600" cy="548640"/>
          </a:xfrm>
          <a:prstGeom prst="rect">
            <a:avLst/>
          </a:prstGeom>
          <a:noFill/>
          <a:ln/>
        </p:spPr>
        <p:txBody>
          <a:bodyPr wrap="square" lIns="0" tIns="0" rIns="0" bIns="0" rtlCol="0" anchor="t"/>
          <a:lstStyle/>
          <a:p>
            <a:pPr indent="0" marL="0">
              <a:lnSpc>
                <a:spcPct val="120000"/>
              </a:lnSpc>
              <a:buNone/>
            </a:pPr>
            <a:r>
              <a:rPr lang="en-US" sz="1600" dirty="0">
                <a:solidFill>
                  <a:srgbClr val="B9C4D1"/>
                </a:solidFill>
                <a:latin typeface="Arial" pitchFamily="34" charset="0"/>
                <a:ea typeface="Arial" pitchFamily="34" charset="-122"/>
                <a:cs typeface="Arial" pitchFamily="34" charset="-120"/>
              </a:rPr>
              <a:t>Allt med kubectl. Inga nya appar - vi använder klustret som det ser ut efter förra veckan.</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FÖRBEREDELSER</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Innan första labben</a:t>
            </a:r>
            <a:endParaRPr lang="en-US" sz="3000" dirty="0"/>
          </a:p>
        </p:txBody>
      </p:sp>
      <p:sp>
        <p:nvSpPr>
          <p:cNvPr id="4" name="Shape 2"/>
          <p:cNvSpPr/>
          <p:nvPr/>
        </p:nvSpPr>
        <p:spPr>
          <a:xfrm>
            <a:off x="548640" y="1554480"/>
            <a:ext cx="7498080" cy="4343400"/>
          </a:xfrm>
          <a:prstGeom prst="roundRect">
            <a:avLst>
              <a:gd name="adj" fmla="val 1263"/>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5" name="Shape 3"/>
          <p:cNvSpPr/>
          <p:nvPr/>
        </p:nvSpPr>
        <p:spPr>
          <a:xfrm>
            <a:off x="749808" y="171907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1907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1907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45920"/>
            <a:ext cx="6492240" cy="256032"/>
          </a:xfrm>
          <a:prstGeom prst="rect">
            <a:avLst/>
          </a:prstGeom>
          <a:noFill/>
          <a:ln/>
        </p:spPr>
        <p:txBody>
          <a:bodyPr wrap="square" lIns="0" tIns="0" rIns="0" bIns="0" rtlCol="0" anchor="ctr"/>
          <a:lstStyle/>
          <a:p>
            <a:pPr indent="0" marL="0">
              <a:buNone/>
            </a:pPr>
            <a:r>
              <a:rPr lang="en-US" sz="1100" dirty="0">
                <a:solidFill>
                  <a:srgbClr val="B9C4D1"/>
                </a:solidFill>
                <a:latin typeface="Courier New" pitchFamily="34" charset="0"/>
                <a:ea typeface="Courier New" pitchFamily="34" charset="-122"/>
                <a:cs typeface="Courier New" pitchFamily="34" charset="-120"/>
              </a:rPr>
              <a:t>powershell</a:t>
            </a:r>
            <a:endParaRPr lang="en-US" sz="1100" dirty="0"/>
          </a:p>
        </p:txBody>
      </p:sp>
      <p:sp>
        <p:nvSpPr>
          <p:cNvPr id="9" name="Text 7"/>
          <p:cNvSpPr txBox="1"/>
          <p:nvPr/>
        </p:nvSpPr>
        <p:spPr>
          <a:xfrm>
            <a:off x="777240" y="2011680"/>
            <a:ext cx="7040880" cy="3749040"/>
          </a:xfrm>
          <a:prstGeom prst="rect">
            <a:avLst/>
          </a:prstGeom>
          <a:noFill/>
          <a:ln/>
        </p:spPr>
        <p:txBody>
          <a:bodyPr wrap="square" lIns="0" tIns="0" rIns="0" bIns="0" rtlCol="0" anchor="t"/>
          <a:lstStyle/>
          <a:p>
            <a:pPr indent="0" marL="0">
              <a:lnSpc>
                <a:spcPct val="110000"/>
              </a:lnSpc>
              <a:buNone/>
            </a:pPr>
            <a:r>
              <a:rPr lang="en-US" sz="1150" i="1" dirty="0">
                <a:solidFill>
                  <a:srgbClr val="B9C4D1"/>
                </a:solidFill>
                <a:latin typeface="Courier New" pitchFamily="34" charset="0"/>
                <a:ea typeface="Courier New" pitchFamily="34" charset="-122"/>
                <a:cs typeface="Courier New" pitchFamily="34" charset="-120"/>
              </a:rPr>
              <a:t># Rätt kluster?</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config current-context        # k3d-home</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get nodes</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a:t>
            </a:r>
            <a:endParaRPr lang="en-US" sz="1150" dirty="0"/>
          </a:p>
          <a:p>
            <a:pPr indent="0" marL="0">
              <a:lnSpc>
                <a:spcPct val="110000"/>
              </a:lnSpc>
              <a:buNone/>
            </a:pPr>
            <a:r>
              <a:rPr lang="en-US" sz="1150" i="1" dirty="0">
                <a:solidFill>
                  <a:srgbClr val="B9C4D1"/>
                </a:solidFill>
                <a:latin typeface="Courier New" pitchFamily="34" charset="0"/>
                <a:ea typeface="Courier New" pitchFamily="34" charset="-122"/>
                <a:cs typeface="Courier New" pitchFamily="34" charset="-120"/>
              </a:rPr>
              <a:t># Labbfilerna</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cd D:\Kvällskurs\Labbar\Kvall7</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a:t>
            </a:r>
            <a:endParaRPr lang="en-US" sz="1150" dirty="0"/>
          </a:p>
          <a:p>
            <a:pPr indent="0" marL="0">
              <a:lnSpc>
                <a:spcPct val="110000"/>
              </a:lnSpc>
              <a:buNone/>
            </a:pPr>
            <a:r>
              <a:rPr lang="en-US" sz="1150" i="1" dirty="0">
                <a:solidFill>
                  <a:srgbClr val="B9C4D1"/>
                </a:solidFill>
                <a:latin typeface="Courier New" pitchFamily="34" charset="0"/>
                <a:ea typeface="Courier New" pitchFamily="34" charset="-122"/>
                <a:cs typeface="Courier New" pitchFamily="34" charset="-120"/>
              </a:rPr>
              <a:t># kubeseal (hämtades av Infra\deploy-infra.ps1)</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$env:PATH = "D:\Kvällskurs\Infra;$env:PATH"</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kubeseal --version</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a:t>
            </a:r>
            <a:endParaRPr lang="en-US" sz="1150" dirty="0"/>
          </a:p>
          <a:p>
            <a:pPr indent="0" marL="0">
              <a:lnSpc>
                <a:spcPct val="110000"/>
              </a:lnSpc>
              <a:buNone/>
            </a:pPr>
            <a:r>
              <a:rPr lang="en-US" sz="1150" i="1" dirty="0">
                <a:solidFill>
                  <a:srgbClr val="B9C4D1"/>
                </a:solidFill>
                <a:latin typeface="Courier New" pitchFamily="34" charset="0"/>
                <a:ea typeface="Courier New" pitchFamily="34" charset="-122"/>
                <a:cs typeface="Courier New" pitchFamily="34" charset="-120"/>
              </a:rPr>
              <a:t># Sealed Secrets-controllern</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get pods -n sealed-secrets</a:t>
            </a:r>
            <a:endParaRPr lang="en-US" sz="1150" dirty="0"/>
          </a:p>
        </p:txBody>
      </p:sp>
      <p:sp>
        <p:nvSpPr>
          <p:cNvPr id="10" name="Shape 8"/>
          <p:cNvSpPr/>
          <p:nvPr/>
        </p:nvSpPr>
        <p:spPr>
          <a:xfrm>
            <a:off x="8412480" y="1554480"/>
            <a:ext cx="3230575" cy="1356360"/>
          </a:xfrm>
          <a:prstGeom prst="roundRect">
            <a:avLst>
              <a:gd name="adj" fmla="val 4045"/>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1" name="Text 9"/>
          <p:cNvSpPr txBox="1"/>
          <p:nvPr/>
        </p:nvSpPr>
        <p:spPr>
          <a:xfrm>
            <a:off x="8613648" y="1755648"/>
            <a:ext cx="2828239"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Namespace lab</a:t>
            </a:r>
            <a:endParaRPr lang="en-US" sz="1400" dirty="0"/>
          </a:p>
        </p:txBody>
      </p:sp>
      <p:sp>
        <p:nvSpPr>
          <p:cNvPr id="12" name="Text 10"/>
          <p:cNvSpPr txBox="1"/>
          <p:nvPr/>
        </p:nvSpPr>
        <p:spPr>
          <a:xfrm>
            <a:off x="8613648" y="213969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Skapas av första labbfilen - allt ikväll hamnar där.</a:t>
            </a:r>
            <a:endParaRPr lang="en-US" sz="1200" dirty="0"/>
          </a:p>
        </p:txBody>
      </p:sp>
      <p:sp>
        <p:nvSpPr>
          <p:cNvPr id="13" name="Shape 11"/>
          <p:cNvSpPr/>
          <p:nvPr/>
        </p:nvSpPr>
        <p:spPr>
          <a:xfrm>
            <a:off x="8412480" y="3048000"/>
            <a:ext cx="3230575" cy="1356360"/>
          </a:xfrm>
          <a:prstGeom prst="roundRect">
            <a:avLst>
              <a:gd name="adj" fmla="val 4045"/>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4" name="Text 12"/>
          <p:cNvSpPr txBox="1"/>
          <p:nvPr/>
        </p:nvSpPr>
        <p:spPr>
          <a:xfrm>
            <a:off x="8613648" y="3249168"/>
            <a:ext cx="2828239"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kubeseal i PATH</a:t>
            </a:r>
            <a:endParaRPr lang="en-US" sz="1400" dirty="0"/>
          </a:p>
        </p:txBody>
      </p:sp>
      <p:sp>
        <p:nvSpPr>
          <p:cNvPr id="15" name="Text 13"/>
          <p:cNvSpPr txBox="1"/>
          <p:nvPr/>
        </p:nvSpPr>
        <p:spPr>
          <a:xfrm>
            <a:off x="8613648" y="363321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Gäller bara det här fönstret. Öppna nytt fönster = kör raden igen.</a:t>
            </a:r>
            <a:endParaRPr lang="en-US" sz="1200" dirty="0"/>
          </a:p>
        </p:txBody>
      </p:sp>
      <p:sp>
        <p:nvSpPr>
          <p:cNvPr id="16" name="Shape 14"/>
          <p:cNvSpPr/>
          <p:nvPr/>
        </p:nvSpPr>
        <p:spPr>
          <a:xfrm>
            <a:off x="8412480" y="4541520"/>
            <a:ext cx="3230575" cy="1356360"/>
          </a:xfrm>
          <a:prstGeom prst="roundRect">
            <a:avLst>
              <a:gd name="adj" fmla="val 4045"/>
            </a:avLst>
          </a:prstGeom>
          <a:solidFill>
            <a:srgbClr val="3762FF"/>
          </a:solidFill>
          <a:ln w="12700">
            <a:solidFill>
              <a:srgbClr val="3762FF"/>
            </a:solidFill>
            <a:prstDash val="solid"/>
          </a:ln>
        </p:spPr>
      </p:sp>
      <p:sp>
        <p:nvSpPr>
          <p:cNvPr id="17" name="Text 15"/>
          <p:cNvSpPr txBox="1"/>
          <p:nvPr/>
        </p:nvSpPr>
        <p:spPr>
          <a:xfrm>
            <a:off x="8613648" y="4742688"/>
            <a:ext cx="2828239"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Controllern</a:t>
            </a:r>
            <a:endParaRPr lang="en-US" sz="1400" dirty="0"/>
          </a:p>
        </p:txBody>
      </p:sp>
      <p:sp>
        <p:nvSpPr>
          <p:cNvPr id="18" name="Text 16"/>
          <p:cNvSpPr txBox="1"/>
          <p:nvPr/>
        </p:nvSpPr>
        <p:spPr>
          <a:xfrm>
            <a:off x="8613648" y="512673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sealed-secrets-controller i namespacet sealed-secrets - inte kube-system.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F33"/>
        </a:solidFill>
      </p:bgPr>
    </p:bg>
    <p:spTree>
      <p:nvGrpSpPr>
        <p:cNvPr id="1" name=""/>
        <p:cNvGrpSpPr/>
        <p:nvPr/>
      </p:nvGrpSpPr>
      <p:grpSpPr>
        <a:xfrm>
          <a:off x="0" y="0"/>
          <a:ext cx="0" cy="0"/>
          <a:chOff x="0" y="0"/>
          <a:chExt cx="0" cy="0"/>
        </a:xfrm>
      </p:grpSpPr>
      <p:sp>
        <p:nvSpPr>
          <p:cNvPr id="2" name="Text 0"/>
          <p:cNvSpPr txBox="1"/>
          <p:nvPr/>
        </p:nvSpPr>
        <p:spPr>
          <a:xfrm>
            <a:off x="502920" y="1188720"/>
            <a:ext cx="4572000" cy="1920240"/>
          </a:xfrm>
          <a:prstGeom prst="rect">
            <a:avLst/>
          </a:prstGeom>
          <a:noFill/>
          <a:ln/>
        </p:spPr>
        <p:txBody>
          <a:bodyPr wrap="square" lIns="0" tIns="0" rIns="0" bIns="0" rtlCol="0" anchor="ctr"/>
          <a:lstStyle/>
          <a:p>
            <a:pPr indent="0" marL="0">
              <a:buNone/>
            </a:pPr>
            <a:r>
              <a:rPr lang="en-US" sz="15000" b="1" dirty="0">
                <a:solidFill>
                  <a:srgbClr val="16294A"/>
                </a:solidFill>
                <a:latin typeface="Calibri" pitchFamily="34" charset="0"/>
                <a:ea typeface="Calibri" pitchFamily="34" charset="-122"/>
                <a:cs typeface="Calibri" pitchFamily="34" charset="-120"/>
              </a:rPr>
              <a:t>01</a:t>
            </a:r>
            <a:endParaRPr lang="en-US" sz="15000" dirty="0"/>
          </a:p>
        </p:txBody>
      </p:sp>
      <p:sp>
        <p:nvSpPr>
          <p:cNvPr id="3" name="Text 1"/>
          <p:cNvSpPr txBox="1"/>
          <p:nvPr/>
        </p:nvSpPr>
        <p:spPr>
          <a:xfrm>
            <a:off x="548640" y="3063240"/>
            <a:ext cx="11094415" cy="822960"/>
          </a:xfrm>
          <a:prstGeom prst="rect">
            <a:avLst/>
          </a:prstGeom>
          <a:noFill/>
          <a:ln/>
        </p:spPr>
        <p:txBody>
          <a:bodyPr wrap="square" lIns="0" tIns="0" rIns="0" bIns="0" rtlCol="0" anchor="ctr"/>
          <a:lstStyle/>
          <a:p>
            <a:pPr indent="0" marL="0">
              <a:buNone/>
            </a:pPr>
            <a:r>
              <a:rPr lang="en-US" sz="5200" b="1" dirty="0">
                <a:solidFill>
                  <a:srgbClr val="F5F7FA"/>
                </a:solidFill>
                <a:latin typeface="Calibri" pitchFamily="34" charset="0"/>
                <a:ea typeface="Calibri" pitchFamily="34" charset="-122"/>
                <a:cs typeface="Calibri" pitchFamily="34" charset="-120"/>
              </a:rPr>
              <a:t>ConfigMaps</a:t>
            </a:r>
            <a:endParaRPr lang="en-US" sz="5200" dirty="0"/>
          </a:p>
        </p:txBody>
      </p:sp>
      <p:sp>
        <p:nvSpPr>
          <p:cNvPr id="4" name="Text 2"/>
          <p:cNvSpPr txBox="1"/>
          <p:nvPr/>
        </p:nvSpPr>
        <p:spPr>
          <a:xfrm>
            <a:off x="548640" y="3977640"/>
            <a:ext cx="9144000" cy="457200"/>
          </a:xfrm>
          <a:prstGeom prst="rect">
            <a:avLst/>
          </a:prstGeom>
          <a:noFill/>
          <a:ln/>
        </p:spPr>
        <p:txBody>
          <a:bodyPr wrap="square" lIns="0" tIns="0" rIns="0" bIns="0" rtlCol="0" anchor="t"/>
          <a:lstStyle/>
          <a:p>
            <a:pPr indent="0" marL="0">
              <a:lnSpc>
                <a:spcPct val="120000"/>
              </a:lnSpc>
              <a:buNone/>
            </a:pPr>
            <a:r>
              <a:rPr lang="en-US" sz="1800" dirty="0">
                <a:solidFill>
                  <a:srgbClr val="B9C4D1"/>
                </a:solidFill>
                <a:latin typeface="Arial" pitchFamily="34" charset="0"/>
                <a:ea typeface="Arial" pitchFamily="34" charset="-122"/>
                <a:cs typeface="Arial" pitchFamily="34" charset="-120"/>
              </a:rPr>
              <a:t>Konfiguration utanför imagen - samma image i alla miljöer</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CONFIGMAPS · VAD OCH VARFÖR</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En ConfigMap - nyckel/värde-par i klustret</a:t>
            </a:r>
            <a:endParaRPr lang="en-US" sz="3000" dirty="0"/>
          </a:p>
        </p:txBody>
      </p:sp>
      <p:sp>
        <p:nvSpPr>
          <p:cNvPr id="4" name="Shape 2"/>
          <p:cNvSpPr/>
          <p:nvPr/>
        </p:nvSpPr>
        <p:spPr>
          <a:xfrm>
            <a:off x="548640" y="1691640"/>
            <a:ext cx="2926080" cy="1005840"/>
          </a:xfrm>
          <a:prstGeom prst="roundRect">
            <a:avLst>
              <a:gd name="adj" fmla="val 5455"/>
            </a:avLst>
          </a:prstGeom>
          <a:solidFill>
            <a:srgbClr val="3762FF"/>
          </a:solidFill>
          <a:ln w="12700">
            <a:solidFill>
              <a:srgbClr val="3762FF"/>
            </a:solidFill>
            <a:prstDash val="solid"/>
          </a:ln>
          <a:effectLst>
            <a:outerShdw sx="100000" sy="100000" kx="0" ky="0" algn="bl" rotWithShape="0" blurRad="101600" dist="25400" dir="5400000">
              <a:srgbClr val="000000">
                <a:alpha val="10000"/>
              </a:srgbClr>
            </a:outerShdw>
          </a:effectLst>
        </p:spPr>
      </p:sp>
      <p:sp>
        <p:nvSpPr>
          <p:cNvPr id="5" name="Text 3"/>
          <p:cNvSpPr txBox="1"/>
          <p:nvPr/>
        </p:nvSpPr>
        <p:spPr>
          <a:xfrm>
            <a:off x="640080" y="1691640"/>
            <a:ext cx="2743200" cy="10058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ConfigMap</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app-config</a:t>
            </a:r>
            <a:endParaRPr lang="en-US" sz="1600" dirty="0"/>
          </a:p>
        </p:txBody>
      </p:sp>
      <p:sp>
        <p:nvSpPr>
          <p:cNvPr id="6" name="Shape 4"/>
          <p:cNvSpPr/>
          <p:nvPr/>
        </p:nvSpPr>
        <p:spPr>
          <a:xfrm>
            <a:off x="4572000" y="1417320"/>
            <a:ext cx="3017520" cy="914400"/>
          </a:xfrm>
          <a:prstGeom prst="roundRect">
            <a:avLst>
              <a:gd name="adj" fmla="val 6000"/>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7" name="Text 5"/>
          <p:cNvSpPr txBox="1"/>
          <p:nvPr/>
        </p:nvSpPr>
        <p:spPr>
          <a:xfrm>
            <a:off x="4663440" y="1417320"/>
            <a:ext cx="2834640" cy="914400"/>
          </a:xfrm>
          <a:prstGeom prst="rect">
            <a:avLst/>
          </a:prstGeom>
          <a:noFill/>
          <a:ln/>
        </p:spPr>
        <p:txBody>
          <a:bodyPr wrap="square" lIns="0" tIns="0" rIns="0" bIns="0" rtlCol="0" anchor="ctr"/>
          <a:lstStyle/>
          <a:p>
            <a:pPr algn="ctr" indent="0" marL="0">
              <a:buNone/>
            </a:pPr>
            <a:r>
              <a:rPr lang="en-US" sz="1300" b="1" dirty="0">
                <a:solidFill>
                  <a:srgbClr val="16202B"/>
                </a:solidFill>
                <a:latin typeface="Calibri" pitchFamily="34" charset="0"/>
                <a:ea typeface="Calibri" pitchFamily="34" charset="-122"/>
                <a:cs typeface="Calibri" pitchFamily="34" charset="-120"/>
              </a:rPr>
              <a:t>env</a:t>
            </a:r>
            <a:endParaRPr lang="en-US" sz="1300" dirty="0"/>
          </a:p>
          <a:p>
            <a:pPr algn="ctr" indent="0" marL="0">
              <a:buNone/>
            </a:pPr>
            <a:r>
              <a:rPr lang="en-US" sz="1300" b="1" dirty="0">
                <a:solidFill>
                  <a:srgbClr val="16202B"/>
                </a:solidFill>
                <a:latin typeface="Calibri" pitchFamily="34" charset="0"/>
                <a:ea typeface="Calibri" pitchFamily="34" charset="-122"/>
                <a:cs typeface="Calibri" pitchFamily="34" charset="-120"/>
              </a:rPr>
              <a:t>GREETING=Hej…</a:t>
            </a:r>
            <a:endParaRPr lang="en-US" sz="1300" dirty="0"/>
          </a:p>
        </p:txBody>
      </p:sp>
      <p:sp>
        <p:nvSpPr>
          <p:cNvPr id="8" name="Shape 6"/>
          <p:cNvSpPr/>
          <p:nvPr/>
        </p:nvSpPr>
        <p:spPr>
          <a:xfrm flipV="1">
            <a:off x="3520440" y="1874520"/>
            <a:ext cx="1005840" cy="320040"/>
          </a:xfrm>
          <a:prstGeom prst="line">
            <a:avLst/>
          </a:prstGeom>
          <a:noFill/>
          <a:ln w="19050">
            <a:solidFill>
              <a:srgbClr val="3762FF"/>
            </a:solidFill>
            <a:prstDash val="solid"/>
            <a:tailEnd type="triangle"/>
          </a:ln>
        </p:spPr>
      </p:sp>
      <p:sp>
        <p:nvSpPr>
          <p:cNvPr id="9" name="Shape 7"/>
          <p:cNvSpPr/>
          <p:nvPr/>
        </p:nvSpPr>
        <p:spPr>
          <a:xfrm>
            <a:off x="4572000" y="2606040"/>
            <a:ext cx="3017520" cy="914400"/>
          </a:xfrm>
          <a:prstGeom prst="roundRect">
            <a:avLst>
              <a:gd name="adj" fmla="val 6000"/>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0" name="Text 8"/>
          <p:cNvSpPr txBox="1"/>
          <p:nvPr/>
        </p:nvSpPr>
        <p:spPr>
          <a:xfrm>
            <a:off x="4663440" y="2606040"/>
            <a:ext cx="2834640" cy="914400"/>
          </a:xfrm>
          <a:prstGeom prst="rect">
            <a:avLst/>
          </a:prstGeom>
          <a:noFill/>
          <a:ln/>
        </p:spPr>
        <p:txBody>
          <a:bodyPr wrap="square" lIns="0" tIns="0" rIns="0" bIns="0" rtlCol="0" anchor="ctr"/>
          <a:lstStyle/>
          <a:p>
            <a:pPr algn="ctr" indent="0" marL="0">
              <a:buNone/>
            </a:pPr>
            <a:r>
              <a:rPr lang="en-US" sz="1300" b="1" dirty="0">
                <a:solidFill>
                  <a:srgbClr val="16202B"/>
                </a:solidFill>
                <a:latin typeface="Calibri" pitchFamily="34" charset="0"/>
                <a:ea typeface="Calibri" pitchFamily="34" charset="-122"/>
                <a:cs typeface="Calibri" pitchFamily="34" charset="-120"/>
              </a:rPr>
              <a:t>envFrom</a:t>
            </a:r>
            <a:endParaRPr lang="en-US" sz="1300" dirty="0"/>
          </a:p>
          <a:p>
            <a:pPr algn="ctr" indent="0" marL="0">
              <a:buNone/>
            </a:pPr>
            <a:r>
              <a:rPr lang="en-US" sz="1300" b="1" dirty="0">
                <a:solidFill>
                  <a:srgbClr val="16202B"/>
                </a:solidFill>
                <a:latin typeface="Calibri" pitchFamily="34" charset="0"/>
                <a:ea typeface="Calibri" pitchFamily="34" charset="-122"/>
                <a:cs typeface="Calibri" pitchFamily="34" charset="-120"/>
              </a:rPr>
              <a:t>alla nycklar som env</a:t>
            </a:r>
            <a:endParaRPr lang="en-US" sz="1300" dirty="0"/>
          </a:p>
        </p:txBody>
      </p:sp>
      <p:sp>
        <p:nvSpPr>
          <p:cNvPr id="11" name="Shape 9"/>
          <p:cNvSpPr/>
          <p:nvPr/>
        </p:nvSpPr>
        <p:spPr>
          <a:xfrm>
            <a:off x="3520440" y="2194560"/>
            <a:ext cx="1005840" cy="868680"/>
          </a:xfrm>
          <a:prstGeom prst="line">
            <a:avLst/>
          </a:prstGeom>
          <a:noFill/>
          <a:ln w="19050">
            <a:solidFill>
              <a:srgbClr val="3762FF"/>
            </a:solidFill>
            <a:prstDash val="solid"/>
            <a:tailEnd type="triangle"/>
          </a:ln>
        </p:spPr>
      </p:sp>
      <p:sp>
        <p:nvSpPr>
          <p:cNvPr id="12" name="Shape 10"/>
          <p:cNvSpPr/>
          <p:nvPr/>
        </p:nvSpPr>
        <p:spPr>
          <a:xfrm>
            <a:off x="4572000" y="3794760"/>
            <a:ext cx="3017520" cy="914400"/>
          </a:xfrm>
          <a:prstGeom prst="roundRect">
            <a:avLst>
              <a:gd name="adj" fmla="val 6000"/>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3" name="Text 11"/>
          <p:cNvSpPr txBox="1"/>
          <p:nvPr/>
        </p:nvSpPr>
        <p:spPr>
          <a:xfrm>
            <a:off x="4663440" y="3794760"/>
            <a:ext cx="2834640" cy="914400"/>
          </a:xfrm>
          <a:prstGeom prst="rect">
            <a:avLst/>
          </a:prstGeom>
          <a:noFill/>
          <a:ln/>
        </p:spPr>
        <p:txBody>
          <a:bodyPr wrap="square" lIns="0" tIns="0" rIns="0" bIns="0" rtlCol="0" anchor="ctr"/>
          <a:lstStyle/>
          <a:p>
            <a:pPr algn="ctr" indent="0" marL="0">
              <a:buNone/>
            </a:pPr>
            <a:r>
              <a:rPr lang="en-US" sz="1300" b="1" dirty="0">
                <a:solidFill>
                  <a:srgbClr val="16202B"/>
                </a:solidFill>
                <a:latin typeface="Calibri" pitchFamily="34" charset="0"/>
                <a:ea typeface="Calibri" pitchFamily="34" charset="-122"/>
                <a:cs typeface="Calibri" pitchFamily="34" charset="-120"/>
              </a:rPr>
              <a:t>volym</a:t>
            </a:r>
            <a:endParaRPr lang="en-US" sz="1300" dirty="0"/>
          </a:p>
          <a:p>
            <a:pPr algn="ctr" indent="0" marL="0">
              <a:buNone/>
            </a:pPr>
            <a:r>
              <a:rPr lang="en-US" sz="1300" b="1" dirty="0">
                <a:solidFill>
                  <a:srgbClr val="16202B"/>
                </a:solidFill>
                <a:latin typeface="Calibri" pitchFamily="34" charset="0"/>
                <a:ea typeface="Calibri" pitchFamily="34" charset="-122"/>
                <a:cs typeface="Calibri" pitchFamily="34" charset="-120"/>
              </a:rPr>
              <a:t>/config/appsettings.json</a:t>
            </a:r>
            <a:endParaRPr lang="en-US" sz="1300" dirty="0"/>
          </a:p>
        </p:txBody>
      </p:sp>
      <p:sp>
        <p:nvSpPr>
          <p:cNvPr id="14" name="Shape 12"/>
          <p:cNvSpPr/>
          <p:nvPr/>
        </p:nvSpPr>
        <p:spPr>
          <a:xfrm>
            <a:off x="3520440" y="2194560"/>
            <a:ext cx="1005840" cy="2057400"/>
          </a:xfrm>
          <a:prstGeom prst="line">
            <a:avLst/>
          </a:prstGeom>
          <a:noFill/>
          <a:ln w="19050">
            <a:solidFill>
              <a:srgbClr val="3762FF"/>
            </a:solidFill>
            <a:prstDash val="solid"/>
            <a:tailEnd type="triangle"/>
          </a:ln>
        </p:spPr>
      </p:sp>
      <p:sp>
        <p:nvSpPr>
          <p:cNvPr id="15" name="Shape 13"/>
          <p:cNvSpPr/>
          <p:nvPr/>
        </p:nvSpPr>
        <p:spPr>
          <a:xfrm>
            <a:off x="8778240" y="2606040"/>
            <a:ext cx="2834640" cy="914400"/>
          </a:xfrm>
          <a:prstGeom prst="roundRect">
            <a:avLst>
              <a:gd name="adj" fmla="val 6000"/>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6" name="Text 14"/>
          <p:cNvSpPr txBox="1"/>
          <p:nvPr/>
        </p:nvSpPr>
        <p:spPr>
          <a:xfrm>
            <a:off x="8869680" y="2606040"/>
            <a:ext cx="2651760" cy="914400"/>
          </a:xfrm>
          <a:prstGeom prst="rect">
            <a:avLst/>
          </a:prstGeom>
          <a:noFill/>
          <a:ln/>
        </p:spPr>
        <p:txBody>
          <a:bodyPr wrap="square" lIns="0" tIns="0" rIns="0" bIns="0" rtlCol="0" anchor="ctr"/>
          <a:lstStyle/>
          <a:p>
            <a:pPr algn="ctr" indent="0" marL="0">
              <a:buNone/>
            </a:pPr>
            <a:r>
              <a:rPr lang="en-US" sz="1400" b="1" dirty="0">
                <a:solidFill>
                  <a:srgbClr val="16202B"/>
                </a:solidFill>
                <a:latin typeface="Calibri" pitchFamily="34" charset="0"/>
                <a:ea typeface="Calibri" pitchFamily="34" charset="-122"/>
                <a:cs typeface="Calibri" pitchFamily="34" charset="-120"/>
              </a:rPr>
              <a:t>Pod</a:t>
            </a:r>
            <a:endParaRPr lang="en-US" sz="1400" dirty="0"/>
          </a:p>
          <a:p>
            <a:pPr algn="ctr" indent="0" marL="0">
              <a:buNone/>
            </a:pPr>
            <a:r>
              <a:rPr lang="en-US" sz="1400" b="1" dirty="0">
                <a:solidFill>
                  <a:srgbClr val="16202B"/>
                </a:solidFill>
                <a:latin typeface="Calibri" pitchFamily="34" charset="0"/>
                <a:ea typeface="Calibri" pitchFamily="34" charset="-122"/>
                <a:cs typeface="Calibri" pitchFamily="34" charset="-120"/>
              </a:rPr>
              <a:t>containern läser</a:t>
            </a:r>
            <a:endParaRPr lang="en-US" sz="1400" dirty="0"/>
          </a:p>
        </p:txBody>
      </p:sp>
      <p:sp>
        <p:nvSpPr>
          <p:cNvPr id="17" name="Shape 15"/>
          <p:cNvSpPr/>
          <p:nvPr/>
        </p:nvSpPr>
        <p:spPr>
          <a:xfrm>
            <a:off x="7635240" y="1874520"/>
            <a:ext cx="1097280" cy="1188720"/>
          </a:xfrm>
          <a:prstGeom prst="line">
            <a:avLst/>
          </a:prstGeom>
          <a:noFill/>
          <a:ln w="19050">
            <a:solidFill>
              <a:srgbClr val="3762FF"/>
            </a:solidFill>
            <a:prstDash val="solid"/>
            <a:tailEnd type="triangle"/>
          </a:ln>
        </p:spPr>
      </p:sp>
      <p:sp>
        <p:nvSpPr>
          <p:cNvPr id="18" name="Shape 16"/>
          <p:cNvSpPr/>
          <p:nvPr/>
        </p:nvSpPr>
        <p:spPr>
          <a:xfrm>
            <a:off x="7635240" y="3063240"/>
            <a:ext cx="1097280" cy="0"/>
          </a:xfrm>
          <a:prstGeom prst="line">
            <a:avLst/>
          </a:prstGeom>
          <a:noFill/>
          <a:ln w="19050">
            <a:solidFill>
              <a:srgbClr val="3762FF"/>
            </a:solidFill>
            <a:prstDash val="solid"/>
            <a:tailEnd type="triangle"/>
          </a:ln>
        </p:spPr>
      </p:sp>
      <p:sp>
        <p:nvSpPr>
          <p:cNvPr id="19" name="Shape 17"/>
          <p:cNvSpPr/>
          <p:nvPr/>
        </p:nvSpPr>
        <p:spPr>
          <a:xfrm flipV="1">
            <a:off x="7635240" y="3063240"/>
            <a:ext cx="1097280" cy="1188720"/>
          </a:xfrm>
          <a:prstGeom prst="line">
            <a:avLst/>
          </a:prstGeom>
          <a:noFill/>
          <a:ln w="19050">
            <a:solidFill>
              <a:srgbClr val="3762FF"/>
            </a:solidFill>
            <a:prstDash val="solid"/>
            <a:tailEnd type="triangle"/>
          </a:ln>
        </p:spPr>
      </p:sp>
      <p:sp>
        <p:nvSpPr>
          <p:cNvPr id="20" name="Shape 18"/>
          <p:cNvSpPr/>
          <p:nvPr/>
        </p:nvSpPr>
        <p:spPr>
          <a:xfrm>
            <a:off x="548640" y="4892040"/>
            <a:ext cx="3606698" cy="960120"/>
          </a:xfrm>
          <a:prstGeom prst="roundRect">
            <a:avLst>
              <a:gd name="adj" fmla="val 5714"/>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21" name="Text 19"/>
          <p:cNvSpPr txBox="1"/>
          <p:nvPr/>
        </p:nvSpPr>
        <p:spPr>
          <a:xfrm>
            <a:off x="749808" y="5093208"/>
            <a:ext cx="3204362"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Inte hemligt</a:t>
            </a:r>
            <a:endParaRPr lang="en-US" sz="1400" dirty="0"/>
          </a:p>
        </p:txBody>
      </p:sp>
      <p:sp>
        <p:nvSpPr>
          <p:cNvPr id="22" name="Text 20"/>
          <p:cNvSpPr txBox="1"/>
          <p:nvPr/>
        </p:nvSpPr>
        <p:spPr>
          <a:xfrm>
            <a:off x="749808" y="5477256"/>
            <a:ext cx="3204362" cy="21945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Allt syns i klartext med kubectl get -o yaml.</a:t>
            </a:r>
            <a:endParaRPr lang="en-US" sz="1200" dirty="0"/>
          </a:p>
        </p:txBody>
      </p:sp>
      <p:sp>
        <p:nvSpPr>
          <p:cNvPr id="23" name="Shape 21"/>
          <p:cNvSpPr/>
          <p:nvPr/>
        </p:nvSpPr>
        <p:spPr>
          <a:xfrm>
            <a:off x="4292498" y="4892040"/>
            <a:ext cx="3606698" cy="960120"/>
          </a:xfrm>
          <a:prstGeom prst="roundRect">
            <a:avLst>
              <a:gd name="adj" fmla="val 5714"/>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24" name="Text 22"/>
          <p:cNvSpPr txBox="1"/>
          <p:nvPr/>
        </p:nvSpPr>
        <p:spPr>
          <a:xfrm>
            <a:off x="4493666" y="5093208"/>
            <a:ext cx="3204362"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Max 1 MiB</a:t>
            </a:r>
            <a:endParaRPr lang="en-US" sz="1400" dirty="0"/>
          </a:p>
        </p:txBody>
      </p:sp>
      <p:sp>
        <p:nvSpPr>
          <p:cNvPr id="25" name="Text 23"/>
          <p:cNvSpPr txBox="1"/>
          <p:nvPr/>
        </p:nvSpPr>
        <p:spPr>
          <a:xfrm>
            <a:off x="4493666" y="5477256"/>
            <a:ext cx="3204362" cy="21945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För inställningar - inte för data.</a:t>
            </a:r>
            <a:endParaRPr lang="en-US" sz="1200" dirty="0"/>
          </a:p>
        </p:txBody>
      </p:sp>
      <p:sp>
        <p:nvSpPr>
          <p:cNvPr id="26" name="Shape 24"/>
          <p:cNvSpPr/>
          <p:nvPr/>
        </p:nvSpPr>
        <p:spPr>
          <a:xfrm>
            <a:off x="8036357" y="4892040"/>
            <a:ext cx="3606698" cy="960120"/>
          </a:xfrm>
          <a:prstGeom prst="roundRect">
            <a:avLst>
              <a:gd name="adj" fmla="val 5714"/>
            </a:avLst>
          </a:prstGeom>
          <a:solidFill>
            <a:srgbClr val="3762FF"/>
          </a:solidFill>
          <a:ln w="12700">
            <a:solidFill>
              <a:srgbClr val="3762FF"/>
            </a:solidFill>
            <a:prstDash val="solid"/>
          </a:ln>
        </p:spPr>
      </p:sp>
      <p:sp>
        <p:nvSpPr>
          <p:cNvPr id="27" name="Text 25"/>
          <p:cNvSpPr txBox="1"/>
          <p:nvPr/>
        </p:nvSpPr>
        <p:spPr>
          <a:xfrm>
            <a:off x="8237525" y="5093208"/>
            <a:ext cx="3204362"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Samma image</a:t>
            </a:r>
            <a:endParaRPr lang="en-US" sz="1400" dirty="0"/>
          </a:p>
        </p:txBody>
      </p:sp>
      <p:sp>
        <p:nvSpPr>
          <p:cNvPr id="28" name="Text 26"/>
          <p:cNvSpPr txBox="1"/>
          <p:nvPr/>
        </p:nvSpPr>
        <p:spPr>
          <a:xfrm>
            <a:off x="8237525" y="5477256"/>
            <a:ext cx="3204362" cy="219456"/>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Byggs en gång - konfigen skiljer per miljö.</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F33"/>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7C9CFF"/>
                </a:solidFill>
                <a:latin typeface="Arial" pitchFamily="34" charset="0"/>
                <a:ea typeface="Arial" pitchFamily="34" charset="-122"/>
                <a:cs typeface="Arial" pitchFamily="34" charset="-120"/>
              </a:rPr>
              <a:t>CONFIGMAPS · NI HAR REDAN ANVÄNT DEM</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F5F7FA"/>
                </a:solidFill>
                <a:latin typeface="Calibri" pitchFamily="34" charset="0"/>
                <a:ea typeface="Calibri" pitchFamily="34" charset="-122"/>
                <a:cs typeface="Calibri" pitchFamily="34" charset="-120"/>
              </a:rPr>
              <a:t>ConfigMaps som redan finns i klustret</a:t>
            </a:r>
            <a:endParaRPr lang="en-US" sz="3000" dirty="0"/>
          </a:p>
        </p:txBody>
      </p:sp>
      <p:sp>
        <p:nvSpPr>
          <p:cNvPr id="4" name="Shape 2"/>
          <p:cNvSpPr/>
          <p:nvPr/>
        </p:nvSpPr>
        <p:spPr>
          <a:xfrm>
            <a:off x="548640" y="1554480"/>
            <a:ext cx="7498080" cy="4343400"/>
          </a:xfrm>
          <a:prstGeom prst="roundRect">
            <a:avLst>
              <a:gd name="adj" fmla="val 1263"/>
            </a:avLst>
          </a:prstGeom>
          <a:solidFill>
            <a:srgbClr val="16294A"/>
          </a:solidFill>
          <a:ln w="12700">
            <a:solidFill>
              <a:srgbClr val="16294A"/>
            </a:solidFill>
            <a:prstDash val="solid"/>
          </a:ln>
        </p:spPr>
      </p:sp>
      <p:sp>
        <p:nvSpPr>
          <p:cNvPr id="5" name="Shape 3"/>
          <p:cNvSpPr/>
          <p:nvPr/>
        </p:nvSpPr>
        <p:spPr>
          <a:xfrm>
            <a:off x="749808" y="171907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1907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1907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45920"/>
            <a:ext cx="6492240" cy="256032"/>
          </a:xfrm>
          <a:prstGeom prst="rect">
            <a:avLst/>
          </a:prstGeom>
          <a:noFill/>
          <a:ln/>
        </p:spPr>
        <p:txBody>
          <a:bodyPr wrap="square" lIns="0" tIns="0" rIns="0" bIns="0" rtlCol="0" anchor="ctr"/>
          <a:lstStyle/>
          <a:p>
            <a:pPr indent="0" marL="0">
              <a:buNone/>
            </a:pPr>
            <a:r>
              <a:rPr lang="en-US" sz="1100" dirty="0">
                <a:solidFill>
                  <a:srgbClr val="B9C4D1"/>
                </a:solidFill>
                <a:latin typeface="Courier New" pitchFamily="34" charset="0"/>
                <a:ea typeface="Courier New" pitchFamily="34" charset="-122"/>
                <a:cs typeface="Courier New" pitchFamily="34" charset="-120"/>
              </a:rPr>
              <a:t>powershell</a:t>
            </a:r>
            <a:endParaRPr lang="en-US" sz="1100" dirty="0"/>
          </a:p>
        </p:txBody>
      </p:sp>
      <p:sp>
        <p:nvSpPr>
          <p:cNvPr id="9" name="Text 7"/>
          <p:cNvSpPr txBox="1"/>
          <p:nvPr/>
        </p:nvSpPr>
        <p:spPr>
          <a:xfrm>
            <a:off x="777240" y="2011680"/>
            <a:ext cx="7040880" cy="3749040"/>
          </a:xfrm>
          <a:prstGeom prst="rect">
            <a:avLst/>
          </a:prstGeom>
          <a:noFill/>
          <a:ln/>
        </p:spPr>
        <p:txBody>
          <a:bodyPr wrap="square" lIns="0" tIns="0" rIns="0" bIns="0" rtlCol="0" anchor="t"/>
          <a:lstStyle/>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get configmaps -A</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a:t>
            </a:r>
            <a:endParaRPr lang="en-US" sz="1150" dirty="0"/>
          </a:p>
          <a:p>
            <a:pPr indent="0" marL="0">
              <a:lnSpc>
                <a:spcPct val="110000"/>
              </a:lnSpc>
              <a:buNone/>
            </a:pPr>
            <a:r>
              <a:rPr lang="en-US" sz="1150" i="1" dirty="0">
                <a:solidFill>
                  <a:srgbClr val="B9C4D1"/>
                </a:solidFill>
                <a:latin typeface="Courier New" pitchFamily="34" charset="0"/>
                <a:ea typeface="Courier New" pitchFamily="34" charset="-122"/>
                <a:cs typeface="Courier New" pitchFamily="34" charset="-120"/>
              </a:rPr>
              <a:t># OpenTelemetry Collector - hela pipelinen</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get cm otel-collector-config -n monitoring -o yaml</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a:t>
            </a:r>
            <a:endParaRPr lang="en-US" sz="1150" dirty="0"/>
          </a:p>
          <a:p>
            <a:pPr indent="0" marL="0">
              <a:lnSpc>
                <a:spcPct val="110000"/>
              </a:lnSpc>
              <a:buNone/>
            </a:pPr>
            <a:r>
              <a:rPr lang="en-US" sz="1150" i="1" dirty="0">
                <a:solidFill>
                  <a:srgbClr val="B9C4D1"/>
                </a:solidFill>
                <a:latin typeface="Courier New" pitchFamily="34" charset="0"/>
                <a:ea typeface="Courier New" pitchFamily="34" charset="-122"/>
                <a:cs typeface="Courier New" pitchFamily="34" charset="-120"/>
              </a:rPr>
              <a:t># Grafana-dashboards (kväll 6) - en ConfigMap per JSON-fil</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get cm -n monitoring -l grafana_dashboard=1</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a:t>
            </a:r>
            <a:endParaRPr lang="en-US" sz="1150" dirty="0"/>
          </a:p>
          <a:p>
            <a:pPr indent="0" marL="0">
              <a:lnSpc>
                <a:spcPct val="110000"/>
              </a:lnSpc>
              <a:buNone/>
            </a:pPr>
            <a:r>
              <a:rPr lang="en-US" sz="1150" i="1" dirty="0">
                <a:solidFill>
                  <a:srgbClr val="B9C4D1"/>
                </a:solidFill>
                <a:latin typeface="Courier New" pitchFamily="34" charset="0"/>
                <a:ea typeface="Courier New" pitchFamily="34" charset="-122"/>
                <a:cs typeface="Courier New" pitchFamily="34" charset="-120"/>
              </a:rPr>
              <a:t># Finns i VARJE namespace - klustrets CA-certifikat</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get cm kube-root-ca.crt -n lab -o yaml</a:t>
            </a:r>
            <a:endParaRPr lang="en-US" sz="1150" dirty="0"/>
          </a:p>
        </p:txBody>
      </p:sp>
      <p:sp>
        <p:nvSpPr>
          <p:cNvPr id="10" name="Shape 8"/>
          <p:cNvSpPr/>
          <p:nvPr/>
        </p:nvSpPr>
        <p:spPr>
          <a:xfrm>
            <a:off x="8412480" y="1554480"/>
            <a:ext cx="3230575" cy="1356360"/>
          </a:xfrm>
          <a:prstGeom prst="roundRect">
            <a:avLst>
              <a:gd name="adj" fmla="val 4045"/>
            </a:avLst>
          </a:prstGeom>
          <a:solidFill>
            <a:srgbClr val="16294A"/>
          </a:solidFill>
          <a:ln w="12700">
            <a:solidFill>
              <a:srgbClr val="16294A"/>
            </a:solidFill>
            <a:prstDash val="solid"/>
          </a:ln>
        </p:spPr>
      </p:sp>
      <p:sp>
        <p:nvSpPr>
          <p:cNvPr id="11" name="Text 9"/>
          <p:cNvSpPr txBox="1"/>
          <p:nvPr/>
        </p:nvSpPr>
        <p:spPr>
          <a:xfrm>
            <a:off x="8613648" y="1755648"/>
            <a:ext cx="2828239" cy="320040"/>
          </a:xfrm>
          <a:prstGeom prst="rect">
            <a:avLst/>
          </a:prstGeom>
          <a:noFill/>
          <a:ln/>
        </p:spPr>
        <p:txBody>
          <a:bodyPr wrap="square" lIns="0" tIns="0" rIns="0" bIns="0" rtlCol="0" anchor="t"/>
          <a:lstStyle/>
          <a:p>
            <a:pPr indent="0" marL="0">
              <a:buNone/>
            </a:pPr>
            <a:r>
              <a:rPr lang="en-US" sz="1400" b="1" dirty="0">
                <a:solidFill>
                  <a:srgbClr val="F5F7FA"/>
                </a:solidFill>
                <a:latin typeface="Calibri" pitchFamily="34" charset="0"/>
                <a:ea typeface="Calibri" pitchFamily="34" charset="-122"/>
                <a:cs typeface="Calibri" pitchFamily="34" charset="-120"/>
              </a:rPr>
              <a:t>otel-collector-config</a:t>
            </a:r>
            <a:endParaRPr lang="en-US" sz="1400" dirty="0"/>
          </a:p>
        </p:txBody>
      </p:sp>
      <p:sp>
        <p:nvSpPr>
          <p:cNvPr id="12" name="Text 10"/>
          <p:cNvSpPr txBox="1"/>
          <p:nvPr/>
        </p:nvSpPr>
        <p:spPr>
          <a:xfrm>
            <a:off x="8613648" y="213969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B9C4D1"/>
                </a:solidFill>
                <a:latin typeface="Arial" pitchFamily="34" charset="0"/>
                <a:ea typeface="Arial" pitchFamily="34" charset="-122"/>
                <a:cs typeface="Arial" pitchFamily="34" charset="-120"/>
              </a:rPr>
              <a:t>Monteras som fil i collector-podden.</a:t>
            </a:r>
            <a:endParaRPr lang="en-US" sz="1200" dirty="0"/>
          </a:p>
        </p:txBody>
      </p:sp>
      <p:sp>
        <p:nvSpPr>
          <p:cNvPr id="13" name="Shape 11"/>
          <p:cNvSpPr/>
          <p:nvPr/>
        </p:nvSpPr>
        <p:spPr>
          <a:xfrm>
            <a:off x="8412480" y="3048000"/>
            <a:ext cx="3230575" cy="1356360"/>
          </a:xfrm>
          <a:prstGeom prst="roundRect">
            <a:avLst>
              <a:gd name="adj" fmla="val 4045"/>
            </a:avLst>
          </a:prstGeom>
          <a:solidFill>
            <a:srgbClr val="3762FF"/>
          </a:solidFill>
          <a:ln w="12700">
            <a:solidFill>
              <a:srgbClr val="3762FF"/>
            </a:solidFill>
            <a:prstDash val="solid"/>
          </a:ln>
        </p:spPr>
      </p:sp>
      <p:sp>
        <p:nvSpPr>
          <p:cNvPr id="14" name="Text 12"/>
          <p:cNvSpPr txBox="1"/>
          <p:nvPr/>
        </p:nvSpPr>
        <p:spPr>
          <a:xfrm>
            <a:off x="8613648" y="3249168"/>
            <a:ext cx="2828239"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grafana-dashboard-*</a:t>
            </a:r>
            <a:endParaRPr lang="en-US" sz="1400" dirty="0"/>
          </a:p>
        </p:txBody>
      </p:sp>
      <p:sp>
        <p:nvSpPr>
          <p:cNvPr id="15" name="Text 13"/>
          <p:cNvSpPr txBox="1"/>
          <p:nvPr/>
        </p:nvSpPr>
        <p:spPr>
          <a:xfrm>
            <a:off x="8613648" y="363321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Sidecarn läser dem och laddar dashboards.</a:t>
            </a:r>
            <a:endParaRPr lang="en-US" sz="1200" dirty="0"/>
          </a:p>
        </p:txBody>
      </p:sp>
      <p:sp>
        <p:nvSpPr>
          <p:cNvPr id="16" name="Shape 14"/>
          <p:cNvSpPr/>
          <p:nvPr/>
        </p:nvSpPr>
        <p:spPr>
          <a:xfrm>
            <a:off x="8412480" y="4541520"/>
            <a:ext cx="3230575" cy="1356360"/>
          </a:xfrm>
          <a:prstGeom prst="roundRect">
            <a:avLst>
              <a:gd name="adj" fmla="val 4045"/>
            </a:avLst>
          </a:prstGeom>
          <a:solidFill>
            <a:srgbClr val="16294A"/>
          </a:solidFill>
          <a:ln w="12700">
            <a:solidFill>
              <a:srgbClr val="16294A"/>
            </a:solidFill>
            <a:prstDash val="solid"/>
          </a:ln>
        </p:spPr>
      </p:sp>
      <p:sp>
        <p:nvSpPr>
          <p:cNvPr id="17" name="Text 15"/>
          <p:cNvSpPr txBox="1"/>
          <p:nvPr/>
        </p:nvSpPr>
        <p:spPr>
          <a:xfrm>
            <a:off x="8613648" y="4742688"/>
            <a:ext cx="2828239" cy="320040"/>
          </a:xfrm>
          <a:prstGeom prst="rect">
            <a:avLst/>
          </a:prstGeom>
          <a:noFill/>
          <a:ln/>
        </p:spPr>
        <p:txBody>
          <a:bodyPr wrap="square" lIns="0" tIns="0" rIns="0" bIns="0" rtlCol="0" anchor="t"/>
          <a:lstStyle/>
          <a:p>
            <a:pPr indent="0" marL="0">
              <a:buNone/>
            </a:pPr>
            <a:r>
              <a:rPr lang="en-US" sz="1400" b="1" dirty="0">
                <a:solidFill>
                  <a:srgbClr val="F5F7FA"/>
                </a:solidFill>
                <a:latin typeface="Calibri" pitchFamily="34" charset="0"/>
                <a:ea typeface="Calibri" pitchFamily="34" charset="-122"/>
                <a:cs typeface="Calibri" pitchFamily="34" charset="-120"/>
              </a:rPr>
              <a:t>kube-root-ca.crt</a:t>
            </a:r>
            <a:endParaRPr lang="en-US" sz="1400" dirty="0"/>
          </a:p>
        </p:txBody>
      </p:sp>
      <p:sp>
        <p:nvSpPr>
          <p:cNvPr id="18" name="Text 16"/>
          <p:cNvSpPr txBox="1"/>
          <p:nvPr/>
        </p:nvSpPr>
        <p:spPr>
          <a:xfrm>
            <a:off x="8613648" y="512673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B9C4D1"/>
                </a:solidFill>
                <a:latin typeface="Arial" pitchFamily="34" charset="0"/>
                <a:ea typeface="Arial" pitchFamily="34" charset="-122"/>
                <a:cs typeface="Arial" pitchFamily="34" charset="-120"/>
              </a:rPr>
              <a:t>Låter poddar lita på API-servern.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LABB 1A · SKAPA OCH INSPEKTERA</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Tre sätt att skapa en ConfigMap</a:t>
            </a:r>
            <a:endParaRPr lang="en-US" sz="3000" dirty="0"/>
          </a:p>
        </p:txBody>
      </p:sp>
      <p:sp>
        <p:nvSpPr>
          <p:cNvPr id="4" name="Shape 2"/>
          <p:cNvSpPr/>
          <p:nvPr/>
        </p:nvSpPr>
        <p:spPr>
          <a:xfrm>
            <a:off x="548640" y="1554480"/>
            <a:ext cx="7498080" cy="4343400"/>
          </a:xfrm>
          <a:prstGeom prst="roundRect">
            <a:avLst>
              <a:gd name="adj" fmla="val 1263"/>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5" name="Shape 3"/>
          <p:cNvSpPr/>
          <p:nvPr/>
        </p:nvSpPr>
        <p:spPr>
          <a:xfrm>
            <a:off x="749808" y="171907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1907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1907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45920"/>
            <a:ext cx="6492240" cy="256032"/>
          </a:xfrm>
          <a:prstGeom prst="rect">
            <a:avLst/>
          </a:prstGeom>
          <a:noFill/>
          <a:ln/>
        </p:spPr>
        <p:txBody>
          <a:bodyPr wrap="square" lIns="0" tIns="0" rIns="0" bIns="0" rtlCol="0" anchor="ctr"/>
          <a:lstStyle/>
          <a:p>
            <a:pPr indent="0" marL="0">
              <a:buNone/>
            </a:pPr>
            <a:r>
              <a:rPr lang="en-US" sz="1100" dirty="0">
                <a:solidFill>
                  <a:srgbClr val="B9C4D1"/>
                </a:solidFill>
                <a:latin typeface="Courier New" pitchFamily="34" charset="0"/>
                <a:ea typeface="Courier New" pitchFamily="34" charset="-122"/>
                <a:cs typeface="Courier New" pitchFamily="34" charset="-120"/>
              </a:rPr>
              <a:t>powershell</a:t>
            </a:r>
            <a:endParaRPr lang="en-US" sz="1100" dirty="0"/>
          </a:p>
        </p:txBody>
      </p:sp>
      <p:sp>
        <p:nvSpPr>
          <p:cNvPr id="9" name="Text 7"/>
          <p:cNvSpPr txBox="1"/>
          <p:nvPr/>
        </p:nvSpPr>
        <p:spPr>
          <a:xfrm>
            <a:off x="777240" y="2011680"/>
            <a:ext cx="7040880" cy="3749040"/>
          </a:xfrm>
          <a:prstGeom prst="rect">
            <a:avLst/>
          </a:prstGeom>
          <a:noFill/>
          <a:ln/>
        </p:spPr>
        <p:txBody>
          <a:bodyPr wrap="square" lIns="0" tIns="0" rIns="0" bIns="0" rtlCol="0" anchor="t"/>
          <a:lstStyle/>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create namespace lab</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a:t>
            </a:r>
            <a:endParaRPr lang="en-US" sz="1150" dirty="0"/>
          </a:p>
          <a:p>
            <a:pPr indent="0" marL="0">
              <a:lnSpc>
                <a:spcPct val="110000"/>
              </a:lnSpc>
              <a:buNone/>
            </a:pPr>
            <a:r>
              <a:rPr lang="en-US" sz="1150" i="1" dirty="0">
                <a:solidFill>
                  <a:srgbClr val="B9C4D1"/>
                </a:solidFill>
                <a:latin typeface="Courier New" pitchFamily="34" charset="0"/>
                <a:ea typeface="Courier New" pitchFamily="34" charset="-122"/>
                <a:cs typeface="Courier New" pitchFamily="34" charset="-120"/>
              </a:rPr>
              <a:t># 1. Från värden på kommandoraden</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create configmap greeting -n lab --from-literal=GREETING=Hej --from-literal=LANG=sv</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a:t>
            </a:r>
            <a:endParaRPr lang="en-US" sz="1150" dirty="0"/>
          </a:p>
          <a:p>
            <a:pPr indent="0" marL="0">
              <a:lnSpc>
                <a:spcPct val="110000"/>
              </a:lnSpc>
              <a:buNone/>
            </a:pPr>
            <a:r>
              <a:rPr lang="en-US" sz="1150" i="1" dirty="0">
                <a:solidFill>
                  <a:srgbClr val="B9C4D1"/>
                </a:solidFill>
                <a:latin typeface="Courier New" pitchFamily="34" charset="0"/>
                <a:ea typeface="Courier New" pitchFamily="34" charset="-122"/>
                <a:cs typeface="Courier New" pitchFamily="34" charset="-120"/>
              </a:rPr>
              <a:t># 2. Från en fil (nyckeln blir filnamnet)</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"MaxItems": 25 }' | Out-File settings.json -Encoding utf8</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create configmap settings -n lab --from-file=settings.json</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a:t>
            </a:r>
            <a:endParaRPr lang="en-US" sz="1150" dirty="0"/>
          </a:p>
          <a:p>
            <a:pPr indent="0" marL="0">
              <a:lnSpc>
                <a:spcPct val="110000"/>
              </a:lnSpc>
              <a:buNone/>
            </a:pPr>
            <a:r>
              <a:rPr lang="en-US" sz="1150" i="1" dirty="0">
                <a:solidFill>
                  <a:srgbClr val="B9C4D1"/>
                </a:solidFill>
                <a:latin typeface="Courier New" pitchFamily="34" charset="0"/>
                <a:ea typeface="Courier New" pitchFamily="34" charset="-122"/>
                <a:cs typeface="Courier New" pitchFamily="34" charset="-120"/>
              </a:rPr>
              <a:t># 3. Från YAML (deklarativt - som i Git)</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create configmap demo -n lab --from-literal=A=1 --dry-run=client -o yaml</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get cm -n lab ; kubectl describe cm settings -n lab</a:t>
            </a:r>
            <a:endParaRPr lang="en-US" sz="1150" dirty="0"/>
          </a:p>
        </p:txBody>
      </p:sp>
      <p:sp>
        <p:nvSpPr>
          <p:cNvPr id="10" name="Shape 8"/>
          <p:cNvSpPr/>
          <p:nvPr/>
        </p:nvSpPr>
        <p:spPr>
          <a:xfrm>
            <a:off x="8412480" y="1554480"/>
            <a:ext cx="3230575" cy="1356360"/>
          </a:xfrm>
          <a:prstGeom prst="roundRect">
            <a:avLst>
              <a:gd name="adj" fmla="val 4045"/>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1" name="Text 9"/>
          <p:cNvSpPr txBox="1"/>
          <p:nvPr/>
        </p:nvSpPr>
        <p:spPr>
          <a:xfrm>
            <a:off x="8613648" y="1755648"/>
            <a:ext cx="2828239"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--from-literal</a:t>
            </a:r>
            <a:endParaRPr lang="en-US" sz="1400" dirty="0"/>
          </a:p>
        </p:txBody>
      </p:sp>
      <p:sp>
        <p:nvSpPr>
          <p:cNvPr id="12" name="Text 10"/>
          <p:cNvSpPr txBox="1"/>
          <p:nvPr/>
        </p:nvSpPr>
        <p:spPr>
          <a:xfrm>
            <a:off x="8613648" y="213969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Snabbt för enstaka värden.</a:t>
            </a:r>
            <a:endParaRPr lang="en-US" sz="1200" dirty="0"/>
          </a:p>
        </p:txBody>
      </p:sp>
      <p:sp>
        <p:nvSpPr>
          <p:cNvPr id="13" name="Shape 11"/>
          <p:cNvSpPr/>
          <p:nvPr/>
        </p:nvSpPr>
        <p:spPr>
          <a:xfrm>
            <a:off x="8412480" y="3048000"/>
            <a:ext cx="3230575" cy="1356360"/>
          </a:xfrm>
          <a:prstGeom prst="roundRect">
            <a:avLst>
              <a:gd name="adj" fmla="val 4045"/>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4" name="Text 12"/>
          <p:cNvSpPr txBox="1"/>
          <p:nvPr/>
        </p:nvSpPr>
        <p:spPr>
          <a:xfrm>
            <a:off x="8613648" y="3249168"/>
            <a:ext cx="2828239"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--from-file</a:t>
            </a:r>
            <a:endParaRPr lang="en-US" sz="1400" dirty="0"/>
          </a:p>
        </p:txBody>
      </p:sp>
      <p:sp>
        <p:nvSpPr>
          <p:cNvPr id="15" name="Text 13"/>
          <p:cNvSpPr txBox="1"/>
          <p:nvPr/>
        </p:nvSpPr>
        <p:spPr>
          <a:xfrm>
            <a:off x="8613648" y="363321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Hela konfigurationsfiler, t.ex. appsettings.json.</a:t>
            </a:r>
            <a:endParaRPr lang="en-US" sz="1200" dirty="0"/>
          </a:p>
        </p:txBody>
      </p:sp>
      <p:sp>
        <p:nvSpPr>
          <p:cNvPr id="16" name="Shape 14"/>
          <p:cNvSpPr/>
          <p:nvPr/>
        </p:nvSpPr>
        <p:spPr>
          <a:xfrm>
            <a:off x="8412480" y="4541520"/>
            <a:ext cx="3230575" cy="1356360"/>
          </a:xfrm>
          <a:prstGeom prst="roundRect">
            <a:avLst>
              <a:gd name="adj" fmla="val 4045"/>
            </a:avLst>
          </a:prstGeom>
          <a:solidFill>
            <a:srgbClr val="3762FF"/>
          </a:solidFill>
          <a:ln w="12700">
            <a:solidFill>
              <a:srgbClr val="3762FF"/>
            </a:solidFill>
            <a:prstDash val="solid"/>
          </a:ln>
        </p:spPr>
      </p:sp>
      <p:sp>
        <p:nvSpPr>
          <p:cNvPr id="17" name="Text 15"/>
          <p:cNvSpPr txBox="1"/>
          <p:nvPr/>
        </p:nvSpPr>
        <p:spPr>
          <a:xfrm>
            <a:off x="8613648" y="4742688"/>
            <a:ext cx="2828239"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--dry-run -o yaml</a:t>
            </a:r>
            <a:endParaRPr lang="en-US" sz="1400" dirty="0"/>
          </a:p>
        </p:txBody>
      </p:sp>
      <p:sp>
        <p:nvSpPr>
          <p:cNvPr id="18" name="Text 16"/>
          <p:cNvSpPr txBox="1"/>
          <p:nvPr/>
        </p:nvSpPr>
        <p:spPr>
          <a:xfrm>
            <a:off x="8613648" y="512673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Skriver YAML istället för att skapa - lägg i Git.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LABB 1B · ENV OCH FIL</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Vad händer när en ConfigMap ändras?</a:t>
            </a:r>
            <a:endParaRPr lang="en-US" sz="3000" dirty="0"/>
          </a:p>
        </p:txBody>
      </p:sp>
      <p:sp>
        <p:nvSpPr>
          <p:cNvPr id="4" name="Shape 2"/>
          <p:cNvSpPr/>
          <p:nvPr/>
        </p:nvSpPr>
        <p:spPr>
          <a:xfrm>
            <a:off x="548640" y="1554480"/>
            <a:ext cx="7498080" cy="4343400"/>
          </a:xfrm>
          <a:prstGeom prst="roundRect">
            <a:avLst>
              <a:gd name="adj" fmla="val 1263"/>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5" name="Shape 3"/>
          <p:cNvSpPr/>
          <p:nvPr/>
        </p:nvSpPr>
        <p:spPr>
          <a:xfrm>
            <a:off x="749808" y="171907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1907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1907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45920"/>
            <a:ext cx="6492240" cy="256032"/>
          </a:xfrm>
          <a:prstGeom prst="rect">
            <a:avLst/>
          </a:prstGeom>
          <a:noFill/>
          <a:ln/>
        </p:spPr>
        <p:txBody>
          <a:bodyPr wrap="square" lIns="0" tIns="0" rIns="0" bIns="0" rtlCol="0" anchor="ctr"/>
          <a:lstStyle/>
          <a:p>
            <a:pPr indent="0" marL="0">
              <a:buNone/>
            </a:pPr>
            <a:r>
              <a:rPr lang="en-US" sz="1100" dirty="0">
                <a:solidFill>
                  <a:srgbClr val="B9C4D1"/>
                </a:solidFill>
                <a:latin typeface="Courier New" pitchFamily="34" charset="0"/>
                <a:ea typeface="Courier New" pitchFamily="34" charset="-122"/>
                <a:cs typeface="Courier New" pitchFamily="34" charset="-120"/>
              </a:rPr>
              <a:t>powershell</a:t>
            </a:r>
            <a:endParaRPr lang="en-US" sz="1100" dirty="0"/>
          </a:p>
        </p:txBody>
      </p:sp>
      <p:sp>
        <p:nvSpPr>
          <p:cNvPr id="9" name="Text 7"/>
          <p:cNvSpPr txBox="1"/>
          <p:nvPr/>
        </p:nvSpPr>
        <p:spPr>
          <a:xfrm>
            <a:off x="777240" y="2011680"/>
            <a:ext cx="7040880" cy="3749040"/>
          </a:xfrm>
          <a:prstGeom prst="rect">
            <a:avLst/>
          </a:prstGeom>
          <a:noFill/>
          <a:ln/>
        </p:spPr>
        <p:txBody>
          <a:bodyPr wrap="square" lIns="0" tIns="0" rIns="0" bIns="0" rtlCol="0" anchor="t"/>
          <a:lstStyle/>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kubectl apply -f 01-configmap-demo.yaml</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kubectl logs -f deploy/config-demo -n lab      # eget fönster</a:t>
            </a:r>
            <a:endParaRPr lang="en-US" sz="1100" dirty="0"/>
          </a:p>
          <a:p>
            <a:pPr indent="0" marL="0">
              <a:lnSpc>
                <a:spcPct val="110000"/>
              </a:lnSpc>
              <a:buNone/>
            </a:pPr>
            <a:r>
              <a:rPr lang="en-US" sz="1100" dirty="0">
                <a:solidFill>
                  <a:srgbClr val="B9C4D1"/>
                </a:solidFill>
                <a:latin typeface="Courier New" pitchFamily="34" charset="0"/>
                <a:ea typeface="Courier New" pitchFamily="34" charset="-122"/>
                <a:cs typeface="Courier New" pitchFamily="34" charset="-120"/>
              </a:rPr>
              <a:t>→ 18:02:05  GREETING=Hej från en ConfigMap  LOG_LEVEL=Information</a:t>
            </a:r>
            <a:endParaRPr lang="en-US" sz="1100" dirty="0"/>
          </a:p>
          <a:p>
            <a:pPr indent="0" marL="0">
              <a:lnSpc>
                <a:spcPct val="110000"/>
              </a:lnSpc>
              <a:buNone/>
            </a:pPr>
            <a:r>
              <a:rPr lang="en-US" sz="1100" dirty="0">
                <a:solidFill>
                  <a:srgbClr val="B9C4D1"/>
                </a:solidFill>
                <a:latin typeface="Courier New" pitchFamily="34" charset="0"/>
                <a:ea typeface="Courier New" pitchFamily="34" charset="-122"/>
                <a:cs typeface="Courier New" pitchFamily="34" charset="-120"/>
              </a:rPr>
              <a:t>→           fil: {"Feature":{"NewUi":false},"MaxItems":25}</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a:t>
            </a:r>
            <a:endParaRPr lang="en-US" sz="1100" dirty="0"/>
          </a:p>
          <a:p>
            <a:pPr indent="0" marL="0">
              <a:lnSpc>
                <a:spcPct val="110000"/>
              </a:lnSpc>
              <a:buNone/>
            </a:pPr>
            <a:r>
              <a:rPr lang="en-US" sz="1100" i="1" dirty="0">
                <a:solidFill>
                  <a:srgbClr val="B9C4D1"/>
                </a:solidFill>
                <a:latin typeface="Courier New" pitchFamily="34" charset="0"/>
                <a:ea typeface="Courier New" pitchFamily="34" charset="-122"/>
                <a:cs typeface="Courier New" pitchFamily="34" charset="-120"/>
              </a:rPr>
              <a:t># Ändra GREETING och NewUi -&gt; true</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kubectl edit configmap app-config -n lab</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a:t>
            </a:r>
            <a:endParaRPr lang="en-US" sz="1100" dirty="0"/>
          </a:p>
          <a:p>
            <a:pPr indent="0" marL="0">
              <a:lnSpc>
                <a:spcPct val="110000"/>
              </a:lnSpc>
              <a:buNone/>
            </a:pPr>
            <a:r>
              <a:rPr lang="en-US" sz="1100" i="1" dirty="0">
                <a:solidFill>
                  <a:srgbClr val="B9C4D1"/>
                </a:solidFill>
                <a:latin typeface="Courier New" pitchFamily="34" charset="0"/>
                <a:ea typeface="Courier New" pitchFamily="34" charset="-122"/>
                <a:cs typeface="Courier New" pitchFamily="34" charset="-120"/>
              </a:rPr>
              <a:t># Vänta ca 1 minut och titta i loggen ...</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a:t>
            </a:r>
            <a:endParaRPr lang="en-US" sz="1100" dirty="0"/>
          </a:p>
          <a:p>
            <a:pPr indent="0" marL="0">
              <a:lnSpc>
                <a:spcPct val="110000"/>
              </a:lnSpc>
              <a:buNone/>
            </a:pPr>
            <a:r>
              <a:rPr lang="en-US" sz="1100" i="1" dirty="0">
                <a:solidFill>
                  <a:srgbClr val="B9C4D1"/>
                </a:solidFill>
                <a:latin typeface="Courier New" pitchFamily="34" charset="0"/>
                <a:ea typeface="Courier New" pitchFamily="34" charset="-122"/>
                <a:cs typeface="Courier New" pitchFamily="34" charset="-120"/>
              </a:rPr>
              <a:t># Starta om poddarna</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kubectl rollout restart deploy/config-demo -n lab</a:t>
            </a:r>
            <a:endParaRPr lang="en-US" sz="1100" dirty="0"/>
          </a:p>
        </p:txBody>
      </p:sp>
      <p:sp>
        <p:nvSpPr>
          <p:cNvPr id="10" name="Shape 8"/>
          <p:cNvSpPr/>
          <p:nvPr/>
        </p:nvSpPr>
        <p:spPr>
          <a:xfrm>
            <a:off x="8412480" y="1554480"/>
            <a:ext cx="3230575" cy="1356360"/>
          </a:xfrm>
          <a:prstGeom prst="roundRect">
            <a:avLst>
              <a:gd name="adj" fmla="val 4045"/>
            </a:avLst>
          </a:prstGeom>
          <a:solidFill>
            <a:srgbClr val="3762FF"/>
          </a:solidFill>
          <a:ln w="12700">
            <a:solidFill>
              <a:srgbClr val="3762FF"/>
            </a:solidFill>
            <a:prstDash val="solid"/>
          </a:ln>
        </p:spPr>
      </p:sp>
      <p:sp>
        <p:nvSpPr>
          <p:cNvPr id="11" name="Text 9"/>
          <p:cNvSpPr txBox="1"/>
          <p:nvPr/>
        </p:nvSpPr>
        <p:spPr>
          <a:xfrm>
            <a:off x="8613648" y="1755648"/>
            <a:ext cx="2828239"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Filen</a:t>
            </a:r>
            <a:endParaRPr lang="en-US" sz="1400" dirty="0"/>
          </a:p>
        </p:txBody>
      </p:sp>
      <p:sp>
        <p:nvSpPr>
          <p:cNvPr id="12" name="Text 10"/>
          <p:cNvSpPr txBox="1"/>
          <p:nvPr/>
        </p:nvSpPr>
        <p:spPr>
          <a:xfrm>
            <a:off x="8613648" y="213969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Uppdateras av kubelet inom ca en minut - utan omstart.</a:t>
            </a:r>
            <a:endParaRPr lang="en-US" sz="1200" dirty="0"/>
          </a:p>
        </p:txBody>
      </p:sp>
      <p:sp>
        <p:nvSpPr>
          <p:cNvPr id="13" name="Shape 11"/>
          <p:cNvSpPr/>
          <p:nvPr/>
        </p:nvSpPr>
        <p:spPr>
          <a:xfrm>
            <a:off x="8412480" y="3048000"/>
            <a:ext cx="3230575" cy="1356360"/>
          </a:xfrm>
          <a:prstGeom prst="roundRect">
            <a:avLst>
              <a:gd name="adj" fmla="val 4045"/>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4" name="Text 12"/>
          <p:cNvSpPr txBox="1"/>
          <p:nvPr/>
        </p:nvSpPr>
        <p:spPr>
          <a:xfrm>
            <a:off x="8613648" y="3249168"/>
            <a:ext cx="2828239"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Miljövariabler</a:t>
            </a:r>
            <a:endParaRPr lang="en-US" sz="1400" dirty="0"/>
          </a:p>
        </p:txBody>
      </p:sp>
      <p:sp>
        <p:nvSpPr>
          <p:cNvPr id="15" name="Text 13"/>
          <p:cNvSpPr txBox="1"/>
          <p:nvPr/>
        </p:nvSpPr>
        <p:spPr>
          <a:xfrm>
            <a:off x="8613648" y="363321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Läses bara när containern startar.</a:t>
            </a:r>
            <a:endParaRPr lang="en-US" sz="1200" dirty="0"/>
          </a:p>
        </p:txBody>
      </p:sp>
      <p:sp>
        <p:nvSpPr>
          <p:cNvPr id="16" name="Shape 14"/>
          <p:cNvSpPr/>
          <p:nvPr/>
        </p:nvSpPr>
        <p:spPr>
          <a:xfrm>
            <a:off x="8412480" y="4541520"/>
            <a:ext cx="3230575" cy="1356360"/>
          </a:xfrm>
          <a:prstGeom prst="roundRect">
            <a:avLst>
              <a:gd name="adj" fmla="val 4045"/>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7" name="Text 15"/>
          <p:cNvSpPr txBox="1"/>
          <p:nvPr/>
        </p:nvSpPr>
        <p:spPr>
          <a:xfrm>
            <a:off x="8613648" y="4742688"/>
            <a:ext cx="2828239"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rollout restart</a:t>
            </a:r>
            <a:endParaRPr lang="en-US" sz="1400" dirty="0"/>
          </a:p>
        </p:txBody>
      </p:sp>
      <p:sp>
        <p:nvSpPr>
          <p:cNvPr id="18" name="Text 16"/>
          <p:cNvSpPr txBox="1"/>
          <p:nvPr/>
        </p:nvSpPr>
        <p:spPr>
          <a:xfrm>
            <a:off x="8613648" y="512673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Nya poddar - nya värden.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CONFIGMAPS · MÖNSTER</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Tre mönster från verkligheten</a:t>
            </a:r>
            <a:endParaRPr lang="en-US" sz="3000" dirty="0"/>
          </a:p>
        </p:txBody>
      </p:sp>
      <p:sp>
        <p:nvSpPr>
          <p:cNvPr id="4" name="Shape 2"/>
          <p:cNvSpPr/>
          <p:nvPr/>
        </p:nvSpPr>
        <p:spPr>
          <a:xfrm>
            <a:off x="548640" y="1645920"/>
            <a:ext cx="3515258" cy="2377440"/>
          </a:xfrm>
          <a:prstGeom prst="roundRect">
            <a:avLst>
              <a:gd name="adj" fmla="val 2308"/>
            </a:avLst>
          </a:prstGeom>
          <a:solidFill>
            <a:srgbClr val="3762FF"/>
          </a:solidFill>
          <a:ln w="12700">
            <a:solidFill>
              <a:srgbClr val="3762FF"/>
            </a:solidFill>
            <a:prstDash val="solid"/>
          </a:ln>
        </p:spPr>
      </p:sp>
      <p:sp>
        <p:nvSpPr>
          <p:cNvPr id="5" name="Text 3"/>
          <p:cNvSpPr txBox="1"/>
          <p:nvPr/>
        </p:nvSpPr>
        <p:spPr>
          <a:xfrm>
            <a:off x="749808" y="1847088"/>
            <a:ext cx="3112922" cy="3200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checksum-annotation</a:t>
            </a:r>
            <a:endParaRPr lang="en-US" sz="1600" dirty="0"/>
          </a:p>
        </p:txBody>
      </p:sp>
      <p:sp>
        <p:nvSpPr>
          <p:cNvPr id="6" name="Text 4"/>
          <p:cNvSpPr txBox="1"/>
          <p:nvPr/>
        </p:nvSpPr>
        <p:spPr>
          <a:xfrm>
            <a:off x="749808" y="2231136"/>
            <a:ext cx="3112922" cy="1636776"/>
          </a:xfrm>
          <a:prstGeom prst="rect">
            <a:avLst/>
          </a:prstGeom>
          <a:noFill/>
          <a:ln/>
        </p:spPr>
        <p:txBody>
          <a:bodyPr wrap="square" lIns="0" tIns="0" rIns="0" bIns="0" rtlCol="0" anchor="t"/>
          <a:lstStyle/>
          <a:p>
            <a:pPr indent="0" marL="0">
              <a:lnSpc>
                <a:spcPct val="115000"/>
              </a:lnSpc>
              <a:buNone/>
            </a:pPr>
            <a:r>
              <a:rPr lang="en-US" sz="1300" dirty="0">
                <a:solidFill>
                  <a:srgbClr val="FFFFFF"/>
                </a:solidFill>
                <a:latin typeface="Arial" pitchFamily="34" charset="0"/>
                <a:ea typeface="Arial" pitchFamily="34" charset="-122"/>
                <a:cs typeface="Arial" pitchFamily="34" charset="-120"/>
              </a:rPr>
              <a:t>Våra Helm-charts: hash av Secret/ConfigMap i podden → ändring ger automatisk omstart.</a:t>
            </a:r>
            <a:endParaRPr lang="en-US" sz="1300" dirty="0"/>
          </a:p>
        </p:txBody>
      </p:sp>
      <p:sp>
        <p:nvSpPr>
          <p:cNvPr id="7" name="Shape 5"/>
          <p:cNvSpPr/>
          <p:nvPr/>
        </p:nvSpPr>
        <p:spPr>
          <a:xfrm>
            <a:off x="548640" y="4206240"/>
            <a:ext cx="3515258" cy="1005840"/>
          </a:xfrm>
          <a:prstGeom prst="roundRect">
            <a:avLst>
              <a:gd name="adj" fmla="val 5455"/>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8" name="Shape 6"/>
          <p:cNvSpPr/>
          <p:nvPr/>
        </p:nvSpPr>
        <p:spPr>
          <a:xfrm>
            <a:off x="749808" y="4370832"/>
            <a:ext cx="109728" cy="109728"/>
          </a:xfrm>
          <a:prstGeom prst="ellipse">
            <a:avLst/>
          </a:prstGeom>
          <a:solidFill>
            <a:srgbClr val="D64545"/>
          </a:solidFill>
          <a:ln w="12700">
            <a:solidFill>
              <a:srgbClr val="D64545"/>
            </a:solidFill>
            <a:prstDash val="solid"/>
          </a:ln>
        </p:spPr>
      </p:sp>
      <p:sp>
        <p:nvSpPr>
          <p:cNvPr id="9" name="Shape 7"/>
          <p:cNvSpPr/>
          <p:nvPr/>
        </p:nvSpPr>
        <p:spPr>
          <a:xfrm>
            <a:off x="932688" y="4370832"/>
            <a:ext cx="109728" cy="109728"/>
          </a:xfrm>
          <a:prstGeom prst="ellipse">
            <a:avLst/>
          </a:prstGeom>
          <a:solidFill>
            <a:srgbClr val="FFB020"/>
          </a:solidFill>
          <a:ln w="12700">
            <a:solidFill>
              <a:srgbClr val="FFB020"/>
            </a:solidFill>
            <a:prstDash val="solid"/>
          </a:ln>
        </p:spPr>
      </p:sp>
      <p:sp>
        <p:nvSpPr>
          <p:cNvPr id="10" name="Shape 8"/>
          <p:cNvSpPr/>
          <p:nvPr/>
        </p:nvSpPr>
        <p:spPr>
          <a:xfrm>
            <a:off x="1115568" y="4370832"/>
            <a:ext cx="109728" cy="109728"/>
          </a:xfrm>
          <a:prstGeom prst="ellipse">
            <a:avLst/>
          </a:prstGeom>
          <a:solidFill>
            <a:srgbClr val="3CB371"/>
          </a:solidFill>
          <a:ln w="12700">
            <a:solidFill>
              <a:srgbClr val="3CB371"/>
            </a:solidFill>
            <a:prstDash val="solid"/>
          </a:ln>
        </p:spPr>
      </p:sp>
      <p:sp>
        <p:nvSpPr>
          <p:cNvPr id="11" name="Text 9"/>
          <p:cNvSpPr txBox="1"/>
          <p:nvPr/>
        </p:nvSpPr>
        <p:spPr>
          <a:xfrm>
            <a:off x="777240" y="4663440"/>
            <a:ext cx="3058058" cy="411480"/>
          </a:xfrm>
          <a:prstGeom prst="rect">
            <a:avLst/>
          </a:prstGeom>
          <a:noFill/>
          <a:ln/>
        </p:spPr>
        <p:txBody>
          <a:bodyPr wrap="square" lIns="0" tIns="0" rIns="0" bIns="0" rtlCol="0" anchor="t"/>
          <a:lstStyle/>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checksum/secret: {{ include … | sha256sum }}</a:t>
            </a:r>
            <a:endParaRPr lang="en-US" sz="1050" dirty="0"/>
          </a:p>
        </p:txBody>
      </p:sp>
      <p:sp>
        <p:nvSpPr>
          <p:cNvPr id="12" name="Shape 10"/>
          <p:cNvSpPr/>
          <p:nvPr/>
        </p:nvSpPr>
        <p:spPr>
          <a:xfrm>
            <a:off x="4338218" y="1645920"/>
            <a:ext cx="3515258" cy="2377440"/>
          </a:xfrm>
          <a:prstGeom prst="roundRect">
            <a:avLst>
              <a:gd name="adj" fmla="val 2308"/>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3" name="Text 11"/>
          <p:cNvSpPr txBox="1"/>
          <p:nvPr/>
        </p:nvSpPr>
        <p:spPr>
          <a:xfrm>
            <a:off x="4539386" y="1847088"/>
            <a:ext cx="3112922" cy="320040"/>
          </a:xfrm>
          <a:prstGeom prst="rect">
            <a:avLst/>
          </a:prstGeom>
          <a:noFill/>
          <a:ln/>
        </p:spPr>
        <p:txBody>
          <a:bodyPr wrap="square" lIns="0" tIns="0" rIns="0" bIns="0" rtlCol="0" anchor="t"/>
          <a:lstStyle/>
          <a:p>
            <a:pPr indent="0" marL="0">
              <a:buNone/>
            </a:pPr>
            <a:r>
              <a:rPr lang="en-US" sz="1600" b="1" dirty="0">
                <a:solidFill>
                  <a:srgbClr val="16202B"/>
                </a:solidFill>
                <a:latin typeface="Calibri" pitchFamily="34" charset="0"/>
                <a:ea typeface="Calibri" pitchFamily="34" charset="-122"/>
                <a:cs typeface="Calibri" pitchFamily="34" charset="-120"/>
              </a:rPr>
              <a:t>immutable: true</a:t>
            </a:r>
            <a:endParaRPr lang="en-US" sz="1600" dirty="0"/>
          </a:p>
        </p:txBody>
      </p:sp>
      <p:sp>
        <p:nvSpPr>
          <p:cNvPr id="14" name="Text 12"/>
          <p:cNvSpPr txBox="1"/>
          <p:nvPr/>
        </p:nvSpPr>
        <p:spPr>
          <a:xfrm>
            <a:off x="4539386" y="2231136"/>
            <a:ext cx="3112922" cy="163677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ConfigMap som inte kan ändras. Snabbare, säkrare - ny version får nytt namn.</a:t>
            </a:r>
            <a:endParaRPr lang="en-US" sz="1300" dirty="0"/>
          </a:p>
        </p:txBody>
      </p:sp>
      <p:sp>
        <p:nvSpPr>
          <p:cNvPr id="15" name="Shape 13"/>
          <p:cNvSpPr/>
          <p:nvPr/>
        </p:nvSpPr>
        <p:spPr>
          <a:xfrm>
            <a:off x="4338218" y="4206240"/>
            <a:ext cx="3515258" cy="1005840"/>
          </a:xfrm>
          <a:prstGeom prst="roundRect">
            <a:avLst>
              <a:gd name="adj" fmla="val 5455"/>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16" name="Shape 14"/>
          <p:cNvSpPr/>
          <p:nvPr/>
        </p:nvSpPr>
        <p:spPr>
          <a:xfrm>
            <a:off x="4539386" y="4370832"/>
            <a:ext cx="109728" cy="109728"/>
          </a:xfrm>
          <a:prstGeom prst="ellipse">
            <a:avLst/>
          </a:prstGeom>
          <a:solidFill>
            <a:srgbClr val="D64545"/>
          </a:solidFill>
          <a:ln w="12700">
            <a:solidFill>
              <a:srgbClr val="D64545"/>
            </a:solidFill>
            <a:prstDash val="solid"/>
          </a:ln>
        </p:spPr>
      </p:sp>
      <p:sp>
        <p:nvSpPr>
          <p:cNvPr id="17" name="Shape 15"/>
          <p:cNvSpPr/>
          <p:nvPr/>
        </p:nvSpPr>
        <p:spPr>
          <a:xfrm>
            <a:off x="4722266" y="4370832"/>
            <a:ext cx="109728" cy="109728"/>
          </a:xfrm>
          <a:prstGeom prst="ellipse">
            <a:avLst/>
          </a:prstGeom>
          <a:solidFill>
            <a:srgbClr val="FFB020"/>
          </a:solidFill>
          <a:ln w="12700">
            <a:solidFill>
              <a:srgbClr val="FFB020"/>
            </a:solidFill>
            <a:prstDash val="solid"/>
          </a:ln>
        </p:spPr>
      </p:sp>
      <p:sp>
        <p:nvSpPr>
          <p:cNvPr id="18" name="Shape 16"/>
          <p:cNvSpPr/>
          <p:nvPr/>
        </p:nvSpPr>
        <p:spPr>
          <a:xfrm>
            <a:off x="4905146" y="4370832"/>
            <a:ext cx="109728" cy="109728"/>
          </a:xfrm>
          <a:prstGeom prst="ellipse">
            <a:avLst/>
          </a:prstGeom>
          <a:solidFill>
            <a:srgbClr val="3CB371"/>
          </a:solidFill>
          <a:ln w="12700">
            <a:solidFill>
              <a:srgbClr val="3CB371"/>
            </a:solidFill>
            <a:prstDash val="solid"/>
          </a:ln>
        </p:spPr>
      </p:sp>
      <p:sp>
        <p:nvSpPr>
          <p:cNvPr id="19" name="Text 17"/>
          <p:cNvSpPr txBox="1"/>
          <p:nvPr/>
        </p:nvSpPr>
        <p:spPr>
          <a:xfrm>
            <a:off x="4566818" y="4663440"/>
            <a:ext cx="3058058" cy="411480"/>
          </a:xfrm>
          <a:prstGeom prst="rect">
            <a:avLst/>
          </a:prstGeom>
          <a:noFill/>
          <a:ln/>
        </p:spPr>
        <p:txBody>
          <a:bodyPr wrap="square" lIns="0" tIns="0" rIns="0" bIns="0" rtlCol="0" anchor="t"/>
          <a:lstStyle/>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immutable: true</a:t>
            </a:r>
            <a:endParaRPr lang="en-US" sz="1050" dirty="0"/>
          </a:p>
        </p:txBody>
      </p:sp>
      <p:sp>
        <p:nvSpPr>
          <p:cNvPr id="20" name="Shape 18"/>
          <p:cNvSpPr/>
          <p:nvPr/>
        </p:nvSpPr>
        <p:spPr>
          <a:xfrm>
            <a:off x="8127797" y="1645920"/>
            <a:ext cx="3515258" cy="2377440"/>
          </a:xfrm>
          <a:prstGeom prst="roundRect">
            <a:avLst>
              <a:gd name="adj" fmla="val 2308"/>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21" name="Text 19"/>
          <p:cNvSpPr txBox="1"/>
          <p:nvPr/>
        </p:nvSpPr>
        <p:spPr>
          <a:xfrm>
            <a:off x="8328965" y="1847088"/>
            <a:ext cx="3112922" cy="320040"/>
          </a:xfrm>
          <a:prstGeom prst="rect">
            <a:avLst/>
          </a:prstGeom>
          <a:noFill/>
          <a:ln/>
        </p:spPr>
        <p:txBody>
          <a:bodyPr wrap="square" lIns="0" tIns="0" rIns="0" bIns="0" rtlCol="0" anchor="t"/>
          <a:lstStyle/>
          <a:p>
            <a:pPr indent="0" marL="0">
              <a:buNone/>
            </a:pPr>
            <a:r>
              <a:rPr lang="en-US" sz="1600" b="1" dirty="0">
                <a:solidFill>
                  <a:srgbClr val="16202B"/>
                </a:solidFill>
                <a:latin typeface="Calibri" pitchFamily="34" charset="0"/>
                <a:ea typeface="Calibri" pitchFamily="34" charset="-122"/>
                <a:cs typeface="Calibri" pitchFamily="34" charset="-120"/>
              </a:rPr>
              <a:t>subPath</a:t>
            </a:r>
            <a:endParaRPr lang="en-US" sz="1600" dirty="0"/>
          </a:p>
        </p:txBody>
      </p:sp>
      <p:sp>
        <p:nvSpPr>
          <p:cNvPr id="22" name="Text 20"/>
          <p:cNvSpPr txBox="1"/>
          <p:nvPr/>
        </p:nvSpPr>
        <p:spPr>
          <a:xfrm>
            <a:off x="8328965" y="2231136"/>
            <a:ext cx="3112922" cy="163677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Montera EN fil utan att dölja resten av katalogen. Uppdateras inte automatiskt!</a:t>
            </a:r>
            <a:endParaRPr lang="en-US" sz="1300" dirty="0"/>
          </a:p>
        </p:txBody>
      </p:sp>
      <p:sp>
        <p:nvSpPr>
          <p:cNvPr id="23" name="Shape 21"/>
          <p:cNvSpPr/>
          <p:nvPr/>
        </p:nvSpPr>
        <p:spPr>
          <a:xfrm>
            <a:off x="8127797" y="4206240"/>
            <a:ext cx="3515258" cy="1005840"/>
          </a:xfrm>
          <a:prstGeom prst="roundRect">
            <a:avLst>
              <a:gd name="adj" fmla="val 5455"/>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24" name="Shape 22"/>
          <p:cNvSpPr/>
          <p:nvPr/>
        </p:nvSpPr>
        <p:spPr>
          <a:xfrm>
            <a:off x="8328965" y="4370832"/>
            <a:ext cx="109728" cy="109728"/>
          </a:xfrm>
          <a:prstGeom prst="ellipse">
            <a:avLst/>
          </a:prstGeom>
          <a:solidFill>
            <a:srgbClr val="D64545"/>
          </a:solidFill>
          <a:ln w="12700">
            <a:solidFill>
              <a:srgbClr val="D64545"/>
            </a:solidFill>
            <a:prstDash val="solid"/>
          </a:ln>
        </p:spPr>
      </p:sp>
      <p:sp>
        <p:nvSpPr>
          <p:cNvPr id="25" name="Shape 23"/>
          <p:cNvSpPr/>
          <p:nvPr/>
        </p:nvSpPr>
        <p:spPr>
          <a:xfrm>
            <a:off x="8511845" y="4370832"/>
            <a:ext cx="109728" cy="109728"/>
          </a:xfrm>
          <a:prstGeom prst="ellipse">
            <a:avLst/>
          </a:prstGeom>
          <a:solidFill>
            <a:srgbClr val="FFB020"/>
          </a:solidFill>
          <a:ln w="12700">
            <a:solidFill>
              <a:srgbClr val="FFB020"/>
            </a:solidFill>
            <a:prstDash val="solid"/>
          </a:ln>
        </p:spPr>
      </p:sp>
      <p:sp>
        <p:nvSpPr>
          <p:cNvPr id="26" name="Shape 24"/>
          <p:cNvSpPr/>
          <p:nvPr/>
        </p:nvSpPr>
        <p:spPr>
          <a:xfrm>
            <a:off x="8694725" y="4370832"/>
            <a:ext cx="109728" cy="109728"/>
          </a:xfrm>
          <a:prstGeom prst="ellipse">
            <a:avLst/>
          </a:prstGeom>
          <a:solidFill>
            <a:srgbClr val="3CB371"/>
          </a:solidFill>
          <a:ln w="12700">
            <a:solidFill>
              <a:srgbClr val="3CB371"/>
            </a:solidFill>
            <a:prstDash val="solid"/>
          </a:ln>
        </p:spPr>
      </p:sp>
      <p:sp>
        <p:nvSpPr>
          <p:cNvPr id="27" name="Text 25"/>
          <p:cNvSpPr txBox="1"/>
          <p:nvPr/>
        </p:nvSpPr>
        <p:spPr>
          <a:xfrm>
            <a:off x="8356397" y="4663440"/>
            <a:ext cx="3058058" cy="411480"/>
          </a:xfrm>
          <a:prstGeom prst="rect">
            <a:avLst/>
          </a:prstGeom>
          <a:noFill/>
          <a:ln/>
        </p:spPr>
        <p:txBody>
          <a:bodyPr wrap="square" lIns="0" tIns="0" rIns="0" bIns="0" rtlCol="0" anchor="t"/>
          <a:lstStyle/>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subPath: appsettings.json</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F33"/>
        </a:solidFill>
      </p:bgPr>
    </p:bg>
    <p:spTree>
      <p:nvGrpSpPr>
        <p:cNvPr id="1" name=""/>
        <p:cNvGrpSpPr/>
        <p:nvPr/>
      </p:nvGrpSpPr>
      <p:grpSpPr>
        <a:xfrm>
          <a:off x="0" y="0"/>
          <a:ext cx="0" cy="0"/>
          <a:chOff x="0" y="0"/>
          <a:chExt cx="0" cy="0"/>
        </a:xfrm>
      </p:grpSpPr>
      <p:sp>
        <p:nvSpPr>
          <p:cNvPr id="2" name="Text 0"/>
          <p:cNvSpPr txBox="1"/>
          <p:nvPr/>
        </p:nvSpPr>
        <p:spPr>
          <a:xfrm>
            <a:off x="502920" y="1188720"/>
            <a:ext cx="4572000" cy="1920240"/>
          </a:xfrm>
          <a:prstGeom prst="rect">
            <a:avLst/>
          </a:prstGeom>
          <a:noFill/>
          <a:ln/>
        </p:spPr>
        <p:txBody>
          <a:bodyPr wrap="square" lIns="0" tIns="0" rIns="0" bIns="0" rtlCol="0" anchor="ctr"/>
          <a:lstStyle/>
          <a:p>
            <a:pPr indent="0" marL="0">
              <a:buNone/>
            </a:pPr>
            <a:r>
              <a:rPr lang="en-US" sz="15000" b="1" dirty="0">
                <a:solidFill>
                  <a:srgbClr val="16294A"/>
                </a:solidFill>
                <a:latin typeface="Calibri" pitchFamily="34" charset="0"/>
                <a:ea typeface="Calibri" pitchFamily="34" charset="-122"/>
                <a:cs typeface="Calibri" pitchFamily="34" charset="-120"/>
              </a:rPr>
              <a:t>02</a:t>
            </a:r>
            <a:endParaRPr lang="en-US" sz="15000" dirty="0"/>
          </a:p>
        </p:txBody>
      </p:sp>
      <p:sp>
        <p:nvSpPr>
          <p:cNvPr id="3" name="Text 1"/>
          <p:cNvSpPr txBox="1"/>
          <p:nvPr/>
        </p:nvSpPr>
        <p:spPr>
          <a:xfrm>
            <a:off x="548640" y="3063240"/>
            <a:ext cx="11094415" cy="822960"/>
          </a:xfrm>
          <a:prstGeom prst="rect">
            <a:avLst/>
          </a:prstGeom>
          <a:noFill/>
          <a:ln/>
        </p:spPr>
        <p:txBody>
          <a:bodyPr wrap="square" lIns="0" tIns="0" rIns="0" bIns="0" rtlCol="0" anchor="ctr"/>
          <a:lstStyle/>
          <a:p>
            <a:pPr indent="0" marL="0">
              <a:buNone/>
            </a:pPr>
            <a:r>
              <a:rPr lang="en-US" sz="5200" b="1" dirty="0">
                <a:solidFill>
                  <a:srgbClr val="F5F7FA"/>
                </a:solidFill>
                <a:latin typeface="Calibri" pitchFamily="34" charset="0"/>
                <a:ea typeface="Calibri" pitchFamily="34" charset="-122"/>
                <a:cs typeface="Calibri" pitchFamily="34" charset="-120"/>
              </a:rPr>
              <a:t>Secrets</a:t>
            </a:r>
            <a:endParaRPr lang="en-US" sz="5200" dirty="0"/>
          </a:p>
        </p:txBody>
      </p:sp>
      <p:sp>
        <p:nvSpPr>
          <p:cNvPr id="4" name="Text 2"/>
          <p:cNvSpPr txBox="1"/>
          <p:nvPr/>
        </p:nvSpPr>
        <p:spPr>
          <a:xfrm>
            <a:off x="548640" y="3977640"/>
            <a:ext cx="9144000" cy="457200"/>
          </a:xfrm>
          <a:prstGeom prst="rect">
            <a:avLst/>
          </a:prstGeom>
          <a:noFill/>
          <a:ln/>
        </p:spPr>
        <p:txBody>
          <a:bodyPr wrap="square" lIns="0" tIns="0" rIns="0" bIns="0" rtlCol="0" anchor="t"/>
          <a:lstStyle/>
          <a:p>
            <a:pPr indent="0" marL="0">
              <a:lnSpc>
                <a:spcPct val="120000"/>
              </a:lnSpc>
              <a:buNone/>
            </a:pPr>
            <a:r>
              <a:rPr lang="en-US" sz="1800" dirty="0">
                <a:solidFill>
                  <a:srgbClr val="B9C4D1"/>
                </a:solidFill>
                <a:latin typeface="Arial" pitchFamily="34" charset="0"/>
                <a:ea typeface="Arial" pitchFamily="34" charset="-122"/>
                <a:cs typeface="Arial" pitchFamily="34" charset="-120"/>
              </a:rPr>
              <a:t>Base64 är inte kryptering</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F33"/>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7C9CFF"/>
                </a:solidFill>
                <a:latin typeface="Arial" pitchFamily="34" charset="0"/>
                <a:ea typeface="Arial" pitchFamily="34" charset="-122"/>
                <a:cs typeface="Arial" pitchFamily="34" charset="-120"/>
              </a:rPr>
              <a:t>SECRETS · SANNINGEN</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F5F7FA"/>
                </a:solidFill>
                <a:latin typeface="Calibri" pitchFamily="34" charset="0"/>
                <a:ea typeface="Calibri" pitchFamily="34" charset="-122"/>
                <a:cs typeface="Calibri" pitchFamily="34" charset="-120"/>
              </a:rPr>
              <a:t>En Secret är kodad - inte krypterad</a:t>
            </a:r>
            <a:endParaRPr lang="en-US" sz="3000" dirty="0"/>
          </a:p>
        </p:txBody>
      </p:sp>
      <p:sp>
        <p:nvSpPr>
          <p:cNvPr id="4" name="Shape 2"/>
          <p:cNvSpPr/>
          <p:nvPr/>
        </p:nvSpPr>
        <p:spPr>
          <a:xfrm>
            <a:off x="548640" y="1828800"/>
            <a:ext cx="2926080" cy="914400"/>
          </a:xfrm>
          <a:prstGeom prst="roundRect">
            <a:avLst>
              <a:gd name="adj" fmla="val 6000"/>
            </a:avLst>
          </a:prstGeom>
          <a:solidFill>
            <a:srgbClr val="16294A"/>
          </a:solidFill>
          <a:ln w="12700">
            <a:solidFill>
              <a:srgbClr val="16294A"/>
            </a:solidFill>
            <a:prstDash val="solid"/>
          </a:ln>
        </p:spPr>
      </p:sp>
      <p:sp>
        <p:nvSpPr>
          <p:cNvPr id="5" name="Text 3"/>
          <p:cNvSpPr txBox="1"/>
          <p:nvPr/>
        </p:nvSpPr>
        <p:spPr>
          <a:xfrm>
            <a:off x="640080" y="1828800"/>
            <a:ext cx="2743200" cy="914400"/>
          </a:xfrm>
          <a:prstGeom prst="rect">
            <a:avLst/>
          </a:prstGeom>
          <a:noFill/>
          <a:ln/>
        </p:spPr>
        <p:txBody>
          <a:bodyPr wrap="square" lIns="0" tIns="0" rIns="0" bIns="0" rtlCol="0" anchor="ctr"/>
          <a:lstStyle/>
          <a:p>
            <a:pPr algn="ctr" indent="0" marL="0">
              <a:buNone/>
            </a:pPr>
            <a:r>
              <a:rPr lang="en-US" sz="2200" b="1" dirty="0">
                <a:solidFill>
                  <a:srgbClr val="F5F7FA"/>
                </a:solidFill>
                <a:latin typeface="Courier New" pitchFamily="34" charset="0"/>
                <a:ea typeface="Courier New" pitchFamily="34" charset="-122"/>
                <a:cs typeface="Courier New" pitchFamily="34" charset="-120"/>
              </a:rPr>
              <a:t>S3cret!</a:t>
            </a:r>
            <a:endParaRPr lang="en-US" sz="2200" dirty="0"/>
          </a:p>
        </p:txBody>
      </p:sp>
      <p:sp>
        <p:nvSpPr>
          <p:cNvPr id="6" name="Shape 4"/>
          <p:cNvSpPr/>
          <p:nvPr/>
        </p:nvSpPr>
        <p:spPr>
          <a:xfrm>
            <a:off x="4626864" y="1828800"/>
            <a:ext cx="2926080" cy="914400"/>
          </a:xfrm>
          <a:prstGeom prst="roundRect">
            <a:avLst>
              <a:gd name="adj" fmla="val 6000"/>
            </a:avLst>
          </a:prstGeom>
          <a:solidFill>
            <a:srgbClr val="3762FF"/>
          </a:solidFill>
          <a:ln w="12700">
            <a:solidFill>
              <a:srgbClr val="3762FF"/>
            </a:solidFill>
            <a:prstDash val="solid"/>
          </a:ln>
        </p:spPr>
      </p:sp>
      <p:sp>
        <p:nvSpPr>
          <p:cNvPr id="7" name="Text 5"/>
          <p:cNvSpPr txBox="1"/>
          <p:nvPr/>
        </p:nvSpPr>
        <p:spPr>
          <a:xfrm>
            <a:off x="4718304" y="1828800"/>
            <a:ext cx="2743200" cy="914400"/>
          </a:xfrm>
          <a:prstGeom prst="rect">
            <a:avLst/>
          </a:prstGeom>
          <a:no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UzNjcmV0IQ==</a:t>
            </a:r>
            <a:endParaRPr lang="en-US" sz="2000" dirty="0"/>
          </a:p>
        </p:txBody>
      </p:sp>
      <p:sp>
        <p:nvSpPr>
          <p:cNvPr id="8" name="Shape 6"/>
          <p:cNvSpPr/>
          <p:nvPr/>
        </p:nvSpPr>
        <p:spPr>
          <a:xfrm>
            <a:off x="8705088" y="1828800"/>
            <a:ext cx="2926080" cy="914400"/>
          </a:xfrm>
          <a:prstGeom prst="roundRect">
            <a:avLst>
              <a:gd name="adj" fmla="val 6000"/>
            </a:avLst>
          </a:prstGeom>
          <a:solidFill>
            <a:srgbClr val="16294A"/>
          </a:solidFill>
          <a:ln w="12700">
            <a:solidFill>
              <a:srgbClr val="16294A"/>
            </a:solidFill>
            <a:prstDash val="solid"/>
          </a:ln>
        </p:spPr>
      </p:sp>
      <p:sp>
        <p:nvSpPr>
          <p:cNvPr id="9" name="Text 7"/>
          <p:cNvSpPr txBox="1"/>
          <p:nvPr/>
        </p:nvSpPr>
        <p:spPr>
          <a:xfrm>
            <a:off x="8796528" y="1828800"/>
            <a:ext cx="2743200" cy="914400"/>
          </a:xfrm>
          <a:prstGeom prst="rect">
            <a:avLst/>
          </a:prstGeom>
          <a:noFill/>
          <a:ln/>
        </p:spPr>
        <p:txBody>
          <a:bodyPr wrap="square" lIns="0" tIns="0" rIns="0" bIns="0" rtlCol="0" anchor="ctr"/>
          <a:lstStyle/>
          <a:p>
            <a:pPr algn="ctr" indent="0" marL="0">
              <a:buNone/>
            </a:pPr>
            <a:r>
              <a:rPr lang="en-US" sz="2200" b="1" dirty="0">
                <a:solidFill>
                  <a:srgbClr val="F5F7FA"/>
                </a:solidFill>
                <a:latin typeface="Courier New" pitchFamily="34" charset="0"/>
                <a:ea typeface="Courier New" pitchFamily="34" charset="-122"/>
                <a:cs typeface="Courier New" pitchFamily="34" charset="-120"/>
              </a:rPr>
              <a:t>S3cret!</a:t>
            </a:r>
            <a:endParaRPr lang="en-US" sz="2200" dirty="0"/>
          </a:p>
        </p:txBody>
      </p:sp>
      <p:sp>
        <p:nvSpPr>
          <p:cNvPr id="10" name="Shape 8"/>
          <p:cNvSpPr/>
          <p:nvPr/>
        </p:nvSpPr>
        <p:spPr>
          <a:xfrm>
            <a:off x="3520440" y="2286000"/>
            <a:ext cx="1060704" cy="0"/>
          </a:xfrm>
          <a:prstGeom prst="line">
            <a:avLst/>
          </a:prstGeom>
          <a:noFill/>
          <a:ln w="19050">
            <a:solidFill>
              <a:srgbClr val="7C9CFF"/>
            </a:solidFill>
            <a:prstDash val="solid"/>
            <a:tailEnd type="triangle"/>
          </a:ln>
        </p:spPr>
      </p:sp>
      <p:sp>
        <p:nvSpPr>
          <p:cNvPr id="11" name="Shape 9"/>
          <p:cNvSpPr/>
          <p:nvPr/>
        </p:nvSpPr>
        <p:spPr>
          <a:xfrm>
            <a:off x="7598664" y="2286000"/>
            <a:ext cx="1060704" cy="0"/>
          </a:xfrm>
          <a:prstGeom prst="line">
            <a:avLst/>
          </a:prstGeom>
          <a:noFill/>
          <a:ln w="19050">
            <a:solidFill>
              <a:srgbClr val="7C9CFF"/>
            </a:solidFill>
            <a:prstDash val="solid"/>
            <a:tailEnd type="triangle"/>
          </a:ln>
        </p:spPr>
      </p:sp>
      <p:sp>
        <p:nvSpPr>
          <p:cNvPr id="12" name="Text 10"/>
          <p:cNvSpPr txBox="1"/>
          <p:nvPr/>
        </p:nvSpPr>
        <p:spPr>
          <a:xfrm>
            <a:off x="3566160" y="1874520"/>
            <a:ext cx="1280160" cy="274320"/>
          </a:xfrm>
          <a:prstGeom prst="rect">
            <a:avLst/>
          </a:prstGeom>
          <a:noFill/>
          <a:ln/>
        </p:spPr>
        <p:txBody>
          <a:bodyPr wrap="square" lIns="0" tIns="0" rIns="0" bIns="0" rtlCol="0" anchor="ctr"/>
          <a:lstStyle/>
          <a:p>
            <a:pPr indent="0" marL="0">
              <a:buNone/>
            </a:pPr>
            <a:r>
              <a:rPr lang="en-US" sz="1100" dirty="0">
                <a:solidFill>
                  <a:srgbClr val="7C9CFF"/>
                </a:solidFill>
                <a:latin typeface="Courier New" pitchFamily="34" charset="0"/>
                <a:ea typeface="Courier New" pitchFamily="34" charset="-122"/>
                <a:cs typeface="Courier New" pitchFamily="34" charset="-120"/>
              </a:rPr>
              <a:t>base64</a:t>
            </a:r>
            <a:endParaRPr lang="en-US" sz="1100" dirty="0"/>
          </a:p>
        </p:txBody>
      </p:sp>
      <p:sp>
        <p:nvSpPr>
          <p:cNvPr id="13" name="Text 11"/>
          <p:cNvSpPr txBox="1"/>
          <p:nvPr/>
        </p:nvSpPr>
        <p:spPr>
          <a:xfrm>
            <a:off x="7635240" y="1874520"/>
            <a:ext cx="1097280" cy="274320"/>
          </a:xfrm>
          <a:prstGeom prst="rect">
            <a:avLst/>
          </a:prstGeom>
          <a:noFill/>
          <a:ln/>
        </p:spPr>
        <p:txBody>
          <a:bodyPr wrap="square" lIns="0" tIns="0" rIns="0" bIns="0" rtlCol="0" anchor="ctr"/>
          <a:lstStyle/>
          <a:p>
            <a:pPr indent="0" marL="0">
              <a:buNone/>
            </a:pPr>
            <a:r>
              <a:rPr lang="en-US" sz="1100" dirty="0">
                <a:solidFill>
                  <a:srgbClr val="7C9CFF"/>
                </a:solidFill>
                <a:latin typeface="Courier New" pitchFamily="34" charset="0"/>
                <a:ea typeface="Courier New" pitchFamily="34" charset="-122"/>
                <a:cs typeface="Courier New" pitchFamily="34" charset="-120"/>
              </a:rPr>
              <a:t>base64 -d</a:t>
            </a:r>
            <a:endParaRPr lang="en-US" sz="1100" dirty="0"/>
          </a:p>
        </p:txBody>
      </p:sp>
      <p:sp>
        <p:nvSpPr>
          <p:cNvPr id="14" name="Shape 12"/>
          <p:cNvSpPr/>
          <p:nvPr/>
        </p:nvSpPr>
        <p:spPr>
          <a:xfrm>
            <a:off x="548640" y="3291840"/>
            <a:ext cx="5455768" cy="1828800"/>
          </a:xfrm>
          <a:prstGeom prst="roundRect">
            <a:avLst>
              <a:gd name="adj" fmla="val 3000"/>
            </a:avLst>
          </a:prstGeom>
          <a:solidFill>
            <a:srgbClr val="16294A"/>
          </a:solidFill>
          <a:ln w="12700">
            <a:solidFill>
              <a:srgbClr val="16294A"/>
            </a:solidFill>
            <a:prstDash val="solid"/>
          </a:ln>
        </p:spPr>
      </p:sp>
      <p:sp>
        <p:nvSpPr>
          <p:cNvPr id="15" name="Text 13"/>
          <p:cNvSpPr txBox="1"/>
          <p:nvPr/>
        </p:nvSpPr>
        <p:spPr>
          <a:xfrm>
            <a:off x="749808" y="3493008"/>
            <a:ext cx="5053432" cy="320040"/>
          </a:xfrm>
          <a:prstGeom prst="rect">
            <a:avLst/>
          </a:prstGeom>
          <a:noFill/>
          <a:ln/>
        </p:spPr>
        <p:txBody>
          <a:bodyPr wrap="square" lIns="0" tIns="0" rIns="0" bIns="0" rtlCol="0" anchor="t"/>
          <a:lstStyle/>
          <a:p>
            <a:pPr indent="0" marL="0">
              <a:buNone/>
            </a:pPr>
            <a:r>
              <a:rPr lang="en-US" sz="1700" b="1" dirty="0">
                <a:solidFill>
                  <a:srgbClr val="F5F7FA"/>
                </a:solidFill>
                <a:latin typeface="Calibri" pitchFamily="34" charset="0"/>
                <a:ea typeface="Calibri" pitchFamily="34" charset="-122"/>
                <a:cs typeface="Calibri" pitchFamily="34" charset="-120"/>
              </a:rPr>
              <a:t>Vad Secrets GER</a:t>
            </a:r>
            <a:endParaRPr lang="en-US" sz="1700" dirty="0"/>
          </a:p>
        </p:txBody>
      </p:sp>
      <p:sp>
        <p:nvSpPr>
          <p:cNvPr id="16" name="Text 14"/>
          <p:cNvSpPr txBox="1"/>
          <p:nvPr/>
        </p:nvSpPr>
        <p:spPr>
          <a:xfrm>
            <a:off x="749808" y="3877056"/>
            <a:ext cx="5053432" cy="1088136"/>
          </a:xfrm>
          <a:prstGeom prst="rect">
            <a:avLst/>
          </a:prstGeom>
          <a:noFill/>
          <a:ln/>
        </p:spPr>
        <p:txBody>
          <a:bodyPr wrap="square" lIns="0" tIns="0" rIns="0" bIns="0" rtlCol="0" anchor="t"/>
          <a:lstStyle/>
          <a:p>
            <a:pPr indent="0" marL="0">
              <a:lnSpc>
                <a:spcPct val="115000"/>
              </a:lnSpc>
              <a:buNone/>
            </a:pPr>
            <a:r>
              <a:rPr lang="en-US" sz="1400" dirty="0">
                <a:solidFill>
                  <a:srgbClr val="B9C4D1"/>
                </a:solidFill>
                <a:latin typeface="Arial" pitchFamily="34" charset="0"/>
                <a:ea typeface="Arial" pitchFamily="34" charset="-122"/>
                <a:cs typeface="Arial" pitchFamily="34" charset="-120"/>
              </a:rPr>
              <a:t>Egen behörighet (RBAC), montering i minnet (tmpfs), döljs i describe, kan krypteras i etcd.</a:t>
            </a:r>
            <a:endParaRPr lang="en-US" sz="1400" dirty="0"/>
          </a:p>
        </p:txBody>
      </p:sp>
      <p:sp>
        <p:nvSpPr>
          <p:cNvPr id="17" name="Shape 15"/>
          <p:cNvSpPr/>
          <p:nvPr/>
        </p:nvSpPr>
        <p:spPr>
          <a:xfrm>
            <a:off x="6187288" y="3291840"/>
            <a:ext cx="5455768" cy="1828800"/>
          </a:xfrm>
          <a:prstGeom prst="roundRect">
            <a:avLst>
              <a:gd name="adj" fmla="val 3000"/>
            </a:avLst>
          </a:prstGeom>
          <a:solidFill>
            <a:srgbClr val="3762FF"/>
          </a:solidFill>
          <a:ln w="12700">
            <a:solidFill>
              <a:srgbClr val="3762FF"/>
            </a:solidFill>
            <a:prstDash val="solid"/>
          </a:ln>
        </p:spPr>
      </p:sp>
      <p:sp>
        <p:nvSpPr>
          <p:cNvPr id="18" name="Text 16"/>
          <p:cNvSpPr txBox="1"/>
          <p:nvPr/>
        </p:nvSpPr>
        <p:spPr>
          <a:xfrm>
            <a:off x="6388456" y="3493008"/>
            <a:ext cx="5053432" cy="32004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Vad Secrets INTE ger</a:t>
            </a:r>
            <a:endParaRPr lang="en-US" sz="1700" dirty="0"/>
          </a:p>
        </p:txBody>
      </p:sp>
      <p:sp>
        <p:nvSpPr>
          <p:cNvPr id="19" name="Text 17"/>
          <p:cNvSpPr txBox="1"/>
          <p:nvPr/>
        </p:nvSpPr>
        <p:spPr>
          <a:xfrm>
            <a:off x="6388456" y="3877056"/>
            <a:ext cx="5053432" cy="1088136"/>
          </a:xfrm>
          <a:prstGeom prst="rect">
            <a:avLst/>
          </a:prstGeom>
          <a:noFill/>
          <a:ln/>
        </p:spPr>
        <p:txBody>
          <a:bodyPr wrap="square" lIns="0" tIns="0" rIns="0" bIns="0" rtlCol="0" anchor="t"/>
          <a:lstStyle/>
          <a:p>
            <a:pPr indent="0" marL="0">
              <a:lnSpc>
                <a:spcPct val="115000"/>
              </a:lnSpc>
              <a:buNone/>
            </a:pPr>
            <a:r>
              <a:rPr lang="en-US" sz="1400" dirty="0">
                <a:solidFill>
                  <a:srgbClr val="FFFFFF"/>
                </a:solidFill>
                <a:latin typeface="Arial" pitchFamily="34" charset="0"/>
                <a:ea typeface="Arial" pitchFamily="34" charset="-122"/>
                <a:cs typeface="Arial" pitchFamily="34" charset="-120"/>
              </a:rPr>
              <a:t>Kryptering i YAML-filen. Den som har filen - eller rätt att läsa Secrets - har lösenordet.</a:t>
            </a:r>
            <a:endParaRPr lang="en-US" sz="1400" dirty="0"/>
          </a:p>
        </p:txBody>
      </p:sp>
      <p:sp>
        <p:nvSpPr>
          <p:cNvPr id="20" name="Text 18"/>
          <p:cNvSpPr txBox="1"/>
          <p:nvPr/>
        </p:nvSpPr>
        <p:spPr>
          <a:xfrm>
            <a:off x="548640" y="5394960"/>
            <a:ext cx="11094415" cy="457200"/>
          </a:xfrm>
          <a:prstGeom prst="rect">
            <a:avLst/>
          </a:prstGeom>
          <a:noFill/>
          <a:ln/>
        </p:spPr>
        <p:txBody>
          <a:bodyPr wrap="square" lIns="0" tIns="0" rIns="0" bIns="0" rtlCol="0" anchor="t"/>
          <a:lstStyle/>
          <a:p>
            <a:pPr indent="0" marL="0">
              <a:lnSpc>
                <a:spcPct val="120000"/>
              </a:lnSpc>
              <a:buNone/>
            </a:pPr>
            <a:r>
              <a:rPr lang="en-US" sz="1500" dirty="0">
                <a:solidFill>
                  <a:srgbClr val="B9C4D1"/>
                </a:solidFill>
                <a:latin typeface="Arial" pitchFamily="34" charset="0"/>
                <a:ea typeface="Arial" pitchFamily="34" charset="-122"/>
                <a:cs typeface="Arial" pitchFamily="34" charset="-120"/>
              </a:rPr>
              <a:t>Därför går en vanlig Secret-YAML inte att checka in i Git.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LABB 2A · SKAPA OCH AVKODA</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Skapa en Secret - och läs den i klartext</a:t>
            </a:r>
            <a:endParaRPr lang="en-US" sz="3000" dirty="0"/>
          </a:p>
        </p:txBody>
      </p:sp>
      <p:sp>
        <p:nvSpPr>
          <p:cNvPr id="4" name="Shape 2"/>
          <p:cNvSpPr/>
          <p:nvPr/>
        </p:nvSpPr>
        <p:spPr>
          <a:xfrm>
            <a:off x="548640" y="1554480"/>
            <a:ext cx="7498080" cy="4343400"/>
          </a:xfrm>
          <a:prstGeom prst="roundRect">
            <a:avLst>
              <a:gd name="adj" fmla="val 1263"/>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5" name="Shape 3"/>
          <p:cNvSpPr/>
          <p:nvPr/>
        </p:nvSpPr>
        <p:spPr>
          <a:xfrm>
            <a:off x="749808" y="171907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1907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1907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45920"/>
            <a:ext cx="6492240" cy="256032"/>
          </a:xfrm>
          <a:prstGeom prst="rect">
            <a:avLst/>
          </a:prstGeom>
          <a:noFill/>
          <a:ln/>
        </p:spPr>
        <p:txBody>
          <a:bodyPr wrap="square" lIns="0" tIns="0" rIns="0" bIns="0" rtlCol="0" anchor="ctr"/>
          <a:lstStyle/>
          <a:p>
            <a:pPr indent="0" marL="0">
              <a:buNone/>
            </a:pPr>
            <a:r>
              <a:rPr lang="en-US" sz="1100" dirty="0">
                <a:solidFill>
                  <a:srgbClr val="B9C4D1"/>
                </a:solidFill>
                <a:latin typeface="Courier New" pitchFamily="34" charset="0"/>
                <a:ea typeface="Courier New" pitchFamily="34" charset="-122"/>
                <a:cs typeface="Courier New" pitchFamily="34" charset="-120"/>
              </a:rPr>
              <a:t>powershell</a:t>
            </a:r>
            <a:endParaRPr lang="en-US" sz="1100" dirty="0"/>
          </a:p>
        </p:txBody>
      </p:sp>
      <p:sp>
        <p:nvSpPr>
          <p:cNvPr id="9" name="Text 7"/>
          <p:cNvSpPr txBox="1"/>
          <p:nvPr/>
        </p:nvSpPr>
        <p:spPr>
          <a:xfrm>
            <a:off x="777240" y="2011680"/>
            <a:ext cx="7040880" cy="3749040"/>
          </a:xfrm>
          <a:prstGeom prst="rect">
            <a:avLst/>
          </a:prstGeom>
          <a:noFill/>
          <a:ln/>
        </p:spPr>
        <p:txBody>
          <a:bodyPr wrap="square" lIns="0" tIns="0" rIns="0" bIns="0" rtlCol="0" anchor="t"/>
          <a:lstStyle/>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create secret generic db-credentials -n lab `</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--from-literal=username=app --from-literal=password='S3cret!'</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describe secret db-credentials -n lab   # värdena döljs</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get secret db-credentials -n lab -o yaml # ... men inte här</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a:t>
            </a:r>
            <a:endParaRPr lang="en-US" sz="1150" dirty="0"/>
          </a:p>
          <a:p>
            <a:pPr indent="0" marL="0">
              <a:lnSpc>
                <a:spcPct val="110000"/>
              </a:lnSpc>
              <a:buNone/>
            </a:pPr>
            <a:r>
              <a:rPr lang="en-US" sz="1150" i="1" dirty="0">
                <a:solidFill>
                  <a:srgbClr val="B9C4D1"/>
                </a:solidFill>
                <a:latin typeface="Courier New" pitchFamily="34" charset="0"/>
                <a:ea typeface="Courier New" pitchFamily="34" charset="-122"/>
                <a:cs typeface="Courier New" pitchFamily="34" charset="-120"/>
              </a:rPr>
              <a:t># Avkoda ett värde - kubectl kan själv:</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get secret db-credentials -n lab `</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-o go-template='{{.data.password | base64decode}}'</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a:t>
            </a:r>
            <a:endParaRPr lang="en-US" sz="1150" dirty="0"/>
          </a:p>
          <a:p>
            <a:pPr indent="0" marL="0">
              <a:lnSpc>
                <a:spcPct val="110000"/>
              </a:lnSpc>
              <a:buNone/>
            </a:pPr>
            <a:r>
              <a:rPr lang="en-US" sz="1150" i="1" dirty="0">
                <a:solidFill>
                  <a:srgbClr val="B9C4D1"/>
                </a:solidFill>
                <a:latin typeface="Courier New" pitchFamily="34" charset="0"/>
                <a:ea typeface="Courier New" pitchFamily="34" charset="-122"/>
                <a:cs typeface="Courier New" pitchFamily="34" charset="-120"/>
              </a:rPr>
              <a:t># Samma sak i PowerShell:</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$b64 = kubectl get secret db-credentials -n lab -o jsonpath='{.data.password}'</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[Text.Encoding]::UTF8.GetString([Convert]::FromBase64String($b64))</a:t>
            </a:r>
            <a:endParaRPr lang="en-US" sz="1150" dirty="0"/>
          </a:p>
        </p:txBody>
      </p:sp>
      <p:sp>
        <p:nvSpPr>
          <p:cNvPr id="10" name="Shape 8"/>
          <p:cNvSpPr/>
          <p:nvPr/>
        </p:nvSpPr>
        <p:spPr>
          <a:xfrm>
            <a:off x="8412480" y="1554480"/>
            <a:ext cx="3230575" cy="1356360"/>
          </a:xfrm>
          <a:prstGeom prst="roundRect">
            <a:avLst>
              <a:gd name="adj" fmla="val 4045"/>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1" name="Text 9"/>
          <p:cNvSpPr txBox="1"/>
          <p:nvPr/>
        </p:nvSpPr>
        <p:spPr>
          <a:xfrm>
            <a:off x="8613648" y="1755648"/>
            <a:ext cx="2828239"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describe</a:t>
            </a:r>
            <a:endParaRPr lang="en-US" sz="1400" dirty="0"/>
          </a:p>
        </p:txBody>
      </p:sp>
      <p:sp>
        <p:nvSpPr>
          <p:cNvPr id="12" name="Text 10"/>
          <p:cNvSpPr txBox="1"/>
          <p:nvPr/>
        </p:nvSpPr>
        <p:spPr>
          <a:xfrm>
            <a:off x="8613648" y="213969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Visar bara storlek i byte.</a:t>
            </a:r>
            <a:endParaRPr lang="en-US" sz="1200" dirty="0"/>
          </a:p>
        </p:txBody>
      </p:sp>
      <p:sp>
        <p:nvSpPr>
          <p:cNvPr id="13" name="Shape 11"/>
          <p:cNvSpPr/>
          <p:nvPr/>
        </p:nvSpPr>
        <p:spPr>
          <a:xfrm>
            <a:off x="8412480" y="3048000"/>
            <a:ext cx="3230575" cy="1356360"/>
          </a:xfrm>
          <a:prstGeom prst="roundRect">
            <a:avLst>
              <a:gd name="adj" fmla="val 4045"/>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4" name="Text 12"/>
          <p:cNvSpPr txBox="1"/>
          <p:nvPr/>
        </p:nvSpPr>
        <p:spPr>
          <a:xfrm>
            <a:off x="8613648" y="3249168"/>
            <a:ext cx="2828239"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-o yaml</a:t>
            </a:r>
            <a:endParaRPr lang="en-US" sz="1400" dirty="0"/>
          </a:p>
        </p:txBody>
      </p:sp>
      <p:sp>
        <p:nvSpPr>
          <p:cNvPr id="15" name="Text 13"/>
          <p:cNvSpPr txBox="1"/>
          <p:nvPr/>
        </p:nvSpPr>
        <p:spPr>
          <a:xfrm>
            <a:off x="8613648" y="363321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Visar base64 - lika bra som klartext.</a:t>
            </a:r>
            <a:endParaRPr lang="en-US" sz="1200" dirty="0"/>
          </a:p>
        </p:txBody>
      </p:sp>
      <p:sp>
        <p:nvSpPr>
          <p:cNvPr id="16" name="Shape 14"/>
          <p:cNvSpPr/>
          <p:nvPr/>
        </p:nvSpPr>
        <p:spPr>
          <a:xfrm>
            <a:off x="8412480" y="4541520"/>
            <a:ext cx="3230575" cy="1356360"/>
          </a:xfrm>
          <a:prstGeom prst="roundRect">
            <a:avLst>
              <a:gd name="adj" fmla="val 4045"/>
            </a:avLst>
          </a:prstGeom>
          <a:solidFill>
            <a:srgbClr val="3762FF"/>
          </a:solidFill>
          <a:ln w="12700">
            <a:solidFill>
              <a:srgbClr val="3762FF"/>
            </a:solidFill>
            <a:prstDash val="solid"/>
          </a:ln>
        </p:spPr>
      </p:sp>
      <p:sp>
        <p:nvSpPr>
          <p:cNvPr id="17" name="Text 15"/>
          <p:cNvSpPr txBox="1"/>
          <p:nvPr/>
        </p:nvSpPr>
        <p:spPr>
          <a:xfrm>
            <a:off x="8613648" y="4742688"/>
            <a:ext cx="2828239"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base64decode</a:t>
            </a:r>
            <a:endParaRPr lang="en-US" sz="1400" dirty="0"/>
          </a:p>
        </p:txBody>
      </p:sp>
      <p:sp>
        <p:nvSpPr>
          <p:cNvPr id="18" name="Text 16"/>
          <p:cNvSpPr txBox="1"/>
          <p:nvPr/>
        </p:nvSpPr>
        <p:spPr>
          <a:xfrm>
            <a:off x="8613648" y="512673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Inbyggd funktion i kubectls go-template.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LABB 2B · SECRET I EN POD</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Som miljövariabel och som fil</a:t>
            </a:r>
            <a:endParaRPr lang="en-US" sz="3000" dirty="0"/>
          </a:p>
        </p:txBody>
      </p:sp>
      <p:sp>
        <p:nvSpPr>
          <p:cNvPr id="4" name="Shape 2"/>
          <p:cNvSpPr/>
          <p:nvPr/>
        </p:nvSpPr>
        <p:spPr>
          <a:xfrm>
            <a:off x="548640" y="1554480"/>
            <a:ext cx="7498080" cy="4343400"/>
          </a:xfrm>
          <a:prstGeom prst="roundRect">
            <a:avLst>
              <a:gd name="adj" fmla="val 1263"/>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5" name="Shape 3"/>
          <p:cNvSpPr/>
          <p:nvPr/>
        </p:nvSpPr>
        <p:spPr>
          <a:xfrm>
            <a:off x="749808" y="171907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1907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1907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45920"/>
            <a:ext cx="6492240" cy="256032"/>
          </a:xfrm>
          <a:prstGeom prst="rect">
            <a:avLst/>
          </a:prstGeom>
          <a:noFill/>
          <a:ln/>
        </p:spPr>
        <p:txBody>
          <a:bodyPr wrap="square" lIns="0" tIns="0" rIns="0" bIns="0" rtlCol="0" anchor="ctr"/>
          <a:lstStyle/>
          <a:p>
            <a:pPr indent="0" marL="0">
              <a:buNone/>
            </a:pPr>
            <a:r>
              <a:rPr lang="en-US" sz="1100" dirty="0">
                <a:solidFill>
                  <a:srgbClr val="B9C4D1"/>
                </a:solidFill>
                <a:latin typeface="Courier New" pitchFamily="34" charset="0"/>
                <a:ea typeface="Courier New" pitchFamily="34" charset="-122"/>
                <a:cs typeface="Courier New" pitchFamily="34" charset="-120"/>
              </a:rPr>
              <a:t>powershell</a:t>
            </a:r>
            <a:endParaRPr lang="en-US" sz="1100" dirty="0"/>
          </a:p>
        </p:txBody>
      </p:sp>
      <p:sp>
        <p:nvSpPr>
          <p:cNvPr id="9" name="Text 7"/>
          <p:cNvSpPr txBox="1"/>
          <p:nvPr/>
        </p:nvSpPr>
        <p:spPr>
          <a:xfrm>
            <a:off x="777240" y="2011680"/>
            <a:ext cx="7040880" cy="3749040"/>
          </a:xfrm>
          <a:prstGeom prst="rect">
            <a:avLst/>
          </a:prstGeom>
          <a:noFill/>
          <a:ln/>
        </p:spPr>
        <p:txBody>
          <a:bodyPr wrap="square" lIns="0" tIns="0" rIns="0" bIns="0" rtlCol="0" anchor="t"/>
          <a:lstStyle/>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apply -f 02-secret-demo.yaml</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logs secret-demo -n lab</a:t>
            </a:r>
            <a:endParaRPr lang="en-US" sz="1150" dirty="0"/>
          </a:p>
          <a:p>
            <a:pPr indent="0" marL="0">
              <a:lnSpc>
                <a:spcPct val="110000"/>
              </a:lnSpc>
              <a:buNone/>
            </a:pPr>
            <a:r>
              <a:rPr lang="en-US" sz="1150" dirty="0">
                <a:solidFill>
                  <a:srgbClr val="B9C4D1"/>
                </a:solidFill>
                <a:latin typeface="Courier New" pitchFamily="34" charset="0"/>
                <a:ea typeface="Courier New" pitchFamily="34" charset="-122"/>
                <a:cs typeface="Courier New" pitchFamily="34" charset="-120"/>
              </a:rPr>
              <a:t>→ Som miljövariabel: DB_USER=app DB_PASSWORD=S3cret!</a:t>
            </a:r>
            <a:endParaRPr lang="en-US" sz="1150" dirty="0"/>
          </a:p>
          <a:p>
            <a:pPr indent="0" marL="0">
              <a:lnSpc>
                <a:spcPct val="110000"/>
              </a:lnSpc>
              <a:buNone/>
            </a:pPr>
            <a:r>
              <a:rPr lang="en-US" sz="1150" dirty="0">
                <a:solidFill>
                  <a:srgbClr val="B9C4D1"/>
                </a:solidFill>
                <a:latin typeface="Courier New" pitchFamily="34" charset="0"/>
                <a:ea typeface="Courier New" pitchFamily="34" charset="-122"/>
                <a:cs typeface="Courier New" pitchFamily="34" charset="-120"/>
              </a:rPr>
              <a:t>→ Som filer i /secrets:</a:t>
            </a:r>
            <a:endParaRPr lang="en-US" sz="1150" dirty="0"/>
          </a:p>
          <a:p>
            <a:pPr indent="0" marL="0">
              <a:lnSpc>
                <a:spcPct val="110000"/>
              </a:lnSpc>
              <a:buNone/>
            </a:pPr>
            <a:r>
              <a:rPr lang="en-US" sz="1150" dirty="0">
                <a:solidFill>
                  <a:srgbClr val="B9C4D1"/>
                </a:solidFill>
                <a:latin typeface="Courier New" pitchFamily="34" charset="0"/>
                <a:ea typeface="Courier New" pitchFamily="34" charset="-122"/>
                <a:cs typeface="Courier New" pitchFamily="34" charset="-120"/>
              </a:rPr>
              <a:t>→ lrwxrwxrwx  password -&gt; ..data/password</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exec -n lab secret-demo -- cat /secrets/password</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exec -n lab secret-demo -- df -h /secrets   # tmpfs = i minnet</a:t>
            </a:r>
            <a:endParaRPr lang="en-US" sz="1150" dirty="0"/>
          </a:p>
        </p:txBody>
      </p:sp>
      <p:sp>
        <p:nvSpPr>
          <p:cNvPr id="10" name="Shape 8"/>
          <p:cNvSpPr/>
          <p:nvPr/>
        </p:nvSpPr>
        <p:spPr>
          <a:xfrm>
            <a:off x="8412480" y="1554480"/>
            <a:ext cx="3230575" cy="1356360"/>
          </a:xfrm>
          <a:prstGeom prst="roundRect">
            <a:avLst>
              <a:gd name="adj" fmla="val 4045"/>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1" name="Text 9"/>
          <p:cNvSpPr txBox="1"/>
          <p:nvPr/>
        </p:nvSpPr>
        <p:spPr>
          <a:xfrm>
            <a:off x="8613648" y="1755648"/>
            <a:ext cx="2828239"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secretKeyRef</a:t>
            </a:r>
            <a:endParaRPr lang="en-US" sz="1400" dirty="0"/>
          </a:p>
        </p:txBody>
      </p:sp>
      <p:sp>
        <p:nvSpPr>
          <p:cNvPr id="12" name="Text 10"/>
          <p:cNvSpPr txBox="1"/>
          <p:nvPr/>
        </p:nvSpPr>
        <p:spPr>
          <a:xfrm>
            <a:off x="8613648" y="213969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Som configMapKeyRef - fast för Secrets.</a:t>
            </a:r>
            <a:endParaRPr lang="en-US" sz="1200" dirty="0"/>
          </a:p>
        </p:txBody>
      </p:sp>
      <p:sp>
        <p:nvSpPr>
          <p:cNvPr id="13" name="Shape 11"/>
          <p:cNvSpPr/>
          <p:nvPr/>
        </p:nvSpPr>
        <p:spPr>
          <a:xfrm>
            <a:off x="8412480" y="3048000"/>
            <a:ext cx="3230575" cy="1356360"/>
          </a:xfrm>
          <a:prstGeom prst="roundRect">
            <a:avLst>
              <a:gd name="adj" fmla="val 4045"/>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4" name="Text 12"/>
          <p:cNvSpPr txBox="1"/>
          <p:nvPr/>
        </p:nvSpPr>
        <p:spPr>
          <a:xfrm>
            <a:off x="8613648" y="3249168"/>
            <a:ext cx="2828239"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tmpfs</a:t>
            </a:r>
            <a:endParaRPr lang="en-US" sz="1400" dirty="0"/>
          </a:p>
        </p:txBody>
      </p:sp>
      <p:sp>
        <p:nvSpPr>
          <p:cNvPr id="15" name="Text 13"/>
          <p:cNvSpPr txBox="1"/>
          <p:nvPr/>
        </p:nvSpPr>
        <p:spPr>
          <a:xfrm>
            <a:off x="8613648" y="363321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Filerna ligger i minnet, aldrig på nodens disk.</a:t>
            </a:r>
            <a:endParaRPr lang="en-US" sz="1200" dirty="0"/>
          </a:p>
        </p:txBody>
      </p:sp>
      <p:sp>
        <p:nvSpPr>
          <p:cNvPr id="16" name="Shape 14"/>
          <p:cNvSpPr/>
          <p:nvPr/>
        </p:nvSpPr>
        <p:spPr>
          <a:xfrm>
            <a:off x="8412480" y="4541520"/>
            <a:ext cx="3230575" cy="1356360"/>
          </a:xfrm>
          <a:prstGeom prst="roundRect">
            <a:avLst>
              <a:gd name="adj" fmla="val 4045"/>
            </a:avLst>
          </a:prstGeom>
          <a:solidFill>
            <a:srgbClr val="3762FF"/>
          </a:solidFill>
          <a:ln w="12700">
            <a:solidFill>
              <a:srgbClr val="3762FF"/>
            </a:solidFill>
            <a:prstDash val="solid"/>
          </a:ln>
        </p:spPr>
      </p:sp>
      <p:sp>
        <p:nvSpPr>
          <p:cNvPr id="17" name="Text 15"/>
          <p:cNvSpPr txBox="1"/>
          <p:nvPr/>
        </p:nvSpPr>
        <p:spPr>
          <a:xfrm>
            <a:off x="8613648" y="4742688"/>
            <a:ext cx="2828239"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exec = läsrätt</a:t>
            </a:r>
            <a:endParaRPr lang="en-US" sz="1400" dirty="0"/>
          </a:p>
        </p:txBody>
      </p:sp>
      <p:sp>
        <p:nvSpPr>
          <p:cNvPr id="18" name="Text 16"/>
          <p:cNvSpPr txBox="1"/>
          <p:nvPr/>
        </p:nvSpPr>
        <p:spPr>
          <a:xfrm>
            <a:off x="8613648" y="512673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Den som får köra exec i podden ser hemligheten.</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F33"/>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7C9CFF"/>
                </a:solidFill>
                <a:latin typeface="Arial" pitchFamily="34" charset="0"/>
                <a:ea typeface="Arial" pitchFamily="34" charset="-122"/>
                <a:cs typeface="Arial" pitchFamily="34" charset="-120"/>
              </a:rPr>
              <a:t>LABB 2C · VÅRA EGNA HEMLIGHETER</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F5F7FA"/>
                </a:solidFill>
                <a:latin typeface="Calibri" pitchFamily="34" charset="0"/>
                <a:ea typeface="Calibri" pitchFamily="34" charset="-122"/>
                <a:cs typeface="Calibri" pitchFamily="34" charset="-120"/>
              </a:rPr>
              <a:t>Hur säkert är vårt kluster?</a:t>
            </a:r>
            <a:endParaRPr lang="en-US" sz="3000" dirty="0"/>
          </a:p>
        </p:txBody>
      </p:sp>
      <p:sp>
        <p:nvSpPr>
          <p:cNvPr id="4" name="Shape 2"/>
          <p:cNvSpPr/>
          <p:nvPr/>
        </p:nvSpPr>
        <p:spPr>
          <a:xfrm>
            <a:off x="548640" y="1554480"/>
            <a:ext cx="7498080" cy="4343400"/>
          </a:xfrm>
          <a:prstGeom prst="roundRect">
            <a:avLst>
              <a:gd name="adj" fmla="val 1263"/>
            </a:avLst>
          </a:prstGeom>
          <a:solidFill>
            <a:srgbClr val="16294A"/>
          </a:solidFill>
          <a:ln w="12700">
            <a:solidFill>
              <a:srgbClr val="16294A"/>
            </a:solidFill>
            <a:prstDash val="solid"/>
          </a:ln>
        </p:spPr>
      </p:sp>
      <p:sp>
        <p:nvSpPr>
          <p:cNvPr id="5" name="Shape 3"/>
          <p:cNvSpPr/>
          <p:nvPr/>
        </p:nvSpPr>
        <p:spPr>
          <a:xfrm>
            <a:off x="749808" y="171907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1907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1907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45920"/>
            <a:ext cx="6492240" cy="256032"/>
          </a:xfrm>
          <a:prstGeom prst="rect">
            <a:avLst/>
          </a:prstGeom>
          <a:noFill/>
          <a:ln/>
        </p:spPr>
        <p:txBody>
          <a:bodyPr wrap="square" lIns="0" tIns="0" rIns="0" bIns="0" rtlCol="0" anchor="ctr"/>
          <a:lstStyle/>
          <a:p>
            <a:pPr indent="0" marL="0">
              <a:buNone/>
            </a:pPr>
            <a:r>
              <a:rPr lang="en-US" sz="1100" dirty="0">
                <a:solidFill>
                  <a:srgbClr val="B9C4D1"/>
                </a:solidFill>
                <a:latin typeface="Courier New" pitchFamily="34" charset="0"/>
                <a:ea typeface="Courier New" pitchFamily="34" charset="-122"/>
                <a:cs typeface="Courier New" pitchFamily="34" charset="-120"/>
              </a:rPr>
              <a:t>powershell</a:t>
            </a:r>
            <a:endParaRPr lang="en-US" sz="1100" dirty="0"/>
          </a:p>
        </p:txBody>
      </p:sp>
      <p:sp>
        <p:nvSpPr>
          <p:cNvPr id="9" name="Text 7"/>
          <p:cNvSpPr txBox="1"/>
          <p:nvPr/>
        </p:nvSpPr>
        <p:spPr>
          <a:xfrm>
            <a:off x="777240" y="2011680"/>
            <a:ext cx="7040880" cy="3749040"/>
          </a:xfrm>
          <a:prstGeom prst="rect">
            <a:avLst/>
          </a:prstGeom>
          <a:noFill/>
          <a:ln/>
        </p:spPr>
        <p:txBody>
          <a:bodyPr wrap="square" lIns="0" tIns="0" rIns="0" bIns="0" rtlCol="0" anchor="t"/>
          <a:lstStyle/>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get secrets -A</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a:t>
            </a:r>
            <a:endParaRPr lang="en-US" sz="1150" dirty="0"/>
          </a:p>
          <a:p>
            <a:pPr indent="0" marL="0">
              <a:lnSpc>
                <a:spcPct val="110000"/>
              </a:lnSpc>
              <a:buNone/>
            </a:pPr>
            <a:r>
              <a:rPr lang="en-US" sz="1150" i="1" dirty="0">
                <a:solidFill>
                  <a:srgbClr val="B9C4D1"/>
                </a:solidFill>
                <a:latin typeface="Courier New" pitchFamily="34" charset="0"/>
                <a:ea typeface="Courier New" pitchFamily="34" charset="-122"/>
                <a:cs typeface="Courier New" pitchFamily="34" charset="-120"/>
              </a:rPr>
              <a:t># MySQL:s root-lösenord (Bitnami-charten)</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get secret mysql -n mysql `</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-o go-template='{{index .data "mysql-root-password" | base64decode}}'</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a:t>
            </a:r>
            <a:endParaRPr lang="en-US" sz="1150" dirty="0"/>
          </a:p>
          <a:p>
            <a:pPr indent="0" marL="0">
              <a:lnSpc>
                <a:spcPct val="110000"/>
              </a:lnSpc>
              <a:buNone/>
            </a:pPr>
            <a:r>
              <a:rPr lang="en-US" sz="1150" i="1" dirty="0">
                <a:solidFill>
                  <a:srgbClr val="B9C4D1"/>
                </a:solidFill>
                <a:latin typeface="Courier New" pitchFamily="34" charset="0"/>
                <a:ea typeface="Courier New" pitchFamily="34" charset="-122"/>
                <a:cs typeface="Courier New" pitchFamily="34" charset="-120"/>
              </a:rPr>
              <a:t># CQRSApi:s connection string (vår egen chart)</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get secret cqrs-api-db -n cqrs `</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-o go-template='{{.data.connectionString | base64decode}}'</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a:t>
            </a:r>
            <a:endParaRPr lang="en-US" sz="1150" dirty="0"/>
          </a:p>
          <a:p>
            <a:pPr indent="0" marL="0">
              <a:lnSpc>
                <a:spcPct val="110000"/>
              </a:lnSpc>
              <a:buNone/>
            </a:pPr>
            <a:r>
              <a:rPr lang="en-US" sz="1150" i="1" dirty="0">
                <a:solidFill>
                  <a:srgbClr val="B9C4D1"/>
                </a:solidFill>
                <a:latin typeface="Courier New" pitchFamily="34" charset="0"/>
                <a:ea typeface="Courier New" pitchFamily="34" charset="-122"/>
                <a:cs typeface="Courier New" pitchFamily="34" charset="-120"/>
              </a:rPr>
              <a:t># mkcert-nyckeln för *.local (kväll 5)</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get secret local-tls-secret -n kube-system -o yaml</a:t>
            </a:r>
            <a:endParaRPr lang="en-US" sz="1150" dirty="0"/>
          </a:p>
        </p:txBody>
      </p:sp>
      <p:sp>
        <p:nvSpPr>
          <p:cNvPr id="10" name="Shape 8"/>
          <p:cNvSpPr/>
          <p:nvPr/>
        </p:nvSpPr>
        <p:spPr>
          <a:xfrm>
            <a:off x="8412480" y="1554480"/>
            <a:ext cx="3230575" cy="1356360"/>
          </a:xfrm>
          <a:prstGeom prst="roundRect">
            <a:avLst>
              <a:gd name="adj" fmla="val 4045"/>
            </a:avLst>
          </a:prstGeom>
          <a:solidFill>
            <a:srgbClr val="16294A"/>
          </a:solidFill>
          <a:ln w="12700">
            <a:solidFill>
              <a:srgbClr val="16294A"/>
            </a:solidFill>
            <a:prstDash val="solid"/>
          </a:ln>
        </p:spPr>
      </p:sp>
      <p:sp>
        <p:nvSpPr>
          <p:cNvPr id="11" name="Text 9"/>
          <p:cNvSpPr txBox="1"/>
          <p:nvPr/>
        </p:nvSpPr>
        <p:spPr>
          <a:xfrm>
            <a:off x="8613648" y="1755648"/>
            <a:ext cx="2828239" cy="320040"/>
          </a:xfrm>
          <a:prstGeom prst="rect">
            <a:avLst/>
          </a:prstGeom>
          <a:noFill/>
          <a:ln/>
        </p:spPr>
        <p:txBody>
          <a:bodyPr wrap="square" lIns="0" tIns="0" rIns="0" bIns="0" rtlCol="0" anchor="t"/>
          <a:lstStyle/>
          <a:p>
            <a:pPr indent="0" marL="0">
              <a:buNone/>
            </a:pPr>
            <a:r>
              <a:rPr lang="en-US" sz="1400" b="1" dirty="0">
                <a:solidFill>
                  <a:srgbClr val="F5F7FA"/>
                </a:solidFill>
                <a:latin typeface="Calibri" pitchFamily="34" charset="0"/>
                <a:ea typeface="Calibri" pitchFamily="34" charset="-122"/>
                <a:cs typeface="Calibri" pitchFamily="34" charset="-120"/>
              </a:rPr>
              <a:t>index</a:t>
            </a:r>
            <a:endParaRPr lang="en-US" sz="1400" dirty="0"/>
          </a:p>
        </p:txBody>
      </p:sp>
      <p:sp>
        <p:nvSpPr>
          <p:cNvPr id="12" name="Text 10"/>
          <p:cNvSpPr txBox="1"/>
          <p:nvPr/>
        </p:nvSpPr>
        <p:spPr>
          <a:xfrm>
            <a:off x="8613648" y="213969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B9C4D1"/>
                </a:solidFill>
                <a:latin typeface="Arial" pitchFamily="34" charset="0"/>
                <a:ea typeface="Arial" pitchFamily="34" charset="-122"/>
                <a:cs typeface="Arial" pitchFamily="34" charset="-120"/>
              </a:rPr>
              <a:t>Behövs när nyckeln har bindestreck.</a:t>
            </a:r>
            <a:endParaRPr lang="en-US" sz="1200" dirty="0"/>
          </a:p>
        </p:txBody>
      </p:sp>
      <p:sp>
        <p:nvSpPr>
          <p:cNvPr id="13" name="Shape 11"/>
          <p:cNvSpPr/>
          <p:nvPr/>
        </p:nvSpPr>
        <p:spPr>
          <a:xfrm>
            <a:off x="8412480" y="3048000"/>
            <a:ext cx="3230575" cy="1356360"/>
          </a:xfrm>
          <a:prstGeom prst="roundRect">
            <a:avLst>
              <a:gd name="adj" fmla="val 4045"/>
            </a:avLst>
          </a:prstGeom>
          <a:solidFill>
            <a:srgbClr val="3762FF"/>
          </a:solidFill>
          <a:ln w="12700">
            <a:solidFill>
              <a:srgbClr val="3762FF"/>
            </a:solidFill>
            <a:prstDash val="solid"/>
          </a:ln>
        </p:spPr>
      </p:sp>
      <p:sp>
        <p:nvSpPr>
          <p:cNvPr id="14" name="Text 12"/>
          <p:cNvSpPr txBox="1"/>
          <p:nvPr/>
        </p:nvSpPr>
        <p:spPr>
          <a:xfrm>
            <a:off x="8613648" y="3249168"/>
            <a:ext cx="2828239"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Helm-values</a:t>
            </a:r>
            <a:endParaRPr lang="en-US" sz="1400" dirty="0"/>
          </a:p>
        </p:txBody>
      </p:sp>
      <p:sp>
        <p:nvSpPr>
          <p:cNvPr id="15" name="Text 13"/>
          <p:cNvSpPr txBox="1"/>
          <p:nvPr/>
        </p:nvSpPr>
        <p:spPr>
          <a:xfrm>
            <a:off x="8613648" y="363321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Lösenorden står dessutom i klartext i values och skript.</a:t>
            </a:r>
            <a:endParaRPr lang="en-US" sz="1200" dirty="0"/>
          </a:p>
        </p:txBody>
      </p:sp>
      <p:sp>
        <p:nvSpPr>
          <p:cNvPr id="16" name="Shape 14"/>
          <p:cNvSpPr/>
          <p:nvPr/>
        </p:nvSpPr>
        <p:spPr>
          <a:xfrm>
            <a:off x="8412480" y="4541520"/>
            <a:ext cx="3230575" cy="1356360"/>
          </a:xfrm>
          <a:prstGeom prst="roundRect">
            <a:avLst>
              <a:gd name="adj" fmla="val 4045"/>
            </a:avLst>
          </a:prstGeom>
          <a:solidFill>
            <a:srgbClr val="16294A"/>
          </a:solidFill>
          <a:ln w="12700">
            <a:solidFill>
              <a:srgbClr val="16294A"/>
            </a:solidFill>
            <a:prstDash val="solid"/>
          </a:ln>
        </p:spPr>
      </p:sp>
      <p:sp>
        <p:nvSpPr>
          <p:cNvPr id="17" name="Text 15"/>
          <p:cNvSpPr txBox="1"/>
          <p:nvPr/>
        </p:nvSpPr>
        <p:spPr>
          <a:xfrm>
            <a:off x="8613648" y="4742688"/>
            <a:ext cx="2828239" cy="320040"/>
          </a:xfrm>
          <a:prstGeom prst="rect">
            <a:avLst/>
          </a:prstGeom>
          <a:noFill/>
          <a:ln/>
        </p:spPr>
        <p:txBody>
          <a:bodyPr wrap="square" lIns="0" tIns="0" rIns="0" bIns="0" rtlCol="0" anchor="t"/>
          <a:lstStyle/>
          <a:p>
            <a:pPr indent="0" marL="0">
              <a:buNone/>
            </a:pPr>
            <a:r>
              <a:rPr lang="en-US" sz="1400" b="1" dirty="0">
                <a:solidFill>
                  <a:srgbClr val="F5F7FA"/>
                </a:solidFill>
                <a:latin typeface="Calibri" pitchFamily="34" charset="0"/>
                <a:ea typeface="Calibri" pitchFamily="34" charset="-122"/>
                <a:cs typeface="Calibri" pitchFamily="34" charset="-120"/>
              </a:rPr>
              <a:t>Frågan</a:t>
            </a:r>
            <a:endParaRPr lang="en-US" sz="1400" dirty="0"/>
          </a:p>
        </p:txBody>
      </p:sp>
      <p:sp>
        <p:nvSpPr>
          <p:cNvPr id="18" name="Text 16"/>
          <p:cNvSpPr txBox="1"/>
          <p:nvPr/>
        </p:nvSpPr>
        <p:spPr>
          <a:xfrm>
            <a:off x="8613648" y="512673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B9C4D1"/>
                </a:solidFill>
                <a:latin typeface="Arial" pitchFamily="34" charset="0"/>
                <a:ea typeface="Arial" pitchFamily="34" charset="-122"/>
                <a:cs typeface="Arial" pitchFamily="34" charset="-120"/>
              </a:rPr>
              <a:t>Vad händer om values-filerna hamnar på GitHub?</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F33"/>
        </a:solidFill>
      </p:bgPr>
    </p:bg>
    <p:spTree>
      <p:nvGrpSpPr>
        <p:cNvPr id="1" name=""/>
        <p:cNvGrpSpPr/>
        <p:nvPr/>
      </p:nvGrpSpPr>
      <p:grpSpPr>
        <a:xfrm>
          <a:off x="0" y="0"/>
          <a:ext cx="0" cy="0"/>
          <a:chOff x="0" y="0"/>
          <a:chExt cx="0" cy="0"/>
        </a:xfrm>
      </p:grpSpPr>
      <p:sp>
        <p:nvSpPr>
          <p:cNvPr id="2" name="Text 0"/>
          <p:cNvSpPr txBox="1"/>
          <p:nvPr/>
        </p:nvSpPr>
        <p:spPr>
          <a:xfrm>
            <a:off x="502920" y="1188720"/>
            <a:ext cx="4572000" cy="1920240"/>
          </a:xfrm>
          <a:prstGeom prst="rect">
            <a:avLst/>
          </a:prstGeom>
          <a:noFill/>
          <a:ln/>
        </p:spPr>
        <p:txBody>
          <a:bodyPr wrap="square" lIns="0" tIns="0" rIns="0" bIns="0" rtlCol="0" anchor="ctr"/>
          <a:lstStyle/>
          <a:p>
            <a:pPr indent="0" marL="0">
              <a:buNone/>
            </a:pPr>
            <a:r>
              <a:rPr lang="en-US" sz="15000" b="1" dirty="0">
                <a:solidFill>
                  <a:srgbClr val="16294A"/>
                </a:solidFill>
                <a:latin typeface="Calibri" pitchFamily="34" charset="0"/>
                <a:ea typeface="Calibri" pitchFamily="34" charset="-122"/>
                <a:cs typeface="Calibri" pitchFamily="34" charset="-120"/>
              </a:rPr>
              <a:t>03</a:t>
            </a:r>
            <a:endParaRPr lang="en-US" sz="15000" dirty="0"/>
          </a:p>
        </p:txBody>
      </p:sp>
      <p:sp>
        <p:nvSpPr>
          <p:cNvPr id="3" name="Text 1"/>
          <p:cNvSpPr txBox="1"/>
          <p:nvPr/>
        </p:nvSpPr>
        <p:spPr>
          <a:xfrm>
            <a:off x="548640" y="3063240"/>
            <a:ext cx="11094415" cy="822960"/>
          </a:xfrm>
          <a:prstGeom prst="rect">
            <a:avLst/>
          </a:prstGeom>
          <a:noFill/>
          <a:ln/>
        </p:spPr>
        <p:txBody>
          <a:bodyPr wrap="square" lIns="0" tIns="0" rIns="0" bIns="0" rtlCol="0" anchor="ctr"/>
          <a:lstStyle/>
          <a:p>
            <a:pPr indent="0" marL="0">
              <a:buNone/>
            </a:pPr>
            <a:r>
              <a:rPr lang="en-US" sz="5200" b="1" dirty="0">
                <a:solidFill>
                  <a:srgbClr val="F5F7FA"/>
                </a:solidFill>
                <a:latin typeface="Calibri" pitchFamily="34" charset="0"/>
                <a:ea typeface="Calibri" pitchFamily="34" charset="-122"/>
                <a:cs typeface="Calibri" pitchFamily="34" charset="-120"/>
              </a:rPr>
              <a:t>Sealed Secrets</a:t>
            </a:r>
            <a:endParaRPr lang="en-US" sz="5200" dirty="0"/>
          </a:p>
        </p:txBody>
      </p:sp>
      <p:sp>
        <p:nvSpPr>
          <p:cNvPr id="4" name="Text 2"/>
          <p:cNvSpPr txBox="1"/>
          <p:nvPr/>
        </p:nvSpPr>
        <p:spPr>
          <a:xfrm>
            <a:off x="548640" y="3977640"/>
            <a:ext cx="9144000" cy="457200"/>
          </a:xfrm>
          <a:prstGeom prst="rect">
            <a:avLst/>
          </a:prstGeom>
          <a:noFill/>
          <a:ln/>
        </p:spPr>
        <p:txBody>
          <a:bodyPr wrap="square" lIns="0" tIns="0" rIns="0" bIns="0" rtlCol="0" anchor="t"/>
          <a:lstStyle/>
          <a:p>
            <a:pPr indent="0" marL="0">
              <a:lnSpc>
                <a:spcPct val="120000"/>
              </a:lnSpc>
              <a:buNone/>
            </a:pPr>
            <a:r>
              <a:rPr lang="en-US" sz="1800" dirty="0">
                <a:solidFill>
                  <a:srgbClr val="B9C4D1"/>
                </a:solidFill>
                <a:latin typeface="Arial" pitchFamily="34" charset="0"/>
                <a:ea typeface="Arial" pitchFamily="34" charset="-122"/>
                <a:cs typeface="Arial" pitchFamily="34" charset="-120"/>
              </a:rPr>
              <a:t>kubeseal krypterar - bara klustret kan dekryptera</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SEALED SECRETS · FLÖDET</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Publik nyckel krypterar, privat nyckel dekrypterar</a:t>
            </a:r>
            <a:endParaRPr lang="en-US" sz="3000" dirty="0"/>
          </a:p>
        </p:txBody>
      </p:sp>
      <p:sp>
        <p:nvSpPr>
          <p:cNvPr id="4" name="Shape 2"/>
          <p:cNvSpPr/>
          <p:nvPr/>
        </p:nvSpPr>
        <p:spPr>
          <a:xfrm>
            <a:off x="548640" y="1691640"/>
            <a:ext cx="1926275" cy="1097280"/>
          </a:xfrm>
          <a:prstGeom prst="roundRect">
            <a:avLst>
              <a:gd name="adj" fmla="val 5000"/>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5" name="Text 3"/>
          <p:cNvSpPr txBox="1"/>
          <p:nvPr/>
        </p:nvSpPr>
        <p:spPr>
          <a:xfrm>
            <a:off x="640080" y="1691640"/>
            <a:ext cx="1743395" cy="1097280"/>
          </a:xfrm>
          <a:prstGeom prst="rect">
            <a:avLst/>
          </a:prstGeom>
          <a:noFill/>
          <a:ln/>
        </p:spPr>
        <p:txBody>
          <a:bodyPr wrap="square" lIns="0" tIns="0" rIns="0" bIns="0" rtlCol="0" anchor="ctr"/>
          <a:lstStyle/>
          <a:p>
            <a:pPr algn="ctr" indent="0" marL="0">
              <a:buNone/>
            </a:pPr>
            <a:r>
              <a:rPr lang="en-US" sz="1300" b="1" dirty="0">
                <a:solidFill>
                  <a:srgbClr val="16202B"/>
                </a:solidFill>
                <a:latin typeface="Calibri" pitchFamily="34" charset="0"/>
                <a:ea typeface="Calibri" pitchFamily="34" charset="-122"/>
                <a:cs typeface="Calibri" pitchFamily="34" charset="-120"/>
              </a:rPr>
              <a:t>Secret (YAML)</a:t>
            </a:r>
            <a:endParaRPr lang="en-US" sz="1300" dirty="0"/>
          </a:p>
          <a:p>
            <a:pPr algn="ctr" indent="0" marL="0">
              <a:buNone/>
            </a:pPr>
            <a:r>
              <a:rPr lang="en-US" sz="1300" b="1" dirty="0">
                <a:solidFill>
                  <a:srgbClr val="16202B"/>
                </a:solidFill>
                <a:latin typeface="Calibri" pitchFamily="34" charset="0"/>
                <a:ea typeface="Calibri" pitchFamily="34" charset="-122"/>
                <a:cs typeface="Calibri" pitchFamily="34" charset="-120"/>
              </a:rPr>
              <a:t>--dry-run, aldrig i Git</a:t>
            </a:r>
            <a:endParaRPr lang="en-US" sz="1300" dirty="0"/>
          </a:p>
        </p:txBody>
      </p:sp>
      <p:sp>
        <p:nvSpPr>
          <p:cNvPr id="6" name="Shape 4"/>
          <p:cNvSpPr/>
          <p:nvPr/>
        </p:nvSpPr>
        <p:spPr>
          <a:xfrm>
            <a:off x="2511491" y="2240280"/>
            <a:ext cx="292608" cy="0"/>
          </a:xfrm>
          <a:prstGeom prst="line">
            <a:avLst/>
          </a:prstGeom>
          <a:noFill/>
          <a:ln w="19050">
            <a:solidFill>
              <a:srgbClr val="3762FF"/>
            </a:solidFill>
            <a:prstDash val="solid"/>
            <a:tailEnd type="triangle"/>
          </a:ln>
        </p:spPr>
      </p:sp>
      <p:sp>
        <p:nvSpPr>
          <p:cNvPr id="7" name="Shape 5"/>
          <p:cNvSpPr/>
          <p:nvPr/>
        </p:nvSpPr>
        <p:spPr>
          <a:xfrm>
            <a:off x="2840675" y="1691640"/>
            <a:ext cx="1926275" cy="1097280"/>
          </a:xfrm>
          <a:prstGeom prst="roundRect">
            <a:avLst>
              <a:gd name="adj" fmla="val 5000"/>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8" name="Text 6"/>
          <p:cNvSpPr txBox="1"/>
          <p:nvPr/>
        </p:nvSpPr>
        <p:spPr>
          <a:xfrm>
            <a:off x="2932115" y="1691640"/>
            <a:ext cx="1743395" cy="1097280"/>
          </a:xfrm>
          <a:prstGeom prst="rect">
            <a:avLst/>
          </a:prstGeom>
          <a:noFill/>
          <a:ln/>
        </p:spPr>
        <p:txBody>
          <a:bodyPr wrap="square" lIns="0" tIns="0" rIns="0" bIns="0" rtlCol="0" anchor="ctr"/>
          <a:lstStyle/>
          <a:p>
            <a:pPr algn="ctr" indent="0" marL="0">
              <a:buNone/>
            </a:pPr>
            <a:r>
              <a:rPr lang="en-US" sz="1300" b="1" dirty="0">
                <a:solidFill>
                  <a:srgbClr val="16202B"/>
                </a:solidFill>
                <a:latin typeface="Calibri" pitchFamily="34" charset="0"/>
                <a:ea typeface="Calibri" pitchFamily="34" charset="-122"/>
                <a:cs typeface="Calibri" pitchFamily="34" charset="-120"/>
              </a:rPr>
              <a:t>kubeseal</a:t>
            </a:r>
            <a:endParaRPr lang="en-US" sz="1300" dirty="0"/>
          </a:p>
          <a:p>
            <a:pPr algn="ctr" indent="0" marL="0">
              <a:buNone/>
            </a:pPr>
            <a:r>
              <a:rPr lang="en-US" sz="1300" b="1" dirty="0">
                <a:solidFill>
                  <a:srgbClr val="16202B"/>
                </a:solidFill>
                <a:latin typeface="Calibri" pitchFamily="34" charset="0"/>
                <a:ea typeface="Calibri" pitchFamily="34" charset="-122"/>
                <a:cs typeface="Calibri" pitchFamily="34" charset="-120"/>
              </a:rPr>
              <a:t>krypterar med publikt cert</a:t>
            </a:r>
            <a:endParaRPr lang="en-US" sz="1300" dirty="0"/>
          </a:p>
        </p:txBody>
      </p:sp>
      <p:sp>
        <p:nvSpPr>
          <p:cNvPr id="9" name="Shape 7"/>
          <p:cNvSpPr/>
          <p:nvPr/>
        </p:nvSpPr>
        <p:spPr>
          <a:xfrm>
            <a:off x="4803526" y="2240280"/>
            <a:ext cx="292608" cy="0"/>
          </a:xfrm>
          <a:prstGeom prst="line">
            <a:avLst/>
          </a:prstGeom>
          <a:noFill/>
          <a:ln w="19050">
            <a:solidFill>
              <a:srgbClr val="3762FF"/>
            </a:solidFill>
            <a:prstDash val="solid"/>
            <a:tailEnd type="triangle"/>
          </a:ln>
        </p:spPr>
      </p:sp>
      <p:sp>
        <p:nvSpPr>
          <p:cNvPr id="10" name="Shape 8"/>
          <p:cNvSpPr/>
          <p:nvPr/>
        </p:nvSpPr>
        <p:spPr>
          <a:xfrm>
            <a:off x="5132710" y="1691640"/>
            <a:ext cx="1926275" cy="1097280"/>
          </a:xfrm>
          <a:prstGeom prst="roundRect">
            <a:avLst>
              <a:gd name="adj" fmla="val 5000"/>
            </a:avLst>
          </a:prstGeom>
          <a:solidFill>
            <a:srgbClr val="3762FF"/>
          </a:solidFill>
          <a:ln w="12700">
            <a:solidFill>
              <a:srgbClr val="3762FF"/>
            </a:solidFill>
            <a:prstDash val="solid"/>
          </a:ln>
          <a:effectLst>
            <a:outerShdw sx="100000" sy="100000" kx="0" ky="0" algn="bl" rotWithShape="0" blurRad="101600" dist="25400" dir="5400000">
              <a:srgbClr val="000000">
                <a:alpha val="10000"/>
              </a:srgbClr>
            </a:outerShdw>
          </a:effectLst>
        </p:spPr>
      </p:sp>
      <p:sp>
        <p:nvSpPr>
          <p:cNvPr id="11" name="Text 9"/>
          <p:cNvSpPr txBox="1"/>
          <p:nvPr/>
        </p:nvSpPr>
        <p:spPr>
          <a:xfrm>
            <a:off x="5224150" y="1691640"/>
            <a:ext cx="1743395" cy="10972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SealedSecret</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säker att checka in</a:t>
            </a:r>
            <a:endParaRPr lang="en-US" sz="1300" dirty="0"/>
          </a:p>
        </p:txBody>
      </p:sp>
      <p:sp>
        <p:nvSpPr>
          <p:cNvPr id="12" name="Shape 10"/>
          <p:cNvSpPr/>
          <p:nvPr/>
        </p:nvSpPr>
        <p:spPr>
          <a:xfrm>
            <a:off x="7095561" y="2240280"/>
            <a:ext cx="292608" cy="0"/>
          </a:xfrm>
          <a:prstGeom prst="line">
            <a:avLst/>
          </a:prstGeom>
          <a:noFill/>
          <a:ln w="19050">
            <a:solidFill>
              <a:srgbClr val="3762FF"/>
            </a:solidFill>
            <a:prstDash val="solid"/>
            <a:tailEnd type="triangle"/>
          </a:ln>
        </p:spPr>
      </p:sp>
      <p:sp>
        <p:nvSpPr>
          <p:cNvPr id="13" name="Shape 11"/>
          <p:cNvSpPr/>
          <p:nvPr/>
        </p:nvSpPr>
        <p:spPr>
          <a:xfrm>
            <a:off x="7424745" y="1691640"/>
            <a:ext cx="1926275" cy="1097280"/>
          </a:xfrm>
          <a:prstGeom prst="roundRect">
            <a:avLst>
              <a:gd name="adj" fmla="val 5000"/>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4" name="Text 12"/>
          <p:cNvSpPr txBox="1"/>
          <p:nvPr/>
        </p:nvSpPr>
        <p:spPr>
          <a:xfrm>
            <a:off x="7516185" y="1691640"/>
            <a:ext cx="1743395" cy="1097280"/>
          </a:xfrm>
          <a:prstGeom prst="rect">
            <a:avLst/>
          </a:prstGeom>
          <a:noFill/>
          <a:ln/>
        </p:spPr>
        <p:txBody>
          <a:bodyPr wrap="square" lIns="0" tIns="0" rIns="0" bIns="0" rtlCol="0" anchor="ctr"/>
          <a:lstStyle/>
          <a:p>
            <a:pPr algn="ctr" indent="0" marL="0">
              <a:buNone/>
            </a:pPr>
            <a:r>
              <a:rPr lang="en-US" sz="1300" b="1" dirty="0">
                <a:solidFill>
                  <a:srgbClr val="16202B"/>
                </a:solidFill>
                <a:latin typeface="Calibri" pitchFamily="34" charset="0"/>
                <a:ea typeface="Calibri" pitchFamily="34" charset="-122"/>
                <a:cs typeface="Calibri" pitchFamily="34" charset="-120"/>
              </a:rPr>
              <a:t>controllern</a:t>
            </a:r>
            <a:endParaRPr lang="en-US" sz="1300" dirty="0"/>
          </a:p>
          <a:p>
            <a:pPr algn="ctr" indent="0" marL="0">
              <a:buNone/>
            </a:pPr>
            <a:r>
              <a:rPr lang="en-US" sz="1300" b="1" dirty="0">
                <a:solidFill>
                  <a:srgbClr val="16202B"/>
                </a:solidFill>
                <a:latin typeface="Calibri" pitchFamily="34" charset="0"/>
                <a:ea typeface="Calibri" pitchFamily="34" charset="-122"/>
                <a:cs typeface="Calibri" pitchFamily="34" charset="-120"/>
              </a:rPr>
              <a:t>dekrypterar med privat nyckel</a:t>
            </a:r>
            <a:endParaRPr lang="en-US" sz="1300" dirty="0"/>
          </a:p>
        </p:txBody>
      </p:sp>
      <p:sp>
        <p:nvSpPr>
          <p:cNvPr id="15" name="Shape 13"/>
          <p:cNvSpPr/>
          <p:nvPr/>
        </p:nvSpPr>
        <p:spPr>
          <a:xfrm>
            <a:off x="9387596" y="2240280"/>
            <a:ext cx="292608" cy="0"/>
          </a:xfrm>
          <a:prstGeom prst="line">
            <a:avLst/>
          </a:prstGeom>
          <a:noFill/>
          <a:ln w="19050">
            <a:solidFill>
              <a:srgbClr val="3762FF"/>
            </a:solidFill>
            <a:prstDash val="solid"/>
            <a:tailEnd type="triangle"/>
          </a:ln>
        </p:spPr>
      </p:sp>
      <p:sp>
        <p:nvSpPr>
          <p:cNvPr id="16" name="Shape 14"/>
          <p:cNvSpPr/>
          <p:nvPr/>
        </p:nvSpPr>
        <p:spPr>
          <a:xfrm>
            <a:off x="9716780" y="1691640"/>
            <a:ext cx="1926275" cy="1097280"/>
          </a:xfrm>
          <a:prstGeom prst="roundRect">
            <a:avLst>
              <a:gd name="adj" fmla="val 5000"/>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7" name="Text 15"/>
          <p:cNvSpPr txBox="1"/>
          <p:nvPr/>
        </p:nvSpPr>
        <p:spPr>
          <a:xfrm>
            <a:off x="9808220" y="1691640"/>
            <a:ext cx="1743395" cy="1097280"/>
          </a:xfrm>
          <a:prstGeom prst="rect">
            <a:avLst/>
          </a:prstGeom>
          <a:noFill/>
          <a:ln/>
        </p:spPr>
        <p:txBody>
          <a:bodyPr wrap="square" lIns="0" tIns="0" rIns="0" bIns="0" rtlCol="0" anchor="ctr"/>
          <a:lstStyle/>
          <a:p>
            <a:pPr algn="ctr" indent="0" marL="0">
              <a:buNone/>
            </a:pPr>
            <a:r>
              <a:rPr lang="en-US" sz="1300" b="1" dirty="0">
                <a:solidFill>
                  <a:srgbClr val="16202B"/>
                </a:solidFill>
                <a:latin typeface="Calibri" pitchFamily="34" charset="0"/>
                <a:ea typeface="Calibri" pitchFamily="34" charset="-122"/>
                <a:cs typeface="Calibri" pitchFamily="34" charset="-120"/>
              </a:rPr>
              <a:t>Secret</a:t>
            </a:r>
            <a:endParaRPr lang="en-US" sz="1300" dirty="0"/>
          </a:p>
          <a:p>
            <a:pPr algn="ctr" indent="0" marL="0">
              <a:buNone/>
            </a:pPr>
            <a:r>
              <a:rPr lang="en-US" sz="1300" b="1" dirty="0">
                <a:solidFill>
                  <a:srgbClr val="16202B"/>
                </a:solidFill>
                <a:latin typeface="Calibri" pitchFamily="34" charset="0"/>
                <a:ea typeface="Calibri" pitchFamily="34" charset="-122"/>
                <a:cs typeface="Calibri" pitchFamily="34" charset="-120"/>
              </a:rPr>
              <a:t>skapas i klustret</a:t>
            </a:r>
            <a:endParaRPr lang="en-US" sz="1300" dirty="0"/>
          </a:p>
        </p:txBody>
      </p:sp>
      <p:sp>
        <p:nvSpPr>
          <p:cNvPr id="18" name="Shape 16"/>
          <p:cNvSpPr/>
          <p:nvPr/>
        </p:nvSpPr>
        <p:spPr>
          <a:xfrm>
            <a:off x="548640" y="3063240"/>
            <a:ext cx="6492240" cy="457200"/>
          </a:xfrm>
          <a:prstGeom prst="roundRect">
            <a:avLst>
              <a:gd name="adj" fmla="val 10000"/>
            </a:avLst>
          </a:prstGeom>
          <a:solidFill>
            <a:srgbClr val="E8EDFF"/>
          </a:solidFill>
          <a:ln w="12700">
            <a:solidFill>
              <a:srgbClr val="E8EDFF"/>
            </a:solidFill>
            <a:prstDash val="solid"/>
          </a:ln>
        </p:spPr>
      </p:sp>
      <p:sp>
        <p:nvSpPr>
          <p:cNvPr id="19" name="Text 17"/>
          <p:cNvSpPr txBox="1"/>
          <p:nvPr/>
        </p:nvSpPr>
        <p:spPr>
          <a:xfrm>
            <a:off x="731520" y="3063240"/>
            <a:ext cx="6217920" cy="457200"/>
          </a:xfrm>
          <a:prstGeom prst="rect">
            <a:avLst/>
          </a:prstGeom>
          <a:noFill/>
          <a:ln/>
        </p:spPr>
        <p:txBody>
          <a:bodyPr wrap="square" lIns="0" tIns="0" rIns="0" bIns="0" rtlCol="0" anchor="ctr"/>
          <a:lstStyle/>
          <a:p>
            <a:pPr indent="0" marL="0">
              <a:buNone/>
            </a:pPr>
            <a:r>
              <a:rPr lang="en-US" sz="1200" b="1" dirty="0">
                <a:solidFill>
                  <a:srgbClr val="3762FF"/>
                </a:solidFill>
                <a:latin typeface="Arial" pitchFamily="34" charset="0"/>
                <a:ea typeface="Arial" pitchFamily="34" charset="-122"/>
                <a:cs typeface="Arial" pitchFamily="34" charset="-120"/>
              </a:rPr>
              <a:t>Din dator / CI                                                    Git</a:t>
            </a:r>
            <a:endParaRPr lang="en-US" sz="1200" dirty="0"/>
          </a:p>
        </p:txBody>
      </p:sp>
      <p:sp>
        <p:nvSpPr>
          <p:cNvPr id="20" name="Shape 18"/>
          <p:cNvSpPr/>
          <p:nvPr/>
        </p:nvSpPr>
        <p:spPr>
          <a:xfrm>
            <a:off x="7406640" y="3063240"/>
            <a:ext cx="4236415" cy="457200"/>
          </a:xfrm>
          <a:prstGeom prst="roundRect">
            <a:avLst>
              <a:gd name="adj" fmla="val 10000"/>
            </a:avLst>
          </a:prstGeom>
          <a:solidFill>
            <a:srgbClr val="0F1F33"/>
          </a:solidFill>
          <a:ln w="12700">
            <a:solidFill>
              <a:srgbClr val="0F1F33"/>
            </a:solidFill>
            <a:prstDash val="solid"/>
          </a:ln>
        </p:spPr>
      </p:sp>
      <p:sp>
        <p:nvSpPr>
          <p:cNvPr id="21" name="Text 19"/>
          <p:cNvSpPr txBox="1"/>
          <p:nvPr/>
        </p:nvSpPr>
        <p:spPr>
          <a:xfrm>
            <a:off x="7589520" y="3063240"/>
            <a:ext cx="2743200" cy="457200"/>
          </a:xfrm>
          <a:prstGeom prst="rect">
            <a:avLst/>
          </a:prstGeom>
          <a:noFill/>
          <a:ln/>
        </p:spPr>
        <p:txBody>
          <a:bodyPr wrap="square" lIns="0" tIns="0" rIns="0" bIns="0" rtlCol="0" anchor="ctr"/>
          <a:lstStyle/>
          <a:p>
            <a:pPr indent="0" marL="0">
              <a:buNone/>
            </a:pPr>
            <a:r>
              <a:rPr lang="en-US" sz="1200" b="1" dirty="0">
                <a:solidFill>
                  <a:srgbClr val="7C9CFF"/>
                </a:solidFill>
                <a:latin typeface="Arial" pitchFamily="34" charset="0"/>
                <a:ea typeface="Arial" pitchFamily="34" charset="-122"/>
                <a:cs typeface="Arial" pitchFamily="34" charset="-120"/>
              </a:rPr>
              <a:t>Klustret</a:t>
            </a:r>
            <a:endParaRPr lang="en-US" sz="1200" dirty="0"/>
          </a:p>
        </p:txBody>
      </p:sp>
      <p:sp>
        <p:nvSpPr>
          <p:cNvPr id="22" name="Shape 20"/>
          <p:cNvSpPr/>
          <p:nvPr/>
        </p:nvSpPr>
        <p:spPr>
          <a:xfrm>
            <a:off x="548640" y="3840480"/>
            <a:ext cx="3606698" cy="1920240"/>
          </a:xfrm>
          <a:prstGeom prst="roundRect">
            <a:avLst>
              <a:gd name="adj" fmla="val 2857"/>
            </a:avLst>
          </a:prstGeom>
          <a:solidFill>
            <a:srgbClr val="3762FF"/>
          </a:solidFill>
          <a:ln w="12700">
            <a:solidFill>
              <a:srgbClr val="3762FF"/>
            </a:solidFill>
            <a:prstDash val="solid"/>
          </a:ln>
        </p:spPr>
      </p:sp>
      <p:sp>
        <p:nvSpPr>
          <p:cNvPr id="23" name="Text 21"/>
          <p:cNvSpPr txBox="1"/>
          <p:nvPr/>
        </p:nvSpPr>
        <p:spPr>
          <a:xfrm>
            <a:off x="749808" y="4041648"/>
            <a:ext cx="3204362" cy="3200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Asymmetriskt</a:t>
            </a:r>
            <a:endParaRPr lang="en-US" sz="1500" dirty="0"/>
          </a:p>
        </p:txBody>
      </p:sp>
      <p:sp>
        <p:nvSpPr>
          <p:cNvPr id="24" name="Text 22"/>
          <p:cNvSpPr txBox="1"/>
          <p:nvPr/>
        </p:nvSpPr>
        <p:spPr>
          <a:xfrm>
            <a:off x="749808" y="4425696"/>
            <a:ext cx="3204362" cy="1179576"/>
          </a:xfrm>
          <a:prstGeom prst="rect">
            <a:avLst/>
          </a:prstGeom>
          <a:noFill/>
          <a:ln/>
        </p:spPr>
        <p:txBody>
          <a:bodyPr wrap="square" lIns="0" tIns="0" rIns="0" bIns="0" rtlCol="0" anchor="t"/>
          <a:lstStyle/>
          <a:p>
            <a:pPr indent="0" marL="0">
              <a:lnSpc>
                <a:spcPct val="115000"/>
              </a:lnSpc>
              <a:buNone/>
            </a:pPr>
            <a:r>
              <a:rPr lang="en-US" sz="1300" dirty="0">
                <a:solidFill>
                  <a:srgbClr val="FFFFFF"/>
                </a:solidFill>
                <a:latin typeface="Arial" pitchFamily="34" charset="0"/>
                <a:ea typeface="Arial" pitchFamily="34" charset="-122"/>
                <a:cs typeface="Arial" pitchFamily="34" charset="-120"/>
              </a:rPr>
              <a:t>Alla kan kryptera med det publika certifikatet. Bara controllern kan dekryptera.</a:t>
            </a:r>
            <a:endParaRPr lang="en-US" sz="1300" dirty="0"/>
          </a:p>
        </p:txBody>
      </p:sp>
      <p:sp>
        <p:nvSpPr>
          <p:cNvPr id="25" name="Shape 23"/>
          <p:cNvSpPr/>
          <p:nvPr/>
        </p:nvSpPr>
        <p:spPr>
          <a:xfrm>
            <a:off x="4292498" y="3840480"/>
            <a:ext cx="3606698" cy="1920240"/>
          </a:xfrm>
          <a:prstGeom prst="roundRect">
            <a:avLst>
              <a:gd name="adj" fmla="val 2857"/>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26" name="Text 24"/>
          <p:cNvSpPr txBox="1"/>
          <p:nvPr/>
        </p:nvSpPr>
        <p:spPr>
          <a:xfrm>
            <a:off x="4493666" y="4041648"/>
            <a:ext cx="3204362" cy="320040"/>
          </a:xfrm>
          <a:prstGeom prst="rect">
            <a:avLst/>
          </a:prstGeom>
          <a:noFill/>
          <a:ln/>
        </p:spPr>
        <p:txBody>
          <a:bodyPr wrap="square" lIns="0" tIns="0" rIns="0" bIns="0" rtlCol="0" anchor="t"/>
          <a:lstStyle/>
          <a:p>
            <a:pPr indent="0" marL="0">
              <a:buNone/>
            </a:pPr>
            <a:r>
              <a:rPr lang="en-US" sz="1500" b="1" dirty="0">
                <a:solidFill>
                  <a:srgbClr val="16202B"/>
                </a:solidFill>
                <a:latin typeface="Calibri" pitchFamily="34" charset="0"/>
                <a:ea typeface="Calibri" pitchFamily="34" charset="-122"/>
                <a:cs typeface="Calibri" pitchFamily="34" charset="-120"/>
              </a:rPr>
              <a:t>Bundet till namn</a:t>
            </a:r>
            <a:endParaRPr lang="en-US" sz="1500" dirty="0"/>
          </a:p>
        </p:txBody>
      </p:sp>
      <p:sp>
        <p:nvSpPr>
          <p:cNvPr id="27" name="Text 25"/>
          <p:cNvSpPr txBox="1"/>
          <p:nvPr/>
        </p:nvSpPr>
        <p:spPr>
          <a:xfrm>
            <a:off x="4493666" y="4425696"/>
            <a:ext cx="3204362" cy="117957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Som standard bara giltig för exakt samma namn och namespace.</a:t>
            </a:r>
            <a:endParaRPr lang="en-US" sz="1300" dirty="0"/>
          </a:p>
        </p:txBody>
      </p:sp>
      <p:sp>
        <p:nvSpPr>
          <p:cNvPr id="28" name="Shape 26"/>
          <p:cNvSpPr/>
          <p:nvPr/>
        </p:nvSpPr>
        <p:spPr>
          <a:xfrm>
            <a:off x="8036357" y="3840480"/>
            <a:ext cx="3606698" cy="1920240"/>
          </a:xfrm>
          <a:prstGeom prst="roundRect">
            <a:avLst>
              <a:gd name="adj" fmla="val 2857"/>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29" name="Text 27"/>
          <p:cNvSpPr txBox="1"/>
          <p:nvPr/>
        </p:nvSpPr>
        <p:spPr>
          <a:xfrm>
            <a:off x="8237525" y="4041648"/>
            <a:ext cx="3204362" cy="320040"/>
          </a:xfrm>
          <a:prstGeom prst="rect">
            <a:avLst/>
          </a:prstGeom>
          <a:noFill/>
          <a:ln/>
        </p:spPr>
        <p:txBody>
          <a:bodyPr wrap="square" lIns="0" tIns="0" rIns="0" bIns="0" rtlCol="0" anchor="t"/>
          <a:lstStyle/>
          <a:p>
            <a:pPr indent="0" marL="0">
              <a:buNone/>
            </a:pPr>
            <a:r>
              <a:rPr lang="en-US" sz="1500" b="1" dirty="0">
                <a:solidFill>
                  <a:srgbClr val="16202B"/>
                </a:solidFill>
                <a:latin typeface="Calibri" pitchFamily="34" charset="0"/>
                <a:ea typeface="Calibri" pitchFamily="34" charset="-122"/>
                <a:cs typeface="Calibri" pitchFamily="34" charset="-120"/>
              </a:rPr>
              <a:t>Controllern äger Secret:en</a:t>
            </a:r>
            <a:endParaRPr lang="en-US" sz="1500" dirty="0"/>
          </a:p>
        </p:txBody>
      </p:sp>
      <p:sp>
        <p:nvSpPr>
          <p:cNvPr id="30" name="Text 28"/>
          <p:cNvSpPr txBox="1"/>
          <p:nvPr/>
        </p:nvSpPr>
        <p:spPr>
          <a:xfrm>
            <a:off x="8237525" y="4425696"/>
            <a:ext cx="3204362" cy="117957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Ändras SealedSecret - uppdateras Secret. Tas den bort - försvinner Secret.</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LABB 3A · CONTROLLERN OCH CERTIFIKATET</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Hitta controllern och hämta det publika certifikatet</a:t>
            </a:r>
            <a:endParaRPr lang="en-US" sz="3000" dirty="0"/>
          </a:p>
        </p:txBody>
      </p:sp>
      <p:sp>
        <p:nvSpPr>
          <p:cNvPr id="4" name="Shape 2"/>
          <p:cNvSpPr/>
          <p:nvPr/>
        </p:nvSpPr>
        <p:spPr>
          <a:xfrm>
            <a:off x="548640" y="1554480"/>
            <a:ext cx="7498080" cy="4343400"/>
          </a:xfrm>
          <a:prstGeom prst="roundRect">
            <a:avLst>
              <a:gd name="adj" fmla="val 1263"/>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5" name="Shape 3"/>
          <p:cNvSpPr/>
          <p:nvPr/>
        </p:nvSpPr>
        <p:spPr>
          <a:xfrm>
            <a:off x="749808" y="171907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1907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1907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45920"/>
            <a:ext cx="6492240" cy="256032"/>
          </a:xfrm>
          <a:prstGeom prst="rect">
            <a:avLst/>
          </a:prstGeom>
          <a:noFill/>
          <a:ln/>
        </p:spPr>
        <p:txBody>
          <a:bodyPr wrap="square" lIns="0" tIns="0" rIns="0" bIns="0" rtlCol="0" anchor="ctr"/>
          <a:lstStyle/>
          <a:p>
            <a:pPr indent="0" marL="0">
              <a:buNone/>
            </a:pPr>
            <a:r>
              <a:rPr lang="en-US" sz="1100" dirty="0">
                <a:solidFill>
                  <a:srgbClr val="B9C4D1"/>
                </a:solidFill>
                <a:latin typeface="Courier New" pitchFamily="34" charset="0"/>
                <a:ea typeface="Courier New" pitchFamily="34" charset="-122"/>
                <a:cs typeface="Courier New" pitchFamily="34" charset="-120"/>
              </a:rPr>
              <a:t>powershell</a:t>
            </a:r>
            <a:endParaRPr lang="en-US" sz="1100" dirty="0"/>
          </a:p>
        </p:txBody>
      </p:sp>
      <p:sp>
        <p:nvSpPr>
          <p:cNvPr id="9" name="Text 7"/>
          <p:cNvSpPr txBox="1"/>
          <p:nvPr/>
        </p:nvSpPr>
        <p:spPr>
          <a:xfrm>
            <a:off x="777240" y="2011680"/>
            <a:ext cx="7040880" cy="3749040"/>
          </a:xfrm>
          <a:prstGeom prst="rect">
            <a:avLst/>
          </a:prstGeom>
          <a:noFill/>
          <a:ln/>
        </p:spPr>
        <p:txBody>
          <a:bodyPr wrap="square" lIns="0" tIns="0" rIns="0" bIns="0" rtlCol="0" anchor="t"/>
          <a:lstStyle/>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get pods,svc -n sealed-secrets</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logs deploy/sealed-secrets-controller -n sealed-secrets | Select-Object -First 15</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a:t>
            </a:r>
            <a:endParaRPr lang="en-US" sz="1150" dirty="0"/>
          </a:p>
          <a:p>
            <a:pPr indent="0" marL="0">
              <a:lnSpc>
                <a:spcPct val="110000"/>
              </a:lnSpc>
              <a:buNone/>
            </a:pPr>
            <a:r>
              <a:rPr lang="en-US" sz="1150" i="1" dirty="0">
                <a:solidFill>
                  <a:srgbClr val="B9C4D1"/>
                </a:solidFill>
                <a:latin typeface="Courier New" pitchFamily="34" charset="0"/>
                <a:ea typeface="Courier New" pitchFamily="34" charset="-122"/>
                <a:cs typeface="Courier New" pitchFamily="34" charset="-120"/>
              </a:rPr>
              <a:t># CRD:n - en ny resurstyp i klustret</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get crd sealedsecrets.bitnami.com</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explain sealedsecret.spec</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a:t>
            </a:r>
            <a:endParaRPr lang="en-US" sz="1150" dirty="0"/>
          </a:p>
          <a:p>
            <a:pPr indent="0" marL="0">
              <a:lnSpc>
                <a:spcPct val="110000"/>
              </a:lnSpc>
              <a:buNone/>
            </a:pPr>
            <a:r>
              <a:rPr lang="en-US" sz="1150" i="1" dirty="0">
                <a:solidFill>
                  <a:srgbClr val="B9C4D1"/>
                </a:solidFill>
                <a:latin typeface="Courier New" pitchFamily="34" charset="0"/>
                <a:ea typeface="Courier New" pitchFamily="34" charset="-122"/>
                <a:cs typeface="Courier New" pitchFamily="34" charset="-120"/>
              </a:rPr>
              <a:t># Publika certifikatet - ofarligt att dela</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kubeseal --fetch-cert `</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--controller-name sealed-secrets-controller `</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--controller-namespace sealed-secrets &gt; pub-cert.pem</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Get-Content pub-cert.pem</a:t>
            </a:r>
            <a:endParaRPr lang="en-US" sz="1150" dirty="0"/>
          </a:p>
        </p:txBody>
      </p:sp>
      <p:sp>
        <p:nvSpPr>
          <p:cNvPr id="10" name="Shape 8"/>
          <p:cNvSpPr/>
          <p:nvPr/>
        </p:nvSpPr>
        <p:spPr>
          <a:xfrm>
            <a:off x="8412480" y="1554480"/>
            <a:ext cx="3230575" cy="1356360"/>
          </a:xfrm>
          <a:prstGeom prst="roundRect">
            <a:avLst>
              <a:gd name="adj" fmla="val 4045"/>
            </a:avLst>
          </a:prstGeom>
          <a:solidFill>
            <a:srgbClr val="3762FF"/>
          </a:solidFill>
          <a:ln w="12700">
            <a:solidFill>
              <a:srgbClr val="3762FF"/>
            </a:solidFill>
            <a:prstDash val="solid"/>
          </a:ln>
        </p:spPr>
      </p:sp>
      <p:sp>
        <p:nvSpPr>
          <p:cNvPr id="11" name="Text 9"/>
          <p:cNvSpPr txBox="1"/>
          <p:nvPr/>
        </p:nvSpPr>
        <p:spPr>
          <a:xfrm>
            <a:off x="8613648" y="1755648"/>
            <a:ext cx="2828239"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CRD</a:t>
            </a:r>
            <a:endParaRPr lang="en-US" sz="1400" dirty="0"/>
          </a:p>
        </p:txBody>
      </p:sp>
      <p:sp>
        <p:nvSpPr>
          <p:cNvPr id="12" name="Text 10"/>
          <p:cNvSpPr txBox="1"/>
          <p:nvPr/>
        </p:nvSpPr>
        <p:spPr>
          <a:xfrm>
            <a:off x="8613648" y="213969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Custom Resource Definition - Kubernetes utökat med kind: SealedSecret.</a:t>
            </a:r>
            <a:endParaRPr lang="en-US" sz="1200" dirty="0"/>
          </a:p>
        </p:txBody>
      </p:sp>
      <p:sp>
        <p:nvSpPr>
          <p:cNvPr id="13" name="Shape 11"/>
          <p:cNvSpPr/>
          <p:nvPr/>
        </p:nvSpPr>
        <p:spPr>
          <a:xfrm>
            <a:off x="8412480" y="3048000"/>
            <a:ext cx="3230575" cy="1356360"/>
          </a:xfrm>
          <a:prstGeom prst="roundRect">
            <a:avLst>
              <a:gd name="adj" fmla="val 4045"/>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4" name="Text 12"/>
          <p:cNvSpPr txBox="1"/>
          <p:nvPr/>
        </p:nvSpPr>
        <p:spPr>
          <a:xfrm>
            <a:off x="8613648" y="3249168"/>
            <a:ext cx="2828239"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Loggen</a:t>
            </a:r>
            <a:endParaRPr lang="en-US" sz="1400" dirty="0"/>
          </a:p>
        </p:txBody>
      </p:sp>
      <p:sp>
        <p:nvSpPr>
          <p:cNvPr id="15" name="Text 13"/>
          <p:cNvSpPr txBox="1"/>
          <p:nvPr/>
        </p:nvSpPr>
        <p:spPr>
          <a:xfrm>
            <a:off x="8613648" y="363321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Visar att controllern skapade sitt nyckelpar vid start.</a:t>
            </a:r>
            <a:endParaRPr lang="en-US" sz="1200" dirty="0"/>
          </a:p>
        </p:txBody>
      </p:sp>
      <p:sp>
        <p:nvSpPr>
          <p:cNvPr id="16" name="Shape 14"/>
          <p:cNvSpPr/>
          <p:nvPr/>
        </p:nvSpPr>
        <p:spPr>
          <a:xfrm>
            <a:off x="8412480" y="4541520"/>
            <a:ext cx="3230575" cy="1356360"/>
          </a:xfrm>
          <a:prstGeom prst="roundRect">
            <a:avLst>
              <a:gd name="adj" fmla="val 4045"/>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7" name="Text 15"/>
          <p:cNvSpPr txBox="1"/>
          <p:nvPr/>
        </p:nvSpPr>
        <p:spPr>
          <a:xfrm>
            <a:off x="8613648" y="4742688"/>
            <a:ext cx="2828239"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pub-cert.pem</a:t>
            </a:r>
            <a:endParaRPr lang="en-US" sz="1400" dirty="0"/>
          </a:p>
        </p:txBody>
      </p:sp>
      <p:sp>
        <p:nvSpPr>
          <p:cNvPr id="18" name="Text 16"/>
          <p:cNvSpPr txBox="1"/>
          <p:nvPr/>
        </p:nvSpPr>
        <p:spPr>
          <a:xfrm>
            <a:off x="8613648" y="512673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Räcker för att kryptera - även utan tillgång till klustret.</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LABB 3B · KRYPTERA MED KUBESEAL</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Från Secret till SealedSecret</a:t>
            </a:r>
            <a:endParaRPr lang="en-US" sz="3000" dirty="0"/>
          </a:p>
        </p:txBody>
      </p:sp>
      <p:sp>
        <p:nvSpPr>
          <p:cNvPr id="4" name="Shape 2"/>
          <p:cNvSpPr/>
          <p:nvPr/>
        </p:nvSpPr>
        <p:spPr>
          <a:xfrm>
            <a:off x="548640" y="1554480"/>
            <a:ext cx="7498080" cy="4343400"/>
          </a:xfrm>
          <a:prstGeom prst="roundRect">
            <a:avLst>
              <a:gd name="adj" fmla="val 1263"/>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5" name="Shape 3"/>
          <p:cNvSpPr/>
          <p:nvPr/>
        </p:nvSpPr>
        <p:spPr>
          <a:xfrm>
            <a:off x="749808" y="171907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1907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1907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45920"/>
            <a:ext cx="6492240" cy="256032"/>
          </a:xfrm>
          <a:prstGeom prst="rect">
            <a:avLst/>
          </a:prstGeom>
          <a:noFill/>
          <a:ln/>
        </p:spPr>
        <p:txBody>
          <a:bodyPr wrap="square" lIns="0" tIns="0" rIns="0" bIns="0" rtlCol="0" anchor="ctr"/>
          <a:lstStyle/>
          <a:p>
            <a:pPr indent="0" marL="0">
              <a:buNone/>
            </a:pPr>
            <a:r>
              <a:rPr lang="en-US" sz="1100" dirty="0">
                <a:solidFill>
                  <a:srgbClr val="B9C4D1"/>
                </a:solidFill>
                <a:latin typeface="Courier New" pitchFamily="34" charset="0"/>
                <a:ea typeface="Courier New" pitchFamily="34" charset="-122"/>
                <a:cs typeface="Courier New" pitchFamily="34" charset="-120"/>
              </a:rPr>
              <a:t>powershell</a:t>
            </a:r>
            <a:endParaRPr lang="en-US" sz="1100" dirty="0"/>
          </a:p>
        </p:txBody>
      </p:sp>
      <p:sp>
        <p:nvSpPr>
          <p:cNvPr id="9" name="Text 7"/>
          <p:cNvSpPr txBox="1"/>
          <p:nvPr/>
        </p:nvSpPr>
        <p:spPr>
          <a:xfrm>
            <a:off x="777240" y="2011680"/>
            <a:ext cx="7040880" cy="3749040"/>
          </a:xfrm>
          <a:prstGeom prst="rect">
            <a:avLst/>
          </a:prstGeom>
          <a:noFill/>
          <a:ln/>
        </p:spPr>
        <p:txBody>
          <a:bodyPr wrap="square" lIns="0" tIns="0" rIns="0" bIns="0" rtlCol="0" anchor="t"/>
          <a:lstStyle/>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kubectl delete secret db-credentials -n lab      # bort med klartexten</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kubectl create secret generic db-credentials -n lab `</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--from-literal=username=app --from-literal=password='S3cret!' `</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--dry-run=client -o yaml |</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kubeseal --controller-name sealed-secrets-controller `</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--controller-namespace sealed-secrets -o yaml &gt; db-credentials-sealed.yaml</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Get-Content db-credentials-sealed.yaml           # encryptedData: AgB...</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kubectl apply -f db-credentials-sealed.yaml</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kubectl get sealedsecret,secret -n lab</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kubectl delete pod secret-demo -n lab ; kubectl apply -f 02-secret-demo.yaml</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kubectl logs secret-demo -n lab                  # samma lösenord!</a:t>
            </a:r>
            <a:endParaRPr lang="en-US" sz="1100" dirty="0"/>
          </a:p>
        </p:txBody>
      </p:sp>
      <p:sp>
        <p:nvSpPr>
          <p:cNvPr id="10" name="Shape 8"/>
          <p:cNvSpPr/>
          <p:nvPr/>
        </p:nvSpPr>
        <p:spPr>
          <a:xfrm>
            <a:off x="8412480" y="1554480"/>
            <a:ext cx="3230575" cy="1356360"/>
          </a:xfrm>
          <a:prstGeom prst="roundRect">
            <a:avLst>
              <a:gd name="adj" fmla="val 4045"/>
            </a:avLst>
          </a:prstGeom>
          <a:solidFill>
            <a:srgbClr val="3762FF"/>
          </a:solidFill>
          <a:ln w="12700">
            <a:solidFill>
              <a:srgbClr val="3762FF"/>
            </a:solidFill>
            <a:prstDash val="solid"/>
          </a:ln>
        </p:spPr>
      </p:sp>
      <p:sp>
        <p:nvSpPr>
          <p:cNvPr id="11" name="Text 9"/>
          <p:cNvSpPr txBox="1"/>
          <p:nvPr/>
        </p:nvSpPr>
        <p:spPr>
          <a:xfrm>
            <a:off x="8613648" y="1755648"/>
            <a:ext cx="2828239"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--dry-run | kubeseal</a:t>
            </a:r>
            <a:endParaRPr lang="en-US" sz="1400" dirty="0"/>
          </a:p>
        </p:txBody>
      </p:sp>
      <p:sp>
        <p:nvSpPr>
          <p:cNvPr id="12" name="Text 10"/>
          <p:cNvSpPr txBox="1"/>
          <p:nvPr/>
        </p:nvSpPr>
        <p:spPr>
          <a:xfrm>
            <a:off x="8613648" y="213969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Klartexten rör aldrig klustret eller disken.</a:t>
            </a:r>
            <a:endParaRPr lang="en-US" sz="1200" dirty="0"/>
          </a:p>
        </p:txBody>
      </p:sp>
      <p:sp>
        <p:nvSpPr>
          <p:cNvPr id="13" name="Shape 11"/>
          <p:cNvSpPr/>
          <p:nvPr/>
        </p:nvSpPr>
        <p:spPr>
          <a:xfrm>
            <a:off x="8412480" y="3048000"/>
            <a:ext cx="3230575" cy="1356360"/>
          </a:xfrm>
          <a:prstGeom prst="roundRect">
            <a:avLst>
              <a:gd name="adj" fmla="val 4045"/>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4" name="Text 12"/>
          <p:cNvSpPr txBox="1"/>
          <p:nvPr/>
        </p:nvSpPr>
        <p:spPr>
          <a:xfrm>
            <a:off x="8613648" y="3249168"/>
            <a:ext cx="2828239"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encryptedData</a:t>
            </a:r>
            <a:endParaRPr lang="en-US" sz="1400" dirty="0"/>
          </a:p>
        </p:txBody>
      </p:sp>
      <p:sp>
        <p:nvSpPr>
          <p:cNvPr id="15" name="Text 13"/>
          <p:cNvSpPr txBox="1"/>
          <p:nvPr/>
        </p:nvSpPr>
        <p:spPr>
          <a:xfrm>
            <a:off x="8613648" y="363321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Lång krypterad sträng per nyckel - säker i Git.</a:t>
            </a:r>
            <a:endParaRPr lang="en-US" sz="1200" dirty="0"/>
          </a:p>
        </p:txBody>
      </p:sp>
      <p:sp>
        <p:nvSpPr>
          <p:cNvPr id="16" name="Shape 14"/>
          <p:cNvSpPr/>
          <p:nvPr/>
        </p:nvSpPr>
        <p:spPr>
          <a:xfrm>
            <a:off x="8412480" y="4541520"/>
            <a:ext cx="3230575" cy="1356360"/>
          </a:xfrm>
          <a:prstGeom prst="roundRect">
            <a:avLst>
              <a:gd name="adj" fmla="val 4045"/>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7" name="Text 15"/>
          <p:cNvSpPr txBox="1"/>
          <p:nvPr/>
        </p:nvSpPr>
        <p:spPr>
          <a:xfrm>
            <a:off x="8613648" y="4742688"/>
            <a:ext cx="2828239"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Podden</a:t>
            </a:r>
            <a:endParaRPr lang="en-US" sz="1400" dirty="0"/>
          </a:p>
        </p:txBody>
      </p:sp>
      <p:sp>
        <p:nvSpPr>
          <p:cNvPr id="18" name="Text 16"/>
          <p:cNvSpPr txBox="1"/>
          <p:nvPr/>
        </p:nvSpPr>
        <p:spPr>
          <a:xfrm>
            <a:off x="8613648" y="512673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Märker ingen skillnad - den läser fortfarande en Secret.</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1F33"/>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7C9CFF"/>
                </a:solidFill>
                <a:latin typeface="Arial" pitchFamily="34" charset="0"/>
                <a:ea typeface="Arial" pitchFamily="34" charset="-122"/>
                <a:cs typeface="Arial" pitchFamily="34" charset="-120"/>
              </a:rPr>
              <a:t>LABB 3C · SCOPE</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F5F7FA"/>
                </a:solidFill>
                <a:latin typeface="Calibri" pitchFamily="34" charset="0"/>
                <a:ea typeface="Calibri" pitchFamily="34" charset="-122"/>
                <a:cs typeface="Calibri" pitchFamily="34" charset="-120"/>
              </a:rPr>
              <a:t>Försök flytta hemligheten</a:t>
            </a:r>
            <a:endParaRPr lang="en-US" sz="3000" dirty="0"/>
          </a:p>
        </p:txBody>
      </p:sp>
      <p:sp>
        <p:nvSpPr>
          <p:cNvPr id="4" name="Shape 2"/>
          <p:cNvSpPr/>
          <p:nvPr/>
        </p:nvSpPr>
        <p:spPr>
          <a:xfrm>
            <a:off x="548640" y="1554480"/>
            <a:ext cx="7498080" cy="4343400"/>
          </a:xfrm>
          <a:prstGeom prst="roundRect">
            <a:avLst>
              <a:gd name="adj" fmla="val 1263"/>
            </a:avLst>
          </a:prstGeom>
          <a:solidFill>
            <a:srgbClr val="16294A"/>
          </a:solidFill>
          <a:ln w="12700">
            <a:solidFill>
              <a:srgbClr val="16294A"/>
            </a:solidFill>
            <a:prstDash val="solid"/>
          </a:ln>
        </p:spPr>
      </p:sp>
      <p:sp>
        <p:nvSpPr>
          <p:cNvPr id="5" name="Shape 3"/>
          <p:cNvSpPr/>
          <p:nvPr/>
        </p:nvSpPr>
        <p:spPr>
          <a:xfrm>
            <a:off x="749808" y="171907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1907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1907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45920"/>
            <a:ext cx="6492240" cy="256032"/>
          </a:xfrm>
          <a:prstGeom prst="rect">
            <a:avLst/>
          </a:prstGeom>
          <a:noFill/>
          <a:ln/>
        </p:spPr>
        <p:txBody>
          <a:bodyPr wrap="square" lIns="0" tIns="0" rIns="0" bIns="0" rtlCol="0" anchor="ctr"/>
          <a:lstStyle/>
          <a:p>
            <a:pPr indent="0" marL="0">
              <a:buNone/>
            </a:pPr>
            <a:r>
              <a:rPr lang="en-US" sz="1100" dirty="0">
                <a:solidFill>
                  <a:srgbClr val="B9C4D1"/>
                </a:solidFill>
                <a:latin typeface="Courier New" pitchFamily="34" charset="0"/>
                <a:ea typeface="Courier New" pitchFamily="34" charset="-122"/>
                <a:cs typeface="Courier New" pitchFamily="34" charset="-120"/>
              </a:rPr>
              <a:t>powershell</a:t>
            </a:r>
            <a:endParaRPr lang="en-US" sz="1100" dirty="0"/>
          </a:p>
        </p:txBody>
      </p:sp>
      <p:sp>
        <p:nvSpPr>
          <p:cNvPr id="9" name="Text 7"/>
          <p:cNvSpPr txBox="1"/>
          <p:nvPr/>
        </p:nvSpPr>
        <p:spPr>
          <a:xfrm>
            <a:off x="777240" y="2011680"/>
            <a:ext cx="7040880" cy="3749040"/>
          </a:xfrm>
          <a:prstGeom prst="rect">
            <a:avLst/>
          </a:prstGeom>
          <a:noFill/>
          <a:ln/>
        </p:spPr>
        <p:txBody>
          <a:bodyPr wrap="square" lIns="0" tIns="0" rIns="0" bIns="0" rtlCol="0" anchor="t"/>
          <a:lstStyle/>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kubectl create namespace lab2</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a:t>
            </a:r>
            <a:endParaRPr lang="en-US" sz="1100" dirty="0"/>
          </a:p>
          <a:p>
            <a:pPr indent="0" marL="0">
              <a:lnSpc>
                <a:spcPct val="110000"/>
              </a:lnSpc>
              <a:buNone/>
            </a:pPr>
            <a:r>
              <a:rPr lang="en-US" sz="1100" i="1" dirty="0">
                <a:solidFill>
                  <a:srgbClr val="B9C4D1"/>
                </a:solidFill>
                <a:latin typeface="Courier New" pitchFamily="34" charset="0"/>
                <a:ea typeface="Courier New" pitchFamily="34" charset="-122"/>
                <a:cs typeface="Courier New" pitchFamily="34" charset="-120"/>
              </a:rPr>
              <a:t># Samma fil - men byt namespace: lab -&gt; lab2</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(Get-Content db-credentials-sealed.yaml) -replace 'namespace: lab$','namespace: lab2' |</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Set-Content stolen.yaml</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kubectl apply -f stolen.yaml</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kubectl get sealedsecret db-credentials -n lab2 -o yaml   # status ...</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kubectl get events -n lab2</a:t>
            </a:r>
            <a:endParaRPr lang="en-US" sz="1100" dirty="0"/>
          </a:p>
          <a:p>
            <a:pPr indent="0" marL="0">
              <a:lnSpc>
                <a:spcPct val="110000"/>
              </a:lnSpc>
              <a:buNone/>
            </a:pPr>
            <a:r>
              <a:rPr lang="en-US" sz="1100" dirty="0">
                <a:solidFill>
                  <a:srgbClr val="B9C4D1"/>
                </a:solidFill>
                <a:latin typeface="Courier New" pitchFamily="34" charset="0"/>
                <a:ea typeface="Courier New" pitchFamily="34" charset="-122"/>
                <a:cs typeface="Courier New" pitchFamily="34" charset="-120"/>
              </a:rPr>
              <a:t>→ ErrUnsealFailed: no key could decrypt secret (password, username)</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kubectl delete namespace lab2</a:t>
            </a:r>
            <a:endParaRPr lang="en-US" sz="1100" dirty="0"/>
          </a:p>
        </p:txBody>
      </p:sp>
      <p:sp>
        <p:nvSpPr>
          <p:cNvPr id="10" name="Shape 8"/>
          <p:cNvSpPr/>
          <p:nvPr/>
        </p:nvSpPr>
        <p:spPr>
          <a:xfrm>
            <a:off x="8412480" y="1554480"/>
            <a:ext cx="3230575" cy="1356360"/>
          </a:xfrm>
          <a:prstGeom prst="roundRect">
            <a:avLst>
              <a:gd name="adj" fmla="val 4045"/>
            </a:avLst>
          </a:prstGeom>
          <a:solidFill>
            <a:srgbClr val="3762FF"/>
          </a:solidFill>
          <a:ln w="12700">
            <a:solidFill>
              <a:srgbClr val="3762FF"/>
            </a:solidFill>
            <a:prstDash val="solid"/>
          </a:ln>
        </p:spPr>
      </p:sp>
      <p:sp>
        <p:nvSpPr>
          <p:cNvPr id="11" name="Text 9"/>
          <p:cNvSpPr txBox="1"/>
          <p:nvPr/>
        </p:nvSpPr>
        <p:spPr>
          <a:xfrm>
            <a:off x="8613648" y="1755648"/>
            <a:ext cx="2828239"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strict (standard)</a:t>
            </a:r>
            <a:endParaRPr lang="en-US" sz="1400" dirty="0"/>
          </a:p>
        </p:txBody>
      </p:sp>
      <p:sp>
        <p:nvSpPr>
          <p:cNvPr id="12" name="Text 10"/>
          <p:cNvSpPr txBox="1"/>
          <p:nvPr/>
        </p:nvSpPr>
        <p:spPr>
          <a:xfrm>
            <a:off x="8613648" y="213969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Krypteringen inkluderar namn + namespace.</a:t>
            </a:r>
            <a:endParaRPr lang="en-US" sz="1200" dirty="0"/>
          </a:p>
        </p:txBody>
      </p:sp>
      <p:sp>
        <p:nvSpPr>
          <p:cNvPr id="13" name="Shape 11"/>
          <p:cNvSpPr/>
          <p:nvPr/>
        </p:nvSpPr>
        <p:spPr>
          <a:xfrm>
            <a:off x="8412480" y="3048000"/>
            <a:ext cx="3230575" cy="1356360"/>
          </a:xfrm>
          <a:prstGeom prst="roundRect">
            <a:avLst>
              <a:gd name="adj" fmla="val 4045"/>
            </a:avLst>
          </a:prstGeom>
          <a:solidFill>
            <a:srgbClr val="16294A"/>
          </a:solidFill>
          <a:ln w="12700">
            <a:solidFill>
              <a:srgbClr val="16294A"/>
            </a:solidFill>
            <a:prstDash val="solid"/>
          </a:ln>
        </p:spPr>
      </p:sp>
      <p:sp>
        <p:nvSpPr>
          <p:cNvPr id="14" name="Text 12"/>
          <p:cNvSpPr txBox="1"/>
          <p:nvPr/>
        </p:nvSpPr>
        <p:spPr>
          <a:xfrm>
            <a:off x="8613648" y="3249168"/>
            <a:ext cx="2828239" cy="320040"/>
          </a:xfrm>
          <a:prstGeom prst="rect">
            <a:avLst/>
          </a:prstGeom>
          <a:noFill/>
          <a:ln/>
        </p:spPr>
        <p:txBody>
          <a:bodyPr wrap="square" lIns="0" tIns="0" rIns="0" bIns="0" rtlCol="0" anchor="t"/>
          <a:lstStyle/>
          <a:p>
            <a:pPr indent="0" marL="0">
              <a:buNone/>
            </a:pPr>
            <a:r>
              <a:rPr lang="en-US" sz="1400" b="1" dirty="0">
                <a:solidFill>
                  <a:srgbClr val="F5F7FA"/>
                </a:solidFill>
                <a:latin typeface="Calibri" pitchFamily="34" charset="0"/>
                <a:ea typeface="Calibri" pitchFamily="34" charset="-122"/>
                <a:cs typeface="Calibri" pitchFamily="34" charset="-120"/>
              </a:rPr>
              <a:t>namespace-wide</a:t>
            </a:r>
            <a:endParaRPr lang="en-US" sz="1400" dirty="0"/>
          </a:p>
        </p:txBody>
      </p:sp>
      <p:sp>
        <p:nvSpPr>
          <p:cNvPr id="15" name="Text 13"/>
          <p:cNvSpPr txBox="1"/>
          <p:nvPr/>
        </p:nvSpPr>
        <p:spPr>
          <a:xfrm>
            <a:off x="8613648" y="363321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B9C4D1"/>
                </a:solidFill>
                <a:latin typeface="Arial" pitchFamily="34" charset="0"/>
                <a:ea typeface="Arial" pitchFamily="34" charset="-122"/>
                <a:cs typeface="Arial" pitchFamily="34" charset="-120"/>
              </a:rPr>
              <a:t>--scope namespace-wide: valfritt namn, samma namespace.</a:t>
            </a:r>
            <a:endParaRPr lang="en-US" sz="1200" dirty="0"/>
          </a:p>
        </p:txBody>
      </p:sp>
      <p:sp>
        <p:nvSpPr>
          <p:cNvPr id="16" name="Shape 14"/>
          <p:cNvSpPr/>
          <p:nvPr/>
        </p:nvSpPr>
        <p:spPr>
          <a:xfrm>
            <a:off x="8412480" y="4541520"/>
            <a:ext cx="3230575" cy="1356360"/>
          </a:xfrm>
          <a:prstGeom prst="roundRect">
            <a:avLst>
              <a:gd name="adj" fmla="val 4045"/>
            </a:avLst>
          </a:prstGeom>
          <a:solidFill>
            <a:srgbClr val="16294A"/>
          </a:solidFill>
          <a:ln w="12700">
            <a:solidFill>
              <a:srgbClr val="16294A"/>
            </a:solidFill>
            <a:prstDash val="solid"/>
          </a:ln>
        </p:spPr>
      </p:sp>
      <p:sp>
        <p:nvSpPr>
          <p:cNvPr id="17" name="Text 15"/>
          <p:cNvSpPr txBox="1"/>
          <p:nvPr/>
        </p:nvSpPr>
        <p:spPr>
          <a:xfrm>
            <a:off x="8613648" y="4742688"/>
            <a:ext cx="2828239" cy="320040"/>
          </a:xfrm>
          <a:prstGeom prst="rect">
            <a:avLst/>
          </a:prstGeom>
          <a:noFill/>
          <a:ln/>
        </p:spPr>
        <p:txBody>
          <a:bodyPr wrap="square" lIns="0" tIns="0" rIns="0" bIns="0" rtlCol="0" anchor="t"/>
          <a:lstStyle/>
          <a:p>
            <a:pPr indent="0" marL="0">
              <a:buNone/>
            </a:pPr>
            <a:r>
              <a:rPr lang="en-US" sz="1400" b="1" dirty="0">
                <a:solidFill>
                  <a:srgbClr val="F5F7FA"/>
                </a:solidFill>
                <a:latin typeface="Calibri" pitchFamily="34" charset="0"/>
                <a:ea typeface="Calibri" pitchFamily="34" charset="-122"/>
                <a:cs typeface="Calibri" pitchFamily="34" charset="-120"/>
              </a:rPr>
              <a:t>cluster-wide</a:t>
            </a:r>
            <a:endParaRPr lang="en-US" sz="1400" dirty="0"/>
          </a:p>
        </p:txBody>
      </p:sp>
      <p:sp>
        <p:nvSpPr>
          <p:cNvPr id="18" name="Text 16"/>
          <p:cNvSpPr txBox="1"/>
          <p:nvPr/>
        </p:nvSpPr>
        <p:spPr>
          <a:xfrm>
            <a:off x="8613648" y="512673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B9C4D1"/>
                </a:solidFill>
                <a:latin typeface="Arial" pitchFamily="34" charset="0"/>
                <a:ea typeface="Arial" pitchFamily="34" charset="-122"/>
                <a:cs typeface="Arial" pitchFamily="34" charset="-120"/>
              </a:rPr>
              <a:t>--scope cluster-wide: var som helst. Bekvämt - men svagare.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LABB 3D · UPPDATERA OCH OFFLINE</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Byt ett värde - utan att se de andra</a:t>
            </a:r>
            <a:endParaRPr lang="en-US" sz="3000" dirty="0"/>
          </a:p>
        </p:txBody>
      </p:sp>
      <p:sp>
        <p:nvSpPr>
          <p:cNvPr id="4" name="Shape 2"/>
          <p:cNvSpPr/>
          <p:nvPr/>
        </p:nvSpPr>
        <p:spPr>
          <a:xfrm>
            <a:off x="548640" y="1554480"/>
            <a:ext cx="7498080" cy="4343400"/>
          </a:xfrm>
          <a:prstGeom prst="roundRect">
            <a:avLst>
              <a:gd name="adj" fmla="val 1263"/>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5" name="Shape 3"/>
          <p:cNvSpPr/>
          <p:nvPr/>
        </p:nvSpPr>
        <p:spPr>
          <a:xfrm>
            <a:off x="749808" y="171907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1907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1907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45920"/>
            <a:ext cx="6492240" cy="256032"/>
          </a:xfrm>
          <a:prstGeom prst="rect">
            <a:avLst/>
          </a:prstGeom>
          <a:noFill/>
          <a:ln/>
        </p:spPr>
        <p:txBody>
          <a:bodyPr wrap="square" lIns="0" tIns="0" rIns="0" bIns="0" rtlCol="0" anchor="ctr"/>
          <a:lstStyle/>
          <a:p>
            <a:pPr indent="0" marL="0">
              <a:buNone/>
            </a:pPr>
            <a:r>
              <a:rPr lang="en-US" sz="1100" dirty="0">
                <a:solidFill>
                  <a:srgbClr val="B9C4D1"/>
                </a:solidFill>
                <a:latin typeface="Courier New" pitchFamily="34" charset="0"/>
                <a:ea typeface="Courier New" pitchFamily="34" charset="-122"/>
                <a:cs typeface="Courier New" pitchFamily="34" charset="-120"/>
              </a:rPr>
              <a:t>powershell</a:t>
            </a:r>
            <a:endParaRPr lang="en-US" sz="1100" dirty="0"/>
          </a:p>
        </p:txBody>
      </p:sp>
      <p:sp>
        <p:nvSpPr>
          <p:cNvPr id="9" name="Text 7"/>
          <p:cNvSpPr txBox="1"/>
          <p:nvPr/>
        </p:nvSpPr>
        <p:spPr>
          <a:xfrm>
            <a:off x="777240" y="2011680"/>
            <a:ext cx="7040880" cy="3749040"/>
          </a:xfrm>
          <a:prstGeom prst="rect">
            <a:avLst/>
          </a:prstGeom>
          <a:noFill/>
          <a:ln/>
        </p:spPr>
        <p:txBody>
          <a:bodyPr wrap="square" lIns="0" tIns="0" rIns="0" bIns="0" rtlCol="0" anchor="t"/>
          <a:lstStyle/>
          <a:p>
            <a:pPr indent="0" marL="0">
              <a:lnSpc>
                <a:spcPct val="110000"/>
              </a:lnSpc>
              <a:buNone/>
            </a:pPr>
            <a:r>
              <a:rPr lang="en-US" sz="1150" i="1" dirty="0">
                <a:solidFill>
                  <a:srgbClr val="B9C4D1"/>
                </a:solidFill>
                <a:latin typeface="Courier New" pitchFamily="34" charset="0"/>
                <a:ea typeface="Courier New" pitchFamily="34" charset="-122"/>
                <a:cs typeface="Courier New" pitchFamily="34" charset="-120"/>
              </a:rPr>
              <a:t># Byt bara lösenordet i den befintliga filen</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create secret generic db-credentials -n lab `</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--from-literal=password='Nytt!2026' --dry-run=client -o json |</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kubeseal --controller-name sealed-secrets-controller `</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--controller-namespace sealed-secrets `</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--merge-into db-credentials-sealed.yaml</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apply -f db-credentials-sealed.yaml</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a:t>
            </a:r>
            <a:endParaRPr lang="en-US" sz="1150" dirty="0"/>
          </a:p>
          <a:p>
            <a:pPr indent="0" marL="0">
              <a:lnSpc>
                <a:spcPct val="110000"/>
              </a:lnSpc>
              <a:buNone/>
            </a:pPr>
            <a:r>
              <a:rPr lang="en-US" sz="1150" i="1" dirty="0">
                <a:solidFill>
                  <a:srgbClr val="B9C4D1"/>
                </a:solidFill>
                <a:latin typeface="Courier New" pitchFamily="34" charset="0"/>
                <a:ea typeface="Courier New" pitchFamily="34" charset="-122"/>
                <a:cs typeface="Courier New" pitchFamily="34" charset="-120"/>
              </a:rPr>
              <a:t># Kryptera OFFLINE - bara med certifikatet (t.ex. i CI)</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create secret generic api-key -n lab --from-literal=key=cqrs_reader `</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--dry-run=client -o yaml | kubeseal --cert pub-cert.pem -o yaml &gt; api-key-sealed.yaml</a:t>
            </a:r>
            <a:endParaRPr lang="en-US" sz="1150" dirty="0"/>
          </a:p>
        </p:txBody>
      </p:sp>
      <p:sp>
        <p:nvSpPr>
          <p:cNvPr id="10" name="Shape 8"/>
          <p:cNvSpPr/>
          <p:nvPr/>
        </p:nvSpPr>
        <p:spPr>
          <a:xfrm>
            <a:off x="8412480" y="1554480"/>
            <a:ext cx="3230575" cy="1356360"/>
          </a:xfrm>
          <a:prstGeom prst="roundRect">
            <a:avLst>
              <a:gd name="adj" fmla="val 4045"/>
            </a:avLst>
          </a:prstGeom>
          <a:solidFill>
            <a:srgbClr val="3762FF"/>
          </a:solidFill>
          <a:ln w="12700">
            <a:solidFill>
              <a:srgbClr val="3762FF"/>
            </a:solidFill>
            <a:prstDash val="solid"/>
          </a:ln>
        </p:spPr>
      </p:sp>
      <p:sp>
        <p:nvSpPr>
          <p:cNvPr id="11" name="Text 9"/>
          <p:cNvSpPr txBox="1"/>
          <p:nvPr/>
        </p:nvSpPr>
        <p:spPr>
          <a:xfrm>
            <a:off x="8613648" y="1755648"/>
            <a:ext cx="2828239"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--merge-into</a:t>
            </a:r>
            <a:endParaRPr lang="en-US" sz="1400" dirty="0"/>
          </a:p>
        </p:txBody>
      </p:sp>
      <p:sp>
        <p:nvSpPr>
          <p:cNvPr id="12" name="Text 10"/>
          <p:cNvSpPr txBox="1"/>
          <p:nvPr/>
        </p:nvSpPr>
        <p:spPr>
          <a:xfrm>
            <a:off x="8613648" y="213969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Ersätter en nyckel i en befintlig SealedSecret.</a:t>
            </a:r>
            <a:endParaRPr lang="en-US" sz="1200" dirty="0"/>
          </a:p>
        </p:txBody>
      </p:sp>
      <p:sp>
        <p:nvSpPr>
          <p:cNvPr id="13" name="Shape 11"/>
          <p:cNvSpPr/>
          <p:nvPr/>
        </p:nvSpPr>
        <p:spPr>
          <a:xfrm>
            <a:off x="8412480" y="3048000"/>
            <a:ext cx="3230575" cy="1356360"/>
          </a:xfrm>
          <a:prstGeom prst="roundRect">
            <a:avLst>
              <a:gd name="adj" fmla="val 4045"/>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4" name="Text 12"/>
          <p:cNvSpPr txBox="1"/>
          <p:nvPr/>
        </p:nvSpPr>
        <p:spPr>
          <a:xfrm>
            <a:off x="8613648" y="3249168"/>
            <a:ext cx="2828239"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--cert</a:t>
            </a:r>
            <a:endParaRPr lang="en-US" sz="1400" dirty="0"/>
          </a:p>
        </p:txBody>
      </p:sp>
      <p:sp>
        <p:nvSpPr>
          <p:cNvPr id="15" name="Text 13"/>
          <p:cNvSpPr txBox="1"/>
          <p:nvPr/>
        </p:nvSpPr>
        <p:spPr>
          <a:xfrm>
            <a:off x="8613648" y="363321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Ingen kontakt med klustret behövs för att kryptera.</a:t>
            </a:r>
            <a:endParaRPr lang="en-US" sz="1200" dirty="0"/>
          </a:p>
        </p:txBody>
      </p:sp>
      <p:sp>
        <p:nvSpPr>
          <p:cNvPr id="16" name="Shape 14"/>
          <p:cNvSpPr/>
          <p:nvPr/>
        </p:nvSpPr>
        <p:spPr>
          <a:xfrm>
            <a:off x="8412480" y="4541520"/>
            <a:ext cx="3230575" cy="1356360"/>
          </a:xfrm>
          <a:prstGeom prst="roundRect">
            <a:avLst>
              <a:gd name="adj" fmla="val 4045"/>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7" name="Text 15"/>
          <p:cNvSpPr txBox="1"/>
          <p:nvPr/>
        </p:nvSpPr>
        <p:spPr>
          <a:xfrm>
            <a:off x="8613648" y="4742688"/>
            <a:ext cx="2828239"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Git-diff</a:t>
            </a:r>
            <a:endParaRPr lang="en-US" sz="1400" dirty="0"/>
          </a:p>
        </p:txBody>
      </p:sp>
      <p:sp>
        <p:nvSpPr>
          <p:cNvPr id="18" name="Text 16"/>
          <p:cNvSpPr txBox="1"/>
          <p:nvPr/>
        </p:nvSpPr>
        <p:spPr>
          <a:xfrm>
            <a:off x="8613648" y="512673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Bara den ändrade nyckeln får ny krypterad text.</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1F33"/>
        </a:solidFill>
      </p:bgPr>
    </p:bg>
    <p:spTree>
      <p:nvGrpSpPr>
        <p:cNvPr id="1" name=""/>
        <p:cNvGrpSpPr/>
        <p:nvPr/>
      </p:nvGrpSpPr>
      <p:grpSpPr>
        <a:xfrm>
          <a:off x="0" y="0"/>
          <a:ext cx="0" cy="0"/>
          <a:chOff x="0" y="0"/>
          <a:chExt cx="0" cy="0"/>
        </a:xfrm>
      </p:grpSpPr>
      <p:sp>
        <p:nvSpPr>
          <p:cNvPr id="2" name="Text 0"/>
          <p:cNvSpPr txBox="1"/>
          <p:nvPr/>
        </p:nvSpPr>
        <p:spPr>
          <a:xfrm>
            <a:off x="502920" y="1188720"/>
            <a:ext cx="4572000" cy="1920240"/>
          </a:xfrm>
          <a:prstGeom prst="rect">
            <a:avLst/>
          </a:prstGeom>
          <a:noFill/>
          <a:ln/>
        </p:spPr>
        <p:txBody>
          <a:bodyPr wrap="square" lIns="0" tIns="0" rIns="0" bIns="0" rtlCol="0" anchor="ctr"/>
          <a:lstStyle/>
          <a:p>
            <a:pPr indent="0" marL="0">
              <a:buNone/>
            </a:pPr>
            <a:r>
              <a:rPr lang="en-US" sz="15000" b="1" dirty="0">
                <a:solidFill>
                  <a:srgbClr val="16294A"/>
                </a:solidFill>
                <a:latin typeface="Calibri" pitchFamily="34" charset="0"/>
                <a:ea typeface="Calibri" pitchFamily="34" charset="-122"/>
                <a:cs typeface="Calibri" pitchFamily="34" charset="-120"/>
              </a:rPr>
              <a:t>04</a:t>
            </a:r>
            <a:endParaRPr lang="en-US" sz="15000" dirty="0"/>
          </a:p>
        </p:txBody>
      </p:sp>
      <p:sp>
        <p:nvSpPr>
          <p:cNvPr id="3" name="Text 1"/>
          <p:cNvSpPr txBox="1"/>
          <p:nvPr/>
        </p:nvSpPr>
        <p:spPr>
          <a:xfrm>
            <a:off x="548640" y="3063240"/>
            <a:ext cx="11094415" cy="822960"/>
          </a:xfrm>
          <a:prstGeom prst="rect">
            <a:avLst/>
          </a:prstGeom>
          <a:noFill/>
          <a:ln/>
        </p:spPr>
        <p:txBody>
          <a:bodyPr wrap="square" lIns="0" tIns="0" rIns="0" bIns="0" rtlCol="0" anchor="ctr"/>
          <a:lstStyle/>
          <a:p>
            <a:pPr indent="0" marL="0">
              <a:buNone/>
            </a:pPr>
            <a:r>
              <a:rPr lang="en-US" sz="5200" b="1" dirty="0">
                <a:solidFill>
                  <a:srgbClr val="F5F7FA"/>
                </a:solidFill>
                <a:latin typeface="Calibri" pitchFamily="34" charset="0"/>
                <a:ea typeface="Calibri" pitchFamily="34" charset="-122"/>
                <a:cs typeface="Calibri" pitchFamily="34" charset="-120"/>
              </a:rPr>
              <a:t>Knäck nyckeln</a:t>
            </a:r>
            <a:endParaRPr lang="en-US" sz="5200" dirty="0"/>
          </a:p>
        </p:txBody>
      </p:sp>
      <p:sp>
        <p:nvSpPr>
          <p:cNvPr id="4" name="Text 2"/>
          <p:cNvSpPr txBox="1"/>
          <p:nvPr/>
        </p:nvSpPr>
        <p:spPr>
          <a:xfrm>
            <a:off x="548640" y="3977640"/>
            <a:ext cx="9144000" cy="457200"/>
          </a:xfrm>
          <a:prstGeom prst="rect">
            <a:avLst/>
          </a:prstGeom>
          <a:noFill/>
          <a:ln/>
        </p:spPr>
        <p:txBody>
          <a:bodyPr wrap="square" lIns="0" tIns="0" rIns="0" bIns="0" rtlCol="0" anchor="t"/>
          <a:lstStyle/>
          <a:p>
            <a:pPr indent="0" marL="0">
              <a:lnSpc>
                <a:spcPct val="120000"/>
              </a:lnSpc>
              <a:buNone/>
            </a:pPr>
            <a:r>
              <a:rPr lang="en-US" sz="1800" dirty="0">
                <a:solidFill>
                  <a:srgbClr val="B9C4D1"/>
                </a:solidFill>
                <a:latin typeface="Arial" pitchFamily="34" charset="0"/>
                <a:ea typeface="Arial" pitchFamily="34" charset="-122"/>
                <a:cs typeface="Arial" pitchFamily="34" charset="-120"/>
              </a:rPr>
              <a:t>Var bor den privata nyckeln - och vem kan läsa den?</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1F33"/>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7C9CFF"/>
                </a:solidFill>
                <a:latin typeface="Arial" pitchFamily="34" charset="0"/>
                <a:ea typeface="Arial" pitchFamily="34" charset="-122"/>
                <a:cs typeface="Arial" pitchFamily="34" charset="-120"/>
              </a:rPr>
              <a:t>KNÄCK NYCKELN · VAR BOR DEN?</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F5F7FA"/>
                </a:solidFill>
                <a:latin typeface="Calibri" pitchFamily="34" charset="0"/>
                <a:ea typeface="Calibri" pitchFamily="34" charset="-122"/>
                <a:cs typeface="Calibri" pitchFamily="34" charset="-120"/>
              </a:rPr>
              <a:t>Nyckeln är en vanlig Secret</a:t>
            </a:r>
            <a:endParaRPr lang="en-US" sz="3000" dirty="0"/>
          </a:p>
        </p:txBody>
      </p:sp>
      <p:sp>
        <p:nvSpPr>
          <p:cNvPr id="4" name="Shape 2"/>
          <p:cNvSpPr/>
          <p:nvPr/>
        </p:nvSpPr>
        <p:spPr>
          <a:xfrm>
            <a:off x="548640" y="1737360"/>
            <a:ext cx="3291840" cy="1188720"/>
          </a:xfrm>
          <a:prstGeom prst="roundRect">
            <a:avLst>
              <a:gd name="adj" fmla="val 4615"/>
            </a:avLst>
          </a:prstGeom>
          <a:solidFill>
            <a:srgbClr val="3762FF"/>
          </a:solidFill>
          <a:ln w="12700">
            <a:solidFill>
              <a:srgbClr val="3762FF"/>
            </a:solidFill>
            <a:prstDash val="solid"/>
          </a:ln>
        </p:spPr>
      </p:sp>
      <p:sp>
        <p:nvSpPr>
          <p:cNvPr id="5" name="Text 3"/>
          <p:cNvSpPr txBox="1"/>
          <p:nvPr/>
        </p:nvSpPr>
        <p:spPr>
          <a:xfrm>
            <a:off x="640080" y="1737360"/>
            <a:ext cx="3108960" cy="11887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Secret</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sealed-secrets-key…</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tls.crt + tls.key</a:t>
            </a:r>
            <a:endParaRPr lang="en-US" sz="1400" dirty="0"/>
          </a:p>
        </p:txBody>
      </p:sp>
      <p:sp>
        <p:nvSpPr>
          <p:cNvPr id="6" name="Shape 4"/>
          <p:cNvSpPr/>
          <p:nvPr/>
        </p:nvSpPr>
        <p:spPr>
          <a:xfrm>
            <a:off x="4754880" y="1737360"/>
            <a:ext cx="3017520" cy="1188720"/>
          </a:xfrm>
          <a:prstGeom prst="roundRect">
            <a:avLst>
              <a:gd name="adj" fmla="val 4615"/>
            </a:avLst>
          </a:prstGeom>
          <a:solidFill>
            <a:srgbClr val="16294A"/>
          </a:solidFill>
          <a:ln w="12700">
            <a:solidFill>
              <a:srgbClr val="16294A"/>
            </a:solidFill>
            <a:prstDash val="solid"/>
          </a:ln>
        </p:spPr>
      </p:sp>
      <p:sp>
        <p:nvSpPr>
          <p:cNvPr id="7" name="Text 5"/>
          <p:cNvSpPr txBox="1"/>
          <p:nvPr/>
        </p:nvSpPr>
        <p:spPr>
          <a:xfrm>
            <a:off x="4846320" y="1737360"/>
            <a:ext cx="2834640" cy="1188720"/>
          </a:xfrm>
          <a:prstGeom prst="rect">
            <a:avLst/>
          </a:prstGeom>
          <a:noFill/>
          <a:ln/>
        </p:spPr>
        <p:txBody>
          <a:bodyPr wrap="square" lIns="0" tIns="0" rIns="0" bIns="0" rtlCol="0" anchor="ctr"/>
          <a:lstStyle/>
          <a:p>
            <a:pPr algn="ctr" indent="0" marL="0">
              <a:buNone/>
            </a:pPr>
            <a:r>
              <a:rPr lang="en-US" sz="1300" b="1" dirty="0">
                <a:solidFill>
                  <a:srgbClr val="F5F7FA"/>
                </a:solidFill>
                <a:latin typeface="Calibri" pitchFamily="34" charset="0"/>
                <a:ea typeface="Calibri" pitchFamily="34" charset="-122"/>
                <a:cs typeface="Calibri" pitchFamily="34" charset="-120"/>
              </a:rPr>
              <a:t>Pod</a:t>
            </a:r>
            <a:endParaRPr lang="en-US" sz="1300" dirty="0"/>
          </a:p>
          <a:p>
            <a:pPr algn="ctr" indent="0" marL="0">
              <a:buNone/>
            </a:pPr>
            <a:r>
              <a:rPr lang="en-US" sz="1300" b="1" dirty="0">
                <a:solidFill>
                  <a:srgbClr val="F5F7FA"/>
                </a:solidFill>
                <a:latin typeface="Calibri" pitchFamily="34" charset="0"/>
                <a:ea typeface="Calibri" pitchFamily="34" charset="-122"/>
                <a:cs typeface="Calibri" pitchFamily="34" charset="-120"/>
              </a:rPr>
              <a:t>sealed-secrets-controller</a:t>
            </a:r>
            <a:endParaRPr lang="en-US" sz="1300" dirty="0"/>
          </a:p>
          <a:p>
            <a:pPr algn="ctr" indent="0" marL="0">
              <a:buNone/>
            </a:pPr>
            <a:r>
              <a:rPr lang="en-US" sz="1300" b="1" dirty="0">
                <a:solidFill>
                  <a:srgbClr val="F5F7FA"/>
                </a:solidFill>
                <a:latin typeface="Calibri" pitchFamily="34" charset="0"/>
                <a:ea typeface="Calibri" pitchFamily="34" charset="-122"/>
                <a:cs typeface="Calibri" pitchFamily="34" charset="-120"/>
              </a:rPr>
              <a:t>laddar nyckeln i minnet</a:t>
            </a:r>
            <a:endParaRPr lang="en-US" sz="1300" dirty="0"/>
          </a:p>
        </p:txBody>
      </p:sp>
      <p:sp>
        <p:nvSpPr>
          <p:cNvPr id="8" name="Shape 6"/>
          <p:cNvSpPr/>
          <p:nvPr/>
        </p:nvSpPr>
        <p:spPr>
          <a:xfrm>
            <a:off x="8778240" y="1737360"/>
            <a:ext cx="2834640" cy="1188720"/>
          </a:xfrm>
          <a:prstGeom prst="roundRect">
            <a:avLst>
              <a:gd name="adj" fmla="val 4615"/>
            </a:avLst>
          </a:prstGeom>
          <a:solidFill>
            <a:srgbClr val="16294A"/>
          </a:solidFill>
          <a:ln w="12700">
            <a:solidFill>
              <a:srgbClr val="16294A"/>
            </a:solidFill>
            <a:prstDash val="solid"/>
          </a:ln>
        </p:spPr>
      </p:sp>
      <p:sp>
        <p:nvSpPr>
          <p:cNvPr id="9" name="Text 7"/>
          <p:cNvSpPr txBox="1"/>
          <p:nvPr/>
        </p:nvSpPr>
        <p:spPr>
          <a:xfrm>
            <a:off x="8869680" y="1737360"/>
            <a:ext cx="2651760" cy="1188720"/>
          </a:xfrm>
          <a:prstGeom prst="rect">
            <a:avLst/>
          </a:prstGeom>
          <a:noFill/>
          <a:ln/>
        </p:spPr>
        <p:txBody>
          <a:bodyPr wrap="square" lIns="0" tIns="0" rIns="0" bIns="0" rtlCol="0" anchor="ctr"/>
          <a:lstStyle/>
          <a:p>
            <a:pPr algn="ctr" indent="0" marL="0">
              <a:buNone/>
            </a:pPr>
            <a:r>
              <a:rPr lang="en-US" sz="1400" b="1" dirty="0">
                <a:solidFill>
                  <a:srgbClr val="F5F7FA"/>
                </a:solidFill>
                <a:latin typeface="Calibri" pitchFamily="34" charset="0"/>
                <a:ea typeface="Calibri" pitchFamily="34" charset="-122"/>
                <a:cs typeface="Calibri" pitchFamily="34" charset="-120"/>
              </a:rPr>
              <a:t>SealedSecret</a:t>
            </a:r>
            <a:endParaRPr lang="en-US" sz="1400" dirty="0"/>
          </a:p>
          <a:p>
            <a:pPr algn="ctr" indent="0" marL="0">
              <a:buNone/>
            </a:pPr>
            <a:r>
              <a:rPr lang="en-US" sz="1400" b="1" dirty="0">
                <a:solidFill>
                  <a:srgbClr val="F5F7FA"/>
                </a:solidFill>
                <a:latin typeface="Calibri" pitchFamily="34" charset="0"/>
                <a:ea typeface="Calibri" pitchFamily="34" charset="-122"/>
                <a:cs typeface="Calibri" pitchFamily="34" charset="-120"/>
              </a:rPr>
              <a:t>→ Secret</a:t>
            </a:r>
            <a:endParaRPr lang="en-US" sz="1400" dirty="0"/>
          </a:p>
        </p:txBody>
      </p:sp>
      <p:sp>
        <p:nvSpPr>
          <p:cNvPr id="10" name="Shape 8"/>
          <p:cNvSpPr/>
          <p:nvPr/>
        </p:nvSpPr>
        <p:spPr>
          <a:xfrm>
            <a:off x="3886200" y="2331720"/>
            <a:ext cx="822960" cy="0"/>
          </a:xfrm>
          <a:prstGeom prst="line">
            <a:avLst/>
          </a:prstGeom>
          <a:noFill/>
          <a:ln w="19050">
            <a:solidFill>
              <a:srgbClr val="7C9CFF"/>
            </a:solidFill>
            <a:prstDash val="solid"/>
            <a:tailEnd type="triangle"/>
          </a:ln>
        </p:spPr>
      </p:sp>
      <p:sp>
        <p:nvSpPr>
          <p:cNvPr id="11" name="Shape 9"/>
          <p:cNvSpPr/>
          <p:nvPr/>
        </p:nvSpPr>
        <p:spPr>
          <a:xfrm>
            <a:off x="7818120" y="2331720"/>
            <a:ext cx="914400" cy="0"/>
          </a:xfrm>
          <a:prstGeom prst="line">
            <a:avLst/>
          </a:prstGeom>
          <a:noFill/>
          <a:ln w="19050">
            <a:solidFill>
              <a:srgbClr val="7C9CFF"/>
            </a:solidFill>
            <a:prstDash val="solid"/>
            <a:tailEnd type="triangle"/>
          </a:ln>
        </p:spPr>
      </p:sp>
      <p:sp>
        <p:nvSpPr>
          <p:cNvPr id="12" name="Text 10"/>
          <p:cNvSpPr txBox="1"/>
          <p:nvPr/>
        </p:nvSpPr>
        <p:spPr>
          <a:xfrm>
            <a:off x="548640" y="3063240"/>
            <a:ext cx="11094415" cy="365760"/>
          </a:xfrm>
          <a:prstGeom prst="rect">
            <a:avLst/>
          </a:prstGeom>
          <a:noFill/>
          <a:ln/>
        </p:spPr>
        <p:txBody>
          <a:bodyPr wrap="square" lIns="0" tIns="0" rIns="0" bIns="0" rtlCol="0" anchor="t"/>
          <a:lstStyle/>
          <a:p>
            <a:pPr indent="0" marL="0">
              <a:lnSpc>
                <a:spcPct val="120000"/>
              </a:lnSpc>
              <a:buNone/>
            </a:pPr>
            <a:r>
              <a:rPr lang="en-US" sz="1200" dirty="0">
                <a:solidFill>
                  <a:srgbClr val="B9C4D1"/>
                </a:solidFill>
                <a:latin typeface="Courier New" pitchFamily="34" charset="0"/>
                <a:ea typeface="Courier New" pitchFamily="34" charset="-122"/>
                <a:cs typeface="Courier New" pitchFamily="34" charset="-120"/>
              </a:rPr>
              <a:t>namespace sealed-secrets · label sealedsecrets.bitnami.com/sealed-secrets-key=active</a:t>
            </a:r>
            <a:endParaRPr lang="en-US" sz="1200" dirty="0"/>
          </a:p>
        </p:txBody>
      </p:sp>
      <p:sp>
        <p:nvSpPr>
          <p:cNvPr id="13" name="Shape 11"/>
          <p:cNvSpPr/>
          <p:nvPr/>
        </p:nvSpPr>
        <p:spPr>
          <a:xfrm>
            <a:off x="548640" y="3657600"/>
            <a:ext cx="3606698" cy="1600200"/>
          </a:xfrm>
          <a:prstGeom prst="roundRect">
            <a:avLst>
              <a:gd name="adj" fmla="val 3429"/>
            </a:avLst>
          </a:prstGeom>
          <a:solidFill>
            <a:srgbClr val="16294A"/>
          </a:solidFill>
          <a:ln w="12700">
            <a:solidFill>
              <a:srgbClr val="16294A"/>
            </a:solidFill>
            <a:prstDash val="solid"/>
          </a:ln>
        </p:spPr>
      </p:sp>
      <p:sp>
        <p:nvSpPr>
          <p:cNvPr id="14" name="Text 12"/>
          <p:cNvSpPr txBox="1"/>
          <p:nvPr/>
        </p:nvSpPr>
        <p:spPr>
          <a:xfrm>
            <a:off x="749808" y="3858768"/>
            <a:ext cx="3204362" cy="320040"/>
          </a:xfrm>
          <a:prstGeom prst="rect">
            <a:avLst/>
          </a:prstGeom>
          <a:noFill/>
          <a:ln/>
        </p:spPr>
        <p:txBody>
          <a:bodyPr wrap="square" lIns="0" tIns="0" rIns="0" bIns="0" rtlCol="0" anchor="t"/>
          <a:lstStyle/>
          <a:p>
            <a:pPr indent="0" marL="0">
              <a:buNone/>
            </a:pPr>
            <a:r>
              <a:rPr lang="en-US" sz="1500" b="1" dirty="0">
                <a:solidFill>
                  <a:srgbClr val="F5F7FA"/>
                </a:solidFill>
                <a:latin typeface="Calibri" pitchFamily="34" charset="0"/>
                <a:ea typeface="Calibri" pitchFamily="34" charset="-122"/>
                <a:cs typeface="Calibri" pitchFamily="34" charset="-120"/>
              </a:rPr>
              <a:t>Certifikatet (tls.crt)</a:t>
            </a:r>
            <a:endParaRPr lang="en-US" sz="1500" dirty="0"/>
          </a:p>
        </p:txBody>
      </p:sp>
      <p:sp>
        <p:nvSpPr>
          <p:cNvPr id="15" name="Text 13"/>
          <p:cNvSpPr txBox="1"/>
          <p:nvPr/>
        </p:nvSpPr>
        <p:spPr>
          <a:xfrm>
            <a:off x="749808" y="4242816"/>
            <a:ext cx="3204362" cy="859536"/>
          </a:xfrm>
          <a:prstGeom prst="rect">
            <a:avLst/>
          </a:prstGeom>
          <a:noFill/>
          <a:ln/>
        </p:spPr>
        <p:txBody>
          <a:bodyPr wrap="square" lIns="0" tIns="0" rIns="0" bIns="0" rtlCol="0" anchor="t"/>
          <a:lstStyle/>
          <a:p>
            <a:pPr indent="0" marL="0">
              <a:lnSpc>
                <a:spcPct val="115000"/>
              </a:lnSpc>
              <a:buNone/>
            </a:pPr>
            <a:r>
              <a:rPr lang="en-US" sz="1300" dirty="0">
                <a:solidFill>
                  <a:srgbClr val="B9C4D1"/>
                </a:solidFill>
                <a:latin typeface="Arial" pitchFamily="34" charset="0"/>
                <a:ea typeface="Arial" pitchFamily="34" charset="-122"/>
                <a:cs typeface="Arial" pitchFamily="34" charset="-120"/>
              </a:rPr>
              <a:t>Publikt - samma som pub-cert.pem. Kan bara kryptera.</a:t>
            </a:r>
            <a:endParaRPr lang="en-US" sz="1300" dirty="0"/>
          </a:p>
        </p:txBody>
      </p:sp>
      <p:sp>
        <p:nvSpPr>
          <p:cNvPr id="16" name="Shape 14"/>
          <p:cNvSpPr/>
          <p:nvPr/>
        </p:nvSpPr>
        <p:spPr>
          <a:xfrm>
            <a:off x="4292498" y="3657600"/>
            <a:ext cx="3606698" cy="1600200"/>
          </a:xfrm>
          <a:prstGeom prst="roundRect">
            <a:avLst>
              <a:gd name="adj" fmla="val 3429"/>
            </a:avLst>
          </a:prstGeom>
          <a:solidFill>
            <a:srgbClr val="3762FF"/>
          </a:solidFill>
          <a:ln w="12700">
            <a:solidFill>
              <a:srgbClr val="3762FF"/>
            </a:solidFill>
            <a:prstDash val="solid"/>
          </a:ln>
        </p:spPr>
      </p:sp>
      <p:sp>
        <p:nvSpPr>
          <p:cNvPr id="17" name="Text 15"/>
          <p:cNvSpPr txBox="1"/>
          <p:nvPr/>
        </p:nvSpPr>
        <p:spPr>
          <a:xfrm>
            <a:off x="4493666" y="3858768"/>
            <a:ext cx="3204362" cy="3200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Nyckeln (tls.key)</a:t>
            </a:r>
            <a:endParaRPr lang="en-US" sz="1500" dirty="0"/>
          </a:p>
        </p:txBody>
      </p:sp>
      <p:sp>
        <p:nvSpPr>
          <p:cNvPr id="18" name="Text 16"/>
          <p:cNvSpPr txBox="1"/>
          <p:nvPr/>
        </p:nvSpPr>
        <p:spPr>
          <a:xfrm>
            <a:off x="4493666" y="4242816"/>
            <a:ext cx="3204362" cy="859536"/>
          </a:xfrm>
          <a:prstGeom prst="rect">
            <a:avLst/>
          </a:prstGeom>
          <a:noFill/>
          <a:ln/>
        </p:spPr>
        <p:txBody>
          <a:bodyPr wrap="square" lIns="0" tIns="0" rIns="0" bIns="0" rtlCol="0" anchor="t"/>
          <a:lstStyle/>
          <a:p>
            <a:pPr indent="0" marL="0">
              <a:lnSpc>
                <a:spcPct val="115000"/>
              </a:lnSpc>
              <a:buNone/>
            </a:pPr>
            <a:r>
              <a:rPr lang="en-US" sz="1300" dirty="0">
                <a:solidFill>
                  <a:srgbClr val="FFFFFF"/>
                </a:solidFill>
                <a:latin typeface="Arial" pitchFamily="34" charset="0"/>
                <a:ea typeface="Arial" pitchFamily="34" charset="-122"/>
                <a:cs typeface="Arial" pitchFamily="34" charset="-120"/>
              </a:rPr>
              <a:t>Privat - dekrypterar ALLA SealedSecrets i klustret.</a:t>
            </a:r>
            <a:endParaRPr lang="en-US" sz="1300" dirty="0"/>
          </a:p>
        </p:txBody>
      </p:sp>
      <p:sp>
        <p:nvSpPr>
          <p:cNvPr id="19" name="Shape 17"/>
          <p:cNvSpPr/>
          <p:nvPr/>
        </p:nvSpPr>
        <p:spPr>
          <a:xfrm>
            <a:off x="8036357" y="3657600"/>
            <a:ext cx="3606698" cy="1600200"/>
          </a:xfrm>
          <a:prstGeom prst="roundRect">
            <a:avLst>
              <a:gd name="adj" fmla="val 3429"/>
            </a:avLst>
          </a:prstGeom>
          <a:solidFill>
            <a:srgbClr val="16294A"/>
          </a:solidFill>
          <a:ln w="12700">
            <a:solidFill>
              <a:srgbClr val="16294A"/>
            </a:solidFill>
            <a:prstDash val="solid"/>
          </a:ln>
        </p:spPr>
      </p:sp>
      <p:sp>
        <p:nvSpPr>
          <p:cNvPr id="20" name="Text 18"/>
          <p:cNvSpPr txBox="1"/>
          <p:nvPr/>
        </p:nvSpPr>
        <p:spPr>
          <a:xfrm>
            <a:off x="8237525" y="3858768"/>
            <a:ext cx="3204362" cy="320040"/>
          </a:xfrm>
          <a:prstGeom prst="rect">
            <a:avLst/>
          </a:prstGeom>
          <a:noFill/>
          <a:ln/>
        </p:spPr>
        <p:txBody>
          <a:bodyPr wrap="square" lIns="0" tIns="0" rIns="0" bIns="0" rtlCol="0" anchor="t"/>
          <a:lstStyle/>
          <a:p>
            <a:pPr indent="0" marL="0">
              <a:buNone/>
            </a:pPr>
            <a:r>
              <a:rPr lang="en-US" sz="1500" b="1" dirty="0">
                <a:solidFill>
                  <a:srgbClr val="F5F7FA"/>
                </a:solidFill>
                <a:latin typeface="Calibri" pitchFamily="34" charset="0"/>
                <a:ea typeface="Calibri" pitchFamily="34" charset="-122"/>
                <a:cs typeface="Calibri" pitchFamily="34" charset="-120"/>
              </a:rPr>
              <a:t>Vem kan läsa den?</a:t>
            </a:r>
            <a:endParaRPr lang="en-US" sz="1500" dirty="0"/>
          </a:p>
        </p:txBody>
      </p:sp>
      <p:sp>
        <p:nvSpPr>
          <p:cNvPr id="21" name="Text 19"/>
          <p:cNvSpPr txBox="1"/>
          <p:nvPr/>
        </p:nvSpPr>
        <p:spPr>
          <a:xfrm>
            <a:off x="8237525" y="4242816"/>
            <a:ext cx="3204362" cy="859536"/>
          </a:xfrm>
          <a:prstGeom prst="rect">
            <a:avLst/>
          </a:prstGeom>
          <a:noFill/>
          <a:ln/>
        </p:spPr>
        <p:txBody>
          <a:bodyPr wrap="square" lIns="0" tIns="0" rIns="0" bIns="0" rtlCol="0" anchor="t"/>
          <a:lstStyle/>
          <a:p>
            <a:pPr indent="0" marL="0">
              <a:lnSpc>
                <a:spcPct val="115000"/>
              </a:lnSpc>
              <a:buNone/>
            </a:pPr>
            <a:r>
              <a:rPr lang="en-US" sz="1300" dirty="0">
                <a:solidFill>
                  <a:srgbClr val="B9C4D1"/>
                </a:solidFill>
                <a:latin typeface="Arial" pitchFamily="34" charset="0"/>
                <a:ea typeface="Arial" pitchFamily="34" charset="-122"/>
                <a:cs typeface="Arial" pitchFamily="34" charset="-120"/>
              </a:rPr>
              <a:t>Alla med rätt att läsa Secrets i namespacet sealed-secrets.</a:t>
            </a:r>
            <a:endParaRPr lang="en-US" sz="1300" dirty="0"/>
          </a:p>
        </p:txBody>
      </p:sp>
      <p:sp>
        <p:nvSpPr>
          <p:cNvPr id="22" name="Text 20"/>
          <p:cNvSpPr txBox="1"/>
          <p:nvPr/>
        </p:nvSpPr>
        <p:spPr>
          <a:xfrm>
            <a:off x="548640" y="5440680"/>
            <a:ext cx="11094415" cy="457200"/>
          </a:xfrm>
          <a:prstGeom prst="rect">
            <a:avLst/>
          </a:prstGeom>
          <a:noFill/>
          <a:ln/>
        </p:spPr>
        <p:txBody>
          <a:bodyPr wrap="square" lIns="0" tIns="0" rIns="0" bIns="0" rtlCol="0" anchor="t"/>
          <a:lstStyle/>
          <a:p>
            <a:pPr indent="0" marL="0">
              <a:lnSpc>
                <a:spcPct val="120000"/>
              </a:lnSpc>
              <a:buNone/>
            </a:pPr>
            <a:r>
              <a:rPr lang="en-US" sz="1400" dirty="0">
                <a:solidFill>
                  <a:srgbClr val="B9C4D1"/>
                </a:solidFill>
                <a:latin typeface="Arial" pitchFamily="34" charset="0"/>
                <a:ea typeface="Arial" pitchFamily="34" charset="-122"/>
                <a:cs typeface="Arial" pitchFamily="34" charset="-120"/>
              </a:rPr>
              <a:t>Podden har ingen hemlig fil - nyckeln lagras i klustret som allt annat, och podden läser den via API:t.</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LABB 4A · HÄMTA NYCKELN</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Ta ut controllerns nyckelpar med kubectl</a:t>
            </a:r>
            <a:endParaRPr lang="en-US" sz="3000" dirty="0"/>
          </a:p>
        </p:txBody>
      </p:sp>
      <p:sp>
        <p:nvSpPr>
          <p:cNvPr id="4" name="Shape 2"/>
          <p:cNvSpPr/>
          <p:nvPr/>
        </p:nvSpPr>
        <p:spPr>
          <a:xfrm>
            <a:off x="548640" y="1554480"/>
            <a:ext cx="7498080" cy="4343400"/>
          </a:xfrm>
          <a:prstGeom prst="roundRect">
            <a:avLst>
              <a:gd name="adj" fmla="val 1263"/>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5" name="Shape 3"/>
          <p:cNvSpPr/>
          <p:nvPr/>
        </p:nvSpPr>
        <p:spPr>
          <a:xfrm>
            <a:off x="749808" y="171907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1907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1907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45920"/>
            <a:ext cx="6492240" cy="256032"/>
          </a:xfrm>
          <a:prstGeom prst="rect">
            <a:avLst/>
          </a:prstGeom>
          <a:noFill/>
          <a:ln/>
        </p:spPr>
        <p:txBody>
          <a:bodyPr wrap="square" lIns="0" tIns="0" rIns="0" bIns="0" rtlCol="0" anchor="ctr"/>
          <a:lstStyle/>
          <a:p>
            <a:pPr indent="0" marL="0">
              <a:buNone/>
            </a:pPr>
            <a:r>
              <a:rPr lang="en-US" sz="1100" dirty="0">
                <a:solidFill>
                  <a:srgbClr val="B9C4D1"/>
                </a:solidFill>
                <a:latin typeface="Courier New" pitchFamily="34" charset="0"/>
                <a:ea typeface="Courier New" pitchFamily="34" charset="-122"/>
                <a:cs typeface="Courier New" pitchFamily="34" charset="-120"/>
              </a:rPr>
              <a:t>powershell</a:t>
            </a:r>
            <a:endParaRPr lang="en-US" sz="1100" dirty="0"/>
          </a:p>
        </p:txBody>
      </p:sp>
      <p:sp>
        <p:nvSpPr>
          <p:cNvPr id="9" name="Text 7"/>
          <p:cNvSpPr txBox="1"/>
          <p:nvPr/>
        </p:nvSpPr>
        <p:spPr>
          <a:xfrm>
            <a:off x="777240" y="2011680"/>
            <a:ext cx="7040880" cy="3749040"/>
          </a:xfrm>
          <a:prstGeom prst="rect">
            <a:avLst/>
          </a:prstGeom>
          <a:noFill/>
          <a:ln/>
        </p:spPr>
        <p:txBody>
          <a:bodyPr wrap="square" lIns="0" tIns="0" rIns="0" bIns="0" rtlCol="0" anchor="t"/>
          <a:lstStyle/>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get secrets -n sealed-secrets `</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-l sealedsecrets.bitnami.com/sealed-secrets-key=active</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a:t>
            </a:r>
            <a:endParaRPr lang="en-US" sz="1150" dirty="0"/>
          </a:p>
          <a:p>
            <a:pPr indent="0" marL="0">
              <a:lnSpc>
                <a:spcPct val="110000"/>
              </a:lnSpc>
              <a:buNone/>
            </a:pPr>
            <a:r>
              <a:rPr lang="en-US" sz="1150" i="1" dirty="0">
                <a:solidFill>
                  <a:srgbClr val="B9C4D1"/>
                </a:solidFill>
                <a:latin typeface="Courier New" pitchFamily="34" charset="0"/>
                <a:ea typeface="Courier New" pitchFamily="34" charset="-122"/>
                <a:cs typeface="Courier New" pitchFamily="34" charset="-120"/>
              </a:rPr>
              <a:t># Spara hela nyckel-Secret:en (som admin - det är just poängen)</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get secret -n sealed-secrets `</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-l sealedsecrets.bitnami.com/sealed-secrets-key=active `</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-o yaml &gt; sealed-secrets-key.yaml</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a:t>
            </a:r>
            <a:endParaRPr lang="en-US" sz="1150" dirty="0"/>
          </a:p>
          <a:p>
            <a:pPr indent="0" marL="0">
              <a:lnSpc>
                <a:spcPct val="110000"/>
              </a:lnSpc>
              <a:buNone/>
            </a:pPr>
            <a:r>
              <a:rPr lang="en-US" sz="1150" i="1" dirty="0">
                <a:solidFill>
                  <a:srgbClr val="B9C4D1"/>
                </a:solidFill>
                <a:latin typeface="Courier New" pitchFamily="34" charset="0"/>
                <a:ea typeface="Courier New" pitchFamily="34" charset="-122"/>
                <a:cs typeface="Courier New" pitchFamily="34" charset="-120"/>
              </a:rPr>
              <a:t># Certifikatet i nyckel-Secret:en = det publika certifikatet från labb 3a</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get secret -n sealed-secrets `</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-l sealedsecrets.bitnami.com/sealed-secrets-key=active `</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-o go-template='{{range .items}}{{index .data "tls.crt" | base64decode}}{{end}}'</a:t>
            </a:r>
            <a:endParaRPr lang="en-US" sz="1150" dirty="0"/>
          </a:p>
        </p:txBody>
      </p:sp>
      <p:sp>
        <p:nvSpPr>
          <p:cNvPr id="10" name="Shape 8"/>
          <p:cNvSpPr/>
          <p:nvPr/>
        </p:nvSpPr>
        <p:spPr>
          <a:xfrm>
            <a:off x="8412480" y="1554480"/>
            <a:ext cx="3230575" cy="1356360"/>
          </a:xfrm>
          <a:prstGeom prst="roundRect">
            <a:avLst>
              <a:gd name="adj" fmla="val 4045"/>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1" name="Text 9"/>
          <p:cNvSpPr txBox="1"/>
          <p:nvPr/>
        </p:nvSpPr>
        <p:spPr>
          <a:xfrm>
            <a:off x="8613648" y="1755648"/>
            <a:ext cx="2828239"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-l (label)</a:t>
            </a:r>
            <a:endParaRPr lang="en-US" sz="1400" dirty="0"/>
          </a:p>
        </p:txBody>
      </p:sp>
      <p:sp>
        <p:nvSpPr>
          <p:cNvPr id="12" name="Text 10"/>
          <p:cNvSpPr txBox="1"/>
          <p:nvPr/>
        </p:nvSpPr>
        <p:spPr>
          <a:xfrm>
            <a:off x="8613648" y="213969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Nyckelns namn slumpas - labeln hittar den.</a:t>
            </a:r>
            <a:endParaRPr lang="en-US" sz="1200" dirty="0"/>
          </a:p>
        </p:txBody>
      </p:sp>
      <p:sp>
        <p:nvSpPr>
          <p:cNvPr id="13" name="Shape 11"/>
          <p:cNvSpPr/>
          <p:nvPr/>
        </p:nvSpPr>
        <p:spPr>
          <a:xfrm>
            <a:off x="8412480" y="3048000"/>
            <a:ext cx="3230575" cy="1356360"/>
          </a:xfrm>
          <a:prstGeom prst="roundRect">
            <a:avLst>
              <a:gd name="adj" fmla="val 4045"/>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4" name="Text 12"/>
          <p:cNvSpPr txBox="1"/>
          <p:nvPr/>
        </p:nvSpPr>
        <p:spPr>
          <a:xfrm>
            <a:off x="8613648" y="3249168"/>
            <a:ext cx="2828239"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tls.crt</a:t>
            </a:r>
            <a:endParaRPr lang="en-US" sz="1400" dirty="0"/>
          </a:p>
        </p:txBody>
      </p:sp>
      <p:sp>
        <p:nvSpPr>
          <p:cNvPr id="15" name="Text 13"/>
          <p:cNvSpPr txBox="1"/>
          <p:nvPr/>
        </p:nvSpPr>
        <p:spPr>
          <a:xfrm>
            <a:off x="8613648" y="363321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Jämför med pub-cert.pem - identiska.</a:t>
            </a:r>
            <a:endParaRPr lang="en-US" sz="1200" dirty="0"/>
          </a:p>
        </p:txBody>
      </p:sp>
      <p:sp>
        <p:nvSpPr>
          <p:cNvPr id="16" name="Shape 14"/>
          <p:cNvSpPr/>
          <p:nvPr/>
        </p:nvSpPr>
        <p:spPr>
          <a:xfrm>
            <a:off x="8412480" y="4541520"/>
            <a:ext cx="3230575" cy="1356360"/>
          </a:xfrm>
          <a:prstGeom prst="roundRect">
            <a:avLst>
              <a:gd name="adj" fmla="val 4045"/>
            </a:avLst>
          </a:prstGeom>
          <a:solidFill>
            <a:srgbClr val="3762FF"/>
          </a:solidFill>
          <a:ln w="12700">
            <a:solidFill>
              <a:srgbClr val="3762FF"/>
            </a:solidFill>
            <a:prstDash val="solid"/>
          </a:ln>
        </p:spPr>
      </p:sp>
      <p:sp>
        <p:nvSpPr>
          <p:cNvPr id="17" name="Text 15"/>
          <p:cNvSpPr txBox="1"/>
          <p:nvPr/>
        </p:nvSpPr>
        <p:spPr>
          <a:xfrm>
            <a:off x="8613648" y="4742688"/>
            <a:ext cx="2828239"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sealed-secrets-key.yaml</a:t>
            </a:r>
            <a:endParaRPr lang="en-US" sz="1400" dirty="0"/>
          </a:p>
        </p:txBody>
      </p:sp>
      <p:sp>
        <p:nvSpPr>
          <p:cNvPr id="18" name="Text 16"/>
          <p:cNvSpPr txBox="1"/>
          <p:nvPr/>
        </p:nvSpPr>
        <p:spPr>
          <a:xfrm>
            <a:off x="8613648" y="512673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Behandla filen som det farligaste ni har ikväll.</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F1F33"/>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7C9CFF"/>
                </a:solidFill>
                <a:latin typeface="Arial" pitchFamily="34" charset="0"/>
                <a:ea typeface="Arial" pitchFamily="34" charset="-122"/>
                <a:cs typeface="Arial" pitchFamily="34" charset="-120"/>
              </a:rPr>
              <a:t>LABB 4B · DEKRYPTERA</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F5F7FA"/>
                </a:solidFill>
                <a:latin typeface="Calibri" pitchFamily="34" charset="0"/>
                <a:ea typeface="Calibri" pitchFamily="34" charset="-122"/>
                <a:cs typeface="Calibri" pitchFamily="34" charset="-120"/>
              </a:rPr>
              <a:t>Från Git-filen tillbaka till klartext</a:t>
            </a:r>
            <a:endParaRPr lang="en-US" sz="3000" dirty="0"/>
          </a:p>
        </p:txBody>
      </p:sp>
      <p:sp>
        <p:nvSpPr>
          <p:cNvPr id="4" name="Shape 2"/>
          <p:cNvSpPr/>
          <p:nvPr/>
        </p:nvSpPr>
        <p:spPr>
          <a:xfrm>
            <a:off x="548640" y="1554480"/>
            <a:ext cx="7498080" cy="4343400"/>
          </a:xfrm>
          <a:prstGeom prst="roundRect">
            <a:avLst>
              <a:gd name="adj" fmla="val 1263"/>
            </a:avLst>
          </a:prstGeom>
          <a:solidFill>
            <a:srgbClr val="16294A"/>
          </a:solidFill>
          <a:ln w="12700">
            <a:solidFill>
              <a:srgbClr val="16294A"/>
            </a:solidFill>
            <a:prstDash val="solid"/>
          </a:ln>
        </p:spPr>
      </p:sp>
      <p:sp>
        <p:nvSpPr>
          <p:cNvPr id="5" name="Shape 3"/>
          <p:cNvSpPr/>
          <p:nvPr/>
        </p:nvSpPr>
        <p:spPr>
          <a:xfrm>
            <a:off x="749808" y="171907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1907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1907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45920"/>
            <a:ext cx="6492240" cy="256032"/>
          </a:xfrm>
          <a:prstGeom prst="rect">
            <a:avLst/>
          </a:prstGeom>
          <a:noFill/>
          <a:ln/>
        </p:spPr>
        <p:txBody>
          <a:bodyPr wrap="square" lIns="0" tIns="0" rIns="0" bIns="0" rtlCol="0" anchor="ctr"/>
          <a:lstStyle/>
          <a:p>
            <a:pPr indent="0" marL="0">
              <a:buNone/>
            </a:pPr>
            <a:r>
              <a:rPr lang="en-US" sz="1100" dirty="0">
                <a:solidFill>
                  <a:srgbClr val="B9C4D1"/>
                </a:solidFill>
                <a:latin typeface="Courier New" pitchFamily="34" charset="0"/>
                <a:ea typeface="Courier New" pitchFamily="34" charset="-122"/>
                <a:cs typeface="Courier New" pitchFamily="34" charset="-120"/>
              </a:rPr>
              <a:t>powershell</a:t>
            </a:r>
            <a:endParaRPr lang="en-US" sz="1100" dirty="0"/>
          </a:p>
        </p:txBody>
      </p:sp>
      <p:sp>
        <p:nvSpPr>
          <p:cNvPr id="9" name="Text 7"/>
          <p:cNvSpPr txBox="1"/>
          <p:nvPr/>
        </p:nvSpPr>
        <p:spPr>
          <a:xfrm>
            <a:off x="777240" y="2011680"/>
            <a:ext cx="7040880" cy="3749040"/>
          </a:xfrm>
          <a:prstGeom prst="rect">
            <a:avLst/>
          </a:prstGeom>
          <a:noFill/>
          <a:ln/>
        </p:spPr>
        <p:txBody>
          <a:bodyPr wrap="square" lIns="0" tIns="0" rIns="0" bIns="0" rtlCol="0" anchor="t"/>
          <a:lstStyle/>
          <a:p>
            <a:pPr indent="0" marL="0">
              <a:lnSpc>
                <a:spcPct val="110000"/>
              </a:lnSpc>
              <a:buNone/>
            </a:pPr>
            <a:r>
              <a:rPr lang="en-US" sz="1100" i="1" dirty="0">
                <a:solidFill>
                  <a:srgbClr val="B9C4D1"/>
                </a:solidFill>
                <a:latin typeface="Courier New" pitchFamily="34" charset="0"/>
                <a:ea typeface="Courier New" pitchFamily="34" charset="-122"/>
                <a:cs typeface="Courier New" pitchFamily="34" charset="-120"/>
              </a:rPr>
              <a:t># Bara två filer behövs: den krypterade och nyckeln</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Get-Content db-credentials-sealed.yaml |</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kubeseal --recovery-unseal --recovery-private-key sealed-secrets-key.yaml -o yaml</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a:t>
            </a:r>
            <a:endParaRPr lang="en-US" sz="1100" dirty="0"/>
          </a:p>
          <a:p>
            <a:pPr indent="0" marL="0">
              <a:lnSpc>
                <a:spcPct val="110000"/>
              </a:lnSpc>
              <a:buNone/>
            </a:pPr>
            <a:r>
              <a:rPr lang="en-US" sz="1100" dirty="0">
                <a:solidFill>
                  <a:srgbClr val="B9C4D1"/>
                </a:solidFill>
                <a:latin typeface="Courier New" pitchFamily="34" charset="0"/>
                <a:ea typeface="Courier New" pitchFamily="34" charset="-122"/>
                <a:cs typeface="Courier New" pitchFamily="34" charset="-120"/>
              </a:rPr>
              <a:t>→ apiVersion: v1</a:t>
            </a:r>
            <a:endParaRPr lang="en-US" sz="1100" dirty="0"/>
          </a:p>
          <a:p>
            <a:pPr indent="0" marL="0">
              <a:lnSpc>
                <a:spcPct val="110000"/>
              </a:lnSpc>
              <a:buNone/>
            </a:pPr>
            <a:r>
              <a:rPr lang="en-US" sz="1100" dirty="0">
                <a:solidFill>
                  <a:srgbClr val="B9C4D1"/>
                </a:solidFill>
                <a:latin typeface="Courier New" pitchFamily="34" charset="0"/>
                <a:ea typeface="Courier New" pitchFamily="34" charset="-122"/>
                <a:cs typeface="Courier New" pitchFamily="34" charset="-120"/>
              </a:rPr>
              <a:t>→ kind: Secret</a:t>
            </a:r>
            <a:endParaRPr lang="en-US" sz="1100" dirty="0"/>
          </a:p>
          <a:p>
            <a:pPr indent="0" marL="0">
              <a:lnSpc>
                <a:spcPct val="110000"/>
              </a:lnSpc>
              <a:buNone/>
            </a:pPr>
            <a:r>
              <a:rPr lang="en-US" sz="1100" dirty="0">
                <a:solidFill>
                  <a:srgbClr val="B9C4D1"/>
                </a:solidFill>
                <a:latin typeface="Courier New" pitchFamily="34" charset="0"/>
                <a:ea typeface="Courier New" pitchFamily="34" charset="-122"/>
                <a:cs typeface="Courier New" pitchFamily="34" charset="-120"/>
              </a:rPr>
              <a:t>→ data:</a:t>
            </a:r>
            <a:endParaRPr lang="en-US" sz="1100" dirty="0"/>
          </a:p>
          <a:p>
            <a:pPr indent="0" marL="0">
              <a:lnSpc>
                <a:spcPct val="110000"/>
              </a:lnSpc>
              <a:buNone/>
            </a:pPr>
            <a:r>
              <a:rPr lang="en-US" sz="1100" dirty="0">
                <a:solidFill>
                  <a:srgbClr val="B9C4D1"/>
                </a:solidFill>
                <a:latin typeface="Courier New" pitchFamily="34" charset="0"/>
                <a:ea typeface="Courier New" pitchFamily="34" charset="-122"/>
                <a:cs typeface="Courier New" pitchFamily="34" charset="-120"/>
              </a:rPr>
              <a:t>→   password: Tnl0dCEyMDI2</a:t>
            </a:r>
            <a:endParaRPr lang="en-US" sz="1100" dirty="0"/>
          </a:p>
          <a:p>
            <a:pPr indent="0" marL="0">
              <a:lnSpc>
                <a:spcPct val="110000"/>
              </a:lnSpc>
              <a:buNone/>
            </a:pPr>
            <a:r>
              <a:rPr lang="en-US" sz="1100" dirty="0">
                <a:solidFill>
                  <a:srgbClr val="B9C4D1"/>
                </a:solidFill>
                <a:latin typeface="Courier New" pitchFamily="34" charset="0"/>
                <a:ea typeface="Courier New" pitchFamily="34" charset="-122"/>
                <a:cs typeface="Courier New" pitchFamily="34" charset="-120"/>
              </a:rPr>
              <a:t>→   username: YXBw</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a:t>
            </a:r>
            <a:endParaRPr lang="en-US" sz="1100" dirty="0"/>
          </a:p>
          <a:p>
            <a:pPr indent="0" marL="0">
              <a:lnSpc>
                <a:spcPct val="110000"/>
              </a:lnSpc>
              <a:buNone/>
            </a:pPr>
            <a:r>
              <a:rPr lang="en-US" sz="1100" i="1" dirty="0">
                <a:solidFill>
                  <a:srgbClr val="B9C4D1"/>
                </a:solidFill>
                <a:latin typeface="Courier New" pitchFamily="34" charset="0"/>
                <a:ea typeface="Courier New" pitchFamily="34" charset="-122"/>
                <a:cs typeface="Courier New" pitchFamily="34" charset="-120"/>
              </a:rPr>
              <a:t># ... och base64 kan vi redan</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[Text.Encoding]::UTF8.GetString([Convert]::FromBase64String('Tnl0dCEyMDI2'))</a:t>
            </a:r>
            <a:endParaRPr lang="en-US" sz="1100" dirty="0"/>
          </a:p>
          <a:p>
            <a:pPr indent="0" marL="0">
              <a:lnSpc>
                <a:spcPct val="110000"/>
              </a:lnSpc>
              <a:buNone/>
            </a:pPr>
            <a:r>
              <a:rPr lang="en-US" sz="1100" dirty="0">
                <a:solidFill>
                  <a:srgbClr val="B9C4D1"/>
                </a:solidFill>
                <a:latin typeface="Courier New" pitchFamily="34" charset="0"/>
                <a:ea typeface="Courier New" pitchFamily="34" charset="-122"/>
                <a:cs typeface="Courier New" pitchFamily="34" charset="-120"/>
              </a:rPr>
              <a:t>→ Nytt!2026</a:t>
            </a:r>
            <a:endParaRPr lang="en-US" sz="1100" dirty="0"/>
          </a:p>
        </p:txBody>
      </p:sp>
      <p:sp>
        <p:nvSpPr>
          <p:cNvPr id="10" name="Shape 8"/>
          <p:cNvSpPr/>
          <p:nvPr/>
        </p:nvSpPr>
        <p:spPr>
          <a:xfrm>
            <a:off x="8412480" y="1554480"/>
            <a:ext cx="3230575" cy="1356360"/>
          </a:xfrm>
          <a:prstGeom prst="roundRect">
            <a:avLst>
              <a:gd name="adj" fmla="val 4045"/>
            </a:avLst>
          </a:prstGeom>
          <a:solidFill>
            <a:srgbClr val="16294A"/>
          </a:solidFill>
          <a:ln w="12700">
            <a:solidFill>
              <a:srgbClr val="16294A"/>
            </a:solidFill>
            <a:prstDash val="solid"/>
          </a:ln>
        </p:spPr>
      </p:sp>
      <p:sp>
        <p:nvSpPr>
          <p:cNvPr id="11" name="Text 9"/>
          <p:cNvSpPr txBox="1"/>
          <p:nvPr/>
        </p:nvSpPr>
        <p:spPr>
          <a:xfrm>
            <a:off x="8613648" y="1755648"/>
            <a:ext cx="2828239" cy="320040"/>
          </a:xfrm>
          <a:prstGeom prst="rect">
            <a:avLst/>
          </a:prstGeom>
          <a:noFill/>
          <a:ln/>
        </p:spPr>
        <p:txBody>
          <a:bodyPr wrap="square" lIns="0" tIns="0" rIns="0" bIns="0" rtlCol="0" anchor="t"/>
          <a:lstStyle/>
          <a:p>
            <a:pPr indent="0" marL="0">
              <a:buNone/>
            </a:pPr>
            <a:r>
              <a:rPr lang="en-US" sz="1400" b="1" dirty="0">
                <a:solidFill>
                  <a:srgbClr val="F5F7FA"/>
                </a:solidFill>
                <a:latin typeface="Calibri" pitchFamily="34" charset="0"/>
                <a:ea typeface="Calibri" pitchFamily="34" charset="-122"/>
                <a:cs typeface="Calibri" pitchFamily="34" charset="-120"/>
              </a:rPr>
              <a:t>Inget kluster behövs</a:t>
            </a:r>
            <a:endParaRPr lang="en-US" sz="1400" dirty="0"/>
          </a:p>
        </p:txBody>
      </p:sp>
      <p:sp>
        <p:nvSpPr>
          <p:cNvPr id="12" name="Text 10"/>
          <p:cNvSpPr txBox="1"/>
          <p:nvPr/>
        </p:nvSpPr>
        <p:spPr>
          <a:xfrm>
            <a:off x="8613648" y="213969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B9C4D1"/>
                </a:solidFill>
                <a:latin typeface="Arial" pitchFamily="34" charset="0"/>
                <a:ea typeface="Arial" pitchFamily="34" charset="-122"/>
                <a:cs typeface="Arial" pitchFamily="34" charset="-120"/>
              </a:rPr>
              <a:t>Dekrypteringen sker helt lokalt med nyckelfilen.</a:t>
            </a:r>
            <a:endParaRPr lang="en-US" sz="1200" dirty="0"/>
          </a:p>
        </p:txBody>
      </p:sp>
      <p:sp>
        <p:nvSpPr>
          <p:cNvPr id="13" name="Shape 11"/>
          <p:cNvSpPr/>
          <p:nvPr/>
        </p:nvSpPr>
        <p:spPr>
          <a:xfrm>
            <a:off x="8412480" y="3048000"/>
            <a:ext cx="3230575" cy="1356360"/>
          </a:xfrm>
          <a:prstGeom prst="roundRect">
            <a:avLst>
              <a:gd name="adj" fmla="val 4045"/>
            </a:avLst>
          </a:prstGeom>
          <a:solidFill>
            <a:srgbClr val="16294A"/>
          </a:solidFill>
          <a:ln w="12700">
            <a:solidFill>
              <a:srgbClr val="16294A"/>
            </a:solidFill>
            <a:prstDash val="solid"/>
          </a:ln>
        </p:spPr>
      </p:sp>
      <p:sp>
        <p:nvSpPr>
          <p:cNvPr id="14" name="Text 12"/>
          <p:cNvSpPr txBox="1"/>
          <p:nvPr/>
        </p:nvSpPr>
        <p:spPr>
          <a:xfrm>
            <a:off x="8613648" y="3249168"/>
            <a:ext cx="2828239" cy="320040"/>
          </a:xfrm>
          <a:prstGeom prst="rect">
            <a:avLst/>
          </a:prstGeom>
          <a:noFill/>
          <a:ln/>
        </p:spPr>
        <p:txBody>
          <a:bodyPr wrap="square" lIns="0" tIns="0" rIns="0" bIns="0" rtlCol="0" anchor="t"/>
          <a:lstStyle/>
          <a:p>
            <a:pPr indent="0" marL="0">
              <a:buNone/>
            </a:pPr>
            <a:r>
              <a:rPr lang="en-US" sz="1400" b="1" dirty="0">
                <a:solidFill>
                  <a:srgbClr val="F5F7FA"/>
                </a:solidFill>
                <a:latin typeface="Calibri" pitchFamily="34" charset="0"/>
                <a:ea typeface="Calibri" pitchFamily="34" charset="-122"/>
                <a:cs typeface="Calibri" pitchFamily="34" charset="-120"/>
              </a:rPr>
              <a:t>--recovery-unseal</a:t>
            </a:r>
            <a:endParaRPr lang="en-US" sz="1400" dirty="0"/>
          </a:p>
        </p:txBody>
      </p:sp>
      <p:sp>
        <p:nvSpPr>
          <p:cNvPr id="15" name="Text 13"/>
          <p:cNvSpPr txBox="1"/>
          <p:nvPr/>
        </p:nvSpPr>
        <p:spPr>
          <a:xfrm>
            <a:off x="8613648" y="363321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B9C4D1"/>
                </a:solidFill>
                <a:latin typeface="Arial" pitchFamily="34" charset="0"/>
                <a:ea typeface="Arial" pitchFamily="34" charset="-122"/>
                <a:cs typeface="Arial" pitchFamily="34" charset="-120"/>
              </a:rPr>
              <a:t>Finns för katastrofåterställning - och visar hotet.</a:t>
            </a:r>
            <a:endParaRPr lang="en-US" sz="1200" dirty="0"/>
          </a:p>
        </p:txBody>
      </p:sp>
      <p:sp>
        <p:nvSpPr>
          <p:cNvPr id="16" name="Shape 14"/>
          <p:cNvSpPr/>
          <p:nvPr/>
        </p:nvSpPr>
        <p:spPr>
          <a:xfrm>
            <a:off x="8412480" y="4541520"/>
            <a:ext cx="3230575" cy="1356360"/>
          </a:xfrm>
          <a:prstGeom prst="roundRect">
            <a:avLst>
              <a:gd name="adj" fmla="val 4045"/>
            </a:avLst>
          </a:prstGeom>
          <a:solidFill>
            <a:srgbClr val="3762FF"/>
          </a:solidFill>
          <a:ln w="12700">
            <a:solidFill>
              <a:srgbClr val="3762FF"/>
            </a:solidFill>
            <a:prstDash val="solid"/>
          </a:ln>
        </p:spPr>
      </p:sp>
      <p:sp>
        <p:nvSpPr>
          <p:cNvPr id="17" name="Text 15"/>
          <p:cNvSpPr txBox="1"/>
          <p:nvPr/>
        </p:nvSpPr>
        <p:spPr>
          <a:xfrm>
            <a:off x="8613648" y="4742688"/>
            <a:ext cx="2828239"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Slutsats</a:t>
            </a:r>
            <a:endParaRPr lang="en-US" sz="1400" dirty="0"/>
          </a:p>
        </p:txBody>
      </p:sp>
      <p:sp>
        <p:nvSpPr>
          <p:cNvPr id="18" name="Text 16"/>
          <p:cNvSpPr txBox="1"/>
          <p:nvPr/>
        </p:nvSpPr>
        <p:spPr>
          <a:xfrm>
            <a:off x="8613648" y="512673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SealedSecret i Git = säker. Nyckeln = hela säkerheten.</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KNÄCK NYCKELN · LÄRDOMAR</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Fyra regler för nyckeln</a:t>
            </a:r>
            <a:endParaRPr lang="en-US" sz="3000" dirty="0"/>
          </a:p>
        </p:txBody>
      </p:sp>
      <p:sp>
        <p:nvSpPr>
          <p:cNvPr id="4" name="Shape 2"/>
          <p:cNvSpPr/>
          <p:nvPr/>
        </p:nvSpPr>
        <p:spPr>
          <a:xfrm>
            <a:off x="548640" y="1645920"/>
            <a:ext cx="5455768" cy="1645920"/>
          </a:xfrm>
          <a:prstGeom prst="roundRect">
            <a:avLst>
              <a:gd name="adj" fmla="val 3333"/>
            </a:avLst>
          </a:prstGeom>
          <a:solidFill>
            <a:srgbClr val="3762FF"/>
          </a:solidFill>
          <a:ln w="12700">
            <a:solidFill>
              <a:srgbClr val="3762FF"/>
            </a:solidFill>
            <a:prstDash val="solid"/>
          </a:ln>
        </p:spPr>
      </p:sp>
      <p:sp>
        <p:nvSpPr>
          <p:cNvPr id="5" name="Text 3"/>
          <p:cNvSpPr txBox="1"/>
          <p:nvPr/>
        </p:nvSpPr>
        <p:spPr>
          <a:xfrm>
            <a:off x="749808" y="1847088"/>
            <a:ext cx="5053432" cy="3200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RBAC</a:t>
            </a:r>
            <a:endParaRPr lang="en-US" sz="1800" dirty="0"/>
          </a:p>
        </p:txBody>
      </p:sp>
      <p:sp>
        <p:nvSpPr>
          <p:cNvPr id="6" name="Text 4"/>
          <p:cNvSpPr txBox="1"/>
          <p:nvPr/>
        </p:nvSpPr>
        <p:spPr>
          <a:xfrm>
            <a:off x="749808" y="2231136"/>
            <a:ext cx="5053432" cy="905256"/>
          </a:xfrm>
          <a:prstGeom prst="rect">
            <a:avLst/>
          </a:prstGeom>
          <a:noFill/>
          <a:ln/>
        </p:spPr>
        <p:txBody>
          <a:bodyPr wrap="square" lIns="0" tIns="0" rIns="0" bIns="0" rtlCol="0" anchor="t"/>
          <a:lstStyle/>
          <a:p>
            <a:pPr indent="0" marL="0">
              <a:lnSpc>
                <a:spcPct val="115000"/>
              </a:lnSpc>
              <a:buNone/>
            </a:pPr>
            <a:r>
              <a:rPr lang="en-US" sz="1350" dirty="0">
                <a:solidFill>
                  <a:srgbClr val="FFFFFF"/>
                </a:solidFill>
                <a:latin typeface="Arial" pitchFamily="34" charset="0"/>
                <a:ea typeface="Arial" pitchFamily="34" charset="-122"/>
                <a:cs typeface="Arial" pitchFamily="34" charset="-120"/>
              </a:rPr>
              <a:t>Ingen utom klusteradmin får läsa Secrets i sealed-secrets. Labb 7 visar hur.</a:t>
            </a:r>
            <a:endParaRPr lang="en-US" sz="1350" dirty="0"/>
          </a:p>
        </p:txBody>
      </p:sp>
      <p:sp>
        <p:nvSpPr>
          <p:cNvPr id="7" name="Shape 5"/>
          <p:cNvSpPr/>
          <p:nvPr/>
        </p:nvSpPr>
        <p:spPr>
          <a:xfrm>
            <a:off x="6187288" y="1645920"/>
            <a:ext cx="5455768" cy="1645920"/>
          </a:xfrm>
          <a:prstGeom prst="roundRect">
            <a:avLst>
              <a:gd name="adj" fmla="val 3333"/>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8" name="Text 6"/>
          <p:cNvSpPr txBox="1"/>
          <p:nvPr/>
        </p:nvSpPr>
        <p:spPr>
          <a:xfrm>
            <a:off x="6388456" y="1847088"/>
            <a:ext cx="5053432" cy="320040"/>
          </a:xfrm>
          <a:prstGeom prst="rect">
            <a:avLst/>
          </a:prstGeom>
          <a:noFill/>
          <a:ln/>
        </p:spPr>
        <p:txBody>
          <a:bodyPr wrap="square" lIns="0" tIns="0" rIns="0" bIns="0" rtlCol="0" anchor="t"/>
          <a:lstStyle/>
          <a:p>
            <a:pPr indent="0" marL="0">
              <a:buNone/>
            </a:pPr>
            <a:r>
              <a:rPr lang="en-US" sz="1800" b="1" dirty="0">
                <a:solidFill>
                  <a:srgbClr val="16202B"/>
                </a:solidFill>
                <a:latin typeface="Calibri" pitchFamily="34" charset="0"/>
                <a:ea typeface="Calibri" pitchFamily="34" charset="-122"/>
                <a:cs typeface="Calibri" pitchFamily="34" charset="-120"/>
              </a:rPr>
              <a:t>Backup</a:t>
            </a:r>
            <a:endParaRPr lang="en-US" sz="1800" dirty="0"/>
          </a:p>
        </p:txBody>
      </p:sp>
      <p:sp>
        <p:nvSpPr>
          <p:cNvPr id="9" name="Text 7"/>
          <p:cNvSpPr txBox="1"/>
          <p:nvPr/>
        </p:nvSpPr>
        <p:spPr>
          <a:xfrm>
            <a:off x="6388456" y="2231136"/>
            <a:ext cx="5053432" cy="905256"/>
          </a:xfrm>
          <a:prstGeom prst="rect">
            <a:avLst/>
          </a:prstGeom>
          <a:noFill/>
          <a:ln/>
        </p:spPr>
        <p:txBody>
          <a:bodyPr wrap="square" lIns="0" tIns="0" rIns="0" bIns="0" rtlCol="0" anchor="t"/>
          <a:lstStyle/>
          <a:p>
            <a:pPr indent="0" marL="0">
              <a:lnSpc>
                <a:spcPct val="115000"/>
              </a:lnSpc>
              <a:buNone/>
            </a:pPr>
            <a:r>
              <a:rPr lang="en-US" sz="1350" dirty="0">
                <a:solidFill>
                  <a:srgbClr val="4A5568"/>
                </a:solidFill>
                <a:latin typeface="Arial" pitchFamily="34" charset="0"/>
                <a:ea typeface="Arial" pitchFamily="34" charset="-122"/>
                <a:cs typeface="Arial" pitchFamily="34" charset="-120"/>
              </a:rPr>
              <a:t>Spara nyckel-Secret:en säkert utanför klustret - annars är alla SealedSecrets i Git förlorade med klustret.</a:t>
            </a:r>
            <a:endParaRPr lang="en-US" sz="1350" dirty="0"/>
          </a:p>
        </p:txBody>
      </p:sp>
      <p:sp>
        <p:nvSpPr>
          <p:cNvPr id="10" name="Shape 8"/>
          <p:cNvSpPr/>
          <p:nvPr/>
        </p:nvSpPr>
        <p:spPr>
          <a:xfrm>
            <a:off x="548640" y="3474720"/>
            <a:ext cx="5455768" cy="1645920"/>
          </a:xfrm>
          <a:prstGeom prst="roundRect">
            <a:avLst>
              <a:gd name="adj" fmla="val 3333"/>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1" name="Text 9"/>
          <p:cNvSpPr txBox="1"/>
          <p:nvPr/>
        </p:nvSpPr>
        <p:spPr>
          <a:xfrm>
            <a:off x="749808" y="3675888"/>
            <a:ext cx="5053432" cy="320040"/>
          </a:xfrm>
          <a:prstGeom prst="rect">
            <a:avLst/>
          </a:prstGeom>
          <a:noFill/>
          <a:ln/>
        </p:spPr>
        <p:txBody>
          <a:bodyPr wrap="square" lIns="0" tIns="0" rIns="0" bIns="0" rtlCol="0" anchor="t"/>
          <a:lstStyle/>
          <a:p>
            <a:pPr indent="0" marL="0">
              <a:buNone/>
            </a:pPr>
            <a:r>
              <a:rPr lang="en-US" sz="1800" b="1" dirty="0">
                <a:solidFill>
                  <a:srgbClr val="16202B"/>
                </a:solidFill>
                <a:latin typeface="Calibri" pitchFamily="34" charset="0"/>
                <a:ea typeface="Calibri" pitchFamily="34" charset="-122"/>
                <a:cs typeface="Calibri" pitchFamily="34" charset="-120"/>
              </a:rPr>
              <a:t>Rotation</a:t>
            </a:r>
            <a:endParaRPr lang="en-US" sz="1800" dirty="0"/>
          </a:p>
        </p:txBody>
      </p:sp>
      <p:sp>
        <p:nvSpPr>
          <p:cNvPr id="12" name="Text 10"/>
          <p:cNvSpPr txBox="1"/>
          <p:nvPr/>
        </p:nvSpPr>
        <p:spPr>
          <a:xfrm>
            <a:off x="749808" y="4059936"/>
            <a:ext cx="5053432" cy="905256"/>
          </a:xfrm>
          <a:prstGeom prst="rect">
            <a:avLst/>
          </a:prstGeom>
          <a:noFill/>
          <a:ln/>
        </p:spPr>
        <p:txBody>
          <a:bodyPr wrap="square" lIns="0" tIns="0" rIns="0" bIns="0" rtlCol="0" anchor="t"/>
          <a:lstStyle/>
          <a:p>
            <a:pPr indent="0" marL="0">
              <a:lnSpc>
                <a:spcPct val="115000"/>
              </a:lnSpc>
              <a:buNone/>
            </a:pPr>
            <a:r>
              <a:rPr lang="en-US" sz="1350" dirty="0">
                <a:solidFill>
                  <a:srgbClr val="4A5568"/>
                </a:solidFill>
                <a:latin typeface="Arial" pitchFamily="34" charset="0"/>
                <a:ea typeface="Arial" pitchFamily="34" charset="-122"/>
                <a:cs typeface="Arial" pitchFamily="34" charset="-120"/>
              </a:rPr>
              <a:t>Controllern skapar en ny nyckel var 30:e dag. Gamla behålls så att gamla filer fortfarande går att dekryptera.</a:t>
            </a:r>
            <a:endParaRPr lang="en-US" sz="1350" dirty="0"/>
          </a:p>
        </p:txBody>
      </p:sp>
      <p:sp>
        <p:nvSpPr>
          <p:cNvPr id="13" name="Shape 11"/>
          <p:cNvSpPr/>
          <p:nvPr/>
        </p:nvSpPr>
        <p:spPr>
          <a:xfrm>
            <a:off x="6187288" y="3474720"/>
            <a:ext cx="5455768" cy="1645920"/>
          </a:xfrm>
          <a:prstGeom prst="roundRect">
            <a:avLst>
              <a:gd name="adj" fmla="val 3333"/>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4" name="Text 12"/>
          <p:cNvSpPr txBox="1"/>
          <p:nvPr/>
        </p:nvSpPr>
        <p:spPr>
          <a:xfrm>
            <a:off x="6388456" y="3675888"/>
            <a:ext cx="5053432" cy="320040"/>
          </a:xfrm>
          <a:prstGeom prst="rect">
            <a:avLst/>
          </a:prstGeom>
          <a:noFill/>
          <a:ln/>
        </p:spPr>
        <p:txBody>
          <a:bodyPr wrap="square" lIns="0" tIns="0" rIns="0" bIns="0" rtlCol="0" anchor="t"/>
          <a:lstStyle/>
          <a:p>
            <a:pPr indent="0" marL="0">
              <a:buNone/>
            </a:pPr>
            <a:r>
              <a:rPr lang="en-US" sz="1800" b="1" dirty="0">
                <a:solidFill>
                  <a:srgbClr val="16202B"/>
                </a:solidFill>
                <a:latin typeface="Calibri" pitchFamily="34" charset="0"/>
                <a:ea typeface="Calibri" pitchFamily="34" charset="-122"/>
                <a:cs typeface="Calibri" pitchFamily="34" charset="-120"/>
              </a:rPr>
              <a:t>Städa</a:t>
            </a:r>
            <a:endParaRPr lang="en-US" sz="1800" dirty="0"/>
          </a:p>
        </p:txBody>
      </p:sp>
      <p:sp>
        <p:nvSpPr>
          <p:cNvPr id="15" name="Text 13"/>
          <p:cNvSpPr txBox="1"/>
          <p:nvPr/>
        </p:nvSpPr>
        <p:spPr>
          <a:xfrm>
            <a:off x="6388456" y="4059936"/>
            <a:ext cx="5053432" cy="905256"/>
          </a:xfrm>
          <a:prstGeom prst="rect">
            <a:avLst/>
          </a:prstGeom>
          <a:noFill/>
          <a:ln/>
        </p:spPr>
        <p:txBody>
          <a:bodyPr wrap="square" lIns="0" tIns="0" rIns="0" bIns="0" rtlCol="0" anchor="t"/>
          <a:lstStyle/>
          <a:p>
            <a:pPr indent="0" marL="0">
              <a:lnSpc>
                <a:spcPct val="115000"/>
              </a:lnSpc>
              <a:buNone/>
            </a:pPr>
            <a:r>
              <a:rPr lang="en-US" sz="1350" dirty="0">
                <a:solidFill>
                  <a:srgbClr val="4A5568"/>
                </a:solidFill>
                <a:latin typeface="Arial" pitchFamily="34" charset="0"/>
                <a:ea typeface="Arial" pitchFamily="34" charset="-122"/>
                <a:cs typeface="Arial" pitchFamily="34" charset="-120"/>
              </a:rPr>
              <a:t>Remove-Item sealed-secrets-key.yaml - nu.</a:t>
            </a:r>
            <a:endParaRPr lang="en-US" sz="1350" dirty="0"/>
          </a:p>
        </p:txBody>
      </p:sp>
      <p:sp>
        <p:nvSpPr>
          <p:cNvPr id="16" name="Shape 14"/>
          <p:cNvSpPr/>
          <p:nvPr/>
        </p:nvSpPr>
        <p:spPr>
          <a:xfrm>
            <a:off x="548640" y="5257800"/>
            <a:ext cx="11094415" cy="777240"/>
          </a:xfrm>
          <a:prstGeom prst="roundRect">
            <a:avLst>
              <a:gd name="adj" fmla="val 7059"/>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17" name="Shape 15"/>
          <p:cNvSpPr/>
          <p:nvPr/>
        </p:nvSpPr>
        <p:spPr>
          <a:xfrm>
            <a:off x="749808" y="5422392"/>
            <a:ext cx="109728" cy="109728"/>
          </a:xfrm>
          <a:prstGeom prst="ellipse">
            <a:avLst/>
          </a:prstGeom>
          <a:solidFill>
            <a:srgbClr val="D64545"/>
          </a:solidFill>
          <a:ln w="12700">
            <a:solidFill>
              <a:srgbClr val="D64545"/>
            </a:solidFill>
            <a:prstDash val="solid"/>
          </a:ln>
        </p:spPr>
      </p:sp>
      <p:sp>
        <p:nvSpPr>
          <p:cNvPr id="18" name="Shape 16"/>
          <p:cNvSpPr/>
          <p:nvPr/>
        </p:nvSpPr>
        <p:spPr>
          <a:xfrm>
            <a:off x="932688" y="5422392"/>
            <a:ext cx="109728" cy="109728"/>
          </a:xfrm>
          <a:prstGeom prst="ellipse">
            <a:avLst/>
          </a:prstGeom>
          <a:solidFill>
            <a:srgbClr val="FFB020"/>
          </a:solidFill>
          <a:ln w="12700">
            <a:solidFill>
              <a:srgbClr val="FFB020"/>
            </a:solidFill>
            <a:prstDash val="solid"/>
          </a:ln>
        </p:spPr>
      </p:sp>
      <p:sp>
        <p:nvSpPr>
          <p:cNvPr id="19" name="Shape 17"/>
          <p:cNvSpPr/>
          <p:nvPr/>
        </p:nvSpPr>
        <p:spPr>
          <a:xfrm>
            <a:off x="1115568" y="5422392"/>
            <a:ext cx="109728" cy="109728"/>
          </a:xfrm>
          <a:prstGeom prst="ellipse">
            <a:avLst/>
          </a:prstGeom>
          <a:solidFill>
            <a:srgbClr val="3CB371"/>
          </a:solidFill>
          <a:ln w="12700">
            <a:solidFill>
              <a:srgbClr val="3CB371"/>
            </a:solidFill>
            <a:prstDash val="solid"/>
          </a:ln>
        </p:spPr>
      </p:sp>
      <p:sp>
        <p:nvSpPr>
          <p:cNvPr id="20" name="Text 18"/>
          <p:cNvSpPr txBox="1"/>
          <p:nvPr/>
        </p:nvSpPr>
        <p:spPr>
          <a:xfrm>
            <a:off x="777240" y="5715000"/>
            <a:ext cx="10637215" cy="182880"/>
          </a:xfrm>
          <a:prstGeom prst="rect">
            <a:avLst/>
          </a:prstGeom>
          <a:noFill/>
          <a:ln/>
        </p:spPr>
        <p:txBody>
          <a:bodyPr wrap="square" lIns="0" tIns="0" rIns="0" bIns="0" rtlCol="0" anchor="t"/>
          <a:lstStyle/>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Remove-Item sealed-secrets-key.yaml, stolen.yaml   # gör det nu</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F1F33"/>
        </a:solidFill>
      </p:bgPr>
    </p:bg>
    <p:spTree>
      <p:nvGrpSpPr>
        <p:cNvPr id="1" name=""/>
        <p:cNvGrpSpPr/>
        <p:nvPr/>
      </p:nvGrpSpPr>
      <p:grpSpPr>
        <a:xfrm>
          <a:off x="0" y="0"/>
          <a:ext cx="0" cy="0"/>
          <a:chOff x="0" y="0"/>
          <a:chExt cx="0" cy="0"/>
        </a:xfrm>
      </p:grpSpPr>
      <p:sp>
        <p:nvSpPr>
          <p:cNvPr id="2" name="Text 0"/>
          <p:cNvSpPr txBox="1"/>
          <p:nvPr/>
        </p:nvSpPr>
        <p:spPr>
          <a:xfrm>
            <a:off x="502920" y="1188720"/>
            <a:ext cx="4572000" cy="1920240"/>
          </a:xfrm>
          <a:prstGeom prst="rect">
            <a:avLst/>
          </a:prstGeom>
          <a:noFill/>
          <a:ln/>
        </p:spPr>
        <p:txBody>
          <a:bodyPr wrap="square" lIns="0" tIns="0" rIns="0" bIns="0" rtlCol="0" anchor="ctr"/>
          <a:lstStyle/>
          <a:p>
            <a:pPr indent="0" marL="0">
              <a:buNone/>
            </a:pPr>
            <a:r>
              <a:rPr lang="en-US" sz="15000" b="1" dirty="0">
                <a:solidFill>
                  <a:srgbClr val="16294A"/>
                </a:solidFill>
                <a:latin typeface="Calibri" pitchFamily="34" charset="0"/>
                <a:ea typeface="Calibri" pitchFamily="34" charset="-122"/>
                <a:cs typeface="Calibri" pitchFamily="34" charset="-120"/>
              </a:rPr>
              <a:t>05</a:t>
            </a:r>
            <a:endParaRPr lang="en-US" sz="15000" dirty="0"/>
          </a:p>
        </p:txBody>
      </p:sp>
      <p:sp>
        <p:nvSpPr>
          <p:cNvPr id="3" name="Text 1"/>
          <p:cNvSpPr txBox="1"/>
          <p:nvPr/>
        </p:nvSpPr>
        <p:spPr>
          <a:xfrm>
            <a:off x="548640" y="3063240"/>
            <a:ext cx="11094415" cy="822960"/>
          </a:xfrm>
          <a:prstGeom prst="rect">
            <a:avLst/>
          </a:prstGeom>
          <a:noFill/>
          <a:ln/>
        </p:spPr>
        <p:txBody>
          <a:bodyPr wrap="square" lIns="0" tIns="0" rIns="0" bIns="0" rtlCol="0" anchor="ctr"/>
          <a:lstStyle/>
          <a:p>
            <a:pPr indent="0" marL="0">
              <a:buNone/>
            </a:pPr>
            <a:r>
              <a:rPr lang="en-US" sz="5200" b="1" dirty="0">
                <a:solidFill>
                  <a:srgbClr val="F5F7FA"/>
                </a:solidFill>
                <a:latin typeface="Calibri" pitchFamily="34" charset="0"/>
                <a:ea typeface="Calibri" pitchFamily="34" charset="-122"/>
                <a:cs typeface="Calibri" pitchFamily="34" charset="-120"/>
              </a:rPr>
              <a:t>Drift</a:t>
            </a:r>
            <a:endParaRPr lang="en-US" sz="5200" dirty="0"/>
          </a:p>
        </p:txBody>
      </p:sp>
      <p:sp>
        <p:nvSpPr>
          <p:cNvPr id="4" name="Text 2"/>
          <p:cNvSpPr txBox="1"/>
          <p:nvPr/>
        </p:nvSpPr>
        <p:spPr>
          <a:xfrm>
            <a:off x="548640" y="3977640"/>
            <a:ext cx="9144000" cy="457200"/>
          </a:xfrm>
          <a:prstGeom prst="rect">
            <a:avLst/>
          </a:prstGeom>
          <a:noFill/>
          <a:ln/>
        </p:spPr>
        <p:txBody>
          <a:bodyPr wrap="square" lIns="0" tIns="0" rIns="0" bIns="0" rtlCol="0" anchor="t"/>
          <a:lstStyle/>
          <a:p>
            <a:pPr indent="0" marL="0">
              <a:lnSpc>
                <a:spcPct val="120000"/>
              </a:lnSpc>
              <a:buNone/>
            </a:pPr>
            <a:r>
              <a:rPr lang="en-US" sz="1800" dirty="0">
                <a:solidFill>
                  <a:srgbClr val="B9C4D1"/>
                </a:solidFill>
                <a:latin typeface="Arial" pitchFamily="34" charset="0"/>
                <a:ea typeface="Arial" pitchFamily="34" charset="-122"/>
                <a:cs typeface="Arial" pitchFamily="34" charset="-120"/>
              </a:rPr>
              <a:t>Infra-metrics, larm i Grafana och SLO</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LABB 5A · INFRA-METRICS</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MySQL, NATS och Redis i Prometheus</a:t>
            </a:r>
            <a:endParaRPr lang="en-US" sz="3000" dirty="0"/>
          </a:p>
        </p:txBody>
      </p:sp>
      <p:sp>
        <p:nvSpPr>
          <p:cNvPr id="4" name="Shape 2"/>
          <p:cNvSpPr/>
          <p:nvPr/>
        </p:nvSpPr>
        <p:spPr>
          <a:xfrm>
            <a:off x="548640" y="1554480"/>
            <a:ext cx="7498080" cy="4343400"/>
          </a:xfrm>
          <a:prstGeom prst="roundRect">
            <a:avLst>
              <a:gd name="adj" fmla="val 1263"/>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5" name="Shape 3"/>
          <p:cNvSpPr/>
          <p:nvPr/>
        </p:nvSpPr>
        <p:spPr>
          <a:xfrm>
            <a:off x="749808" y="171907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1907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1907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45920"/>
            <a:ext cx="6492240" cy="256032"/>
          </a:xfrm>
          <a:prstGeom prst="rect">
            <a:avLst/>
          </a:prstGeom>
          <a:noFill/>
          <a:ln/>
        </p:spPr>
        <p:txBody>
          <a:bodyPr wrap="square" lIns="0" tIns="0" rIns="0" bIns="0" rtlCol="0" anchor="ctr"/>
          <a:lstStyle/>
          <a:p>
            <a:pPr indent="0" marL="0">
              <a:buNone/>
            </a:pPr>
            <a:r>
              <a:rPr lang="en-US" sz="1100" dirty="0">
                <a:solidFill>
                  <a:srgbClr val="B9C4D1"/>
                </a:solidFill>
                <a:latin typeface="Courier New" pitchFamily="34" charset="0"/>
                <a:ea typeface="Courier New" pitchFamily="34" charset="-122"/>
                <a:cs typeface="Courier New" pitchFamily="34" charset="-120"/>
              </a:rPr>
              <a:t>powershell</a:t>
            </a:r>
            <a:endParaRPr lang="en-US" sz="1100" dirty="0"/>
          </a:p>
        </p:txBody>
      </p:sp>
      <p:sp>
        <p:nvSpPr>
          <p:cNvPr id="9" name="Text 7"/>
          <p:cNvSpPr txBox="1"/>
          <p:nvPr/>
        </p:nvSpPr>
        <p:spPr>
          <a:xfrm>
            <a:off x="777240" y="2011680"/>
            <a:ext cx="7040880" cy="3749040"/>
          </a:xfrm>
          <a:prstGeom prst="rect">
            <a:avLst/>
          </a:prstGeom>
          <a:noFill/>
          <a:ln/>
        </p:spPr>
        <p:txBody>
          <a:bodyPr wrap="square" lIns="0" tIns="0" rIns="0" bIns="0" rtlCol="0" anchor="t"/>
          <a:lstStyle/>
          <a:p>
            <a:pPr indent="0" marL="0">
              <a:lnSpc>
                <a:spcPct val="110000"/>
              </a:lnSpc>
              <a:buNone/>
            </a:pPr>
            <a:r>
              <a:rPr lang="en-US" sz="1100" i="1" dirty="0">
                <a:solidFill>
                  <a:srgbClr val="B9C4D1"/>
                </a:solidFill>
                <a:latin typeface="Courier New" pitchFamily="34" charset="0"/>
                <a:ea typeface="Courier New" pitchFamily="34" charset="-122"/>
                <a:cs typeface="Courier New" pitchFamily="34" charset="-120"/>
              </a:rPr>
              <a:t># prometheus.local -&gt; Status -&gt; Targets: leta efter :9104, :7777, :9121</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a:t>
            </a:r>
            <a:endParaRPr lang="en-US" sz="1100" dirty="0"/>
          </a:p>
          <a:p>
            <a:pPr indent="0" marL="0">
              <a:lnSpc>
                <a:spcPct val="110000"/>
              </a:lnSpc>
              <a:buNone/>
            </a:pPr>
            <a:r>
              <a:rPr lang="en-US" sz="1100" i="1" dirty="0">
                <a:solidFill>
                  <a:srgbClr val="B9C4D1"/>
                </a:solidFill>
                <a:latin typeface="Courier New" pitchFamily="34" charset="0"/>
                <a:ea typeface="Courier New" pitchFamily="34" charset="-122"/>
                <a:cs typeface="Courier New" pitchFamily="34" charset="-120"/>
              </a:rPr>
              <a:t># MySQL (mysqld-exporter)</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mysql_up</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mysql_global_status_threads_connected</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rate(mysql_global_status_queries[$__rate_interval])   # i Grafana</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a:t>
            </a:r>
            <a:endParaRPr lang="en-US" sz="1100" dirty="0"/>
          </a:p>
          <a:p>
            <a:pPr indent="0" marL="0">
              <a:lnSpc>
                <a:spcPct val="110000"/>
              </a:lnSpc>
              <a:buNone/>
            </a:pPr>
            <a:r>
              <a:rPr lang="en-US" sz="1100" i="1" dirty="0">
                <a:solidFill>
                  <a:srgbClr val="B9C4D1"/>
                </a:solidFill>
                <a:latin typeface="Courier New" pitchFamily="34" charset="0"/>
                <a:ea typeface="Courier New" pitchFamily="34" charset="-122"/>
                <a:cs typeface="Courier New" pitchFamily="34" charset="-120"/>
              </a:rPr>
              <a:t># Redis (redis_exporter)</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redis_up ; redis_connected_clients ; redis_memory_used_bytes</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a:t>
            </a:r>
            <a:endParaRPr lang="en-US" sz="1100" dirty="0"/>
          </a:p>
          <a:p>
            <a:pPr indent="0" marL="0">
              <a:lnSpc>
                <a:spcPct val="110000"/>
              </a:lnSpc>
              <a:buNone/>
            </a:pPr>
            <a:r>
              <a:rPr lang="en-US" sz="1100" i="1" dirty="0">
                <a:solidFill>
                  <a:srgbClr val="B9C4D1"/>
                </a:solidFill>
                <a:latin typeface="Courier New" pitchFamily="34" charset="0"/>
                <a:ea typeface="Courier New" pitchFamily="34" charset="-122"/>
                <a:cs typeface="Courier New" pitchFamily="34" charset="-120"/>
              </a:rPr>
              <a:t># NATS (prometheus-nats-exporter) - skriv gnatsd_ och jetstream_</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gnatsd_varz_connections</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rate(gnatsd_varz_in_msgs[5m])</a:t>
            </a:r>
            <a:endParaRPr lang="en-US" sz="1100" dirty="0"/>
          </a:p>
        </p:txBody>
      </p:sp>
      <p:sp>
        <p:nvSpPr>
          <p:cNvPr id="10" name="Shape 8"/>
          <p:cNvSpPr/>
          <p:nvPr/>
        </p:nvSpPr>
        <p:spPr>
          <a:xfrm>
            <a:off x="8412480" y="1554480"/>
            <a:ext cx="3230575" cy="1356360"/>
          </a:xfrm>
          <a:prstGeom prst="roundRect">
            <a:avLst>
              <a:gd name="adj" fmla="val 4045"/>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1" name="Text 9"/>
          <p:cNvSpPr txBox="1"/>
          <p:nvPr/>
        </p:nvSpPr>
        <p:spPr>
          <a:xfrm>
            <a:off x="8613648" y="1755648"/>
            <a:ext cx="2828239"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Exportörer</a:t>
            </a:r>
            <a:endParaRPr lang="en-US" sz="1400" dirty="0"/>
          </a:p>
        </p:txBody>
      </p:sp>
      <p:sp>
        <p:nvSpPr>
          <p:cNvPr id="12" name="Text 10"/>
          <p:cNvSpPr txBox="1"/>
          <p:nvPr/>
        </p:nvSpPr>
        <p:spPr>
          <a:xfrm>
            <a:off x="8613648" y="213969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Sidecars som översätter till Prometheus-format.</a:t>
            </a:r>
            <a:endParaRPr lang="en-US" sz="1200" dirty="0"/>
          </a:p>
        </p:txBody>
      </p:sp>
      <p:sp>
        <p:nvSpPr>
          <p:cNvPr id="13" name="Shape 11"/>
          <p:cNvSpPr/>
          <p:nvPr/>
        </p:nvSpPr>
        <p:spPr>
          <a:xfrm>
            <a:off x="8412480" y="3048000"/>
            <a:ext cx="3230575" cy="1356360"/>
          </a:xfrm>
          <a:prstGeom prst="roundRect">
            <a:avLst>
              <a:gd name="adj" fmla="val 4045"/>
            </a:avLst>
          </a:prstGeom>
          <a:solidFill>
            <a:srgbClr val="3762FF"/>
          </a:solidFill>
          <a:ln w="12700">
            <a:solidFill>
              <a:srgbClr val="3762FF"/>
            </a:solidFill>
            <a:prstDash val="solid"/>
          </a:ln>
        </p:spPr>
      </p:sp>
      <p:sp>
        <p:nvSpPr>
          <p:cNvPr id="14" name="Text 12"/>
          <p:cNvSpPr txBox="1"/>
          <p:nvPr/>
        </p:nvSpPr>
        <p:spPr>
          <a:xfrm>
            <a:off x="8613648" y="3249168"/>
            <a:ext cx="2828239"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prometheus.io/scrape</a:t>
            </a:r>
            <a:endParaRPr lang="en-US" sz="1400" dirty="0"/>
          </a:p>
        </p:txBody>
      </p:sp>
      <p:sp>
        <p:nvSpPr>
          <p:cNvPr id="15" name="Text 13"/>
          <p:cNvSpPr txBox="1"/>
          <p:nvPr/>
        </p:nvSpPr>
        <p:spPr>
          <a:xfrm>
            <a:off x="8613648" y="363321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Samma annotation som collectorn - därför syns de.</a:t>
            </a:r>
            <a:endParaRPr lang="en-US" sz="1200" dirty="0"/>
          </a:p>
        </p:txBody>
      </p:sp>
      <p:sp>
        <p:nvSpPr>
          <p:cNvPr id="16" name="Shape 14"/>
          <p:cNvSpPr/>
          <p:nvPr/>
        </p:nvSpPr>
        <p:spPr>
          <a:xfrm>
            <a:off x="8412480" y="4541520"/>
            <a:ext cx="3230575" cy="1356360"/>
          </a:xfrm>
          <a:prstGeom prst="roundRect">
            <a:avLst>
              <a:gd name="adj" fmla="val 4045"/>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7" name="Text 15"/>
          <p:cNvSpPr txBox="1"/>
          <p:nvPr/>
        </p:nvSpPr>
        <p:spPr>
          <a:xfrm>
            <a:off x="8613648" y="4742688"/>
            <a:ext cx="2828239"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Uppgift</a:t>
            </a:r>
            <a:endParaRPr lang="en-US" sz="1400" dirty="0"/>
          </a:p>
        </p:txBody>
      </p:sp>
      <p:sp>
        <p:nvSpPr>
          <p:cNvPr id="18" name="Text 16"/>
          <p:cNvSpPr txBox="1"/>
          <p:nvPr/>
        </p:nvSpPr>
        <p:spPr>
          <a:xfrm>
            <a:off x="8613648" y="512673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Bygg en panel per tjänst i en egen dashboard.</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F1F33"/>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7C9CFF"/>
                </a:solidFill>
                <a:latin typeface="Arial" pitchFamily="34" charset="0"/>
                <a:ea typeface="Arial" pitchFamily="34" charset="-122"/>
                <a:cs typeface="Arial" pitchFamily="34" charset="-120"/>
              </a:rPr>
              <a:t>LABB 5B · LARM I GRAFANA</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F5F7FA"/>
                </a:solidFill>
                <a:latin typeface="Calibri" pitchFamily="34" charset="0"/>
                <a:ea typeface="Calibri" pitchFamily="34" charset="-122"/>
                <a:cs typeface="Calibri" pitchFamily="34" charset="-120"/>
              </a:rPr>
              <a:t>Alerting → Alert rules → New alert rule</a:t>
            </a:r>
            <a:endParaRPr lang="en-US" sz="3000" dirty="0"/>
          </a:p>
        </p:txBody>
      </p:sp>
      <p:sp>
        <p:nvSpPr>
          <p:cNvPr id="4" name="Shape 2"/>
          <p:cNvSpPr/>
          <p:nvPr/>
        </p:nvSpPr>
        <p:spPr>
          <a:xfrm>
            <a:off x="548640" y="1600200"/>
            <a:ext cx="11094415" cy="530352"/>
          </a:xfrm>
          <a:prstGeom prst="roundRect">
            <a:avLst>
              <a:gd name="adj" fmla="val 8621"/>
            </a:avLst>
          </a:prstGeom>
          <a:solidFill>
            <a:srgbClr val="16294A"/>
          </a:solidFill>
          <a:ln w="12700">
            <a:solidFill>
              <a:srgbClr val="16294A"/>
            </a:solidFill>
            <a:prstDash val="solid"/>
          </a:ln>
        </p:spPr>
      </p:sp>
      <p:sp>
        <p:nvSpPr>
          <p:cNvPr id="5" name="Text 3"/>
          <p:cNvSpPr txBox="1"/>
          <p:nvPr/>
        </p:nvSpPr>
        <p:spPr>
          <a:xfrm>
            <a:off x="685800" y="1600200"/>
            <a:ext cx="365760" cy="530352"/>
          </a:xfrm>
          <a:prstGeom prst="rect">
            <a:avLst/>
          </a:prstGeom>
          <a:noFill/>
          <a:ln/>
        </p:spPr>
        <p:txBody>
          <a:bodyPr wrap="square" lIns="0" tIns="0" rIns="0" bIns="0" rtlCol="0" anchor="ctr"/>
          <a:lstStyle/>
          <a:p>
            <a:pPr indent="0" marL="0">
              <a:buNone/>
            </a:pPr>
            <a:r>
              <a:rPr lang="en-US" sz="1800" b="1" dirty="0">
                <a:solidFill>
                  <a:srgbClr val="7C9CFF"/>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1097280" y="1600200"/>
            <a:ext cx="10408615" cy="530352"/>
          </a:xfrm>
          <a:prstGeom prst="rect">
            <a:avLst/>
          </a:prstGeom>
          <a:noFill/>
          <a:ln/>
        </p:spPr>
        <p:txBody>
          <a:bodyPr wrap="square" lIns="0" tIns="0" rIns="0" bIns="0" rtlCol="0" anchor="ctr"/>
          <a:lstStyle/>
          <a:p>
            <a:pPr indent="0" marL="0">
              <a:buNone/>
            </a:pPr>
            <a:r>
              <a:rPr lang="en-US" sz="1300" b="1" dirty="0">
                <a:solidFill>
                  <a:srgbClr val="F5F7FA"/>
                </a:solidFill>
                <a:latin typeface="Arial" pitchFamily="34" charset="0"/>
                <a:ea typeface="Arial" pitchFamily="34" charset="-122"/>
                <a:cs typeface="Arial" pitchFamily="34" charset="-120"/>
              </a:rPr>
              <a:t>Namn och fråga</a:t>
            </a:r>
            <a:r>
              <a:rPr lang="en-US" sz="1300" dirty="0">
                <a:solidFill>
                  <a:srgbClr val="B9C4D1"/>
                </a:solidFill>
                <a:latin typeface="Arial" pitchFamily="34" charset="0"/>
                <a:ea typeface="Arial" pitchFamily="34" charset="-122"/>
                <a:cs typeface="Arial" pitchFamily="34" charset="-120"/>
              </a:rPr>
              <a:t>  Data source Prometheus - felandel för telemetry-api (frågan nedan)</a:t>
            </a:r>
            <a:endParaRPr lang="en-US" sz="1300" dirty="0"/>
          </a:p>
        </p:txBody>
      </p:sp>
      <p:sp>
        <p:nvSpPr>
          <p:cNvPr id="7" name="Shape 5"/>
          <p:cNvSpPr/>
          <p:nvPr/>
        </p:nvSpPr>
        <p:spPr>
          <a:xfrm>
            <a:off x="548640" y="2221992"/>
            <a:ext cx="11094415" cy="530352"/>
          </a:xfrm>
          <a:prstGeom prst="roundRect">
            <a:avLst>
              <a:gd name="adj" fmla="val 8621"/>
            </a:avLst>
          </a:prstGeom>
          <a:solidFill>
            <a:srgbClr val="16294A"/>
          </a:solidFill>
          <a:ln w="12700">
            <a:solidFill>
              <a:srgbClr val="16294A"/>
            </a:solidFill>
            <a:prstDash val="solid"/>
          </a:ln>
        </p:spPr>
      </p:sp>
      <p:sp>
        <p:nvSpPr>
          <p:cNvPr id="8" name="Text 6"/>
          <p:cNvSpPr txBox="1"/>
          <p:nvPr/>
        </p:nvSpPr>
        <p:spPr>
          <a:xfrm>
            <a:off x="685800" y="2221992"/>
            <a:ext cx="365760" cy="530352"/>
          </a:xfrm>
          <a:prstGeom prst="rect">
            <a:avLst/>
          </a:prstGeom>
          <a:noFill/>
          <a:ln/>
        </p:spPr>
        <p:txBody>
          <a:bodyPr wrap="square" lIns="0" tIns="0" rIns="0" bIns="0" rtlCol="0" anchor="ctr"/>
          <a:lstStyle/>
          <a:p>
            <a:pPr indent="0" marL="0">
              <a:buNone/>
            </a:pPr>
            <a:r>
              <a:rPr lang="en-US" sz="1800" b="1" dirty="0">
                <a:solidFill>
                  <a:srgbClr val="7C9CFF"/>
                </a:solidFill>
                <a:latin typeface="Calibri" pitchFamily="34" charset="0"/>
                <a:ea typeface="Calibri" pitchFamily="34" charset="-122"/>
                <a:cs typeface="Calibri" pitchFamily="34" charset="-120"/>
              </a:rPr>
              <a:t>2</a:t>
            </a:r>
            <a:endParaRPr lang="en-US" sz="1800" dirty="0"/>
          </a:p>
        </p:txBody>
      </p:sp>
      <p:sp>
        <p:nvSpPr>
          <p:cNvPr id="9" name="Text 7"/>
          <p:cNvSpPr txBox="1"/>
          <p:nvPr/>
        </p:nvSpPr>
        <p:spPr>
          <a:xfrm>
            <a:off x="1097280" y="2221992"/>
            <a:ext cx="10408615" cy="530352"/>
          </a:xfrm>
          <a:prstGeom prst="rect">
            <a:avLst/>
          </a:prstGeom>
          <a:noFill/>
          <a:ln/>
        </p:spPr>
        <p:txBody>
          <a:bodyPr wrap="square" lIns="0" tIns="0" rIns="0" bIns="0" rtlCol="0" anchor="ctr"/>
          <a:lstStyle/>
          <a:p>
            <a:pPr indent="0" marL="0">
              <a:buNone/>
            </a:pPr>
            <a:r>
              <a:rPr lang="en-US" sz="1300" b="1" dirty="0">
                <a:solidFill>
                  <a:srgbClr val="F5F7FA"/>
                </a:solidFill>
                <a:latin typeface="Arial" pitchFamily="34" charset="0"/>
                <a:ea typeface="Arial" pitchFamily="34" charset="-122"/>
                <a:cs typeface="Arial" pitchFamily="34" charset="-120"/>
              </a:rPr>
              <a:t>Villkor</a:t>
            </a:r>
            <a:r>
              <a:rPr lang="en-US" sz="1300" dirty="0">
                <a:solidFill>
                  <a:srgbClr val="B9C4D1"/>
                </a:solidFill>
                <a:latin typeface="Arial" pitchFamily="34" charset="0"/>
                <a:ea typeface="Arial" pitchFamily="34" charset="-122"/>
                <a:cs typeface="Arial" pitchFamily="34" charset="-120"/>
              </a:rPr>
              <a:t>  Threshold: IS ABOVE 0.05  (mer än 5 % fel)</a:t>
            </a:r>
            <a:endParaRPr lang="en-US" sz="1300" dirty="0"/>
          </a:p>
        </p:txBody>
      </p:sp>
      <p:sp>
        <p:nvSpPr>
          <p:cNvPr id="10" name="Shape 8"/>
          <p:cNvSpPr/>
          <p:nvPr/>
        </p:nvSpPr>
        <p:spPr>
          <a:xfrm>
            <a:off x="548640" y="2843784"/>
            <a:ext cx="11094415" cy="530352"/>
          </a:xfrm>
          <a:prstGeom prst="roundRect">
            <a:avLst>
              <a:gd name="adj" fmla="val 8621"/>
            </a:avLst>
          </a:prstGeom>
          <a:solidFill>
            <a:srgbClr val="16294A"/>
          </a:solidFill>
          <a:ln w="12700">
            <a:solidFill>
              <a:srgbClr val="16294A"/>
            </a:solidFill>
            <a:prstDash val="solid"/>
          </a:ln>
        </p:spPr>
      </p:sp>
      <p:sp>
        <p:nvSpPr>
          <p:cNvPr id="11" name="Text 9"/>
          <p:cNvSpPr txBox="1"/>
          <p:nvPr/>
        </p:nvSpPr>
        <p:spPr>
          <a:xfrm>
            <a:off x="685800" y="2843784"/>
            <a:ext cx="365760" cy="530352"/>
          </a:xfrm>
          <a:prstGeom prst="rect">
            <a:avLst/>
          </a:prstGeom>
          <a:noFill/>
          <a:ln/>
        </p:spPr>
        <p:txBody>
          <a:bodyPr wrap="square" lIns="0" tIns="0" rIns="0" bIns="0" rtlCol="0" anchor="ctr"/>
          <a:lstStyle/>
          <a:p>
            <a:pPr indent="0" marL="0">
              <a:buNone/>
            </a:pPr>
            <a:r>
              <a:rPr lang="en-US" sz="1800" b="1" dirty="0">
                <a:solidFill>
                  <a:srgbClr val="7C9CFF"/>
                </a:solidFill>
                <a:latin typeface="Calibri" pitchFamily="34" charset="0"/>
                <a:ea typeface="Calibri" pitchFamily="34" charset="-122"/>
                <a:cs typeface="Calibri" pitchFamily="34" charset="-120"/>
              </a:rPr>
              <a:t>3</a:t>
            </a:r>
            <a:endParaRPr lang="en-US" sz="1800" dirty="0"/>
          </a:p>
        </p:txBody>
      </p:sp>
      <p:sp>
        <p:nvSpPr>
          <p:cNvPr id="12" name="Text 10"/>
          <p:cNvSpPr txBox="1"/>
          <p:nvPr/>
        </p:nvSpPr>
        <p:spPr>
          <a:xfrm>
            <a:off x="1097280" y="2843784"/>
            <a:ext cx="10408615" cy="530352"/>
          </a:xfrm>
          <a:prstGeom prst="rect">
            <a:avLst/>
          </a:prstGeom>
          <a:noFill/>
          <a:ln/>
        </p:spPr>
        <p:txBody>
          <a:bodyPr wrap="square" lIns="0" tIns="0" rIns="0" bIns="0" rtlCol="0" anchor="ctr"/>
          <a:lstStyle/>
          <a:p>
            <a:pPr indent="0" marL="0">
              <a:buNone/>
            </a:pPr>
            <a:r>
              <a:rPr lang="en-US" sz="1300" b="1" dirty="0">
                <a:solidFill>
                  <a:srgbClr val="F5F7FA"/>
                </a:solidFill>
                <a:latin typeface="Arial" pitchFamily="34" charset="0"/>
                <a:ea typeface="Arial" pitchFamily="34" charset="-122"/>
                <a:cs typeface="Arial" pitchFamily="34" charset="-120"/>
              </a:rPr>
              <a:t>Utvärdering</a:t>
            </a:r>
            <a:r>
              <a:rPr lang="en-US" sz="1300" dirty="0">
                <a:solidFill>
                  <a:srgbClr val="B9C4D1"/>
                </a:solidFill>
                <a:latin typeface="Arial" pitchFamily="34" charset="0"/>
                <a:ea typeface="Arial" pitchFamily="34" charset="-122"/>
                <a:cs typeface="Arial" pitchFamily="34" charset="-120"/>
              </a:rPr>
              <a:t>  Folder: Kvällskurs · Evaluation group: var 30 s · Pending period: 1m</a:t>
            </a:r>
            <a:endParaRPr lang="en-US" sz="1300" dirty="0"/>
          </a:p>
        </p:txBody>
      </p:sp>
      <p:sp>
        <p:nvSpPr>
          <p:cNvPr id="13" name="Shape 11"/>
          <p:cNvSpPr/>
          <p:nvPr/>
        </p:nvSpPr>
        <p:spPr>
          <a:xfrm>
            <a:off x="548640" y="3465576"/>
            <a:ext cx="11094415" cy="530352"/>
          </a:xfrm>
          <a:prstGeom prst="roundRect">
            <a:avLst>
              <a:gd name="adj" fmla="val 8621"/>
            </a:avLst>
          </a:prstGeom>
          <a:solidFill>
            <a:srgbClr val="16294A"/>
          </a:solidFill>
          <a:ln w="12700">
            <a:solidFill>
              <a:srgbClr val="16294A"/>
            </a:solidFill>
            <a:prstDash val="solid"/>
          </a:ln>
        </p:spPr>
      </p:sp>
      <p:sp>
        <p:nvSpPr>
          <p:cNvPr id="14" name="Text 12"/>
          <p:cNvSpPr txBox="1"/>
          <p:nvPr/>
        </p:nvSpPr>
        <p:spPr>
          <a:xfrm>
            <a:off x="685800" y="3465576"/>
            <a:ext cx="365760" cy="530352"/>
          </a:xfrm>
          <a:prstGeom prst="rect">
            <a:avLst/>
          </a:prstGeom>
          <a:noFill/>
          <a:ln/>
        </p:spPr>
        <p:txBody>
          <a:bodyPr wrap="square" lIns="0" tIns="0" rIns="0" bIns="0" rtlCol="0" anchor="ctr"/>
          <a:lstStyle/>
          <a:p>
            <a:pPr indent="0" marL="0">
              <a:buNone/>
            </a:pPr>
            <a:r>
              <a:rPr lang="en-US" sz="1800" b="1" dirty="0">
                <a:solidFill>
                  <a:srgbClr val="7C9CFF"/>
                </a:solidFill>
                <a:latin typeface="Calibri" pitchFamily="34" charset="0"/>
                <a:ea typeface="Calibri" pitchFamily="34" charset="-122"/>
                <a:cs typeface="Calibri" pitchFamily="34" charset="-120"/>
              </a:rPr>
              <a:t>4</a:t>
            </a:r>
            <a:endParaRPr lang="en-US" sz="1800" dirty="0"/>
          </a:p>
        </p:txBody>
      </p:sp>
      <p:sp>
        <p:nvSpPr>
          <p:cNvPr id="15" name="Text 13"/>
          <p:cNvSpPr txBox="1"/>
          <p:nvPr/>
        </p:nvSpPr>
        <p:spPr>
          <a:xfrm>
            <a:off x="1097280" y="3465576"/>
            <a:ext cx="10408615" cy="530352"/>
          </a:xfrm>
          <a:prstGeom prst="rect">
            <a:avLst/>
          </a:prstGeom>
          <a:noFill/>
          <a:ln/>
        </p:spPr>
        <p:txBody>
          <a:bodyPr wrap="square" lIns="0" tIns="0" rIns="0" bIns="0" rtlCol="0" anchor="ctr"/>
          <a:lstStyle/>
          <a:p>
            <a:pPr indent="0" marL="0">
              <a:buNone/>
            </a:pPr>
            <a:r>
              <a:rPr lang="en-US" sz="1300" b="1" dirty="0">
                <a:solidFill>
                  <a:srgbClr val="F5F7FA"/>
                </a:solidFill>
                <a:latin typeface="Arial" pitchFamily="34" charset="0"/>
                <a:ea typeface="Arial" pitchFamily="34" charset="-122"/>
                <a:cs typeface="Arial" pitchFamily="34" charset="-120"/>
              </a:rPr>
              <a:t>Etiketter och kontakt</a:t>
            </a:r>
            <a:r>
              <a:rPr lang="en-US" sz="1300" dirty="0">
                <a:solidFill>
                  <a:srgbClr val="B9C4D1"/>
                </a:solidFill>
                <a:latin typeface="Arial" pitchFamily="34" charset="0"/>
                <a:ea typeface="Arial" pitchFamily="34" charset="-122"/>
                <a:cs typeface="Arial" pitchFamily="34" charset="-120"/>
              </a:rPr>
              <a:t>  severity=warning · Contact point: standard (ingen e-post krävs)</a:t>
            </a:r>
            <a:endParaRPr lang="en-US" sz="1300" dirty="0"/>
          </a:p>
        </p:txBody>
      </p:sp>
      <p:sp>
        <p:nvSpPr>
          <p:cNvPr id="16" name="Shape 14"/>
          <p:cNvSpPr/>
          <p:nvPr/>
        </p:nvSpPr>
        <p:spPr>
          <a:xfrm>
            <a:off x="548640" y="4087368"/>
            <a:ext cx="11094415" cy="530352"/>
          </a:xfrm>
          <a:prstGeom prst="roundRect">
            <a:avLst>
              <a:gd name="adj" fmla="val 8621"/>
            </a:avLst>
          </a:prstGeom>
          <a:solidFill>
            <a:srgbClr val="3762FF"/>
          </a:solidFill>
          <a:ln w="12700">
            <a:solidFill>
              <a:srgbClr val="3762FF"/>
            </a:solidFill>
            <a:prstDash val="solid"/>
          </a:ln>
        </p:spPr>
      </p:sp>
      <p:sp>
        <p:nvSpPr>
          <p:cNvPr id="17" name="Text 15"/>
          <p:cNvSpPr txBox="1"/>
          <p:nvPr/>
        </p:nvSpPr>
        <p:spPr>
          <a:xfrm>
            <a:off x="685800" y="4087368"/>
            <a:ext cx="365760" cy="53035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8" name="Text 16"/>
          <p:cNvSpPr txBox="1"/>
          <p:nvPr/>
        </p:nvSpPr>
        <p:spPr>
          <a:xfrm>
            <a:off x="1097280" y="4087368"/>
            <a:ext cx="10408615" cy="530352"/>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Testa</a:t>
            </a:r>
            <a:r>
              <a:rPr lang="en-US" sz="1300" dirty="0">
                <a:solidFill>
                  <a:srgbClr val="FFFFFF"/>
                </a:solidFill>
                <a:latin typeface="Arial" pitchFamily="34" charset="0"/>
                <a:ea typeface="Arial" pitchFamily="34" charset="-122"/>
                <a:cs typeface="Arial" pitchFamily="34" charset="-120"/>
              </a:rPr>
              <a:t>  Tryck "Orsaka fel" i CustomerClient - Normal → Pending → Firing</a:t>
            </a:r>
            <a:endParaRPr lang="en-US" sz="1300" dirty="0"/>
          </a:p>
        </p:txBody>
      </p:sp>
      <p:sp>
        <p:nvSpPr>
          <p:cNvPr id="19" name="Shape 17"/>
          <p:cNvSpPr/>
          <p:nvPr/>
        </p:nvSpPr>
        <p:spPr>
          <a:xfrm>
            <a:off x="548640" y="4800600"/>
            <a:ext cx="11094415" cy="1051560"/>
          </a:xfrm>
          <a:prstGeom prst="roundRect">
            <a:avLst>
              <a:gd name="adj" fmla="val 5217"/>
            </a:avLst>
          </a:prstGeom>
          <a:solidFill>
            <a:srgbClr val="16294A"/>
          </a:solidFill>
          <a:ln w="12700">
            <a:solidFill>
              <a:srgbClr val="16294A"/>
            </a:solidFill>
            <a:prstDash val="solid"/>
          </a:ln>
        </p:spPr>
      </p:sp>
      <p:sp>
        <p:nvSpPr>
          <p:cNvPr id="20" name="Shape 18"/>
          <p:cNvSpPr/>
          <p:nvPr/>
        </p:nvSpPr>
        <p:spPr>
          <a:xfrm>
            <a:off x="749808" y="4965192"/>
            <a:ext cx="109728" cy="109728"/>
          </a:xfrm>
          <a:prstGeom prst="ellipse">
            <a:avLst/>
          </a:prstGeom>
          <a:solidFill>
            <a:srgbClr val="D64545"/>
          </a:solidFill>
          <a:ln w="12700">
            <a:solidFill>
              <a:srgbClr val="D64545"/>
            </a:solidFill>
            <a:prstDash val="solid"/>
          </a:ln>
        </p:spPr>
      </p:sp>
      <p:sp>
        <p:nvSpPr>
          <p:cNvPr id="21" name="Shape 19"/>
          <p:cNvSpPr/>
          <p:nvPr/>
        </p:nvSpPr>
        <p:spPr>
          <a:xfrm>
            <a:off x="932688" y="4965192"/>
            <a:ext cx="109728" cy="109728"/>
          </a:xfrm>
          <a:prstGeom prst="ellipse">
            <a:avLst/>
          </a:prstGeom>
          <a:solidFill>
            <a:srgbClr val="FFB020"/>
          </a:solidFill>
          <a:ln w="12700">
            <a:solidFill>
              <a:srgbClr val="FFB020"/>
            </a:solidFill>
            <a:prstDash val="solid"/>
          </a:ln>
        </p:spPr>
      </p:sp>
      <p:sp>
        <p:nvSpPr>
          <p:cNvPr id="22" name="Shape 20"/>
          <p:cNvSpPr/>
          <p:nvPr/>
        </p:nvSpPr>
        <p:spPr>
          <a:xfrm>
            <a:off x="1115568" y="4965192"/>
            <a:ext cx="109728" cy="109728"/>
          </a:xfrm>
          <a:prstGeom prst="ellipse">
            <a:avLst/>
          </a:prstGeom>
          <a:solidFill>
            <a:srgbClr val="3CB371"/>
          </a:solidFill>
          <a:ln w="12700">
            <a:solidFill>
              <a:srgbClr val="3CB371"/>
            </a:solidFill>
            <a:prstDash val="solid"/>
          </a:ln>
        </p:spPr>
      </p:sp>
      <p:sp>
        <p:nvSpPr>
          <p:cNvPr id="23" name="Text 21"/>
          <p:cNvSpPr txBox="1"/>
          <p:nvPr/>
        </p:nvSpPr>
        <p:spPr>
          <a:xfrm>
            <a:off x="777240" y="5257800"/>
            <a:ext cx="10637215" cy="457200"/>
          </a:xfrm>
          <a:prstGeom prst="rect">
            <a:avLst/>
          </a:prstGeom>
          <a:noFill/>
          <a:ln/>
        </p:spPr>
        <p:txBody>
          <a:bodyPr wrap="square" lIns="0" tIns="0" rIns="0" bIns="0" rtlCol="0" anchor="t"/>
          <a:lstStyle/>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sum(rate(otel_http_server_request_duration_seconds_count{service_name="telemetry-api",http_response_status_code=~"5.."}[1m]))</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sum(rate(otel_http_server_request_duration_seconds_count{service_name="telemetry-api"}[1m]))</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DRIFT · SLO</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SLI, SLO och felbudget</a:t>
            </a:r>
            <a:endParaRPr lang="en-US" sz="3000" dirty="0"/>
          </a:p>
        </p:txBody>
      </p:sp>
      <p:sp>
        <p:nvSpPr>
          <p:cNvPr id="4" name="Shape 2"/>
          <p:cNvSpPr/>
          <p:nvPr/>
        </p:nvSpPr>
        <p:spPr>
          <a:xfrm>
            <a:off x="548640" y="1645920"/>
            <a:ext cx="3515258" cy="18288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5" name="Text 3"/>
          <p:cNvSpPr txBox="1"/>
          <p:nvPr/>
        </p:nvSpPr>
        <p:spPr>
          <a:xfrm>
            <a:off x="749808" y="1847088"/>
            <a:ext cx="3112922" cy="320040"/>
          </a:xfrm>
          <a:prstGeom prst="rect">
            <a:avLst/>
          </a:prstGeom>
          <a:noFill/>
          <a:ln/>
        </p:spPr>
        <p:txBody>
          <a:bodyPr wrap="square" lIns="0" tIns="0" rIns="0" bIns="0" rtlCol="0" anchor="t"/>
          <a:lstStyle/>
          <a:p>
            <a:pPr indent="0" marL="0">
              <a:buNone/>
            </a:pPr>
            <a:r>
              <a:rPr lang="en-US" sz="2200" b="1" dirty="0">
                <a:solidFill>
                  <a:srgbClr val="16202B"/>
                </a:solidFill>
                <a:latin typeface="Calibri" pitchFamily="34" charset="0"/>
                <a:ea typeface="Calibri" pitchFamily="34" charset="-122"/>
                <a:cs typeface="Calibri" pitchFamily="34" charset="-120"/>
              </a:rPr>
              <a:t>SLI</a:t>
            </a:r>
            <a:endParaRPr lang="en-US" sz="2200" dirty="0"/>
          </a:p>
        </p:txBody>
      </p:sp>
      <p:sp>
        <p:nvSpPr>
          <p:cNvPr id="6" name="Text 4"/>
          <p:cNvSpPr txBox="1"/>
          <p:nvPr/>
        </p:nvSpPr>
        <p:spPr>
          <a:xfrm>
            <a:off x="749808" y="2231136"/>
            <a:ext cx="3112922" cy="1088136"/>
          </a:xfrm>
          <a:prstGeom prst="rect">
            <a:avLst/>
          </a:prstGeom>
          <a:noFill/>
          <a:ln/>
        </p:spPr>
        <p:txBody>
          <a:bodyPr wrap="square" lIns="0" tIns="0" rIns="0" bIns="0" rtlCol="0" anchor="t"/>
          <a:lstStyle/>
          <a:p>
            <a:pPr indent="0" marL="0">
              <a:lnSpc>
                <a:spcPct val="115000"/>
              </a:lnSpc>
              <a:buNone/>
            </a:pPr>
            <a:r>
              <a:rPr lang="en-US" sz="1400" dirty="0">
                <a:solidFill>
                  <a:srgbClr val="4A5568"/>
                </a:solidFill>
                <a:latin typeface="Arial" pitchFamily="34" charset="0"/>
                <a:ea typeface="Arial" pitchFamily="34" charset="-122"/>
                <a:cs typeface="Arial" pitchFamily="34" charset="-120"/>
              </a:rPr>
              <a:t>Indikator - det man mäter.</a:t>
            </a:r>
            <a:endParaRPr lang="en-US" sz="1400" dirty="0"/>
          </a:p>
        </p:txBody>
      </p:sp>
      <p:sp>
        <p:nvSpPr>
          <p:cNvPr id="7" name="Shape 5"/>
          <p:cNvSpPr/>
          <p:nvPr/>
        </p:nvSpPr>
        <p:spPr>
          <a:xfrm>
            <a:off x="548640" y="3611880"/>
            <a:ext cx="3515258" cy="777240"/>
          </a:xfrm>
          <a:prstGeom prst="roundRect">
            <a:avLst>
              <a:gd name="adj" fmla="val 7059"/>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8" name="Shape 6"/>
          <p:cNvSpPr/>
          <p:nvPr/>
        </p:nvSpPr>
        <p:spPr>
          <a:xfrm>
            <a:off x="749808" y="3776472"/>
            <a:ext cx="109728" cy="109728"/>
          </a:xfrm>
          <a:prstGeom prst="ellipse">
            <a:avLst/>
          </a:prstGeom>
          <a:solidFill>
            <a:srgbClr val="D64545"/>
          </a:solidFill>
          <a:ln w="12700">
            <a:solidFill>
              <a:srgbClr val="D64545"/>
            </a:solidFill>
            <a:prstDash val="solid"/>
          </a:ln>
        </p:spPr>
      </p:sp>
      <p:sp>
        <p:nvSpPr>
          <p:cNvPr id="9" name="Shape 7"/>
          <p:cNvSpPr/>
          <p:nvPr/>
        </p:nvSpPr>
        <p:spPr>
          <a:xfrm>
            <a:off x="932688" y="3776472"/>
            <a:ext cx="109728" cy="109728"/>
          </a:xfrm>
          <a:prstGeom prst="ellipse">
            <a:avLst/>
          </a:prstGeom>
          <a:solidFill>
            <a:srgbClr val="FFB020"/>
          </a:solidFill>
          <a:ln w="12700">
            <a:solidFill>
              <a:srgbClr val="FFB020"/>
            </a:solidFill>
            <a:prstDash val="solid"/>
          </a:ln>
        </p:spPr>
      </p:sp>
      <p:sp>
        <p:nvSpPr>
          <p:cNvPr id="10" name="Shape 8"/>
          <p:cNvSpPr/>
          <p:nvPr/>
        </p:nvSpPr>
        <p:spPr>
          <a:xfrm>
            <a:off x="1115568" y="3776472"/>
            <a:ext cx="109728" cy="109728"/>
          </a:xfrm>
          <a:prstGeom prst="ellipse">
            <a:avLst/>
          </a:prstGeom>
          <a:solidFill>
            <a:srgbClr val="3CB371"/>
          </a:solidFill>
          <a:ln w="12700">
            <a:solidFill>
              <a:srgbClr val="3CB371"/>
            </a:solidFill>
            <a:prstDash val="solid"/>
          </a:ln>
        </p:spPr>
      </p:sp>
      <p:sp>
        <p:nvSpPr>
          <p:cNvPr id="11" name="Text 9"/>
          <p:cNvSpPr txBox="1"/>
          <p:nvPr/>
        </p:nvSpPr>
        <p:spPr>
          <a:xfrm>
            <a:off x="777240" y="4069080"/>
            <a:ext cx="3058058" cy="182880"/>
          </a:xfrm>
          <a:prstGeom prst="rect">
            <a:avLst/>
          </a:prstGeom>
          <a:noFill/>
          <a:ln/>
        </p:spPr>
        <p:txBody>
          <a:bodyPr wrap="square" lIns="0" tIns="0" rIns="0" bIns="0" rtlCol="0" anchor="t"/>
          <a:lstStyle/>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Andel anrop utan 5xx</a:t>
            </a:r>
            <a:endParaRPr lang="en-US" sz="1200" dirty="0"/>
          </a:p>
        </p:txBody>
      </p:sp>
      <p:sp>
        <p:nvSpPr>
          <p:cNvPr id="12" name="Shape 10"/>
          <p:cNvSpPr/>
          <p:nvPr/>
        </p:nvSpPr>
        <p:spPr>
          <a:xfrm>
            <a:off x="4338218" y="1645920"/>
            <a:ext cx="3515258" cy="18288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3" name="Text 11"/>
          <p:cNvSpPr txBox="1"/>
          <p:nvPr/>
        </p:nvSpPr>
        <p:spPr>
          <a:xfrm>
            <a:off x="4539386" y="1847088"/>
            <a:ext cx="3112922" cy="320040"/>
          </a:xfrm>
          <a:prstGeom prst="rect">
            <a:avLst/>
          </a:prstGeom>
          <a:noFill/>
          <a:ln/>
        </p:spPr>
        <p:txBody>
          <a:bodyPr wrap="square" lIns="0" tIns="0" rIns="0" bIns="0" rtlCol="0" anchor="t"/>
          <a:lstStyle/>
          <a:p>
            <a:pPr indent="0" marL="0">
              <a:buNone/>
            </a:pPr>
            <a:r>
              <a:rPr lang="en-US" sz="2200" b="1" dirty="0">
                <a:solidFill>
                  <a:srgbClr val="16202B"/>
                </a:solidFill>
                <a:latin typeface="Calibri" pitchFamily="34" charset="0"/>
                <a:ea typeface="Calibri" pitchFamily="34" charset="-122"/>
                <a:cs typeface="Calibri" pitchFamily="34" charset="-120"/>
              </a:rPr>
              <a:t>SLO</a:t>
            </a:r>
            <a:endParaRPr lang="en-US" sz="2200" dirty="0"/>
          </a:p>
        </p:txBody>
      </p:sp>
      <p:sp>
        <p:nvSpPr>
          <p:cNvPr id="14" name="Text 12"/>
          <p:cNvSpPr txBox="1"/>
          <p:nvPr/>
        </p:nvSpPr>
        <p:spPr>
          <a:xfrm>
            <a:off x="4539386" y="2231136"/>
            <a:ext cx="3112922" cy="1088136"/>
          </a:xfrm>
          <a:prstGeom prst="rect">
            <a:avLst/>
          </a:prstGeom>
          <a:noFill/>
          <a:ln/>
        </p:spPr>
        <p:txBody>
          <a:bodyPr wrap="square" lIns="0" tIns="0" rIns="0" bIns="0" rtlCol="0" anchor="t"/>
          <a:lstStyle/>
          <a:p>
            <a:pPr indent="0" marL="0">
              <a:lnSpc>
                <a:spcPct val="115000"/>
              </a:lnSpc>
              <a:buNone/>
            </a:pPr>
            <a:r>
              <a:rPr lang="en-US" sz="1400" dirty="0">
                <a:solidFill>
                  <a:srgbClr val="4A5568"/>
                </a:solidFill>
                <a:latin typeface="Arial" pitchFamily="34" charset="0"/>
                <a:ea typeface="Arial" pitchFamily="34" charset="-122"/>
                <a:cs typeface="Arial" pitchFamily="34" charset="-120"/>
              </a:rPr>
              <a:t>Mål - hur bra är bra nog?</a:t>
            </a:r>
            <a:endParaRPr lang="en-US" sz="1400" dirty="0"/>
          </a:p>
        </p:txBody>
      </p:sp>
      <p:sp>
        <p:nvSpPr>
          <p:cNvPr id="15" name="Shape 13"/>
          <p:cNvSpPr/>
          <p:nvPr/>
        </p:nvSpPr>
        <p:spPr>
          <a:xfrm>
            <a:off x="4338218" y="3611880"/>
            <a:ext cx="3515258" cy="777240"/>
          </a:xfrm>
          <a:prstGeom prst="roundRect">
            <a:avLst>
              <a:gd name="adj" fmla="val 7059"/>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16" name="Shape 14"/>
          <p:cNvSpPr/>
          <p:nvPr/>
        </p:nvSpPr>
        <p:spPr>
          <a:xfrm>
            <a:off x="4539386" y="3776472"/>
            <a:ext cx="109728" cy="109728"/>
          </a:xfrm>
          <a:prstGeom prst="ellipse">
            <a:avLst/>
          </a:prstGeom>
          <a:solidFill>
            <a:srgbClr val="D64545"/>
          </a:solidFill>
          <a:ln w="12700">
            <a:solidFill>
              <a:srgbClr val="D64545"/>
            </a:solidFill>
            <a:prstDash val="solid"/>
          </a:ln>
        </p:spPr>
      </p:sp>
      <p:sp>
        <p:nvSpPr>
          <p:cNvPr id="17" name="Shape 15"/>
          <p:cNvSpPr/>
          <p:nvPr/>
        </p:nvSpPr>
        <p:spPr>
          <a:xfrm>
            <a:off x="4722266" y="3776472"/>
            <a:ext cx="109728" cy="109728"/>
          </a:xfrm>
          <a:prstGeom prst="ellipse">
            <a:avLst/>
          </a:prstGeom>
          <a:solidFill>
            <a:srgbClr val="FFB020"/>
          </a:solidFill>
          <a:ln w="12700">
            <a:solidFill>
              <a:srgbClr val="FFB020"/>
            </a:solidFill>
            <a:prstDash val="solid"/>
          </a:ln>
        </p:spPr>
      </p:sp>
      <p:sp>
        <p:nvSpPr>
          <p:cNvPr id="18" name="Shape 16"/>
          <p:cNvSpPr/>
          <p:nvPr/>
        </p:nvSpPr>
        <p:spPr>
          <a:xfrm>
            <a:off x="4905146" y="3776472"/>
            <a:ext cx="109728" cy="109728"/>
          </a:xfrm>
          <a:prstGeom prst="ellipse">
            <a:avLst/>
          </a:prstGeom>
          <a:solidFill>
            <a:srgbClr val="3CB371"/>
          </a:solidFill>
          <a:ln w="12700">
            <a:solidFill>
              <a:srgbClr val="3CB371"/>
            </a:solidFill>
            <a:prstDash val="solid"/>
          </a:ln>
        </p:spPr>
      </p:sp>
      <p:sp>
        <p:nvSpPr>
          <p:cNvPr id="19" name="Text 17"/>
          <p:cNvSpPr txBox="1"/>
          <p:nvPr/>
        </p:nvSpPr>
        <p:spPr>
          <a:xfrm>
            <a:off x="4566818" y="4069080"/>
            <a:ext cx="3058058" cy="182880"/>
          </a:xfrm>
          <a:prstGeom prst="rect">
            <a:avLst/>
          </a:prstGeom>
          <a:noFill/>
          <a:ln/>
        </p:spPr>
        <p:txBody>
          <a:bodyPr wrap="square" lIns="0" tIns="0" rIns="0" bIns="0" rtlCol="0" anchor="t"/>
          <a:lstStyle/>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99 % under 30 dagar</a:t>
            </a:r>
            <a:endParaRPr lang="en-US" sz="1200" dirty="0"/>
          </a:p>
        </p:txBody>
      </p:sp>
      <p:sp>
        <p:nvSpPr>
          <p:cNvPr id="20" name="Shape 18"/>
          <p:cNvSpPr/>
          <p:nvPr/>
        </p:nvSpPr>
        <p:spPr>
          <a:xfrm>
            <a:off x="8127797" y="1645920"/>
            <a:ext cx="3515258" cy="1828800"/>
          </a:xfrm>
          <a:prstGeom prst="roundRect">
            <a:avLst>
              <a:gd name="adj" fmla="val 3000"/>
            </a:avLst>
          </a:prstGeom>
          <a:solidFill>
            <a:srgbClr val="3762FF"/>
          </a:solidFill>
          <a:ln w="12700">
            <a:solidFill>
              <a:srgbClr val="3762FF"/>
            </a:solidFill>
            <a:prstDash val="solid"/>
          </a:ln>
        </p:spPr>
      </p:sp>
      <p:sp>
        <p:nvSpPr>
          <p:cNvPr id="21" name="Text 19"/>
          <p:cNvSpPr txBox="1"/>
          <p:nvPr/>
        </p:nvSpPr>
        <p:spPr>
          <a:xfrm>
            <a:off x="8328965" y="1847088"/>
            <a:ext cx="3112922" cy="32004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Felbudget</a:t>
            </a:r>
            <a:endParaRPr lang="en-US" sz="2200" dirty="0"/>
          </a:p>
        </p:txBody>
      </p:sp>
      <p:sp>
        <p:nvSpPr>
          <p:cNvPr id="22" name="Text 20"/>
          <p:cNvSpPr txBox="1"/>
          <p:nvPr/>
        </p:nvSpPr>
        <p:spPr>
          <a:xfrm>
            <a:off x="8328965" y="2231136"/>
            <a:ext cx="3112922" cy="1088136"/>
          </a:xfrm>
          <a:prstGeom prst="rect">
            <a:avLst/>
          </a:prstGeom>
          <a:noFill/>
          <a:ln/>
        </p:spPr>
        <p:txBody>
          <a:bodyPr wrap="square" lIns="0" tIns="0" rIns="0" bIns="0" rtlCol="0" anchor="t"/>
          <a:lstStyle/>
          <a:p>
            <a:pPr indent="0" marL="0">
              <a:lnSpc>
                <a:spcPct val="115000"/>
              </a:lnSpc>
              <a:buNone/>
            </a:pPr>
            <a:r>
              <a:rPr lang="en-US" sz="1400" dirty="0">
                <a:solidFill>
                  <a:srgbClr val="FFFFFF"/>
                </a:solidFill>
                <a:latin typeface="Arial" pitchFamily="34" charset="0"/>
                <a:ea typeface="Arial" pitchFamily="34" charset="-122"/>
                <a:cs typeface="Arial" pitchFamily="34" charset="-120"/>
              </a:rPr>
              <a:t>Det som får gå fel.</a:t>
            </a:r>
            <a:endParaRPr lang="en-US" sz="1400" dirty="0"/>
          </a:p>
        </p:txBody>
      </p:sp>
      <p:sp>
        <p:nvSpPr>
          <p:cNvPr id="23" name="Shape 21"/>
          <p:cNvSpPr/>
          <p:nvPr/>
        </p:nvSpPr>
        <p:spPr>
          <a:xfrm>
            <a:off x="8127797" y="3611880"/>
            <a:ext cx="3515258" cy="777240"/>
          </a:xfrm>
          <a:prstGeom prst="roundRect">
            <a:avLst>
              <a:gd name="adj" fmla="val 7059"/>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24" name="Shape 22"/>
          <p:cNvSpPr/>
          <p:nvPr/>
        </p:nvSpPr>
        <p:spPr>
          <a:xfrm>
            <a:off x="8328965" y="3776472"/>
            <a:ext cx="109728" cy="109728"/>
          </a:xfrm>
          <a:prstGeom prst="ellipse">
            <a:avLst/>
          </a:prstGeom>
          <a:solidFill>
            <a:srgbClr val="D64545"/>
          </a:solidFill>
          <a:ln w="12700">
            <a:solidFill>
              <a:srgbClr val="D64545"/>
            </a:solidFill>
            <a:prstDash val="solid"/>
          </a:ln>
        </p:spPr>
      </p:sp>
      <p:sp>
        <p:nvSpPr>
          <p:cNvPr id="25" name="Shape 23"/>
          <p:cNvSpPr/>
          <p:nvPr/>
        </p:nvSpPr>
        <p:spPr>
          <a:xfrm>
            <a:off x="8511845" y="3776472"/>
            <a:ext cx="109728" cy="109728"/>
          </a:xfrm>
          <a:prstGeom prst="ellipse">
            <a:avLst/>
          </a:prstGeom>
          <a:solidFill>
            <a:srgbClr val="FFB020"/>
          </a:solidFill>
          <a:ln w="12700">
            <a:solidFill>
              <a:srgbClr val="FFB020"/>
            </a:solidFill>
            <a:prstDash val="solid"/>
          </a:ln>
        </p:spPr>
      </p:sp>
      <p:sp>
        <p:nvSpPr>
          <p:cNvPr id="26" name="Shape 24"/>
          <p:cNvSpPr/>
          <p:nvPr/>
        </p:nvSpPr>
        <p:spPr>
          <a:xfrm>
            <a:off x="8694725" y="3776472"/>
            <a:ext cx="109728" cy="109728"/>
          </a:xfrm>
          <a:prstGeom prst="ellipse">
            <a:avLst/>
          </a:prstGeom>
          <a:solidFill>
            <a:srgbClr val="3CB371"/>
          </a:solidFill>
          <a:ln w="12700">
            <a:solidFill>
              <a:srgbClr val="3CB371"/>
            </a:solidFill>
            <a:prstDash val="solid"/>
          </a:ln>
        </p:spPr>
      </p:sp>
      <p:sp>
        <p:nvSpPr>
          <p:cNvPr id="27" name="Text 25"/>
          <p:cNvSpPr txBox="1"/>
          <p:nvPr/>
        </p:nvSpPr>
        <p:spPr>
          <a:xfrm>
            <a:off x="8356397" y="4069080"/>
            <a:ext cx="3058058" cy="182880"/>
          </a:xfrm>
          <a:prstGeom prst="rect">
            <a:avLst/>
          </a:prstGeom>
          <a:noFill/>
          <a:ln/>
        </p:spPr>
        <p:txBody>
          <a:bodyPr wrap="square" lIns="0" tIns="0" rIns="0" bIns="0" rtlCol="0" anchor="t"/>
          <a:lstStyle/>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1 % = ca 7 h per månad</a:t>
            </a:r>
            <a:endParaRPr lang="en-US" sz="1200" dirty="0"/>
          </a:p>
        </p:txBody>
      </p:sp>
      <p:sp>
        <p:nvSpPr>
          <p:cNvPr id="28" name="Shape 26"/>
          <p:cNvSpPr/>
          <p:nvPr/>
        </p:nvSpPr>
        <p:spPr>
          <a:xfrm>
            <a:off x="548640" y="4709160"/>
            <a:ext cx="11094415" cy="1097280"/>
          </a:xfrm>
          <a:prstGeom prst="roundRect">
            <a:avLst>
              <a:gd name="adj" fmla="val 5000"/>
            </a:avLst>
          </a:prstGeom>
          <a:solidFill>
            <a:srgbClr val="E8EDFF"/>
          </a:solidFill>
          <a:ln w="12700">
            <a:solidFill>
              <a:srgbClr val="E8EDFF"/>
            </a:solidFill>
            <a:prstDash val="solid"/>
          </a:ln>
        </p:spPr>
      </p:sp>
      <p:sp>
        <p:nvSpPr>
          <p:cNvPr id="29" name="Text 27"/>
          <p:cNvSpPr txBox="1"/>
          <p:nvPr/>
        </p:nvSpPr>
        <p:spPr>
          <a:xfrm>
            <a:off x="822960" y="4709160"/>
            <a:ext cx="10545775" cy="1097280"/>
          </a:xfrm>
          <a:prstGeom prst="rect">
            <a:avLst/>
          </a:prstGeom>
          <a:noFill/>
          <a:ln/>
        </p:spPr>
        <p:txBody>
          <a:bodyPr wrap="square" lIns="0" tIns="0" rIns="0" bIns="0" rtlCol="0" anchor="ctr"/>
          <a:lstStyle/>
          <a:p>
            <a:pPr indent="0" marL="0">
              <a:buNone/>
            </a:pPr>
            <a:r>
              <a:rPr lang="en-US" sz="1400" b="1" dirty="0">
                <a:solidFill>
                  <a:srgbClr val="16202B"/>
                </a:solidFill>
                <a:latin typeface="Arial" pitchFamily="34" charset="0"/>
                <a:ea typeface="Arial" pitchFamily="34" charset="-122"/>
                <a:cs typeface="Arial" pitchFamily="34" charset="-120"/>
              </a:rPr>
              <a:t>Varför inte 100 %? </a:t>
            </a:r>
            <a:r>
              <a:rPr lang="en-US" sz="1400" dirty="0">
                <a:solidFill>
                  <a:srgbClr val="4A5568"/>
                </a:solidFill>
                <a:latin typeface="Arial" pitchFamily="34" charset="0"/>
                <a:ea typeface="Arial" pitchFamily="34" charset="-122"/>
                <a:cs typeface="Arial" pitchFamily="34" charset="-120"/>
              </a:rPr>
              <a:t>För att varje deploy, varje omstart och varje nätverksfel kostar. Felbudgeten säger hur mycket risk teamet får ta - är den slut, prioriteras stabilitet före nya funktioner.</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LABB 5C · SLO I PROMQL</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Tillgänglighet och kvarvarande felbudget</a:t>
            </a:r>
            <a:endParaRPr lang="en-US" sz="3000" dirty="0"/>
          </a:p>
        </p:txBody>
      </p:sp>
      <p:sp>
        <p:nvSpPr>
          <p:cNvPr id="4" name="Shape 2"/>
          <p:cNvSpPr/>
          <p:nvPr/>
        </p:nvSpPr>
        <p:spPr>
          <a:xfrm>
            <a:off x="548640" y="1554480"/>
            <a:ext cx="7498080" cy="4343400"/>
          </a:xfrm>
          <a:prstGeom prst="roundRect">
            <a:avLst>
              <a:gd name="adj" fmla="val 1263"/>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5" name="Shape 3"/>
          <p:cNvSpPr/>
          <p:nvPr/>
        </p:nvSpPr>
        <p:spPr>
          <a:xfrm>
            <a:off x="749808" y="171907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1907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1907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45920"/>
            <a:ext cx="6492240" cy="256032"/>
          </a:xfrm>
          <a:prstGeom prst="rect">
            <a:avLst/>
          </a:prstGeom>
          <a:noFill/>
          <a:ln/>
        </p:spPr>
        <p:txBody>
          <a:bodyPr wrap="square" lIns="0" tIns="0" rIns="0" bIns="0" rtlCol="0" anchor="ctr"/>
          <a:lstStyle/>
          <a:p>
            <a:pPr indent="0" marL="0">
              <a:buNone/>
            </a:pPr>
            <a:r>
              <a:rPr lang="en-US" sz="1100" dirty="0">
                <a:solidFill>
                  <a:srgbClr val="B9C4D1"/>
                </a:solidFill>
                <a:latin typeface="Courier New" pitchFamily="34" charset="0"/>
                <a:ea typeface="Courier New" pitchFamily="34" charset="-122"/>
                <a:cs typeface="Courier New" pitchFamily="34" charset="-120"/>
              </a:rPr>
              <a:t>powershell</a:t>
            </a:r>
            <a:endParaRPr lang="en-US" sz="1100" dirty="0"/>
          </a:p>
        </p:txBody>
      </p:sp>
      <p:sp>
        <p:nvSpPr>
          <p:cNvPr id="9" name="Text 7"/>
          <p:cNvSpPr txBox="1"/>
          <p:nvPr/>
        </p:nvSpPr>
        <p:spPr>
          <a:xfrm>
            <a:off x="777240" y="2011680"/>
            <a:ext cx="7040880" cy="3749040"/>
          </a:xfrm>
          <a:prstGeom prst="rect">
            <a:avLst/>
          </a:prstGeom>
          <a:noFill/>
          <a:ln/>
        </p:spPr>
        <p:txBody>
          <a:bodyPr wrap="square" lIns="0" tIns="0" rIns="0" bIns="0" rtlCol="0" anchor="t"/>
          <a:lstStyle/>
          <a:p>
            <a:pPr indent="0" marL="0">
              <a:lnSpc>
                <a:spcPct val="110000"/>
              </a:lnSpc>
              <a:buNone/>
            </a:pPr>
            <a:r>
              <a:rPr lang="en-US" sz="1050" i="1" dirty="0">
                <a:solidFill>
                  <a:srgbClr val="B9C4D1"/>
                </a:solidFill>
                <a:latin typeface="Courier New" pitchFamily="34" charset="0"/>
                <a:ea typeface="Courier New" pitchFamily="34" charset="-122"/>
                <a:cs typeface="Courier New" pitchFamily="34" charset="-120"/>
              </a:rPr>
              <a:t># SLI: andel lyckade anrop senaste timmen</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1 - (</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  sum(increase(otel_http_server_request_duration_seconds_count</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      {service_name="telemetry-api",http_response_status_code=~"5.."}[1h]))</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  /</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  sum(increase(otel_http_server_request_duration_seconds_count</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      {service_name="telemetry-api"}[1h])) )</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 </a:t>
            </a:r>
            <a:endParaRPr lang="en-US" sz="1050" dirty="0"/>
          </a:p>
          <a:p>
            <a:pPr indent="0" marL="0">
              <a:lnSpc>
                <a:spcPct val="110000"/>
              </a:lnSpc>
              <a:buNone/>
            </a:pPr>
            <a:r>
              <a:rPr lang="en-US" sz="1050" i="1" dirty="0">
                <a:solidFill>
                  <a:srgbClr val="B9C4D1"/>
                </a:solidFill>
                <a:latin typeface="Courier New" pitchFamily="34" charset="0"/>
                <a:ea typeface="Courier New" pitchFamily="34" charset="-122"/>
                <a:cs typeface="Courier New" pitchFamily="34" charset="-120"/>
              </a:rPr>
              <a:t># Felbudget kvar (SLO 99 %): 1 = hela budgeten, 0 = slut, &lt; 0 = överskriden</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1 - ( (1 - &lt;SLI-frågan&gt;) / 0.01 )</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 </a:t>
            </a:r>
            <a:endParaRPr lang="en-US" sz="1050" dirty="0"/>
          </a:p>
          <a:p>
            <a:pPr indent="0" marL="0">
              <a:lnSpc>
                <a:spcPct val="110000"/>
              </a:lnSpc>
              <a:buNone/>
            </a:pPr>
            <a:r>
              <a:rPr lang="en-US" sz="1050" i="1" dirty="0">
                <a:solidFill>
                  <a:srgbClr val="B9C4D1"/>
                </a:solidFill>
                <a:latin typeface="Courier New" pitchFamily="34" charset="0"/>
                <a:ea typeface="Courier New" pitchFamily="34" charset="-122"/>
                <a:cs typeface="Courier New" pitchFamily="34" charset="-120"/>
              </a:rPr>
              <a:t># Latens-SLO: andel anrop snabbare än 250 ms</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sum(rate(..._bucket{service_name="telemetry-api",le="0.25"}[1h])) / sum(rate(..._count{…}[1h]))</a:t>
            </a:r>
            <a:endParaRPr lang="en-US" sz="1050" dirty="0"/>
          </a:p>
        </p:txBody>
      </p:sp>
      <p:sp>
        <p:nvSpPr>
          <p:cNvPr id="10" name="Shape 8"/>
          <p:cNvSpPr/>
          <p:nvPr/>
        </p:nvSpPr>
        <p:spPr>
          <a:xfrm>
            <a:off x="8412480" y="1554480"/>
            <a:ext cx="3230575" cy="1356360"/>
          </a:xfrm>
          <a:prstGeom prst="roundRect">
            <a:avLst>
              <a:gd name="adj" fmla="val 4045"/>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1" name="Text 9"/>
          <p:cNvSpPr txBox="1"/>
          <p:nvPr/>
        </p:nvSpPr>
        <p:spPr>
          <a:xfrm>
            <a:off x="8613648" y="1755648"/>
            <a:ext cx="2828239"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Stat-panel</a:t>
            </a:r>
            <a:endParaRPr lang="en-US" sz="1400" dirty="0"/>
          </a:p>
        </p:txBody>
      </p:sp>
      <p:sp>
        <p:nvSpPr>
          <p:cNvPr id="12" name="Text 10"/>
          <p:cNvSpPr txBox="1"/>
          <p:nvPr/>
        </p:nvSpPr>
        <p:spPr>
          <a:xfrm>
            <a:off x="8613648" y="213969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Unit: Percent (0.0-1.0) · Thresholds 0.99 / 0.995.</a:t>
            </a:r>
            <a:endParaRPr lang="en-US" sz="1200" dirty="0"/>
          </a:p>
        </p:txBody>
      </p:sp>
      <p:sp>
        <p:nvSpPr>
          <p:cNvPr id="13" name="Shape 11"/>
          <p:cNvSpPr/>
          <p:nvPr/>
        </p:nvSpPr>
        <p:spPr>
          <a:xfrm>
            <a:off x="8412480" y="3048000"/>
            <a:ext cx="3230575" cy="1356360"/>
          </a:xfrm>
          <a:prstGeom prst="roundRect">
            <a:avLst>
              <a:gd name="adj" fmla="val 4045"/>
            </a:avLst>
          </a:prstGeom>
          <a:solidFill>
            <a:srgbClr val="3762FF"/>
          </a:solidFill>
          <a:ln w="12700">
            <a:solidFill>
              <a:srgbClr val="3762FF"/>
            </a:solidFill>
            <a:prstDash val="solid"/>
          </a:ln>
        </p:spPr>
      </p:sp>
      <p:sp>
        <p:nvSpPr>
          <p:cNvPr id="14" name="Text 12"/>
          <p:cNvSpPr txBox="1"/>
          <p:nvPr/>
        </p:nvSpPr>
        <p:spPr>
          <a:xfrm>
            <a:off x="8613648" y="3249168"/>
            <a:ext cx="2828239"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Felbudget</a:t>
            </a:r>
            <a:endParaRPr lang="en-US" sz="1400" dirty="0"/>
          </a:p>
        </p:txBody>
      </p:sp>
      <p:sp>
        <p:nvSpPr>
          <p:cNvPr id="15" name="Text 13"/>
          <p:cNvSpPr txBox="1"/>
          <p:nvPr/>
        </p:nvSpPr>
        <p:spPr>
          <a:xfrm>
            <a:off x="8613648" y="363321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Gauge med min 0 och max 1.</a:t>
            </a:r>
            <a:endParaRPr lang="en-US" sz="1200" dirty="0"/>
          </a:p>
        </p:txBody>
      </p:sp>
      <p:sp>
        <p:nvSpPr>
          <p:cNvPr id="16" name="Shape 14"/>
          <p:cNvSpPr/>
          <p:nvPr/>
        </p:nvSpPr>
        <p:spPr>
          <a:xfrm>
            <a:off x="8412480" y="4541520"/>
            <a:ext cx="3230575" cy="1356360"/>
          </a:xfrm>
          <a:prstGeom prst="roundRect">
            <a:avLst>
              <a:gd name="adj" fmla="val 4045"/>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7" name="Text 15"/>
          <p:cNvSpPr txBox="1"/>
          <p:nvPr/>
        </p:nvSpPr>
        <p:spPr>
          <a:xfrm>
            <a:off x="8613648" y="4742688"/>
            <a:ext cx="2828239"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Uppgift</a:t>
            </a:r>
            <a:endParaRPr lang="en-US" sz="1400" dirty="0"/>
          </a:p>
        </p:txBody>
      </p:sp>
      <p:sp>
        <p:nvSpPr>
          <p:cNvPr id="18" name="Text 16"/>
          <p:cNvSpPr txBox="1"/>
          <p:nvPr/>
        </p:nvSpPr>
        <p:spPr>
          <a:xfrm>
            <a:off x="8613648" y="512673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Tryck Orsaka fel - hur mycket budget gick åt?</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F1F33"/>
        </a:solidFill>
      </p:bgPr>
    </p:bg>
    <p:spTree>
      <p:nvGrpSpPr>
        <p:cNvPr id="1" name=""/>
        <p:cNvGrpSpPr/>
        <p:nvPr/>
      </p:nvGrpSpPr>
      <p:grpSpPr>
        <a:xfrm>
          <a:off x="0" y="0"/>
          <a:ext cx="0" cy="0"/>
          <a:chOff x="0" y="0"/>
          <a:chExt cx="0" cy="0"/>
        </a:xfrm>
      </p:grpSpPr>
      <p:sp>
        <p:nvSpPr>
          <p:cNvPr id="2" name="Text 0"/>
          <p:cNvSpPr txBox="1"/>
          <p:nvPr/>
        </p:nvSpPr>
        <p:spPr>
          <a:xfrm>
            <a:off x="502920" y="1188720"/>
            <a:ext cx="4572000" cy="1920240"/>
          </a:xfrm>
          <a:prstGeom prst="rect">
            <a:avLst/>
          </a:prstGeom>
          <a:noFill/>
          <a:ln/>
        </p:spPr>
        <p:txBody>
          <a:bodyPr wrap="square" lIns="0" tIns="0" rIns="0" bIns="0" rtlCol="0" anchor="ctr"/>
          <a:lstStyle/>
          <a:p>
            <a:pPr indent="0" marL="0">
              <a:buNone/>
            </a:pPr>
            <a:r>
              <a:rPr lang="en-US" sz="15000" b="1" dirty="0">
                <a:solidFill>
                  <a:srgbClr val="16294A"/>
                </a:solidFill>
                <a:latin typeface="Calibri" pitchFamily="34" charset="0"/>
                <a:ea typeface="Calibri" pitchFamily="34" charset="-122"/>
                <a:cs typeface="Calibri" pitchFamily="34" charset="-120"/>
              </a:rPr>
              <a:t>06</a:t>
            </a:r>
            <a:endParaRPr lang="en-US" sz="15000" dirty="0"/>
          </a:p>
        </p:txBody>
      </p:sp>
      <p:sp>
        <p:nvSpPr>
          <p:cNvPr id="3" name="Text 1"/>
          <p:cNvSpPr txBox="1"/>
          <p:nvPr/>
        </p:nvSpPr>
        <p:spPr>
          <a:xfrm>
            <a:off x="548640" y="3063240"/>
            <a:ext cx="11094415" cy="822960"/>
          </a:xfrm>
          <a:prstGeom prst="rect">
            <a:avLst/>
          </a:prstGeom>
          <a:noFill/>
          <a:ln/>
        </p:spPr>
        <p:txBody>
          <a:bodyPr wrap="square" lIns="0" tIns="0" rIns="0" bIns="0" rtlCol="0" anchor="ctr"/>
          <a:lstStyle/>
          <a:p>
            <a:pPr indent="0" marL="0">
              <a:buNone/>
            </a:pPr>
            <a:r>
              <a:rPr lang="en-US" sz="5200" b="1" dirty="0">
                <a:solidFill>
                  <a:srgbClr val="F5F7FA"/>
                </a:solidFill>
                <a:latin typeface="Calibri" pitchFamily="34" charset="0"/>
                <a:ea typeface="Calibri" pitchFamily="34" charset="-122"/>
                <a:cs typeface="Calibri" pitchFamily="34" charset="-120"/>
              </a:rPr>
              <a:t>Sampling, skalning och åtkomst</a:t>
            </a:r>
            <a:endParaRPr lang="en-US" sz="5200" dirty="0"/>
          </a:p>
        </p:txBody>
      </p:sp>
      <p:sp>
        <p:nvSpPr>
          <p:cNvPr id="4" name="Text 2"/>
          <p:cNvSpPr txBox="1"/>
          <p:nvPr/>
        </p:nvSpPr>
        <p:spPr>
          <a:xfrm>
            <a:off x="548640" y="3977640"/>
            <a:ext cx="9144000" cy="457200"/>
          </a:xfrm>
          <a:prstGeom prst="rect">
            <a:avLst/>
          </a:prstGeom>
          <a:noFill/>
          <a:ln/>
        </p:spPr>
        <p:txBody>
          <a:bodyPr wrap="square" lIns="0" tIns="0" rIns="0" bIns="0" rtlCol="0" anchor="t"/>
          <a:lstStyle/>
          <a:p>
            <a:pPr indent="0" marL="0">
              <a:lnSpc>
                <a:spcPct val="120000"/>
              </a:lnSpc>
              <a:buNone/>
            </a:pPr>
            <a:r>
              <a:rPr lang="en-US" sz="1800" dirty="0">
                <a:solidFill>
                  <a:srgbClr val="B9C4D1"/>
                </a:solidFill>
                <a:latin typeface="Arial" pitchFamily="34" charset="0"/>
                <a:ea typeface="Arial" pitchFamily="34" charset="-122"/>
                <a:cs typeface="Arial" pitchFamily="34" charset="-120"/>
              </a:rPr>
              <a:t>Färre traces, fler poddar - och ett låst namespace</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SAMPLING · VARFÖR</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Spara inte varje trace</a:t>
            </a:r>
            <a:endParaRPr lang="en-US" sz="3000" dirty="0"/>
          </a:p>
        </p:txBody>
      </p:sp>
      <p:sp>
        <p:nvSpPr>
          <p:cNvPr id="4" name="Shape 2"/>
          <p:cNvSpPr/>
          <p:nvPr/>
        </p:nvSpPr>
        <p:spPr>
          <a:xfrm>
            <a:off x="548640" y="1645920"/>
            <a:ext cx="3606698" cy="1645920"/>
          </a:xfrm>
          <a:prstGeom prst="roundRect">
            <a:avLst>
              <a:gd name="adj" fmla="val 3333"/>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5" name="Text 3"/>
          <p:cNvSpPr txBox="1"/>
          <p:nvPr/>
        </p:nvSpPr>
        <p:spPr>
          <a:xfrm>
            <a:off x="749808" y="1847088"/>
            <a:ext cx="3204362" cy="320040"/>
          </a:xfrm>
          <a:prstGeom prst="rect">
            <a:avLst/>
          </a:prstGeom>
          <a:noFill/>
          <a:ln/>
        </p:spPr>
        <p:txBody>
          <a:bodyPr wrap="square" lIns="0" tIns="0" rIns="0" bIns="0" rtlCol="0" anchor="t"/>
          <a:lstStyle/>
          <a:p>
            <a:pPr indent="0" marL="0">
              <a:buNone/>
            </a:pPr>
            <a:r>
              <a:rPr lang="en-US" sz="1500" b="1" dirty="0">
                <a:solidFill>
                  <a:srgbClr val="16202B"/>
                </a:solidFill>
                <a:latin typeface="Calibri" pitchFamily="34" charset="0"/>
                <a:ea typeface="Calibri" pitchFamily="34" charset="-122"/>
                <a:cs typeface="Calibri" pitchFamily="34" charset="-120"/>
              </a:rPr>
              <a:t>always_on</a:t>
            </a:r>
            <a:endParaRPr lang="en-US" sz="1500" dirty="0"/>
          </a:p>
        </p:txBody>
      </p:sp>
      <p:sp>
        <p:nvSpPr>
          <p:cNvPr id="6" name="Text 4"/>
          <p:cNvSpPr txBox="1"/>
          <p:nvPr/>
        </p:nvSpPr>
        <p:spPr>
          <a:xfrm>
            <a:off x="749808" y="2231136"/>
            <a:ext cx="3204362" cy="90525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Alla traces (vår standard)</a:t>
            </a:r>
            <a:endParaRPr lang="en-US" sz="1300" dirty="0"/>
          </a:p>
        </p:txBody>
      </p:sp>
      <p:sp>
        <p:nvSpPr>
          <p:cNvPr id="7" name="Shape 5"/>
          <p:cNvSpPr/>
          <p:nvPr/>
        </p:nvSpPr>
        <p:spPr>
          <a:xfrm>
            <a:off x="4292498" y="1645920"/>
            <a:ext cx="3606698" cy="1645920"/>
          </a:xfrm>
          <a:prstGeom prst="roundRect">
            <a:avLst>
              <a:gd name="adj" fmla="val 3333"/>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8" name="Text 6"/>
          <p:cNvSpPr txBox="1"/>
          <p:nvPr/>
        </p:nvSpPr>
        <p:spPr>
          <a:xfrm>
            <a:off x="4493666" y="1847088"/>
            <a:ext cx="3204362" cy="320040"/>
          </a:xfrm>
          <a:prstGeom prst="rect">
            <a:avLst/>
          </a:prstGeom>
          <a:noFill/>
          <a:ln/>
        </p:spPr>
        <p:txBody>
          <a:bodyPr wrap="square" lIns="0" tIns="0" rIns="0" bIns="0" rtlCol="0" anchor="t"/>
          <a:lstStyle/>
          <a:p>
            <a:pPr indent="0" marL="0">
              <a:buNone/>
            </a:pPr>
            <a:r>
              <a:rPr lang="en-US" sz="1500" b="1" dirty="0">
                <a:solidFill>
                  <a:srgbClr val="16202B"/>
                </a:solidFill>
                <a:latin typeface="Calibri" pitchFamily="34" charset="0"/>
                <a:ea typeface="Calibri" pitchFamily="34" charset="-122"/>
                <a:cs typeface="Calibri" pitchFamily="34" charset="-120"/>
              </a:rPr>
              <a:t>traceidratio</a:t>
            </a:r>
            <a:endParaRPr lang="en-US" sz="1500" dirty="0"/>
          </a:p>
        </p:txBody>
      </p:sp>
      <p:sp>
        <p:nvSpPr>
          <p:cNvPr id="9" name="Text 7"/>
          <p:cNvSpPr txBox="1"/>
          <p:nvPr/>
        </p:nvSpPr>
        <p:spPr>
          <a:xfrm>
            <a:off x="4493666" y="2231136"/>
            <a:ext cx="3204362" cy="90525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Andel efter trace_id, t.ex. 0.25</a:t>
            </a:r>
            <a:endParaRPr lang="en-US" sz="1300" dirty="0"/>
          </a:p>
        </p:txBody>
      </p:sp>
      <p:sp>
        <p:nvSpPr>
          <p:cNvPr id="10" name="Shape 8"/>
          <p:cNvSpPr/>
          <p:nvPr/>
        </p:nvSpPr>
        <p:spPr>
          <a:xfrm>
            <a:off x="8036357" y="1645920"/>
            <a:ext cx="3606698" cy="1645920"/>
          </a:xfrm>
          <a:prstGeom prst="roundRect">
            <a:avLst>
              <a:gd name="adj" fmla="val 3333"/>
            </a:avLst>
          </a:prstGeom>
          <a:solidFill>
            <a:srgbClr val="3762FF"/>
          </a:solidFill>
          <a:ln w="12700">
            <a:solidFill>
              <a:srgbClr val="3762FF"/>
            </a:solidFill>
            <a:prstDash val="solid"/>
          </a:ln>
        </p:spPr>
      </p:sp>
      <p:sp>
        <p:nvSpPr>
          <p:cNvPr id="11" name="Text 9"/>
          <p:cNvSpPr txBox="1"/>
          <p:nvPr/>
        </p:nvSpPr>
        <p:spPr>
          <a:xfrm>
            <a:off x="8237525" y="1847088"/>
            <a:ext cx="3204362" cy="3200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parentbased_traceidratio</a:t>
            </a:r>
            <a:endParaRPr lang="en-US" sz="1500" dirty="0"/>
          </a:p>
        </p:txBody>
      </p:sp>
      <p:sp>
        <p:nvSpPr>
          <p:cNvPr id="12" name="Text 10"/>
          <p:cNvSpPr txBox="1"/>
          <p:nvPr/>
        </p:nvSpPr>
        <p:spPr>
          <a:xfrm>
            <a:off x="8237525" y="2231136"/>
            <a:ext cx="3204362" cy="905256"/>
          </a:xfrm>
          <a:prstGeom prst="rect">
            <a:avLst/>
          </a:prstGeom>
          <a:noFill/>
          <a:ln/>
        </p:spPr>
        <p:txBody>
          <a:bodyPr wrap="square" lIns="0" tIns="0" rIns="0" bIns="0" rtlCol="0" anchor="t"/>
          <a:lstStyle/>
          <a:p>
            <a:pPr indent="0" marL="0">
              <a:lnSpc>
                <a:spcPct val="115000"/>
              </a:lnSpc>
              <a:buNone/>
            </a:pPr>
            <a:r>
              <a:rPr lang="en-US" sz="1300" dirty="0">
                <a:solidFill>
                  <a:srgbClr val="FFFFFF"/>
                </a:solidFill>
                <a:latin typeface="Arial" pitchFamily="34" charset="0"/>
                <a:ea typeface="Arial" pitchFamily="34" charset="-122"/>
                <a:cs typeface="Arial" pitchFamily="34" charset="-120"/>
              </a:rPr>
              <a:t>Följ förälderns beslut - annars andel</a:t>
            </a:r>
            <a:endParaRPr lang="en-US" sz="1300" dirty="0"/>
          </a:p>
        </p:txBody>
      </p:sp>
      <p:sp>
        <p:nvSpPr>
          <p:cNvPr id="13" name="Shape 11"/>
          <p:cNvSpPr/>
          <p:nvPr/>
        </p:nvSpPr>
        <p:spPr>
          <a:xfrm>
            <a:off x="548640" y="3520440"/>
            <a:ext cx="3606698" cy="2194560"/>
          </a:xfrm>
          <a:prstGeom prst="roundRect">
            <a:avLst>
              <a:gd name="adj" fmla="val 2500"/>
            </a:avLst>
          </a:prstGeom>
          <a:solidFill>
            <a:srgbClr val="3762FF"/>
          </a:solidFill>
          <a:ln w="12700">
            <a:solidFill>
              <a:srgbClr val="3762FF"/>
            </a:solidFill>
            <a:prstDash val="solid"/>
          </a:ln>
        </p:spPr>
      </p:sp>
      <p:sp>
        <p:nvSpPr>
          <p:cNvPr id="14" name="Text 12"/>
          <p:cNvSpPr txBox="1"/>
          <p:nvPr/>
        </p:nvSpPr>
        <p:spPr>
          <a:xfrm>
            <a:off x="749808" y="3721608"/>
            <a:ext cx="3204362" cy="3200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Metrics påverkas inte</a:t>
            </a:r>
            <a:endParaRPr lang="en-US" sz="1500" dirty="0"/>
          </a:p>
        </p:txBody>
      </p:sp>
      <p:sp>
        <p:nvSpPr>
          <p:cNvPr id="15" name="Text 13"/>
          <p:cNvSpPr txBox="1"/>
          <p:nvPr/>
        </p:nvSpPr>
        <p:spPr>
          <a:xfrm>
            <a:off x="749808" y="4105656"/>
            <a:ext cx="3204362" cy="1453896"/>
          </a:xfrm>
          <a:prstGeom prst="rect">
            <a:avLst/>
          </a:prstGeom>
          <a:noFill/>
          <a:ln/>
        </p:spPr>
        <p:txBody>
          <a:bodyPr wrap="square" lIns="0" tIns="0" rIns="0" bIns="0" rtlCol="0" anchor="t"/>
          <a:lstStyle/>
          <a:p>
            <a:pPr indent="0" marL="0">
              <a:lnSpc>
                <a:spcPct val="115000"/>
              </a:lnSpc>
              <a:buNone/>
            </a:pPr>
            <a:r>
              <a:rPr lang="en-US" sz="1300" dirty="0">
                <a:solidFill>
                  <a:srgbClr val="FFFFFF"/>
                </a:solidFill>
                <a:latin typeface="Arial" pitchFamily="34" charset="0"/>
                <a:ea typeface="Arial" pitchFamily="34" charset="-122"/>
                <a:cs typeface="Arial" pitchFamily="34" charset="-120"/>
              </a:rPr>
              <a:t>Anrop/s och p95 räknas på ALLA anrop - bara traces samplas bort.</a:t>
            </a:r>
            <a:endParaRPr lang="en-US" sz="1300" dirty="0"/>
          </a:p>
        </p:txBody>
      </p:sp>
      <p:sp>
        <p:nvSpPr>
          <p:cNvPr id="16" name="Shape 14"/>
          <p:cNvSpPr/>
          <p:nvPr/>
        </p:nvSpPr>
        <p:spPr>
          <a:xfrm>
            <a:off x="4292498" y="3520440"/>
            <a:ext cx="3606698" cy="2194560"/>
          </a:xfrm>
          <a:prstGeom prst="roundRect">
            <a:avLst>
              <a:gd name="adj" fmla="val 2500"/>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7" name="Text 15"/>
          <p:cNvSpPr txBox="1"/>
          <p:nvPr/>
        </p:nvSpPr>
        <p:spPr>
          <a:xfrm>
            <a:off x="4493666" y="3721608"/>
            <a:ext cx="3204362" cy="320040"/>
          </a:xfrm>
          <a:prstGeom prst="rect">
            <a:avLst/>
          </a:prstGeom>
          <a:noFill/>
          <a:ln/>
        </p:spPr>
        <p:txBody>
          <a:bodyPr wrap="square" lIns="0" tIns="0" rIns="0" bIns="0" rtlCol="0" anchor="t"/>
          <a:lstStyle/>
          <a:p>
            <a:pPr indent="0" marL="0">
              <a:buNone/>
            </a:pPr>
            <a:r>
              <a:rPr lang="en-US" sz="1500" b="1" dirty="0">
                <a:solidFill>
                  <a:srgbClr val="16202B"/>
                </a:solidFill>
                <a:latin typeface="Calibri" pitchFamily="34" charset="0"/>
                <a:ea typeface="Calibri" pitchFamily="34" charset="-122"/>
                <a:cs typeface="Calibri" pitchFamily="34" charset="-120"/>
              </a:rPr>
              <a:t>Head sampling</a:t>
            </a:r>
            <a:endParaRPr lang="en-US" sz="1500" dirty="0"/>
          </a:p>
        </p:txBody>
      </p:sp>
      <p:sp>
        <p:nvSpPr>
          <p:cNvPr id="18" name="Text 16"/>
          <p:cNvSpPr txBox="1"/>
          <p:nvPr/>
        </p:nvSpPr>
        <p:spPr>
          <a:xfrm>
            <a:off x="4493666" y="4105656"/>
            <a:ext cx="3204362" cy="145389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Beslutet tas när tracen börjar och följer med i traceparent (flaggan -01).</a:t>
            </a:r>
            <a:endParaRPr lang="en-US" sz="1300" dirty="0"/>
          </a:p>
        </p:txBody>
      </p:sp>
      <p:sp>
        <p:nvSpPr>
          <p:cNvPr id="19" name="Shape 17"/>
          <p:cNvSpPr/>
          <p:nvPr/>
        </p:nvSpPr>
        <p:spPr>
          <a:xfrm>
            <a:off x="8036357" y="3520440"/>
            <a:ext cx="3606698" cy="2194560"/>
          </a:xfrm>
          <a:prstGeom prst="roundRect">
            <a:avLst>
              <a:gd name="adj" fmla="val 2500"/>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20" name="Text 18"/>
          <p:cNvSpPr txBox="1"/>
          <p:nvPr/>
        </p:nvSpPr>
        <p:spPr>
          <a:xfrm>
            <a:off x="8237525" y="3721608"/>
            <a:ext cx="3204362" cy="320040"/>
          </a:xfrm>
          <a:prstGeom prst="rect">
            <a:avLst/>
          </a:prstGeom>
          <a:noFill/>
          <a:ln/>
        </p:spPr>
        <p:txBody>
          <a:bodyPr wrap="square" lIns="0" tIns="0" rIns="0" bIns="0" rtlCol="0" anchor="t"/>
          <a:lstStyle/>
          <a:p>
            <a:pPr indent="0" marL="0">
              <a:buNone/>
            </a:pPr>
            <a:r>
              <a:rPr lang="en-US" sz="1500" b="1" dirty="0">
                <a:solidFill>
                  <a:srgbClr val="16202B"/>
                </a:solidFill>
                <a:latin typeface="Calibri" pitchFamily="34" charset="0"/>
                <a:ea typeface="Calibri" pitchFamily="34" charset="-122"/>
                <a:cs typeface="Calibri" pitchFamily="34" charset="-120"/>
              </a:rPr>
              <a:t>Parent-based</a:t>
            </a:r>
            <a:endParaRPr lang="en-US" sz="1500" dirty="0"/>
          </a:p>
        </p:txBody>
      </p:sp>
      <p:sp>
        <p:nvSpPr>
          <p:cNvPr id="21" name="Text 19"/>
          <p:cNvSpPr txBox="1"/>
          <p:nvPr/>
        </p:nvSpPr>
        <p:spPr>
          <a:xfrm>
            <a:off x="8237525" y="4105656"/>
            <a:ext cx="3204362" cy="145389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Webbläsaren sa ja → API:t säger ja. Annars blir tracen sönderklippt.</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F1F33"/>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7C9CFF"/>
                </a:solidFill>
                <a:latin typeface="Arial" pitchFamily="34" charset="0"/>
                <a:ea typeface="Arial" pitchFamily="34" charset="-122"/>
                <a:cs typeface="Arial" pitchFamily="34" charset="-120"/>
              </a:rPr>
              <a:t>LABB 6A · SAMPLING MED HELM</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F5F7FA"/>
                </a:solidFill>
                <a:latin typeface="Calibri" pitchFamily="34" charset="0"/>
                <a:ea typeface="Calibri" pitchFamily="34" charset="-122"/>
                <a:cs typeface="Calibri" pitchFamily="34" charset="-120"/>
              </a:rPr>
              <a:t>Ändra samplingen - utan ny kod</a:t>
            </a:r>
            <a:endParaRPr lang="en-US" sz="3000" dirty="0"/>
          </a:p>
        </p:txBody>
      </p:sp>
      <p:sp>
        <p:nvSpPr>
          <p:cNvPr id="4" name="Shape 2"/>
          <p:cNvSpPr/>
          <p:nvPr/>
        </p:nvSpPr>
        <p:spPr>
          <a:xfrm>
            <a:off x="548640" y="1554480"/>
            <a:ext cx="7498080" cy="4343400"/>
          </a:xfrm>
          <a:prstGeom prst="roundRect">
            <a:avLst>
              <a:gd name="adj" fmla="val 1263"/>
            </a:avLst>
          </a:prstGeom>
          <a:solidFill>
            <a:srgbClr val="16294A"/>
          </a:solidFill>
          <a:ln w="12700">
            <a:solidFill>
              <a:srgbClr val="16294A"/>
            </a:solidFill>
            <a:prstDash val="solid"/>
          </a:ln>
        </p:spPr>
      </p:sp>
      <p:sp>
        <p:nvSpPr>
          <p:cNvPr id="5" name="Shape 3"/>
          <p:cNvSpPr/>
          <p:nvPr/>
        </p:nvSpPr>
        <p:spPr>
          <a:xfrm>
            <a:off x="749808" y="171907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1907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1907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45920"/>
            <a:ext cx="6492240" cy="256032"/>
          </a:xfrm>
          <a:prstGeom prst="rect">
            <a:avLst/>
          </a:prstGeom>
          <a:noFill/>
          <a:ln/>
        </p:spPr>
        <p:txBody>
          <a:bodyPr wrap="square" lIns="0" tIns="0" rIns="0" bIns="0" rtlCol="0" anchor="ctr"/>
          <a:lstStyle/>
          <a:p>
            <a:pPr indent="0" marL="0">
              <a:buNone/>
            </a:pPr>
            <a:r>
              <a:rPr lang="en-US" sz="1100" dirty="0">
                <a:solidFill>
                  <a:srgbClr val="B9C4D1"/>
                </a:solidFill>
                <a:latin typeface="Courier New" pitchFamily="34" charset="0"/>
                <a:ea typeface="Courier New" pitchFamily="34" charset="-122"/>
                <a:cs typeface="Courier New" pitchFamily="34" charset="-120"/>
              </a:rPr>
              <a:t>powershell</a:t>
            </a:r>
            <a:endParaRPr lang="en-US" sz="1100" dirty="0"/>
          </a:p>
        </p:txBody>
      </p:sp>
      <p:sp>
        <p:nvSpPr>
          <p:cNvPr id="9" name="Text 7"/>
          <p:cNvSpPr txBox="1"/>
          <p:nvPr/>
        </p:nvSpPr>
        <p:spPr>
          <a:xfrm>
            <a:off x="777240" y="2011680"/>
            <a:ext cx="7040880" cy="3749040"/>
          </a:xfrm>
          <a:prstGeom prst="rect">
            <a:avLst/>
          </a:prstGeom>
          <a:noFill/>
          <a:ln/>
        </p:spPr>
        <p:txBody>
          <a:bodyPr wrap="square" lIns="0" tIns="0" rIns="0" bIns="0" rtlCol="0" anchor="t"/>
          <a:lstStyle/>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cd D:\Kvällskurs\TelemetryApi</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helm upgrade telemetry-api ./charts/telemetry-api -n customers --reuse-values `</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--set extraEnv.OTEL_TRACES_SAMPLER=parentbased_traceidratio `</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--set extraEnv.OTEL_TRACES_SAMPLER_ARG=0.25</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kubectl get deploy telemetry-api -n customers -o yaml | Select-String OTEL_TRACES</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a:t>
            </a:r>
            <a:endParaRPr lang="en-US" sz="1100" dirty="0"/>
          </a:p>
          <a:p>
            <a:pPr indent="0" marL="0">
              <a:lnSpc>
                <a:spcPct val="110000"/>
              </a:lnSpc>
              <a:buNone/>
            </a:pPr>
            <a:r>
              <a:rPr lang="en-US" sz="1100" i="1" dirty="0">
                <a:solidFill>
                  <a:srgbClr val="B9C4D1"/>
                </a:solidFill>
                <a:latin typeface="Courier New" pitchFamily="34" charset="0"/>
                <a:ea typeface="Courier New" pitchFamily="34" charset="-122"/>
                <a:cs typeface="Courier New" pitchFamily="34" charset="-120"/>
              </a:rPr>
              <a:t># 20 anrop direkt mot API:t (ingen förälder) - hur många traces i Tempo?</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1..20 | % { Invoke-RestMethod http://telemetryapi.local/customers | Out-Null }</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a:t>
            </a:r>
            <a:endParaRPr lang="en-US" sz="1100" dirty="0"/>
          </a:p>
          <a:p>
            <a:pPr indent="0" marL="0">
              <a:lnSpc>
                <a:spcPct val="110000"/>
              </a:lnSpc>
              <a:buNone/>
            </a:pPr>
            <a:r>
              <a:rPr lang="en-US" sz="1100" i="1" dirty="0">
                <a:solidFill>
                  <a:srgbClr val="B9C4D1"/>
                </a:solidFill>
                <a:latin typeface="Courier New" pitchFamily="34" charset="0"/>
                <a:ea typeface="Courier New" pitchFamily="34" charset="-122"/>
                <a:cs typeface="Courier New" pitchFamily="34" charset="-120"/>
              </a:rPr>
              <a:t># Klick i CustomerClient - Faro har redan bestämt 'ja' i traceparent</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a:t>
            </a:r>
            <a:endParaRPr lang="en-US" sz="1100" dirty="0"/>
          </a:p>
          <a:p>
            <a:pPr indent="0" marL="0">
              <a:lnSpc>
                <a:spcPct val="110000"/>
              </a:lnSpc>
              <a:buNone/>
            </a:pPr>
            <a:r>
              <a:rPr lang="en-US" sz="1100" i="1" dirty="0">
                <a:solidFill>
                  <a:srgbClr val="B9C4D1"/>
                </a:solidFill>
                <a:latin typeface="Courier New" pitchFamily="34" charset="0"/>
                <a:ea typeface="Courier New" pitchFamily="34" charset="-122"/>
                <a:cs typeface="Courier New" pitchFamily="34" charset="-120"/>
              </a:rPr>
              <a:t># Återställ</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helm upgrade telemetry-api ./charts/telemetry-api -n customers --reuse-values --set extraEnv=null</a:t>
            </a:r>
            <a:endParaRPr lang="en-US" sz="1100" dirty="0"/>
          </a:p>
        </p:txBody>
      </p:sp>
      <p:sp>
        <p:nvSpPr>
          <p:cNvPr id="10" name="Shape 8"/>
          <p:cNvSpPr/>
          <p:nvPr/>
        </p:nvSpPr>
        <p:spPr>
          <a:xfrm>
            <a:off x="8412480" y="1554480"/>
            <a:ext cx="3230575" cy="1356360"/>
          </a:xfrm>
          <a:prstGeom prst="roundRect">
            <a:avLst>
              <a:gd name="adj" fmla="val 4045"/>
            </a:avLst>
          </a:prstGeom>
          <a:solidFill>
            <a:srgbClr val="16294A"/>
          </a:solidFill>
          <a:ln w="12700">
            <a:solidFill>
              <a:srgbClr val="16294A"/>
            </a:solidFill>
            <a:prstDash val="solid"/>
          </a:ln>
        </p:spPr>
      </p:sp>
      <p:sp>
        <p:nvSpPr>
          <p:cNvPr id="11" name="Text 9"/>
          <p:cNvSpPr txBox="1"/>
          <p:nvPr/>
        </p:nvSpPr>
        <p:spPr>
          <a:xfrm>
            <a:off x="8613648" y="1755648"/>
            <a:ext cx="2828239" cy="320040"/>
          </a:xfrm>
          <a:prstGeom prst="rect">
            <a:avLst/>
          </a:prstGeom>
          <a:noFill/>
          <a:ln/>
        </p:spPr>
        <p:txBody>
          <a:bodyPr wrap="square" lIns="0" tIns="0" rIns="0" bIns="0" rtlCol="0" anchor="t"/>
          <a:lstStyle/>
          <a:p>
            <a:pPr indent="0" marL="0">
              <a:buNone/>
            </a:pPr>
            <a:r>
              <a:rPr lang="en-US" sz="1400" b="1" dirty="0">
                <a:solidFill>
                  <a:srgbClr val="F5F7FA"/>
                </a:solidFill>
                <a:latin typeface="Calibri" pitchFamily="34" charset="0"/>
                <a:ea typeface="Calibri" pitchFamily="34" charset="-122"/>
                <a:cs typeface="Calibri" pitchFamily="34" charset="-120"/>
              </a:rPr>
              <a:t>OTEL_TRACES_SAMPLER</a:t>
            </a:r>
            <a:endParaRPr lang="en-US" sz="1400" dirty="0"/>
          </a:p>
        </p:txBody>
      </p:sp>
      <p:sp>
        <p:nvSpPr>
          <p:cNvPr id="12" name="Text 10"/>
          <p:cNvSpPr txBox="1"/>
          <p:nvPr/>
        </p:nvSpPr>
        <p:spPr>
          <a:xfrm>
            <a:off x="8613648" y="213969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B9C4D1"/>
                </a:solidFill>
                <a:latin typeface="Arial" pitchFamily="34" charset="0"/>
                <a:ea typeface="Arial" pitchFamily="34" charset="-122"/>
                <a:cs typeface="Arial" pitchFamily="34" charset="-120"/>
              </a:rPr>
              <a:t>Standardvariabel - SDK:n läser den själv.</a:t>
            </a:r>
            <a:endParaRPr lang="en-US" sz="1200" dirty="0"/>
          </a:p>
        </p:txBody>
      </p:sp>
      <p:sp>
        <p:nvSpPr>
          <p:cNvPr id="13" name="Shape 11"/>
          <p:cNvSpPr/>
          <p:nvPr/>
        </p:nvSpPr>
        <p:spPr>
          <a:xfrm>
            <a:off x="8412480" y="3048000"/>
            <a:ext cx="3230575" cy="1356360"/>
          </a:xfrm>
          <a:prstGeom prst="roundRect">
            <a:avLst>
              <a:gd name="adj" fmla="val 4045"/>
            </a:avLst>
          </a:prstGeom>
          <a:solidFill>
            <a:srgbClr val="3762FF"/>
          </a:solidFill>
          <a:ln w="12700">
            <a:solidFill>
              <a:srgbClr val="3762FF"/>
            </a:solidFill>
            <a:prstDash val="solid"/>
          </a:ln>
        </p:spPr>
      </p:sp>
      <p:sp>
        <p:nvSpPr>
          <p:cNvPr id="14" name="Text 12"/>
          <p:cNvSpPr txBox="1"/>
          <p:nvPr/>
        </p:nvSpPr>
        <p:spPr>
          <a:xfrm>
            <a:off x="8613648" y="3249168"/>
            <a:ext cx="2828239"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Direkta anrop</a:t>
            </a:r>
            <a:endParaRPr lang="en-US" sz="1400" dirty="0"/>
          </a:p>
        </p:txBody>
      </p:sp>
      <p:sp>
        <p:nvSpPr>
          <p:cNvPr id="15" name="Text 13"/>
          <p:cNvSpPr txBox="1"/>
          <p:nvPr/>
        </p:nvSpPr>
        <p:spPr>
          <a:xfrm>
            <a:off x="8613648" y="363321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Cirka 5 av 20 syns i Tempo.</a:t>
            </a:r>
            <a:endParaRPr lang="en-US" sz="1200" dirty="0"/>
          </a:p>
        </p:txBody>
      </p:sp>
      <p:sp>
        <p:nvSpPr>
          <p:cNvPr id="16" name="Shape 14"/>
          <p:cNvSpPr/>
          <p:nvPr/>
        </p:nvSpPr>
        <p:spPr>
          <a:xfrm>
            <a:off x="8412480" y="4541520"/>
            <a:ext cx="3230575" cy="1356360"/>
          </a:xfrm>
          <a:prstGeom prst="roundRect">
            <a:avLst>
              <a:gd name="adj" fmla="val 4045"/>
            </a:avLst>
          </a:prstGeom>
          <a:solidFill>
            <a:srgbClr val="16294A"/>
          </a:solidFill>
          <a:ln w="12700">
            <a:solidFill>
              <a:srgbClr val="16294A"/>
            </a:solidFill>
            <a:prstDash val="solid"/>
          </a:ln>
        </p:spPr>
      </p:sp>
      <p:sp>
        <p:nvSpPr>
          <p:cNvPr id="17" name="Text 15"/>
          <p:cNvSpPr txBox="1"/>
          <p:nvPr/>
        </p:nvSpPr>
        <p:spPr>
          <a:xfrm>
            <a:off x="8613648" y="4742688"/>
            <a:ext cx="2828239" cy="320040"/>
          </a:xfrm>
          <a:prstGeom prst="rect">
            <a:avLst/>
          </a:prstGeom>
          <a:noFill/>
          <a:ln/>
        </p:spPr>
        <p:txBody>
          <a:bodyPr wrap="square" lIns="0" tIns="0" rIns="0" bIns="0" rtlCol="0" anchor="t"/>
          <a:lstStyle/>
          <a:p>
            <a:pPr indent="0" marL="0">
              <a:buNone/>
            </a:pPr>
            <a:r>
              <a:rPr lang="en-US" sz="1400" b="1" dirty="0">
                <a:solidFill>
                  <a:srgbClr val="F5F7FA"/>
                </a:solidFill>
                <a:latin typeface="Calibri" pitchFamily="34" charset="0"/>
                <a:ea typeface="Calibri" pitchFamily="34" charset="-122"/>
                <a:cs typeface="Calibri" pitchFamily="34" charset="-120"/>
              </a:rPr>
              <a:t>Från webbläsaren</a:t>
            </a:r>
            <a:endParaRPr lang="en-US" sz="1400" dirty="0"/>
          </a:p>
        </p:txBody>
      </p:sp>
      <p:sp>
        <p:nvSpPr>
          <p:cNvPr id="18" name="Text 16"/>
          <p:cNvSpPr txBox="1"/>
          <p:nvPr/>
        </p:nvSpPr>
        <p:spPr>
          <a:xfrm>
            <a:off x="8613648" y="512673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B9C4D1"/>
                </a:solidFill>
                <a:latin typeface="Arial" pitchFamily="34" charset="0"/>
                <a:ea typeface="Arial" pitchFamily="34" charset="-122"/>
                <a:cs typeface="Arial" pitchFamily="34" charset="-120"/>
              </a:rPr>
              <a:t>Alla syns - API:t följer Faros beslut.</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SKALNING · HPA</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HorizontalPodAutoscaler - fler poddar vid last</a:t>
            </a:r>
            <a:endParaRPr lang="en-US" sz="3000" dirty="0"/>
          </a:p>
        </p:txBody>
      </p:sp>
      <p:sp>
        <p:nvSpPr>
          <p:cNvPr id="4" name="Shape 2"/>
          <p:cNvSpPr/>
          <p:nvPr/>
        </p:nvSpPr>
        <p:spPr>
          <a:xfrm>
            <a:off x="548640" y="1691640"/>
            <a:ext cx="3332378" cy="1005840"/>
          </a:xfrm>
          <a:prstGeom prst="roundRect">
            <a:avLst>
              <a:gd name="adj" fmla="val 5455"/>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5" name="Text 3"/>
          <p:cNvSpPr txBox="1"/>
          <p:nvPr/>
        </p:nvSpPr>
        <p:spPr>
          <a:xfrm>
            <a:off x="640080" y="1691640"/>
            <a:ext cx="3149498" cy="1005840"/>
          </a:xfrm>
          <a:prstGeom prst="rect">
            <a:avLst/>
          </a:prstGeom>
          <a:noFill/>
          <a:ln/>
        </p:spPr>
        <p:txBody>
          <a:bodyPr wrap="square" lIns="0" tIns="0" rIns="0" bIns="0" rtlCol="0" anchor="ctr"/>
          <a:lstStyle/>
          <a:p>
            <a:pPr algn="ctr" indent="0" marL="0">
              <a:buNone/>
            </a:pPr>
            <a:r>
              <a:rPr lang="en-US" sz="1400" b="1" dirty="0">
                <a:solidFill>
                  <a:srgbClr val="16202B"/>
                </a:solidFill>
                <a:latin typeface="Calibri" pitchFamily="34" charset="0"/>
                <a:ea typeface="Calibri" pitchFamily="34" charset="-122"/>
                <a:cs typeface="Calibri" pitchFamily="34" charset="-120"/>
              </a:rPr>
              <a:t>metrics-server</a:t>
            </a:r>
            <a:endParaRPr lang="en-US" sz="1400" dirty="0"/>
          </a:p>
          <a:p>
            <a:pPr algn="ctr" indent="0" marL="0">
              <a:buNone/>
            </a:pPr>
            <a:r>
              <a:rPr lang="en-US" sz="1400" b="1" dirty="0">
                <a:solidFill>
                  <a:srgbClr val="16202B"/>
                </a:solidFill>
                <a:latin typeface="Calibri" pitchFamily="34" charset="0"/>
                <a:ea typeface="Calibri" pitchFamily="34" charset="-122"/>
                <a:cs typeface="Calibri" pitchFamily="34" charset="-120"/>
              </a:rPr>
              <a:t>CPU och minne per podd (kubectl top)</a:t>
            </a:r>
            <a:endParaRPr lang="en-US" sz="1400" dirty="0"/>
          </a:p>
        </p:txBody>
      </p:sp>
      <p:sp>
        <p:nvSpPr>
          <p:cNvPr id="6" name="Shape 4"/>
          <p:cNvSpPr/>
          <p:nvPr/>
        </p:nvSpPr>
        <p:spPr>
          <a:xfrm>
            <a:off x="3926738" y="2194560"/>
            <a:ext cx="457200" cy="0"/>
          </a:xfrm>
          <a:prstGeom prst="line">
            <a:avLst/>
          </a:prstGeom>
          <a:noFill/>
          <a:ln w="19050">
            <a:solidFill>
              <a:srgbClr val="3762FF"/>
            </a:solidFill>
            <a:prstDash val="solid"/>
            <a:tailEnd type="triangle"/>
          </a:ln>
        </p:spPr>
      </p:sp>
      <p:sp>
        <p:nvSpPr>
          <p:cNvPr id="7" name="Shape 5"/>
          <p:cNvSpPr/>
          <p:nvPr/>
        </p:nvSpPr>
        <p:spPr>
          <a:xfrm>
            <a:off x="4429658" y="1691640"/>
            <a:ext cx="3332378" cy="1005840"/>
          </a:xfrm>
          <a:prstGeom prst="roundRect">
            <a:avLst>
              <a:gd name="adj" fmla="val 5455"/>
            </a:avLst>
          </a:prstGeom>
          <a:solidFill>
            <a:srgbClr val="3762FF"/>
          </a:solidFill>
          <a:ln w="12700">
            <a:solidFill>
              <a:srgbClr val="3762FF"/>
            </a:solidFill>
            <a:prstDash val="solid"/>
          </a:ln>
          <a:effectLst>
            <a:outerShdw sx="100000" sy="100000" kx="0" ky="0" algn="bl" rotWithShape="0" blurRad="101600" dist="25400" dir="5400000">
              <a:srgbClr val="000000">
                <a:alpha val="10000"/>
              </a:srgbClr>
            </a:outerShdw>
          </a:effectLst>
        </p:spPr>
      </p:sp>
      <p:sp>
        <p:nvSpPr>
          <p:cNvPr id="8" name="Text 6"/>
          <p:cNvSpPr txBox="1"/>
          <p:nvPr/>
        </p:nvSpPr>
        <p:spPr>
          <a:xfrm>
            <a:off x="4521098" y="1691640"/>
            <a:ext cx="3149498" cy="100584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HPA</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jämför med målet: 50 % av request</a:t>
            </a:r>
            <a:endParaRPr lang="en-US" sz="1400" dirty="0"/>
          </a:p>
        </p:txBody>
      </p:sp>
      <p:sp>
        <p:nvSpPr>
          <p:cNvPr id="9" name="Shape 7"/>
          <p:cNvSpPr/>
          <p:nvPr/>
        </p:nvSpPr>
        <p:spPr>
          <a:xfrm>
            <a:off x="7807757" y="2194560"/>
            <a:ext cx="457200" cy="0"/>
          </a:xfrm>
          <a:prstGeom prst="line">
            <a:avLst/>
          </a:prstGeom>
          <a:noFill/>
          <a:ln w="19050">
            <a:solidFill>
              <a:srgbClr val="3762FF"/>
            </a:solidFill>
            <a:prstDash val="solid"/>
            <a:tailEnd type="triangle"/>
          </a:ln>
        </p:spPr>
      </p:sp>
      <p:sp>
        <p:nvSpPr>
          <p:cNvPr id="10" name="Shape 8"/>
          <p:cNvSpPr/>
          <p:nvPr/>
        </p:nvSpPr>
        <p:spPr>
          <a:xfrm>
            <a:off x="8310677" y="1691640"/>
            <a:ext cx="3332378" cy="1005840"/>
          </a:xfrm>
          <a:prstGeom prst="roundRect">
            <a:avLst>
              <a:gd name="adj" fmla="val 5455"/>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1" name="Text 9"/>
          <p:cNvSpPr txBox="1"/>
          <p:nvPr/>
        </p:nvSpPr>
        <p:spPr>
          <a:xfrm>
            <a:off x="8402117" y="1691640"/>
            <a:ext cx="3149498" cy="1005840"/>
          </a:xfrm>
          <a:prstGeom prst="rect">
            <a:avLst/>
          </a:prstGeom>
          <a:noFill/>
          <a:ln/>
        </p:spPr>
        <p:txBody>
          <a:bodyPr wrap="square" lIns="0" tIns="0" rIns="0" bIns="0" rtlCol="0" anchor="ctr"/>
          <a:lstStyle/>
          <a:p>
            <a:pPr algn="ctr" indent="0" marL="0">
              <a:buNone/>
            </a:pPr>
            <a:r>
              <a:rPr lang="en-US" sz="1400" b="1" dirty="0">
                <a:solidFill>
                  <a:srgbClr val="16202B"/>
                </a:solidFill>
                <a:latin typeface="Calibri" pitchFamily="34" charset="0"/>
                <a:ea typeface="Calibri" pitchFamily="34" charset="-122"/>
                <a:cs typeface="Calibri" pitchFamily="34" charset="-120"/>
              </a:rPr>
              <a:t>Deployment</a:t>
            </a:r>
            <a:endParaRPr lang="en-US" sz="1400" dirty="0"/>
          </a:p>
          <a:p>
            <a:pPr algn="ctr" indent="0" marL="0">
              <a:buNone/>
            </a:pPr>
            <a:r>
              <a:rPr lang="en-US" sz="1400" b="1" dirty="0">
                <a:solidFill>
                  <a:srgbClr val="16202B"/>
                </a:solidFill>
                <a:latin typeface="Calibri" pitchFamily="34" charset="0"/>
                <a:ea typeface="Calibri" pitchFamily="34" charset="-122"/>
                <a:cs typeface="Calibri" pitchFamily="34" charset="-120"/>
              </a:rPr>
              <a:t>replicas: 1 → 5</a:t>
            </a:r>
            <a:endParaRPr lang="en-US" sz="1400" dirty="0"/>
          </a:p>
        </p:txBody>
      </p:sp>
      <p:sp>
        <p:nvSpPr>
          <p:cNvPr id="12" name="Shape 10"/>
          <p:cNvSpPr/>
          <p:nvPr/>
        </p:nvSpPr>
        <p:spPr>
          <a:xfrm>
            <a:off x="548640" y="3063240"/>
            <a:ext cx="3606698" cy="2103120"/>
          </a:xfrm>
          <a:prstGeom prst="roundRect">
            <a:avLst>
              <a:gd name="adj" fmla="val 2609"/>
            </a:avLst>
          </a:prstGeom>
          <a:solidFill>
            <a:srgbClr val="3762FF"/>
          </a:solidFill>
          <a:ln w="12700">
            <a:solidFill>
              <a:srgbClr val="3762FF"/>
            </a:solidFill>
            <a:prstDash val="solid"/>
          </a:ln>
        </p:spPr>
      </p:sp>
      <p:sp>
        <p:nvSpPr>
          <p:cNvPr id="13" name="Text 11"/>
          <p:cNvSpPr txBox="1"/>
          <p:nvPr/>
        </p:nvSpPr>
        <p:spPr>
          <a:xfrm>
            <a:off x="749808" y="3264408"/>
            <a:ext cx="3204362" cy="3200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requests krävs</a:t>
            </a:r>
            <a:endParaRPr lang="en-US" sz="1500" dirty="0"/>
          </a:p>
        </p:txBody>
      </p:sp>
      <p:sp>
        <p:nvSpPr>
          <p:cNvPr id="14" name="Text 12"/>
          <p:cNvSpPr txBox="1"/>
          <p:nvPr/>
        </p:nvSpPr>
        <p:spPr>
          <a:xfrm>
            <a:off x="749808" y="3648456"/>
            <a:ext cx="3204362" cy="1362456"/>
          </a:xfrm>
          <a:prstGeom prst="rect">
            <a:avLst/>
          </a:prstGeom>
          <a:noFill/>
          <a:ln/>
        </p:spPr>
        <p:txBody>
          <a:bodyPr wrap="square" lIns="0" tIns="0" rIns="0" bIns="0" rtlCol="0" anchor="t"/>
          <a:lstStyle/>
          <a:p>
            <a:pPr indent="0" marL="0">
              <a:lnSpc>
                <a:spcPct val="115000"/>
              </a:lnSpc>
              <a:buNone/>
            </a:pPr>
            <a:r>
              <a:rPr lang="en-US" sz="1300" dirty="0">
                <a:solidFill>
                  <a:srgbClr val="FFFFFF"/>
                </a:solidFill>
                <a:latin typeface="Arial" pitchFamily="34" charset="0"/>
                <a:ea typeface="Arial" pitchFamily="34" charset="-122"/>
                <a:cs typeface="Arial" pitchFamily="34" charset="-120"/>
              </a:rPr>
              <a:t>HPA räknar procent av resources.requests.cpu - saknas den händer ingenting.</a:t>
            </a:r>
            <a:endParaRPr lang="en-US" sz="1300" dirty="0"/>
          </a:p>
        </p:txBody>
      </p:sp>
      <p:sp>
        <p:nvSpPr>
          <p:cNvPr id="15" name="Shape 13"/>
          <p:cNvSpPr/>
          <p:nvPr/>
        </p:nvSpPr>
        <p:spPr>
          <a:xfrm>
            <a:off x="4292498" y="3063240"/>
            <a:ext cx="3606698" cy="2103120"/>
          </a:xfrm>
          <a:prstGeom prst="roundRect">
            <a:avLst>
              <a:gd name="adj" fmla="val 2609"/>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6" name="Text 14"/>
          <p:cNvSpPr txBox="1"/>
          <p:nvPr/>
        </p:nvSpPr>
        <p:spPr>
          <a:xfrm>
            <a:off x="4493666" y="3264408"/>
            <a:ext cx="3204362" cy="320040"/>
          </a:xfrm>
          <a:prstGeom prst="rect">
            <a:avLst/>
          </a:prstGeom>
          <a:noFill/>
          <a:ln/>
        </p:spPr>
        <p:txBody>
          <a:bodyPr wrap="square" lIns="0" tIns="0" rIns="0" bIns="0" rtlCol="0" anchor="t"/>
          <a:lstStyle/>
          <a:p>
            <a:pPr indent="0" marL="0">
              <a:buNone/>
            </a:pPr>
            <a:r>
              <a:rPr lang="en-US" sz="1500" b="1" dirty="0">
                <a:solidFill>
                  <a:srgbClr val="16202B"/>
                </a:solidFill>
                <a:latin typeface="Calibri" pitchFamily="34" charset="0"/>
                <a:ea typeface="Calibri" pitchFamily="34" charset="-122"/>
                <a:cs typeface="Calibri" pitchFamily="34" charset="-120"/>
              </a:rPr>
              <a:t>Stateless skalar</a:t>
            </a:r>
            <a:endParaRPr lang="en-US" sz="1500" dirty="0"/>
          </a:p>
        </p:txBody>
      </p:sp>
      <p:sp>
        <p:nvSpPr>
          <p:cNvPr id="17" name="Text 15"/>
          <p:cNvSpPr txBox="1"/>
          <p:nvPr/>
        </p:nvSpPr>
        <p:spPr>
          <a:xfrm>
            <a:off x="4493666" y="3648456"/>
            <a:ext cx="3204362" cy="136245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web, cqrs-api och telemetry-api kan skalas fritt.</a:t>
            </a:r>
            <a:endParaRPr lang="en-US" sz="1300" dirty="0"/>
          </a:p>
        </p:txBody>
      </p:sp>
      <p:sp>
        <p:nvSpPr>
          <p:cNvPr id="18" name="Shape 16"/>
          <p:cNvSpPr/>
          <p:nvPr/>
        </p:nvSpPr>
        <p:spPr>
          <a:xfrm>
            <a:off x="8036357" y="3063240"/>
            <a:ext cx="3606698" cy="2103120"/>
          </a:xfrm>
          <a:prstGeom prst="roundRect">
            <a:avLst>
              <a:gd name="adj" fmla="val 2609"/>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9" name="Text 17"/>
          <p:cNvSpPr txBox="1"/>
          <p:nvPr/>
        </p:nvSpPr>
        <p:spPr>
          <a:xfrm>
            <a:off x="8237525" y="3264408"/>
            <a:ext cx="3204362" cy="320040"/>
          </a:xfrm>
          <a:prstGeom prst="rect">
            <a:avLst/>
          </a:prstGeom>
          <a:noFill/>
          <a:ln/>
        </p:spPr>
        <p:txBody>
          <a:bodyPr wrap="square" lIns="0" tIns="0" rIns="0" bIns="0" rtlCol="0" anchor="t"/>
          <a:lstStyle/>
          <a:p>
            <a:pPr indent="0" marL="0">
              <a:buNone/>
            </a:pPr>
            <a:r>
              <a:rPr lang="en-US" sz="1500" b="1" dirty="0">
                <a:solidFill>
                  <a:srgbClr val="16202B"/>
                </a:solidFill>
                <a:latin typeface="Calibri" pitchFamily="34" charset="0"/>
                <a:ea typeface="Calibri" pitchFamily="34" charset="-122"/>
                <a:cs typeface="Calibri" pitchFamily="34" charset="-120"/>
              </a:rPr>
              <a:t>Stateful skalar inte så</a:t>
            </a:r>
            <a:endParaRPr lang="en-US" sz="1500" dirty="0"/>
          </a:p>
        </p:txBody>
      </p:sp>
      <p:sp>
        <p:nvSpPr>
          <p:cNvPr id="20" name="Text 18"/>
          <p:cNvSpPr txBox="1"/>
          <p:nvPr/>
        </p:nvSpPr>
        <p:spPr>
          <a:xfrm>
            <a:off x="8237525" y="3648456"/>
            <a:ext cx="3204362" cy="136245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cqrs-worker: fler repliker = kommandon i fel ordning. MySQL: StatefulSet.</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LABB 6B · SKALA UNDER LAST</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Se HPA:n lägga till poddar</a:t>
            </a:r>
            <a:endParaRPr lang="en-US" sz="3000" dirty="0"/>
          </a:p>
        </p:txBody>
      </p:sp>
      <p:sp>
        <p:nvSpPr>
          <p:cNvPr id="4" name="Shape 2"/>
          <p:cNvSpPr/>
          <p:nvPr/>
        </p:nvSpPr>
        <p:spPr>
          <a:xfrm>
            <a:off x="548640" y="1554480"/>
            <a:ext cx="7498080" cy="4343400"/>
          </a:xfrm>
          <a:prstGeom prst="roundRect">
            <a:avLst>
              <a:gd name="adj" fmla="val 1263"/>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5" name="Shape 3"/>
          <p:cNvSpPr/>
          <p:nvPr/>
        </p:nvSpPr>
        <p:spPr>
          <a:xfrm>
            <a:off x="749808" y="171907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1907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1907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45920"/>
            <a:ext cx="6492240" cy="256032"/>
          </a:xfrm>
          <a:prstGeom prst="rect">
            <a:avLst/>
          </a:prstGeom>
          <a:noFill/>
          <a:ln/>
        </p:spPr>
        <p:txBody>
          <a:bodyPr wrap="square" lIns="0" tIns="0" rIns="0" bIns="0" rtlCol="0" anchor="ctr"/>
          <a:lstStyle/>
          <a:p>
            <a:pPr indent="0" marL="0">
              <a:buNone/>
            </a:pPr>
            <a:r>
              <a:rPr lang="en-US" sz="1100" dirty="0">
                <a:solidFill>
                  <a:srgbClr val="B9C4D1"/>
                </a:solidFill>
                <a:latin typeface="Courier New" pitchFamily="34" charset="0"/>
                <a:ea typeface="Courier New" pitchFamily="34" charset="-122"/>
                <a:cs typeface="Courier New" pitchFamily="34" charset="-120"/>
              </a:rPr>
              <a:t>powershell</a:t>
            </a:r>
            <a:endParaRPr lang="en-US" sz="1100" dirty="0"/>
          </a:p>
        </p:txBody>
      </p:sp>
      <p:sp>
        <p:nvSpPr>
          <p:cNvPr id="9" name="Text 7"/>
          <p:cNvSpPr txBox="1"/>
          <p:nvPr/>
        </p:nvSpPr>
        <p:spPr>
          <a:xfrm>
            <a:off x="777240" y="2011680"/>
            <a:ext cx="7040880" cy="3749040"/>
          </a:xfrm>
          <a:prstGeom prst="rect">
            <a:avLst/>
          </a:prstGeom>
          <a:noFill/>
          <a:ln/>
        </p:spPr>
        <p:txBody>
          <a:bodyPr wrap="square" lIns="0" tIns="0" rIns="0" bIns="0" rtlCol="0" anchor="t"/>
          <a:lstStyle/>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top nodes ; kubectl top pods -A | Select-Object -First 10</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apply -f 06-hpa-demo.yaml</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get hpa -n lab -w                       # eget fönster</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a:t>
            </a:r>
            <a:endParaRPr lang="en-US" sz="1150" dirty="0"/>
          </a:p>
          <a:p>
            <a:pPr indent="0" marL="0">
              <a:lnSpc>
                <a:spcPct val="110000"/>
              </a:lnSpc>
              <a:buNone/>
            </a:pPr>
            <a:r>
              <a:rPr lang="en-US" sz="1150" i="1" dirty="0">
                <a:solidFill>
                  <a:srgbClr val="B9C4D1"/>
                </a:solidFill>
                <a:latin typeface="Courier New" pitchFamily="34" charset="0"/>
                <a:ea typeface="Courier New" pitchFamily="34" charset="-122"/>
                <a:cs typeface="Courier New" pitchFamily="34" charset="-120"/>
              </a:rPr>
              <a:t># Generera last (eget fönster, Ctrl+C för att sluta)</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run load -n lab --rm -it --image=busybox:1.36 --restart=Never -- `</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/bin/sh -c "while true; do wget -q -O- http://web &gt;/dev/null; done"</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a:t>
            </a:r>
            <a:endParaRPr lang="en-US" sz="1150" dirty="0"/>
          </a:p>
          <a:p>
            <a:pPr indent="0" marL="0">
              <a:lnSpc>
                <a:spcPct val="110000"/>
              </a:lnSpc>
              <a:buNone/>
            </a:pPr>
            <a:r>
              <a:rPr lang="en-US" sz="1150" dirty="0">
                <a:solidFill>
                  <a:srgbClr val="B9C4D1"/>
                </a:solidFill>
                <a:latin typeface="Courier New" pitchFamily="34" charset="0"/>
                <a:ea typeface="Courier New" pitchFamily="34" charset="-122"/>
                <a:cs typeface="Courier New" pitchFamily="34" charset="-120"/>
              </a:rPr>
              <a:t>→ web   Deployment/web   cpu: 180%/50%   1   5   1</a:t>
            </a:r>
            <a:endParaRPr lang="en-US" sz="1150" dirty="0"/>
          </a:p>
          <a:p>
            <a:pPr indent="0" marL="0">
              <a:lnSpc>
                <a:spcPct val="110000"/>
              </a:lnSpc>
              <a:buNone/>
            </a:pPr>
            <a:r>
              <a:rPr lang="en-US" sz="1150" dirty="0">
                <a:solidFill>
                  <a:srgbClr val="B9C4D1"/>
                </a:solidFill>
                <a:latin typeface="Courier New" pitchFamily="34" charset="0"/>
                <a:ea typeface="Courier New" pitchFamily="34" charset="-122"/>
                <a:cs typeface="Courier New" pitchFamily="34" charset="-120"/>
              </a:rPr>
              <a:t>→ web   Deployment/web   cpu: 92%/50%    1   5   4</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describe hpa web -n lab                 # Events: New size: 4</a:t>
            </a:r>
            <a:endParaRPr lang="en-US" sz="1150" dirty="0"/>
          </a:p>
        </p:txBody>
      </p:sp>
      <p:sp>
        <p:nvSpPr>
          <p:cNvPr id="10" name="Shape 8"/>
          <p:cNvSpPr/>
          <p:nvPr/>
        </p:nvSpPr>
        <p:spPr>
          <a:xfrm>
            <a:off x="8412480" y="1554480"/>
            <a:ext cx="3230575" cy="1356360"/>
          </a:xfrm>
          <a:prstGeom prst="roundRect">
            <a:avLst>
              <a:gd name="adj" fmla="val 4045"/>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1" name="Text 9"/>
          <p:cNvSpPr txBox="1"/>
          <p:nvPr/>
        </p:nvSpPr>
        <p:spPr>
          <a:xfrm>
            <a:off x="8613648" y="1755648"/>
            <a:ext cx="2828239"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kubectl top</a:t>
            </a:r>
            <a:endParaRPr lang="en-US" sz="1400" dirty="0"/>
          </a:p>
        </p:txBody>
      </p:sp>
      <p:sp>
        <p:nvSpPr>
          <p:cNvPr id="12" name="Text 10"/>
          <p:cNvSpPr txBox="1"/>
          <p:nvPr/>
        </p:nvSpPr>
        <p:spPr>
          <a:xfrm>
            <a:off x="8613648" y="213969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Data från metrics-server.</a:t>
            </a:r>
            <a:endParaRPr lang="en-US" sz="1200" dirty="0"/>
          </a:p>
        </p:txBody>
      </p:sp>
      <p:sp>
        <p:nvSpPr>
          <p:cNvPr id="13" name="Shape 11"/>
          <p:cNvSpPr/>
          <p:nvPr/>
        </p:nvSpPr>
        <p:spPr>
          <a:xfrm>
            <a:off x="8412480" y="3048000"/>
            <a:ext cx="3230575" cy="1356360"/>
          </a:xfrm>
          <a:prstGeom prst="roundRect">
            <a:avLst>
              <a:gd name="adj" fmla="val 4045"/>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4" name="Text 12"/>
          <p:cNvSpPr txBox="1"/>
          <p:nvPr/>
        </p:nvSpPr>
        <p:spPr>
          <a:xfrm>
            <a:off x="8613648" y="3249168"/>
            <a:ext cx="2828239"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-w</a:t>
            </a:r>
            <a:endParaRPr lang="en-US" sz="1400" dirty="0"/>
          </a:p>
        </p:txBody>
      </p:sp>
      <p:sp>
        <p:nvSpPr>
          <p:cNvPr id="15" name="Text 13"/>
          <p:cNvSpPr txBox="1"/>
          <p:nvPr/>
        </p:nvSpPr>
        <p:spPr>
          <a:xfrm>
            <a:off x="8613648" y="363321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Följer ändringar live.</a:t>
            </a:r>
            <a:endParaRPr lang="en-US" sz="1200" dirty="0"/>
          </a:p>
        </p:txBody>
      </p:sp>
      <p:sp>
        <p:nvSpPr>
          <p:cNvPr id="16" name="Shape 14"/>
          <p:cNvSpPr/>
          <p:nvPr/>
        </p:nvSpPr>
        <p:spPr>
          <a:xfrm>
            <a:off x="8412480" y="4541520"/>
            <a:ext cx="3230575" cy="1356360"/>
          </a:xfrm>
          <a:prstGeom prst="roundRect">
            <a:avLst>
              <a:gd name="adj" fmla="val 4045"/>
            </a:avLst>
          </a:prstGeom>
          <a:solidFill>
            <a:srgbClr val="3762FF"/>
          </a:solidFill>
          <a:ln w="12700">
            <a:solidFill>
              <a:srgbClr val="3762FF"/>
            </a:solidFill>
            <a:prstDash val="solid"/>
          </a:ln>
        </p:spPr>
      </p:sp>
      <p:sp>
        <p:nvSpPr>
          <p:cNvPr id="17" name="Text 15"/>
          <p:cNvSpPr txBox="1"/>
          <p:nvPr/>
        </p:nvSpPr>
        <p:spPr>
          <a:xfrm>
            <a:off x="8613648" y="4742688"/>
            <a:ext cx="2828239"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Efter lasten</a:t>
            </a:r>
            <a:endParaRPr lang="en-US" sz="1400" dirty="0"/>
          </a:p>
        </p:txBody>
      </p:sp>
      <p:sp>
        <p:nvSpPr>
          <p:cNvPr id="18" name="Text 16"/>
          <p:cNvSpPr txBox="1"/>
          <p:nvPr/>
        </p:nvSpPr>
        <p:spPr>
          <a:xfrm>
            <a:off x="8613648" y="512673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Skalar ner efter ca 5 min - med flit.</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F1F33"/>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7C9CFF"/>
                </a:solidFill>
                <a:latin typeface="Arial" pitchFamily="34" charset="0"/>
                <a:ea typeface="Arial" pitchFamily="34" charset="-122"/>
                <a:cs typeface="Arial" pitchFamily="34" charset="-120"/>
              </a:rPr>
              <a:t>ÅTKOMST · KUBECONFIG</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F5F7FA"/>
                </a:solidFill>
                <a:latin typeface="Calibri" pitchFamily="34" charset="0"/>
                <a:ea typeface="Calibri" pitchFamily="34" charset="-122"/>
                <a:cs typeface="Calibri" pitchFamily="34" charset="-120"/>
              </a:rPr>
              <a:t>Ett context väljer namespace - RBAC låser det</a:t>
            </a:r>
            <a:endParaRPr lang="en-US" sz="3000" dirty="0"/>
          </a:p>
        </p:txBody>
      </p:sp>
      <p:sp>
        <p:nvSpPr>
          <p:cNvPr id="4" name="Shape 2"/>
          <p:cNvSpPr/>
          <p:nvPr/>
        </p:nvSpPr>
        <p:spPr>
          <a:xfrm>
            <a:off x="548640" y="1645920"/>
            <a:ext cx="3515258" cy="1463040"/>
          </a:xfrm>
          <a:prstGeom prst="roundRect">
            <a:avLst>
              <a:gd name="adj" fmla="val 3750"/>
            </a:avLst>
          </a:prstGeom>
          <a:solidFill>
            <a:srgbClr val="16294A"/>
          </a:solidFill>
          <a:ln w="12700">
            <a:solidFill>
              <a:srgbClr val="16294A"/>
            </a:solidFill>
            <a:prstDash val="solid"/>
          </a:ln>
        </p:spPr>
      </p:sp>
      <p:sp>
        <p:nvSpPr>
          <p:cNvPr id="5" name="Text 3"/>
          <p:cNvSpPr txBox="1"/>
          <p:nvPr/>
        </p:nvSpPr>
        <p:spPr>
          <a:xfrm>
            <a:off x="749808" y="1847088"/>
            <a:ext cx="3112922" cy="320040"/>
          </a:xfrm>
          <a:prstGeom prst="rect">
            <a:avLst/>
          </a:prstGeom>
          <a:noFill/>
          <a:ln/>
        </p:spPr>
        <p:txBody>
          <a:bodyPr wrap="square" lIns="0" tIns="0" rIns="0" bIns="0" rtlCol="0" anchor="t"/>
          <a:lstStyle/>
          <a:p>
            <a:pPr indent="0" marL="0">
              <a:buNone/>
            </a:pPr>
            <a:r>
              <a:rPr lang="en-US" sz="1800" b="1" dirty="0">
                <a:solidFill>
                  <a:srgbClr val="F5F7FA"/>
                </a:solidFill>
                <a:latin typeface="Calibri" pitchFamily="34" charset="0"/>
                <a:ea typeface="Calibri" pitchFamily="34" charset="-122"/>
                <a:cs typeface="Calibri" pitchFamily="34" charset="-120"/>
              </a:rPr>
              <a:t>cluster</a:t>
            </a:r>
            <a:endParaRPr lang="en-US" sz="1800" dirty="0"/>
          </a:p>
        </p:txBody>
      </p:sp>
      <p:sp>
        <p:nvSpPr>
          <p:cNvPr id="6" name="Text 4"/>
          <p:cNvSpPr txBox="1"/>
          <p:nvPr/>
        </p:nvSpPr>
        <p:spPr>
          <a:xfrm>
            <a:off x="749808" y="2231136"/>
            <a:ext cx="3112922" cy="722376"/>
          </a:xfrm>
          <a:prstGeom prst="rect">
            <a:avLst/>
          </a:prstGeom>
          <a:noFill/>
          <a:ln/>
        </p:spPr>
        <p:txBody>
          <a:bodyPr wrap="square" lIns="0" tIns="0" rIns="0" bIns="0" rtlCol="0" anchor="t"/>
          <a:lstStyle/>
          <a:p>
            <a:pPr indent="0" marL="0">
              <a:lnSpc>
                <a:spcPct val="115000"/>
              </a:lnSpc>
              <a:buNone/>
            </a:pPr>
            <a:r>
              <a:rPr lang="en-US" sz="1300" dirty="0">
                <a:solidFill>
                  <a:srgbClr val="B9C4D1"/>
                </a:solidFill>
                <a:latin typeface="Arial" pitchFamily="34" charset="0"/>
                <a:ea typeface="Arial" pitchFamily="34" charset="-122"/>
                <a:cs typeface="Arial" pitchFamily="34" charset="-120"/>
              </a:rPr>
              <a:t>VAR: API-serverns adress och CA</a:t>
            </a:r>
            <a:endParaRPr lang="en-US" sz="1300" dirty="0"/>
          </a:p>
        </p:txBody>
      </p:sp>
      <p:sp>
        <p:nvSpPr>
          <p:cNvPr id="7" name="Shape 5"/>
          <p:cNvSpPr/>
          <p:nvPr/>
        </p:nvSpPr>
        <p:spPr>
          <a:xfrm>
            <a:off x="548640" y="3246120"/>
            <a:ext cx="3515258" cy="731520"/>
          </a:xfrm>
          <a:prstGeom prst="roundRect">
            <a:avLst>
              <a:gd name="adj" fmla="val 7500"/>
            </a:avLst>
          </a:prstGeom>
          <a:solidFill>
            <a:srgbClr val="16294A"/>
          </a:solidFill>
          <a:ln w="12700">
            <a:solidFill>
              <a:srgbClr val="16294A"/>
            </a:solidFill>
            <a:prstDash val="solid"/>
          </a:ln>
        </p:spPr>
      </p:sp>
      <p:sp>
        <p:nvSpPr>
          <p:cNvPr id="8" name="Shape 6"/>
          <p:cNvSpPr/>
          <p:nvPr/>
        </p:nvSpPr>
        <p:spPr>
          <a:xfrm>
            <a:off x="749808" y="3410712"/>
            <a:ext cx="109728" cy="109728"/>
          </a:xfrm>
          <a:prstGeom prst="ellipse">
            <a:avLst/>
          </a:prstGeom>
          <a:solidFill>
            <a:srgbClr val="D64545"/>
          </a:solidFill>
          <a:ln w="12700">
            <a:solidFill>
              <a:srgbClr val="D64545"/>
            </a:solidFill>
            <a:prstDash val="solid"/>
          </a:ln>
        </p:spPr>
      </p:sp>
      <p:sp>
        <p:nvSpPr>
          <p:cNvPr id="9" name="Shape 7"/>
          <p:cNvSpPr/>
          <p:nvPr/>
        </p:nvSpPr>
        <p:spPr>
          <a:xfrm>
            <a:off x="932688" y="3410712"/>
            <a:ext cx="109728" cy="109728"/>
          </a:xfrm>
          <a:prstGeom prst="ellipse">
            <a:avLst/>
          </a:prstGeom>
          <a:solidFill>
            <a:srgbClr val="FFB020"/>
          </a:solidFill>
          <a:ln w="12700">
            <a:solidFill>
              <a:srgbClr val="FFB020"/>
            </a:solidFill>
            <a:prstDash val="solid"/>
          </a:ln>
        </p:spPr>
      </p:sp>
      <p:sp>
        <p:nvSpPr>
          <p:cNvPr id="10" name="Shape 8"/>
          <p:cNvSpPr/>
          <p:nvPr/>
        </p:nvSpPr>
        <p:spPr>
          <a:xfrm>
            <a:off x="1115568" y="3410712"/>
            <a:ext cx="109728" cy="109728"/>
          </a:xfrm>
          <a:prstGeom prst="ellipse">
            <a:avLst/>
          </a:prstGeom>
          <a:solidFill>
            <a:srgbClr val="3CB371"/>
          </a:solidFill>
          <a:ln w="12700">
            <a:solidFill>
              <a:srgbClr val="3CB371"/>
            </a:solidFill>
            <a:prstDash val="solid"/>
          </a:ln>
        </p:spPr>
      </p:sp>
      <p:sp>
        <p:nvSpPr>
          <p:cNvPr id="11" name="Text 9"/>
          <p:cNvSpPr txBox="1"/>
          <p:nvPr/>
        </p:nvSpPr>
        <p:spPr>
          <a:xfrm>
            <a:off x="777240" y="3703320"/>
            <a:ext cx="3058058" cy="137160"/>
          </a:xfrm>
          <a:prstGeom prst="rect">
            <a:avLst/>
          </a:prstGeom>
          <a:noFill/>
          <a:ln/>
        </p:spPr>
        <p:txBody>
          <a:bodyPr wrap="square" lIns="0" tIns="0" rIns="0" bIns="0" rtlCol="0" anchor="t"/>
          <a:lstStyle/>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k3d-home</a:t>
            </a:r>
            <a:endParaRPr lang="en-US" sz="1200" dirty="0"/>
          </a:p>
        </p:txBody>
      </p:sp>
      <p:sp>
        <p:nvSpPr>
          <p:cNvPr id="12" name="Shape 10"/>
          <p:cNvSpPr/>
          <p:nvPr/>
        </p:nvSpPr>
        <p:spPr>
          <a:xfrm>
            <a:off x="4338218" y="1645920"/>
            <a:ext cx="3515258" cy="1463040"/>
          </a:xfrm>
          <a:prstGeom prst="roundRect">
            <a:avLst>
              <a:gd name="adj" fmla="val 3750"/>
            </a:avLst>
          </a:prstGeom>
          <a:solidFill>
            <a:srgbClr val="3762FF"/>
          </a:solidFill>
          <a:ln w="12700">
            <a:solidFill>
              <a:srgbClr val="3762FF"/>
            </a:solidFill>
            <a:prstDash val="solid"/>
          </a:ln>
        </p:spPr>
      </p:sp>
      <p:sp>
        <p:nvSpPr>
          <p:cNvPr id="13" name="Text 11"/>
          <p:cNvSpPr txBox="1"/>
          <p:nvPr/>
        </p:nvSpPr>
        <p:spPr>
          <a:xfrm>
            <a:off x="4539386" y="1847088"/>
            <a:ext cx="3112922" cy="3200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user</a:t>
            </a:r>
            <a:endParaRPr lang="en-US" sz="1800" dirty="0"/>
          </a:p>
        </p:txBody>
      </p:sp>
      <p:sp>
        <p:nvSpPr>
          <p:cNvPr id="14" name="Text 12"/>
          <p:cNvSpPr txBox="1"/>
          <p:nvPr/>
        </p:nvSpPr>
        <p:spPr>
          <a:xfrm>
            <a:off x="4539386" y="2231136"/>
            <a:ext cx="3112922" cy="722376"/>
          </a:xfrm>
          <a:prstGeom prst="rect">
            <a:avLst/>
          </a:prstGeom>
          <a:noFill/>
          <a:ln/>
        </p:spPr>
        <p:txBody>
          <a:bodyPr wrap="square" lIns="0" tIns="0" rIns="0" bIns="0" rtlCol="0" anchor="t"/>
          <a:lstStyle/>
          <a:p>
            <a:pPr indent="0" marL="0">
              <a:lnSpc>
                <a:spcPct val="115000"/>
              </a:lnSpc>
              <a:buNone/>
            </a:pPr>
            <a:r>
              <a:rPr lang="en-US" sz="1300" dirty="0">
                <a:solidFill>
                  <a:srgbClr val="FFFFFF"/>
                </a:solidFill>
                <a:latin typeface="Arial" pitchFamily="34" charset="0"/>
                <a:ea typeface="Arial" pitchFamily="34" charset="-122"/>
                <a:cs typeface="Arial" pitchFamily="34" charset="-120"/>
              </a:rPr>
              <a:t>VEM: klientcertifikat (eller token)</a:t>
            </a:r>
            <a:endParaRPr lang="en-US" sz="1300" dirty="0"/>
          </a:p>
        </p:txBody>
      </p:sp>
      <p:sp>
        <p:nvSpPr>
          <p:cNvPr id="15" name="Shape 13"/>
          <p:cNvSpPr/>
          <p:nvPr/>
        </p:nvSpPr>
        <p:spPr>
          <a:xfrm>
            <a:off x="4338218" y="3246120"/>
            <a:ext cx="3515258" cy="731520"/>
          </a:xfrm>
          <a:prstGeom prst="roundRect">
            <a:avLst>
              <a:gd name="adj" fmla="val 7500"/>
            </a:avLst>
          </a:prstGeom>
          <a:solidFill>
            <a:srgbClr val="16294A"/>
          </a:solidFill>
          <a:ln w="12700">
            <a:solidFill>
              <a:srgbClr val="16294A"/>
            </a:solidFill>
            <a:prstDash val="solid"/>
          </a:ln>
        </p:spPr>
      </p:sp>
      <p:sp>
        <p:nvSpPr>
          <p:cNvPr id="16" name="Shape 14"/>
          <p:cNvSpPr/>
          <p:nvPr/>
        </p:nvSpPr>
        <p:spPr>
          <a:xfrm>
            <a:off x="4539386" y="3410712"/>
            <a:ext cx="109728" cy="109728"/>
          </a:xfrm>
          <a:prstGeom prst="ellipse">
            <a:avLst/>
          </a:prstGeom>
          <a:solidFill>
            <a:srgbClr val="D64545"/>
          </a:solidFill>
          <a:ln w="12700">
            <a:solidFill>
              <a:srgbClr val="D64545"/>
            </a:solidFill>
            <a:prstDash val="solid"/>
          </a:ln>
        </p:spPr>
      </p:sp>
      <p:sp>
        <p:nvSpPr>
          <p:cNvPr id="17" name="Shape 15"/>
          <p:cNvSpPr/>
          <p:nvPr/>
        </p:nvSpPr>
        <p:spPr>
          <a:xfrm>
            <a:off x="4722266" y="3410712"/>
            <a:ext cx="109728" cy="109728"/>
          </a:xfrm>
          <a:prstGeom prst="ellipse">
            <a:avLst/>
          </a:prstGeom>
          <a:solidFill>
            <a:srgbClr val="FFB020"/>
          </a:solidFill>
          <a:ln w="12700">
            <a:solidFill>
              <a:srgbClr val="FFB020"/>
            </a:solidFill>
            <a:prstDash val="solid"/>
          </a:ln>
        </p:spPr>
      </p:sp>
      <p:sp>
        <p:nvSpPr>
          <p:cNvPr id="18" name="Shape 16"/>
          <p:cNvSpPr/>
          <p:nvPr/>
        </p:nvSpPr>
        <p:spPr>
          <a:xfrm>
            <a:off x="4905146" y="3410712"/>
            <a:ext cx="109728" cy="109728"/>
          </a:xfrm>
          <a:prstGeom prst="ellipse">
            <a:avLst/>
          </a:prstGeom>
          <a:solidFill>
            <a:srgbClr val="3CB371"/>
          </a:solidFill>
          <a:ln w="12700">
            <a:solidFill>
              <a:srgbClr val="3CB371"/>
            </a:solidFill>
            <a:prstDash val="solid"/>
          </a:ln>
        </p:spPr>
      </p:sp>
      <p:sp>
        <p:nvSpPr>
          <p:cNvPr id="19" name="Text 17"/>
          <p:cNvSpPr txBox="1"/>
          <p:nvPr/>
        </p:nvSpPr>
        <p:spPr>
          <a:xfrm>
            <a:off x="4566818" y="3703320"/>
            <a:ext cx="3058058" cy="137160"/>
          </a:xfrm>
          <a:prstGeom prst="rect">
            <a:avLst/>
          </a:prstGeom>
          <a:noFill/>
          <a:ln/>
        </p:spPr>
        <p:txBody>
          <a:bodyPr wrap="square" lIns="0" tIns="0" rIns="0" bIns="0" rtlCol="0" anchor="t"/>
          <a:lstStyle/>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admin@k3d-home · lab-user</a:t>
            </a:r>
            <a:endParaRPr lang="en-US" sz="1200" dirty="0"/>
          </a:p>
        </p:txBody>
      </p:sp>
      <p:sp>
        <p:nvSpPr>
          <p:cNvPr id="20" name="Shape 18"/>
          <p:cNvSpPr/>
          <p:nvPr/>
        </p:nvSpPr>
        <p:spPr>
          <a:xfrm>
            <a:off x="8127797" y="1645920"/>
            <a:ext cx="3515258" cy="1463040"/>
          </a:xfrm>
          <a:prstGeom prst="roundRect">
            <a:avLst>
              <a:gd name="adj" fmla="val 3750"/>
            </a:avLst>
          </a:prstGeom>
          <a:solidFill>
            <a:srgbClr val="16294A"/>
          </a:solidFill>
          <a:ln w="12700">
            <a:solidFill>
              <a:srgbClr val="16294A"/>
            </a:solidFill>
            <a:prstDash val="solid"/>
          </a:ln>
        </p:spPr>
      </p:sp>
      <p:sp>
        <p:nvSpPr>
          <p:cNvPr id="21" name="Text 19"/>
          <p:cNvSpPr txBox="1"/>
          <p:nvPr/>
        </p:nvSpPr>
        <p:spPr>
          <a:xfrm>
            <a:off x="8328965" y="1847088"/>
            <a:ext cx="3112922" cy="320040"/>
          </a:xfrm>
          <a:prstGeom prst="rect">
            <a:avLst/>
          </a:prstGeom>
          <a:noFill/>
          <a:ln/>
        </p:spPr>
        <p:txBody>
          <a:bodyPr wrap="square" lIns="0" tIns="0" rIns="0" bIns="0" rtlCol="0" anchor="t"/>
          <a:lstStyle/>
          <a:p>
            <a:pPr indent="0" marL="0">
              <a:buNone/>
            </a:pPr>
            <a:r>
              <a:rPr lang="en-US" sz="1800" b="1" dirty="0">
                <a:solidFill>
                  <a:srgbClr val="F5F7FA"/>
                </a:solidFill>
                <a:latin typeface="Calibri" pitchFamily="34" charset="0"/>
                <a:ea typeface="Calibri" pitchFamily="34" charset="-122"/>
                <a:cs typeface="Calibri" pitchFamily="34" charset="-120"/>
              </a:rPr>
              <a:t>namespace</a:t>
            </a:r>
            <a:endParaRPr lang="en-US" sz="1800" dirty="0"/>
          </a:p>
        </p:txBody>
      </p:sp>
      <p:sp>
        <p:nvSpPr>
          <p:cNvPr id="22" name="Text 20"/>
          <p:cNvSpPr txBox="1"/>
          <p:nvPr/>
        </p:nvSpPr>
        <p:spPr>
          <a:xfrm>
            <a:off x="8328965" y="2231136"/>
            <a:ext cx="3112922" cy="722376"/>
          </a:xfrm>
          <a:prstGeom prst="rect">
            <a:avLst/>
          </a:prstGeom>
          <a:noFill/>
          <a:ln/>
        </p:spPr>
        <p:txBody>
          <a:bodyPr wrap="square" lIns="0" tIns="0" rIns="0" bIns="0" rtlCol="0" anchor="t"/>
          <a:lstStyle/>
          <a:p>
            <a:pPr indent="0" marL="0">
              <a:lnSpc>
                <a:spcPct val="115000"/>
              </a:lnSpc>
              <a:buNone/>
            </a:pPr>
            <a:r>
              <a:rPr lang="en-US" sz="1300" dirty="0">
                <a:solidFill>
                  <a:srgbClr val="B9C4D1"/>
                </a:solidFill>
                <a:latin typeface="Arial" pitchFamily="34" charset="0"/>
                <a:ea typeface="Arial" pitchFamily="34" charset="-122"/>
                <a:cs typeface="Arial" pitchFamily="34" charset="-120"/>
              </a:rPr>
              <a:t>STANDARD-namespace (valfritt)</a:t>
            </a:r>
            <a:endParaRPr lang="en-US" sz="1300" dirty="0"/>
          </a:p>
        </p:txBody>
      </p:sp>
      <p:sp>
        <p:nvSpPr>
          <p:cNvPr id="23" name="Shape 21"/>
          <p:cNvSpPr/>
          <p:nvPr/>
        </p:nvSpPr>
        <p:spPr>
          <a:xfrm>
            <a:off x="8127797" y="3246120"/>
            <a:ext cx="3515258" cy="731520"/>
          </a:xfrm>
          <a:prstGeom prst="roundRect">
            <a:avLst>
              <a:gd name="adj" fmla="val 7500"/>
            </a:avLst>
          </a:prstGeom>
          <a:solidFill>
            <a:srgbClr val="16294A"/>
          </a:solidFill>
          <a:ln w="12700">
            <a:solidFill>
              <a:srgbClr val="16294A"/>
            </a:solidFill>
            <a:prstDash val="solid"/>
          </a:ln>
        </p:spPr>
      </p:sp>
      <p:sp>
        <p:nvSpPr>
          <p:cNvPr id="24" name="Shape 22"/>
          <p:cNvSpPr/>
          <p:nvPr/>
        </p:nvSpPr>
        <p:spPr>
          <a:xfrm>
            <a:off x="8328965" y="3410712"/>
            <a:ext cx="109728" cy="109728"/>
          </a:xfrm>
          <a:prstGeom prst="ellipse">
            <a:avLst/>
          </a:prstGeom>
          <a:solidFill>
            <a:srgbClr val="D64545"/>
          </a:solidFill>
          <a:ln w="12700">
            <a:solidFill>
              <a:srgbClr val="D64545"/>
            </a:solidFill>
            <a:prstDash val="solid"/>
          </a:ln>
        </p:spPr>
      </p:sp>
      <p:sp>
        <p:nvSpPr>
          <p:cNvPr id="25" name="Shape 23"/>
          <p:cNvSpPr/>
          <p:nvPr/>
        </p:nvSpPr>
        <p:spPr>
          <a:xfrm>
            <a:off x="8511845" y="3410712"/>
            <a:ext cx="109728" cy="109728"/>
          </a:xfrm>
          <a:prstGeom prst="ellipse">
            <a:avLst/>
          </a:prstGeom>
          <a:solidFill>
            <a:srgbClr val="FFB020"/>
          </a:solidFill>
          <a:ln w="12700">
            <a:solidFill>
              <a:srgbClr val="FFB020"/>
            </a:solidFill>
            <a:prstDash val="solid"/>
          </a:ln>
        </p:spPr>
      </p:sp>
      <p:sp>
        <p:nvSpPr>
          <p:cNvPr id="26" name="Shape 24"/>
          <p:cNvSpPr/>
          <p:nvPr/>
        </p:nvSpPr>
        <p:spPr>
          <a:xfrm>
            <a:off x="8694725" y="3410712"/>
            <a:ext cx="109728" cy="109728"/>
          </a:xfrm>
          <a:prstGeom prst="ellipse">
            <a:avLst/>
          </a:prstGeom>
          <a:solidFill>
            <a:srgbClr val="3CB371"/>
          </a:solidFill>
          <a:ln w="12700">
            <a:solidFill>
              <a:srgbClr val="3CB371"/>
            </a:solidFill>
            <a:prstDash val="solid"/>
          </a:ln>
        </p:spPr>
      </p:sp>
      <p:sp>
        <p:nvSpPr>
          <p:cNvPr id="27" name="Text 25"/>
          <p:cNvSpPr txBox="1"/>
          <p:nvPr/>
        </p:nvSpPr>
        <p:spPr>
          <a:xfrm>
            <a:off x="8356397" y="3703320"/>
            <a:ext cx="3058058" cy="137160"/>
          </a:xfrm>
          <a:prstGeom prst="rect">
            <a:avLst/>
          </a:prstGeom>
          <a:noFill/>
          <a:ln/>
        </p:spPr>
        <p:txBody>
          <a:bodyPr wrap="square" lIns="0" tIns="0" rIns="0" bIns="0" rtlCol="0" anchor="t"/>
          <a:lstStyle/>
          <a:p>
            <a:pPr indent="0" marL="0">
              <a:lnSpc>
                <a:spcPct val="110000"/>
              </a:lnSpc>
              <a:buNone/>
            </a:pPr>
            <a:r>
              <a:rPr lang="en-US" sz="1200" dirty="0">
                <a:solidFill>
                  <a:srgbClr val="DDE3EA"/>
                </a:solidFill>
                <a:latin typeface="Courier New" pitchFamily="34" charset="0"/>
                <a:ea typeface="Courier New" pitchFamily="34" charset="-122"/>
                <a:cs typeface="Courier New" pitchFamily="34" charset="-120"/>
              </a:rPr>
              <a:t>lab</a:t>
            </a:r>
            <a:endParaRPr lang="en-US" sz="1200" dirty="0"/>
          </a:p>
        </p:txBody>
      </p:sp>
      <p:sp>
        <p:nvSpPr>
          <p:cNvPr id="28" name="Shape 26"/>
          <p:cNvSpPr/>
          <p:nvPr/>
        </p:nvSpPr>
        <p:spPr>
          <a:xfrm>
            <a:off x="548640" y="4251960"/>
            <a:ext cx="11094415" cy="1508760"/>
          </a:xfrm>
          <a:prstGeom prst="roundRect">
            <a:avLst>
              <a:gd name="adj" fmla="val 3636"/>
            </a:avLst>
          </a:prstGeom>
          <a:solidFill>
            <a:srgbClr val="16294A"/>
          </a:solidFill>
          <a:ln w="12700">
            <a:solidFill>
              <a:srgbClr val="16294A"/>
            </a:solidFill>
            <a:prstDash val="solid"/>
          </a:ln>
        </p:spPr>
      </p:sp>
      <p:sp>
        <p:nvSpPr>
          <p:cNvPr id="29" name="Text 27"/>
          <p:cNvSpPr txBox="1"/>
          <p:nvPr/>
        </p:nvSpPr>
        <p:spPr>
          <a:xfrm>
            <a:off x="822960" y="4251960"/>
            <a:ext cx="10545775" cy="1508760"/>
          </a:xfrm>
          <a:prstGeom prst="rect">
            <a:avLst/>
          </a:prstGeom>
          <a:noFill/>
          <a:ln/>
        </p:spPr>
        <p:txBody>
          <a:bodyPr wrap="square" lIns="0" tIns="0" rIns="0" bIns="0" rtlCol="0" anchor="ctr"/>
          <a:lstStyle/>
          <a:p>
            <a:pPr indent="0" marL="0">
              <a:buNone/>
            </a:pPr>
            <a:r>
              <a:rPr lang="en-US" sz="1500" b="1" dirty="0">
                <a:solidFill>
                  <a:srgbClr val="F5F7FA"/>
                </a:solidFill>
                <a:latin typeface="Arial" pitchFamily="34" charset="0"/>
                <a:ea typeface="Arial" pitchFamily="34" charset="-122"/>
                <a:cs typeface="Arial" pitchFamily="34" charset="-120"/>
              </a:rPr>
              <a:t>context = cluster + user + namespace. </a:t>
            </a:r>
            <a:r>
              <a:rPr lang="en-US" sz="1500" dirty="0">
                <a:solidFill>
                  <a:srgbClr val="B9C4D1"/>
                </a:solidFill>
                <a:latin typeface="Arial" pitchFamily="34" charset="0"/>
                <a:ea typeface="Arial" pitchFamily="34" charset="-122"/>
                <a:cs typeface="Arial" pitchFamily="34" charset="-120"/>
              </a:rPr>
              <a:t>--namespace i ett context är bara en bekvämlighet - kubectl -n kube-system fungerar ändå. Det som faktiskt låser är användaren: en identitet som bara har en Role i ett namespace.</a:t>
            </a:r>
            <a:endParaRPr lang="en-US" sz="15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ÅTKOMST · ANVÄNDARCERTIFIKAT</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Kubernetes har inga användarkonton</a:t>
            </a:r>
            <a:endParaRPr lang="en-US" sz="3000" dirty="0"/>
          </a:p>
        </p:txBody>
      </p:sp>
      <p:sp>
        <p:nvSpPr>
          <p:cNvPr id="4" name="Text 2"/>
          <p:cNvSpPr txBox="1"/>
          <p:nvPr/>
        </p:nvSpPr>
        <p:spPr>
          <a:xfrm>
            <a:off x="548640" y="1371600"/>
            <a:ext cx="11094415" cy="640080"/>
          </a:xfrm>
          <a:prstGeom prst="rect">
            <a:avLst/>
          </a:prstGeom>
          <a:noFill/>
          <a:ln/>
        </p:spPr>
        <p:txBody>
          <a:bodyPr wrap="square" lIns="0" tIns="0" rIns="0" bIns="0" rtlCol="0" anchor="t"/>
          <a:lstStyle/>
          <a:p>
            <a:pPr indent="0" marL="0">
              <a:lnSpc>
                <a:spcPct val="120000"/>
              </a:lnSpc>
              <a:buNone/>
            </a:pPr>
            <a:r>
              <a:rPr lang="en-US" sz="1500" dirty="0">
                <a:solidFill>
                  <a:srgbClr val="4A5568"/>
                </a:solidFill>
                <a:latin typeface="Arial" pitchFamily="34" charset="0"/>
                <a:ea typeface="Arial" pitchFamily="34" charset="-122"/>
                <a:cs typeface="Arial" pitchFamily="34" charset="-120"/>
              </a:rPr>
              <a:t>En användare är bara namnet i ett klientcertifikat som klustrets CA har signerat. Vi gör samma sak som k3d gjorde för admin@k3d-home:</a:t>
            </a:r>
            <a:endParaRPr lang="en-US" sz="1500" dirty="0"/>
          </a:p>
        </p:txBody>
      </p:sp>
      <p:sp>
        <p:nvSpPr>
          <p:cNvPr id="5" name="Shape 3"/>
          <p:cNvSpPr/>
          <p:nvPr/>
        </p:nvSpPr>
        <p:spPr>
          <a:xfrm>
            <a:off x="548640" y="2148840"/>
            <a:ext cx="6949440" cy="621792"/>
          </a:xfrm>
          <a:prstGeom prst="roundRect">
            <a:avLst>
              <a:gd name="adj" fmla="val 7353"/>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6" name="Text 4"/>
          <p:cNvSpPr txBox="1"/>
          <p:nvPr/>
        </p:nvSpPr>
        <p:spPr>
          <a:xfrm>
            <a:off x="685800" y="2148840"/>
            <a:ext cx="365760" cy="621792"/>
          </a:xfrm>
          <a:prstGeom prst="rect">
            <a:avLst/>
          </a:prstGeom>
          <a:noFill/>
          <a:ln/>
        </p:spPr>
        <p:txBody>
          <a:bodyPr wrap="square" lIns="0" tIns="0" rIns="0" bIns="0" rtlCol="0" anchor="ctr"/>
          <a:lstStyle/>
          <a:p>
            <a:pPr indent="0" marL="0">
              <a:buNone/>
            </a:pPr>
            <a:r>
              <a:rPr lang="en-US" sz="1800" b="1" dirty="0">
                <a:solidFill>
                  <a:srgbClr val="3762FF"/>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1097280" y="2148840"/>
            <a:ext cx="6263640" cy="621792"/>
          </a:xfrm>
          <a:prstGeom prst="rect">
            <a:avLst/>
          </a:prstGeom>
          <a:noFill/>
          <a:ln/>
        </p:spPr>
        <p:txBody>
          <a:bodyPr wrap="square" lIns="0" tIns="0" rIns="0" bIns="0" rtlCol="0" anchor="ctr"/>
          <a:lstStyle/>
          <a:p>
            <a:pPr indent="0" marL="0">
              <a:buNone/>
            </a:pPr>
            <a:r>
              <a:rPr lang="en-US" sz="1300" b="1" dirty="0">
                <a:solidFill>
                  <a:srgbClr val="16202B"/>
                </a:solidFill>
                <a:latin typeface="Arial" pitchFamily="34" charset="0"/>
                <a:ea typeface="Arial" pitchFamily="34" charset="-122"/>
                <a:cs typeface="Arial" pitchFamily="34" charset="-120"/>
              </a:rPr>
              <a:t>Nyckel</a:t>
            </a:r>
            <a:r>
              <a:rPr lang="en-US" sz="1300" dirty="0">
                <a:solidFill>
                  <a:srgbClr val="4A5568"/>
                </a:solidFill>
                <a:latin typeface="Arial" pitchFamily="34" charset="0"/>
                <a:ea typeface="Arial" pitchFamily="34" charset="-122"/>
                <a:cs typeface="Arial" pitchFamily="34" charset="-120"/>
              </a:rPr>
              <a:t>  openssl genrsa - den privata nyckeln stannar på din dator</a:t>
            </a:r>
            <a:endParaRPr lang="en-US" sz="1300" dirty="0"/>
          </a:p>
        </p:txBody>
      </p:sp>
      <p:sp>
        <p:nvSpPr>
          <p:cNvPr id="8" name="Shape 6"/>
          <p:cNvSpPr/>
          <p:nvPr/>
        </p:nvSpPr>
        <p:spPr>
          <a:xfrm>
            <a:off x="548640" y="2862072"/>
            <a:ext cx="6949440" cy="621792"/>
          </a:xfrm>
          <a:prstGeom prst="roundRect">
            <a:avLst>
              <a:gd name="adj" fmla="val 7353"/>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9" name="Text 7"/>
          <p:cNvSpPr txBox="1"/>
          <p:nvPr/>
        </p:nvSpPr>
        <p:spPr>
          <a:xfrm>
            <a:off x="685800" y="2862072"/>
            <a:ext cx="365760" cy="621792"/>
          </a:xfrm>
          <a:prstGeom prst="rect">
            <a:avLst/>
          </a:prstGeom>
          <a:noFill/>
          <a:ln/>
        </p:spPr>
        <p:txBody>
          <a:bodyPr wrap="square" lIns="0" tIns="0" rIns="0" bIns="0" rtlCol="0" anchor="ctr"/>
          <a:lstStyle/>
          <a:p>
            <a:pPr indent="0" marL="0">
              <a:buNone/>
            </a:pPr>
            <a:r>
              <a:rPr lang="en-US" sz="1800" b="1" dirty="0">
                <a:solidFill>
                  <a:srgbClr val="3762FF"/>
                </a:solidFill>
                <a:latin typeface="Calibri" pitchFamily="34" charset="0"/>
                <a:ea typeface="Calibri" pitchFamily="34" charset="-122"/>
                <a:cs typeface="Calibri" pitchFamily="34" charset="-120"/>
              </a:rPr>
              <a:t>2</a:t>
            </a:r>
            <a:endParaRPr lang="en-US" sz="1800" dirty="0"/>
          </a:p>
        </p:txBody>
      </p:sp>
      <p:sp>
        <p:nvSpPr>
          <p:cNvPr id="10" name="Text 8"/>
          <p:cNvSpPr txBox="1"/>
          <p:nvPr/>
        </p:nvSpPr>
        <p:spPr>
          <a:xfrm>
            <a:off x="1097280" y="2862072"/>
            <a:ext cx="6263640" cy="621792"/>
          </a:xfrm>
          <a:prstGeom prst="rect">
            <a:avLst/>
          </a:prstGeom>
          <a:noFill/>
          <a:ln/>
        </p:spPr>
        <p:txBody>
          <a:bodyPr wrap="square" lIns="0" tIns="0" rIns="0" bIns="0" rtlCol="0" anchor="ctr"/>
          <a:lstStyle/>
          <a:p>
            <a:pPr indent="0" marL="0">
              <a:buNone/>
            </a:pPr>
            <a:r>
              <a:rPr lang="en-US" sz="1300" b="1" dirty="0">
                <a:solidFill>
                  <a:srgbClr val="16202B"/>
                </a:solidFill>
                <a:latin typeface="Arial" pitchFamily="34" charset="0"/>
                <a:ea typeface="Arial" pitchFamily="34" charset="-122"/>
                <a:cs typeface="Arial" pitchFamily="34" charset="-120"/>
              </a:rPr>
              <a:t>CSR</a:t>
            </a:r>
            <a:r>
              <a:rPr lang="en-US" sz="1300" dirty="0">
                <a:solidFill>
                  <a:srgbClr val="4A5568"/>
                </a:solidFill>
                <a:latin typeface="Arial" pitchFamily="34" charset="0"/>
                <a:ea typeface="Arial" pitchFamily="34" charset="-122"/>
                <a:cs typeface="Arial" pitchFamily="34" charset="-120"/>
              </a:rPr>
              <a:t>  Certificate Signing Request: CN=lab-user, O=lab-team</a:t>
            </a:r>
            <a:endParaRPr lang="en-US" sz="1300" dirty="0"/>
          </a:p>
        </p:txBody>
      </p:sp>
      <p:sp>
        <p:nvSpPr>
          <p:cNvPr id="11" name="Shape 9"/>
          <p:cNvSpPr/>
          <p:nvPr/>
        </p:nvSpPr>
        <p:spPr>
          <a:xfrm>
            <a:off x="548640" y="3575304"/>
            <a:ext cx="6949440" cy="621792"/>
          </a:xfrm>
          <a:prstGeom prst="roundRect">
            <a:avLst>
              <a:gd name="adj" fmla="val 7353"/>
            </a:avLst>
          </a:prstGeom>
          <a:solidFill>
            <a:srgbClr val="3762FF"/>
          </a:solidFill>
          <a:ln w="12700">
            <a:solidFill>
              <a:srgbClr val="3762FF"/>
            </a:solidFill>
            <a:prstDash val="solid"/>
          </a:ln>
        </p:spPr>
      </p:sp>
      <p:sp>
        <p:nvSpPr>
          <p:cNvPr id="12" name="Text 10"/>
          <p:cNvSpPr txBox="1"/>
          <p:nvPr/>
        </p:nvSpPr>
        <p:spPr>
          <a:xfrm>
            <a:off x="685800" y="3575304"/>
            <a:ext cx="365760" cy="62179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1"/>
          <p:cNvSpPr txBox="1"/>
          <p:nvPr/>
        </p:nvSpPr>
        <p:spPr>
          <a:xfrm>
            <a:off x="1097280" y="3575304"/>
            <a:ext cx="6263640" cy="621792"/>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Signera</a:t>
            </a:r>
            <a:r>
              <a:rPr lang="en-US" sz="1300" dirty="0">
                <a:solidFill>
                  <a:srgbClr val="FFFFFF"/>
                </a:solidFill>
                <a:latin typeface="Arial" pitchFamily="34" charset="0"/>
                <a:ea typeface="Arial" pitchFamily="34" charset="-122"/>
                <a:cs typeface="Arial" pitchFamily="34" charset="-120"/>
              </a:rPr>
              <a:t>  Klustret signerar via en CertificateSigningRequest + approve</a:t>
            </a:r>
            <a:endParaRPr lang="en-US" sz="1300" dirty="0"/>
          </a:p>
        </p:txBody>
      </p:sp>
      <p:sp>
        <p:nvSpPr>
          <p:cNvPr id="14" name="Shape 12"/>
          <p:cNvSpPr/>
          <p:nvPr/>
        </p:nvSpPr>
        <p:spPr>
          <a:xfrm>
            <a:off x="548640" y="4288536"/>
            <a:ext cx="6949440" cy="621792"/>
          </a:xfrm>
          <a:prstGeom prst="roundRect">
            <a:avLst>
              <a:gd name="adj" fmla="val 7353"/>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5" name="Text 13"/>
          <p:cNvSpPr txBox="1"/>
          <p:nvPr/>
        </p:nvSpPr>
        <p:spPr>
          <a:xfrm>
            <a:off x="685800" y="4288536"/>
            <a:ext cx="365760" cy="621792"/>
          </a:xfrm>
          <a:prstGeom prst="rect">
            <a:avLst/>
          </a:prstGeom>
          <a:noFill/>
          <a:ln/>
        </p:spPr>
        <p:txBody>
          <a:bodyPr wrap="square" lIns="0" tIns="0" rIns="0" bIns="0" rtlCol="0" anchor="ctr"/>
          <a:lstStyle/>
          <a:p>
            <a:pPr indent="0" marL="0">
              <a:buNone/>
            </a:pPr>
            <a:r>
              <a:rPr lang="en-US" sz="1800" b="1" dirty="0">
                <a:solidFill>
                  <a:srgbClr val="3762FF"/>
                </a:solidFill>
                <a:latin typeface="Calibri" pitchFamily="34" charset="0"/>
                <a:ea typeface="Calibri" pitchFamily="34" charset="-122"/>
                <a:cs typeface="Calibri" pitchFamily="34" charset="-120"/>
              </a:rPr>
              <a:t>4</a:t>
            </a:r>
            <a:endParaRPr lang="en-US" sz="1800" dirty="0"/>
          </a:p>
        </p:txBody>
      </p:sp>
      <p:sp>
        <p:nvSpPr>
          <p:cNvPr id="16" name="Text 14"/>
          <p:cNvSpPr txBox="1"/>
          <p:nvPr/>
        </p:nvSpPr>
        <p:spPr>
          <a:xfrm>
            <a:off x="1097280" y="4288536"/>
            <a:ext cx="6263640" cy="621792"/>
          </a:xfrm>
          <a:prstGeom prst="rect">
            <a:avLst/>
          </a:prstGeom>
          <a:noFill/>
          <a:ln/>
        </p:spPr>
        <p:txBody>
          <a:bodyPr wrap="square" lIns="0" tIns="0" rIns="0" bIns="0" rtlCol="0" anchor="ctr"/>
          <a:lstStyle/>
          <a:p>
            <a:pPr indent="0" marL="0">
              <a:buNone/>
            </a:pPr>
            <a:r>
              <a:rPr lang="en-US" sz="1300" b="1" dirty="0">
                <a:solidFill>
                  <a:srgbClr val="16202B"/>
                </a:solidFill>
                <a:latin typeface="Arial" pitchFamily="34" charset="0"/>
                <a:ea typeface="Arial" pitchFamily="34" charset="-122"/>
                <a:cs typeface="Arial" pitchFamily="34" charset="-120"/>
              </a:rPr>
              <a:t>RBAC</a:t>
            </a:r>
            <a:r>
              <a:rPr lang="en-US" sz="1300" dirty="0">
                <a:solidFill>
                  <a:srgbClr val="4A5568"/>
                </a:solidFill>
                <a:latin typeface="Arial" pitchFamily="34" charset="0"/>
                <a:ea typeface="Arial" pitchFamily="34" charset="-122"/>
                <a:cs typeface="Arial" pitchFamily="34" charset="-120"/>
              </a:rPr>
              <a:t>  Role + RoleBinding till User lab-user i namespacet lab</a:t>
            </a:r>
            <a:endParaRPr lang="en-US" sz="1300" dirty="0"/>
          </a:p>
        </p:txBody>
      </p:sp>
      <p:sp>
        <p:nvSpPr>
          <p:cNvPr id="17" name="Shape 15"/>
          <p:cNvSpPr/>
          <p:nvPr/>
        </p:nvSpPr>
        <p:spPr>
          <a:xfrm>
            <a:off x="548640" y="5001768"/>
            <a:ext cx="6949440" cy="621792"/>
          </a:xfrm>
          <a:prstGeom prst="roundRect">
            <a:avLst>
              <a:gd name="adj" fmla="val 7353"/>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8" name="Text 16"/>
          <p:cNvSpPr txBox="1"/>
          <p:nvPr/>
        </p:nvSpPr>
        <p:spPr>
          <a:xfrm>
            <a:off x="685800" y="5001768"/>
            <a:ext cx="365760" cy="621792"/>
          </a:xfrm>
          <a:prstGeom prst="rect">
            <a:avLst/>
          </a:prstGeom>
          <a:noFill/>
          <a:ln/>
        </p:spPr>
        <p:txBody>
          <a:bodyPr wrap="square" lIns="0" tIns="0" rIns="0" bIns="0" rtlCol="0" anchor="ctr"/>
          <a:lstStyle/>
          <a:p>
            <a:pPr indent="0" marL="0">
              <a:buNone/>
            </a:pPr>
            <a:r>
              <a:rPr lang="en-US" sz="1800" b="1" dirty="0">
                <a:solidFill>
                  <a:srgbClr val="3762FF"/>
                </a:solidFill>
                <a:latin typeface="Calibri" pitchFamily="34" charset="0"/>
                <a:ea typeface="Calibri" pitchFamily="34" charset="-122"/>
                <a:cs typeface="Calibri" pitchFamily="34" charset="-120"/>
              </a:rPr>
              <a:t>5</a:t>
            </a:r>
            <a:endParaRPr lang="en-US" sz="1800" dirty="0"/>
          </a:p>
        </p:txBody>
      </p:sp>
      <p:sp>
        <p:nvSpPr>
          <p:cNvPr id="19" name="Text 17"/>
          <p:cNvSpPr txBox="1"/>
          <p:nvPr/>
        </p:nvSpPr>
        <p:spPr>
          <a:xfrm>
            <a:off x="1097280" y="5001768"/>
            <a:ext cx="6263640" cy="621792"/>
          </a:xfrm>
          <a:prstGeom prst="rect">
            <a:avLst/>
          </a:prstGeom>
          <a:noFill/>
          <a:ln/>
        </p:spPr>
        <p:txBody>
          <a:bodyPr wrap="square" lIns="0" tIns="0" rIns="0" bIns="0" rtlCol="0" anchor="ctr"/>
          <a:lstStyle/>
          <a:p>
            <a:pPr indent="0" marL="0">
              <a:buNone/>
            </a:pPr>
            <a:r>
              <a:rPr lang="en-US" sz="1300" b="1" dirty="0">
                <a:solidFill>
                  <a:srgbClr val="16202B"/>
                </a:solidFill>
                <a:latin typeface="Arial" pitchFamily="34" charset="0"/>
                <a:ea typeface="Arial" pitchFamily="34" charset="-122"/>
                <a:cs typeface="Arial" pitchFamily="34" charset="-120"/>
              </a:rPr>
              <a:t>kubeconfig</a:t>
            </a:r>
            <a:r>
              <a:rPr lang="en-US" sz="1300" dirty="0">
                <a:solidFill>
                  <a:srgbClr val="4A5568"/>
                </a:solidFill>
                <a:latin typeface="Arial" pitchFamily="34" charset="0"/>
                <a:ea typeface="Arial" pitchFamily="34" charset="-122"/>
                <a:cs typeface="Arial" pitchFamily="34" charset="-120"/>
              </a:rPr>
              <a:t>  set-credentials + set-context lab</a:t>
            </a:r>
            <a:endParaRPr lang="en-US" sz="1300" dirty="0"/>
          </a:p>
        </p:txBody>
      </p:sp>
      <p:sp>
        <p:nvSpPr>
          <p:cNvPr id="20" name="Shape 18"/>
          <p:cNvSpPr/>
          <p:nvPr/>
        </p:nvSpPr>
        <p:spPr>
          <a:xfrm>
            <a:off x="7863840" y="2148840"/>
            <a:ext cx="3779215" cy="1691640"/>
          </a:xfrm>
          <a:prstGeom prst="roundRect">
            <a:avLst>
              <a:gd name="adj" fmla="val 3243"/>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21" name="Text 19"/>
          <p:cNvSpPr txBox="1"/>
          <p:nvPr/>
        </p:nvSpPr>
        <p:spPr>
          <a:xfrm>
            <a:off x="8065008" y="2350008"/>
            <a:ext cx="3376879" cy="320040"/>
          </a:xfrm>
          <a:prstGeom prst="rect">
            <a:avLst/>
          </a:prstGeom>
          <a:noFill/>
          <a:ln/>
        </p:spPr>
        <p:txBody>
          <a:bodyPr wrap="square" lIns="0" tIns="0" rIns="0" bIns="0" rtlCol="0" anchor="t"/>
          <a:lstStyle/>
          <a:p>
            <a:pPr indent="0" marL="0">
              <a:buNone/>
            </a:pPr>
            <a:r>
              <a:rPr lang="en-US" sz="1600" b="1" dirty="0">
                <a:solidFill>
                  <a:srgbClr val="16202B"/>
                </a:solidFill>
                <a:latin typeface="Calibri" pitchFamily="34" charset="0"/>
                <a:ea typeface="Calibri" pitchFamily="34" charset="-122"/>
                <a:cs typeface="Calibri" pitchFamily="34" charset="-120"/>
              </a:rPr>
              <a:t>CN och O</a:t>
            </a:r>
            <a:endParaRPr lang="en-US" sz="1600" dirty="0"/>
          </a:p>
        </p:txBody>
      </p:sp>
      <p:sp>
        <p:nvSpPr>
          <p:cNvPr id="22" name="Text 20"/>
          <p:cNvSpPr txBox="1"/>
          <p:nvPr/>
        </p:nvSpPr>
        <p:spPr>
          <a:xfrm>
            <a:off x="8065008" y="2734056"/>
            <a:ext cx="3376879" cy="95097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CN (Common Name) blir användarnamnet. O (Organization) blir grupper. RBAC kan binda till båda.</a:t>
            </a:r>
            <a:endParaRPr lang="en-US" sz="1300" dirty="0"/>
          </a:p>
        </p:txBody>
      </p:sp>
      <p:sp>
        <p:nvSpPr>
          <p:cNvPr id="23" name="Shape 21"/>
          <p:cNvSpPr/>
          <p:nvPr/>
        </p:nvSpPr>
        <p:spPr>
          <a:xfrm>
            <a:off x="7863840" y="3977640"/>
            <a:ext cx="3779215" cy="1691640"/>
          </a:xfrm>
          <a:prstGeom prst="roundRect">
            <a:avLst>
              <a:gd name="adj" fmla="val 3243"/>
            </a:avLst>
          </a:prstGeom>
          <a:solidFill>
            <a:srgbClr val="3762FF"/>
          </a:solidFill>
          <a:ln w="12700">
            <a:solidFill>
              <a:srgbClr val="3762FF"/>
            </a:solidFill>
            <a:prstDash val="solid"/>
          </a:ln>
        </p:spPr>
      </p:sp>
      <p:sp>
        <p:nvSpPr>
          <p:cNvPr id="24" name="Text 22"/>
          <p:cNvSpPr txBox="1"/>
          <p:nvPr/>
        </p:nvSpPr>
        <p:spPr>
          <a:xfrm>
            <a:off x="8065008" y="4178808"/>
            <a:ext cx="3376879" cy="3200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Går inte att återkalla</a:t>
            </a:r>
            <a:endParaRPr lang="en-US" sz="1600" dirty="0"/>
          </a:p>
        </p:txBody>
      </p:sp>
      <p:sp>
        <p:nvSpPr>
          <p:cNvPr id="25" name="Text 23"/>
          <p:cNvSpPr txBox="1"/>
          <p:nvPr/>
        </p:nvSpPr>
        <p:spPr>
          <a:xfrm>
            <a:off x="8065008" y="4562856"/>
            <a:ext cx="3376879" cy="950976"/>
          </a:xfrm>
          <a:prstGeom prst="rect">
            <a:avLst/>
          </a:prstGeom>
          <a:noFill/>
          <a:ln/>
        </p:spPr>
        <p:txBody>
          <a:bodyPr wrap="square" lIns="0" tIns="0" rIns="0" bIns="0" rtlCol="0" anchor="t"/>
          <a:lstStyle/>
          <a:p>
            <a:pPr indent="0" marL="0">
              <a:lnSpc>
                <a:spcPct val="115000"/>
              </a:lnSpc>
              <a:buNone/>
            </a:pPr>
            <a:r>
              <a:rPr lang="en-US" sz="1300" dirty="0">
                <a:solidFill>
                  <a:srgbClr val="FFFFFF"/>
                </a:solidFill>
                <a:latin typeface="Arial" pitchFamily="34" charset="0"/>
                <a:ea typeface="Arial" pitchFamily="34" charset="-122"/>
                <a:cs typeface="Arial" pitchFamily="34" charset="-120"/>
              </a:rPr>
              <a:t>Kubernetes har ingen spärrlista. Ge certifikatet kort livstid - vi kör 24 h.</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LABB 7A · NYCKEL OCH CSR</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Skapa en certifikatförfrågan med openssl</a:t>
            </a:r>
            <a:endParaRPr lang="en-US" sz="3000" dirty="0"/>
          </a:p>
        </p:txBody>
      </p:sp>
      <p:sp>
        <p:nvSpPr>
          <p:cNvPr id="4" name="Shape 2"/>
          <p:cNvSpPr/>
          <p:nvPr/>
        </p:nvSpPr>
        <p:spPr>
          <a:xfrm>
            <a:off x="548640" y="1554480"/>
            <a:ext cx="7498080" cy="4343400"/>
          </a:xfrm>
          <a:prstGeom prst="roundRect">
            <a:avLst>
              <a:gd name="adj" fmla="val 1263"/>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5" name="Shape 3"/>
          <p:cNvSpPr/>
          <p:nvPr/>
        </p:nvSpPr>
        <p:spPr>
          <a:xfrm>
            <a:off x="749808" y="171907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1907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1907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45920"/>
            <a:ext cx="6492240" cy="256032"/>
          </a:xfrm>
          <a:prstGeom prst="rect">
            <a:avLst/>
          </a:prstGeom>
          <a:noFill/>
          <a:ln/>
        </p:spPr>
        <p:txBody>
          <a:bodyPr wrap="square" lIns="0" tIns="0" rIns="0" bIns="0" rtlCol="0" anchor="ctr"/>
          <a:lstStyle/>
          <a:p>
            <a:pPr indent="0" marL="0">
              <a:buNone/>
            </a:pPr>
            <a:r>
              <a:rPr lang="en-US" sz="1100" dirty="0">
                <a:solidFill>
                  <a:srgbClr val="B9C4D1"/>
                </a:solidFill>
                <a:latin typeface="Courier New" pitchFamily="34" charset="0"/>
                <a:ea typeface="Courier New" pitchFamily="34" charset="-122"/>
                <a:cs typeface="Courier New" pitchFamily="34" charset="-120"/>
              </a:rPr>
              <a:t>powershell</a:t>
            </a:r>
            <a:endParaRPr lang="en-US" sz="1100" dirty="0"/>
          </a:p>
        </p:txBody>
      </p:sp>
      <p:sp>
        <p:nvSpPr>
          <p:cNvPr id="9" name="Text 7"/>
          <p:cNvSpPr txBox="1"/>
          <p:nvPr/>
        </p:nvSpPr>
        <p:spPr>
          <a:xfrm>
            <a:off x="777240" y="2011680"/>
            <a:ext cx="7040880" cy="3749040"/>
          </a:xfrm>
          <a:prstGeom prst="rect">
            <a:avLst/>
          </a:prstGeom>
          <a:noFill/>
          <a:ln/>
        </p:spPr>
        <p:txBody>
          <a:bodyPr wrap="square" lIns="0" tIns="0" rIns="0" bIns="0" rtlCol="0" anchor="t"/>
          <a:lstStyle/>
          <a:p>
            <a:pPr indent="0" marL="0">
              <a:lnSpc>
                <a:spcPct val="110000"/>
              </a:lnSpc>
              <a:buNone/>
            </a:pPr>
            <a:r>
              <a:rPr lang="en-US" sz="1100" i="1" dirty="0">
                <a:solidFill>
                  <a:srgbClr val="B9C4D1"/>
                </a:solidFill>
                <a:latin typeface="Courier New" pitchFamily="34" charset="0"/>
                <a:ea typeface="Courier New" pitchFamily="34" charset="-122"/>
                <a:cs typeface="Courier New" pitchFamily="34" charset="-120"/>
              </a:rPr>
              <a:t># openssl följer med Git for Windows</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Set-Alias openssl "C:\Program Files\Git\usr\bin\openssl.exe"</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cd D:\Kvällskurs\Labbar\Kvall7</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a:t>
            </a:r>
            <a:endParaRPr lang="en-US" sz="1100" dirty="0"/>
          </a:p>
          <a:p>
            <a:pPr indent="0" marL="0">
              <a:lnSpc>
                <a:spcPct val="110000"/>
              </a:lnSpc>
              <a:buNone/>
            </a:pPr>
            <a:r>
              <a:rPr lang="en-US" sz="1100" i="1" dirty="0">
                <a:solidFill>
                  <a:srgbClr val="B9C4D1"/>
                </a:solidFill>
                <a:latin typeface="Courier New" pitchFamily="34" charset="0"/>
                <a:ea typeface="Courier New" pitchFamily="34" charset="-122"/>
                <a:cs typeface="Courier New" pitchFamily="34" charset="-120"/>
              </a:rPr>
              <a:t># 1. Privat nyckel - lämnar aldrig din dator</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openssl genrsa -out lab-user.key 2048</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a:t>
            </a:r>
            <a:endParaRPr lang="en-US" sz="1100" dirty="0"/>
          </a:p>
          <a:p>
            <a:pPr indent="0" marL="0">
              <a:lnSpc>
                <a:spcPct val="110000"/>
              </a:lnSpc>
              <a:buNone/>
            </a:pPr>
            <a:r>
              <a:rPr lang="en-US" sz="1100" i="1" dirty="0">
                <a:solidFill>
                  <a:srgbClr val="B9C4D1"/>
                </a:solidFill>
                <a:latin typeface="Courier New" pitchFamily="34" charset="0"/>
                <a:ea typeface="Courier New" pitchFamily="34" charset="-122"/>
                <a:cs typeface="Courier New" pitchFamily="34" charset="-120"/>
              </a:rPr>
              <a:t># 2. CSR: CN = användarnamn, O = grupp</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openssl req -new -key lab-user.key -out lab-user.csr -subj "/CN=lab-user/O=lab-team"</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 </a:t>
            </a:r>
            <a:endParaRPr lang="en-US" sz="1100" dirty="0"/>
          </a:p>
          <a:p>
            <a:pPr indent="0" marL="0">
              <a:lnSpc>
                <a:spcPct val="110000"/>
              </a:lnSpc>
              <a:buNone/>
            </a:pPr>
            <a:r>
              <a:rPr lang="en-US" sz="1100" dirty="0">
                <a:solidFill>
                  <a:srgbClr val="DDE3EA"/>
                </a:solidFill>
                <a:latin typeface="Courier New" pitchFamily="34" charset="0"/>
                <a:ea typeface="Courier New" pitchFamily="34" charset="-122"/>
                <a:cs typeface="Courier New" pitchFamily="34" charset="-120"/>
              </a:rPr>
              <a:t>openssl req -in lab-user.csr -noout -subject</a:t>
            </a:r>
            <a:endParaRPr lang="en-US" sz="1100" dirty="0"/>
          </a:p>
          <a:p>
            <a:pPr indent="0" marL="0">
              <a:lnSpc>
                <a:spcPct val="110000"/>
              </a:lnSpc>
              <a:buNone/>
            </a:pPr>
            <a:r>
              <a:rPr lang="en-US" sz="1100" dirty="0">
                <a:solidFill>
                  <a:srgbClr val="B9C4D1"/>
                </a:solidFill>
                <a:latin typeface="Courier New" pitchFamily="34" charset="0"/>
                <a:ea typeface="Courier New" pitchFamily="34" charset="-122"/>
                <a:cs typeface="Courier New" pitchFamily="34" charset="-120"/>
              </a:rPr>
              <a:t>subject=CN=lab-user, O=lab-team</a:t>
            </a:r>
            <a:endParaRPr lang="en-US" sz="1100" dirty="0"/>
          </a:p>
        </p:txBody>
      </p:sp>
      <p:sp>
        <p:nvSpPr>
          <p:cNvPr id="10" name="Shape 8"/>
          <p:cNvSpPr/>
          <p:nvPr/>
        </p:nvSpPr>
        <p:spPr>
          <a:xfrm>
            <a:off x="8412480" y="1554480"/>
            <a:ext cx="3230575" cy="1356360"/>
          </a:xfrm>
          <a:prstGeom prst="roundRect">
            <a:avLst>
              <a:gd name="adj" fmla="val 4045"/>
            </a:avLst>
          </a:prstGeom>
          <a:solidFill>
            <a:srgbClr val="3762FF"/>
          </a:solidFill>
          <a:ln w="12700">
            <a:solidFill>
              <a:srgbClr val="3762FF"/>
            </a:solidFill>
            <a:prstDash val="solid"/>
          </a:ln>
        </p:spPr>
      </p:sp>
      <p:sp>
        <p:nvSpPr>
          <p:cNvPr id="11" name="Text 9"/>
          <p:cNvSpPr txBox="1"/>
          <p:nvPr/>
        </p:nvSpPr>
        <p:spPr>
          <a:xfrm>
            <a:off x="8613648" y="1755648"/>
            <a:ext cx="2828239"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lab-user.key</a:t>
            </a:r>
            <a:endParaRPr lang="en-US" sz="1400" dirty="0"/>
          </a:p>
        </p:txBody>
      </p:sp>
      <p:sp>
        <p:nvSpPr>
          <p:cNvPr id="12" name="Text 10"/>
          <p:cNvSpPr txBox="1"/>
          <p:nvPr/>
        </p:nvSpPr>
        <p:spPr>
          <a:xfrm>
            <a:off x="8613648" y="213969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Hemlig. Den som har nyckeln + certet ÄR lab-user.</a:t>
            </a:r>
            <a:endParaRPr lang="en-US" sz="1200" dirty="0"/>
          </a:p>
        </p:txBody>
      </p:sp>
      <p:sp>
        <p:nvSpPr>
          <p:cNvPr id="13" name="Shape 11"/>
          <p:cNvSpPr/>
          <p:nvPr/>
        </p:nvSpPr>
        <p:spPr>
          <a:xfrm>
            <a:off x="8412480" y="3048000"/>
            <a:ext cx="3230575" cy="1356360"/>
          </a:xfrm>
          <a:prstGeom prst="roundRect">
            <a:avLst>
              <a:gd name="adj" fmla="val 4045"/>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4" name="Text 12"/>
          <p:cNvSpPr txBox="1"/>
          <p:nvPr/>
        </p:nvSpPr>
        <p:spPr>
          <a:xfrm>
            <a:off x="8613648" y="3249168"/>
            <a:ext cx="2828239"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lab-user.csr</a:t>
            </a:r>
            <a:endParaRPr lang="en-US" sz="1400" dirty="0"/>
          </a:p>
        </p:txBody>
      </p:sp>
      <p:sp>
        <p:nvSpPr>
          <p:cNvPr id="15" name="Text 13"/>
          <p:cNvSpPr txBox="1"/>
          <p:nvPr/>
        </p:nvSpPr>
        <p:spPr>
          <a:xfrm>
            <a:off x="8613648" y="363321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Publik nyckel + namn. Ofarlig att skicka.</a:t>
            </a:r>
            <a:endParaRPr lang="en-US" sz="1200" dirty="0"/>
          </a:p>
        </p:txBody>
      </p:sp>
      <p:sp>
        <p:nvSpPr>
          <p:cNvPr id="16" name="Shape 14"/>
          <p:cNvSpPr/>
          <p:nvPr/>
        </p:nvSpPr>
        <p:spPr>
          <a:xfrm>
            <a:off x="8412480" y="4541520"/>
            <a:ext cx="3230575" cy="1356360"/>
          </a:xfrm>
          <a:prstGeom prst="roundRect">
            <a:avLst>
              <a:gd name="adj" fmla="val 4045"/>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7" name="Text 15"/>
          <p:cNvSpPr txBox="1"/>
          <p:nvPr/>
        </p:nvSpPr>
        <p:spPr>
          <a:xfrm>
            <a:off x="8613648" y="4742688"/>
            <a:ext cx="2828239"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Set-Alias</a:t>
            </a:r>
            <a:endParaRPr lang="en-US" sz="1400" dirty="0"/>
          </a:p>
        </p:txBody>
      </p:sp>
      <p:sp>
        <p:nvSpPr>
          <p:cNvPr id="18" name="Text 16"/>
          <p:cNvSpPr txBox="1"/>
          <p:nvPr/>
        </p:nvSpPr>
        <p:spPr>
          <a:xfrm>
            <a:off x="8613648" y="512673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Behövs bara om openssl inte redan finns i PATH.</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F1F33"/>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7C9CFF"/>
                </a:solidFill>
                <a:latin typeface="Arial" pitchFamily="34" charset="0"/>
                <a:ea typeface="Arial" pitchFamily="34" charset="-122"/>
                <a:cs typeface="Arial" pitchFamily="34" charset="-120"/>
              </a:rPr>
              <a:t>LABB 7B · LÅT KLUSTRET SIGNERA</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F5F7FA"/>
                </a:solidFill>
                <a:latin typeface="Calibri" pitchFamily="34" charset="0"/>
                <a:ea typeface="Calibri" pitchFamily="34" charset="-122"/>
                <a:cs typeface="Calibri" pitchFamily="34" charset="-120"/>
              </a:rPr>
              <a:t>CertificateSigningRequest och approve</a:t>
            </a:r>
            <a:endParaRPr lang="en-US" sz="3000" dirty="0"/>
          </a:p>
        </p:txBody>
      </p:sp>
      <p:sp>
        <p:nvSpPr>
          <p:cNvPr id="4" name="Shape 2"/>
          <p:cNvSpPr/>
          <p:nvPr/>
        </p:nvSpPr>
        <p:spPr>
          <a:xfrm>
            <a:off x="548640" y="1554480"/>
            <a:ext cx="7498080" cy="4343400"/>
          </a:xfrm>
          <a:prstGeom prst="roundRect">
            <a:avLst>
              <a:gd name="adj" fmla="val 1263"/>
            </a:avLst>
          </a:prstGeom>
          <a:solidFill>
            <a:srgbClr val="16294A"/>
          </a:solidFill>
          <a:ln w="12700">
            <a:solidFill>
              <a:srgbClr val="16294A"/>
            </a:solidFill>
            <a:prstDash val="solid"/>
          </a:ln>
        </p:spPr>
      </p:sp>
      <p:sp>
        <p:nvSpPr>
          <p:cNvPr id="5" name="Shape 3"/>
          <p:cNvSpPr/>
          <p:nvPr/>
        </p:nvSpPr>
        <p:spPr>
          <a:xfrm>
            <a:off x="749808" y="171907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1907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1907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45920"/>
            <a:ext cx="6492240" cy="256032"/>
          </a:xfrm>
          <a:prstGeom prst="rect">
            <a:avLst/>
          </a:prstGeom>
          <a:noFill/>
          <a:ln/>
        </p:spPr>
        <p:txBody>
          <a:bodyPr wrap="square" lIns="0" tIns="0" rIns="0" bIns="0" rtlCol="0" anchor="ctr"/>
          <a:lstStyle/>
          <a:p>
            <a:pPr indent="0" marL="0">
              <a:buNone/>
            </a:pPr>
            <a:r>
              <a:rPr lang="en-US" sz="1100" dirty="0">
                <a:solidFill>
                  <a:srgbClr val="B9C4D1"/>
                </a:solidFill>
                <a:latin typeface="Courier New" pitchFamily="34" charset="0"/>
                <a:ea typeface="Courier New" pitchFamily="34" charset="-122"/>
                <a:cs typeface="Courier New" pitchFamily="34" charset="-120"/>
              </a:rPr>
              <a:t>powershell</a:t>
            </a:r>
            <a:endParaRPr lang="en-US" sz="1100" dirty="0"/>
          </a:p>
        </p:txBody>
      </p:sp>
      <p:sp>
        <p:nvSpPr>
          <p:cNvPr id="9" name="Text 7"/>
          <p:cNvSpPr txBox="1"/>
          <p:nvPr/>
        </p:nvSpPr>
        <p:spPr>
          <a:xfrm>
            <a:off x="777240" y="2011680"/>
            <a:ext cx="7040880" cy="3749040"/>
          </a:xfrm>
          <a:prstGeom prst="rect">
            <a:avLst/>
          </a:prstGeom>
          <a:noFill/>
          <a:ln/>
        </p:spPr>
        <p:txBody>
          <a:bodyPr wrap="square" lIns="0" tIns="0" rIns="0" bIns="0" rtlCol="0" anchor="t"/>
          <a:lstStyle/>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$req = [Convert]::ToBase64String([IO.File]::ReadAllBytes("$PWD\lab-user.csr"))</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apiVersion: certificates.k8s.io/v1</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kind: CertificateSigningRequest</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metadata: { name: lab-user }</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spec:</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  request: $req</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  signerName: kubernetes.io/kube-apiserver-client</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  expirationSeconds: 86400</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  usages: ["client auth"]</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 | kubectl apply -f -</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 </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kubectl get csr lab-user                 # Pending</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kubectl certificate approve lab-user     # Approved,Issued</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$crt = kubectl get csr lab-user -o jsonpath='{.status.certificate}'</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[IO.File]::WriteAllBytes("$PWD\lab-user.crt", [Convert]::FromBase64String($crt))</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openssl x509 -in lab-user.crt -noout -subject -issuer -enddate</a:t>
            </a:r>
            <a:endParaRPr lang="en-US" sz="1050" dirty="0"/>
          </a:p>
        </p:txBody>
      </p:sp>
      <p:sp>
        <p:nvSpPr>
          <p:cNvPr id="10" name="Shape 8"/>
          <p:cNvSpPr/>
          <p:nvPr/>
        </p:nvSpPr>
        <p:spPr>
          <a:xfrm>
            <a:off x="8412480" y="1554480"/>
            <a:ext cx="3230575" cy="1356360"/>
          </a:xfrm>
          <a:prstGeom prst="roundRect">
            <a:avLst>
              <a:gd name="adj" fmla="val 4045"/>
            </a:avLst>
          </a:prstGeom>
          <a:solidFill>
            <a:srgbClr val="16294A"/>
          </a:solidFill>
          <a:ln w="12700">
            <a:solidFill>
              <a:srgbClr val="16294A"/>
            </a:solidFill>
            <a:prstDash val="solid"/>
          </a:ln>
        </p:spPr>
      </p:sp>
      <p:sp>
        <p:nvSpPr>
          <p:cNvPr id="11" name="Text 9"/>
          <p:cNvSpPr txBox="1"/>
          <p:nvPr/>
        </p:nvSpPr>
        <p:spPr>
          <a:xfrm>
            <a:off x="8613648" y="1755648"/>
            <a:ext cx="2828239" cy="320040"/>
          </a:xfrm>
          <a:prstGeom prst="rect">
            <a:avLst/>
          </a:prstGeom>
          <a:noFill/>
          <a:ln/>
        </p:spPr>
        <p:txBody>
          <a:bodyPr wrap="square" lIns="0" tIns="0" rIns="0" bIns="0" rtlCol="0" anchor="t"/>
          <a:lstStyle/>
          <a:p>
            <a:pPr indent="0" marL="0">
              <a:buNone/>
            </a:pPr>
            <a:r>
              <a:rPr lang="en-US" sz="1400" b="1" dirty="0">
                <a:solidFill>
                  <a:srgbClr val="F5F7FA"/>
                </a:solidFill>
                <a:latin typeface="Calibri" pitchFamily="34" charset="0"/>
                <a:ea typeface="Calibri" pitchFamily="34" charset="-122"/>
                <a:cs typeface="Calibri" pitchFamily="34" charset="-120"/>
              </a:rPr>
              <a:t>signerName</a:t>
            </a:r>
            <a:endParaRPr lang="en-US" sz="1400" dirty="0"/>
          </a:p>
        </p:txBody>
      </p:sp>
      <p:sp>
        <p:nvSpPr>
          <p:cNvPr id="12" name="Text 10"/>
          <p:cNvSpPr txBox="1"/>
          <p:nvPr/>
        </p:nvSpPr>
        <p:spPr>
          <a:xfrm>
            <a:off x="8613648" y="213969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B9C4D1"/>
                </a:solidFill>
                <a:latin typeface="Arial" pitchFamily="34" charset="0"/>
                <a:ea typeface="Arial" pitchFamily="34" charset="-122"/>
                <a:cs typeface="Arial" pitchFamily="34" charset="-120"/>
              </a:rPr>
              <a:t>kube-apiserver-client = klientcertifikat för inloggning.</a:t>
            </a:r>
            <a:endParaRPr lang="en-US" sz="1200" dirty="0"/>
          </a:p>
        </p:txBody>
      </p:sp>
      <p:sp>
        <p:nvSpPr>
          <p:cNvPr id="13" name="Shape 11"/>
          <p:cNvSpPr/>
          <p:nvPr/>
        </p:nvSpPr>
        <p:spPr>
          <a:xfrm>
            <a:off x="8412480" y="3048000"/>
            <a:ext cx="3230575" cy="1356360"/>
          </a:xfrm>
          <a:prstGeom prst="roundRect">
            <a:avLst>
              <a:gd name="adj" fmla="val 4045"/>
            </a:avLst>
          </a:prstGeom>
          <a:solidFill>
            <a:srgbClr val="3762FF"/>
          </a:solidFill>
          <a:ln w="12700">
            <a:solidFill>
              <a:srgbClr val="3762FF"/>
            </a:solidFill>
            <a:prstDash val="solid"/>
          </a:ln>
        </p:spPr>
      </p:sp>
      <p:sp>
        <p:nvSpPr>
          <p:cNvPr id="14" name="Text 12"/>
          <p:cNvSpPr txBox="1"/>
          <p:nvPr/>
        </p:nvSpPr>
        <p:spPr>
          <a:xfrm>
            <a:off x="8613648" y="3249168"/>
            <a:ext cx="2828239"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approve</a:t>
            </a:r>
            <a:endParaRPr lang="en-US" sz="1400" dirty="0"/>
          </a:p>
        </p:txBody>
      </p:sp>
      <p:sp>
        <p:nvSpPr>
          <p:cNvPr id="15" name="Text 13"/>
          <p:cNvSpPr txBox="1"/>
          <p:nvPr/>
        </p:nvSpPr>
        <p:spPr>
          <a:xfrm>
            <a:off x="8613648" y="363321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Admin godkänner. Först då signerar klustrets CA.</a:t>
            </a:r>
            <a:endParaRPr lang="en-US" sz="1200" dirty="0"/>
          </a:p>
        </p:txBody>
      </p:sp>
      <p:sp>
        <p:nvSpPr>
          <p:cNvPr id="16" name="Shape 14"/>
          <p:cNvSpPr/>
          <p:nvPr/>
        </p:nvSpPr>
        <p:spPr>
          <a:xfrm>
            <a:off x="8412480" y="4541520"/>
            <a:ext cx="3230575" cy="1356360"/>
          </a:xfrm>
          <a:prstGeom prst="roundRect">
            <a:avLst>
              <a:gd name="adj" fmla="val 4045"/>
            </a:avLst>
          </a:prstGeom>
          <a:solidFill>
            <a:srgbClr val="16294A"/>
          </a:solidFill>
          <a:ln w="12700">
            <a:solidFill>
              <a:srgbClr val="16294A"/>
            </a:solidFill>
            <a:prstDash val="solid"/>
          </a:ln>
        </p:spPr>
      </p:sp>
      <p:sp>
        <p:nvSpPr>
          <p:cNvPr id="17" name="Text 15"/>
          <p:cNvSpPr txBox="1"/>
          <p:nvPr/>
        </p:nvSpPr>
        <p:spPr>
          <a:xfrm>
            <a:off x="8613648" y="4742688"/>
            <a:ext cx="2828239" cy="320040"/>
          </a:xfrm>
          <a:prstGeom prst="rect">
            <a:avLst/>
          </a:prstGeom>
          <a:noFill/>
          <a:ln/>
        </p:spPr>
        <p:txBody>
          <a:bodyPr wrap="square" lIns="0" tIns="0" rIns="0" bIns="0" rtlCol="0" anchor="t"/>
          <a:lstStyle/>
          <a:p>
            <a:pPr indent="0" marL="0">
              <a:buNone/>
            </a:pPr>
            <a:r>
              <a:rPr lang="en-US" sz="1400" b="1" dirty="0">
                <a:solidFill>
                  <a:srgbClr val="F5F7FA"/>
                </a:solidFill>
                <a:latin typeface="Calibri" pitchFamily="34" charset="0"/>
                <a:ea typeface="Calibri" pitchFamily="34" charset="-122"/>
                <a:cs typeface="Calibri" pitchFamily="34" charset="-120"/>
              </a:rPr>
              <a:t>$PWD</a:t>
            </a:r>
            <a:endParaRPr lang="en-US" sz="1400" dirty="0"/>
          </a:p>
        </p:txBody>
      </p:sp>
      <p:sp>
        <p:nvSpPr>
          <p:cNvPr id="18" name="Text 16"/>
          <p:cNvSpPr txBox="1"/>
          <p:nvPr/>
        </p:nvSpPr>
        <p:spPr>
          <a:xfrm>
            <a:off x="8613648" y="512673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B9C4D1"/>
                </a:solidFill>
                <a:latin typeface="Arial" pitchFamily="34" charset="0"/>
                <a:ea typeface="Arial" pitchFamily="34" charset="-122"/>
                <a:cs typeface="Arial" pitchFamily="34" charset="-120"/>
              </a:rPr>
              <a:t>.NET-metoder utgår inte från PowerShells mapp - ange hela sökvägen.</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LABB 7C · RBAC OCH CONTEXT</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Ge rättigheter, lägg till contextet - och testa</a:t>
            </a:r>
            <a:endParaRPr lang="en-US" sz="3000" dirty="0"/>
          </a:p>
        </p:txBody>
      </p:sp>
      <p:sp>
        <p:nvSpPr>
          <p:cNvPr id="4" name="Shape 2"/>
          <p:cNvSpPr/>
          <p:nvPr/>
        </p:nvSpPr>
        <p:spPr>
          <a:xfrm>
            <a:off x="548640" y="1554480"/>
            <a:ext cx="7498080" cy="4343400"/>
          </a:xfrm>
          <a:prstGeom prst="roundRect">
            <a:avLst>
              <a:gd name="adj" fmla="val 1263"/>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5" name="Shape 3"/>
          <p:cNvSpPr/>
          <p:nvPr/>
        </p:nvSpPr>
        <p:spPr>
          <a:xfrm>
            <a:off x="749808" y="171907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1907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1907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45920"/>
            <a:ext cx="6492240" cy="256032"/>
          </a:xfrm>
          <a:prstGeom prst="rect">
            <a:avLst/>
          </a:prstGeom>
          <a:noFill/>
          <a:ln/>
        </p:spPr>
        <p:txBody>
          <a:bodyPr wrap="square" lIns="0" tIns="0" rIns="0" bIns="0" rtlCol="0" anchor="ctr"/>
          <a:lstStyle/>
          <a:p>
            <a:pPr indent="0" marL="0">
              <a:buNone/>
            </a:pPr>
            <a:r>
              <a:rPr lang="en-US" sz="1100" dirty="0">
                <a:solidFill>
                  <a:srgbClr val="B9C4D1"/>
                </a:solidFill>
                <a:latin typeface="Courier New" pitchFamily="34" charset="0"/>
                <a:ea typeface="Courier New" pitchFamily="34" charset="-122"/>
                <a:cs typeface="Courier New" pitchFamily="34" charset="-120"/>
              </a:rPr>
              <a:t>powershell</a:t>
            </a:r>
            <a:endParaRPr lang="en-US" sz="1100" dirty="0"/>
          </a:p>
        </p:txBody>
      </p:sp>
      <p:sp>
        <p:nvSpPr>
          <p:cNvPr id="9" name="Text 7"/>
          <p:cNvSpPr txBox="1"/>
          <p:nvPr/>
        </p:nvSpPr>
        <p:spPr>
          <a:xfrm>
            <a:off x="777240" y="2011680"/>
            <a:ext cx="7040880" cy="3749040"/>
          </a:xfrm>
          <a:prstGeom prst="rect">
            <a:avLst/>
          </a:prstGeom>
          <a:noFill/>
          <a:ln/>
        </p:spPr>
        <p:txBody>
          <a:bodyPr wrap="square" lIns="0" tIns="0" rIns="0" bIns="0" rtlCol="0" anchor="t"/>
          <a:lstStyle/>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Get-Content 07-namespace-user.yaml       # Role + RoleBinding till User lab-user</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kubectl apply -f 07-namespace-user.yaml</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kubectl auth can-i list pods -n lab --as=lab-user      # yes</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kubectl auth can-i list pods -n mysql --as=lab-user    # no</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kubectl auth can-i get secrets -n lab --as=lab-user    # no</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 </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kubectl config set-credentials lab-user --client-certificate=lab-user.crt `</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    --client-key=lab-user.key --embed-certs=true</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kubectl config set-context lab --cluster=k3d-home --user=lab-user --namespace=lab</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 </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kubectl config use-context lab</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kubectl get pods                         # fungerar - namespace lab</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kubectl get pods -n kube-system          # Forbidden</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kubectl get secrets                      # Forbidden</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kubectl auth can-i --list</a:t>
            </a:r>
            <a:endParaRPr lang="en-US" sz="1050" dirty="0"/>
          </a:p>
          <a:p>
            <a:pPr indent="0" marL="0">
              <a:lnSpc>
                <a:spcPct val="110000"/>
              </a:lnSpc>
              <a:buNone/>
            </a:pPr>
            <a:r>
              <a:rPr lang="en-US" sz="1050" dirty="0">
                <a:solidFill>
                  <a:srgbClr val="DDE3EA"/>
                </a:solidFill>
                <a:latin typeface="Courier New" pitchFamily="34" charset="0"/>
                <a:ea typeface="Courier New" pitchFamily="34" charset="-122"/>
                <a:cs typeface="Courier New" pitchFamily="34" charset="-120"/>
              </a:rPr>
              <a:t>kubectl config use-context k3d-home      # tillbaka som admin!</a:t>
            </a:r>
            <a:endParaRPr lang="en-US" sz="1050" dirty="0"/>
          </a:p>
        </p:txBody>
      </p:sp>
      <p:sp>
        <p:nvSpPr>
          <p:cNvPr id="10" name="Shape 8"/>
          <p:cNvSpPr/>
          <p:nvPr/>
        </p:nvSpPr>
        <p:spPr>
          <a:xfrm>
            <a:off x="8412480" y="1554480"/>
            <a:ext cx="3230575" cy="1356360"/>
          </a:xfrm>
          <a:prstGeom prst="roundRect">
            <a:avLst>
              <a:gd name="adj" fmla="val 4045"/>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1" name="Text 9"/>
          <p:cNvSpPr txBox="1"/>
          <p:nvPr/>
        </p:nvSpPr>
        <p:spPr>
          <a:xfrm>
            <a:off x="8613648" y="1755648"/>
            <a:ext cx="2828239"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auth can-i --as</a:t>
            </a:r>
            <a:endParaRPr lang="en-US" sz="1400" dirty="0"/>
          </a:p>
        </p:txBody>
      </p:sp>
      <p:sp>
        <p:nvSpPr>
          <p:cNvPr id="12" name="Text 10"/>
          <p:cNvSpPr txBox="1"/>
          <p:nvPr/>
        </p:nvSpPr>
        <p:spPr>
          <a:xfrm>
            <a:off x="8613648" y="213969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Testa behörigheter utan att byta användare.</a:t>
            </a:r>
            <a:endParaRPr lang="en-US" sz="1200" dirty="0"/>
          </a:p>
        </p:txBody>
      </p:sp>
      <p:sp>
        <p:nvSpPr>
          <p:cNvPr id="13" name="Shape 11"/>
          <p:cNvSpPr/>
          <p:nvPr/>
        </p:nvSpPr>
        <p:spPr>
          <a:xfrm>
            <a:off x="8412480" y="3048000"/>
            <a:ext cx="3230575" cy="1356360"/>
          </a:xfrm>
          <a:prstGeom prst="roundRect">
            <a:avLst>
              <a:gd name="adj" fmla="val 4045"/>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4" name="Text 12"/>
          <p:cNvSpPr txBox="1"/>
          <p:nvPr/>
        </p:nvSpPr>
        <p:spPr>
          <a:xfrm>
            <a:off x="8613648" y="3249168"/>
            <a:ext cx="2828239"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--embed-certs</a:t>
            </a:r>
            <a:endParaRPr lang="en-US" sz="1400" dirty="0"/>
          </a:p>
        </p:txBody>
      </p:sp>
      <p:sp>
        <p:nvSpPr>
          <p:cNvPr id="15" name="Text 13"/>
          <p:cNvSpPr txBox="1"/>
          <p:nvPr/>
        </p:nvSpPr>
        <p:spPr>
          <a:xfrm>
            <a:off x="8613648" y="363321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Cert och nyckel kopieras in i kubeconfig.</a:t>
            </a:r>
            <a:endParaRPr lang="en-US" sz="1200" dirty="0"/>
          </a:p>
        </p:txBody>
      </p:sp>
      <p:sp>
        <p:nvSpPr>
          <p:cNvPr id="16" name="Shape 14"/>
          <p:cNvSpPr/>
          <p:nvPr/>
        </p:nvSpPr>
        <p:spPr>
          <a:xfrm>
            <a:off x="8412480" y="4541520"/>
            <a:ext cx="3230575" cy="1356360"/>
          </a:xfrm>
          <a:prstGeom prst="roundRect">
            <a:avLst>
              <a:gd name="adj" fmla="val 4045"/>
            </a:avLst>
          </a:prstGeom>
          <a:solidFill>
            <a:srgbClr val="3762FF"/>
          </a:solidFill>
          <a:ln w="12700">
            <a:solidFill>
              <a:srgbClr val="3762FF"/>
            </a:solidFill>
            <a:prstDash val="solid"/>
          </a:ln>
        </p:spPr>
      </p:sp>
      <p:sp>
        <p:nvSpPr>
          <p:cNvPr id="17" name="Text 15"/>
          <p:cNvSpPr txBox="1"/>
          <p:nvPr/>
        </p:nvSpPr>
        <p:spPr>
          <a:xfrm>
            <a:off x="8613648" y="4742688"/>
            <a:ext cx="2828239"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Forbidden</a:t>
            </a:r>
            <a:endParaRPr lang="en-US" sz="1400" dirty="0"/>
          </a:p>
        </p:txBody>
      </p:sp>
      <p:sp>
        <p:nvSpPr>
          <p:cNvPr id="18" name="Text 16"/>
          <p:cNvSpPr txBox="1"/>
          <p:nvPr/>
        </p:nvSpPr>
        <p:spPr>
          <a:xfrm>
            <a:off x="8613648" y="5126736"/>
            <a:ext cx="2828239" cy="615696"/>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Inloggad - men RBAC nekar. Det är låsningen.</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STÄDA</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Allt bort på en gång</a:t>
            </a:r>
            <a:endParaRPr lang="en-US" sz="3000" dirty="0"/>
          </a:p>
        </p:txBody>
      </p:sp>
      <p:sp>
        <p:nvSpPr>
          <p:cNvPr id="4" name="Shape 2"/>
          <p:cNvSpPr/>
          <p:nvPr/>
        </p:nvSpPr>
        <p:spPr>
          <a:xfrm>
            <a:off x="548640" y="1554480"/>
            <a:ext cx="7223760" cy="3291840"/>
          </a:xfrm>
          <a:prstGeom prst="roundRect">
            <a:avLst>
              <a:gd name="adj" fmla="val 1667"/>
            </a:avLst>
          </a:prstGeom>
          <a:solidFill>
            <a:srgbClr val="0F1F33"/>
          </a:solidFill>
          <a:ln w="12700">
            <a:solidFill>
              <a:srgbClr val="0F1F33"/>
            </a:solidFill>
            <a:prstDash val="solid"/>
          </a:ln>
          <a:effectLst>
            <a:outerShdw sx="100000" sy="100000" kx="0" ky="0" algn="bl" rotWithShape="0" blurRad="101600" dist="25400" dir="5400000">
              <a:srgbClr val="000000">
                <a:alpha val="10000"/>
              </a:srgbClr>
            </a:outerShdw>
          </a:effectLst>
        </p:spPr>
      </p:sp>
      <p:sp>
        <p:nvSpPr>
          <p:cNvPr id="5" name="Shape 3"/>
          <p:cNvSpPr/>
          <p:nvPr/>
        </p:nvSpPr>
        <p:spPr>
          <a:xfrm>
            <a:off x="749808" y="1719072"/>
            <a:ext cx="109728" cy="109728"/>
          </a:xfrm>
          <a:prstGeom prst="ellipse">
            <a:avLst/>
          </a:prstGeom>
          <a:solidFill>
            <a:srgbClr val="D64545"/>
          </a:solidFill>
          <a:ln w="12700">
            <a:solidFill>
              <a:srgbClr val="D64545"/>
            </a:solidFill>
            <a:prstDash val="solid"/>
          </a:ln>
        </p:spPr>
      </p:sp>
      <p:sp>
        <p:nvSpPr>
          <p:cNvPr id="6" name="Shape 4"/>
          <p:cNvSpPr/>
          <p:nvPr/>
        </p:nvSpPr>
        <p:spPr>
          <a:xfrm>
            <a:off x="932688" y="1719072"/>
            <a:ext cx="109728" cy="109728"/>
          </a:xfrm>
          <a:prstGeom prst="ellipse">
            <a:avLst/>
          </a:prstGeom>
          <a:solidFill>
            <a:srgbClr val="FFB020"/>
          </a:solidFill>
          <a:ln w="12700">
            <a:solidFill>
              <a:srgbClr val="FFB020"/>
            </a:solidFill>
            <a:prstDash val="solid"/>
          </a:ln>
        </p:spPr>
      </p:sp>
      <p:sp>
        <p:nvSpPr>
          <p:cNvPr id="7" name="Shape 5"/>
          <p:cNvSpPr/>
          <p:nvPr/>
        </p:nvSpPr>
        <p:spPr>
          <a:xfrm>
            <a:off x="1115568" y="1719072"/>
            <a:ext cx="109728" cy="109728"/>
          </a:xfrm>
          <a:prstGeom prst="ellipse">
            <a:avLst/>
          </a:prstGeom>
          <a:solidFill>
            <a:srgbClr val="3CB371"/>
          </a:solidFill>
          <a:ln w="12700">
            <a:solidFill>
              <a:srgbClr val="3CB371"/>
            </a:solidFill>
            <a:prstDash val="solid"/>
          </a:ln>
        </p:spPr>
      </p:sp>
      <p:sp>
        <p:nvSpPr>
          <p:cNvPr id="8" name="Text 6"/>
          <p:cNvSpPr txBox="1"/>
          <p:nvPr/>
        </p:nvSpPr>
        <p:spPr>
          <a:xfrm>
            <a:off x="1371600" y="1645920"/>
            <a:ext cx="6217920" cy="256032"/>
          </a:xfrm>
          <a:prstGeom prst="rect">
            <a:avLst/>
          </a:prstGeom>
          <a:noFill/>
          <a:ln/>
        </p:spPr>
        <p:txBody>
          <a:bodyPr wrap="square" lIns="0" tIns="0" rIns="0" bIns="0" rtlCol="0" anchor="ctr"/>
          <a:lstStyle/>
          <a:p>
            <a:pPr indent="0" marL="0">
              <a:buNone/>
            </a:pPr>
            <a:r>
              <a:rPr lang="en-US" sz="1100" dirty="0">
                <a:solidFill>
                  <a:srgbClr val="B9C4D1"/>
                </a:solidFill>
                <a:latin typeface="Courier New" pitchFamily="34" charset="0"/>
                <a:ea typeface="Courier New" pitchFamily="34" charset="-122"/>
                <a:cs typeface="Courier New" pitchFamily="34" charset="-120"/>
              </a:rPr>
              <a:t>powershell</a:t>
            </a:r>
            <a:endParaRPr lang="en-US" sz="1100" dirty="0"/>
          </a:p>
        </p:txBody>
      </p:sp>
      <p:sp>
        <p:nvSpPr>
          <p:cNvPr id="9" name="Text 7"/>
          <p:cNvSpPr txBox="1"/>
          <p:nvPr/>
        </p:nvSpPr>
        <p:spPr>
          <a:xfrm>
            <a:off x="777240" y="2011680"/>
            <a:ext cx="6766560" cy="2697480"/>
          </a:xfrm>
          <a:prstGeom prst="rect">
            <a:avLst/>
          </a:prstGeom>
          <a:noFill/>
          <a:ln/>
        </p:spPr>
        <p:txBody>
          <a:bodyPr wrap="square" lIns="0" tIns="0" rIns="0" bIns="0" rtlCol="0" anchor="t"/>
          <a:lstStyle/>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config use-context k3d-home</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delete namespace lab</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delete csr lab-user</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config delete-context lab</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kubectl config delete-user lab-user</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 </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Remove-Item lab-user.key, lab-user.csr, lab-user.crt -ErrorAction SilentlyContinue</a:t>
            </a:r>
            <a:endParaRPr lang="en-US" sz="1150" dirty="0"/>
          </a:p>
          <a:p>
            <a:pPr indent="0" marL="0">
              <a:lnSpc>
                <a:spcPct val="110000"/>
              </a:lnSpc>
              <a:buNone/>
            </a:pPr>
            <a:r>
              <a:rPr lang="en-US" sz="1150" dirty="0">
                <a:solidFill>
                  <a:srgbClr val="DDE3EA"/>
                </a:solidFill>
                <a:latin typeface="Courier New" pitchFamily="34" charset="0"/>
                <a:ea typeface="Courier New" pitchFamily="34" charset="-122"/>
                <a:cs typeface="Courier New" pitchFamily="34" charset="-120"/>
              </a:rPr>
              <a:t>Remove-Item sealed-secrets-key.yaml, stolen.yaml -ErrorAction SilentlyContinue</a:t>
            </a:r>
            <a:endParaRPr lang="en-US" sz="1150" dirty="0"/>
          </a:p>
        </p:txBody>
      </p:sp>
      <p:sp>
        <p:nvSpPr>
          <p:cNvPr id="10" name="Shape 8"/>
          <p:cNvSpPr/>
          <p:nvPr/>
        </p:nvSpPr>
        <p:spPr>
          <a:xfrm>
            <a:off x="8138160" y="1554480"/>
            <a:ext cx="3504895" cy="1577340"/>
          </a:xfrm>
          <a:prstGeom prst="roundRect">
            <a:avLst>
              <a:gd name="adj" fmla="val 3478"/>
            </a:avLst>
          </a:prstGeom>
          <a:solidFill>
            <a:srgbClr val="3762FF"/>
          </a:solidFill>
          <a:ln w="12700">
            <a:solidFill>
              <a:srgbClr val="3762FF"/>
            </a:solidFill>
            <a:prstDash val="solid"/>
          </a:ln>
        </p:spPr>
      </p:sp>
      <p:sp>
        <p:nvSpPr>
          <p:cNvPr id="11" name="Text 9"/>
          <p:cNvSpPr txBox="1"/>
          <p:nvPr/>
        </p:nvSpPr>
        <p:spPr>
          <a:xfrm>
            <a:off x="8339328" y="1755648"/>
            <a:ext cx="3102559"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delete namespace</a:t>
            </a:r>
            <a:endParaRPr lang="en-US" sz="1400" dirty="0"/>
          </a:p>
        </p:txBody>
      </p:sp>
      <p:sp>
        <p:nvSpPr>
          <p:cNvPr id="12" name="Text 10"/>
          <p:cNvSpPr txBox="1"/>
          <p:nvPr/>
        </p:nvSpPr>
        <p:spPr>
          <a:xfrm>
            <a:off x="8339328" y="2139696"/>
            <a:ext cx="3102559" cy="836676"/>
          </a:xfrm>
          <a:prstGeom prst="rect">
            <a:avLst/>
          </a:prstGeom>
          <a:noFill/>
          <a:ln/>
        </p:spPr>
        <p:txBody>
          <a:bodyPr wrap="square" lIns="0" tIns="0" rIns="0" bIns="0" rtlCol="0" anchor="t"/>
          <a:lstStyle/>
          <a:p>
            <a:pPr indent="0" marL="0">
              <a:lnSpc>
                <a:spcPct val="115000"/>
              </a:lnSpc>
              <a:buNone/>
            </a:pPr>
            <a:r>
              <a:rPr lang="en-US" sz="1200" dirty="0">
                <a:solidFill>
                  <a:srgbClr val="FFFFFF"/>
                </a:solidFill>
                <a:latin typeface="Arial" pitchFamily="34" charset="0"/>
                <a:ea typeface="Arial" pitchFamily="34" charset="-122"/>
                <a:cs typeface="Arial" pitchFamily="34" charset="-120"/>
              </a:rPr>
              <a:t>Tar bort ALLT i namespacet: poddar, ConfigMaps, Secrets, HPA, RBAC.</a:t>
            </a:r>
            <a:endParaRPr lang="en-US" sz="1200" dirty="0"/>
          </a:p>
        </p:txBody>
      </p:sp>
      <p:sp>
        <p:nvSpPr>
          <p:cNvPr id="13" name="Shape 11"/>
          <p:cNvSpPr/>
          <p:nvPr/>
        </p:nvSpPr>
        <p:spPr>
          <a:xfrm>
            <a:off x="8138160" y="3268980"/>
            <a:ext cx="3504895" cy="1577340"/>
          </a:xfrm>
          <a:prstGeom prst="roundRect">
            <a:avLst>
              <a:gd name="adj" fmla="val 3478"/>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4" name="Text 12"/>
          <p:cNvSpPr txBox="1"/>
          <p:nvPr/>
        </p:nvSpPr>
        <p:spPr>
          <a:xfrm>
            <a:off x="8339328" y="3470148"/>
            <a:ext cx="3102559"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kubeconfig och filer</a:t>
            </a:r>
            <a:endParaRPr lang="en-US" sz="1400" dirty="0"/>
          </a:p>
        </p:txBody>
      </p:sp>
      <p:sp>
        <p:nvSpPr>
          <p:cNvPr id="15" name="Text 13"/>
          <p:cNvSpPr txBox="1"/>
          <p:nvPr/>
        </p:nvSpPr>
        <p:spPr>
          <a:xfrm>
            <a:off x="8339328" y="3854196"/>
            <a:ext cx="3102559" cy="836676"/>
          </a:xfrm>
          <a:prstGeom prst="rect">
            <a:avLst/>
          </a:prstGeom>
          <a:noFill/>
          <a:ln/>
        </p:spPr>
        <p:txBody>
          <a:bodyPr wrap="square" lIns="0" tIns="0" rIns="0" bIns="0" rtlCol="0" anchor="t"/>
          <a:lstStyle/>
          <a:p>
            <a:pPr indent="0" marL="0">
              <a:lnSpc>
                <a:spcPct val="115000"/>
              </a:lnSpc>
              <a:buNone/>
            </a:pPr>
            <a:r>
              <a:rPr lang="en-US" sz="1200" dirty="0">
                <a:solidFill>
                  <a:srgbClr val="4A5568"/>
                </a:solidFill>
                <a:latin typeface="Arial" pitchFamily="34" charset="0"/>
                <a:ea typeface="Arial" pitchFamily="34" charset="-122"/>
                <a:cs typeface="Arial" pitchFamily="34" charset="-120"/>
              </a:rPr>
              <a:t>Context, användare och nyckelfiler tas bort separat.</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7F7F4"/>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3762FF"/>
                </a:solidFill>
                <a:latin typeface="Arial" pitchFamily="34" charset="0"/>
                <a:ea typeface="Arial" pitchFamily="34" charset="-122"/>
                <a:cs typeface="Arial" pitchFamily="34" charset="-120"/>
              </a:rPr>
              <a:t>SAMMANFATTNING</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16202B"/>
                </a:solidFill>
                <a:latin typeface="Calibri" pitchFamily="34" charset="0"/>
                <a:ea typeface="Calibri" pitchFamily="34" charset="-122"/>
                <a:cs typeface="Calibri" pitchFamily="34" charset="-120"/>
              </a:rPr>
              <a:t>Tio begrepp att ta med sig hem</a:t>
            </a:r>
            <a:endParaRPr lang="en-US" sz="3000" dirty="0"/>
          </a:p>
        </p:txBody>
      </p:sp>
      <p:sp>
        <p:nvSpPr>
          <p:cNvPr id="4" name="Shape 2"/>
          <p:cNvSpPr/>
          <p:nvPr/>
        </p:nvSpPr>
        <p:spPr>
          <a:xfrm>
            <a:off x="548640" y="1600200"/>
            <a:ext cx="2072579" cy="1874520"/>
          </a:xfrm>
          <a:prstGeom prst="roundRect">
            <a:avLst>
              <a:gd name="adj" fmla="val 2927"/>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5" name="Text 3"/>
          <p:cNvSpPr txBox="1"/>
          <p:nvPr/>
        </p:nvSpPr>
        <p:spPr>
          <a:xfrm>
            <a:off x="749808" y="1801368"/>
            <a:ext cx="1670243" cy="320040"/>
          </a:xfrm>
          <a:prstGeom prst="rect">
            <a:avLst/>
          </a:prstGeom>
          <a:noFill/>
          <a:ln/>
        </p:spPr>
        <p:txBody>
          <a:bodyPr wrap="square" lIns="0" tIns="0" rIns="0" bIns="0" rtlCol="0" anchor="t"/>
          <a:lstStyle/>
          <a:p>
            <a:pPr indent="0" marL="0">
              <a:buNone/>
            </a:pPr>
            <a:r>
              <a:rPr lang="en-US" sz="1600" b="1" dirty="0">
                <a:solidFill>
                  <a:srgbClr val="16202B"/>
                </a:solidFill>
                <a:latin typeface="Calibri" pitchFamily="34" charset="0"/>
                <a:ea typeface="Calibri" pitchFamily="34" charset="-122"/>
                <a:cs typeface="Calibri" pitchFamily="34" charset="-120"/>
              </a:rPr>
              <a:t>ConfigMap</a:t>
            </a:r>
            <a:endParaRPr lang="en-US" sz="1600" dirty="0"/>
          </a:p>
        </p:txBody>
      </p:sp>
      <p:sp>
        <p:nvSpPr>
          <p:cNvPr id="6" name="Text 4"/>
          <p:cNvSpPr txBox="1"/>
          <p:nvPr/>
        </p:nvSpPr>
        <p:spPr>
          <a:xfrm>
            <a:off x="749808" y="2185416"/>
            <a:ext cx="1670243" cy="113385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Konfiguration utanför imagen</a:t>
            </a:r>
            <a:endParaRPr lang="en-US" sz="1300" dirty="0"/>
          </a:p>
        </p:txBody>
      </p:sp>
      <p:sp>
        <p:nvSpPr>
          <p:cNvPr id="7" name="Shape 5"/>
          <p:cNvSpPr/>
          <p:nvPr/>
        </p:nvSpPr>
        <p:spPr>
          <a:xfrm>
            <a:off x="2804099" y="1600200"/>
            <a:ext cx="2072579" cy="1874520"/>
          </a:xfrm>
          <a:prstGeom prst="roundRect">
            <a:avLst>
              <a:gd name="adj" fmla="val 2927"/>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8" name="Text 6"/>
          <p:cNvSpPr txBox="1"/>
          <p:nvPr/>
        </p:nvSpPr>
        <p:spPr>
          <a:xfrm>
            <a:off x="3005267" y="1801368"/>
            <a:ext cx="1670243" cy="320040"/>
          </a:xfrm>
          <a:prstGeom prst="rect">
            <a:avLst/>
          </a:prstGeom>
          <a:noFill/>
          <a:ln/>
        </p:spPr>
        <p:txBody>
          <a:bodyPr wrap="square" lIns="0" tIns="0" rIns="0" bIns="0" rtlCol="0" anchor="t"/>
          <a:lstStyle/>
          <a:p>
            <a:pPr indent="0" marL="0">
              <a:buNone/>
            </a:pPr>
            <a:r>
              <a:rPr lang="en-US" sz="1600" b="1" dirty="0">
                <a:solidFill>
                  <a:srgbClr val="16202B"/>
                </a:solidFill>
                <a:latin typeface="Calibri" pitchFamily="34" charset="0"/>
                <a:ea typeface="Calibri" pitchFamily="34" charset="-122"/>
                <a:cs typeface="Calibri" pitchFamily="34" charset="-120"/>
              </a:rPr>
              <a:t>Secret</a:t>
            </a:r>
            <a:endParaRPr lang="en-US" sz="1600" dirty="0"/>
          </a:p>
        </p:txBody>
      </p:sp>
      <p:sp>
        <p:nvSpPr>
          <p:cNvPr id="9" name="Text 7"/>
          <p:cNvSpPr txBox="1"/>
          <p:nvPr/>
        </p:nvSpPr>
        <p:spPr>
          <a:xfrm>
            <a:off x="3005267" y="2185416"/>
            <a:ext cx="1670243" cy="113385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Base64 - inte kryptering</a:t>
            </a:r>
            <a:endParaRPr lang="en-US" sz="1300" dirty="0"/>
          </a:p>
        </p:txBody>
      </p:sp>
      <p:sp>
        <p:nvSpPr>
          <p:cNvPr id="10" name="Shape 8"/>
          <p:cNvSpPr/>
          <p:nvPr/>
        </p:nvSpPr>
        <p:spPr>
          <a:xfrm>
            <a:off x="5059558" y="1600200"/>
            <a:ext cx="2072579" cy="1874520"/>
          </a:xfrm>
          <a:prstGeom prst="roundRect">
            <a:avLst>
              <a:gd name="adj" fmla="val 2927"/>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1" name="Text 9"/>
          <p:cNvSpPr txBox="1"/>
          <p:nvPr/>
        </p:nvSpPr>
        <p:spPr>
          <a:xfrm>
            <a:off x="5260726" y="1801368"/>
            <a:ext cx="1670243" cy="320040"/>
          </a:xfrm>
          <a:prstGeom prst="rect">
            <a:avLst/>
          </a:prstGeom>
          <a:noFill/>
          <a:ln/>
        </p:spPr>
        <p:txBody>
          <a:bodyPr wrap="square" lIns="0" tIns="0" rIns="0" bIns="0" rtlCol="0" anchor="t"/>
          <a:lstStyle/>
          <a:p>
            <a:pPr indent="0" marL="0">
              <a:buNone/>
            </a:pPr>
            <a:r>
              <a:rPr lang="en-US" sz="1600" b="1" dirty="0">
                <a:solidFill>
                  <a:srgbClr val="16202B"/>
                </a:solidFill>
                <a:latin typeface="Calibri" pitchFamily="34" charset="0"/>
                <a:ea typeface="Calibri" pitchFamily="34" charset="-122"/>
                <a:cs typeface="Calibri" pitchFamily="34" charset="-120"/>
              </a:rPr>
              <a:t>SealedSecret</a:t>
            </a:r>
            <a:endParaRPr lang="en-US" sz="1600" dirty="0"/>
          </a:p>
        </p:txBody>
      </p:sp>
      <p:sp>
        <p:nvSpPr>
          <p:cNvPr id="12" name="Text 10"/>
          <p:cNvSpPr txBox="1"/>
          <p:nvPr/>
        </p:nvSpPr>
        <p:spPr>
          <a:xfrm>
            <a:off x="5260726" y="2185416"/>
            <a:ext cx="1670243" cy="113385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Krypterad, säker i Git</a:t>
            </a:r>
            <a:endParaRPr lang="en-US" sz="1300" dirty="0"/>
          </a:p>
        </p:txBody>
      </p:sp>
      <p:sp>
        <p:nvSpPr>
          <p:cNvPr id="13" name="Shape 11"/>
          <p:cNvSpPr/>
          <p:nvPr/>
        </p:nvSpPr>
        <p:spPr>
          <a:xfrm>
            <a:off x="7315017" y="1600200"/>
            <a:ext cx="2072579" cy="1874520"/>
          </a:xfrm>
          <a:prstGeom prst="roundRect">
            <a:avLst>
              <a:gd name="adj" fmla="val 2927"/>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4" name="Text 12"/>
          <p:cNvSpPr txBox="1"/>
          <p:nvPr/>
        </p:nvSpPr>
        <p:spPr>
          <a:xfrm>
            <a:off x="7516185" y="1801368"/>
            <a:ext cx="1670243" cy="320040"/>
          </a:xfrm>
          <a:prstGeom prst="rect">
            <a:avLst/>
          </a:prstGeom>
          <a:noFill/>
          <a:ln/>
        </p:spPr>
        <p:txBody>
          <a:bodyPr wrap="square" lIns="0" tIns="0" rIns="0" bIns="0" rtlCol="0" anchor="t"/>
          <a:lstStyle/>
          <a:p>
            <a:pPr indent="0" marL="0">
              <a:buNone/>
            </a:pPr>
            <a:r>
              <a:rPr lang="en-US" sz="1600" b="1" dirty="0">
                <a:solidFill>
                  <a:srgbClr val="16202B"/>
                </a:solidFill>
                <a:latin typeface="Calibri" pitchFamily="34" charset="0"/>
                <a:ea typeface="Calibri" pitchFamily="34" charset="-122"/>
                <a:cs typeface="Calibri" pitchFamily="34" charset="-120"/>
              </a:rPr>
              <a:t>kubeseal</a:t>
            </a:r>
            <a:endParaRPr lang="en-US" sz="1600" dirty="0"/>
          </a:p>
        </p:txBody>
      </p:sp>
      <p:sp>
        <p:nvSpPr>
          <p:cNvPr id="15" name="Text 13"/>
          <p:cNvSpPr txBox="1"/>
          <p:nvPr/>
        </p:nvSpPr>
        <p:spPr>
          <a:xfrm>
            <a:off x="7516185" y="2185416"/>
            <a:ext cx="1670243" cy="113385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Krypterar med publikt cert</a:t>
            </a:r>
            <a:endParaRPr lang="en-US" sz="1300" dirty="0"/>
          </a:p>
        </p:txBody>
      </p:sp>
      <p:sp>
        <p:nvSpPr>
          <p:cNvPr id="16" name="Shape 14"/>
          <p:cNvSpPr/>
          <p:nvPr/>
        </p:nvSpPr>
        <p:spPr>
          <a:xfrm>
            <a:off x="9570476" y="1600200"/>
            <a:ext cx="2072579" cy="1874520"/>
          </a:xfrm>
          <a:prstGeom prst="roundRect">
            <a:avLst>
              <a:gd name="adj" fmla="val 2927"/>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17" name="Text 15"/>
          <p:cNvSpPr txBox="1"/>
          <p:nvPr/>
        </p:nvSpPr>
        <p:spPr>
          <a:xfrm>
            <a:off x="9771644" y="1801368"/>
            <a:ext cx="1670243" cy="320040"/>
          </a:xfrm>
          <a:prstGeom prst="rect">
            <a:avLst/>
          </a:prstGeom>
          <a:noFill/>
          <a:ln/>
        </p:spPr>
        <p:txBody>
          <a:bodyPr wrap="square" lIns="0" tIns="0" rIns="0" bIns="0" rtlCol="0" anchor="t"/>
          <a:lstStyle/>
          <a:p>
            <a:pPr indent="0" marL="0">
              <a:buNone/>
            </a:pPr>
            <a:r>
              <a:rPr lang="en-US" sz="1600" b="1" dirty="0">
                <a:solidFill>
                  <a:srgbClr val="16202B"/>
                </a:solidFill>
                <a:latin typeface="Calibri" pitchFamily="34" charset="0"/>
                <a:ea typeface="Calibri" pitchFamily="34" charset="-122"/>
                <a:cs typeface="Calibri" pitchFamily="34" charset="-120"/>
              </a:rPr>
              <a:t>Privat nyckel</a:t>
            </a:r>
            <a:endParaRPr lang="en-US" sz="1600" dirty="0"/>
          </a:p>
        </p:txBody>
      </p:sp>
      <p:sp>
        <p:nvSpPr>
          <p:cNvPr id="18" name="Text 16"/>
          <p:cNvSpPr txBox="1"/>
          <p:nvPr/>
        </p:nvSpPr>
        <p:spPr>
          <a:xfrm>
            <a:off x="9771644" y="2185416"/>
            <a:ext cx="1670243" cy="113385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Dekrypterar allt</a:t>
            </a:r>
            <a:endParaRPr lang="en-US" sz="1300" dirty="0"/>
          </a:p>
        </p:txBody>
      </p:sp>
      <p:sp>
        <p:nvSpPr>
          <p:cNvPr id="19" name="Shape 17"/>
          <p:cNvSpPr/>
          <p:nvPr/>
        </p:nvSpPr>
        <p:spPr>
          <a:xfrm>
            <a:off x="548640" y="3703320"/>
            <a:ext cx="2072579" cy="1874520"/>
          </a:xfrm>
          <a:prstGeom prst="roundRect">
            <a:avLst>
              <a:gd name="adj" fmla="val 2927"/>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20" name="Text 18"/>
          <p:cNvSpPr txBox="1"/>
          <p:nvPr/>
        </p:nvSpPr>
        <p:spPr>
          <a:xfrm>
            <a:off x="749808" y="3904488"/>
            <a:ext cx="1670243" cy="320040"/>
          </a:xfrm>
          <a:prstGeom prst="rect">
            <a:avLst/>
          </a:prstGeom>
          <a:noFill/>
          <a:ln/>
        </p:spPr>
        <p:txBody>
          <a:bodyPr wrap="square" lIns="0" tIns="0" rIns="0" bIns="0" rtlCol="0" anchor="t"/>
          <a:lstStyle/>
          <a:p>
            <a:pPr indent="0" marL="0">
              <a:buNone/>
            </a:pPr>
            <a:r>
              <a:rPr lang="en-US" sz="1600" b="1" dirty="0">
                <a:solidFill>
                  <a:srgbClr val="16202B"/>
                </a:solidFill>
                <a:latin typeface="Calibri" pitchFamily="34" charset="0"/>
                <a:ea typeface="Calibri" pitchFamily="34" charset="-122"/>
                <a:cs typeface="Calibri" pitchFamily="34" charset="-120"/>
              </a:rPr>
              <a:t>Scope</a:t>
            </a:r>
            <a:endParaRPr lang="en-US" sz="1600" dirty="0"/>
          </a:p>
        </p:txBody>
      </p:sp>
      <p:sp>
        <p:nvSpPr>
          <p:cNvPr id="21" name="Text 19"/>
          <p:cNvSpPr txBox="1"/>
          <p:nvPr/>
        </p:nvSpPr>
        <p:spPr>
          <a:xfrm>
            <a:off x="749808" y="4288536"/>
            <a:ext cx="1670243" cy="113385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Bunden till namn + namespace</a:t>
            </a:r>
            <a:endParaRPr lang="en-US" sz="1300" dirty="0"/>
          </a:p>
        </p:txBody>
      </p:sp>
      <p:sp>
        <p:nvSpPr>
          <p:cNvPr id="22" name="Shape 20"/>
          <p:cNvSpPr/>
          <p:nvPr/>
        </p:nvSpPr>
        <p:spPr>
          <a:xfrm>
            <a:off x="2804099" y="3703320"/>
            <a:ext cx="2072579" cy="1874520"/>
          </a:xfrm>
          <a:prstGeom prst="roundRect">
            <a:avLst>
              <a:gd name="adj" fmla="val 2927"/>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23" name="Text 21"/>
          <p:cNvSpPr txBox="1"/>
          <p:nvPr/>
        </p:nvSpPr>
        <p:spPr>
          <a:xfrm>
            <a:off x="3005267" y="3904488"/>
            <a:ext cx="1670243" cy="320040"/>
          </a:xfrm>
          <a:prstGeom prst="rect">
            <a:avLst/>
          </a:prstGeom>
          <a:noFill/>
          <a:ln/>
        </p:spPr>
        <p:txBody>
          <a:bodyPr wrap="square" lIns="0" tIns="0" rIns="0" bIns="0" rtlCol="0" anchor="t"/>
          <a:lstStyle/>
          <a:p>
            <a:pPr indent="0" marL="0">
              <a:buNone/>
            </a:pPr>
            <a:r>
              <a:rPr lang="en-US" sz="1600" b="1" dirty="0">
                <a:solidFill>
                  <a:srgbClr val="16202B"/>
                </a:solidFill>
                <a:latin typeface="Calibri" pitchFamily="34" charset="0"/>
                <a:ea typeface="Calibri" pitchFamily="34" charset="-122"/>
                <a:cs typeface="Calibri" pitchFamily="34" charset="-120"/>
              </a:rPr>
              <a:t>Larm</a:t>
            </a:r>
            <a:endParaRPr lang="en-US" sz="1600" dirty="0"/>
          </a:p>
        </p:txBody>
      </p:sp>
      <p:sp>
        <p:nvSpPr>
          <p:cNvPr id="24" name="Text 22"/>
          <p:cNvSpPr txBox="1"/>
          <p:nvPr/>
        </p:nvSpPr>
        <p:spPr>
          <a:xfrm>
            <a:off x="3005267" y="4288536"/>
            <a:ext cx="1670243" cy="113385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Villkor + pending period</a:t>
            </a:r>
            <a:endParaRPr lang="en-US" sz="1300" dirty="0"/>
          </a:p>
        </p:txBody>
      </p:sp>
      <p:sp>
        <p:nvSpPr>
          <p:cNvPr id="25" name="Shape 23"/>
          <p:cNvSpPr/>
          <p:nvPr/>
        </p:nvSpPr>
        <p:spPr>
          <a:xfrm>
            <a:off x="5059558" y="3703320"/>
            <a:ext cx="2072579" cy="1874520"/>
          </a:xfrm>
          <a:prstGeom prst="roundRect">
            <a:avLst>
              <a:gd name="adj" fmla="val 2927"/>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26" name="Text 24"/>
          <p:cNvSpPr txBox="1"/>
          <p:nvPr/>
        </p:nvSpPr>
        <p:spPr>
          <a:xfrm>
            <a:off x="5260726" y="3904488"/>
            <a:ext cx="1670243" cy="320040"/>
          </a:xfrm>
          <a:prstGeom prst="rect">
            <a:avLst/>
          </a:prstGeom>
          <a:noFill/>
          <a:ln/>
        </p:spPr>
        <p:txBody>
          <a:bodyPr wrap="square" lIns="0" tIns="0" rIns="0" bIns="0" rtlCol="0" anchor="t"/>
          <a:lstStyle/>
          <a:p>
            <a:pPr indent="0" marL="0">
              <a:buNone/>
            </a:pPr>
            <a:r>
              <a:rPr lang="en-US" sz="1400" b="1" dirty="0">
                <a:solidFill>
                  <a:srgbClr val="16202B"/>
                </a:solidFill>
                <a:latin typeface="Calibri" pitchFamily="34" charset="0"/>
                <a:ea typeface="Calibri" pitchFamily="34" charset="-122"/>
                <a:cs typeface="Calibri" pitchFamily="34" charset="-120"/>
              </a:rPr>
              <a:t>SLO &amp; felbudget</a:t>
            </a:r>
            <a:endParaRPr lang="en-US" sz="1400" dirty="0"/>
          </a:p>
        </p:txBody>
      </p:sp>
      <p:sp>
        <p:nvSpPr>
          <p:cNvPr id="27" name="Text 25"/>
          <p:cNvSpPr txBox="1"/>
          <p:nvPr/>
        </p:nvSpPr>
        <p:spPr>
          <a:xfrm>
            <a:off x="5260726" y="4288536"/>
            <a:ext cx="1670243" cy="113385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Hur bra är bra nog?</a:t>
            </a:r>
            <a:endParaRPr lang="en-US" sz="1300" dirty="0"/>
          </a:p>
        </p:txBody>
      </p:sp>
      <p:sp>
        <p:nvSpPr>
          <p:cNvPr id="28" name="Shape 26"/>
          <p:cNvSpPr/>
          <p:nvPr/>
        </p:nvSpPr>
        <p:spPr>
          <a:xfrm>
            <a:off x="7315017" y="3703320"/>
            <a:ext cx="2072579" cy="1874520"/>
          </a:xfrm>
          <a:prstGeom prst="roundRect">
            <a:avLst>
              <a:gd name="adj" fmla="val 2927"/>
            </a:avLst>
          </a:prstGeom>
          <a:solidFill>
            <a:srgbClr val="FFFFFF"/>
          </a:solidFill>
          <a:ln w="12700">
            <a:solidFill>
              <a:srgbClr val="FFFFFF"/>
            </a:solidFill>
            <a:prstDash val="solid"/>
          </a:ln>
          <a:effectLst>
            <a:outerShdw sx="100000" sy="100000" kx="0" ky="0" algn="bl" rotWithShape="0" blurRad="101600" dist="25400" dir="5400000">
              <a:srgbClr val="000000">
                <a:alpha val="10000"/>
              </a:srgbClr>
            </a:outerShdw>
          </a:effectLst>
        </p:spPr>
      </p:sp>
      <p:sp>
        <p:nvSpPr>
          <p:cNvPr id="29" name="Text 27"/>
          <p:cNvSpPr txBox="1"/>
          <p:nvPr/>
        </p:nvSpPr>
        <p:spPr>
          <a:xfrm>
            <a:off x="7516185" y="3904488"/>
            <a:ext cx="1670243" cy="320040"/>
          </a:xfrm>
          <a:prstGeom prst="rect">
            <a:avLst/>
          </a:prstGeom>
          <a:noFill/>
          <a:ln/>
        </p:spPr>
        <p:txBody>
          <a:bodyPr wrap="square" lIns="0" tIns="0" rIns="0" bIns="0" rtlCol="0" anchor="t"/>
          <a:lstStyle/>
          <a:p>
            <a:pPr indent="0" marL="0">
              <a:buNone/>
            </a:pPr>
            <a:r>
              <a:rPr lang="en-US" sz="1600" b="1" dirty="0">
                <a:solidFill>
                  <a:srgbClr val="16202B"/>
                </a:solidFill>
                <a:latin typeface="Calibri" pitchFamily="34" charset="0"/>
                <a:ea typeface="Calibri" pitchFamily="34" charset="-122"/>
                <a:cs typeface="Calibri" pitchFamily="34" charset="-120"/>
              </a:rPr>
              <a:t>Sampling</a:t>
            </a:r>
            <a:endParaRPr lang="en-US" sz="1600" dirty="0"/>
          </a:p>
        </p:txBody>
      </p:sp>
      <p:sp>
        <p:nvSpPr>
          <p:cNvPr id="30" name="Text 28"/>
          <p:cNvSpPr txBox="1"/>
          <p:nvPr/>
        </p:nvSpPr>
        <p:spPr>
          <a:xfrm>
            <a:off x="7516185" y="4288536"/>
            <a:ext cx="1670243" cy="1133856"/>
          </a:xfrm>
          <a:prstGeom prst="rect">
            <a:avLst/>
          </a:prstGeom>
          <a:noFill/>
          <a:ln/>
        </p:spPr>
        <p:txBody>
          <a:bodyPr wrap="square" lIns="0" tIns="0" rIns="0" bIns="0" rtlCol="0" anchor="t"/>
          <a:lstStyle/>
          <a:p>
            <a:pPr indent="0" marL="0">
              <a:lnSpc>
                <a:spcPct val="115000"/>
              </a:lnSpc>
              <a:buNone/>
            </a:pPr>
            <a:r>
              <a:rPr lang="en-US" sz="1300" dirty="0">
                <a:solidFill>
                  <a:srgbClr val="4A5568"/>
                </a:solidFill>
                <a:latin typeface="Arial" pitchFamily="34" charset="0"/>
                <a:ea typeface="Arial" pitchFamily="34" charset="-122"/>
                <a:cs typeface="Arial" pitchFamily="34" charset="-120"/>
              </a:rPr>
              <a:t>Färre traces, samma metrics</a:t>
            </a:r>
            <a:endParaRPr lang="en-US" sz="1300" dirty="0"/>
          </a:p>
        </p:txBody>
      </p:sp>
      <p:sp>
        <p:nvSpPr>
          <p:cNvPr id="31" name="Shape 29"/>
          <p:cNvSpPr/>
          <p:nvPr/>
        </p:nvSpPr>
        <p:spPr>
          <a:xfrm>
            <a:off x="9570476" y="3703320"/>
            <a:ext cx="2072579" cy="1874520"/>
          </a:xfrm>
          <a:prstGeom prst="roundRect">
            <a:avLst>
              <a:gd name="adj" fmla="val 2927"/>
            </a:avLst>
          </a:prstGeom>
          <a:solidFill>
            <a:srgbClr val="3762FF"/>
          </a:solidFill>
          <a:ln w="12700">
            <a:solidFill>
              <a:srgbClr val="3762FF"/>
            </a:solidFill>
            <a:prstDash val="solid"/>
          </a:ln>
        </p:spPr>
      </p:sp>
      <p:sp>
        <p:nvSpPr>
          <p:cNvPr id="32" name="Text 30"/>
          <p:cNvSpPr txBox="1"/>
          <p:nvPr/>
        </p:nvSpPr>
        <p:spPr>
          <a:xfrm>
            <a:off x="9771644" y="3904488"/>
            <a:ext cx="1670243" cy="3200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RBAC</a:t>
            </a:r>
            <a:endParaRPr lang="en-US" sz="1600" dirty="0"/>
          </a:p>
        </p:txBody>
      </p:sp>
      <p:sp>
        <p:nvSpPr>
          <p:cNvPr id="33" name="Text 31"/>
          <p:cNvSpPr txBox="1"/>
          <p:nvPr/>
        </p:nvSpPr>
        <p:spPr>
          <a:xfrm>
            <a:off x="9771644" y="4288536"/>
            <a:ext cx="1670243" cy="1133856"/>
          </a:xfrm>
          <a:prstGeom prst="rect">
            <a:avLst/>
          </a:prstGeom>
          <a:noFill/>
          <a:ln/>
        </p:spPr>
        <p:txBody>
          <a:bodyPr wrap="square" lIns="0" tIns="0" rIns="0" bIns="0" rtlCol="0" anchor="t"/>
          <a:lstStyle/>
          <a:p>
            <a:pPr indent="0" marL="0">
              <a:lnSpc>
                <a:spcPct val="115000"/>
              </a:lnSpc>
              <a:buNone/>
            </a:pPr>
            <a:r>
              <a:rPr lang="en-US" sz="1300" dirty="0">
                <a:solidFill>
                  <a:srgbClr val="FFFFFF"/>
                </a:solidFill>
                <a:latin typeface="Arial" pitchFamily="34" charset="0"/>
                <a:ea typeface="Arial" pitchFamily="34" charset="-122"/>
                <a:cs typeface="Arial" pitchFamily="34" charset="-120"/>
              </a:rPr>
              <a:t>Det som faktiskt låser</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F1F33"/>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274320"/>
          </a:xfrm>
          <a:prstGeom prst="rect">
            <a:avLst/>
          </a:prstGeom>
          <a:noFill/>
          <a:ln/>
        </p:spPr>
        <p:txBody>
          <a:bodyPr wrap="square" lIns="0" tIns="0" rIns="0" bIns="0" rtlCol="0" anchor="ctr"/>
          <a:lstStyle/>
          <a:p>
            <a:pPr indent="0" marL="0">
              <a:buNone/>
            </a:pPr>
            <a:r>
              <a:rPr lang="en-US" sz="1200" b="1" spc="200" kern="0" dirty="0">
                <a:solidFill>
                  <a:srgbClr val="7C9CFF"/>
                </a:solidFill>
                <a:latin typeface="Arial" pitchFamily="34" charset="0"/>
                <a:ea typeface="Arial" pitchFamily="34" charset="-122"/>
                <a:cs typeface="Arial" pitchFamily="34" charset="-120"/>
              </a:rPr>
              <a:t>VÄGEN FRAMÅT</a:t>
            </a:r>
            <a:endParaRPr lang="en-US" sz="1200" dirty="0"/>
          </a:p>
        </p:txBody>
      </p:sp>
      <p:sp>
        <p:nvSpPr>
          <p:cNvPr id="3" name="Text 1"/>
          <p:cNvSpPr txBox="1"/>
          <p:nvPr/>
        </p:nvSpPr>
        <p:spPr>
          <a:xfrm>
            <a:off x="548640" y="685800"/>
            <a:ext cx="11094415" cy="594360"/>
          </a:xfrm>
          <a:prstGeom prst="rect">
            <a:avLst/>
          </a:prstGeom>
          <a:noFill/>
          <a:ln/>
        </p:spPr>
        <p:txBody>
          <a:bodyPr wrap="square" lIns="0" tIns="0" rIns="0" bIns="0" rtlCol="0" anchor="t"/>
          <a:lstStyle/>
          <a:p>
            <a:pPr indent="0" marL="0">
              <a:buNone/>
            </a:pPr>
            <a:r>
              <a:rPr lang="en-US" sz="3000" b="1" dirty="0">
                <a:solidFill>
                  <a:srgbClr val="F5F7FA"/>
                </a:solidFill>
                <a:latin typeface="Calibri" pitchFamily="34" charset="0"/>
                <a:ea typeface="Calibri" pitchFamily="34" charset="-122"/>
                <a:cs typeface="Calibri" pitchFamily="34" charset="-120"/>
              </a:rPr>
              <a:t>Kväll 8 - sista kvällen</a:t>
            </a:r>
            <a:endParaRPr lang="en-US" sz="3000" dirty="0"/>
          </a:p>
        </p:txBody>
      </p:sp>
      <p:sp>
        <p:nvSpPr>
          <p:cNvPr id="4" name="Text 2"/>
          <p:cNvSpPr txBox="1"/>
          <p:nvPr/>
        </p:nvSpPr>
        <p:spPr>
          <a:xfrm>
            <a:off x="548640" y="1417320"/>
            <a:ext cx="11094415" cy="457200"/>
          </a:xfrm>
          <a:prstGeom prst="rect">
            <a:avLst/>
          </a:prstGeom>
          <a:noFill/>
          <a:ln/>
        </p:spPr>
        <p:txBody>
          <a:bodyPr wrap="square" lIns="0" tIns="0" rIns="0" bIns="0" rtlCol="0" anchor="t"/>
          <a:lstStyle/>
          <a:p>
            <a:pPr indent="0" marL="0">
              <a:lnSpc>
                <a:spcPct val="120000"/>
              </a:lnSpc>
              <a:buNone/>
            </a:pPr>
            <a:r>
              <a:rPr lang="en-US" sz="1500" dirty="0">
                <a:solidFill>
                  <a:srgbClr val="B9C4D1"/>
                </a:solidFill>
                <a:latin typeface="Arial" pitchFamily="34" charset="0"/>
                <a:ea typeface="Arial" pitchFamily="34" charset="-122"/>
                <a:cs typeface="Arial" pitchFamily="34" charset="-120"/>
              </a:rPr>
              <a:t>Allt vi byggt hänger ihop. Sista kvällen knyter vi ihop det:</a:t>
            </a:r>
            <a:endParaRPr lang="en-US" sz="1500" dirty="0"/>
          </a:p>
        </p:txBody>
      </p:sp>
      <p:sp>
        <p:nvSpPr>
          <p:cNvPr id="5" name="Shape 3"/>
          <p:cNvSpPr/>
          <p:nvPr/>
        </p:nvSpPr>
        <p:spPr>
          <a:xfrm>
            <a:off x="548640" y="2057400"/>
            <a:ext cx="2636444" cy="2011680"/>
          </a:xfrm>
          <a:prstGeom prst="roundRect">
            <a:avLst>
              <a:gd name="adj" fmla="val 2727"/>
            </a:avLst>
          </a:prstGeom>
          <a:solidFill>
            <a:srgbClr val="3762FF"/>
          </a:solidFill>
          <a:ln w="12700">
            <a:solidFill>
              <a:srgbClr val="3762FF"/>
            </a:solidFill>
            <a:prstDash val="solid"/>
          </a:ln>
        </p:spPr>
      </p:sp>
      <p:sp>
        <p:nvSpPr>
          <p:cNvPr id="6" name="Text 4"/>
          <p:cNvSpPr txBox="1"/>
          <p:nvPr/>
        </p:nvSpPr>
        <p:spPr>
          <a:xfrm>
            <a:off x="749808" y="2258568"/>
            <a:ext cx="2234108" cy="3200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Helhetsbilden</a:t>
            </a:r>
            <a:endParaRPr lang="en-US" sz="1500" dirty="0"/>
          </a:p>
        </p:txBody>
      </p:sp>
      <p:sp>
        <p:nvSpPr>
          <p:cNvPr id="7" name="Text 5"/>
          <p:cNvSpPr txBox="1"/>
          <p:nvPr/>
        </p:nvSpPr>
        <p:spPr>
          <a:xfrm>
            <a:off x="749808" y="2642616"/>
            <a:ext cx="2234108" cy="1271016"/>
          </a:xfrm>
          <a:prstGeom prst="rect">
            <a:avLst/>
          </a:prstGeom>
          <a:noFill/>
          <a:ln/>
        </p:spPr>
        <p:txBody>
          <a:bodyPr wrap="square" lIns="0" tIns="0" rIns="0" bIns="0" rtlCol="0" anchor="t"/>
          <a:lstStyle/>
          <a:p>
            <a:pPr indent="0" marL="0">
              <a:lnSpc>
                <a:spcPct val="115000"/>
              </a:lnSpc>
              <a:buNone/>
            </a:pPr>
            <a:r>
              <a:rPr lang="en-US" sz="1300" dirty="0">
                <a:solidFill>
                  <a:srgbClr val="FFFFFF"/>
                </a:solidFill>
                <a:latin typeface="Arial" pitchFamily="34" charset="0"/>
                <a:ea typeface="Arial" pitchFamily="34" charset="-122"/>
                <a:cs typeface="Arial" pitchFamily="34" charset="-120"/>
              </a:rPr>
              <a:t>Från k3d till telemetri - hela kedjan</a:t>
            </a:r>
            <a:endParaRPr lang="en-US" sz="1300" dirty="0"/>
          </a:p>
        </p:txBody>
      </p:sp>
      <p:sp>
        <p:nvSpPr>
          <p:cNvPr id="8" name="Shape 6"/>
          <p:cNvSpPr/>
          <p:nvPr/>
        </p:nvSpPr>
        <p:spPr>
          <a:xfrm>
            <a:off x="3367964" y="2057400"/>
            <a:ext cx="2636444" cy="2011680"/>
          </a:xfrm>
          <a:prstGeom prst="roundRect">
            <a:avLst>
              <a:gd name="adj" fmla="val 2727"/>
            </a:avLst>
          </a:prstGeom>
          <a:solidFill>
            <a:srgbClr val="16294A"/>
          </a:solidFill>
          <a:ln w="12700">
            <a:solidFill>
              <a:srgbClr val="16294A"/>
            </a:solidFill>
            <a:prstDash val="solid"/>
          </a:ln>
        </p:spPr>
      </p:sp>
      <p:sp>
        <p:nvSpPr>
          <p:cNvPr id="9" name="Text 7"/>
          <p:cNvSpPr txBox="1"/>
          <p:nvPr/>
        </p:nvSpPr>
        <p:spPr>
          <a:xfrm>
            <a:off x="3569132" y="2258568"/>
            <a:ext cx="2234108" cy="320040"/>
          </a:xfrm>
          <a:prstGeom prst="rect">
            <a:avLst/>
          </a:prstGeom>
          <a:noFill/>
          <a:ln/>
        </p:spPr>
        <p:txBody>
          <a:bodyPr wrap="square" lIns="0" tIns="0" rIns="0" bIns="0" rtlCol="0" anchor="t"/>
          <a:lstStyle/>
          <a:p>
            <a:pPr indent="0" marL="0">
              <a:buNone/>
            </a:pPr>
            <a:r>
              <a:rPr lang="en-US" sz="1500" b="1" dirty="0">
                <a:solidFill>
                  <a:srgbClr val="F5F7FA"/>
                </a:solidFill>
                <a:latin typeface="Calibri" pitchFamily="34" charset="0"/>
                <a:ea typeface="Calibri" pitchFamily="34" charset="-122"/>
                <a:cs typeface="Calibri" pitchFamily="34" charset="-120"/>
              </a:rPr>
              <a:t>Hemligheter på riktigt</a:t>
            </a:r>
            <a:endParaRPr lang="en-US" sz="1500" dirty="0"/>
          </a:p>
        </p:txBody>
      </p:sp>
      <p:sp>
        <p:nvSpPr>
          <p:cNvPr id="10" name="Text 8"/>
          <p:cNvSpPr txBox="1"/>
          <p:nvPr/>
        </p:nvSpPr>
        <p:spPr>
          <a:xfrm>
            <a:off x="3569132" y="2642616"/>
            <a:ext cx="2234108" cy="1271016"/>
          </a:xfrm>
          <a:prstGeom prst="rect">
            <a:avLst/>
          </a:prstGeom>
          <a:noFill/>
          <a:ln/>
        </p:spPr>
        <p:txBody>
          <a:bodyPr wrap="square" lIns="0" tIns="0" rIns="0" bIns="0" rtlCol="0" anchor="t"/>
          <a:lstStyle/>
          <a:p>
            <a:pPr indent="0" marL="0">
              <a:lnSpc>
                <a:spcPct val="115000"/>
              </a:lnSpc>
              <a:buNone/>
            </a:pPr>
            <a:r>
              <a:rPr lang="en-US" sz="1300" dirty="0">
                <a:solidFill>
                  <a:srgbClr val="B9C4D1"/>
                </a:solidFill>
                <a:latin typeface="Arial" pitchFamily="34" charset="0"/>
                <a:ea typeface="Arial" pitchFamily="34" charset="-122"/>
                <a:cs typeface="Arial" pitchFamily="34" charset="-120"/>
              </a:rPr>
              <a:t>Våra charts med SealedSecrets istället för values</a:t>
            </a:r>
            <a:endParaRPr lang="en-US" sz="1300" dirty="0"/>
          </a:p>
        </p:txBody>
      </p:sp>
      <p:sp>
        <p:nvSpPr>
          <p:cNvPr id="11" name="Shape 9"/>
          <p:cNvSpPr/>
          <p:nvPr/>
        </p:nvSpPr>
        <p:spPr>
          <a:xfrm>
            <a:off x="6187288" y="2057400"/>
            <a:ext cx="2636444" cy="2011680"/>
          </a:xfrm>
          <a:prstGeom prst="roundRect">
            <a:avLst>
              <a:gd name="adj" fmla="val 2727"/>
            </a:avLst>
          </a:prstGeom>
          <a:solidFill>
            <a:srgbClr val="16294A"/>
          </a:solidFill>
          <a:ln w="12700">
            <a:solidFill>
              <a:srgbClr val="16294A"/>
            </a:solidFill>
            <a:prstDash val="solid"/>
          </a:ln>
        </p:spPr>
      </p:sp>
      <p:sp>
        <p:nvSpPr>
          <p:cNvPr id="12" name="Text 10"/>
          <p:cNvSpPr txBox="1"/>
          <p:nvPr/>
        </p:nvSpPr>
        <p:spPr>
          <a:xfrm>
            <a:off x="6388456" y="2258568"/>
            <a:ext cx="2234108" cy="320040"/>
          </a:xfrm>
          <a:prstGeom prst="rect">
            <a:avLst/>
          </a:prstGeom>
          <a:noFill/>
          <a:ln/>
        </p:spPr>
        <p:txBody>
          <a:bodyPr wrap="square" lIns="0" tIns="0" rIns="0" bIns="0" rtlCol="0" anchor="t"/>
          <a:lstStyle/>
          <a:p>
            <a:pPr indent="0" marL="0">
              <a:buNone/>
            </a:pPr>
            <a:r>
              <a:rPr lang="en-US" sz="1500" b="1" dirty="0">
                <a:solidFill>
                  <a:srgbClr val="F5F7FA"/>
                </a:solidFill>
                <a:latin typeface="Calibri" pitchFamily="34" charset="0"/>
                <a:ea typeface="Calibri" pitchFamily="34" charset="-122"/>
                <a:cs typeface="Calibri" pitchFamily="34" charset="-120"/>
              </a:rPr>
              <a:t>TLS per tjänst</a:t>
            </a:r>
            <a:endParaRPr lang="en-US" sz="1500" dirty="0"/>
          </a:p>
        </p:txBody>
      </p:sp>
      <p:sp>
        <p:nvSpPr>
          <p:cNvPr id="13" name="Text 11"/>
          <p:cNvSpPr txBox="1"/>
          <p:nvPr/>
        </p:nvSpPr>
        <p:spPr>
          <a:xfrm>
            <a:off x="6388456" y="2642616"/>
            <a:ext cx="2234108" cy="1271016"/>
          </a:xfrm>
          <a:prstGeom prst="rect">
            <a:avLst/>
          </a:prstGeom>
          <a:noFill/>
          <a:ln/>
        </p:spPr>
        <p:txBody>
          <a:bodyPr wrap="square" lIns="0" tIns="0" rIns="0" bIns="0" rtlCol="0" anchor="t"/>
          <a:lstStyle/>
          <a:p>
            <a:pPr indent="0" marL="0">
              <a:lnSpc>
                <a:spcPct val="115000"/>
              </a:lnSpc>
              <a:buNone/>
            </a:pPr>
            <a:r>
              <a:rPr lang="en-US" sz="1300" dirty="0">
                <a:solidFill>
                  <a:srgbClr val="B9C4D1"/>
                </a:solidFill>
                <a:latin typeface="Arial" pitchFamily="34" charset="0"/>
                <a:ea typeface="Arial" pitchFamily="34" charset="-122"/>
                <a:cs typeface="Arial" pitchFamily="34" charset="-120"/>
              </a:rPr>
              <a:t>Egna certifikat för våra ingresser</a:t>
            </a:r>
            <a:endParaRPr lang="en-US" sz="1300" dirty="0"/>
          </a:p>
        </p:txBody>
      </p:sp>
      <p:sp>
        <p:nvSpPr>
          <p:cNvPr id="14" name="Shape 12"/>
          <p:cNvSpPr/>
          <p:nvPr/>
        </p:nvSpPr>
        <p:spPr>
          <a:xfrm>
            <a:off x="9006611" y="2057400"/>
            <a:ext cx="2636444" cy="2011680"/>
          </a:xfrm>
          <a:prstGeom prst="roundRect">
            <a:avLst>
              <a:gd name="adj" fmla="val 2727"/>
            </a:avLst>
          </a:prstGeom>
          <a:solidFill>
            <a:srgbClr val="16294A"/>
          </a:solidFill>
          <a:ln w="12700">
            <a:solidFill>
              <a:srgbClr val="16294A"/>
            </a:solidFill>
            <a:prstDash val="solid"/>
          </a:ln>
        </p:spPr>
      </p:sp>
      <p:sp>
        <p:nvSpPr>
          <p:cNvPr id="15" name="Text 13"/>
          <p:cNvSpPr txBox="1"/>
          <p:nvPr/>
        </p:nvSpPr>
        <p:spPr>
          <a:xfrm>
            <a:off x="9207779" y="2258568"/>
            <a:ext cx="2234108" cy="320040"/>
          </a:xfrm>
          <a:prstGeom prst="rect">
            <a:avLst/>
          </a:prstGeom>
          <a:noFill/>
          <a:ln/>
        </p:spPr>
        <p:txBody>
          <a:bodyPr wrap="square" lIns="0" tIns="0" rIns="0" bIns="0" rtlCol="0" anchor="t"/>
          <a:lstStyle/>
          <a:p>
            <a:pPr indent="0" marL="0">
              <a:buNone/>
            </a:pPr>
            <a:r>
              <a:rPr lang="en-US" sz="1500" b="1" dirty="0">
                <a:solidFill>
                  <a:srgbClr val="F5F7FA"/>
                </a:solidFill>
                <a:latin typeface="Calibri" pitchFamily="34" charset="0"/>
                <a:ea typeface="Calibri" pitchFamily="34" charset="-122"/>
                <a:cs typeface="Calibri" pitchFamily="34" charset="-120"/>
              </a:rPr>
              <a:t>Frågor och fördjupning</a:t>
            </a:r>
            <a:endParaRPr lang="en-US" sz="1500" dirty="0"/>
          </a:p>
        </p:txBody>
      </p:sp>
      <p:sp>
        <p:nvSpPr>
          <p:cNvPr id="16" name="Text 14"/>
          <p:cNvSpPr txBox="1"/>
          <p:nvPr/>
        </p:nvSpPr>
        <p:spPr>
          <a:xfrm>
            <a:off x="9207779" y="2642616"/>
            <a:ext cx="2234108" cy="1271016"/>
          </a:xfrm>
          <a:prstGeom prst="rect">
            <a:avLst/>
          </a:prstGeom>
          <a:noFill/>
          <a:ln/>
        </p:spPr>
        <p:txBody>
          <a:bodyPr wrap="square" lIns="0" tIns="0" rIns="0" bIns="0" rtlCol="0" anchor="t"/>
          <a:lstStyle/>
          <a:p>
            <a:pPr indent="0" marL="0">
              <a:lnSpc>
                <a:spcPct val="115000"/>
              </a:lnSpc>
              <a:buNone/>
            </a:pPr>
            <a:r>
              <a:rPr lang="en-US" sz="1300" dirty="0">
                <a:solidFill>
                  <a:srgbClr val="B9C4D1"/>
                </a:solidFill>
                <a:latin typeface="Arial" pitchFamily="34" charset="0"/>
                <a:ea typeface="Arial" pitchFamily="34" charset="-122"/>
                <a:cs typeface="Arial" pitchFamily="34" charset="-120"/>
              </a:rPr>
              <a:t>Det ni vill gå djupare i</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F1F33"/>
        </a:solidFill>
      </p:bgPr>
    </p:bg>
    <p:spTree>
      <p:nvGrpSpPr>
        <p:cNvPr id="1" name=""/>
        <p:cNvGrpSpPr/>
        <p:nvPr/>
      </p:nvGrpSpPr>
      <p:grpSpPr>
        <a:xfrm>
          <a:off x="0" y="0"/>
          <a:ext cx="0" cy="0"/>
          <a:chOff x="0" y="0"/>
          <a:chExt cx="0" cy="0"/>
        </a:xfrm>
      </p:grpSpPr>
      <p:sp>
        <p:nvSpPr>
          <p:cNvPr id="2" name="Text 0"/>
          <p:cNvSpPr txBox="1"/>
          <p:nvPr/>
        </p:nvSpPr>
        <p:spPr>
          <a:xfrm>
            <a:off x="548640" y="1737360"/>
            <a:ext cx="11094415" cy="274320"/>
          </a:xfrm>
          <a:prstGeom prst="rect">
            <a:avLst/>
          </a:prstGeom>
          <a:noFill/>
          <a:ln/>
        </p:spPr>
        <p:txBody>
          <a:bodyPr wrap="square" lIns="0" tIns="0" rIns="0" bIns="0" rtlCol="0" anchor="ctr"/>
          <a:lstStyle/>
          <a:p>
            <a:pPr indent="0" marL="0">
              <a:buNone/>
            </a:pPr>
            <a:r>
              <a:rPr lang="en-US" sz="1200" b="1" spc="200" kern="0" dirty="0">
                <a:solidFill>
                  <a:srgbClr val="7C9CFF"/>
                </a:solidFill>
                <a:latin typeface="Arial" pitchFamily="34" charset="0"/>
                <a:ea typeface="Arial" pitchFamily="34" charset="-122"/>
                <a:cs typeface="Arial" pitchFamily="34" charset="-120"/>
              </a:rPr>
              <a:t>KVÄLL 7 AV 8 - KLAR</a:t>
            </a:r>
            <a:endParaRPr lang="en-US" sz="1200" dirty="0"/>
          </a:p>
        </p:txBody>
      </p:sp>
      <p:sp>
        <p:nvSpPr>
          <p:cNvPr id="3" name="Text 1"/>
          <p:cNvSpPr txBox="1"/>
          <p:nvPr/>
        </p:nvSpPr>
        <p:spPr>
          <a:xfrm>
            <a:off x="548640" y="2103120"/>
            <a:ext cx="11094415" cy="1097280"/>
          </a:xfrm>
          <a:prstGeom prst="rect">
            <a:avLst/>
          </a:prstGeom>
          <a:noFill/>
          <a:ln/>
        </p:spPr>
        <p:txBody>
          <a:bodyPr wrap="square" lIns="0" tIns="0" rIns="0" bIns="0" rtlCol="0" anchor="ctr"/>
          <a:lstStyle/>
          <a:p>
            <a:pPr indent="0" marL="0">
              <a:buNone/>
            </a:pPr>
            <a:r>
              <a:rPr lang="en-US" sz="6000" b="1" dirty="0">
                <a:solidFill>
                  <a:srgbClr val="F5F7FA"/>
                </a:solidFill>
                <a:latin typeface="Calibri" pitchFamily="34" charset="0"/>
                <a:ea typeface="Calibri" pitchFamily="34" charset="-122"/>
                <a:cs typeface="Calibri" pitchFamily="34" charset="-120"/>
              </a:rPr>
              <a:t>Tack! Frågor?</a:t>
            </a:r>
            <a:endParaRPr lang="en-US" sz="6000" dirty="0"/>
          </a:p>
        </p:txBody>
      </p:sp>
      <p:sp>
        <p:nvSpPr>
          <p:cNvPr id="4" name="Text 2"/>
          <p:cNvSpPr txBox="1"/>
          <p:nvPr/>
        </p:nvSpPr>
        <p:spPr>
          <a:xfrm>
            <a:off x="548640" y="3383280"/>
            <a:ext cx="10515600" cy="548640"/>
          </a:xfrm>
          <a:prstGeom prst="rect">
            <a:avLst/>
          </a:prstGeom>
          <a:noFill/>
          <a:ln/>
        </p:spPr>
        <p:txBody>
          <a:bodyPr wrap="square" lIns="0" tIns="0" rIns="0" bIns="0" rtlCol="0" anchor="t"/>
          <a:lstStyle/>
          <a:p>
            <a:pPr indent="0" marL="0">
              <a:lnSpc>
                <a:spcPct val="120000"/>
              </a:lnSpc>
              <a:buNone/>
            </a:pPr>
            <a:r>
              <a:rPr lang="en-US" sz="1800" dirty="0">
                <a:solidFill>
                  <a:srgbClr val="B9C4D1"/>
                </a:solidFill>
                <a:latin typeface="Arial" pitchFamily="34" charset="0"/>
                <a:ea typeface="Arial" pitchFamily="34" charset="-122"/>
                <a:cs typeface="Arial" pitchFamily="34" charset="-120"/>
              </a:rPr>
              <a:t>En krypterad hemlighet är aldrig säkrare än nyckeln - och den som får läsa den.</a:t>
            </a:r>
            <a:endParaRPr lang="en-US" sz="1800" dirty="0"/>
          </a:p>
        </p:txBody>
      </p:sp>
      <p:sp>
        <p:nvSpPr>
          <p:cNvPr id="5" name="Text 3"/>
          <p:cNvSpPr txBox="1"/>
          <p:nvPr/>
        </p:nvSpPr>
        <p:spPr>
          <a:xfrm>
            <a:off x="548640" y="6172200"/>
            <a:ext cx="6400800" cy="320040"/>
          </a:xfrm>
          <a:prstGeom prst="rect">
            <a:avLst/>
          </a:prstGeom>
          <a:noFill/>
          <a:ln/>
        </p:spPr>
        <p:txBody>
          <a:bodyPr wrap="square" lIns="0" tIns="0" rIns="0" bIns="0" rtlCol="0" anchor="ctr"/>
          <a:lstStyle/>
          <a:p>
            <a:pPr indent="0" marL="0">
              <a:buNone/>
            </a:pPr>
            <a:r>
              <a:rPr lang="en-US" sz="1400" dirty="0">
                <a:solidFill>
                  <a:srgbClr val="B9C4D1"/>
                </a:solidFill>
                <a:latin typeface="Arial" pitchFamily="34" charset="0"/>
                <a:ea typeface="Arial" pitchFamily="34" charset="-122"/>
                <a:cs typeface="Arial" pitchFamily="34" charset="-120"/>
              </a:rPr>
              <a:t>Kubernetes – Konfiguration, hemligheter och drift · .NET, Frontend &amp; SQL</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Kubernetes - Konfiguration, hemligheter och drift</dc:title>
  <dc:subject>PptxGenJS Presentation</dc:subject>
  <dc:creator>PptxGenJS</dc:creator>
  <cp:lastModifiedBy>PptxGenJS</cp:lastModifiedBy>
  <cp:revision>1</cp:revision>
  <dcterms:created xsi:type="dcterms:W3CDTF">2026-10-14T14:41:35Z</dcterms:created>
  <dcterms:modified xsi:type="dcterms:W3CDTF">2026-10-14T14:41:35Z</dcterms:modified>
</cp:coreProperties>
</file>