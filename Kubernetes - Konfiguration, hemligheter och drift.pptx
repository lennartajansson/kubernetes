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Ikväll bygger vi inga nya appar. Det är en labbkväll med kubectl i centrum. Vi tar det som stod under Vägen framåt förra gången: ConfigMaps, Secrets och Sealed Secrets - och vi knäcker vår egen krypterade hemlighet för att förstå var säkerheten faktiskt sitter. Sist skapar vi en användare med eget klientcertifikat och låser den till ett enda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 delar, var och en med en eller flera labbar. Del 4 är markerad - den brukar vara kvällens aha-upplevelse: en krypterad hemlighet är bara så säker som nyckeln, och vi ska hitta nyckeln själva. Allt sker i namespacet lab så att det är enkelt att städa.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markerade rutan är viktigast: att förstå hotmodellen. Kryptering i Git är bra, men hela säkerheten vilar på en privat nyckel i klustret - och på vem som får läsa 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Gå igenom tillsammans innan första labben. kubeseal laddades ner till Infra-mappen av deploy-infra.ps1 redan kväll 3, men lades bara i PATH för det fönstret. Den markerade rutan är en klassisk fälla: kubeseal letar som standard efter controllern i kube-system, men hos oss ligger den i sealed-secrets. Därför har alla kubeseal-kommandon ikväll flaggan --controller-namespace.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Hittills har vi satt inställningar som miljövariabler direkt i Helm-charternas deployment. En ConfigMap lyfter ut dem till ett eget objekt.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ConfigMap är ett Kubernetes-objekt med nyckel/värde-par. Podden kan använda den på tre sätt: en nyckel som miljövariabel, alla nycklar som miljövariabler med envFrom, eller som filer i en volym. Den markerade principen är poängen: imagen byggs en gång och samma image körs i test och produktion - bara konfigurationen skiljer. Nästa bild: ConfigMaps ni redan använt utan att tänka på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alla köra kommandona. Det är ett bra sätt att se att ConfigMaps inte är något nytt: hela collectorns konfiguration är en ConfigMap, och dashboarden från förra veckan likaså. kube-root-ca.crt skapas automatiskt i varje namespace. Nu skapar vi egna.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vägar. Den markerade är den viktigaste vanan: --dry-run=client -o yaml skapar ingenting, utan skriver ut YAML som man sparar i Git och applicerar deklarativt. Samma trick använder vi för Secrets och kubeseal om en stund. describe visar innehållet utan YAML-brus.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Kvällens första riktiga insikt. Kör labbfilen och följ loggen. Ändra båda värdena med kubectl edit. Efter en stund ändras filen i loggen men inte miljövariabeln - kubelet synkar monterade ConfigMaps, men en process miljö sätts bara vid start. rollout restart tar fram nya poddar som läser de nya värdena. I .NET kan appsettings-filen läsas om med reloadOnChange - därför är fil-varianten intressant.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saker man stöter på. Checksum-annotationen är markerad eftersom den redan finns i våra egna charts: Helm räknar en hash av Secret- eller ConfigMap-mallen och lägger i podden, så att en ändring i values ger nya poddar. immutable skyddar mot oavsiktliga ändringar. subPath är en vanlig fallgrop: praktiskt, men filen uppdateras aldrig automatiskt.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ser ut som ConfigMaps med ett annat namn. Vi tittar på vad som faktiskt skiljer - och vad som inte gör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viktigaste att förstå om Secrets: base64 är en kodning, inte en kryptering. Alla kan avkoda den utan nyckel. Det Secrets ger är annat: en egen resurstyp som kan skyddas med RBAC, montering i minnet istället för på disk, och möjlighet till kryptering i etcd. Det markerade är problemet vi löser i del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alla göra det själva - det är mer övertygande än att se det på projektorn. describe döljer värdena, vilket ger en falsk trygghet. -o yaml visar base64, och go-template med base64decode ger klartext direkt. PowerShell-varianten visar att det inte finns någon hemlig nyckel inblandad.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Podden använder Secret:en exakt som en ConfigMap - secretKeyRef istället för configMapKeyRef. df visar att volymen är tmpfs, alltså minne. Den markerade rutan är viktig för RBAC-labben sist ikväll: rätten att köra exec i en pod är i praktiken rätten att läsa dess hemligheter.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på riktigt: våra egna hemligheter. Root-lösenordet till MySQL, connection strings och till och med den privata TLS-nyckeln går att läsa för den som har admin-rätt. Den markerade rutan är det verkliga problemet: lösenorden finns också i klartext i values-filer och skript som vi vill ha i Git. Ställ frågan - och gå vidare till lösningen.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Bitnamis Sealed Secrets löser Git-problemet med asymmetrisk kryptering. Controllern installerades redan kväll 3 med deploy-infra.ps1.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Hela idén på en bild. Man skapar en vanlig Secret som YAML utan att applicera den, skickar den genom kubeseal som krypterar med controllerns publika certifikat, och får en SealedSecret som kan checkas in. I klustret ser controllern SealedSecret:en, dekrypterar med sin privata nyckel och skapar en vanlig Secret som podden använder. Asymmetrin är markerad: det publika certifikatet är ofarligt att dela - all säkerhet sitter i den privata nyckeln, som aldrig lämnar klustret. Eller gör den? Det tar vi i del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Controllern är en vanlig Deployment. Loggen visar att den genererade ett nyckelpar första gången den startade. CRD:n är markerad: den gör att Kubernetes förstår en ny resurstyp, SealedSecret - samma mekanism som för ServiceMonitor och många andra verktyg. Certifikatet sparar vi som fil; med det kan man kryptera utan kontakt med klustret, till exempel i en CI-pipeline.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Kärnlabben. Först tar vi bort den vanliga Secret:en. Sedan samma create-kommando som förut men med --dry-run - YAML:en går direkt via röret in i kubeseal, så klartexten hamnar aldrig på disk. Titta på filen: värdena är krypterade. Applicera, och se att controllern skapar en vanlig Secret med samma namn. Podden startas om och visar samma lösenord - för applikationen är allt som förut.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Varför kan man inte bara kopiera en SealedSecret till ett namespace man själv kontrollerar och läsa den där? För att namn och namespace är en del av krypteringen. Labben visar felet i events. Det skyddar mot att någon med rätt i ett namespace lånar en hemlighet från ett annat. Scopen kan lättas upp med --scope, men strict är standard av goda skäl.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verkligheten ändras hemligheter. --merge-into krypterar bara det nya värdet och skriver in det i den befintliga filen - username rörs inte, och man behöver aldrig se det. --cert visar att kryptering bara kräver det publika certifikatet: en utvecklare eller en CI-pipeline kan skapa SealedSecrets utan någon åtkomst till klustret.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vänder vi på det. Vi har en krypterad fil i Git. Vad krävs för att läsa den? Svaret säger allt om var säkerheten egentligen sitter.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Svaret på frågan var nyckeln bor: i en helt vanlig Secret i namespacet sealed-secrets, med labeln active. Controller-podden läser den via Kubernetes API när den startar. Secret:en innehåller ett certifikat - det publika, som kubeseal --fetch-cert gav oss - och en privat nyckel. Den privata nyckeln är markerad: den kan dekryptera varenda SealedSecret i klustret. Och den skyddas av exakt samma mekanism som de Secrets vi läste i del 2: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hämtar vi nyckeln. Namnet på Secret:en slumpas, så vi använder labeln. Sista kommandot skriver ut certifikatet ur nyckel-Secret:en - låt alla jämföra med pub-cert.pem från labb 3a: det är samma. Den sparade filen innehåller också den privata nyckeln. Med den filen kan man läsa allt - nästa labb visar hur.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Kvällens aha. Med den krypterade filen från Git och nyckelfilen från klustret får vi tillbaka Secret:en, utan att klustret är inblandat. --recovery-unseal finns för att man ska kunna rädda sina hemligheter om klustret går förlorat - men visar också precis vad en angripare behöver. Slutsatsen i den markerade rutan: Sealed Secrets flyttar problemet från 'lösenord i Git' till 'skydda en nyckel i klustret', och det är ett mycket mindre och mer hanterbart problem. Radera filen när labben är 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Fyra regler. RBAC är markerad: den privata nyckeln skyddas bara av behörigheter. Backup är den motsatta risken - tappar man klustret och saknar nyckeln går ingen SealedSecret i Git att använda; vid återställning lägger man tillbaka nyckel-Secret:en innan controllern startar. Rotation sker automatiskt, men nya nycklar betyder inte att gamla hemligheter krypteras om - det får man göra själv med kubeseal --re-encrypt. Och städa: radera nyckelfilen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Sista delen knyter ihop kvällen: vem får läsa våra Secrets? Vi skapar en användare som bara når namespacet lab - och inte kan läsa Secrets ens där.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kubeconfig består av tre listor: clusters, users och contexts. Ett context binder ihop en cluster, en user och valfritt ett namespace. Många tror att namespace i contextet begränsar - men det är bara standardvärdet. Det markerade kortet är nyckeln: låsningen sitter i användaren. Admin-användaren från k3d har rätt till allt. I labben skapar vi en ny användare med ett eget certifikat och en Role som bara gäller i namespacet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brukar överraska: det finns inget kubectl create user. API-servern litar på alla klientcertifikat som är signerade av klustrets CA, och läser användarnamnet ur CN och grupperna ur O. Admin-användaren i er kubeconfig är precis ett sådant certifikat - kolla gärna med kubectl config view --raw. Det markerade steget, signeringen, gör vi med Kubernetes eget API för certifikatförfrågningar, så vi behöver aldrig röra CA-nyckeln. Viktigt: ett utfärdat certifikat kan inte spärras. Vill man stänga ute någon tar man bort RoleBindingen - certifikatet gäller fortfarande för inloggning men ger inga rättigheter. Därför kort livstid.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Kontrollera först att openssl fungerar: openssl version. Finns det i PATH behövs inte Set-Alias. Nyckeln är det hemliga - i verkligheten skapar användaren den på sin egen dator och skickar bara CSR:en till klusteradministratören. CSR:en innehåller den publika nyckeln och önskat namn, och är signerad med den privata nyckeln så att man vet att avsändaren har den. Ett facit-skript, 07-create-user.ps1, gör alla stegen om någon fastnar.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sker signeringen. Vi skickar CSR:en till klustret som ett vanligt Kubernetes-objekt - samma apply som allt annat. Den hamnar i Pending tills en admin godkänner den, och det är det markerade steget. Efter approve finns certifikatet base64-kodat i status. Läs utskriften från openssl x509: subject är vår användare, issuer är klustrets klient-CA, och enddate ligger 24 timmar fram. Fallgrop: IO.File-metoderna använder processens arbetskatalog, inte PowerShells aktuella mapp, därför står $PWD i sökvägen.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Role:n ger vanliga utvecklarrättigheter i namespacet lab och får skapa SealedSecrets, men har ingen regel för secrets - användaren kan leverera en krypterad hemlighet utan att kunna läsa den i klartext. Testa först som admin med --as, sedan på riktigt. Lägg märke till skillnaden mellan felen: ett ogiltigt certifikat ger Unauthorized (vem är du?), medan Forbidden betyder att API-servern vet vem du är men inte tillåter det. Prova gärna kubectl get pods utan RoleBinding - då får lab-user logga in men inte göra något. Byt tillbaka till k3d-home!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 ta bort ett namespace tar bort allt i det, även Role och RoleBinding, vilket gör det till ett bra sätt att isolera labbar. CSR-objektet ligger utanför namespaces och tas bort för sig. Context och användare i kubeconfig ligger på er egen dator. Kontrollera att nyckelfilerna från labb 4 och 7 är borta - certifikatet för lab-user gäller i 24 timmar till, men utan RoleBinding ger det inga rättigheter.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Muntlig quiz. RBAC är markerad eftersom kvällens alla trådar möts där: Secrets skyddas av RBAC, nyckeln till Sealed Secrets skyddas av RBAC, och ett låst context är RBAC. Be någon förklara varför en SealedSecret i Git är säker - och vad som skulle göra den osäker.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Driftdelen flyttades till sista kvällen. Där använder vi också Sealed Secrets på en riktig app: TelemetryApi får ett nytt databaslösenord och ett eget TLS-certifikat, båda förseglade i Git. Sist knyter vi ihop alla åtta kvällarna och tittar på certifieringar och nästa steg.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för frågor. Avslutande fråga: en kollega checkar av misstag in sealed-secrets-key.yaml i Git. Vad behöver ni göra? (Rotera nyckeln, kryptera om alla SealedSecrets och - viktigast - byta alla lösenord, eftersom de kan ha lästs.)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KUBERNETES-KURS · KVÄLL 7 AV 8</a:t>
            </a:r>
            <a:endParaRPr lang="en-US" sz="1200" dirty="0"/>
          </a:p>
        </p:txBody>
      </p:sp>
      <p:sp>
        <p:nvSpPr>
          <p:cNvPr id="3" name="Text 1"/>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Konfiguration, hemligheter och drift</a:t>
            </a:r>
            <a:endParaRPr lang="en-US" sz="5200" dirty="0"/>
          </a:p>
        </p:txBody>
      </p:sp>
      <p:sp>
        <p:nvSpPr>
          <p:cNvPr id="4" name="Text 2"/>
          <p:cNvSpPr txBox="1"/>
          <p:nvPr/>
        </p:nvSpPr>
        <p:spPr>
          <a:xfrm>
            <a:off x="548640" y="2514600"/>
            <a:ext cx="9875520" cy="914400"/>
          </a:xfrm>
          <a:prstGeom prst="rect">
            <a:avLst/>
          </a:prstGeom>
          <a:noFill/>
          <a:ln/>
        </p:spPr>
        <p:txBody>
          <a:bodyPr wrap="square" lIns="0" tIns="0" rIns="0" bIns="0" rtlCol="0" anchor="t"/>
          <a:lstStyle/>
          <a:p>
            <a:pPr indent="0" marL="0">
              <a:lnSpc>
                <a:spcPct val="130000"/>
              </a:lnSpc>
              <a:buNone/>
            </a:pPr>
            <a:r>
              <a:rPr lang="en-US" sz="2000" dirty="0">
                <a:solidFill>
                  <a:srgbClr val="B9C4D1"/>
                </a:solidFill>
                <a:latin typeface="Arial" pitchFamily="34" charset="0"/>
                <a:ea typeface="Arial" pitchFamily="34" charset="-122"/>
                <a:cs typeface="Arial" pitchFamily="34" charset="-120"/>
              </a:rPr>
              <a:t>ConfigMaps, Secrets och Sealed Secrets med kubeseal - och en egen användare med klientcertifikat, låst till ett namespace</a:t>
            </a:r>
            <a:endParaRPr lang="en-US" sz="20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.NET · Frontend · SQL — Yrkeshögskola</a:t>
            </a:r>
            <a:endParaRPr lang="en-US" sz="1400" dirty="0"/>
          </a:p>
        </p:txBody>
      </p:sp>
      <p:sp>
        <p:nvSpPr>
          <p:cNvPr id="6" name="Text 4"/>
          <p:cNvSpPr txBox="1"/>
          <p:nvPr/>
        </p:nvSpPr>
        <p:spPr>
          <a:xfrm>
            <a:off x="6156655" y="6172200"/>
            <a:ext cx="5486400" cy="320040"/>
          </a:xfrm>
          <a:prstGeom prst="rect">
            <a:avLst/>
          </a:prstGeom>
          <a:noFill/>
          <a:ln/>
        </p:spPr>
        <p:txBody>
          <a:bodyPr wrap="square" lIns="0" tIns="0" rIns="0" bIns="0" rtlCol="0" anchor="ctr"/>
          <a:lstStyle/>
          <a:p>
            <a:pPr algn="r" indent="0" marL="0">
              <a:buNone/>
            </a:pPr>
            <a:r>
              <a:rPr lang="en-US" sz="1400" b="1" dirty="0">
                <a:solidFill>
                  <a:srgbClr val="7C9CFF"/>
                </a:solidFill>
                <a:latin typeface="Arial" pitchFamily="34" charset="0"/>
                <a:ea typeface="Arial" pitchFamily="34" charset="-122"/>
                <a:cs typeface="Arial" pitchFamily="34" charset="-120"/>
              </a:rPr>
              <a:t>Del 7 av 8 · labbkväll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AGENDA · KVÄLL 7</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Så här bygger vi upp kvällen</a:t>
            </a:r>
            <a:endParaRPr lang="en-US" sz="3000" dirty="0"/>
          </a:p>
        </p:txBody>
      </p:sp>
      <p:sp>
        <p:nvSpPr>
          <p:cNvPr id="4" name="Shape 2"/>
          <p:cNvSpPr/>
          <p:nvPr/>
        </p:nvSpPr>
        <p:spPr>
          <a:xfrm>
            <a:off x="54864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1. ConfigMaps</a:t>
            </a:r>
            <a:endParaRPr lang="en-US" sz="1600" dirty="0"/>
          </a:p>
        </p:txBody>
      </p:sp>
      <p:sp>
        <p:nvSpPr>
          <p:cNvPr id="6" name="Text 4"/>
          <p:cNvSpPr txBox="1"/>
          <p:nvPr/>
        </p:nvSpPr>
        <p:spPr>
          <a:xfrm>
            <a:off x="74980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Konfiguration utanför imagen - env, fil och uppdatering</a:t>
            </a:r>
            <a:endParaRPr lang="en-US" sz="1300" dirty="0"/>
          </a:p>
        </p:txBody>
      </p:sp>
      <p:sp>
        <p:nvSpPr>
          <p:cNvPr id="7" name="Shape 5"/>
          <p:cNvSpPr/>
          <p:nvPr/>
        </p:nvSpPr>
        <p:spPr>
          <a:xfrm>
            <a:off x="429768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449884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2. Secrets</a:t>
            </a:r>
            <a:endParaRPr lang="en-US" sz="1600" dirty="0"/>
          </a:p>
        </p:txBody>
      </p:sp>
      <p:sp>
        <p:nvSpPr>
          <p:cNvPr id="9" name="Text 7"/>
          <p:cNvSpPr txBox="1"/>
          <p:nvPr/>
        </p:nvSpPr>
        <p:spPr>
          <a:xfrm>
            <a:off x="449884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Base64 är inte kryptering - och vem kan läsa?</a:t>
            </a:r>
            <a:endParaRPr lang="en-US" sz="1300" dirty="0"/>
          </a:p>
        </p:txBody>
      </p:sp>
      <p:sp>
        <p:nvSpPr>
          <p:cNvPr id="10" name="Shape 8"/>
          <p:cNvSpPr/>
          <p:nvPr/>
        </p:nvSpPr>
        <p:spPr>
          <a:xfrm>
            <a:off x="8046720" y="164592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247888" y="184708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3. Sealed Secrets</a:t>
            </a:r>
            <a:endParaRPr lang="en-US" sz="1600" dirty="0"/>
          </a:p>
        </p:txBody>
      </p:sp>
      <p:sp>
        <p:nvSpPr>
          <p:cNvPr id="12" name="Text 10"/>
          <p:cNvSpPr txBox="1"/>
          <p:nvPr/>
        </p:nvSpPr>
        <p:spPr>
          <a:xfrm>
            <a:off x="8247888" y="223113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kubeseal: hemligheter som tål Git</a:t>
            </a:r>
            <a:endParaRPr lang="en-US" sz="1300" dirty="0"/>
          </a:p>
        </p:txBody>
      </p:sp>
      <p:sp>
        <p:nvSpPr>
          <p:cNvPr id="13" name="Shape 11"/>
          <p:cNvSpPr/>
          <p:nvPr/>
        </p:nvSpPr>
        <p:spPr>
          <a:xfrm>
            <a:off x="548640" y="3429000"/>
            <a:ext cx="3593592" cy="1554480"/>
          </a:xfrm>
          <a:prstGeom prst="roundRect">
            <a:avLst>
              <a:gd name="adj" fmla="val 3529"/>
            </a:avLst>
          </a:prstGeom>
          <a:solidFill>
            <a:srgbClr val="3762FF"/>
          </a:solidFill>
          <a:ln w="12700">
            <a:solidFill>
              <a:srgbClr val="3762FF"/>
            </a:solidFill>
            <a:prstDash val="solid"/>
          </a:ln>
        </p:spPr>
      </p:sp>
      <p:sp>
        <p:nvSpPr>
          <p:cNvPr id="14" name="Text 12"/>
          <p:cNvSpPr txBox="1"/>
          <p:nvPr/>
        </p:nvSpPr>
        <p:spPr>
          <a:xfrm>
            <a:off x="749808" y="3630168"/>
            <a:ext cx="3191256"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4. Knäck nyckeln</a:t>
            </a:r>
            <a:endParaRPr lang="en-US" sz="1600" dirty="0"/>
          </a:p>
        </p:txBody>
      </p:sp>
      <p:sp>
        <p:nvSpPr>
          <p:cNvPr id="15" name="Text 13"/>
          <p:cNvSpPr txBox="1"/>
          <p:nvPr/>
        </p:nvSpPr>
        <p:spPr>
          <a:xfrm>
            <a:off x="74980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Dekryptera med controllerns privata nyckel</a:t>
            </a:r>
            <a:endParaRPr lang="en-US" sz="1300" dirty="0"/>
          </a:p>
        </p:txBody>
      </p:sp>
      <p:sp>
        <p:nvSpPr>
          <p:cNvPr id="16" name="Shape 14"/>
          <p:cNvSpPr/>
          <p:nvPr/>
        </p:nvSpPr>
        <p:spPr>
          <a:xfrm>
            <a:off x="4297680" y="3429000"/>
            <a:ext cx="3593592" cy="155448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4498848" y="3630168"/>
            <a:ext cx="3191256"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5. Åtkomst</a:t>
            </a:r>
            <a:endParaRPr lang="en-US" sz="1600" dirty="0"/>
          </a:p>
        </p:txBody>
      </p:sp>
      <p:sp>
        <p:nvSpPr>
          <p:cNvPr id="18" name="Text 16"/>
          <p:cNvSpPr txBox="1"/>
          <p:nvPr/>
        </p:nvSpPr>
        <p:spPr>
          <a:xfrm>
            <a:off x="4498848" y="4014216"/>
            <a:ext cx="3191256" cy="81381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Egen användare med klientcertifikat, låst till ett namespace</a:t>
            </a:r>
            <a:endParaRPr lang="en-US" sz="1300" dirty="0"/>
          </a:p>
        </p:txBody>
      </p:sp>
      <p:sp>
        <p:nvSpPr>
          <p:cNvPr id="19" name="Text 17"/>
          <p:cNvSpPr txBox="1"/>
          <p:nvPr/>
        </p:nvSpPr>
        <p:spPr>
          <a:xfrm>
            <a:off x="548640" y="5440680"/>
            <a:ext cx="11094415" cy="548640"/>
          </a:xfrm>
          <a:prstGeom prst="rect">
            <a:avLst/>
          </a:prstGeom>
          <a:noFill/>
          <a:ln/>
        </p:spPr>
        <p:txBody>
          <a:bodyPr wrap="square" lIns="0" tIns="0" rIns="0" bIns="0" rtlCol="0" anchor="t"/>
          <a:lstStyle/>
          <a:p>
            <a:pPr indent="0" marL="0">
              <a:lnSpc>
                <a:spcPct val="120000"/>
              </a:lnSpc>
              <a:buNone/>
            </a:pPr>
            <a:r>
              <a:rPr lang="en-US" sz="1400" dirty="0">
                <a:solidFill>
                  <a:srgbClr val="4A5568"/>
                </a:solidFill>
                <a:latin typeface="Arial" pitchFamily="34" charset="0"/>
                <a:ea typeface="Arial" pitchFamily="34" charset="-122"/>
                <a:cs typeface="Arial" pitchFamily="34" charset="-120"/>
              </a:rPr>
              <a:t>Varje del är en kort genomgång följd av en labb. Alla labbar körs i namespacet lab - det städas bort i slutet.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MÅLBILD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När ni går hem ikväll kan ni…</a:t>
            </a:r>
            <a:endParaRPr lang="en-US" sz="3000" dirty="0"/>
          </a:p>
        </p:txBody>
      </p:sp>
      <p:sp>
        <p:nvSpPr>
          <p:cNvPr id="4" name="Shape 2"/>
          <p:cNvSpPr/>
          <p:nvPr/>
        </p:nvSpPr>
        <p:spPr>
          <a:xfrm>
            <a:off x="548640" y="1737360"/>
            <a:ext cx="2651760" cy="2103120"/>
          </a:xfrm>
          <a:prstGeom prst="roundRect">
            <a:avLst>
              <a:gd name="adj" fmla="val 2609"/>
            </a:avLst>
          </a:prstGeom>
          <a:solidFill>
            <a:srgbClr val="16294A"/>
          </a:solidFill>
          <a:ln w="12700">
            <a:solidFill>
              <a:srgbClr val="16294A"/>
            </a:solidFill>
            <a:prstDash val="solid"/>
          </a:ln>
        </p:spPr>
      </p:sp>
      <p:sp>
        <p:nvSpPr>
          <p:cNvPr id="5" name="Text 3"/>
          <p:cNvSpPr txBox="1"/>
          <p:nvPr/>
        </p:nvSpPr>
        <p:spPr>
          <a:xfrm>
            <a:off x="749808"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749808"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Konfigurera</a:t>
            </a:r>
            <a:endParaRPr lang="en-US" sz="1600" dirty="0"/>
          </a:p>
        </p:txBody>
      </p:sp>
      <p:sp>
        <p:nvSpPr>
          <p:cNvPr id="7" name="Text 5"/>
          <p:cNvSpPr txBox="1"/>
          <p:nvPr/>
        </p:nvSpPr>
        <p:spPr>
          <a:xfrm>
            <a:off x="749808"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Lägga inställningar i ConfigMaps - som env och som fil</a:t>
            </a:r>
            <a:endParaRPr lang="en-US" sz="1300" dirty="0"/>
          </a:p>
        </p:txBody>
      </p:sp>
      <p:sp>
        <p:nvSpPr>
          <p:cNvPr id="8" name="Shape 6"/>
          <p:cNvSpPr/>
          <p:nvPr/>
        </p:nvSpPr>
        <p:spPr>
          <a:xfrm>
            <a:off x="3362249" y="1737360"/>
            <a:ext cx="2651760" cy="2103120"/>
          </a:xfrm>
          <a:prstGeom prst="roundRect">
            <a:avLst>
              <a:gd name="adj" fmla="val 2609"/>
            </a:avLst>
          </a:prstGeom>
          <a:solidFill>
            <a:srgbClr val="16294A"/>
          </a:solidFill>
          <a:ln w="12700">
            <a:solidFill>
              <a:srgbClr val="16294A"/>
            </a:solidFill>
            <a:prstDash val="solid"/>
          </a:ln>
        </p:spPr>
      </p:sp>
      <p:sp>
        <p:nvSpPr>
          <p:cNvPr id="9" name="Text 7"/>
          <p:cNvSpPr txBox="1"/>
          <p:nvPr/>
        </p:nvSpPr>
        <p:spPr>
          <a:xfrm>
            <a:off x="3563417"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3563417"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Skydda</a:t>
            </a:r>
            <a:endParaRPr lang="en-US" sz="1600" dirty="0"/>
          </a:p>
        </p:txBody>
      </p:sp>
      <p:sp>
        <p:nvSpPr>
          <p:cNvPr id="11" name="Text 9"/>
          <p:cNvSpPr txBox="1"/>
          <p:nvPr/>
        </p:nvSpPr>
        <p:spPr>
          <a:xfrm>
            <a:off x="3563417"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Kryptera hemligheter med kubeseal och checka in dem</a:t>
            </a:r>
            <a:endParaRPr lang="en-US" sz="1300" dirty="0"/>
          </a:p>
        </p:txBody>
      </p:sp>
      <p:sp>
        <p:nvSpPr>
          <p:cNvPr id="12" name="Shape 10"/>
          <p:cNvSpPr/>
          <p:nvPr/>
        </p:nvSpPr>
        <p:spPr>
          <a:xfrm>
            <a:off x="6175858" y="1737360"/>
            <a:ext cx="2651760" cy="2103120"/>
          </a:xfrm>
          <a:prstGeom prst="roundRect">
            <a:avLst>
              <a:gd name="adj" fmla="val 2609"/>
            </a:avLst>
          </a:prstGeom>
          <a:solidFill>
            <a:srgbClr val="3762FF"/>
          </a:solidFill>
          <a:ln w="12700">
            <a:solidFill>
              <a:srgbClr val="3762FF"/>
            </a:solidFill>
            <a:prstDash val="solid"/>
          </a:ln>
        </p:spPr>
      </p:sp>
      <p:sp>
        <p:nvSpPr>
          <p:cNvPr id="13" name="Text 11"/>
          <p:cNvSpPr txBox="1"/>
          <p:nvPr/>
        </p:nvSpPr>
        <p:spPr>
          <a:xfrm>
            <a:off x="6377026" y="1938528"/>
            <a:ext cx="2249424" cy="274320"/>
          </a:xfrm>
          <a:prstGeom prst="rect">
            <a:avLst/>
          </a:prstGeom>
          <a:noFill/>
          <a:ln/>
        </p:spPr>
        <p:txBody>
          <a:bodyPr wrap="square" lIns="0" tIns="0" rIns="0" bIns="0"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03</a:t>
            </a:r>
            <a:endParaRPr lang="en-US" sz="1100" dirty="0"/>
          </a:p>
        </p:txBody>
      </p:sp>
      <p:sp>
        <p:nvSpPr>
          <p:cNvPr id="14" name="Text 12"/>
          <p:cNvSpPr txBox="1"/>
          <p:nvPr/>
        </p:nvSpPr>
        <p:spPr>
          <a:xfrm>
            <a:off x="6377026" y="2231136"/>
            <a:ext cx="2249424"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Förstå hotet</a:t>
            </a:r>
            <a:endParaRPr lang="en-US" sz="1600" dirty="0"/>
          </a:p>
        </p:txBody>
      </p:sp>
      <p:sp>
        <p:nvSpPr>
          <p:cNvPr id="15" name="Text 13"/>
          <p:cNvSpPr txBox="1"/>
          <p:nvPr/>
        </p:nvSpPr>
        <p:spPr>
          <a:xfrm>
            <a:off x="6377026"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Förklara vem som kan läsa en Secret - och dekryptera en SealedSecret</a:t>
            </a:r>
            <a:endParaRPr lang="en-US" sz="1300" dirty="0"/>
          </a:p>
        </p:txBody>
      </p:sp>
      <p:sp>
        <p:nvSpPr>
          <p:cNvPr id="16" name="Shape 14"/>
          <p:cNvSpPr/>
          <p:nvPr/>
        </p:nvSpPr>
        <p:spPr>
          <a:xfrm>
            <a:off x="8989466" y="1737360"/>
            <a:ext cx="2651760" cy="2103120"/>
          </a:xfrm>
          <a:prstGeom prst="roundRect">
            <a:avLst>
              <a:gd name="adj" fmla="val 2609"/>
            </a:avLst>
          </a:prstGeom>
          <a:solidFill>
            <a:srgbClr val="16294A"/>
          </a:solidFill>
          <a:ln w="12700">
            <a:solidFill>
              <a:srgbClr val="16294A"/>
            </a:solidFill>
            <a:prstDash val="solid"/>
          </a:ln>
        </p:spPr>
      </p:sp>
      <p:sp>
        <p:nvSpPr>
          <p:cNvPr id="17" name="Text 15"/>
          <p:cNvSpPr txBox="1"/>
          <p:nvPr/>
        </p:nvSpPr>
        <p:spPr>
          <a:xfrm>
            <a:off x="9190634" y="1938528"/>
            <a:ext cx="2249424" cy="274320"/>
          </a:xfrm>
          <a:prstGeom prst="rect">
            <a:avLst/>
          </a:prstGeom>
          <a:noFill/>
          <a:ln/>
        </p:spPr>
        <p:txBody>
          <a:bodyPr wrap="square" lIns="0" tIns="0" rIns="0" bIns="0" rtlCol="0" anchor="ctr"/>
          <a:lstStyle/>
          <a:p>
            <a:pPr indent="0" marL="0">
              <a:buNone/>
            </a:pPr>
            <a:r>
              <a:rPr lang="en-US" sz="1100" b="1" spc="200" kern="0" dirty="0">
                <a:solidFill>
                  <a:srgbClr val="7C9CFF"/>
                </a:solidFill>
                <a:latin typeface="Arial" pitchFamily="34" charset="0"/>
                <a:ea typeface="Arial" pitchFamily="34" charset="-122"/>
                <a:cs typeface="Arial" pitchFamily="34" charset="-120"/>
              </a:rPr>
              <a:t>04</a:t>
            </a:r>
            <a:endParaRPr lang="en-US" sz="1100" dirty="0"/>
          </a:p>
        </p:txBody>
      </p:sp>
      <p:sp>
        <p:nvSpPr>
          <p:cNvPr id="18" name="Text 16"/>
          <p:cNvSpPr txBox="1"/>
          <p:nvPr/>
        </p:nvSpPr>
        <p:spPr>
          <a:xfrm>
            <a:off x="9190634" y="2231136"/>
            <a:ext cx="2249424" cy="320040"/>
          </a:xfrm>
          <a:prstGeom prst="rect">
            <a:avLst/>
          </a:prstGeom>
          <a:noFill/>
          <a:ln/>
        </p:spPr>
        <p:txBody>
          <a:bodyPr wrap="square" lIns="0" tIns="0" rIns="0" bIns="0" rtlCol="0" anchor="t"/>
          <a:lstStyle/>
          <a:p>
            <a:pPr indent="0" marL="0">
              <a:buNone/>
            </a:pPr>
            <a:r>
              <a:rPr lang="en-US" sz="1600" b="1" dirty="0">
                <a:solidFill>
                  <a:srgbClr val="F5F7FA"/>
                </a:solidFill>
                <a:latin typeface="Calibri" pitchFamily="34" charset="0"/>
                <a:ea typeface="Calibri" pitchFamily="34" charset="-122"/>
                <a:cs typeface="Calibri" pitchFamily="34" charset="-120"/>
              </a:rPr>
              <a:t>Låsa åtkomst</a:t>
            </a:r>
            <a:endParaRPr lang="en-US" sz="1600" dirty="0"/>
          </a:p>
        </p:txBody>
      </p:sp>
      <p:sp>
        <p:nvSpPr>
          <p:cNvPr id="19" name="Text 17"/>
          <p:cNvSpPr txBox="1"/>
          <p:nvPr/>
        </p:nvSpPr>
        <p:spPr>
          <a:xfrm>
            <a:off x="9190634" y="2615184"/>
            <a:ext cx="2249424" cy="1069848"/>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Skapa en användare med eget certifikat som bara når ett namespace</a:t>
            </a:r>
            <a:endParaRPr lang="en-US" sz="1300" dirty="0"/>
          </a:p>
        </p:txBody>
      </p:sp>
      <p:sp>
        <p:nvSpPr>
          <p:cNvPr id="20" name="Text 18"/>
          <p:cNvSpPr txBox="1"/>
          <p:nvPr/>
        </p:nvSpPr>
        <p:spPr>
          <a:xfrm>
            <a:off x="548640" y="4297680"/>
            <a:ext cx="10515600" cy="548640"/>
          </a:xfrm>
          <a:prstGeom prst="rect">
            <a:avLst/>
          </a:prstGeom>
          <a:noFill/>
          <a:ln/>
        </p:spPr>
        <p:txBody>
          <a:bodyPr wrap="square" lIns="0" tIns="0" rIns="0" bIns="0" rtlCol="0" anchor="t"/>
          <a:lstStyle/>
          <a:p>
            <a:pPr indent="0" marL="0">
              <a:lnSpc>
                <a:spcPct val="120000"/>
              </a:lnSpc>
              <a:buNone/>
            </a:pPr>
            <a:r>
              <a:rPr lang="en-US" sz="1600" dirty="0">
                <a:solidFill>
                  <a:srgbClr val="B9C4D1"/>
                </a:solidFill>
                <a:latin typeface="Arial" pitchFamily="34" charset="0"/>
                <a:ea typeface="Arial" pitchFamily="34" charset="-122"/>
                <a:cs typeface="Arial" pitchFamily="34" charset="-120"/>
              </a:rPr>
              <a:t>Allt med kubectl. Inga nya appar - vi använder klustret som det ser ut efter förra veckan.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FÖRBEREDELSER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Innan första labben</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Rätt kluster?</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config current-context        # k3d-home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nodes</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Labbfilerna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cd D:\Kvällskurs\Labbar\Kvall7</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kubeseal (hämtades av Infra\deploy-infra.ps1)</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$env:PATH = "D:\Kvällskurs\Infra;$env:PATH"</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kubeseal --version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Sealed Secrets-controllern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pods -n sealed-secrets</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Namespace lab</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Skapas av första labbfilen - allt ikväll hamnar där.</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kubeseal i PATH</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Gäller bara det här fönstret. Öppna nytt fönster = kör raden igen.</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Controllern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sealed-secrets-controller i namespacet sealed-secrets - inte kube-system.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01</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ConfigMaps</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Konfiguration utanför imagen - samma image i alla miljöer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CONFIGMAPS · VAD OCH VARFÖR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En ConfigMap - nyckel/värde-par i klustret</a:t>
            </a:r>
            <a:endParaRPr lang="en-US" sz="3000" dirty="0"/>
          </a:p>
        </p:txBody>
      </p:sp>
      <p:sp>
        <p:nvSpPr>
          <p:cNvPr id="4" name="Shape 2"/>
          <p:cNvSpPr/>
          <p:nvPr/>
        </p:nvSpPr>
        <p:spPr>
          <a:xfrm>
            <a:off x="548640" y="1691640"/>
            <a:ext cx="2926080" cy="1005840"/>
          </a:xfrm>
          <a:prstGeom prst="roundRect">
            <a:avLst>
              <a:gd name="adj" fmla="val 5455"/>
            </a:avLst>
          </a:prstGeom>
          <a:solidFill>
            <a:srgbClr val="3762FF"/>
          </a:solidFill>
          <a:ln w="12700">
            <a:solidFill>
              <a:srgbClr val="3762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640080" y="1691640"/>
            <a:ext cx="274320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ConfigMap</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app-config</a:t>
            </a:r>
            <a:endParaRPr lang="en-US" sz="1600" dirty="0"/>
          </a:p>
        </p:txBody>
      </p:sp>
      <p:sp>
        <p:nvSpPr>
          <p:cNvPr id="6" name="Shape 4"/>
          <p:cNvSpPr/>
          <p:nvPr/>
        </p:nvSpPr>
        <p:spPr>
          <a:xfrm>
            <a:off x="4572000" y="1417320"/>
            <a:ext cx="3017520"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7" name="Text 5"/>
          <p:cNvSpPr txBox="1"/>
          <p:nvPr/>
        </p:nvSpPr>
        <p:spPr>
          <a:xfrm>
            <a:off x="4663440" y="1417320"/>
            <a:ext cx="2834640"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env</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GREETING=Hej…</a:t>
            </a:r>
            <a:endParaRPr lang="en-US" sz="1300" dirty="0"/>
          </a:p>
        </p:txBody>
      </p:sp>
      <p:sp>
        <p:nvSpPr>
          <p:cNvPr id="8" name="Shape 6"/>
          <p:cNvSpPr/>
          <p:nvPr/>
        </p:nvSpPr>
        <p:spPr>
          <a:xfrm flipV="1">
            <a:off x="3520440" y="1874520"/>
            <a:ext cx="1005840" cy="320040"/>
          </a:xfrm>
          <a:prstGeom prst="line">
            <a:avLst/>
          </a:prstGeom>
          <a:noFill/>
          <a:ln w="19050">
            <a:solidFill>
              <a:srgbClr val="3762FF"/>
            </a:solidFill>
            <a:prstDash val="solid"/>
            <a:tailEnd type="triangle"/>
          </a:ln>
        </p:spPr>
      </p:sp>
      <p:sp>
        <p:nvSpPr>
          <p:cNvPr id="9" name="Shape 7"/>
          <p:cNvSpPr/>
          <p:nvPr/>
        </p:nvSpPr>
        <p:spPr>
          <a:xfrm>
            <a:off x="4572000" y="2606040"/>
            <a:ext cx="3017520"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0" name="Text 8"/>
          <p:cNvSpPr txBox="1"/>
          <p:nvPr/>
        </p:nvSpPr>
        <p:spPr>
          <a:xfrm>
            <a:off x="4663440" y="2606040"/>
            <a:ext cx="2834640"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envFrom</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alla nycklar som env</a:t>
            </a:r>
            <a:endParaRPr lang="en-US" sz="1300" dirty="0"/>
          </a:p>
        </p:txBody>
      </p:sp>
      <p:sp>
        <p:nvSpPr>
          <p:cNvPr id="11" name="Shape 9"/>
          <p:cNvSpPr/>
          <p:nvPr/>
        </p:nvSpPr>
        <p:spPr>
          <a:xfrm>
            <a:off x="3520440" y="2194560"/>
            <a:ext cx="1005840" cy="868680"/>
          </a:xfrm>
          <a:prstGeom prst="line">
            <a:avLst/>
          </a:prstGeom>
          <a:noFill/>
          <a:ln w="19050">
            <a:solidFill>
              <a:srgbClr val="3762FF"/>
            </a:solidFill>
            <a:prstDash val="solid"/>
            <a:tailEnd type="triangle"/>
          </a:ln>
        </p:spPr>
      </p:sp>
      <p:sp>
        <p:nvSpPr>
          <p:cNvPr id="12" name="Shape 10"/>
          <p:cNvSpPr/>
          <p:nvPr/>
        </p:nvSpPr>
        <p:spPr>
          <a:xfrm>
            <a:off x="4572000" y="3794760"/>
            <a:ext cx="3017520"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4663440" y="3794760"/>
            <a:ext cx="2834640" cy="91440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volym</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/config/appsettings.json</a:t>
            </a:r>
            <a:endParaRPr lang="en-US" sz="1300" dirty="0"/>
          </a:p>
        </p:txBody>
      </p:sp>
      <p:sp>
        <p:nvSpPr>
          <p:cNvPr id="14" name="Shape 12"/>
          <p:cNvSpPr/>
          <p:nvPr/>
        </p:nvSpPr>
        <p:spPr>
          <a:xfrm>
            <a:off x="3520440" y="2194560"/>
            <a:ext cx="1005840" cy="2057400"/>
          </a:xfrm>
          <a:prstGeom prst="line">
            <a:avLst/>
          </a:prstGeom>
          <a:noFill/>
          <a:ln w="19050">
            <a:solidFill>
              <a:srgbClr val="3762FF"/>
            </a:solidFill>
            <a:prstDash val="solid"/>
            <a:tailEnd type="triangle"/>
          </a:ln>
        </p:spPr>
      </p:sp>
      <p:sp>
        <p:nvSpPr>
          <p:cNvPr id="15" name="Shape 13"/>
          <p:cNvSpPr/>
          <p:nvPr/>
        </p:nvSpPr>
        <p:spPr>
          <a:xfrm>
            <a:off x="8778240" y="2606040"/>
            <a:ext cx="2834640" cy="9144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6" name="Text 14"/>
          <p:cNvSpPr txBox="1"/>
          <p:nvPr/>
        </p:nvSpPr>
        <p:spPr>
          <a:xfrm>
            <a:off x="8869680" y="2606040"/>
            <a:ext cx="2651760" cy="914400"/>
          </a:xfrm>
          <a:prstGeom prst="rect">
            <a:avLst/>
          </a:prstGeom>
          <a:noFill/>
          <a:ln/>
        </p:spPr>
        <p:txBody>
          <a:bodyPr wrap="square" lIns="0" tIns="0" rIns="0" bIns="0" rtlCol="0" anchor="ctr"/>
          <a:lstStyle/>
          <a:p>
            <a:pPr algn="ctr" indent="0" marL="0">
              <a:buNone/>
            </a:pPr>
            <a:r>
              <a:rPr lang="en-US" sz="1400" b="1" dirty="0">
                <a:solidFill>
                  <a:srgbClr val="16202B"/>
                </a:solidFill>
                <a:latin typeface="Calibri" pitchFamily="34" charset="0"/>
                <a:ea typeface="Calibri" pitchFamily="34" charset="-122"/>
                <a:cs typeface="Calibri" pitchFamily="34" charset="-120"/>
              </a:rPr>
              <a:t>Pod</a:t>
            </a:r>
            <a:endParaRPr lang="en-US" sz="1400" dirty="0"/>
          </a:p>
          <a:p>
            <a:pPr algn="ctr" indent="0" marL="0">
              <a:buNone/>
            </a:pPr>
            <a:r>
              <a:rPr lang="en-US" sz="1400" b="1" dirty="0">
                <a:solidFill>
                  <a:srgbClr val="16202B"/>
                </a:solidFill>
                <a:latin typeface="Calibri" pitchFamily="34" charset="0"/>
                <a:ea typeface="Calibri" pitchFamily="34" charset="-122"/>
                <a:cs typeface="Calibri" pitchFamily="34" charset="-120"/>
              </a:rPr>
              <a:t>containern läser</a:t>
            </a:r>
            <a:endParaRPr lang="en-US" sz="1400" dirty="0"/>
          </a:p>
        </p:txBody>
      </p:sp>
      <p:sp>
        <p:nvSpPr>
          <p:cNvPr id="17" name="Shape 15"/>
          <p:cNvSpPr/>
          <p:nvPr/>
        </p:nvSpPr>
        <p:spPr>
          <a:xfrm>
            <a:off x="7635240" y="1874520"/>
            <a:ext cx="1097280" cy="1188720"/>
          </a:xfrm>
          <a:prstGeom prst="line">
            <a:avLst/>
          </a:prstGeom>
          <a:noFill/>
          <a:ln w="19050">
            <a:solidFill>
              <a:srgbClr val="3762FF"/>
            </a:solidFill>
            <a:prstDash val="solid"/>
            <a:tailEnd type="triangle"/>
          </a:ln>
        </p:spPr>
      </p:sp>
      <p:sp>
        <p:nvSpPr>
          <p:cNvPr id="18" name="Shape 16"/>
          <p:cNvSpPr/>
          <p:nvPr/>
        </p:nvSpPr>
        <p:spPr>
          <a:xfrm>
            <a:off x="7635240" y="3063240"/>
            <a:ext cx="1097280" cy="0"/>
          </a:xfrm>
          <a:prstGeom prst="line">
            <a:avLst/>
          </a:prstGeom>
          <a:noFill/>
          <a:ln w="19050">
            <a:solidFill>
              <a:srgbClr val="3762FF"/>
            </a:solidFill>
            <a:prstDash val="solid"/>
            <a:tailEnd type="triangle"/>
          </a:ln>
        </p:spPr>
      </p:sp>
      <p:sp>
        <p:nvSpPr>
          <p:cNvPr id="19" name="Shape 17"/>
          <p:cNvSpPr/>
          <p:nvPr/>
        </p:nvSpPr>
        <p:spPr>
          <a:xfrm flipV="1">
            <a:off x="7635240" y="3063240"/>
            <a:ext cx="1097280" cy="1188720"/>
          </a:xfrm>
          <a:prstGeom prst="line">
            <a:avLst/>
          </a:prstGeom>
          <a:noFill/>
          <a:ln w="19050">
            <a:solidFill>
              <a:srgbClr val="3762FF"/>
            </a:solidFill>
            <a:prstDash val="solid"/>
            <a:tailEnd type="triangle"/>
          </a:ln>
        </p:spPr>
      </p:sp>
      <p:sp>
        <p:nvSpPr>
          <p:cNvPr id="20" name="Shape 18"/>
          <p:cNvSpPr/>
          <p:nvPr/>
        </p:nvSpPr>
        <p:spPr>
          <a:xfrm>
            <a:off x="548640" y="4892040"/>
            <a:ext cx="3606698" cy="96012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749808" y="5093208"/>
            <a:ext cx="3204362"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Inte hemligt</a:t>
            </a:r>
            <a:endParaRPr lang="en-US" sz="1400" dirty="0"/>
          </a:p>
        </p:txBody>
      </p:sp>
      <p:sp>
        <p:nvSpPr>
          <p:cNvPr id="22" name="Text 20"/>
          <p:cNvSpPr txBox="1"/>
          <p:nvPr/>
        </p:nvSpPr>
        <p:spPr>
          <a:xfrm>
            <a:off x="749808" y="5477256"/>
            <a:ext cx="3204362" cy="21945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Allt syns i klartext med kubectl get -o yaml.</a:t>
            </a:r>
            <a:endParaRPr lang="en-US" sz="1200" dirty="0"/>
          </a:p>
        </p:txBody>
      </p:sp>
      <p:sp>
        <p:nvSpPr>
          <p:cNvPr id="23" name="Shape 21"/>
          <p:cNvSpPr/>
          <p:nvPr/>
        </p:nvSpPr>
        <p:spPr>
          <a:xfrm>
            <a:off x="4292498" y="4892040"/>
            <a:ext cx="3606698" cy="96012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4" name="Text 22"/>
          <p:cNvSpPr txBox="1"/>
          <p:nvPr/>
        </p:nvSpPr>
        <p:spPr>
          <a:xfrm>
            <a:off x="4493666" y="5093208"/>
            <a:ext cx="3204362"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Max 1 MiB</a:t>
            </a:r>
            <a:endParaRPr lang="en-US" sz="1400" dirty="0"/>
          </a:p>
        </p:txBody>
      </p:sp>
      <p:sp>
        <p:nvSpPr>
          <p:cNvPr id="25" name="Text 23"/>
          <p:cNvSpPr txBox="1"/>
          <p:nvPr/>
        </p:nvSpPr>
        <p:spPr>
          <a:xfrm>
            <a:off x="4493666" y="5477256"/>
            <a:ext cx="3204362" cy="21945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För inställningar - inte för data.</a:t>
            </a:r>
            <a:endParaRPr lang="en-US" sz="1200" dirty="0"/>
          </a:p>
        </p:txBody>
      </p:sp>
      <p:sp>
        <p:nvSpPr>
          <p:cNvPr id="26" name="Shape 24"/>
          <p:cNvSpPr/>
          <p:nvPr/>
        </p:nvSpPr>
        <p:spPr>
          <a:xfrm>
            <a:off x="8036357" y="4892040"/>
            <a:ext cx="3606698" cy="960120"/>
          </a:xfrm>
          <a:prstGeom prst="roundRect">
            <a:avLst>
              <a:gd name="adj" fmla="val 5714"/>
            </a:avLst>
          </a:prstGeom>
          <a:solidFill>
            <a:srgbClr val="3762FF"/>
          </a:solidFill>
          <a:ln w="12700">
            <a:solidFill>
              <a:srgbClr val="3762FF"/>
            </a:solidFill>
            <a:prstDash val="solid"/>
          </a:ln>
        </p:spPr>
      </p:sp>
      <p:sp>
        <p:nvSpPr>
          <p:cNvPr id="27" name="Text 25"/>
          <p:cNvSpPr txBox="1"/>
          <p:nvPr/>
        </p:nvSpPr>
        <p:spPr>
          <a:xfrm>
            <a:off x="8237525" y="5093208"/>
            <a:ext cx="3204362"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Samma image</a:t>
            </a:r>
            <a:endParaRPr lang="en-US" sz="1400" dirty="0"/>
          </a:p>
        </p:txBody>
      </p:sp>
      <p:sp>
        <p:nvSpPr>
          <p:cNvPr id="28" name="Text 26"/>
          <p:cNvSpPr txBox="1"/>
          <p:nvPr/>
        </p:nvSpPr>
        <p:spPr>
          <a:xfrm>
            <a:off x="8237525" y="5477256"/>
            <a:ext cx="3204362" cy="21945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Byggs en gång - konfigen skiljer per miljö.</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CONFIGMAPS · NI HAR REDAN ANVÄNT DEM</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ConfigMaps som redan finns i klustret</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configmaps -A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OpenTelemetry Collector - hela pipelinen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cm otel-collector-config -n monitoring -o 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Grafana-dashboards (kväll 6) - en ConfigMap per JSON-fil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cm -n monitoring -l grafana_dashboard=1</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Finns i VARJE namespace - klustrets CA-certifikat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cm kube-root-ca.crt -n lab -o yaml</a:t>
            </a:r>
            <a:endParaRPr lang="en-US" sz="11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otel-collector-config</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Monteras som fil i collector-podden.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grafana-dashboard-*</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Sidecarn läser dem och laddar dashboards.</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kube-root-ca.crt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Låter poddar lita på API-servern.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1A · SKAPA OCH INSPEKTERA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Tre sätt att skapa en ConfigMap</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namespace lab</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1. Från värden på kommandoraden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configmap greeting -n lab --from-literal=GREETING=Hej --from-literal=LANG=sv</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2. Från en fil (nyckeln blir filnamnet)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"MaxItems": 25 }' | Out-File settings.json -Encoding utf8</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configmap settings -n lab --from-file=settings.json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3. Från YAML (deklarativt - som i Git)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configmap demo -n lab --from-literal=A=1 --dry-run=client -o 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cm -n lab ; kubectl describe cm settings -n lab</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--from-literal</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Snabbt för enstaka värden.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--from-file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Hela konfigurationsfiler, t.ex. appsettings.json.</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--dry-run -o yaml</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Skriver YAML istället för att skapa - lägg i Git.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1B · ENV OCH FIL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Vad händer när en ConfigMap ändras?</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apply -f 01-configmap-demo.yaml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logs -f deploy/config-demo -n lab      # eget fönster</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18:02:05  GREETING=Hej från en ConfigMap  LOG_LEVEL=Information</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fil: {"Feature":{"NewUi":false},"MaxItems":25}</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Ändra GREETING och NewUi -&gt; true</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edit configmap app-config -n lab</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Vänta ca 1 minut och titta i loggen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Starta om poddarna</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rollout restart deploy/config-demo -n lab</a:t>
            </a:r>
            <a:endParaRPr lang="en-US" sz="110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Filen</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Uppdateras av kubelet inom ca en minut - utan omstart.</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Miljövariabler</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Läses bara när containern startar.</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rollout restart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Nya poddar - nya värden.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CONFIGMAPS · MÖNSTER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Tre mönster från verkligheten</a:t>
            </a:r>
            <a:endParaRPr lang="en-US" sz="3000" dirty="0"/>
          </a:p>
        </p:txBody>
      </p:sp>
      <p:sp>
        <p:nvSpPr>
          <p:cNvPr id="4" name="Shape 2"/>
          <p:cNvSpPr/>
          <p:nvPr/>
        </p:nvSpPr>
        <p:spPr>
          <a:xfrm>
            <a:off x="548640" y="1645920"/>
            <a:ext cx="3515258" cy="2377440"/>
          </a:xfrm>
          <a:prstGeom prst="roundRect">
            <a:avLst>
              <a:gd name="adj" fmla="val 2308"/>
            </a:avLst>
          </a:prstGeom>
          <a:solidFill>
            <a:srgbClr val="3762FF"/>
          </a:solidFill>
          <a:ln w="12700">
            <a:solidFill>
              <a:srgbClr val="3762FF"/>
            </a:solidFill>
            <a:prstDash val="solid"/>
          </a:ln>
        </p:spPr>
      </p:sp>
      <p:sp>
        <p:nvSpPr>
          <p:cNvPr id="5" name="Text 3"/>
          <p:cNvSpPr txBox="1"/>
          <p:nvPr/>
        </p:nvSpPr>
        <p:spPr>
          <a:xfrm>
            <a:off x="749808" y="1847088"/>
            <a:ext cx="3112922"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checksum-annotation</a:t>
            </a:r>
            <a:endParaRPr lang="en-US" sz="1600" dirty="0"/>
          </a:p>
        </p:txBody>
      </p:sp>
      <p:sp>
        <p:nvSpPr>
          <p:cNvPr id="6" name="Text 4"/>
          <p:cNvSpPr txBox="1"/>
          <p:nvPr/>
        </p:nvSpPr>
        <p:spPr>
          <a:xfrm>
            <a:off x="749808" y="2231136"/>
            <a:ext cx="3112922" cy="16367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Våra Helm-charts: hash av Secret/ConfigMap i podden → ändring ger automatisk omstart.</a:t>
            </a:r>
            <a:endParaRPr lang="en-US" sz="1300" dirty="0"/>
          </a:p>
        </p:txBody>
      </p:sp>
      <p:sp>
        <p:nvSpPr>
          <p:cNvPr id="7" name="Shape 5"/>
          <p:cNvSpPr/>
          <p:nvPr/>
        </p:nvSpPr>
        <p:spPr>
          <a:xfrm>
            <a:off x="548640" y="4206240"/>
            <a:ext cx="3515258" cy="1005840"/>
          </a:xfrm>
          <a:prstGeom prst="roundRect">
            <a:avLst>
              <a:gd name="adj" fmla="val 545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749808" y="4370832"/>
            <a:ext cx="109728" cy="109728"/>
          </a:xfrm>
          <a:prstGeom prst="ellipse">
            <a:avLst/>
          </a:prstGeom>
          <a:solidFill>
            <a:srgbClr val="D64545"/>
          </a:solidFill>
          <a:ln w="12700">
            <a:solidFill>
              <a:srgbClr val="D64545"/>
            </a:solidFill>
            <a:prstDash val="solid"/>
          </a:ln>
        </p:spPr>
      </p:sp>
      <p:sp>
        <p:nvSpPr>
          <p:cNvPr id="9" name="Shape 7"/>
          <p:cNvSpPr/>
          <p:nvPr/>
        </p:nvSpPr>
        <p:spPr>
          <a:xfrm>
            <a:off x="932688" y="4370832"/>
            <a:ext cx="109728" cy="109728"/>
          </a:xfrm>
          <a:prstGeom prst="ellipse">
            <a:avLst/>
          </a:prstGeom>
          <a:solidFill>
            <a:srgbClr val="FFB020"/>
          </a:solidFill>
          <a:ln w="12700">
            <a:solidFill>
              <a:srgbClr val="FFB020"/>
            </a:solidFill>
            <a:prstDash val="solid"/>
          </a:ln>
        </p:spPr>
      </p:sp>
      <p:sp>
        <p:nvSpPr>
          <p:cNvPr id="10" name="Shape 8"/>
          <p:cNvSpPr/>
          <p:nvPr/>
        </p:nvSpPr>
        <p:spPr>
          <a:xfrm>
            <a:off x="1115568" y="4370832"/>
            <a:ext cx="109728" cy="109728"/>
          </a:xfrm>
          <a:prstGeom prst="ellipse">
            <a:avLst/>
          </a:prstGeom>
          <a:solidFill>
            <a:srgbClr val="3CB371"/>
          </a:solidFill>
          <a:ln w="12700">
            <a:solidFill>
              <a:srgbClr val="3CB371"/>
            </a:solidFill>
            <a:prstDash val="solid"/>
          </a:ln>
        </p:spPr>
      </p:sp>
      <p:sp>
        <p:nvSpPr>
          <p:cNvPr id="11" name="Text 9"/>
          <p:cNvSpPr txBox="1"/>
          <p:nvPr/>
        </p:nvSpPr>
        <p:spPr>
          <a:xfrm>
            <a:off x="777240" y="4663440"/>
            <a:ext cx="3058058" cy="41148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checksum/secret: {{ include … | sha256sum }}</a:t>
            </a:r>
            <a:endParaRPr lang="en-US" sz="1050" dirty="0"/>
          </a:p>
        </p:txBody>
      </p:sp>
      <p:sp>
        <p:nvSpPr>
          <p:cNvPr id="12" name="Shape 10"/>
          <p:cNvSpPr/>
          <p:nvPr/>
        </p:nvSpPr>
        <p:spPr>
          <a:xfrm>
            <a:off x="4338218" y="1645920"/>
            <a:ext cx="3515258" cy="2377440"/>
          </a:xfrm>
          <a:prstGeom prst="roundRect">
            <a:avLst>
              <a:gd name="adj" fmla="val 230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4539386" y="1847088"/>
            <a:ext cx="3112922"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immutable: true</a:t>
            </a:r>
            <a:endParaRPr lang="en-US" sz="1600" dirty="0"/>
          </a:p>
        </p:txBody>
      </p:sp>
      <p:sp>
        <p:nvSpPr>
          <p:cNvPr id="14" name="Text 12"/>
          <p:cNvSpPr txBox="1"/>
          <p:nvPr/>
        </p:nvSpPr>
        <p:spPr>
          <a:xfrm>
            <a:off x="4539386" y="2231136"/>
            <a:ext cx="3112922" cy="16367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ConfigMap som inte kan ändras. Snabbare, säkrare - ny version får nytt namn.</a:t>
            </a:r>
            <a:endParaRPr lang="en-US" sz="1300" dirty="0"/>
          </a:p>
        </p:txBody>
      </p:sp>
      <p:sp>
        <p:nvSpPr>
          <p:cNvPr id="15" name="Shape 13"/>
          <p:cNvSpPr/>
          <p:nvPr/>
        </p:nvSpPr>
        <p:spPr>
          <a:xfrm>
            <a:off x="4338218" y="4206240"/>
            <a:ext cx="3515258" cy="1005840"/>
          </a:xfrm>
          <a:prstGeom prst="roundRect">
            <a:avLst>
              <a:gd name="adj" fmla="val 545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4539386" y="4370832"/>
            <a:ext cx="109728" cy="109728"/>
          </a:xfrm>
          <a:prstGeom prst="ellipse">
            <a:avLst/>
          </a:prstGeom>
          <a:solidFill>
            <a:srgbClr val="D64545"/>
          </a:solidFill>
          <a:ln w="12700">
            <a:solidFill>
              <a:srgbClr val="D64545"/>
            </a:solidFill>
            <a:prstDash val="solid"/>
          </a:ln>
        </p:spPr>
      </p:sp>
      <p:sp>
        <p:nvSpPr>
          <p:cNvPr id="17" name="Shape 15"/>
          <p:cNvSpPr/>
          <p:nvPr/>
        </p:nvSpPr>
        <p:spPr>
          <a:xfrm>
            <a:off x="4722266" y="4370832"/>
            <a:ext cx="109728" cy="109728"/>
          </a:xfrm>
          <a:prstGeom prst="ellipse">
            <a:avLst/>
          </a:prstGeom>
          <a:solidFill>
            <a:srgbClr val="FFB020"/>
          </a:solidFill>
          <a:ln w="12700">
            <a:solidFill>
              <a:srgbClr val="FFB020"/>
            </a:solidFill>
            <a:prstDash val="solid"/>
          </a:ln>
        </p:spPr>
      </p:sp>
      <p:sp>
        <p:nvSpPr>
          <p:cNvPr id="18" name="Shape 16"/>
          <p:cNvSpPr/>
          <p:nvPr/>
        </p:nvSpPr>
        <p:spPr>
          <a:xfrm>
            <a:off x="4905146" y="437083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4566818" y="4663440"/>
            <a:ext cx="3058058" cy="41148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immutable: true</a:t>
            </a:r>
            <a:endParaRPr lang="en-US" sz="1050" dirty="0"/>
          </a:p>
        </p:txBody>
      </p:sp>
      <p:sp>
        <p:nvSpPr>
          <p:cNvPr id="20" name="Shape 18"/>
          <p:cNvSpPr/>
          <p:nvPr/>
        </p:nvSpPr>
        <p:spPr>
          <a:xfrm>
            <a:off x="8127797" y="1645920"/>
            <a:ext cx="3515258" cy="2377440"/>
          </a:xfrm>
          <a:prstGeom prst="roundRect">
            <a:avLst>
              <a:gd name="adj" fmla="val 230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8328965" y="1847088"/>
            <a:ext cx="3112922"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subPath</a:t>
            </a:r>
            <a:endParaRPr lang="en-US" sz="1600" dirty="0"/>
          </a:p>
        </p:txBody>
      </p:sp>
      <p:sp>
        <p:nvSpPr>
          <p:cNvPr id="22" name="Text 20"/>
          <p:cNvSpPr txBox="1"/>
          <p:nvPr/>
        </p:nvSpPr>
        <p:spPr>
          <a:xfrm>
            <a:off x="8328965" y="2231136"/>
            <a:ext cx="3112922" cy="16367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Montera EN fil utan att dölja resten av katalogen. Uppdateras inte automatiskt!</a:t>
            </a:r>
            <a:endParaRPr lang="en-US" sz="1300" dirty="0"/>
          </a:p>
        </p:txBody>
      </p:sp>
      <p:sp>
        <p:nvSpPr>
          <p:cNvPr id="23" name="Shape 21"/>
          <p:cNvSpPr/>
          <p:nvPr/>
        </p:nvSpPr>
        <p:spPr>
          <a:xfrm>
            <a:off x="8127797" y="4206240"/>
            <a:ext cx="3515258" cy="1005840"/>
          </a:xfrm>
          <a:prstGeom prst="roundRect">
            <a:avLst>
              <a:gd name="adj" fmla="val 5455"/>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24" name="Shape 22"/>
          <p:cNvSpPr/>
          <p:nvPr/>
        </p:nvSpPr>
        <p:spPr>
          <a:xfrm>
            <a:off x="8328965" y="4370832"/>
            <a:ext cx="109728" cy="109728"/>
          </a:xfrm>
          <a:prstGeom prst="ellipse">
            <a:avLst/>
          </a:prstGeom>
          <a:solidFill>
            <a:srgbClr val="D64545"/>
          </a:solidFill>
          <a:ln w="12700">
            <a:solidFill>
              <a:srgbClr val="D64545"/>
            </a:solidFill>
            <a:prstDash val="solid"/>
          </a:ln>
        </p:spPr>
      </p:sp>
      <p:sp>
        <p:nvSpPr>
          <p:cNvPr id="25" name="Shape 23"/>
          <p:cNvSpPr/>
          <p:nvPr/>
        </p:nvSpPr>
        <p:spPr>
          <a:xfrm>
            <a:off x="8511845" y="4370832"/>
            <a:ext cx="109728" cy="109728"/>
          </a:xfrm>
          <a:prstGeom prst="ellipse">
            <a:avLst/>
          </a:prstGeom>
          <a:solidFill>
            <a:srgbClr val="FFB020"/>
          </a:solidFill>
          <a:ln w="12700">
            <a:solidFill>
              <a:srgbClr val="FFB020"/>
            </a:solidFill>
            <a:prstDash val="solid"/>
          </a:ln>
        </p:spPr>
      </p:sp>
      <p:sp>
        <p:nvSpPr>
          <p:cNvPr id="26" name="Shape 24"/>
          <p:cNvSpPr/>
          <p:nvPr/>
        </p:nvSpPr>
        <p:spPr>
          <a:xfrm>
            <a:off x="8694725" y="4370832"/>
            <a:ext cx="109728" cy="109728"/>
          </a:xfrm>
          <a:prstGeom prst="ellipse">
            <a:avLst/>
          </a:prstGeom>
          <a:solidFill>
            <a:srgbClr val="3CB371"/>
          </a:solidFill>
          <a:ln w="12700">
            <a:solidFill>
              <a:srgbClr val="3CB371"/>
            </a:solidFill>
            <a:prstDash val="solid"/>
          </a:ln>
        </p:spPr>
      </p:sp>
      <p:sp>
        <p:nvSpPr>
          <p:cNvPr id="27" name="Text 25"/>
          <p:cNvSpPr txBox="1"/>
          <p:nvPr/>
        </p:nvSpPr>
        <p:spPr>
          <a:xfrm>
            <a:off x="8356397" y="4663440"/>
            <a:ext cx="3058058" cy="41148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subPath: appsettings.json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02</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Secrets</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Base64 är inte kryptering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SECRETS · SANNINGEN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En Secret är kodad - inte krypterad</a:t>
            </a:r>
            <a:endParaRPr lang="en-US" sz="3000" dirty="0"/>
          </a:p>
        </p:txBody>
      </p:sp>
      <p:sp>
        <p:nvSpPr>
          <p:cNvPr id="4" name="Shape 2"/>
          <p:cNvSpPr/>
          <p:nvPr/>
        </p:nvSpPr>
        <p:spPr>
          <a:xfrm>
            <a:off x="548640" y="1828800"/>
            <a:ext cx="2926080" cy="914400"/>
          </a:xfrm>
          <a:prstGeom prst="roundRect">
            <a:avLst>
              <a:gd name="adj" fmla="val 6000"/>
            </a:avLst>
          </a:prstGeom>
          <a:solidFill>
            <a:srgbClr val="16294A"/>
          </a:solidFill>
          <a:ln w="12700">
            <a:solidFill>
              <a:srgbClr val="16294A"/>
            </a:solidFill>
            <a:prstDash val="solid"/>
          </a:ln>
        </p:spPr>
      </p:sp>
      <p:sp>
        <p:nvSpPr>
          <p:cNvPr id="5" name="Text 3"/>
          <p:cNvSpPr txBox="1"/>
          <p:nvPr/>
        </p:nvSpPr>
        <p:spPr>
          <a:xfrm>
            <a:off x="640080" y="1828800"/>
            <a:ext cx="2743200" cy="914400"/>
          </a:xfrm>
          <a:prstGeom prst="rect">
            <a:avLst/>
          </a:prstGeom>
          <a:noFill/>
          <a:ln/>
        </p:spPr>
        <p:txBody>
          <a:bodyPr wrap="square" lIns="0" tIns="0" rIns="0" bIns="0" rtlCol="0" anchor="ctr"/>
          <a:lstStyle/>
          <a:p>
            <a:pPr algn="ctr" indent="0" marL="0">
              <a:buNone/>
            </a:pPr>
            <a:r>
              <a:rPr lang="en-US" sz="2200" b="1" dirty="0">
                <a:solidFill>
                  <a:srgbClr val="F5F7FA"/>
                </a:solidFill>
                <a:latin typeface="Courier New" pitchFamily="34" charset="0"/>
                <a:ea typeface="Courier New" pitchFamily="34" charset="-122"/>
                <a:cs typeface="Courier New" pitchFamily="34" charset="-120"/>
              </a:rPr>
              <a:t>S3cret!</a:t>
            </a:r>
            <a:endParaRPr lang="en-US" sz="2200" dirty="0"/>
          </a:p>
        </p:txBody>
      </p:sp>
      <p:sp>
        <p:nvSpPr>
          <p:cNvPr id="6" name="Shape 4"/>
          <p:cNvSpPr/>
          <p:nvPr/>
        </p:nvSpPr>
        <p:spPr>
          <a:xfrm>
            <a:off x="4626864" y="1828800"/>
            <a:ext cx="2926080" cy="914400"/>
          </a:xfrm>
          <a:prstGeom prst="roundRect">
            <a:avLst>
              <a:gd name="adj" fmla="val 6000"/>
            </a:avLst>
          </a:prstGeom>
          <a:solidFill>
            <a:srgbClr val="3762FF"/>
          </a:solidFill>
          <a:ln w="12700">
            <a:solidFill>
              <a:srgbClr val="3762FF"/>
            </a:solidFill>
            <a:prstDash val="solid"/>
          </a:ln>
        </p:spPr>
      </p:sp>
      <p:sp>
        <p:nvSpPr>
          <p:cNvPr id="7" name="Text 5"/>
          <p:cNvSpPr txBox="1"/>
          <p:nvPr/>
        </p:nvSpPr>
        <p:spPr>
          <a:xfrm>
            <a:off x="4718304" y="1828800"/>
            <a:ext cx="27432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UzNjcmV0IQ==</a:t>
            </a:r>
            <a:endParaRPr lang="en-US" sz="2000" dirty="0"/>
          </a:p>
        </p:txBody>
      </p:sp>
      <p:sp>
        <p:nvSpPr>
          <p:cNvPr id="8" name="Shape 6"/>
          <p:cNvSpPr/>
          <p:nvPr/>
        </p:nvSpPr>
        <p:spPr>
          <a:xfrm>
            <a:off x="8705088" y="1828800"/>
            <a:ext cx="2926080" cy="914400"/>
          </a:xfrm>
          <a:prstGeom prst="roundRect">
            <a:avLst>
              <a:gd name="adj" fmla="val 6000"/>
            </a:avLst>
          </a:prstGeom>
          <a:solidFill>
            <a:srgbClr val="16294A"/>
          </a:solidFill>
          <a:ln w="12700">
            <a:solidFill>
              <a:srgbClr val="16294A"/>
            </a:solidFill>
            <a:prstDash val="solid"/>
          </a:ln>
        </p:spPr>
      </p:sp>
      <p:sp>
        <p:nvSpPr>
          <p:cNvPr id="9" name="Text 7"/>
          <p:cNvSpPr txBox="1"/>
          <p:nvPr/>
        </p:nvSpPr>
        <p:spPr>
          <a:xfrm>
            <a:off x="8796528" y="1828800"/>
            <a:ext cx="2743200" cy="914400"/>
          </a:xfrm>
          <a:prstGeom prst="rect">
            <a:avLst/>
          </a:prstGeom>
          <a:noFill/>
          <a:ln/>
        </p:spPr>
        <p:txBody>
          <a:bodyPr wrap="square" lIns="0" tIns="0" rIns="0" bIns="0" rtlCol="0" anchor="ctr"/>
          <a:lstStyle/>
          <a:p>
            <a:pPr algn="ctr" indent="0" marL="0">
              <a:buNone/>
            </a:pPr>
            <a:r>
              <a:rPr lang="en-US" sz="2200" b="1" dirty="0">
                <a:solidFill>
                  <a:srgbClr val="F5F7FA"/>
                </a:solidFill>
                <a:latin typeface="Courier New" pitchFamily="34" charset="0"/>
                <a:ea typeface="Courier New" pitchFamily="34" charset="-122"/>
                <a:cs typeface="Courier New" pitchFamily="34" charset="-120"/>
              </a:rPr>
              <a:t>S3cret!</a:t>
            </a:r>
            <a:endParaRPr lang="en-US" sz="2200" dirty="0"/>
          </a:p>
        </p:txBody>
      </p:sp>
      <p:sp>
        <p:nvSpPr>
          <p:cNvPr id="10" name="Shape 8"/>
          <p:cNvSpPr/>
          <p:nvPr/>
        </p:nvSpPr>
        <p:spPr>
          <a:xfrm>
            <a:off x="3520440" y="2286000"/>
            <a:ext cx="1060704" cy="0"/>
          </a:xfrm>
          <a:prstGeom prst="line">
            <a:avLst/>
          </a:prstGeom>
          <a:noFill/>
          <a:ln w="19050">
            <a:solidFill>
              <a:srgbClr val="7C9CFF"/>
            </a:solidFill>
            <a:prstDash val="solid"/>
            <a:tailEnd type="triangle"/>
          </a:ln>
        </p:spPr>
      </p:sp>
      <p:sp>
        <p:nvSpPr>
          <p:cNvPr id="11" name="Shape 9"/>
          <p:cNvSpPr/>
          <p:nvPr/>
        </p:nvSpPr>
        <p:spPr>
          <a:xfrm>
            <a:off x="7598664" y="2286000"/>
            <a:ext cx="1060704" cy="0"/>
          </a:xfrm>
          <a:prstGeom prst="line">
            <a:avLst/>
          </a:prstGeom>
          <a:noFill/>
          <a:ln w="19050">
            <a:solidFill>
              <a:srgbClr val="7C9CFF"/>
            </a:solidFill>
            <a:prstDash val="solid"/>
            <a:tailEnd type="triangle"/>
          </a:ln>
        </p:spPr>
      </p:sp>
      <p:sp>
        <p:nvSpPr>
          <p:cNvPr id="12" name="Text 10"/>
          <p:cNvSpPr txBox="1"/>
          <p:nvPr/>
        </p:nvSpPr>
        <p:spPr>
          <a:xfrm>
            <a:off x="3566160" y="1874520"/>
            <a:ext cx="1280160" cy="274320"/>
          </a:xfrm>
          <a:prstGeom prst="rect">
            <a:avLst/>
          </a:prstGeom>
          <a:noFill/>
          <a:ln/>
        </p:spPr>
        <p:txBody>
          <a:bodyPr wrap="square" lIns="0" tIns="0" rIns="0" bIns="0" rtlCol="0" anchor="ctr"/>
          <a:lstStyle/>
          <a:p>
            <a:pPr indent="0" marL="0">
              <a:buNone/>
            </a:pPr>
            <a:r>
              <a:rPr lang="en-US" sz="1100" dirty="0">
                <a:solidFill>
                  <a:srgbClr val="7C9CFF"/>
                </a:solidFill>
                <a:latin typeface="Courier New" pitchFamily="34" charset="0"/>
                <a:ea typeface="Courier New" pitchFamily="34" charset="-122"/>
                <a:cs typeface="Courier New" pitchFamily="34" charset="-120"/>
              </a:rPr>
              <a:t>base64</a:t>
            </a:r>
            <a:endParaRPr lang="en-US" sz="1100" dirty="0"/>
          </a:p>
        </p:txBody>
      </p:sp>
      <p:sp>
        <p:nvSpPr>
          <p:cNvPr id="13" name="Text 11"/>
          <p:cNvSpPr txBox="1"/>
          <p:nvPr/>
        </p:nvSpPr>
        <p:spPr>
          <a:xfrm>
            <a:off x="7635240" y="1874520"/>
            <a:ext cx="1097280" cy="274320"/>
          </a:xfrm>
          <a:prstGeom prst="rect">
            <a:avLst/>
          </a:prstGeom>
          <a:noFill/>
          <a:ln/>
        </p:spPr>
        <p:txBody>
          <a:bodyPr wrap="square" lIns="0" tIns="0" rIns="0" bIns="0" rtlCol="0" anchor="ctr"/>
          <a:lstStyle/>
          <a:p>
            <a:pPr indent="0" marL="0">
              <a:buNone/>
            </a:pPr>
            <a:r>
              <a:rPr lang="en-US" sz="1100" dirty="0">
                <a:solidFill>
                  <a:srgbClr val="7C9CFF"/>
                </a:solidFill>
                <a:latin typeface="Courier New" pitchFamily="34" charset="0"/>
                <a:ea typeface="Courier New" pitchFamily="34" charset="-122"/>
                <a:cs typeface="Courier New" pitchFamily="34" charset="-120"/>
              </a:rPr>
              <a:t>base64 -d</a:t>
            </a:r>
            <a:endParaRPr lang="en-US" sz="1100" dirty="0"/>
          </a:p>
        </p:txBody>
      </p:sp>
      <p:sp>
        <p:nvSpPr>
          <p:cNvPr id="14" name="Shape 12"/>
          <p:cNvSpPr/>
          <p:nvPr/>
        </p:nvSpPr>
        <p:spPr>
          <a:xfrm>
            <a:off x="548640" y="3291840"/>
            <a:ext cx="5455768" cy="1828800"/>
          </a:xfrm>
          <a:prstGeom prst="roundRect">
            <a:avLst>
              <a:gd name="adj" fmla="val 3000"/>
            </a:avLst>
          </a:prstGeom>
          <a:solidFill>
            <a:srgbClr val="16294A"/>
          </a:solidFill>
          <a:ln w="12700">
            <a:solidFill>
              <a:srgbClr val="16294A"/>
            </a:solidFill>
            <a:prstDash val="solid"/>
          </a:ln>
        </p:spPr>
      </p:sp>
      <p:sp>
        <p:nvSpPr>
          <p:cNvPr id="15" name="Text 13"/>
          <p:cNvSpPr txBox="1"/>
          <p:nvPr/>
        </p:nvSpPr>
        <p:spPr>
          <a:xfrm>
            <a:off x="749808" y="3493008"/>
            <a:ext cx="5053432" cy="320040"/>
          </a:xfrm>
          <a:prstGeom prst="rect">
            <a:avLst/>
          </a:prstGeom>
          <a:noFill/>
          <a:ln/>
        </p:spPr>
        <p:txBody>
          <a:bodyPr wrap="square" lIns="0" tIns="0" rIns="0" bIns="0" rtlCol="0" anchor="t"/>
          <a:lstStyle/>
          <a:p>
            <a:pPr indent="0" marL="0">
              <a:buNone/>
            </a:pPr>
            <a:r>
              <a:rPr lang="en-US" sz="1700" b="1" dirty="0">
                <a:solidFill>
                  <a:srgbClr val="F5F7FA"/>
                </a:solidFill>
                <a:latin typeface="Calibri" pitchFamily="34" charset="0"/>
                <a:ea typeface="Calibri" pitchFamily="34" charset="-122"/>
                <a:cs typeface="Calibri" pitchFamily="34" charset="-120"/>
              </a:rPr>
              <a:t>Vad Secrets GER</a:t>
            </a:r>
            <a:endParaRPr lang="en-US" sz="1700" dirty="0"/>
          </a:p>
        </p:txBody>
      </p:sp>
      <p:sp>
        <p:nvSpPr>
          <p:cNvPr id="16" name="Text 14"/>
          <p:cNvSpPr txBox="1"/>
          <p:nvPr/>
        </p:nvSpPr>
        <p:spPr>
          <a:xfrm>
            <a:off x="749808" y="3877056"/>
            <a:ext cx="5053432" cy="1088136"/>
          </a:xfrm>
          <a:prstGeom prst="rect">
            <a:avLst/>
          </a:prstGeom>
          <a:noFill/>
          <a:ln/>
        </p:spPr>
        <p:txBody>
          <a:bodyPr wrap="square" lIns="0" tIns="0" rIns="0" bIns="0" rtlCol="0" anchor="t"/>
          <a:lstStyle/>
          <a:p>
            <a:pPr indent="0" marL="0">
              <a:lnSpc>
                <a:spcPct val="115000"/>
              </a:lnSpc>
              <a:buNone/>
            </a:pPr>
            <a:r>
              <a:rPr lang="en-US" sz="1400" dirty="0">
                <a:solidFill>
                  <a:srgbClr val="B9C4D1"/>
                </a:solidFill>
                <a:latin typeface="Arial" pitchFamily="34" charset="0"/>
                <a:ea typeface="Arial" pitchFamily="34" charset="-122"/>
                <a:cs typeface="Arial" pitchFamily="34" charset="-120"/>
              </a:rPr>
              <a:t>Egen behörighet (RBAC), montering i minnet (tmpfs), döljs i describe, kan krypteras i etcd.</a:t>
            </a:r>
            <a:endParaRPr lang="en-US" sz="1400" dirty="0"/>
          </a:p>
        </p:txBody>
      </p:sp>
      <p:sp>
        <p:nvSpPr>
          <p:cNvPr id="17" name="Shape 15"/>
          <p:cNvSpPr/>
          <p:nvPr/>
        </p:nvSpPr>
        <p:spPr>
          <a:xfrm>
            <a:off x="6187288" y="3291840"/>
            <a:ext cx="5455768" cy="1828800"/>
          </a:xfrm>
          <a:prstGeom prst="roundRect">
            <a:avLst>
              <a:gd name="adj" fmla="val 3000"/>
            </a:avLst>
          </a:prstGeom>
          <a:solidFill>
            <a:srgbClr val="3762FF"/>
          </a:solidFill>
          <a:ln w="12700">
            <a:solidFill>
              <a:srgbClr val="3762FF"/>
            </a:solidFill>
            <a:prstDash val="solid"/>
          </a:ln>
        </p:spPr>
      </p:sp>
      <p:sp>
        <p:nvSpPr>
          <p:cNvPr id="18" name="Text 16"/>
          <p:cNvSpPr txBox="1"/>
          <p:nvPr/>
        </p:nvSpPr>
        <p:spPr>
          <a:xfrm>
            <a:off x="6388456" y="3493008"/>
            <a:ext cx="5053432"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Vad Secrets INTE ger</a:t>
            </a:r>
            <a:endParaRPr lang="en-US" sz="1700" dirty="0"/>
          </a:p>
        </p:txBody>
      </p:sp>
      <p:sp>
        <p:nvSpPr>
          <p:cNvPr id="19" name="Text 17"/>
          <p:cNvSpPr txBox="1"/>
          <p:nvPr/>
        </p:nvSpPr>
        <p:spPr>
          <a:xfrm>
            <a:off x="6388456" y="3877056"/>
            <a:ext cx="5053432" cy="1088136"/>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Arial" pitchFamily="34" charset="0"/>
                <a:ea typeface="Arial" pitchFamily="34" charset="-122"/>
                <a:cs typeface="Arial" pitchFamily="34" charset="-120"/>
              </a:rPr>
              <a:t>Kryptering i YAML-filen. Den som har filen - eller rätt att läsa Secrets - har lösenordet.</a:t>
            </a:r>
            <a:endParaRPr lang="en-US" sz="1400" dirty="0"/>
          </a:p>
        </p:txBody>
      </p:sp>
      <p:sp>
        <p:nvSpPr>
          <p:cNvPr id="20" name="Text 18"/>
          <p:cNvSpPr txBox="1"/>
          <p:nvPr/>
        </p:nvSpPr>
        <p:spPr>
          <a:xfrm>
            <a:off x="548640" y="5394960"/>
            <a:ext cx="11094415" cy="457200"/>
          </a:xfrm>
          <a:prstGeom prst="rect">
            <a:avLst/>
          </a:prstGeom>
          <a:noFill/>
          <a:ln/>
        </p:spPr>
        <p:txBody>
          <a:bodyPr wrap="square" lIns="0" tIns="0" rIns="0" bIns="0" rtlCol="0" anchor="t"/>
          <a:lstStyle/>
          <a:p>
            <a:pPr indent="0" marL="0">
              <a:lnSpc>
                <a:spcPct val="120000"/>
              </a:lnSpc>
              <a:buNone/>
            </a:pPr>
            <a:r>
              <a:rPr lang="en-US" sz="1500" dirty="0">
                <a:solidFill>
                  <a:srgbClr val="B9C4D1"/>
                </a:solidFill>
                <a:latin typeface="Arial" pitchFamily="34" charset="0"/>
                <a:ea typeface="Arial" pitchFamily="34" charset="-122"/>
                <a:cs typeface="Arial" pitchFamily="34" charset="-120"/>
              </a:rPr>
              <a:t>Därför går en vanlig Secret-YAML inte att checka in i Git.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2A · SKAPA OCH AVKODA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Skapa en Secret - och läs den i klartext</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secret generic db-credentials -n lab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--from-literal=username=app --from-literal=password='S3cret!'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describe secret db-credentials -n lab   # värdena döljs</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db-credentials -n lab -o yaml # ... men inte här</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Avkoda ett värde - kubectl kan själv:</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db-credentials -n lab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-o go-template='{{.data.password | base64decode}}'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Samma sak i PowerShell: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$b64 = kubectl get secret db-credentials -n lab -o jsonpath='{.data.password}'</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[Text.Encoding]::UTF8.GetString([Convert]::FromBase64String($b64))</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describe</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Visar bara storlek i byte.</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-o yaml</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Visar base64 - lika bra som klartext.</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base64decode</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Inbyggd funktion i kubectls go-template.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2B · SECRET I EN POD</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Som miljövariabel och som fil</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apply -f 02-secret-demo.yaml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logs secret-demo -n lab</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Som miljövariabel: DB_USER=app DB_PASSWORD=S3cret!</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Som filer i /secrets:</a:t>
            </a:r>
            <a:endParaRPr lang="en-US" sz="1150" dirty="0"/>
          </a:p>
          <a:p>
            <a:pPr indent="0" marL="0">
              <a:lnSpc>
                <a:spcPct val="110000"/>
              </a:lnSpc>
              <a:buNone/>
            </a:pPr>
            <a:r>
              <a:rPr lang="en-US" sz="1150" dirty="0">
                <a:solidFill>
                  <a:srgbClr val="B9C4D1"/>
                </a:solidFill>
                <a:latin typeface="Courier New" pitchFamily="34" charset="0"/>
                <a:ea typeface="Courier New" pitchFamily="34" charset="-122"/>
                <a:cs typeface="Courier New" pitchFamily="34" charset="-120"/>
              </a:rPr>
              <a:t>→ lrwxrwxrwx  password -&gt; ..data/password</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exec -n lab secret-demo -- cat /secrets/password</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exec -n lab secret-demo -- df -h /secrets   # tmpfs = i minnet</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secretKeyRef</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Som configMapKeyRef - fast för Secrets.</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tmpfs</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Filerna ligger i minnet, aldrig på nodens disk.</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exec = läsrätt</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Den som får köra exec i podden ser hemligheten.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2C · VÅRA EGNA HEMLIGHETER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Hur säkert är vårt kluster?</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secrets -A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MySQL:s root-lösenord (Bitnami-charten)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mysql -n mysql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-o go-template='{{index .data "mysql-root-password" | base64decode}}'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CQRSApi:s connection string (vår egen chart)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cqrs-api-db -n cqrs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-o go-template='{{.data.connectionString | base64decode}}'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mkcert-nyckeln för *.local (kväll 5)</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local-tls-secret -n kube-system -o yaml</a:t>
            </a:r>
            <a:endParaRPr lang="en-US" sz="11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index</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Behövs när nyckeln har bindestreck.</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Helm-values</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Lösenorden står dessutom i klartext i values och skript.</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Frågan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Vad händer om values-filerna hamnar på GitHub?</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03</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Sealed Secrets</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kubeseal krypterar - bara klustret kan dekryptera</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SEALED SECRETS · FLÖDET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Publik nyckel krypterar, privat nyckel dekrypterar</a:t>
            </a:r>
            <a:endParaRPr lang="en-US" sz="3000" dirty="0"/>
          </a:p>
        </p:txBody>
      </p:sp>
      <p:sp>
        <p:nvSpPr>
          <p:cNvPr id="4" name="Shape 2"/>
          <p:cNvSpPr/>
          <p:nvPr/>
        </p:nvSpPr>
        <p:spPr>
          <a:xfrm>
            <a:off x="548640" y="1691640"/>
            <a:ext cx="1926275" cy="109728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640080" y="1691640"/>
            <a:ext cx="1743395" cy="10972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Secret (YAML)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--dry-run, aldrig i Git</a:t>
            </a:r>
            <a:endParaRPr lang="en-US" sz="1300" dirty="0"/>
          </a:p>
        </p:txBody>
      </p:sp>
      <p:sp>
        <p:nvSpPr>
          <p:cNvPr id="6" name="Shape 4"/>
          <p:cNvSpPr/>
          <p:nvPr/>
        </p:nvSpPr>
        <p:spPr>
          <a:xfrm>
            <a:off x="2511491" y="2240280"/>
            <a:ext cx="292608" cy="0"/>
          </a:xfrm>
          <a:prstGeom prst="line">
            <a:avLst/>
          </a:prstGeom>
          <a:noFill/>
          <a:ln w="19050">
            <a:solidFill>
              <a:srgbClr val="3762FF"/>
            </a:solidFill>
            <a:prstDash val="solid"/>
            <a:tailEnd type="triangle"/>
          </a:ln>
        </p:spPr>
      </p:sp>
      <p:sp>
        <p:nvSpPr>
          <p:cNvPr id="7" name="Shape 5"/>
          <p:cNvSpPr/>
          <p:nvPr/>
        </p:nvSpPr>
        <p:spPr>
          <a:xfrm>
            <a:off x="2840675" y="1691640"/>
            <a:ext cx="1926275" cy="109728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2932115" y="1691640"/>
            <a:ext cx="1743395" cy="10972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kubeseal</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krypterar med publikt cert</a:t>
            </a:r>
            <a:endParaRPr lang="en-US" sz="1300" dirty="0"/>
          </a:p>
        </p:txBody>
      </p:sp>
      <p:sp>
        <p:nvSpPr>
          <p:cNvPr id="9" name="Shape 7"/>
          <p:cNvSpPr/>
          <p:nvPr/>
        </p:nvSpPr>
        <p:spPr>
          <a:xfrm>
            <a:off x="4803526" y="2240280"/>
            <a:ext cx="292608" cy="0"/>
          </a:xfrm>
          <a:prstGeom prst="line">
            <a:avLst/>
          </a:prstGeom>
          <a:noFill/>
          <a:ln w="19050">
            <a:solidFill>
              <a:srgbClr val="3762FF"/>
            </a:solidFill>
            <a:prstDash val="solid"/>
            <a:tailEnd type="triangle"/>
          </a:ln>
        </p:spPr>
      </p:sp>
      <p:sp>
        <p:nvSpPr>
          <p:cNvPr id="10" name="Shape 8"/>
          <p:cNvSpPr/>
          <p:nvPr/>
        </p:nvSpPr>
        <p:spPr>
          <a:xfrm>
            <a:off x="5132710" y="1691640"/>
            <a:ext cx="1926275" cy="1097280"/>
          </a:xfrm>
          <a:prstGeom prst="roundRect">
            <a:avLst>
              <a:gd name="adj" fmla="val 5000"/>
            </a:avLst>
          </a:prstGeom>
          <a:solidFill>
            <a:srgbClr val="3762FF"/>
          </a:solidFill>
          <a:ln w="12700">
            <a:solidFill>
              <a:srgbClr val="3762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5224150" y="1691640"/>
            <a:ext cx="1743395"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SealedSecret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säker att checka in</a:t>
            </a:r>
            <a:endParaRPr lang="en-US" sz="1300" dirty="0"/>
          </a:p>
        </p:txBody>
      </p:sp>
      <p:sp>
        <p:nvSpPr>
          <p:cNvPr id="12" name="Shape 10"/>
          <p:cNvSpPr/>
          <p:nvPr/>
        </p:nvSpPr>
        <p:spPr>
          <a:xfrm>
            <a:off x="7095561" y="2240280"/>
            <a:ext cx="292608" cy="0"/>
          </a:xfrm>
          <a:prstGeom prst="line">
            <a:avLst/>
          </a:prstGeom>
          <a:noFill/>
          <a:ln w="19050">
            <a:solidFill>
              <a:srgbClr val="3762FF"/>
            </a:solidFill>
            <a:prstDash val="solid"/>
            <a:tailEnd type="triangle"/>
          </a:ln>
        </p:spPr>
      </p:sp>
      <p:sp>
        <p:nvSpPr>
          <p:cNvPr id="13" name="Shape 11"/>
          <p:cNvSpPr/>
          <p:nvPr/>
        </p:nvSpPr>
        <p:spPr>
          <a:xfrm>
            <a:off x="7424745" y="1691640"/>
            <a:ext cx="1926275" cy="109728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516185" y="1691640"/>
            <a:ext cx="1743395" cy="10972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controllern</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dekrypterar med privat nyckel</a:t>
            </a:r>
            <a:endParaRPr lang="en-US" sz="1300" dirty="0"/>
          </a:p>
        </p:txBody>
      </p:sp>
      <p:sp>
        <p:nvSpPr>
          <p:cNvPr id="15" name="Shape 13"/>
          <p:cNvSpPr/>
          <p:nvPr/>
        </p:nvSpPr>
        <p:spPr>
          <a:xfrm>
            <a:off x="9387596" y="2240280"/>
            <a:ext cx="292608" cy="0"/>
          </a:xfrm>
          <a:prstGeom prst="line">
            <a:avLst/>
          </a:prstGeom>
          <a:noFill/>
          <a:ln w="19050">
            <a:solidFill>
              <a:srgbClr val="3762FF"/>
            </a:solidFill>
            <a:prstDash val="solid"/>
            <a:tailEnd type="triangle"/>
          </a:ln>
        </p:spPr>
      </p:sp>
      <p:sp>
        <p:nvSpPr>
          <p:cNvPr id="16" name="Shape 14"/>
          <p:cNvSpPr/>
          <p:nvPr/>
        </p:nvSpPr>
        <p:spPr>
          <a:xfrm>
            <a:off x="9716780" y="1691640"/>
            <a:ext cx="1926275" cy="1097280"/>
          </a:xfrm>
          <a:prstGeom prst="roundRect">
            <a:avLst>
              <a:gd name="adj" fmla="val 500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9808220" y="1691640"/>
            <a:ext cx="1743395" cy="1097280"/>
          </a:xfrm>
          <a:prstGeom prst="rect">
            <a:avLst/>
          </a:prstGeom>
          <a:noFill/>
          <a:ln/>
        </p:spPr>
        <p:txBody>
          <a:bodyPr wrap="square" lIns="0" tIns="0" rIns="0" bIns="0" rtlCol="0" anchor="ctr"/>
          <a:lstStyle/>
          <a:p>
            <a:pPr algn="ctr" indent="0" marL="0">
              <a:buNone/>
            </a:pPr>
            <a:r>
              <a:rPr lang="en-US" sz="1300" b="1" dirty="0">
                <a:solidFill>
                  <a:srgbClr val="16202B"/>
                </a:solidFill>
                <a:latin typeface="Calibri" pitchFamily="34" charset="0"/>
                <a:ea typeface="Calibri" pitchFamily="34" charset="-122"/>
                <a:cs typeface="Calibri" pitchFamily="34" charset="-120"/>
              </a:rPr>
              <a:t>Secret</a:t>
            </a:r>
            <a:endParaRPr lang="en-US" sz="1300" dirty="0"/>
          </a:p>
          <a:p>
            <a:pPr algn="ctr" indent="0" marL="0">
              <a:buNone/>
            </a:pPr>
            <a:r>
              <a:rPr lang="en-US" sz="1300" b="1" dirty="0">
                <a:solidFill>
                  <a:srgbClr val="16202B"/>
                </a:solidFill>
                <a:latin typeface="Calibri" pitchFamily="34" charset="0"/>
                <a:ea typeface="Calibri" pitchFamily="34" charset="-122"/>
                <a:cs typeface="Calibri" pitchFamily="34" charset="-120"/>
              </a:rPr>
              <a:t>skapas i klustret</a:t>
            </a:r>
            <a:endParaRPr lang="en-US" sz="1300" dirty="0"/>
          </a:p>
        </p:txBody>
      </p:sp>
      <p:sp>
        <p:nvSpPr>
          <p:cNvPr id="18" name="Shape 16"/>
          <p:cNvSpPr/>
          <p:nvPr/>
        </p:nvSpPr>
        <p:spPr>
          <a:xfrm>
            <a:off x="548640" y="3063240"/>
            <a:ext cx="6492240" cy="457200"/>
          </a:xfrm>
          <a:prstGeom prst="roundRect">
            <a:avLst>
              <a:gd name="adj" fmla="val 10000"/>
            </a:avLst>
          </a:prstGeom>
          <a:solidFill>
            <a:srgbClr val="E8EDFF"/>
          </a:solidFill>
          <a:ln w="12700">
            <a:solidFill>
              <a:srgbClr val="E8EDFF"/>
            </a:solidFill>
            <a:prstDash val="solid"/>
          </a:ln>
        </p:spPr>
      </p:sp>
      <p:sp>
        <p:nvSpPr>
          <p:cNvPr id="19" name="Text 17"/>
          <p:cNvSpPr txBox="1"/>
          <p:nvPr/>
        </p:nvSpPr>
        <p:spPr>
          <a:xfrm>
            <a:off x="731520" y="3063240"/>
            <a:ext cx="6217920" cy="457200"/>
          </a:xfrm>
          <a:prstGeom prst="rect">
            <a:avLst/>
          </a:prstGeom>
          <a:noFill/>
          <a:ln/>
        </p:spPr>
        <p:txBody>
          <a:bodyPr wrap="square" lIns="0" tIns="0" rIns="0" bIns="0" rtlCol="0" anchor="ctr"/>
          <a:lstStyle/>
          <a:p>
            <a:pPr indent="0" marL="0">
              <a:buNone/>
            </a:pPr>
            <a:r>
              <a:rPr lang="en-US" sz="1200" b="1" dirty="0">
                <a:solidFill>
                  <a:srgbClr val="3762FF"/>
                </a:solidFill>
                <a:latin typeface="Arial" pitchFamily="34" charset="0"/>
                <a:ea typeface="Arial" pitchFamily="34" charset="-122"/>
                <a:cs typeface="Arial" pitchFamily="34" charset="-120"/>
              </a:rPr>
              <a:t>Din dator / CI                                                    Git</a:t>
            </a:r>
            <a:endParaRPr lang="en-US" sz="1200" dirty="0"/>
          </a:p>
        </p:txBody>
      </p:sp>
      <p:sp>
        <p:nvSpPr>
          <p:cNvPr id="20" name="Shape 18"/>
          <p:cNvSpPr/>
          <p:nvPr/>
        </p:nvSpPr>
        <p:spPr>
          <a:xfrm>
            <a:off x="7406640" y="3063240"/>
            <a:ext cx="4236415" cy="457200"/>
          </a:xfrm>
          <a:prstGeom prst="roundRect">
            <a:avLst>
              <a:gd name="adj" fmla="val 10000"/>
            </a:avLst>
          </a:prstGeom>
          <a:solidFill>
            <a:srgbClr val="0F1F33"/>
          </a:solidFill>
          <a:ln w="12700">
            <a:solidFill>
              <a:srgbClr val="0F1F33"/>
            </a:solidFill>
            <a:prstDash val="solid"/>
          </a:ln>
        </p:spPr>
      </p:sp>
      <p:sp>
        <p:nvSpPr>
          <p:cNvPr id="21" name="Text 19"/>
          <p:cNvSpPr txBox="1"/>
          <p:nvPr/>
        </p:nvSpPr>
        <p:spPr>
          <a:xfrm>
            <a:off x="7589520" y="3063240"/>
            <a:ext cx="2743200" cy="457200"/>
          </a:xfrm>
          <a:prstGeom prst="rect">
            <a:avLst/>
          </a:prstGeom>
          <a:noFill/>
          <a:ln/>
        </p:spPr>
        <p:txBody>
          <a:bodyPr wrap="square" lIns="0" tIns="0" rIns="0" bIns="0" rtlCol="0" anchor="ctr"/>
          <a:lstStyle/>
          <a:p>
            <a:pPr indent="0" marL="0">
              <a:buNone/>
            </a:pPr>
            <a:r>
              <a:rPr lang="en-US" sz="1200" b="1" dirty="0">
                <a:solidFill>
                  <a:srgbClr val="7C9CFF"/>
                </a:solidFill>
                <a:latin typeface="Arial" pitchFamily="34" charset="0"/>
                <a:ea typeface="Arial" pitchFamily="34" charset="-122"/>
                <a:cs typeface="Arial" pitchFamily="34" charset="-120"/>
              </a:rPr>
              <a:t>Klustret</a:t>
            </a:r>
            <a:endParaRPr lang="en-US" sz="1200" dirty="0"/>
          </a:p>
        </p:txBody>
      </p:sp>
      <p:sp>
        <p:nvSpPr>
          <p:cNvPr id="22" name="Shape 20"/>
          <p:cNvSpPr/>
          <p:nvPr/>
        </p:nvSpPr>
        <p:spPr>
          <a:xfrm>
            <a:off x="548640" y="3840480"/>
            <a:ext cx="3606698" cy="1920240"/>
          </a:xfrm>
          <a:prstGeom prst="roundRect">
            <a:avLst>
              <a:gd name="adj" fmla="val 2857"/>
            </a:avLst>
          </a:prstGeom>
          <a:solidFill>
            <a:srgbClr val="3762FF"/>
          </a:solidFill>
          <a:ln w="12700">
            <a:solidFill>
              <a:srgbClr val="3762FF"/>
            </a:solidFill>
            <a:prstDash val="solid"/>
          </a:ln>
        </p:spPr>
      </p:sp>
      <p:sp>
        <p:nvSpPr>
          <p:cNvPr id="23" name="Text 21"/>
          <p:cNvSpPr txBox="1"/>
          <p:nvPr/>
        </p:nvSpPr>
        <p:spPr>
          <a:xfrm>
            <a:off x="749808" y="404164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Asymmetriskt</a:t>
            </a:r>
            <a:endParaRPr lang="en-US" sz="1500" dirty="0"/>
          </a:p>
        </p:txBody>
      </p:sp>
      <p:sp>
        <p:nvSpPr>
          <p:cNvPr id="24" name="Text 22"/>
          <p:cNvSpPr txBox="1"/>
          <p:nvPr/>
        </p:nvSpPr>
        <p:spPr>
          <a:xfrm>
            <a:off x="749808" y="4425696"/>
            <a:ext cx="3204362" cy="11795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Alla kan kryptera med det publika certifikatet. Bara controllern kan dekryptera.</a:t>
            </a:r>
            <a:endParaRPr lang="en-US" sz="1300" dirty="0"/>
          </a:p>
        </p:txBody>
      </p:sp>
      <p:sp>
        <p:nvSpPr>
          <p:cNvPr id="25" name="Shape 23"/>
          <p:cNvSpPr/>
          <p:nvPr/>
        </p:nvSpPr>
        <p:spPr>
          <a:xfrm>
            <a:off x="4292498" y="3840480"/>
            <a:ext cx="3606698"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6" name="Text 24"/>
          <p:cNvSpPr txBox="1"/>
          <p:nvPr/>
        </p:nvSpPr>
        <p:spPr>
          <a:xfrm>
            <a:off x="4493666" y="404164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Bundet till namn</a:t>
            </a:r>
            <a:endParaRPr lang="en-US" sz="1500" dirty="0"/>
          </a:p>
        </p:txBody>
      </p:sp>
      <p:sp>
        <p:nvSpPr>
          <p:cNvPr id="27" name="Text 25"/>
          <p:cNvSpPr txBox="1"/>
          <p:nvPr/>
        </p:nvSpPr>
        <p:spPr>
          <a:xfrm>
            <a:off x="4493666" y="4425696"/>
            <a:ext cx="3204362" cy="11795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Som standard bara giltig för exakt samma namn och namespace.</a:t>
            </a:r>
            <a:endParaRPr lang="en-US" sz="1300" dirty="0"/>
          </a:p>
        </p:txBody>
      </p:sp>
      <p:sp>
        <p:nvSpPr>
          <p:cNvPr id="28" name="Shape 26"/>
          <p:cNvSpPr/>
          <p:nvPr/>
        </p:nvSpPr>
        <p:spPr>
          <a:xfrm>
            <a:off x="8036357" y="3840480"/>
            <a:ext cx="3606698" cy="1920240"/>
          </a:xfrm>
          <a:prstGeom prst="roundRect">
            <a:avLst>
              <a:gd name="adj" fmla="val 285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Text 27"/>
          <p:cNvSpPr txBox="1"/>
          <p:nvPr/>
        </p:nvSpPr>
        <p:spPr>
          <a:xfrm>
            <a:off x="8237525" y="4041648"/>
            <a:ext cx="3204362" cy="320040"/>
          </a:xfrm>
          <a:prstGeom prst="rect">
            <a:avLst/>
          </a:prstGeom>
          <a:noFill/>
          <a:ln/>
        </p:spPr>
        <p:txBody>
          <a:bodyPr wrap="square" lIns="0" tIns="0" rIns="0" bIns="0" rtlCol="0" anchor="t"/>
          <a:lstStyle/>
          <a:p>
            <a:pPr indent="0" marL="0">
              <a:buNone/>
            </a:pPr>
            <a:r>
              <a:rPr lang="en-US" sz="1500" b="1" dirty="0">
                <a:solidFill>
                  <a:srgbClr val="16202B"/>
                </a:solidFill>
                <a:latin typeface="Calibri" pitchFamily="34" charset="0"/>
                <a:ea typeface="Calibri" pitchFamily="34" charset="-122"/>
                <a:cs typeface="Calibri" pitchFamily="34" charset="-120"/>
              </a:rPr>
              <a:t>Controllern äger Secret:en</a:t>
            </a:r>
            <a:endParaRPr lang="en-US" sz="1500" dirty="0"/>
          </a:p>
        </p:txBody>
      </p:sp>
      <p:sp>
        <p:nvSpPr>
          <p:cNvPr id="30" name="Text 28"/>
          <p:cNvSpPr txBox="1"/>
          <p:nvPr/>
        </p:nvSpPr>
        <p:spPr>
          <a:xfrm>
            <a:off x="8237525" y="4425696"/>
            <a:ext cx="3204362" cy="11795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Ändras SealedSecret - uppdateras Secret. Tas den bort - försvinner Secret.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3A · CONTROLLERN OCH CERTIFIKATET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Hitta controllern och hämta det publika certifikatet</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pods,svc -n sealed-secrets</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logs deploy/sealed-secrets-controller -n sealed-secrets | Select-Object -First 15</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CRD:n - en ny resurstyp i klustret</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crd sealedsecrets.bitnami.com</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explain sealedsecret.spec</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Publika certifikatet - ofarligt att dela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kubeseal --fetch-cert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--controller-name sealed-secrets-controller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--controller-namespace sealed-secrets &gt; pub-cert.pem</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Get-Content pub-cert.pem</a:t>
            </a:r>
            <a:endParaRPr lang="en-US" sz="115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CRD</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Custom Resource Definition - Kubernetes utökat med kind: SealedSecret.</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Loggen</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Visar att controllern skapade sitt nyckelpar vid start.</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pub-cert.pem</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Räcker för att kryptera - även utan tillgång till klustret.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3B · KRYPTERA MED KUBESEAL</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Från Secret till SealedSecret</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delete secret db-credentials -n lab      # bort med klartexten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create secret generic db-credentials -n lab --from-literal=username=app --from-literal=password='S3cret!' --dry-run=client -o yaml | .\kubeseal.exe --controller-name sealed-secrets-controller --controller-namespace sealed-secrets -o yaml &gt; db-credentials-sealed.yaml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Get-Content db-credentials-sealed.yaml           # encryptedData: AgB...</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apply -f db-credentials-sealed.yaml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sealedsecret,secret -n lab</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delete pod secret-demo -n lab ; kubectl apply -f 02-secret-demo.yaml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logs secret-demo -n lab                  # samma lösenord!</a:t>
            </a:r>
            <a:endParaRPr lang="en-US" sz="110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--dry-run | kubeseal</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Klartexten rör aldrig klustret eller disken.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encryptedData</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Lång krypterad sträng per nyckel - säker i Git.</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Podden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Märker ingen skillnad - den läser fortfarande en Secret.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3C · SCOPE</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Försök flytta hemligheten</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create namespace lab2</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Samma fil - men byt namespace: lab -&gt; lab2</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(Get-Content db-credentials-sealed.yaml) -replace 'namespace: lab$','namespace: lab2'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Set-Content stolen.yaml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apply -f stolen.yaml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sealedsecret db-credentials -n lab2 -o yaml   # status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get events -n lab2</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ErrUnsealFailed: no key could decrypt secret (password, username)</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kubectl delete namespace lab2</a:t>
            </a:r>
            <a:endParaRPr lang="en-US" sz="110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strict (standard)</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Krypteringen inkluderar namn + namespace.</a:t>
            </a:r>
            <a:endParaRPr lang="en-US" sz="1200" dirty="0"/>
          </a:p>
        </p:txBody>
      </p:sp>
      <p:sp>
        <p:nvSpPr>
          <p:cNvPr id="13" name="Shape 11"/>
          <p:cNvSpPr/>
          <p:nvPr/>
        </p:nvSpPr>
        <p:spPr>
          <a:xfrm>
            <a:off x="8412480" y="3048000"/>
            <a:ext cx="3230575" cy="1356360"/>
          </a:xfrm>
          <a:prstGeom prst="roundRect">
            <a:avLst>
              <a:gd name="adj" fmla="val 4045"/>
            </a:avLst>
          </a:prstGeom>
          <a:solidFill>
            <a:srgbClr val="16294A"/>
          </a:solidFill>
          <a:ln w="12700">
            <a:solidFill>
              <a:srgbClr val="16294A"/>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namespace-wide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--scope namespace-wide: valfritt namn, samma namespace.</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cluster-wide</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--scope cluster-wide: var som helst. Bekvämt - men svagare.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3D · UPPDATERA OCH OFFLINE</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Byt ett värde - utan att se de andra</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Byt bara lösenordet i den befintliga filen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secret generic db-credentials -n lab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--from-literal=password='Nytt!2026' --dry-run=client -o json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kubeseal --controller-name sealed-secrets-controller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--controller-namespace sealed-secrets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--merge-into db-credentials-sealed.yaml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apply -f db-credentials-sealed.yaml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Kryptera OFFLINE - bara med certifikatet (t.ex. i CI)</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create secret generic api-key -n lab --from-literal=key=cqrs_reader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--dry-run=client -o yaml | kubeseal --cert pub-cert.pem -o yaml &gt; api-key-sealed.yaml</a:t>
            </a:r>
            <a:endParaRPr lang="en-US" sz="115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--merge-into</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Ersätter en nyckel i en befintlig SealedSecret.</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--cert</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Ingen kontakt med klustret behövs för att kryptera.</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Git-diff</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Bara den ändrade nyckeln får ny krypterad text.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04</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Knäck nyckeln</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Var bor den privata nyckeln - och vem kan läsa den?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KNÄCK NYCKELN · VAR BOR DEN?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Nyckeln är en vanlig Secret</a:t>
            </a:r>
            <a:endParaRPr lang="en-US" sz="3000" dirty="0"/>
          </a:p>
        </p:txBody>
      </p:sp>
      <p:sp>
        <p:nvSpPr>
          <p:cNvPr id="4" name="Shape 2"/>
          <p:cNvSpPr/>
          <p:nvPr/>
        </p:nvSpPr>
        <p:spPr>
          <a:xfrm>
            <a:off x="548640" y="1737360"/>
            <a:ext cx="3291840" cy="1188720"/>
          </a:xfrm>
          <a:prstGeom prst="roundRect">
            <a:avLst>
              <a:gd name="adj" fmla="val 4615"/>
            </a:avLst>
          </a:prstGeom>
          <a:solidFill>
            <a:srgbClr val="3762FF"/>
          </a:solidFill>
          <a:ln w="12700">
            <a:solidFill>
              <a:srgbClr val="3762FF"/>
            </a:solidFill>
            <a:prstDash val="solid"/>
          </a:ln>
        </p:spPr>
      </p:sp>
      <p:sp>
        <p:nvSpPr>
          <p:cNvPr id="5" name="Text 3"/>
          <p:cNvSpPr txBox="1"/>
          <p:nvPr/>
        </p:nvSpPr>
        <p:spPr>
          <a:xfrm>
            <a:off x="640080" y="1737360"/>
            <a:ext cx="310896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Secret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sealed-secrets-key…</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tls.crt + tls.key</a:t>
            </a:r>
            <a:endParaRPr lang="en-US" sz="1400" dirty="0"/>
          </a:p>
        </p:txBody>
      </p:sp>
      <p:sp>
        <p:nvSpPr>
          <p:cNvPr id="6" name="Shape 4"/>
          <p:cNvSpPr/>
          <p:nvPr/>
        </p:nvSpPr>
        <p:spPr>
          <a:xfrm>
            <a:off x="4754880" y="1737360"/>
            <a:ext cx="3017520" cy="1188720"/>
          </a:xfrm>
          <a:prstGeom prst="roundRect">
            <a:avLst>
              <a:gd name="adj" fmla="val 4615"/>
            </a:avLst>
          </a:prstGeom>
          <a:solidFill>
            <a:srgbClr val="16294A"/>
          </a:solidFill>
          <a:ln w="12700">
            <a:solidFill>
              <a:srgbClr val="16294A"/>
            </a:solidFill>
            <a:prstDash val="solid"/>
          </a:ln>
        </p:spPr>
      </p:sp>
      <p:sp>
        <p:nvSpPr>
          <p:cNvPr id="7" name="Text 5"/>
          <p:cNvSpPr txBox="1"/>
          <p:nvPr/>
        </p:nvSpPr>
        <p:spPr>
          <a:xfrm>
            <a:off x="4846320" y="1737360"/>
            <a:ext cx="2834640" cy="1188720"/>
          </a:xfrm>
          <a:prstGeom prst="rect">
            <a:avLst/>
          </a:prstGeom>
          <a:noFill/>
          <a:ln/>
        </p:spPr>
        <p:txBody>
          <a:bodyPr wrap="square" lIns="0" tIns="0" rIns="0" bIns="0" rtlCol="0" anchor="ctr"/>
          <a:lstStyle/>
          <a:p>
            <a:pPr algn="ctr" indent="0" marL="0">
              <a:buNone/>
            </a:pPr>
            <a:r>
              <a:rPr lang="en-US" sz="1300" b="1" dirty="0">
                <a:solidFill>
                  <a:srgbClr val="F5F7FA"/>
                </a:solidFill>
                <a:latin typeface="Calibri" pitchFamily="34" charset="0"/>
                <a:ea typeface="Calibri" pitchFamily="34" charset="-122"/>
                <a:cs typeface="Calibri" pitchFamily="34" charset="-120"/>
              </a:rPr>
              <a:t>Pod</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sealed-secrets-controller</a:t>
            </a:r>
            <a:endParaRPr lang="en-US" sz="1300" dirty="0"/>
          </a:p>
          <a:p>
            <a:pPr algn="ctr" indent="0" marL="0">
              <a:buNone/>
            </a:pPr>
            <a:r>
              <a:rPr lang="en-US" sz="1300" b="1" dirty="0">
                <a:solidFill>
                  <a:srgbClr val="F5F7FA"/>
                </a:solidFill>
                <a:latin typeface="Calibri" pitchFamily="34" charset="0"/>
                <a:ea typeface="Calibri" pitchFamily="34" charset="-122"/>
                <a:cs typeface="Calibri" pitchFamily="34" charset="-120"/>
              </a:rPr>
              <a:t>laddar nyckeln i minnet</a:t>
            </a:r>
            <a:endParaRPr lang="en-US" sz="1300" dirty="0"/>
          </a:p>
        </p:txBody>
      </p:sp>
      <p:sp>
        <p:nvSpPr>
          <p:cNvPr id="8" name="Shape 6"/>
          <p:cNvSpPr/>
          <p:nvPr/>
        </p:nvSpPr>
        <p:spPr>
          <a:xfrm>
            <a:off x="8778240" y="1737360"/>
            <a:ext cx="2834640" cy="1188720"/>
          </a:xfrm>
          <a:prstGeom prst="roundRect">
            <a:avLst>
              <a:gd name="adj" fmla="val 4615"/>
            </a:avLst>
          </a:prstGeom>
          <a:solidFill>
            <a:srgbClr val="16294A"/>
          </a:solidFill>
          <a:ln w="12700">
            <a:solidFill>
              <a:srgbClr val="16294A"/>
            </a:solidFill>
            <a:prstDash val="solid"/>
          </a:ln>
        </p:spPr>
      </p:sp>
      <p:sp>
        <p:nvSpPr>
          <p:cNvPr id="9" name="Text 7"/>
          <p:cNvSpPr txBox="1"/>
          <p:nvPr/>
        </p:nvSpPr>
        <p:spPr>
          <a:xfrm>
            <a:off x="8869680" y="1737360"/>
            <a:ext cx="2651760" cy="1188720"/>
          </a:xfrm>
          <a:prstGeom prst="rect">
            <a:avLst/>
          </a:prstGeom>
          <a:noFill/>
          <a:ln/>
        </p:spPr>
        <p:txBody>
          <a:bodyPr wrap="square" lIns="0" tIns="0" rIns="0" bIns="0" rtlCol="0" anchor="ctr"/>
          <a:lstStyle/>
          <a:p>
            <a:pPr algn="ctr" indent="0" marL="0">
              <a:buNone/>
            </a:pPr>
            <a:r>
              <a:rPr lang="en-US" sz="1400" b="1" dirty="0">
                <a:solidFill>
                  <a:srgbClr val="F5F7FA"/>
                </a:solidFill>
                <a:latin typeface="Calibri" pitchFamily="34" charset="0"/>
                <a:ea typeface="Calibri" pitchFamily="34" charset="-122"/>
                <a:cs typeface="Calibri" pitchFamily="34" charset="-120"/>
              </a:rPr>
              <a:t>SealedSecret</a:t>
            </a:r>
            <a:endParaRPr lang="en-US" sz="1400" dirty="0"/>
          </a:p>
          <a:p>
            <a:pPr algn="ctr" indent="0" marL="0">
              <a:buNone/>
            </a:pPr>
            <a:r>
              <a:rPr lang="en-US" sz="1400" b="1" dirty="0">
                <a:solidFill>
                  <a:srgbClr val="F5F7FA"/>
                </a:solidFill>
                <a:latin typeface="Calibri" pitchFamily="34" charset="0"/>
                <a:ea typeface="Calibri" pitchFamily="34" charset="-122"/>
                <a:cs typeface="Calibri" pitchFamily="34" charset="-120"/>
              </a:rPr>
              <a:t>→ Secret</a:t>
            </a:r>
            <a:endParaRPr lang="en-US" sz="1400" dirty="0"/>
          </a:p>
        </p:txBody>
      </p:sp>
      <p:sp>
        <p:nvSpPr>
          <p:cNvPr id="10" name="Shape 8"/>
          <p:cNvSpPr/>
          <p:nvPr/>
        </p:nvSpPr>
        <p:spPr>
          <a:xfrm>
            <a:off x="3886200" y="2331720"/>
            <a:ext cx="822960" cy="0"/>
          </a:xfrm>
          <a:prstGeom prst="line">
            <a:avLst/>
          </a:prstGeom>
          <a:noFill/>
          <a:ln w="19050">
            <a:solidFill>
              <a:srgbClr val="7C9CFF"/>
            </a:solidFill>
            <a:prstDash val="solid"/>
            <a:tailEnd type="triangle"/>
          </a:ln>
        </p:spPr>
      </p:sp>
      <p:sp>
        <p:nvSpPr>
          <p:cNvPr id="11" name="Shape 9"/>
          <p:cNvSpPr/>
          <p:nvPr/>
        </p:nvSpPr>
        <p:spPr>
          <a:xfrm>
            <a:off x="7818120" y="2331720"/>
            <a:ext cx="914400" cy="0"/>
          </a:xfrm>
          <a:prstGeom prst="line">
            <a:avLst/>
          </a:prstGeom>
          <a:noFill/>
          <a:ln w="19050">
            <a:solidFill>
              <a:srgbClr val="7C9CFF"/>
            </a:solidFill>
            <a:prstDash val="solid"/>
            <a:tailEnd type="triangle"/>
          </a:ln>
        </p:spPr>
      </p:sp>
      <p:sp>
        <p:nvSpPr>
          <p:cNvPr id="12" name="Text 10"/>
          <p:cNvSpPr txBox="1"/>
          <p:nvPr/>
        </p:nvSpPr>
        <p:spPr>
          <a:xfrm>
            <a:off x="548640" y="3063240"/>
            <a:ext cx="11094415" cy="365760"/>
          </a:xfrm>
          <a:prstGeom prst="rect">
            <a:avLst/>
          </a:prstGeom>
          <a:noFill/>
          <a:ln/>
        </p:spPr>
        <p:txBody>
          <a:bodyPr wrap="square" lIns="0" tIns="0" rIns="0" bIns="0" rtlCol="0" anchor="t"/>
          <a:lstStyle/>
          <a:p>
            <a:pPr indent="0" marL="0">
              <a:lnSpc>
                <a:spcPct val="120000"/>
              </a:lnSpc>
              <a:buNone/>
            </a:pPr>
            <a:r>
              <a:rPr lang="en-US" sz="1200" dirty="0">
                <a:solidFill>
                  <a:srgbClr val="B9C4D1"/>
                </a:solidFill>
                <a:latin typeface="Courier New" pitchFamily="34" charset="0"/>
                <a:ea typeface="Courier New" pitchFamily="34" charset="-122"/>
                <a:cs typeface="Courier New" pitchFamily="34" charset="-120"/>
              </a:rPr>
              <a:t>namespace sealed-secrets · label sealedsecrets.bitnami.com/sealed-secrets-key=active</a:t>
            </a:r>
            <a:endParaRPr lang="en-US" sz="1200" dirty="0"/>
          </a:p>
        </p:txBody>
      </p:sp>
      <p:sp>
        <p:nvSpPr>
          <p:cNvPr id="13" name="Shape 11"/>
          <p:cNvSpPr/>
          <p:nvPr/>
        </p:nvSpPr>
        <p:spPr>
          <a:xfrm>
            <a:off x="548640" y="3657600"/>
            <a:ext cx="3606698" cy="1600200"/>
          </a:xfrm>
          <a:prstGeom prst="roundRect">
            <a:avLst>
              <a:gd name="adj" fmla="val 3429"/>
            </a:avLst>
          </a:prstGeom>
          <a:solidFill>
            <a:srgbClr val="16294A"/>
          </a:solidFill>
          <a:ln w="12700">
            <a:solidFill>
              <a:srgbClr val="16294A"/>
            </a:solidFill>
            <a:prstDash val="solid"/>
          </a:ln>
        </p:spPr>
      </p:sp>
      <p:sp>
        <p:nvSpPr>
          <p:cNvPr id="14" name="Text 12"/>
          <p:cNvSpPr txBox="1"/>
          <p:nvPr/>
        </p:nvSpPr>
        <p:spPr>
          <a:xfrm>
            <a:off x="749808" y="3858768"/>
            <a:ext cx="3204362"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Certifikatet (tls.crt)</a:t>
            </a:r>
            <a:endParaRPr lang="en-US" sz="1500" dirty="0"/>
          </a:p>
        </p:txBody>
      </p:sp>
      <p:sp>
        <p:nvSpPr>
          <p:cNvPr id="15" name="Text 13"/>
          <p:cNvSpPr txBox="1"/>
          <p:nvPr/>
        </p:nvSpPr>
        <p:spPr>
          <a:xfrm>
            <a:off x="749808" y="4242816"/>
            <a:ext cx="3204362"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Publikt - samma som pub-cert.pem. Kan bara kryptera.</a:t>
            </a:r>
            <a:endParaRPr lang="en-US" sz="1300" dirty="0"/>
          </a:p>
        </p:txBody>
      </p:sp>
      <p:sp>
        <p:nvSpPr>
          <p:cNvPr id="16" name="Shape 14"/>
          <p:cNvSpPr/>
          <p:nvPr/>
        </p:nvSpPr>
        <p:spPr>
          <a:xfrm>
            <a:off x="4292498" y="3657600"/>
            <a:ext cx="3606698" cy="1600200"/>
          </a:xfrm>
          <a:prstGeom prst="roundRect">
            <a:avLst>
              <a:gd name="adj" fmla="val 3429"/>
            </a:avLst>
          </a:prstGeom>
          <a:solidFill>
            <a:srgbClr val="3762FF"/>
          </a:solidFill>
          <a:ln w="12700">
            <a:solidFill>
              <a:srgbClr val="3762FF"/>
            </a:solidFill>
            <a:prstDash val="solid"/>
          </a:ln>
        </p:spPr>
      </p:sp>
      <p:sp>
        <p:nvSpPr>
          <p:cNvPr id="17" name="Text 15"/>
          <p:cNvSpPr txBox="1"/>
          <p:nvPr/>
        </p:nvSpPr>
        <p:spPr>
          <a:xfrm>
            <a:off x="4493666" y="3858768"/>
            <a:ext cx="320436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Nyckeln (tls.key)</a:t>
            </a:r>
            <a:endParaRPr lang="en-US" sz="1500" dirty="0"/>
          </a:p>
        </p:txBody>
      </p:sp>
      <p:sp>
        <p:nvSpPr>
          <p:cNvPr id="18" name="Text 16"/>
          <p:cNvSpPr txBox="1"/>
          <p:nvPr/>
        </p:nvSpPr>
        <p:spPr>
          <a:xfrm>
            <a:off x="4493666" y="4242816"/>
            <a:ext cx="3204362" cy="85953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Privat - dekrypterar ALLA SealedSecrets i klustret.</a:t>
            </a:r>
            <a:endParaRPr lang="en-US" sz="1300" dirty="0"/>
          </a:p>
        </p:txBody>
      </p:sp>
      <p:sp>
        <p:nvSpPr>
          <p:cNvPr id="19" name="Shape 17"/>
          <p:cNvSpPr/>
          <p:nvPr/>
        </p:nvSpPr>
        <p:spPr>
          <a:xfrm>
            <a:off x="8036357" y="3657600"/>
            <a:ext cx="3606698" cy="1600200"/>
          </a:xfrm>
          <a:prstGeom prst="roundRect">
            <a:avLst>
              <a:gd name="adj" fmla="val 3429"/>
            </a:avLst>
          </a:prstGeom>
          <a:solidFill>
            <a:srgbClr val="16294A"/>
          </a:solidFill>
          <a:ln w="12700">
            <a:solidFill>
              <a:srgbClr val="16294A"/>
            </a:solidFill>
            <a:prstDash val="solid"/>
          </a:ln>
        </p:spPr>
      </p:sp>
      <p:sp>
        <p:nvSpPr>
          <p:cNvPr id="20" name="Text 18"/>
          <p:cNvSpPr txBox="1"/>
          <p:nvPr/>
        </p:nvSpPr>
        <p:spPr>
          <a:xfrm>
            <a:off x="8237525" y="3858768"/>
            <a:ext cx="3204362"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Vem kan läsa den?</a:t>
            </a:r>
            <a:endParaRPr lang="en-US" sz="1500" dirty="0"/>
          </a:p>
        </p:txBody>
      </p:sp>
      <p:sp>
        <p:nvSpPr>
          <p:cNvPr id="21" name="Text 19"/>
          <p:cNvSpPr txBox="1"/>
          <p:nvPr/>
        </p:nvSpPr>
        <p:spPr>
          <a:xfrm>
            <a:off x="8237525" y="4242816"/>
            <a:ext cx="3204362" cy="85953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Alla med rätt att läsa Secrets i namespacet sealed-secrets.</a:t>
            </a:r>
            <a:endParaRPr lang="en-US" sz="1300" dirty="0"/>
          </a:p>
        </p:txBody>
      </p:sp>
      <p:sp>
        <p:nvSpPr>
          <p:cNvPr id="22" name="Text 20"/>
          <p:cNvSpPr txBox="1"/>
          <p:nvPr/>
        </p:nvSpPr>
        <p:spPr>
          <a:xfrm>
            <a:off x="548640" y="5440680"/>
            <a:ext cx="11094415" cy="457200"/>
          </a:xfrm>
          <a:prstGeom prst="rect">
            <a:avLst/>
          </a:prstGeom>
          <a:noFill/>
          <a:ln/>
        </p:spPr>
        <p:txBody>
          <a:bodyPr wrap="square" lIns="0" tIns="0" rIns="0" bIns="0" rtlCol="0" anchor="t"/>
          <a:lstStyle/>
          <a:p>
            <a:pPr indent="0" marL="0">
              <a:lnSpc>
                <a:spcPct val="120000"/>
              </a:lnSpc>
              <a:buNone/>
            </a:pPr>
            <a:r>
              <a:rPr lang="en-US" sz="1400" dirty="0">
                <a:solidFill>
                  <a:srgbClr val="B9C4D1"/>
                </a:solidFill>
                <a:latin typeface="Arial" pitchFamily="34" charset="0"/>
                <a:ea typeface="Arial" pitchFamily="34" charset="-122"/>
                <a:cs typeface="Arial" pitchFamily="34" charset="-120"/>
              </a:rPr>
              <a:t>Podden har ingen hemlig fil - nyckeln lagras i klustret som allt annat, och podden läser den via API:t.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4A · HÄMTA NYCKELN</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Ta ut controllerns nyckelpar med kubectl</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secrets -n sealed-secrets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-l sealedsecrets.bitnami.com/sealed-secrets-key=active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Spara hela nyckel-Secret:en (som admin - det är just poängen)</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-n sealed-secrets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-l sealedsecrets.bitnami.com/sealed-secrets-key=active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-o yaml &gt; sealed-secrets-key.yaml</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i="1" dirty="0">
                <a:solidFill>
                  <a:srgbClr val="B9C4D1"/>
                </a:solidFill>
                <a:latin typeface="Courier New" pitchFamily="34" charset="0"/>
                <a:ea typeface="Courier New" pitchFamily="34" charset="-122"/>
                <a:cs typeface="Courier New" pitchFamily="34" charset="-120"/>
              </a:rPr>
              <a:t># Certifikatet i nyckel-Secret:en = det publika certifikatet från labb 3a</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get secret -n sealed-secrets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-l sealedsecrets.bitnami.com/sealed-secrets-key=active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-o go-template='{{range .items}}{{index .data "tls.crt" | base64decode}}{{end}}'</a:t>
            </a:r>
            <a:endParaRPr lang="en-US" sz="11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-l (label)</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Nyckelns namn slumpas - labeln hittar den.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tls.crt</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Jämför med pub-cert.pem - identiska.</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sealed-secrets-key.yaml</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Behandla filen som det farligaste ni har ikväll.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4B · DEKRYPTERA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Från Git-filen tillbaka till klartext</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Bara två filer behövs: den krypterade och nyckeln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Get-Content db-credentials-sealed.yaml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kubeseal --recovery-unseal --recovery-private-key sealed-secrets-key.yaml -o yaml</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apiVersion: v1</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kind: Secret</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data:</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password: Tnl0dCEyMDI2</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username: YXBw</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 och base64 kan vi redan</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[Text.Encoding]::UTF8.GetString([Convert]::FromBase64String('Tnl0dCEyMDI2'))</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 Nytt!2026</a:t>
            </a:r>
            <a:endParaRPr lang="en-US" sz="110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Inget kluster behövs</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Dekrypteringen sker helt lokalt med nyckelfilen.</a:t>
            </a:r>
            <a:endParaRPr lang="en-US" sz="1200" dirty="0"/>
          </a:p>
        </p:txBody>
      </p:sp>
      <p:sp>
        <p:nvSpPr>
          <p:cNvPr id="13" name="Shape 11"/>
          <p:cNvSpPr/>
          <p:nvPr/>
        </p:nvSpPr>
        <p:spPr>
          <a:xfrm>
            <a:off x="8412480" y="3048000"/>
            <a:ext cx="3230575" cy="1356360"/>
          </a:xfrm>
          <a:prstGeom prst="roundRect">
            <a:avLst>
              <a:gd name="adj" fmla="val 4045"/>
            </a:avLst>
          </a:prstGeom>
          <a:solidFill>
            <a:srgbClr val="16294A"/>
          </a:solidFill>
          <a:ln w="12700">
            <a:solidFill>
              <a:srgbClr val="16294A"/>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--recovery-unseal</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Finns för katastrofåterställning - och visar hotet.</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Slutsats</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SealedSecret i Git = säker. Nyckeln = hela säkerheten.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KNÄCK NYCKELN · LÄRDOMAR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Fyra regler för nyckeln</a:t>
            </a:r>
            <a:endParaRPr lang="en-US" sz="3000" dirty="0"/>
          </a:p>
        </p:txBody>
      </p:sp>
      <p:sp>
        <p:nvSpPr>
          <p:cNvPr id="4" name="Shape 2"/>
          <p:cNvSpPr/>
          <p:nvPr/>
        </p:nvSpPr>
        <p:spPr>
          <a:xfrm>
            <a:off x="548640" y="1645920"/>
            <a:ext cx="5455768" cy="1645920"/>
          </a:xfrm>
          <a:prstGeom prst="roundRect">
            <a:avLst>
              <a:gd name="adj" fmla="val 3333"/>
            </a:avLst>
          </a:prstGeom>
          <a:solidFill>
            <a:srgbClr val="3762FF"/>
          </a:solidFill>
          <a:ln w="12700">
            <a:solidFill>
              <a:srgbClr val="3762FF"/>
            </a:solidFill>
            <a:prstDash val="solid"/>
          </a:ln>
        </p:spPr>
      </p:sp>
      <p:sp>
        <p:nvSpPr>
          <p:cNvPr id="5" name="Text 3"/>
          <p:cNvSpPr txBox="1"/>
          <p:nvPr/>
        </p:nvSpPr>
        <p:spPr>
          <a:xfrm>
            <a:off x="749808" y="1847088"/>
            <a:ext cx="5053432"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RBAC</a:t>
            </a:r>
            <a:endParaRPr lang="en-US" sz="1800" dirty="0"/>
          </a:p>
        </p:txBody>
      </p:sp>
      <p:sp>
        <p:nvSpPr>
          <p:cNvPr id="6" name="Text 4"/>
          <p:cNvSpPr txBox="1"/>
          <p:nvPr/>
        </p:nvSpPr>
        <p:spPr>
          <a:xfrm>
            <a:off x="749808" y="2231136"/>
            <a:ext cx="5053432" cy="905256"/>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Arial" pitchFamily="34" charset="0"/>
                <a:ea typeface="Arial" pitchFamily="34" charset="-122"/>
                <a:cs typeface="Arial" pitchFamily="34" charset="-120"/>
              </a:rPr>
              <a:t>Ingen utom klusteradmin får läsa Secrets i sealed-secrets. Labb 7 visar hur.</a:t>
            </a:r>
            <a:endParaRPr lang="en-US" sz="1350" dirty="0"/>
          </a:p>
        </p:txBody>
      </p:sp>
      <p:sp>
        <p:nvSpPr>
          <p:cNvPr id="7" name="Shape 5"/>
          <p:cNvSpPr/>
          <p:nvPr/>
        </p:nvSpPr>
        <p:spPr>
          <a:xfrm>
            <a:off x="6187288" y="1645920"/>
            <a:ext cx="5455768" cy="164592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6388456" y="1847088"/>
            <a:ext cx="5053432" cy="320040"/>
          </a:xfrm>
          <a:prstGeom prst="rect">
            <a:avLst/>
          </a:prstGeom>
          <a:noFill/>
          <a:ln/>
        </p:spPr>
        <p:txBody>
          <a:bodyPr wrap="square" lIns="0" tIns="0" rIns="0" bIns="0" rtlCol="0" anchor="t"/>
          <a:lstStyle/>
          <a:p>
            <a:pPr indent="0" marL="0">
              <a:buNone/>
            </a:pPr>
            <a:r>
              <a:rPr lang="en-US" sz="1800" b="1" dirty="0">
                <a:solidFill>
                  <a:srgbClr val="16202B"/>
                </a:solidFill>
                <a:latin typeface="Calibri" pitchFamily="34" charset="0"/>
                <a:ea typeface="Calibri" pitchFamily="34" charset="-122"/>
                <a:cs typeface="Calibri" pitchFamily="34" charset="-120"/>
              </a:rPr>
              <a:t>Backup</a:t>
            </a:r>
            <a:endParaRPr lang="en-US" sz="1800" dirty="0"/>
          </a:p>
        </p:txBody>
      </p:sp>
      <p:sp>
        <p:nvSpPr>
          <p:cNvPr id="9" name="Text 7"/>
          <p:cNvSpPr txBox="1"/>
          <p:nvPr/>
        </p:nvSpPr>
        <p:spPr>
          <a:xfrm>
            <a:off x="6388456" y="2231136"/>
            <a:ext cx="5053432" cy="905256"/>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Spara nyckel-Secret:en säkert utanför klustret - annars är alla SealedSecrets i Git förlorade med klustret.</a:t>
            </a:r>
            <a:endParaRPr lang="en-US" sz="1350" dirty="0"/>
          </a:p>
        </p:txBody>
      </p:sp>
      <p:sp>
        <p:nvSpPr>
          <p:cNvPr id="10" name="Shape 8"/>
          <p:cNvSpPr/>
          <p:nvPr/>
        </p:nvSpPr>
        <p:spPr>
          <a:xfrm>
            <a:off x="548640" y="3474720"/>
            <a:ext cx="5455768" cy="164592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749808" y="3675888"/>
            <a:ext cx="5053432" cy="320040"/>
          </a:xfrm>
          <a:prstGeom prst="rect">
            <a:avLst/>
          </a:prstGeom>
          <a:noFill/>
          <a:ln/>
        </p:spPr>
        <p:txBody>
          <a:bodyPr wrap="square" lIns="0" tIns="0" rIns="0" bIns="0" rtlCol="0" anchor="t"/>
          <a:lstStyle/>
          <a:p>
            <a:pPr indent="0" marL="0">
              <a:buNone/>
            </a:pPr>
            <a:r>
              <a:rPr lang="en-US" sz="1800" b="1" dirty="0">
                <a:solidFill>
                  <a:srgbClr val="16202B"/>
                </a:solidFill>
                <a:latin typeface="Calibri" pitchFamily="34" charset="0"/>
                <a:ea typeface="Calibri" pitchFamily="34" charset="-122"/>
                <a:cs typeface="Calibri" pitchFamily="34" charset="-120"/>
              </a:rPr>
              <a:t>Rotation</a:t>
            </a:r>
            <a:endParaRPr lang="en-US" sz="1800" dirty="0"/>
          </a:p>
        </p:txBody>
      </p:sp>
      <p:sp>
        <p:nvSpPr>
          <p:cNvPr id="12" name="Text 10"/>
          <p:cNvSpPr txBox="1"/>
          <p:nvPr/>
        </p:nvSpPr>
        <p:spPr>
          <a:xfrm>
            <a:off x="749808" y="4059936"/>
            <a:ext cx="5053432" cy="905256"/>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Controllern skapar en ny nyckel var 30:e dag. Gamla behålls så att gamla filer fortfarande går att dekryptera.</a:t>
            </a:r>
            <a:endParaRPr lang="en-US" sz="1350" dirty="0"/>
          </a:p>
        </p:txBody>
      </p:sp>
      <p:sp>
        <p:nvSpPr>
          <p:cNvPr id="13" name="Shape 11"/>
          <p:cNvSpPr/>
          <p:nvPr/>
        </p:nvSpPr>
        <p:spPr>
          <a:xfrm>
            <a:off x="6187288" y="3474720"/>
            <a:ext cx="5455768" cy="1645920"/>
          </a:xfrm>
          <a:prstGeom prst="roundRect">
            <a:avLst>
              <a:gd name="adj" fmla="val 333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6388456" y="3675888"/>
            <a:ext cx="5053432" cy="320040"/>
          </a:xfrm>
          <a:prstGeom prst="rect">
            <a:avLst/>
          </a:prstGeom>
          <a:noFill/>
          <a:ln/>
        </p:spPr>
        <p:txBody>
          <a:bodyPr wrap="square" lIns="0" tIns="0" rIns="0" bIns="0" rtlCol="0" anchor="t"/>
          <a:lstStyle/>
          <a:p>
            <a:pPr indent="0" marL="0">
              <a:buNone/>
            </a:pPr>
            <a:r>
              <a:rPr lang="en-US" sz="1800" b="1" dirty="0">
                <a:solidFill>
                  <a:srgbClr val="16202B"/>
                </a:solidFill>
                <a:latin typeface="Calibri" pitchFamily="34" charset="0"/>
                <a:ea typeface="Calibri" pitchFamily="34" charset="-122"/>
                <a:cs typeface="Calibri" pitchFamily="34" charset="-120"/>
              </a:rPr>
              <a:t>Städa</a:t>
            </a:r>
            <a:endParaRPr lang="en-US" sz="1800" dirty="0"/>
          </a:p>
        </p:txBody>
      </p:sp>
      <p:sp>
        <p:nvSpPr>
          <p:cNvPr id="15" name="Text 13"/>
          <p:cNvSpPr txBox="1"/>
          <p:nvPr/>
        </p:nvSpPr>
        <p:spPr>
          <a:xfrm>
            <a:off x="6388456" y="4059936"/>
            <a:ext cx="5053432" cy="905256"/>
          </a:xfrm>
          <a:prstGeom prst="rect">
            <a:avLst/>
          </a:prstGeom>
          <a:noFill/>
          <a:ln/>
        </p:spPr>
        <p:txBody>
          <a:bodyPr wrap="square" lIns="0" tIns="0" rIns="0" bIns="0" rtlCol="0" anchor="t"/>
          <a:lstStyle/>
          <a:p>
            <a:pPr indent="0" marL="0">
              <a:lnSpc>
                <a:spcPct val="115000"/>
              </a:lnSpc>
              <a:buNone/>
            </a:pPr>
            <a:r>
              <a:rPr lang="en-US" sz="1350" dirty="0">
                <a:solidFill>
                  <a:srgbClr val="4A5568"/>
                </a:solidFill>
                <a:latin typeface="Arial" pitchFamily="34" charset="0"/>
                <a:ea typeface="Arial" pitchFamily="34" charset="-122"/>
                <a:cs typeface="Arial" pitchFamily="34" charset="-120"/>
              </a:rPr>
              <a:t>Remove-Item sealed-secrets-key.yaml - nu.</a:t>
            </a:r>
            <a:endParaRPr lang="en-US" sz="1350" dirty="0"/>
          </a:p>
        </p:txBody>
      </p:sp>
      <p:sp>
        <p:nvSpPr>
          <p:cNvPr id="16" name="Shape 14"/>
          <p:cNvSpPr/>
          <p:nvPr/>
        </p:nvSpPr>
        <p:spPr>
          <a:xfrm>
            <a:off x="548640" y="5257800"/>
            <a:ext cx="11094415" cy="777240"/>
          </a:xfrm>
          <a:prstGeom prst="roundRect">
            <a:avLst>
              <a:gd name="adj" fmla="val 7059"/>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749808" y="5422392"/>
            <a:ext cx="109728" cy="109728"/>
          </a:xfrm>
          <a:prstGeom prst="ellipse">
            <a:avLst/>
          </a:prstGeom>
          <a:solidFill>
            <a:srgbClr val="D64545"/>
          </a:solidFill>
          <a:ln w="12700">
            <a:solidFill>
              <a:srgbClr val="D64545"/>
            </a:solidFill>
            <a:prstDash val="solid"/>
          </a:ln>
        </p:spPr>
      </p:sp>
      <p:sp>
        <p:nvSpPr>
          <p:cNvPr id="18" name="Shape 16"/>
          <p:cNvSpPr/>
          <p:nvPr/>
        </p:nvSpPr>
        <p:spPr>
          <a:xfrm>
            <a:off x="932688" y="5422392"/>
            <a:ext cx="109728" cy="109728"/>
          </a:xfrm>
          <a:prstGeom prst="ellipse">
            <a:avLst/>
          </a:prstGeom>
          <a:solidFill>
            <a:srgbClr val="FFB020"/>
          </a:solidFill>
          <a:ln w="12700">
            <a:solidFill>
              <a:srgbClr val="FFB020"/>
            </a:solidFill>
            <a:prstDash val="solid"/>
          </a:ln>
        </p:spPr>
      </p:sp>
      <p:sp>
        <p:nvSpPr>
          <p:cNvPr id="19" name="Shape 17"/>
          <p:cNvSpPr/>
          <p:nvPr/>
        </p:nvSpPr>
        <p:spPr>
          <a:xfrm>
            <a:off x="1115568" y="5422392"/>
            <a:ext cx="109728" cy="109728"/>
          </a:xfrm>
          <a:prstGeom prst="ellipse">
            <a:avLst/>
          </a:prstGeom>
          <a:solidFill>
            <a:srgbClr val="3CB371"/>
          </a:solidFill>
          <a:ln w="12700">
            <a:solidFill>
              <a:srgbClr val="3CB371"/>
            </a:solidFill>
            <a:prstDash val="solid"/>
          </a:ln>
        </p:spPr>
      </p:sp>
      <p:sp>
        <p:nvSpPr>
          <p:cNvPr id="20" name="Text 18"/>
          <p:cNvSpPr txBox="1"/>
          <p:nvPr/>
        </p:nvSpPr>
        <p:spPr>
          <a:xfrm>
            <a:off x="777240" y="5715000"/>
            <a:ext cx="10637215" cy="18288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Remove-Item sealed-secrets-key.yaml, stolen.yaml   # gör det nu</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02920" y="1188720"/>
            <a:ext cx="4572000" cy="1920240"/>
          </a:xfrm>
          <a:prstGeom prst="rect">
            <a:avLst/>
          </a:prstGeom>
          <a:noFill/>
          <a:ln/>
        </p:spPr>
        <p:txBody>
          <a:bodyPr wrap="square" lIns="0" tIns="0" rIns="0" bIns="0" rtlCol="0" anchor="ctr"/>
          <a:lstStyle/>
          <a:p>
            <a:pPr indent="0" marL="0">
              <a:buNone/>
            </a:pPr>
            <a:r>
              <a:rPr lang="en-US" sz="15000" b="1" dirty="0">
                <a:solidFill>
                  <a:srgbClr val="16294A"/>
                </a:solidFill>
                <a:latin typeface="Calibri" pitchFamily="34" charset="0"/>
                <a:ea typeface="Calibri" pitchFamily="34" charset="-122"/>
                <a:cs typeface="Calibri" pitchFamily="34" charset="-120"/>
              </a:rPr>
              <a:t>05</a:t>
            </a:r>
            <a:endParaRPr lang="en-US" sz="15000" dirty="0"/>
          </a:p>
        </p:txBody>
      </p:sp>
      <p:sp>
        <p:nvSpPr>
          <p:cNvPr id="3" name="Text 1"/>
          <p:cNvSpPr txBox="1"/>
          <p:nvPr/>
        </p:nvSpPr>
        <p:spPr>
          <a:xfrm>
            <a:off x="548640" y="3063240"/>
            <a:ext cx="11094415" cy="82296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Åtkomst</a:t>
            </a:r>
            <a:endParaRPr lang="en-US" sz="5200" dirty="0"/>
          </a:p>
        </p:txBody>
      </p:sp>
      <p:sp>
        <p:nvSpPr>
          <p:cNvPr id="4" name="Text 2"/>
          <p:cNvSpPr txBox="1"/>
          <p:nvPr/>
        </p:nvSpPr>
        <p:spPr>
          <a:xfrm>
            <a:off x="548640" y="3977640"/>
            <a:ext cx="9144000" cy="45720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En egen användare med klientcertifikat - låst till ett namespace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ÅTKOMST · KUBECONFIG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Ett context väljer namespace - RBAC låser det</a:t>
            </a:r>
            <a:endParaRPr lang="en-US" sz="3000" dirty="0"/>
          </a:p>
        </p:txBody>
      </p:sp>
      <p:sp>
        <p:nvSpPr>
          <p:cNvPr id="4" name="Shape 2"/>
          <p:cNvSpPr/>
          <p:nvPr/>
        </p:nvSpPr>
        <p:spPr>
          <a:xfrm>
            <a:off x="548640" y="1645920"/>
            <a:ext cx="3515258" cy="1463040"/>
          </a:xfrm>
          <a:prstGeom prst="roundRect">
            <a:avLst>
              <a:gd name="adj" fmla="val 3750"/>
            </a:avLst>
          </a:prstGeom>
          <a:solidFill>
            <a:srgbClr val="16294A"/>
          </a:solidFill>
          <a:ln w="12700">
            <a:solidFill>
              <a:srgbClr val="16294A"/>
            </a:solidFill>
            <a:prstDash val="solid"/>
          </a:ln>
        </p:spPr>
      </p:sp>
      <p:sp>
        <p:nvSpPr>
          <p:cNvPr id="5" name="Text 3"/>
          <p:cNvSpPr txBox="1"/>
          <p:nvPr/>
        </p:nvSpPr>
        <p:spPr>
          <a:xfrm>
            <a:off x="749808" y="1847088"/>
            <a:ext cx="3112922" cy="320040"/>
          </a:xfrm>
          <a:prstGeom prst="rect">
            <a:avLst/>
          </a:prstGeom>
          <a:noFill/>
          <a:ln/>
        </p:spPr>
        <p:txBody>
          <a:bodyPr wrap="square" lIns="0" tIns="0" rIns="0" bIns="0" rtlCol="0" anchor="t"/>
          <a:lstStyle/>
          <a:p>
            <a:pPr indent="0" marL="0">
              <a:buNone/>
            </a:pPr>
            <a:r>
              <a:rPr lang="en-US" sz="1800" b="1" dirty="0">
                <a:solidFill>
                  <a:srgbClr val="F5F7FA"/>
                </a:solidFill>
                <a:latin typeface="Calibri" pitchFamily="34" charset="0"/>
                <a:ea typeface="Calibri" pitchFamily="34" charset="-122"/>
                <a:cs typeface="Calibri" pitchFamily="34" charset="-120"/>
              </a:rPr>
              <a:t>cluster</a:t>
            </a:r>
            <a:endParaRPr lang="en-US" sz="1800" dirty="0"/>
          </a:p>
        </p:txBody>
      </p:sp>
      <p:sp>
        <p:nvSpPr>
          <p:cNvPr id="6" name="Text 4"/>
          <p:cNvSpPr txBox="1"/>
          <p:nvPr/>
        </p:nvSpPr>
        <p:spPr>
          <a:xfrm>
            <a:off x="749808" y="2231136"/>
            <a:ext cx="3112922" cy="72237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VAR: API-serverns adress och CA</a:t>
            </a:r>
            <a:endParaRPr lang="en-US" sz="1300" dirty="0"/>
          </a:p>
        </p:txBody>
      </p:sp>
      <p:sp>
        <p:nvSpPr>
          <p:cNvPr id="7" name="Shape 5"/>
          <p:cNvSpPr/>
          <p:nvPr/>
        </p:nvSpPr>
        <p:spPr>
          <a:xfrm>
            <a:off x="548640" y="3246120"/>
            <a:ext cx="3515258" cy="731520"/>
          </a:xfrm>
          <a:prstGeom prst="roundRect">
            <a:avLst>
              <a:gd name="adj" fmla="val 7500"/>
            </a:avLst>
          </a:prstGeom>
          <a:solidFill>
            <a:srgbClr val="16294A"/>
          </a:solidFill>
          <a:ln w="12700">
            <a:solidFill>
              <a:srgbClr val="16294A"/>
            </a:solidFill>
            <a:prstDash val="solid"/>
          </a:ln>
        </p:spPr>
      </p:sp>
      <p:sp>
        <p:nvSpPr>
          <p:cNvPr id="8" name="Shape 6"/>
          <p:cNvSpPr/>
          <p:nvPr/>
        </p:nvSpPr>
        <p:spPr>
          <a:xfrm>
            <a:off x="749808" y="3410712"/>
            <a:ext cx="109728" cy="109728"/>
          </a:xfrm>
          <a:prstGeom prst="ellipse">
            <a:avLst/>
          </a:prstGeom>
          <a:solidFill>
            <a:srgbClr val="D64545"/>
          </a:solidFill>
          <a:ln w="12700">
            <a:solidFill>
              <a:srgbClr val="D64545"/>
            </a:solidFill>
            <a:prstDash val="solid"/>
          </a:ln>
        </p:spPr>
      </p:sp>
      <p:sp>
        <p:nvSpPr>
          <p:cNvPr id="9" name="Shape 7"/>
          <p:cNvSpPr/>
          <p:nvPr/>
        </p:nvSpPr>
        <p:spPr>
          <a:xfrm>
            <a:off x="932688" y="3410712"/>
            <a:ext cx="109728" cy="109728"/>
          </a:xfrm>
          <a:prstGeom prst="ellipse">
            <a:avLst/>
          </a:prstGeom>
          <a:solidFill>
            <a:srgbClr val="FFB020"/>
          </a:solidFill>
          <a:ln w="12700">
            <a:solidFill>
              <a:srgbClr val="FFB020"/>
            </a:solidFill>
            <a:prstDash val="solid"/>
          </a:ln>
        </p:spPr>
      </p:sp>
      <p:sp>
        <p:nvSpPr>
          <p:cNvPr id="10" name="Shape 8"/>
          <p:cNvSpPr/>
          <p:nvPr/>
        </p:nvSpPr>
        <p:spPr>
          <a:xfrm>
            <a:off x="1115568" y="3410712"/>
            <a:ext cx="109728" cy="109728"/>
          </a:xfrm>
          <a:prstGeom prst="ellipse">
            <a:avLst/>
          </a:prstGeom>
          <a:solidFill>
            <a:srgbClr val="3CB371"/>
          </a:solidFill>
          <a:ln w="12700">
            <a:solidFill>
              <a:srgbClr val="3CB371"/>
            </a:solidFill>
            <a:prstDash val="solid"/>
          </a:ln>
        </p:spPr>
      </p:sp>
      <p:sp>
        <p:nvSpPr>
          <p:cNvPr id="11" name="Text 9"/>
          <p:cNvSpPr txBox="1"/>
          <p:nvPr/>
        </p:nvSpPr>
        <p:spPr>
          <a:xfrm>
            <a:off x="777240" y="3703320"/>
            <a:ext cx="3058058" cy="13716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k3d-home</a:t>
            </a:r>
            <a:endParaRPr lang="en-US" sz="1200" dirty="0"/>
          </a:p>
        </p:txBody>
      </p:sp>
      <p:sp>
        <p:nvSpPr>
          <p:cNvPr id="12" name="Shape 10"/>
          <p:cNvSpPr/>
          <p:nvPr/>
        </p:nvSpPr>
        <p:spPr>
          <a:xfrm>
            <a:off x="4338218" y="1645920"/>
            <a:ext cx="3515258" cy="1463040"/>
          </a:xfrm>
          <a:prstGeom prst="roundRect">
            <a:avLst>
              <a:gd name="adj" fmla="val 3750"/>
            </a:avLst>
          </a:prstGeom>
          <a:solidFill>
            <a:srgbClr val="3762FF"/>
          </a:solidFill>
          <a:ln w="12700">
            <a:solidFill>
              <a:srgbClr val="3762FF"/>
            </a:solidFill>
            <a:prstDash val="solid"/>
          </a:ln>
        </p:spPr>
      </p:sp>
      <p:sp>
        <p:nvSpPr>
          <p:cNvPr id="13" name="Text 11"/>
          <p:cNvSpPr txBox="1"/>
          <p:nvPr/>
        </p:nvSpPr>
        <p:spPr>
          <a:xfrm>
            <a:off x="4539386" y="1847088"/>
            <a:ext cx="3112922"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user</a:t>
            </a:r>
            <a:endParaRPr lang="en-US" sz="1800" dirty="0"/>
          </a:p>
        </p:txBody>
      </p:sp>
      <p:sp>
        <p:nvSpPr>
          <p:cNvPr id="14" name="Text 12"/>
          <p:cNvSpPr txBox="1"/>
          <p:nvPr/>
        </p:nvSpPr>
        <p:spPr>
          <a:xfrm>
            <a:off x="4539386" y="2231136"/>
            <a:ext cx="3112922" cy="7223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VEM: klientcertifikat (eller token)</a:t>
            </a:r>
            <a:endParaRPr lang="en-US" sz="1300" dirty="0"/>
          </a:p>
        </p:txBody>
      </p:sp>
      <p:sp>
        <p:nvSpPr>
          <p:cNvPr id="15" name="Shape 13"/>
          <p:cNvSpPr/>
          <p:nvPr/>
        </p:nvSpPr>
        <p:spPr>
          <a:xfrm>
            <a:off x="4338218" y="3246120"/>
            <a:ext cx="3515258" cy="731520"/>
          </a:xfrm>
          <a:prstGeom prst="roundRect">
            <a:avLst>
              <a:gd name="adj" fmla="val 7500"/>
            </a:avLst>
          </a:prstGeom>
          <a:solidFill>
            <a:srgbClr val="16294A"/>
          </a:solidFill>
          <a:ln w="12700">
            <a:solidFill>
              <a:srgbClr val="16294A"/>
            </a:solidFill>
            <a:prstDash val="solid"/>
          </a:ln>
        </p:spPr>
      </p:sp>
      <p:sp>
        <p:nvSpPr>
          <p:cNvPr id="16" name="Shape 14"/>
          <p:cNvSpPr/>
          <p:nvPr/>
        </p:nvSpPr>
        <p:spPr>
          <a:xfrm>
            <a:off x="4539386" y="3410712"/>
            <a:ext cx="109728" cy="109728"/>
          </a:xfrm>
          <a:prstGeom prst="ellipse">
            <a:avLst/>
          </a:prstGeom>
          <a:solidFill>
            <a:srgbClr val="D64545"/>
          </a:solidFill>
          <a:ln w="12700">
            <a:solidFill>
              <a:srgbClr val="D64545"/>
            </a:solidFill>
            <a:prstDash val="solid"/>
          </a:ln>
        </p:spPr>
      </p:sp>
      <p:sp>
        <p:nvSpPr>
          <p:cNvPr id="17" name="Shape 15"/>
          <p:cNvSpPr/>
          <p:nvPr/>
        </p:nvSpPr>
        <p:spPr>
          <a:xfrm>
            <a:off x="4722266" y="3410712"/>
            <a:ext cx="109728" cy="109728"/>
          </a:xfrm>
          <a:prstGeom prst="ellipse">
            <a:avLst/>
          </a:prstGeom>
          <a:solidFill>
            <a:srgbClr val="FFB020"/>
          </a:solidFill>
          <a:ln w="12700">
            <a:solidFill>
              <a:srgbClr val="FFB020"/>
            </a:solidFill>
            <a:prstDash val="solid"/>
          </a:ln>
        </p:spPr>
      </p:sp>
      <p:sp>
        <p:nvSpPr>
          <p:cNvPr id="18" name="Shape 16"/>
          <p:cNvSpPr/>
          <p:nvPr/>
        </p:nvSpPr>
        <p:spPr>
          <a:xfrm>
            <a:off x="4905146" y="3410712"/>
            <a:ext cx="109728" cy="109728"/>
          </a:xfrm>
          <a:prstGeom prst="ellipse">
            <a:avLst/>
          </a:prstGeom>
          <a:solidFill>
            <a:srgbClr val="3CB371"/>
          </a:solidFill>
          <a:ln w="12700">
            <a:solidFill>
              <a:srgbClr val="3CB371"/>
            </a:solidFill>
            <a:prstDash val="solid"/>
          </a:ln>
        </p:spPr>
      </p:sp>
      <p:sp>
        <p:nvSpPr>
          <p:cNvPr id="19" name="Text 17"/>
          <p:cNvSpPr txBox="1"/>
          <p:nvPr/>
        </p:nvSpPr>
        <p:spPr>
          <a:xfrm>
            <a:off x="4566818" y="3703320"/>
            <a:ext cx="3058058" cy="13716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admin@k3d-home · lab-user</a:t>
            </a:r>
            <a:endParaRPr lang="en-US" sz="1200" dirty="0"/>
          </a:p>
        </p:txBody>
      </p:sp>
      <p:sp>
        <p:nvSpPr>
          <p:cNvPr id="20" name="Shape 18"/>
          <p:cNvSpPr/>
          <p:nvPr/>
        </p:nvSpPr>
        <p:spPr>
          <a:xfrm>
            <a:off x="8127797" y="1645920"/>
            <a:ext cx="3515258" cy="1463040"/>
          </a:xfrm>
          <a:prstGeom prst="roundRect">
            <a:avLst>
              <a:gd name="adj" fmla="val 3750"/>
            </a:avLst>
          </a:prstGeom>
          <a:solidFill>
            <a:srgbClr val="16294A"/>
          </a:solidFill>
          <a:ln w="12700">
            <a:solidFill>
              <a:srgbClr val="16294A"/>
            </a:solidFill>
            <a:prstDash val="solid"/>
          </a:ln>
        </p:spPr>
      </p:sp>
      <p:sp>
        <p:nvSpPr>
          <p:cNvPr id="21" name="Text 19"/>
          <p:cNvSpPr txBox="1"/>
          <p:nvPr/>
        </p:nvSpPr>
        <p:spPr>
          <a:xfrm>
            <a:off x="8328965" y="1847088"/>
            <a:ext cx="3112922" cy="320040"/>
          </a:xfrm>
          <a:prstGeom prst="rect">
            <a:avLst/>
          </a:prstGeom>
          <a:noFill/>
          <a:ln/>
        </p:spPr>
        <p:txBody>
          <a:bodyPr wrap="square" lIns="0" tIns="0" rIns="0" bIns="0" rtlCol="0" anchor="t"/>
          <a:lstStyle/>
          <a:p>
            <a:pPr indent="0" marL="0">
              <a:buNone/>
            </a:pPr>
            <a:r>
              <a:rPr lang="en-US" sz="1800" b="1" dirty="0">
                <a:solidFill>
                  <a:srgbClr val="F5F7FA"/>
                </a:solidFill>
                <a:latin typeface="Calibri" pitchFamily="34" charset="0"/>
                <a:ea typeface="Calibri" pitchFamily="34" charset="-122"/>
                <a:cs typeface="Calibri" pitchFamily="34" charset="-120"/>
              </a:rPr>
              <a:t>namespace</a:t>
            </a:r>
            <a:endParaRPr lang="en-US" sz="1800" dirty="0"/>
          </a:p>
        </p:txBody>
      </p:sp>
      <p:sp>
        <p:nvSpPr>
          <p:cNvPr id="22" name="Text 20"/>
          <p:cNvSpPr txBox="1"/>
          <p:nvPr/>
        </p:nvSpPr>
        <p:spPr>
          <a:xfrm>
            <a:off x="8328965" y="2231136"/>
            <a:ext cx="3112922" cy="72237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STANDARD-namespace (valfritt)</a:t>
            </a:r>
            <a:endParaRPr lang="en-US" sz="1300" dirty="0"/>
          </a:p>
        </p:txBody>
      </p:sp>
      <p:sp>
        <p:nvSpPr>
          <p:cNvPr id="23" name="Shape 21"/>
          <p:cNvSpPr/>
          <p:nvPr/>
        </p:nvSpPr>
        <p:spPr>
          <a:xfrm>
            <a:off x="8127797" y="3246120"/>
            <a:ext cx="3515258" cy="731520"/>
          </a:xfrm>
          <a:prstGeom prst="roundRect">
            <a:avLst>
              <a:gd name="adj" fmla="val 7500"/>
            </a:avLst>
          </a:prstGeom>
          <a:solidFill>
            <a:srgbClr val="16294A"/>
          </a:solidFill>
          <a:ln w="12700">
            <a:solidFill>
              <a:srgbClr val="16294A"/>
            </a:solidFill>
            <a:prstDash val="solid"/>
          </a:ln>
        </p:spPr>
      </p:sp>
      <p:sp>
        <p:nvSpPr>
          <p:cNvPr id="24" name="Shape 22"/>
          <p:cNvSpPr/>
          <p:nvPr/>
        </p:nvSpPr>
        <p:spPr>
          <a:xfrm>
            <a:off x="8328965" y="3410712"/>
            <a:ext cx="109728" cy="109728"/>
          </a:xfrm>
          <a:prstGeom prst="ellipse">
            <a:avLst/>
          </a:prstGeom>
          <a:solidFill>
            <a:srgbClr val="D64545"/>
          </a:solidFill>
          <a:ln w="12700">
            <a:solidFill>
              <a:srgbClr val="D64545"/>
            </a:solidFill>
            <a:prstDash val="solid"/>
          </a:ln>
        </p:spPr>
      </p:sp>
      <p:sp>
        <p:nvSpPr>
          <p:cNvPr id="25" name="Shape 23"/>
          <p:cNvSpPr/>
          <p:nvPr/>
        </p:nvSpPr>
        <p:spPr>
          <a:xfrm>
            <a:off x="8511845" y="3410712"/>
            <a:ext cx="109728" cy="109728"/>
          </a:xfrm>
          <a:prstGeom prst="ellipse">
            <a:avLst/>
          </a:prstGeom>
          <a:solidFill>
            <a:srgbClr val="FFB020"/>
          </a:solidFill>
          <a:ln w="12700">
            <a:solidFill>
              <a:srgbClr val="FFB020"/>
            </a:solidFill>
            <a:prstDash val="solid"/>
          </a:ln>
        </p:spPr>
      </p:sp>
      <p:sp>
        <p:nvSpPr>
          <p:cNvPr id="26" name="Shape 24"/>
          <p:cNvSpPr/>
          <p:nvPr/>
        </p:nvSpPr>
        <p:spPr>
          <a:xfrm>
            <a:off x="8694725" y="3410712"/>
            <a:ext cx="109728" cy="109728"/>
          </a:xfrm>
          <a:prstGeom prst="ellipse">
            <a:avLst/>
          </a:prstGeom>
          <a:solidFill>
            <a:srgbClr val="3CB371"/>
          </a:solidFill>
          <a:ln w="12700">
            <a:solidFill>
              <a:srgbClr val="3CB371"/>
            </a:solidFill>
            <a:prstDash val="solid"/>
          </a:ln>
        </p:spPr>
      </p:sp>
      <p:sp>
        <p:nvSpPr>
          <p:cNvPr id="27" name="Text 25"/>
          <p:cNvSpPr txBox="1"/>
          <p:nvPr/>
        </p:nvSpPr>
        <p:spPr>
          <a:xfrm>
            <a:off x="8356397" y="3703320"/>
            <a:ext cx="3058058" cy="137160"/>
          </a:xfrm>
          <a:prstGeom prst="rect">
            <a:avLst/>
          </a:prstGeom>
          <a:noFill/>
          <a:ln/>
        </p:spPr>
        <p:txBody>
          <a:bodyPr wrap="square" lIns="0" tIns="0" rIns="0" bIns="0" rtlCol="0" anchor="t"/>
          <a:lstStyle/>
          <a:p>
            <a:pPr indent="0" marL="0">
              <a:lnSpc>
                <a:spcPct val="110000"/>
              </a:lnSpc>
              <a:buNone/>
            </a:pPr>
            <a:r>
              <a:rPr lang="en-US" sz="1200" dirty="0">
                <a:solidFill>
                  <a:srgbClr val="DDE3EA"/>
                </a:solidFill>
                <a:latin typeface="Courier New" pitchFamily="34" charset="0"/>
                <a:ea typeface="Courier New" pitchFamily="34" charset="-122"/>
                <a:cs typeface="Courier New" pitchFamily="34" charset="-120"/>
              </a:rPr>
              <a:t>lab</a:t>
            </a:r>
            <a:endParaRPr lang="en-US" sz="1200" dirty="0"/>
          </a:p>
        </p:txBody>
      </p:sp>
      <p:sp>
        <p:nvSpPr>
          <p:cNvPr id="28" name="Shape 26"/>
          <p:cNvSpPr/>
          <p:nvPr/>
        </p:nvSpPr>
        <p:spPr>
          <a:xfrm>
            <a:off x="548640" y="4251960"/>
            <a:ext cx="11094415" cy="1508760"/>
          </a:xfrm>
          <a:prstGeom prst="roundRect">
            <a:avLst>
              <a:gd name="adj" fmla="val 3636"/>
            </a:avLst>
          </a:prstGeom>
          <a:solidFill>
            <a:srgbClr val="16294A"/>
          </a:solidFill>
          <a:ln w="12700">
            <a:solidFill>
              <a:srgbClr val="16294A"/>
            </a:solidFill>
            <a:prstDash val="solid"/>
          </a:ln>
        </p:spPr>
      </p:sp>
      <p:sp>
        <p:nvSpPr>
          <p:cNvPr id="29" name="Text 27"/>
          <p:cNvSpPr txBox="1"/>
          <p:nvPr/>
        </p:nvSpPr>
        <p:spPr>
          <a:xfrm>
            <a:off x="822960" y="4251960"/>
            <a:ext cx="10545775" cy="1508760"/>
          </a:xfrm>
          <a:prstGeom prst="rect">
            <a:avLst/>
          </a:prstGeom>
          <a:noFill/>
          <a:ln/>
        </p:spPr>
        <p:txBody>
          <a:bodyPr wrap="square" lIns="0" tIns="0" rIns="0" bIns="0" rtlCol="0" anchor="ctr"/>
          <a:lstStyle/>
          <a:p>
            <a:pPr indent="0" marL="0">
              <a:buNone/>
            </a:pPr>
            <a:r>
              <a:rPr lang="en-US" sz="1500" b="1" dirty="0">
                <a:solidFill>
                  <a:srgbClr val="F5F7FA"/>
                </a:solidFill>
                <a:latin typeface="Arial" pitchFamily="34" charset="0"/>
                <a:ea typeface="Arial" pitchFamily="34" charset="-122"/>
                <a:cs typeface="Arial" pitchFamily="34" charset="-120"/>
              </a:rPr>
              <a:t>context = cluster + user + namespace. </a:t>
            </a:r>
            <a:r>
              <a:rPr lang="en-US" sz="1500" dirty="0">
                <a:solidFill>
                  <a:srgbClr val="B9C4D1"/>
                </a:solidFill>
                <a:latin typeface="Arial" pitchFamily="34" charset="0"/>
                <a:ea typeface="Arial" pitchFamily="34" charset="-122"/>
                <a:cs typeface="Arial" pitchFamily="34" charset="-120"/>
              </a:rPr>
              <a:t>--namespace i ett context är bara en bekvämlighet - kubectl -n kube-system fungerar ändå. Det som faktiskt låser är användaren: en identitet som bara har en Role i ett namespace.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ÅTKOMST · ANVÄNDARCERTIFIKAT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Kubernetes har inga användarkonton</a:t>
            </a:r>
            <a:endParaRPr lang="en-US" sz="3000" dirty="0"/>
          </a:p>
        </p:txBody>
      </p:sp>
      <p:sp>
        <p:nvSpPr>
          <p:cNvPr id="4" name="Text 2"/>
          <p:cNvSpPr txBox="1"/>
          <p:nvPr/>
        </p:nvSpPr>
        <p:spPr>
          <a:xfrm>
            <a:off x="548640" y="1371600"/>
            <a:ext cx="11094415" cy="640080"/>
          </a:xfrm>
          <a:prstGeom prst="rect">
            <a:avLst/>
          </a:prstGeom>
          <a:noFill/>
          <a:ln/>
        </p:spPr>
        <p:txBody>
          <a:bodyPr wrap="square" lIns="0" tIns="0" rIns="0" bIns="0" rtlCol="0" anchor="t"/>
          <a:lstStyle/>
          <a:p>
            <a:pPr indent="0" marL="0">
              <a:lnSpc>
                <a:spcPct val="120000"/>
              </a:lnSpc>
              <a:buNone/>
            </a:pPr>
            <a:r>
              <a:rPr lang="en-US" sz="1500" dirty="0">
                <a:solidFill>
                  <a:srgbClr val="4A5568"/>
                </a:solidFill>
                <a:latin typeface="Arial" pitchFamily="34" charset="0"/>
                <a:ea typeface="Arial" pitchFamily="34" charset="-122"/>
                <a:cs typeface="Arial" pitchFamily="34" charset="-120"/>
              </a:rPr>
              <a:t>En användare är bara namnet i ett klientcertifikat som klustrets CA har signerat. Vi gör samma sak som k3d gjorde för admin@k3d-home:</a:t>
            </a:r>
            <a:endParaRPr lang="en-US" sz="1500" dirty="0"/>
          </a:p>
        </p:txBody>
      </p:sp>
      <p:sp>
        <p:nvSpPr>
          <p:cNvPr id="5" name="Shape 3"/>
          <p:cNvSpPr/>
          <p:nvPr/>
        </p:nvSpPr>
        <p:spPr>
          <a:xfrm>
            <a:off x="548640" y="2148840"/>
            <a:ext cx="6949440" cy="621792"/>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6" name="Text 4"/>
          <p:cNvSpPr txBox="1"/>
          <p:nvPr/>
        </p:nvSpPr>
        <p:spPr>
          <a:xfrm>
            <a:off x="685800" y="2148840"/>
            <a:ext cx="365760" cy="621792"/>
          </a:xfrm>
          <a:prstGeom prst="rect">
            <a:avLst/>
          </a:prstGeom>
          <a:noFill/>
          <a:ln/>
        </p:spPr>
        <p:txBody>
          <a:bodyPr wrap="square" lIns="0" tIns="0" rIns="0" bIns="0" rtlCol="0" anchor="ctr"/>
          <a:lstStyle/>
          <a:p>
            <a:pPr indent="0" marL="0">
              <a:buNone/>
            </a:pPr>
            <a:r>
              <a:rPr lang="en-US" sz="1800" b="1" dirty="0">
                <a:solidFill>
                  <a:srgbClr val="3762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097280" y="2148840"/>
            <a:ext cx="6263640" cy="621792"/>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Nyckel</a:t>
            </a:r>
            <a:r>
              <a:rPr lang="en-US" sz="1300" dirty="0">
                <a:solidFill>
                  <a:srgbClr val="4A5568"/>
                </a:solidFill>
                <a:latin typeface="Arial" pitchFamily="34" charset="0"/>
                <a:ea typeface="Arial" pitchFamily="34" charset="-122"/>
                <a:cs typeface="Arial" pitchFamily="34" charset="-120"/>
              </a:rPr>
              <a:t>  openssl genrsa - den privata nyckeln stannar på din dator</a:t>
            </a:r>
            <a:endParaRPr lang="en-US" sz="1300" dirty="0"/>
          </a:p>
        </p:txBody>
      </p:sp>
      <p:sp>
        <p:nvSpPr>
          <p:cNvPr id="8" name="Shape 6"/>
          <p:cNvSpPr/>
          <p:nvPr/>
        </p:nvSpPr>
        <p:spPr>
          <a:xfrm>
            <a:off x="548640" y="2862072"/>
            <a:ext cx="6949440" cy="621792"/>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9" name="Text 7"/>
          <p:cNvSpPr txBox="1"/>
          <p:nvPr/>
        </p:nvSpPr>
        <p:spPr>
          <a:xfrm>
            <a:off x="685800" y="2862072"/>
            <a:ext cx="365760" cy="621792"/>
          </a:xfrm>
          <a:prstGeom prst="rect">
            <a:avLst/>
          </a:prstGeom>
          <a:noFill/>
          <a:ln/>
        </p:spPr>
        <p:txBody>
          <a:bodyPr wrap="square" lIns="0" tIns="0" rIns="0" bIns="0" rtlCol="0" anchor="ctr"/>
          <a:lstStyle/>
          <a:p>
            <a:pPr indent="0" marL="0">
              <a:buNone/>
            </a:pPr>
            <a:r>
              <a:rPr lang="en-US" sz="1800" b="1" dirty="0">
                <a:solidFill>
                  <a:srgbClr val="3762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097280" y="2862072"/>
            <a:ext cx="6263640" cy="621792"/>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CSR</a:t>
            </a:r>
            <a:r>
              <a:rPr lang="en-US" sz="1300" dirty="0">
                <a:solidFill>
                  <a:srgbClr val="4A5568"/>
                </a:solidFill>
                <a:latin typeface="Arial" pitchFamily="34" charset="0"/>
                <a:ea typeface="Arial" pitchFamily="34" charset="-122"/>
                <a:cs typeface="Arial" pitchFamily="34" charset="-120"/>
              </a:rPr>
              <a:t>  Certificate Signing Request: CN=lab-user, O=lab-team</a:t>
            </a:r>
            <a:endParaRPr lang="en-US" sz="1300" dirty="0"/>
          </a:p>
        </p:txBody>
      </p:sp>
      <p:sp>
        <p:nvSpPr>
          <p:cNvPr id="11" name="Shape 9"/>
          <p:cNvSpPr/>
          <p:nvPr/>
        </p:nvSpPr>
        <p:spPr>
          <a:xfrm>
            <a:off x="548640" y="3575304"/>
            <a:ext cx="6949440" cy="621792"/>
          </a:xfrm>
          <a:prstGeom prst="roundRect">
            <a:avLst>
              <a:gd name="adj" fmla="val 7353"/>
            </a:avLst>
          </a:prstGeom>
          <a:solidFill>
            <a:srgbClr val="3762FF"/>
          </a:solidFill>
          <a:ln w="12700">
            <a:solidFill>
              <a:srgbClr val="3762FF"/>
            </a:solidFill>
            <a:prstDash val="solid"/>
          </a:ln>
        </p:spPr>
      </p:sp>
      <p:sp>
        <p:nvSpPr>
          <p:cNvPr id="12" name="Text 10"/>
          <p:cNvSpPr txBox="1"/>
          <p:nvPr/>
        </p:nvSpPr>
        <p:spPr>
          <a:xfrm>
            <a:off x="685800" y="3575304"/>
            <a:ext cx="36576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097280" y="3575304"/>
            <a:ext cx="6263640" cy="62179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Signera</a:t>
            </a:r>
            <a:r>
              <a:rPr lang="en-US" sz="1300" dirty="0">
                <a:solidFill>
                  <a:srgbClr val="FFFFFF"/>
                </a:solidFill>
                <a:latin typeface="Arial" pitchFamily="34" charset="0"/>
                <a:ea typeface="Arial" pitchFamily="34" charset="-122"/>
                <a:cs typeface="Arial" pitchFamily="34" charset="-120"/>
              </a:rPr>
              <a:t>  Klustret signerar via en CertificateSigningRequest + approve</a:t>
            </a:r>
            <a:endParaRPr lang="en-US" sz="1300" dirty="0"/>
          </a:p>
        </p:txBody>
      </p:sp>
      <p:sp>
        <p:nvSpPr>
          <p:cNvPr id="14" name="Shape 12"/>
          <p:cNvSpPr/>
          <p:nvPr/>
        </p:nvSpPr>
        <p:spPr>
          <a:xfrm>
            <a:off x="548640" y="4288536"/>
            <a:ext cx="6949440" cy="621792"/>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5" name="Text 13"/>
          <p:cNvSpPr txBox="1"/>
          <p:nvPr/>
        </p:nvSpPr>
        <p:spPr>
          <a:xfrm>
            <a:off x="685800" y="4288536"/>
            <a:ext cx="365760" cy="621792"/>
          </a:xfrm>
          <a:prstGeom prst="rect">
            <a:avLst/>
          </a:prstGeom>
          <a:noFill/>
          <a:ln/>
        </p:spPr>
        <p:txBody>
          <a:bodyPr wrap="square" lIns="0" tIns="0" rIns="0" bIns="0" rtlCol="0" anchor="ctr"/>
          <a:lstStyle/>
          <a:p>
            <a:pPr indent="0" marL="0">
              <a:buNone/>
            </a:pPr>
            <a:r>
              <a:rPr lang="en-US" sz="1800" b="1" dirty="0">
                <a:solidFill>
                  <a:srgbClr val="3762FF"/>
                </a:solidFill>
                <a:latin typeface="Calibri" pitchFamily="34" charset="0"/>
                <a:ea typeface="Calibri" pitchFamily="34" charset="-122"/>
                <a:cs typeface="Calibri" pitchFamily="34" charset="-120"/>
              </a:rPr>
              <a:t>4</a:t>
            </a:r>
            <a:endParaRPr lang="en-US" sz="1800" dirty="0"/>
          </a:p>
        </p:txBody>
      </p:sp>
      <p:sp>
        <p:nvSpPr>
          <p:cNvPr id="16" name="Text 14"/>
          <p:cNvSpPr txBox="1"/>
          <p:nvPr/>
        </p:nvSpPr>
        <p:spPr>
          <a:xfrm>
            <a:off x="1097280" y="4288536"/>
            <a:ext cx="6263640" cy="621792"/>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RBAC</a:t>
            </a:r>
            <a:r>
              <a:rPr lang="en-US" sz="1300" dirty="0">
                <a:solidFill>
                  <a:srgbClr val="4A5568"/>
                </a:solidFill>
                <a:latin typeface="Arial" pitchFamily="34" charset="0"/>
                <a:ea typeface="Arial" pitchFamily="34" charset="-122"/>
                <a:cs typeface="Arial" pitchFamily="34" charset="-120"/>
              </a:rPr>
              <a:t>  Role + RoleBinding till User lab-user i namespacet lab</a:t>
            </a:r>
            <a:endParaRPr lang="en-US" sz="1300" dirty="0"/>
          </a:p>
        </p:txBody>
      </p:sp>
      <p:sp>
        <p:nvSpPr>
          <p:cNvPr id="17" name="Shape 15"/>
          <p:cNvSpPr/>
          <p:nvPr/>
        </p:nvSpPr>
        <p:spPr>
          <a:xfrm>
            <a:off x="548640" y="5001768"/>
            <a:ext cx="6949440" cy="621792"/>
          </a:xfrm>
          <a:prstGeom prst="roundRect">
            <a:avLst>
              <a:gd name="adj" fmla="val 735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685800" y="5001768"/>
            <a:ext cx="365760" cy="621792"/>
          </a:xfrm>
          <a:prstGeom prst="rect">
            <a:avLst/>
          </a:prstGeom>
          <a:noFill/>
          <a:ln/>
        </p:spPr>
        <p:txBody>
          <a:bodyPr wrap="square" lIns="0" tIns="0" rIns="0" bIns="0" rtlCol="0" anchor="ctr"/>
          <a:lstStyle/>
          <a:p>
            <a:pPr indent="0" marL="0">
              <a:buNone/>
            </a:pPr>
            <a:r>
              <a:rPr lang="en-US" sz="1800" b="1" dirty="0">
                <a:solidFill>
                  <a:srgbClr val="3762FF"/>
                </a:solidFill>
                <a:latin typeface="Calibri" pitchFamily="34" charset="0"/>
                <a:ea typeface="Calibri" pitchFamily="34" charset="-122"/>
                <a:cs typeface="Calibri" pitchFamily="34" charset="-120"/>
              </a:rPr>
              <a:t>5</a:t>
            </a:r>
            <a:endParaRPr lang="en-US" sz="1800" dirty="0"/>
          </a:p>
        </p:txBody>
      </p:sp>
      <p:sp>
        <p:nvSpPr>
          <p:cNvPr id="19" name="Text 17"/>
          <p:cNvSpPr txBox="1"/>
          <p:nvPr/>
        </p:nvSpPr>
        <p:spPr>
          <a:xfrm>
            <a:off x="1097280" y="5001768"/>
            <a:ext cx="6263640" cy="621792"/>
          </a:xfrm>
          <a:prstGeom prst="rect">
            <a:avLst/>
          </a:prstGeom>
          <a:noFill/>
          <a:ln/>
        </p:spPr>
        <p:txBody>
          <a:bodyPr wrap="square" lIns="0" tIns="0" rIns="0" bIns="0" rtlCol="0" anchor="ctr"/>
          <a:lstStyle/>
          <a:p>
            <a:pPr indent="0" marL="0">
              <a:buNone/>
            </a:pPr>
            <a:r>
              <a:rPr lang="en-US" sz="1300" b="1" dirty="0">
                <a:solidFill>
                  <a:srgbClr val="16202B"/>
                </a:solidFill>
                <a:latin typeface="Arial" pitchFamily="34" charset="0"/>
                <a:ea typeface="Arial" pitchFamily="34" charset="-122"/>
                <a:cs typeface="Arial" pitchFamily="34" charset="-120"/>
              </a:rPr>
              <a:t>kubeconfig</a:t>
            </a:r>
            <a:r>
              <a:rPr lang="en-US" sz="1300" dirty="0">
                <a:solidFill>
                  <a:srgbClr val="4A5568"/>
                </a:solidFill>
                <a:latin typeface="Arial" pitchFamily="34" charset="0"/>
                <a:ea typeface="Arial" pitchFamily="34" charset="-122"/>
                <a:cs typeface="Arial" pitchFamily="34" charset="-120"/>
              </a:rPr>
              <a:t>  set-credentials + set-context lab</a:t>
            </a:r>
            <a:endParaRPr lang="en-US" sz="1300" dirty="0"/>
          </a:p>
        </p:txBody>
      </p:sp>
      <p:sp>
        <p:nvSpPr>
          <p:cNvPr id="20" name="Shape 18"/>
          <p:cNvSpPr/>
          <p:nvPr/>
        </p:nvSpPr>
        <p:spPr>
          <a:xfrm>
            <a:off x="7863840" y="2148840"/>
            <a:ext cx="3779215" cy="169164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1" name="Text 19"/>
          <p:cNvSpPr txBox="1"/>
          <p:nvPr/>
        </p:nvSpPr>
        <p:spPr>
          <a:xfrm>
            <a:off x="8065008" y="2350008"/>
            <a:ext cx="3376879"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CN och O</a:t>
            </a:r>
            <a:endParaRPr lang="en-US" sz="1600" dirty="0"/>
          </a:p>
        </p:txBody>
      </p:sp>
      <p:sp>
        <p:nvSpPr>
          <p:cNvPr id="22" name="Text 20"/>
          <p:cNvSpPr txBox="1"/>
          <p:nvPr/>
        </p:nvSpPr>
        <p:spPr>
          <a:xfrm>
            <a:off x="8065008" y="2734056"/>
            <a:ext cx="3376879" cy="95097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CN (Common Name) blir användarnamnet. O (Organization) blir grupper. RBAC kan binda till båda.</a:t>
            </a:r>
            <a:endParaRPr lang="en-US" sz="1300" dirty="0"/>
          </a:p>
        </p:txBody>
      </p:sp>
      <p:sp>
        <p:nvSpPr>
          <p:cNvPr id="23" name="Shape 21"/>
          <p:cNvSpPr/>
          <p:nvPr/>
        </p:nvSpPr>
        <p:spPr>
          <a:xfrm>
            <a:off x="7863840" y="3977640"/>
            <a:ext cx="3779215" cy="1691640"/>
          </a:xfrm>
          <a:prstGeom prst="roundRect">
            <a:avLst>
              <a:gd name="adj" fmla="val 3243"/>
            </a:avLst>
          </a:prstGeom>
          <a:solidFill>
            <a:srgbClr val="3762FF"/>
          </a:solidFill>
          <a:ln w="12700">
            <a:solidFill>
              <a:srgbClr val="3762FF"/>
            </a:solidFill>
            <a:prstDash val="solid"/>
          </a:ln>
        </p:spPr>
      </p:sp>
      <p:sp>
        <p:nvSpPr>
          <p:cNvPr id="24" name="Text 22"/>
          <p:cNvSpPr txBox="1"/>
          <p:nvPr/>
        </p:nvSpPr>
        <p:spPr>
          <a:xfrm>
            <a:off x="8065008" y="4178808"/>
            <a:ext cx="3376879"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Går inte att återkalla</a:t>
            </a:r>
            <a:endParaRPr lang="en-US" sz="1600" dirty="0"/>
          </a:p>
        </p:txBody>
      </p:sp>
      <p:sp>
        <p:nvSpPr>
          <p:cNvPr id="25" name="Text 23"/>
          <p:cNvSpPr txBox="1"/>
          <p:nvPr/>
        </p:nvSpPr>
        <p:spPr>
          <a:xfrm>
            <a:off x="8065008" y="4562856"/>
            <a:ext cx="3376879" cy="95097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Kubernetes har ingen spärrlista. Ge certifikatet kort livstid - vi kör 24 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7A · NYCKEL OCH CSR</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Skapa en certifikatförfrågan med openssl</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openssl följer med Git for Windows</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Set-Alias openssl "C:\Program Files\Git\usr\bin\openssl.exe"</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cd D:\Kvällskurs\Labbar\Kvall7</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1. Privat nyckel - lämnar aldrig din dator</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openssl genrsa -out lab-user.key 2048</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i="1" dirty="0">
                <a:solidFill>
                  <a:srgbClr val="B9C4D1"/>
                </a:solidFill>
                <a:latin typeface="Courier New" pitchFamily="34" charset="0"/>
                <a:ea typeface="Courier New" pitchFamily="34" charset="-122"/>
                <a:cs typeface="Courier New" pitchFamily="34" charset="-120"/>
              </a:rPr>
              <a:t># 2. CSR: CN = användarnamn, O = grupp</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openssl req -new -key lab-user.key -out lab-user.csr -subj "/CN=lab-user/O=lab-team"</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 </a:t>
            </a:r>
            <a:endParaRPr lang="en-US" sz="1100" dirty="0"/>
          </a:p>
          <a:p>
            <a:pPr indent="0" marL="0">
              <a:lnSpc>
                <a:spcPct val="110000"/>
              </a:lnSpc>
              <a:buNone/>
            </a:pPr>
            <a:r>
              <a:rPr lang="en-US" sz="1100" dirty="0">
                <a:solidFill>
                  <a:srgbClr val="DDE3EA"/>
                </a:solidFill>
                <a:latin typeface="Courier New" pitchFamily="34" charset="0"/>
                <a:ea typeface="Courier New" pitchFamily="34" charset="-122"/>
                <a:cs typeface="Courier New" pitchFamily="34" charset="-120"/>
              </a:rPr>
              <a:t>openssl req -in lab-user.csr -noout -subject</a:t>
            </a:r>
            <a:endParaRPr lang="en-US" sz="1100" dirty="0"/>
          </a:p>
          <a:p>
            <a:pPr indent="0" marL="0">
              <a:lnSpc>
                <a:spcPct val="110000"/>
              </a:lnSpc>
              <a:buNone/>
            </a:pPr>
            <a:r>
              <a:rPr lang="en-US" sz="1100" dirty="0">
                <a:solidFill>
                  <a:srgbClr val="B9C4D1"/>
                </a:solidFill>
                <a:latin typeface="Courier New" pitchFamily="34" charset="0"/>
                <a:ea typeface="Courier New" pitchFamily="34" charset="-122"/>
                <a:cs typeface="Courier New" pitchFamily="34" charset="-120"/>
              </a:rPr>
              <a:t>subject=CN=lab-user, O=lab-team</a:t>
            </a:r>
            <a:endParaRPr lang="en-US" sz="1100" dirty="0"/>
          </a:p>
        </p:txBody>
      </p:sp>
      <p:sp>
        <p:nvSpPr>
          <p:cNvPr id="10" name="Shape 8"/>
          <p:cNvSpPr/>
          <p:nvPr/>
        </p:nvSpPr>
        <p:spPr>
          <a:xfrm>
            <a:off x="8412480" y="1554480"/>
            <a:ext cx="3230575" cy="1356360"/>
          </a:xfrm>
          <a:prstGeom prst="roundRect">
            <a:avLst>
              <a:gd name="adj" fmla="val 4045"/>
            </a:avLst>
          </a:prstGeom>
          <a:solidFill>
            <a:srgbClr val="3762FF"/>
          </a:solidFill>
          <a:ln w="12700">
            <a:solidFill>
              <a:srgbClr val="3762FF"/>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lab-user.key</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Hemlig. Den som har nyckeln + certet ÄR lab-user.</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lab-user.csr</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Publik nyckel + namn. Ofarlig att skicka.</a:t>
            </a:r>
            <a:endParaRPr lang="en-US" sz="1200" dirty="0"/>
          </a:p>
        </p:txBody>
      </p:sp>
      <p:sp>
        <p:nvSpPr>
          <p:cNvPr id="16" name="Shape 14"/>
          <p:cNvSpPr/>
          <p:nvPr/>
        </p:nvSpPr>
        <p:spPr>
          <a:xfrm>
            <a:off x="8412480" y="454152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Set-Alias</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Behövs bara om openssl inte redan finns i PATH.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LABB 7B · LÅT KLUSTRET SIGNERA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CertificateSigningRequest och approve</a:t>
            </a:r>
            <a:endParaRPr lang="en-US" sz="3000" dirty="0"/>
          </a:p>
        </p:txBody>
      </p:sp>
      <p:sp>
        <p:nvSpPr>
          <p:cNvPr id="4" name="Shape 2"/>
          <p:cNvSpPr/>
          <p:nvPr/>
        </p:nvSpPr>
        <p:spPr>
          <a:xfrm>
            <a:off x="548640" y="1554480"/>
            <a:ext cx="7498080" cy="4343400"/>
          </a:xfrm>
          <a:prstGeom prst="roundRect">
            <a:avLst>
              <a:gd name="adj" fmla="val 1263"/>
            </a:avLst>
          </a:prstGeom>
          <a:solidFill>
            <a:srgbClr val="16294A"/>
          </a:solidFill>
          <a:ln w="12700">
            <a:solidFill>
              <a:srgbClr val="16294A"/>
            </a:solidFill>
            <a:prstDash val="solid"/>
          </a:ln>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$req = [Convert]::ToBase64String([IO.File]::ReadAllBytes("$PWD\lab-user.csr"))</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apiVersion: certificates.k8s.io/v1</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kind: CertificateSigningRequest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metadata: { name: lab-user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spec:</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request: $req</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signerName: kubernetes.io/kube-apiserver-client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expirationSeconds: 86400</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usages: ["client auth"]</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 kubectl apply -f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csr lab-user                 # Pending</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certificate approve lab-user     # Approved,Issued</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$crt = kubectl get csr lab-user -o jsonpath='{.status.certificate}'</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[IO.File]::WriteAllBytes("$PWD\lab-user.crt", [Convert]::FromBase64String($crt))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openssl x509 -in lab-user.crt -noout -subject -issuer -enddate</a:t>
            </a:r>
            <a:endParaRPr lang="en-US" sz="1050" dirty="0"/>
          </a:p>
        </p:txBody>
      </p:sp>
      <p:sp>
        <p:nvSpPr>
          <p:cNvPr id="10" name="Shape 8"/>
          <p:cNvSpPr/>
          <p:nvPr/>
        </p:nvSpPr>
        <p:spPr>
          <a:xfrm>
            <a:off x="8412480" y="1554480"/>
            <a:ext cx="3230575" cy="1356360"/>
          </a:xfrm>
          <a:prstGeom prst="roundRect">
            <a:avLst>
              <a:gd name="adj" fmla="val 4045"/>
            </a:avLst>
          </a:prstGeom>
          <a:solidFill>
            <a:srgbClr val="16294A"/>
          </a:solidFill>
          <a:ln w="12700">
            <a:solidFill>
              <a:srgbClr val="16294A"/>
            </a:solidFill>
            <a:prstDash val="solid"/>
          </a:ln>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signerName</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kube-apiserver-client = klientcertifikat för inloggning.</a:t>
            </a:r>
            <a:endParaRPr lang="en-US" sz="1200" dirty="0"/>
          </a:p>
        </p:txBody>
      </p:sp>
      <p:sp>
        <p:nvSpPr>
          <p:cNvPr id="13" name="Shape 11"/>
          <p:cNvSpPr/>
          <p:nvPr/>
        </p:nvSpPr>
        <p:spPr>
          <a:xfrm>
            <a:off x="8412480" y="3048000"/>
            <a:ext cx="3230575" cy="1356360"/>
          </a:xfrm>
          <a:prstGeom prst="roundRect">
            <a:avLst>
              <a:gd name="adj" fmla="val 4045"/>
            </a:avLst>
          </a:prstGeom>
          <a:solidFill>
            <a:srgbClr val="3762FF"/>
          </a:solidFill>
          <a:ln w="12700">
            <a:solidFill>
              <a:srgbClr val="3762FF"/>
            </a:solidFill>
            <a:prstDash val="solid"/>
          </a:ln>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approve</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Admin godkänner. Först då signerar klustrets CA.</a:t>
            </a:r>
            <a:endParaRPr lang="en-US" sz="1200" dirty="0"/>
          </a:p>
        </p:txBody>
      </p:sp>
      <p:sp>
        <p:nvSpPr>
          <p:cNvPr id="16" name="Shape 14"/>
          <p:cNvSpPr/>
          <p:nvPr/>
        </p:nvSpPr>
        <p:spPr>
          <a:xfrm>
            <a:off x="8412480" y="4541520"/>
            <a:ext cx="3230575" cy="1356360"/>
          </a:xfrm>
          <a:prstGeom prst="roundRect">
            <a:avLst>
              <a:gd name="adj" fmla="val 4045"/>
            </a:avLst>
          </a:prstGeom>
          <a:solidFill>
            <a:srgbClr val="16294A"/>
          </a:solidFill>
          <a:ln w="12700">
            <a:solidFill>
              <a:srgbClr val="16294A"/>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5F7FA"/>
                </a:solidFill>
                <a:latin typeface="Calibri" pitchFamily="34" charset="0"/>
                <a:ea typeface="Calibri" pitchFamily="34" charset="-122"/>
                <a:cs typeface="Calibri" pitchFamily="34" charset="-120"/>
              </a:rPr>
              <a:t>$PWD</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B9C4D1"/>
                </a:solidFill>
                <a:latin typeface="Arial" pitchFamily="34" charset="0"/>
                <a:ea typeface="Arial" pitchFamily="34" charset="-122"/>
                <a:cs typeface="Arial" pitchFamily="34" charset="-120"/>
              </a:rPr>
              <a:t>.NET-metoder utgår inte från PowerShells mapp - ange hela sökvägen.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LABB 7C · RBAC OCH CONTEXT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Ge rättigheter, lägg till contextet - och testa</a:t>
            </a:r>
            <a:endParaRPr lang="en-US" sz="3000" dirty="0"/>
          </a:p>
        </p:txBody>
      </p:sp>
      <p:sp>
        <p:nvSpPr>
          <p:cNvPr id="4" name="Shape 2"/>
          <p:cNvSpPr/>
          <p:nvPr/>
        </p:nvSpPr>
        <p:spPr>
          <a:xfrm>
            <a:off x="548640" y="1554480"/>
            <a:ext cx="7498080" cy="4343400"/>
          </a:xfrm>
          <a:prstGeom prst="roundRect">
            <a:avLst>
              <a:gd name="adj" fmla="val 1263"/>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49224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7040880" cy="3749040"/>
          </a:xfrm>
          <a:prstGeom prst="rect">
            <a:avLst/>
          </a:prstGeom>
          <a:noFill/>
          <a:ln/>
        </p:spPr>
        <p:txBody>
          <a:bodyPr wrap="square" lIns="0" tIns="0" rIns="0" bIns="0" rtlCol="0" anchor="t"/>
          <a:lstStyle/>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Get-Content 07-namespace-user.yaml       # Role + RoleBinding till User lab-user</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apply -f 07-namespace-user.yaml</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auth can-i list pods -n lab --as=lab-user      # yes</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auth can-i list pods -n mysql --as=lab-user    # no</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auth can-i get secrets -n lab --as=lab-user    # no</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config set-credentials lab-user --client-certificate=lab-user.crt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--client-key=lab-user.key --embed-certs=true</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config set-context lab --cluster=k3d-home --user=lab-user --namespace=lab</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 </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config use-context lab</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pods                         # fungerar - namespace lab</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pods -n kube-system          # Forbidden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get secrets                      # Forbidden</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auth can-i --list</a:t>
            </a:r>
            <a:endParaRPr lang="en-US" sz="1050" dirty="0"/>
          </a:p>
          <a:p>
            <a:pPr indent="0" marL="0">
              <a:lnSpc>
                <a:spcPct val="110000"/>
              </a:lnSpc>
              <a:buNone/>
            </a:pPr>
            <a:r>
              <a:rPr lang="en-US" sz="1050" dirty="0">
                <a:solidFill>
                  <a:srgbClr val="DDE3EA"/>
                </a:solidFill>
                <a:latin typeface="Courier New" pitchFamily="34" charset="0"/>
                <a:ea typeface="Courier New" pitchFamily="34" charset="-122"/>
                <a:cs typeface="Courier New" pitchFamily="34" charset="-120"/>
              </a:rPr>
              <a:t>kubectl config use-context k3d-home      # tillbaka som admin!</a:t>
            </a:r>
            <a:endParaRPr lang="en-US" sz="1050" dirty="0"/>
          </a:p>
        </p:txBody>
      </p:sp>
      <p:sp>
        <p:nvSpPr>
          <p:cNvPr id="10" name="Shape 8"/>
          <p:cNvSpPr/>
          <p:nvPr/>
        </p:nvSpPr>
        <p:spPr>
          <a:xfrm>
            <a:off x="8412480" y="155448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8613648" y="175564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auth can-i --as</a:t>
            </a:r>
            <a:endParaRPr lang="en-US" sz="1400" dirty="0"/>
          </a:p>
        </p:txBody>
      </p:sp>
      <p:sp>
        <p:nvSpPr>
          <p:cNvPr id="12" name="Text 10"/>
          <p:cNvSpPr txBox="1"/>
          <p:nvPr/>
        </p:nvSpPr>
        <p:spPr>
          <a:xfrm>
            <a:off x="8613648" y="213969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Testa behörigheter utan att byta användare.</a:t>
            </a:r>
            <a:endParaRPr lang="en-US" sz="1200" dirty="0"/>
          </a:p>
        </p:txBody>
      </p:sp>
      <p:sp>
        <p:nvSpPr>
          <p:cNvPr id="13" name="Shape 11"/>
          <p:cNvSpPr/>
          <p:nvPr/>
        </p:nvSpPr>
        <p:spPr>
          <a:xfrm>
            <a:off x="8412480" y="3048000"/>
            <a:ext cx="3230575" cy="1356360"/>
          </a:xfrm>
          <a:prstGeom prst="roundRect">
            <a:avLst>
              <a:gd name="adj" fmla="val 404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613648" y="3249168"/>
            <a:ext cx="282823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--embed-certs</a:t>
            </a:r>
            <a:endParaRPr lang="en-US" sz="1400" dirty="0"/>
          </a:p>
        </p:txBody>
      </p:sp>
      <p:sp>
        <p:nvSpPr>
          <p:cNvPr id="15" name="Text 13"/>
          <p:cNvSpPr txBox="1"/>
          <p:nvPr/>
        </p:nvSpPr>
        <p:spPr>
          <a:xfrm>
            <a:off x="8613648" y="363321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Cert och nyckel kopieras in i kubeconfig.</a:t>
            </a:r>
            <a:endParaRPr lang="en-US" sz="1200" dirty="0"/>
          </a:p>
        </p:txBody>
      </p:sp>
      <p:sp>
        <p:nvSpPr>
          <p:cNvPr id="16" name="Shape 14"/>
          <p:cNvSpPr/>
          <p:nvPr/>
        </p:nvSpPr>
        <p:spPr>
          <a:xfrm>
            <a:off x="8412480" y="4541520"/>
            <a:ext cx="3230575" cy="1356360"/>
          </a:xfrm>
          <a:prstGeom prst="roundRect">
            <a:avLst>
              <a:gd name="adj" fmla="val 4045"/>
            </a:avLst>
          </a:prstGeom>
          <a:solidFill>
            <a:srgbClr val="3762FF"/>
          </a:solidFill>
          <a:ln w="12700">
            <a:solidFill>
              <a:srgbClr val="3762FF"/>
            </a:solidFill>
            <a:prstDash val="solid"/>
          </a:ln>
        </p:spPr>
      </p:sp>
      <p:sp>
        <p:nvSpPr>
          <p:cNvPr id="17" name="Text 15"/>
          <p:cNvSpPr txBox="1"/>
          <p:nvPr/>
        </p:nvSpPr>
        <p:spPr>
          <a:xfrm>
            <a:off x="8613648" y="4742688"/>
            <a:ext cx="282823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Forbidden</a:t>
            </a:r>
            <a:endParaRPr lang="en-US" sz="1400" dirty="0"/>
          </a:p>
        </p:txBody>
      </p:sp>
      <p:sp>
        <p:nvSpPr>
          <p:cNvPr id="18" name="Text 16"/>
          <p:cNvSpPr txBox="1"/>
          <p:nvPr/>
        </p:nvSpPr>
        <p:spPr>
          <a:xfrm>
            <a:off x="8613648" y="5126736"/>
            <a:ext cx="2828239" cy="61569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Inloggad - men RBAC nekar. Det är låsningen.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STÄDA</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Allt bort på en gång</a:t>
            </a:r>
            <a:endParaRPr lang="en-US" sz="3000" dirty="0"/>
          </a:p>
        </p:txBody>
      </p:sp>
      <p:sp>
        <p:nvSpPr>
          <p:cNvPr id="4" name="Shape 2"/>
          <p:cNvSpPr/>
          <p:nvPr/>
        </p:nvSpPr>
        <p:spPr>
          <a:xfrm>
            <a:off x="548640" y="1554480"/>
            <a:ext cx="7223760" cy="3291840"/>
          </a:xfrm>
          <a:prstGeom prst="roundRect">
            <a:avLst>
              <a:gd name="adj" fmla="val 1667"/>
            </a:avLst>
          </a:prstGeom>
          <a:solidFill>
            <a:srgbClr val="0F1F33"/>
          </a:solidFill>
          <a:ln w="12700">
            <a:solidFill>
              <a:srgbClr val="0F1F3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719072"/>
            <a:ext cx="109728" cy="109728"/>
          </a:xfrm>
          <a:prstGeom prst="ellipse">
            <a:avLst/>
          </a:prstGeom>
          <a:solidFill>
            <a:srgbClr val="D64545"/>
          </a:solidFill>
          <a:ln w="12700">
            <a:solidFill>
              <a:srgbClr val="D64545"/>
            </a:solidFill>
            <a:prstDash val="solid"/>
          </a:ln>
        </p:spPr>
      </p:sp>
      <p:sp>
        <p:nvSpPr>
          <p:cNvPr id="6" name="Shape 4"/>
          <p:cNvSpPr/>
          <p:nvPr/>
        </p:nvSpPr>
        <p:spPr>
          <a:xfrm>
            <a:off x="932688" y="1719072"/>
            <a:ext cx="109728" cy="109728"/>
          </a:xfrm>
          <a:prstGeom prst="ellipse">
            <a:avLst/>
          </a:prstGeom>
          <a:solidFill>
            <a:srgbClr val="FFB020"/>
          </a:solidFill>
          <a:ln w="12700">
            <a:solidFill>
              <a:srgbClr val="FFB020"/>
            </a:solidFill>
            <a:prstDash val="solid"/>
          </a:ln>
        </p:spPr>
      </p:sp>
      <p:sp>
        <p:nvSpPr>
          <p:cNvPr id="7" name="Shape 5"/>
          <p:cNvSpPr/>
          <p:nvPr/>
        </p:nvSpPr>
        <p:spPr>
          <a:xfrm>
            <a:off x="1115568" y="1719072"/>
            <a:ext cx="109728" cy="109728"/>
          </a:xfrm>
          <a:prstGeom prst="ellipse">
            <a:avLst/>
          </a:prstGeom>
          <a:solidFill>
            <a:srgbClr val="3CB371"/>
          </a:solidFill>
          <a:ln w="12700">
            <a:solidFill>
              <a:srgbClr val="3CB371"/>
            </a:solidFill>
            <a:prstDash val="solid"/>
          </a:ln>
        </p:spPr>
      </p:sp>
      <p:sp>
        <p:nvSpPr>
          <p:cNvPr id="8" name="Text 6"/>
          <p:cNvSpPr txBox="1"/>
          <p:nvPr/>
        </p:nvSpPr>
        <p:spPr>
          <a:xfrm>
            <a:off x="1371600" y="1645920"/>
            <a:ext cx="6217920" cy="256032"/>
          </a:xfrm>
          <a:prstGeom prst="rect">
            <a:avLst/>
          </a:prstGeom>
          <a:noFill/>
          <a:ln/>
        </p:spPr>
        <p:txBody>
          <a:bodyPr wrap="square" lIns="0" tIns="0" rIns="0" bIns="0" rtlCol="0" anchor="ctr"/>
          <a:lstStyle/>
          <a:p>
            <a:pPr indent="0" marL="0">
              <a:buNone/>
            </a:pPr>
            <a:r>
              <a:rPr lang="en-US" sz="1100" dirty="0">
                <a:solidFill>
                  <a:srgbClr val="B9C4D1"/>
                </a:solidFill>
                <a:latin typeface="Courier New" pitchFamily="34" charset="0"/>
                <a:ea typeface="Courier New" pitchFamily="34" charset="-122"/>
                <a:cs typeface="Courier New" pitchFamily="34" charset="-120"/>
              </a:rPr>
              <a:t>powershell</a:t>
            </a:r>
            <a:endParaRPr lang="en-US" sz="1100" dirty="0"/>
          </a:p>
        </p:txBody>
      </p:sp>
      <p:sp>
        <p:nvSpPr>
          <p:cNvPr id="9" name="Text 7"/>
          <p:cNvSpPr txBox="1"/>
          <p:nvPr/>
        </p:nvSpPr>
        <p:spPr>
          <a:xfrm>
            <a:off x="777240" y="2011680"/>
            <a:ext cx="6766560" cy="2697480"/>
          </a:xfrm>
          <a:prstGeom prst="rect">
            <a:avLst/>
          </a:prstGeom>
          <a:noFill/>
          <a:ln/>
        </p:spPr>
        <p:txBody>
          <a:bodyPr wrap="square" lIns="0" tIns="0" rIns="0" bIns="0" rtlCol="0" anchor="t"/>
          <a:lstStyle/>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config use-context k3d-home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delete namespace lab</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delete csr lab-user</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config delete-context lab</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kubectl config delete-user lab-user</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 </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Remove-Item lab-user.key, lab-user.csr, lab-user.crt -ErrorAction SilentlyContinue</a:t>
            </a:r>
            <a:endParaRPr lang="en-US" sz="1150" dirty="0"/>
          </a:p>
          <a:p>
            <a:pPr indent="0" marL="0">
              <a:lnSpc>
                <a:spcPct val="110000"/>
              </a:lnSpc>
              <a:buNone/>
            </a:pPr>
            <a:r>
              <a:rPr lang="en-US" sz="1150" dirty="0">
                <a:solidFill>
                  <a:srgbClr val="DDE3EA"/>
                </a:solidFill>
                <a:latin typeface="Courier New" pitchFamily="34" charset="0"/>
                <a:ea typeface="Courier New" pitchFamily="34" charset="-122"/>
                <a:cs typeface="Courier New" pitchFamily="34" charset="-120"/>
              </a:rPr>
              <a:t>Remove-Item sealed-secrets-key.yaml, stolen.yaml -ErrorAction SilentlyContinue</a:t>
            </a:r>
            <a:endParaRPr lang="en-US" sz="1150" dirty="0"/>
          </a:p>
        </p:txBody>
      </p:sp>
      <p:sp>
        <p:nvSpPr>
          <p:cNvPr id="10" name="Shape 8"/>
          <p:cNvSpPr/>
          <p:nvPr/>
        </p:nvSpPr>
        <p:spPr>
          <a:xfrm>
            <a:off x="8138160" y="1554480"/>
            <a:ext cx="3504895" cy="1577340"/>
          </a:xfrm>
          <a:prstGeom prst="roundRect">
            <a:avLst>
              <a:gd name="adj" fmla="val 3478"/>
            </a:avLst>
          </a:prstGeom>
          <a:solidFill>
            <a:srgbClr val="3762FF"/>
          </a:solidFill>
          <a:ln w="12700">
            <a:solidFill>
              <a:srgbClr val="3762FF"/>
            </a:solidFill>
            <a:prstDash val="solid"/>
          </a:ln>
        </p:spPr>
      </p:sp>
      <p:sp>
        <p:nvSpPr>
          <p:cNvPr id="11" name="Text 9"/>
          <p:cNvSpPr txBox="1"/>
          <p:nvPr/>
        </p:nvSpPr>
        <p:spPr>
          <a:xfrm>
            <a:off x="8339328" y="1755648"/>
            <a:ext cx="3102559"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delete namespace</a:t>
            </a:r>
            <a:endParaRPr lang="en-US" sz="1400" dirty="0"/>
          </a:p>
        </p:txBody>
      </p:sp>
      <p:sp>
        <p:nvSpPr>
          <p:cNvPr id="12" name="Text 10"/>
          <p:cNvSpPr txBox="1"/>
          <p:nvPr/>
        </p:nvSpPr>
        <p:spPr>
          <a:xfrm>
            <a:off x="8339328" y="2139696"/>
            <a:ext cx="3102559" cy="83667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Tar bort ALLT i namespacet: poddar, ConfigMaps, Secrets och RBAC.</a:t>
            </a:r>
            <a:endParaRPr lang="en-US" sz="1200" dirty="0"/>
          </a:p>
        </p:txBody>
      </p:sp>
      <p:sp>
        <p:nvSpPr>
          <p:cNvPr id="13" name="Shape 11"/>
          <p:cNvSpPr/>
          <p:nvPr/>
        </p:nvSpPr>
        <p:spPr>
          <a:xfrm>
            <a:off x="8138160" y="3268980"/>
            <a:ext cx="3504895" cy="1577340"/>
          </a:xfrm>
          <a:prstGeom prst="roundRect">
            <a:avLst>
              <a:gd name="adj" fmla="val 3478"/>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339328" y="3470148"/>
            <a:ext cx="3102559" cy="3200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kubeconfig och filer</a:t>
            </a:r>
            <a:endParaRPr lang="en-US" sz="1400" dirty="0"/>
          </a:p>
        </p:txBody>
      </p:sp>
      <p:sp>
        <p:nvSpPr>
          <p:cNvPr id="15" name="Text 13"/>
          <p:cNvSpPr txBox="1"/>
          <p:nvPr/>
        </p:nvSpPr>
        <p:spPr>
          <a:xfrm>
            <a:off x="8339328" y="3854196"/>
            <a:ext cx="3102559" cy="836676"/>
          </a:xfrm>
          <a:prstGeom prst="rect">
            <a:avLst/>
          </a:prstGeom>
          <a:noFill/>
          <a:ln/>
        </p:spPr>
        <p:txBody>
          <a:bodyPr wrap="square" lIns="0" tIns="0" rIns="0" bIns="0" rtlCol="0" anchor="t"/>
          <a:lstStyle/>
          <a:p>
            <a:pPr indent="0" marL="0">
              <a:lnSpc>
                <a:spcPct val="115000"/>
              </a:lnSpc>
              <a:buNone/>
            </a:pPr>
            <a:r>
              <a:rPr lang="en-US" sz="1200" dirty="0">
                <a:solidFill>
                  <a:srgbClr val="4A5568"/>
                </a:solidFill>
                <a:latin typeface="Arial" pitchFamily="34" charset="0"/>
                <a:ea typeface="Arial" pitchFamily="34" charset="-122"/>
                <a:cs typeface="Arial" pitchFamily="34" charset="-120"/>
              </a:rPr>
              <a:t>Context, användare och nyckelfiler tas bort separat.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7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3762FF"/>
                </a:solidFill>
                <a:latin typeface="Arial" pitchFamily="34" charset="0"/>
                <a:ea typeface="Arial" pitchFamily="34" charset="-122"/>
                <a:cs typeface="Arial" pitchFamily="34" charset="-120"/>
              </a:rPr>
              <a:t>SAMMANFATTNING</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16202B"/>
                </a:solidFill>
                <a:latin typeface="Calibri" pitchFamily="34" charset="0"/>
                <a:ea typeface="Calibri" pitchFamily="34" charset="-122"/>
                <a:cs typeface="Calibri" pitchFamily="34" charset="-120"/>
              </a:rPr>
              <a:t>Tio begrepp att ta med sig hem</a:t>
            </a:r>
            <a:endParaRPr lang="en-US" sz="3000" dirty="0"/>
          </a:p>
        </p:txBody>
      </p:sp>
      <p:sp>
        <p:nvSpPr>
          <p:cNvPr id="4" name="Shape 2"/>
          <p:cNvSpPr/>
          <p:nvPr/>
        </p:nvSpPr>
        <p:spPr>
          <a:xfrm>
            <a:off x="548640"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5" name="Text 3"/>
          <p:cNvSpPr txBox="1"/>
          <p:nvPr/>
        </p:nvSpPr>
        <p:spPr>
          <a:xfrm>
            <a:off x="749808"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ConfigMap</a:t>
            </a:r>
            <a:endParaRPr lang="en-US" sz="1600" dirty="0"/>
          </a:p>
        </p:txBody>
      </p:sp>
      <p:sp>
        <p:nvSpPr>
          <p:cNvPr id="6" name="Text 4"/>
          <p:cNvSpPr txBox="1"/>
          <p:nvPr/>
        </p:nvSpPr>
        <p:spPr>
          <a:xfrm>
            <a:off x="749808"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Konfiguration utanför imagen</a:t>
            </a:r>
            <a:endParaRPr lang="en-US" sz="1300" dirty="0"/>
          </a:p>
        </p:txBody>
      </p:sp>
      <p:sp>
        <p:nvSpPr>
          <p:cNvPr id="7" name="Shape 5"/>
          <p:cNvSpPr/>
          <p:nvPr/>
        </p:nvSpPr>
        <p:spPr>
          <a:xfrm>
            <a:off x="2804099"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3005267"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Secret</a:t>
            </a:r>
            <a:endParaRPr lang="en-US" sz="1600" dirty="0"/>
          </a:p>
        </p:txBody>
      </p:sp>
      <p:sp>
        <p:nvSpPr>
          <p:cNvPr id="9" name="Text 7"/>
          <p:cNvSpPr txBox="1"/>
          <p:nvPr/>
        </p:nvSpPr>
        <p:spPr>
          <a:xfrm>
            <a:off x="3005267"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Base64 - inte kryptering</a:t>
            </a:r>
            <a:endParaRPr lang="en-US" sz="1300" dirty="0"/>
          </a:p>
        </p:txBody>
      </p:sp>
      <p:sp>
        <p:nvSpPr>
          <p:cNvPr id="10" name="Shape 8"/>
          <p:cNvSpPr/>
          <p:nvPr/>
        </p:nvSpPr>
        <p:spPr>
          <a:xfrm>
            <a:off x="5059558"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5260726"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SealedSecret</a:t>
            </a:r>
            <a:endParaRPr lang="en-US" sz="1600" dirty="0"/>
          </a:p>
        </p:txBody>
      </p:sp>
      <p:sp>
        <p:nvSpPr>
          <p:cNvPr id="12" name="Text 10"/>
          <p:cNvSpPr txBox="1"/>
          <p:nvPr/>
        </p:nvSpPr>
        <p:spPr>
          <a:xfrm>
            <a:off x="5260726"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Krypterad, säker i Git</a:t>
            </a:r>
            <a:endParaRPr lang="en-US" sz="1300" dirty="0"/>
          </a:p>
        </p:txBody>
      </p:sp>
      <p:sp>
        <p:nvSpPr>
          <p:cNvPr id="13" name="Shape 11"/>
          <p:cNvSpPr/>
          <p:nvPr/>
        </p:nvSpPr>
        <p:spPr>
          <a:xfrm>
            <a:off x="7315017"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7516185"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kubeseal</a:t>
            </a:r>
            <a:endParaRPr lang="en-US" sz="1600" dirty="0"/>
          </a:p>
        </p:txBody>
      </p:sp>
      <p:sp>
        <p:nvSpPr>
          <p:cNvPr id="15" name="Text 13"/>
          <p:cNvSpPr txBox="1"/>
          <p:nvPr/>
        </p:nvSpPr>
        <p:spPr>
          <a:xfrm>
            <a:off x="7516185"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Krypterar med publikt cert</a:t>
            </a:r>
            <a:endParaRPr lang="en-US" sz="1300" dirty="0"/>
          </a:p>
        </p:txBody>
      </p:sp>
      <p:sp>
        <p:nvSpPr>
          <p:cNvPr id="16" name="Shape 14"/>
          <p:cNvSpPr/>
          <p:nvPr/>
        </p:nvSpPr>
        <p:spPr>
          <a:xfrm>
            <a:off x="9570476" y="160020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7" name="Text 15"/>
          <p:cNvSpPr txBox="1"/>
          <p:nvPr/>
        </p:nvSpPr>
        <p:spPr>
          <a:xfrm>
            <a:off x="9771644" y="180136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Privat nyckel</a:t>
            </a:r>
            <a:endParaRPr lang="en-US" sz="1600" dirty="0"/>
          </a:p>
        </p:txBody>
      </p:sp>
      <p:sp>
        <p:nvSpPr>
          <p:cNvPr id="18" name="Text 16"/>
          <p:cNvSpPr txBox="1"/>
          <p:nvPr/>
        </p:nvSpPr>
        <p:spPr>
          <a:xfrm>
            <a:off x="9771644" y="218541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Dekrypterar allt</a:t>
            </a:r>
            <a:endParaRPr lang="en-US" sz="1300" dirty="0"/>
          </a:p>
        </p:txBody>
      </p:sp>
      <p:sp>
        <p:nvSpPr>
          <p:cNvPr id="19" name="Shape 17"/>
          <p:cNvSpPr/>
          <p:nvPr/>
        </p:nvSpPr>
        <p:spPr>
          <a:xfrm>
            <a:off x="548640"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Text 18"/>
          <p:cNvSpPr txBox="1"/>
          <p:nvPr/>
        </p:nvSpPr>
        <p:spPr>
          <a:xfrm>
            <a:off x="749808"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Scope</a:t>
            </a:r>
            <a:endParaRPr lang="en-US" sz="1600" dirty="0"/>
          </a:p>
        </p:txBody>
      </p:sp>
      <p:sp>
        <p:nvSpPr>
          <p:cNvPr id="21" name="Text 19"/>
          <p:cNvSpPr txBox="1"/>
          <p:nvPr/>
        </p:nvSpPr>
        <p:spPr>
          <a:xfrm>
            <a:off x="749808"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Bunden till namn + namespace</a:t>
            </a:r>
            <a:endParaRPr lang="en-US" sz="1300" dirty="0"/>
          </a:p>
        </p:txBody>
      </p:sp>
      <p:sp>
        <p:nvSpPr>
          <p:cNvPr id="22" name="Shape 20"/>
          <p:cNvSpPr/>
          <p:nvPr/>
        </p:nvSpPr>
        <p:spPr>
          <a:xfrm>
            <a:off x="2804099"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3" name="Text 21"/>
          <p:cNvSpPr txBox="1"/>
          <p:nvPr/>
        </p:nvSpPr>
        <p:spPr>
          <a:xfrm>
            <a:off x="3005267"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Context</a:t>
            </a:r>
            <a:endParaRPr lang="en-US" sz="1600" dirty="0"/>
          </a:p>
        </p:txBody>
      </p:sp>
      <p:sp>
        <p:nvSpPr>
          <p:cNvPr id="24" name="Text 22"/>
          <p:cNvSpPr txBox="1"/>
          <p:nvPr/>
        </p:nvSpPr>
        <p:spPr>
          <a:xfrm>
            <a:off x="3005267"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cluster + user + namespace</a:t>
            </a:r>
            <a:endParaRPr lang="en-US" sz="1300" dirty="0"/>
          </a:p>
        </p:txBody>
      </p:sp>
      <p:sp>
        <p:nvSpPr>
          <p:cNvPr id="25" name="Shape 23"/>
          <p:cNvSpPr/>
          <p:nvPr/>
        </p:nvSpPr>
        <p:spPr>
          <a:xfrm>
            <a:off x="5059558"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6" name="Text 24"/>
          <p:cNvSpPr txBox="1"/>
          <p:nvPr/>
        </p:nvSpPr>
        <p:spPr>
          <a:xfrm>
            <a:off x="5260726"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CSR</a:t>
            </a:r>
            <a:endParaRPr lang="en-US" sz="1600" dirty="0"/>
          </a:p>
        </p:txBody>
      </p:sp>
      <p:sp>
        <p:nvSpPr>
          <p:cNvPr id="27" name="Text 25"/>
          <p:cNvSpPr txBox="1"/>
          <p:nvPr/>
        </p:nvSpPr>
        <p:spPr>
          <a:xfrm>
            <a:off x="5260726"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Klustret signerar ett användarcert</a:t>
            </a:r>
            <a:endParaRPr lang="en-US" sz="1300" dirty="0"/>
          </a:p>
        </p:txBody>
      </p:sp>
      <p:sp>
        <p:nvSpPr>
          <p:cNvPr id="28" name="Shape 26"/>
          <p:cNvSpPr/>
          <p:nvPr/>
        </p:nvSpPr>
        <p:spPr>
          <a:xfrm>
            <a:off x="7315017" y="3703320"/>
            <a:ext cx="2072579" cy="1874520"/>
          </a:xfrm>
          <a:prstGeom prst="roundRect">
            <a:avLst>
              <a:gd name="adj" fmla="val 292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Text 27"/>
          <p:cNvSpPr txBox="1"/>
          <p:nvPr/>
        </p:nvSpPr>
        <p:spPr>
          <a:xfrm>
            <a:off x="7516185" y="3904488"/>
            <a:ext cx="1670243" cy="320040"/>
          </a:xfrm>
          <a:prstGeom prst="rect">
            <a:avLst/>
          </a:prstGeom>
          <a:noFill/>
          <a:ln/>
        </p:spPr>
        <p:txBody>
          <a:bodyPr wrap="square" lIns="0" tIns="0" rIns="0" bIns="0" rtlCol="0" anchor="t"/>
          <a:lstStyle/>
          <a:p>
            <a:pPr indent="0" marL="0">
              <a:buNone/>
            </a:pPr>
            <a:r>
              <a:rPr lang="en-US" sz="1600" b="1" dirty="0">
                <a:solidFill>
                  <a:srgbClr val="16202B"/>
                </a:solidFill>
                <a:latin typeface="Calibri" pitchFamily="34" charset="0"/>
                <a:ea typeface="Calibri" pitchFamily="34" charset="-122"/>
                <a:cs typeface="Calibri" pitchFamily="34" charset="-120"/>
              </a:rPr>
              <a:t>Role</a:t>
            </a:r>
            <a:endParaRPr lang="en-US" sz="1600" dirty="0"/>
          </a:p>
        </p:txBody>
      </p:sp>
      <p:sp>
        <p:nvSpPr>
          <p:cNvPr id="30" name="Text 28"/>
          <p:cNvSpPr txBox="1"/>
          <p:nvPr/>
        </p:nvSpPr>
        <p:spPr>
          <a:xfrm>
            <a:off x="7516185"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4A5568"/>
                </a:solidFill>
                <a:latin typeface="Arial" pitchFamily="34" charset="0"/>
                <a:ea typeface="Arial" pitchFamily="34" charset="-122"/>
                <a:cs typeface="Arial" pitchFamily="34" charset="-120"/>
              </a:rPr>
              <a:t>Rättigheter i ett namespace</a:t>
            </a:r>
            <a:endParaRPr lang="en-US" sz="1300" dirty="0"/>
          </a:p>
        </p:txBody>
      </p:sp>
      <p:sp>
        <p:nvSpPr>
          <p:cNvPr id="31" name="Shape 29"/>
          <p:cNvSpPr/>
          <p:nvPr/>
        </p:nvSpPr>
        <p:spPr>
          <a:xfrm>
            <a:off x="9570476" y="3703320"/>
            <a:ext cx="2072579" cy="1874520"/>
          </a:xfrm>
          <a:prstGeom prst="roundRect">
            <a:avLst>
              <a:gd name="adj" fmla="val 2927"/>
            </a:avLst>
          </a:prstGeom>
          <a:solidFill>
            <a:srgbClr val="3762FF"/>
          </a:solidFill>
          <a:ln w="12700">
            <a:solidFill>
              <a:srgbClr val="3762FF"/>
            </a:solidFill>
            <a:prstDash val="solid"/>
          </a:ln>
        </p:spPr>
      </p:sp>
      <p:sp>
        <p:nvSpPr>
          <p:cNvPr id="32" name="Text 30"/>
          <p:cNvSpPr txBox="1"/>
          <p:nvPr/>
        </p:nvSpPr>
        <p:spPr>
          <a:xfrm>
            <a:off x="9771644" y="3904488"/>
            <a:ext cx="1670243"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RBAC</a:t>
            </a:r>
            <a:endParaRPr lang="en-US" sz="1600" dirty="0"/>
          </a:p>
        </p:txBody>
      </p:sp>
      <p:sp>
        <p:nvSpPr>
          <p:cNvPr id="33" name="Text 31"/>
          <p:cNvSpPr txBox="1"/>
          <p:nvPr/>
        </p:nvSpPr>
        <p:spPr>
          <a:xfrm>
            <a:off x="9771644" y="4288536"/>
            <a:ext cx="1670243" cy="113385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Det som faktiskt låser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VÄGEN FRAMÅT</a:t>
            </a:r>
            <a:endParaRPr lang="en-US" sz="1200" dirty="0"/>
          </a:p>
        </p:txBody>
      </p:sp>
      <p:sp>
        <p:nvSpPr>
          <p:cNvPr id="3" name="Text 1"/>
          <p:cNvSpPr txBox="1"/>
          <p:nvPr/>
        </p:nvSpPr>
        <p:spPr>
          <a:xfrm>
            <a:off x="548640" y="685800"/>
            <a:ext cx="11094415" cy="594360"/>
          </a:xfrm>
          <a:prstGeom prst="rect">
            <a:avLst/>
          </a:prstGeom>
          <a:noFill/>
          <a:ln/>
        </p:spPr>
        <p:txBody>
          <a:bodyPr wrap="square" lIns="0" tIns="0" rIns="0" bIns="0" rtlCol="0" anchor="t"/>
          <a:lstStyle/>
          <a:p>
            <a:pPr indent="0" marL="0">
              <a:buNone/>
            </a:pPr>
            <a:r>
              <a:rPr lang="en-US" sz="3000" b="1" dirty="0">
                <a:solidFill>
                  <a:srgbClr val="F5F7FA"/>
                </a:solidFill>
                <a:latin typeface="Calibri" pitchFamily="34" charset="0"/>
                <a:ea typeface="Calibri" pitchFamily="34" charset="-122"/>
                <a:cs typeface="Calibri" pitchFamily="34" charset="-120"/>
              </a:rPr>
              <a:t>Kväll 8 - sista kvällen</a:t>
            </a:r>
            <a:endParaRPr lang="en-US" sz="3000" dirty="0"/>
          </a:p>
        </p:txBody>
      </p:sp>
      <p:sp>
        <p:nvSpPr>
          <p:cNvPr id="4" name="Text 2"/>
          <p:cNvSpPr txBox="1"/>
          <p:nvPr/>
        </p:nvSpPr>
        <p:spPr>
          <a:xfrm>
            <a:off x="548640" y="1417320"/>
            <a:ext cx="11094415" cy="457200"/>
          </a:xfrm>
          <a:prstGeom prst="rect">
            <a:avLst/>
          </a:prstGeom>
          <a:noFill/>
          <a:ln/>
        </p:spPr>
        <p:txBody>
          <a:bodyPr wrap="square" lIns="0" tIns="0" rIns="0" bIns="0" rtlCol="0" anchor="t"/>
          <a:lstStyle/>
          <a:p>
            <a:pPr indent="0" marL="0">
              <a:lnSpc>
                <a:spcPct val="120000"/>
              </a:lnSpc>
              <a:buNone/>
            </a:pPr>
            <a:r>
              <a:rPr lang="en-US" sz="1500" dirty="0">
                <a:solidFill>
                  <a:srgbClr val="B9C4D1"/>
                </a:solidFill>
                <a:latin typeface="Arial" pitchFamily="34" charset="0"/>
                <a:ea typeface="Arial" pitchFamily="34" charset="-122"/>
                <a:cs typeface="Arial" pitchFamily="34" charset="-120"/>
              </a:rPr>
              <a:t>Det vi inte hann ikväll - och hemligheterna på riktigt:</a:t>
            </a:r>
            <a:endParaRPr lang="en-US" sz="1500" dirty="0"/>
          </a:p>
        </p:txBody>
      </p:sp>
      <p:sp>
        <p:nvSpPr>
          <p:cNvPr id="5" name="Shape 3"/>
          <p:cNvSpPr/>
          <p:nvPr/>
        </p:nvSpPr>
        <p:spPr>
          <a:xfrm>
            <a:off x="548640" y="2057400"/>
            <a:ext cx="2636444" cy="2011680"/>
          </a:xfrm>
          <a:prstGeom prst="roundRect">
            <a:avLst>
              <a:gd name="adj" fmla="val 2727"/>
            </a:avLst>
          </a:prstGeom>
          <a:solidFill>
            <a:srgbClr val="16294A"/>
          </a:solidFill>
          <a:ln w="12700">
            <a:solidFill>
              <a:srgbClr val="16294A"/>
            </a:solidFill>
            <a:prstDash val="solid"/>
          </a:ln>
        </p:spPr>
      </p:sp>
      <p:sp>
        <p:nvSpPr>
          <p:cNvPr id="6" name="Text 4"/>
          <p:cNvSpPr txBox="1"/>
          <p:nvPr/>
        </p:nvSpPr>
        <p:spPr>
          <a:xfrm>
            <a:off x="749808" y="2258568"/>
            <a:ext cx="2234108"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Drift och skalning</a:t>
            </a:r>
            <a:endParaRPr lang="en-US" sz="1500" dirty="0"/>
          </a:p>
        </p:txBody>
      </p:sp>
      <p:sp>
        <p:nvSpPr>
          <p:cNvPr id="7" name="Text 5"/>
          <p:cNvSpPr txBox="1"/>
          <p:nvPr/>
        </p:nvSpPr>
        <p:spPr>
          <a:xfrm>
            <a:off x="749808" y="2642616"/>
            <a:ext cx="2234108" cy="127101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Larm, SLO, sampling och HPA</a:t>
            </a:r>
            <a:endParaRPr lang="en-US" sz="1300" dirty="0"/>
          </a:p>
        </p:txBody>
      </p:sp>
      <p:sp>
        <p:nvSpPr>
          <p:cNvPr id="8" name="Shape 6"/>
          <p:cNvSpPr/>
          <p:nvPr/>
        </p:nvSpPr>
        <p:spPr>
          <a:xfrm>
            <a:off x="3367964" y="2057400"/>
            <a:ext cx="2636444" cy="2011680"/>
          </a:xfrm>
          <a:prstGeom prst="roundRect">
            <a:avLst>
              <a:gd name="adj" fmla="val 2727"/>
            </a:avLst>
          </a:prstGeom>
          <a:solidFill>
            <a:srgbClr val="3762FF"/>
          </a:solidFill>
          <a:ln w="12700">
            <a:solidFill>
              <a:srgbClr val="3762FF"/>
            </a:solidFill>
            <a:prstDash val="solid"/>
          </a:ln>
        </p:spPr>
      </p:sp>
      <p:sp>
        <p:nvSpPr>
          <p:cNvPr id="9" name="Text 7"/>
          <p:cNvSpPr txBox="1"/>
          <p:nvPr/>
        </p:nvSpPr>
        <p:spPr>
          <a:xfrm>
            <a:off x="3569132" y="2258568"/>
            <a:ext cx="2234108"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Hemligheter på riktigt</a:t>
            </a:r>
            <a:endParaRPr lang="en-US" sz="1500" dirty="0"/>
          </a:p>
        </p:txBody>
      </p:sp>
      <p:sp>
        <p:nvSpPr>
          <p:cNvPr id="10" name="Text 8"/>
          <p:cNvSpPr txBox="1"/>
          <p:nvPr/>
        </p:nvSpPr>
        <p:spPr>
          <a:xfrm>
            <a:off x="3569132" y="2642616"/>
            <a:ext cx="2234108" cy="12710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Arial" pitchFamily="34" charset="0"/>
                <a:ea typeface="Arial" pitchFamily="34" charset="-122"/>
                <a:cs typeface="Arial" pitchFamily="34" charset="-120"/>
              </a:rPr>
              <a:t>TelemetryApi:s lösenord som SealedSecret</a:t>
            </a:r>
            <a:endParaRPr lang="en-US" sz="1300" dirty="0"/>
          </a:p>
        </p:txBody>
      </p:sp>
      <p:sp>
        <p:nvSpPr>
          <p:cNvPr id="11" name="Shape 9"/>
          <p:cNvSpPr/>
          <p:nvPr/>
        </p:nvSpPr>
        <p:spPr>
          <a:xfrm>
            <a:off x="6187288" y="2057400"/>
            <a:ext cx="2636444" cy="2011680"/>
          </a:xfrm>
          <a:prstGeom prst="roundRect">
            <a:avLst>
              <a:gd name="adj" fmla="val 2727"/>
            </a:avLst>
          </a:prstGeom>
          <a:solidFill>
            <a:srgbClr val="16294A"/>
          </a:solidFill>
          <a:ln w="12700">
            <a:solidFill>
              <a:srgbClr val="16294A"/>
            </a:solidFill>
            <a:prstDash val="solid"/>
          </a:ln>
        </p:spPr>
      </p:sp>
      <p:sp>
        <p:nvSpPr>
          <p:cNvPr id="12" name="Text 10"/>
          <p:cNvSpPr txBox="1"/>
          <p:nvPr/>
        </p:nvSpPr>
        <p:spPr>
          <a:xfrm>
            <a:off x="6388456" y="2258568"/>
            <a:ext cx="2234108"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TLS per tjänst</a:t>
            </a:r>
            <a:endParaRPr lang="en-US" sz="1500" dirty="0"/>
          </a:p>
        </p:txBody>
      </p:sp>
      <p:sp>
        <p:nvSpPr>
          <p:cNvPr id="13" name="Text 11"/>
          <p:cNvSpPr txBox="1"/>
          <p:nvPr/>
        </p:nvSpPr>
        <p:spPr>
          <a:xfrm>
            <a:off x="6388456" y="2642616"/>
            <a:ext cx="2234108" cy="127101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Eget certifikat för telemetryapi.local</a:t>
            </a:r>
            <a:endParaRPr lang="en-US" sz="1300" dirty="0"/>
          </a:p>
        </p:txBody>
      </p:sp>
      <p:sp>
        <p:nvSpPr>
          <p:cNvPr id="14" name="Shape 12"/>
          <p:cNvSpPr/>
          <p:nvPr/>
        </p:nvSpPr>
        <p:spPr>
          <a:xfrm>
            <a:off x="9006611" y="2057400"/>
            <a:ext cx="2636444" cy="2011680"/>
          </a:xfrm>
          <a:prstGeom prst="roundRect">
            <a:avLst>
              <a:gd name="adj" fmla="val 2727"/>
            </a:avLst>
          </a:prstGeom>
          <a:solidFill>
            <a:srgbClr val="16294A"/>
          </a:solidFill>
          <a:ln w="12700">
            <a:solidFill>
              <a:srgbClr val="16294A"/>
            </a:solidFill>
            <a:prstDash val="solid"/>
          </a:ln>
        </p:spPr>
      </p:sp>
      <p:sp>
        <p:nvSpPr>
          <p:cNvPr id="15" name="Text 13"/>
          <p:cNvSpPr txBox="1"/>
          <p:nvPr/>
        </p:nvSpPr>
        <p:spPr>
          <a:xfrm>
            <a:off x="9207779" y="2258568"/>
            <a:ext cx="2234108" cy="320040"/>
          </a:xfrm>
          <a:prstGeom prst="rect">
            <a:avLst/>
          </a:prstGeom>
          <a:noFill/>
          <a:ln/>
        </p:spPr>
        <p:txBody>
          <a:bodyPr wrap="square" lIns="0" tIns="0" rIns="0" bIns="0" rtlCol="0" anchor="t"/>
          <a:lstStyle/>
          <a:p>
            <a:pPr indent="0" marL="0">
              <a:buNone/>
            </a:pPr>
            <a:r>
              <a:rPr lang="en-US" sz="1500" b="1" dirty="0">
                <a:solidFill>
                  <a:srgbClr val="F5F7FA"/>
                </a:solidFill>
                <a:latin typeface="Calibri" pitchFamily="34" charset="0"/>
                <a:ea typeface="Calibri" pitchFamily="34" charset="-122"/>
                <a:cs typeface="Calibri" pitchFamily="34" charset="-120"/>
              </a:rPr>
              <a:t>Helhetsbilden</a:t>
            </a:r>
            <a:endParaRPr lang="en-US" sz="1500" dirty="0"/>
          </a:p>
        </p:txBody>
      </p:sp>
      <p:sp>
        <p:nvSpPr>
          <p:cNvPr id="16" name="Text 14"/>
          <p:cNvSpPr txBox="1"/>
          <p:nvPr/>
        </p:nvSpPr>
        <p:spPr>
          <a:xfrm>
            <a:off x="9207779" y="2642616"/>
            <a:ext cx="2234108" cy="1271016"/>
          </a:xfrm>
          <a:prstGeom prst="rect">
            <a:avLst/>
          </a:prstGeom>
          <a:noFill/>
          <a:ln/>
        </p:spPr>
        <p:txBody>
          <a:bodyPr wrap="square" lIns="0" tIns="0" rIns="0" bIns="0" rtlCol="0" anchor="t"/>
          <a:lstStyle/>
          <a:p>
            <a:pPr indent="0" marL="0">
              <a:lnSpc>
                <a:spcPct val="115000"/>
              </a:lnSpc>
              <a:buNone/>
            </a:pPr>
            <a:r>
              <a:rPr lang="en-US" sz="1300" dirty="0">
                <a:solidFill>
                  <a:srgbClr val="B9C4D1"/>
                </a:solidFill>
                <a:latin typeface="Arial" pitchFamily="34" charset="0"/>
                <a:ea typeface="Arial" pitchFamily="34" charset="-122"/>
                <a:cs typeface="Arial" pitchFamily="34" charset="-120"/>
              </a:rPr>
              <a:t>Kursen i en kedja - och vad som händer härnäst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F33"/>
        </a:solidFill>
      </p:bgPr>
    </p:bg>
    <p:spTree>
      <p:nvGrpSpPr>
        <p:cNvPr id="1" name=""/>
        <p:cNvGrpSpPr/>
        <p:nvPr/>
      </p:nvGrpSpPr>
      <p:grpSpPr>
        <a:xfrm>
          <a:off x="0" y="0"/>
          <a:ext cx="0" cy="0"/>
          <a:chOff x="0" y="0"/>
          <a:chExt cx="0" cy="0"/>
        </a:xfrm>
      </p:grpSpPr>
      <p:sp>
        <p:nvSpPr>
          <p:cNvPr id="2" name="Text 0"/>
          <p:cNvSpPr txBox="1"/>
          <p:nvPr/>
        </p:nvSpPr>
        <p:spPr>
          <a:xfrm>
            <a:off x="548640" y="1737360"/>
            <a:ext cx="11094415" cy="274320"/>
          </a:xfrm>
          <a:prstGeom prst="rect">
            <a:avLst/>
          </a:prstGeom>
          <a:noFill/>
          <a:ln/>
        </p:spPr>
        <p:txBody>
          <a:bodyPr wrap="square" lIns="0" tIns="0" rIns="0" bIns="0" rtlCol="0" anchor="ctr"/>
          <a:lstStyle/>
          <a:p>
            <a:pPr indent="0" marL="0">
              <a:buNone/>
            </a:pPr>
            <a:r>
              <a:rPr lang="en-US" sz="1200" b="1" spc="200" kern="0" dirty="0">
                <a:solidFill>
                  <a:srgbClr val="7C9CFF"/>
                </a:solidFill>
                <a:latin typeface="Arial" pitchFamily="34" charset="0"/>
                <a:ea typeface="Arial" pitchFamily="34" charset="-122"/>
                <a:cs typeface="Arial" pitchFamily="34" charset="-120"/>
              </a:rPr>
              <a:t>KVÄLL 7 AV 8 - KLAR</a:t>
            </a:r>
            <a:endParaRPr lang="en-US" sz="1200" dirty="0"/>
          </a:p>
        </p:txBody>
      </p:sp>
      <p:sp>
        <p:nvSpPr>
          <p:cNvPr id="3" name="Text 1"/>
          <p:cNvSpPr txBox="1"/>
          <p:nvPr/>
        </p:nvSpPr>
        <p:spPr>
          <a:xfrm>
            <a:off x="548640" y="2103120"/>
            <a:ext cx="11094415" cy="1097280"/>
          </a:xfrm>
          <a:prstGeom prst="rect">
            <a:avLst/>
          </a:prstGeom>
          <a:noFill/>
          <a:ln/>
        </p:spPr>
        <p:txBody>
          <a:bodyPr wrap="square" lIns="0" tIns="0" rIns="0" bIns="0" rtlCol="0" anchor="ctr"/>
          <a:lstStyle/>
          <a:p>
            <a:pPr indent="0" marL="0">
              <a:buNone/>
            </a:pPr>
            <a:r>
              <a:rPr lang="en-US" sz="6000" b="1" dirty="0">
                <a:solidFill>
                  <a:srgbClr val="F5F7FA"/>
                </a:solidFill>
                <a:latin typeface="Calibri" pitchFamily="34" charset="0"/>
                <a:ea typeface="Calibri" pitchFamily="34" charset="-122"/>
                <a:cs typeface="Calibri" pitchFamily="34" charset="-120"/>
              </a:rPr>
              <a:t>Tack! Frågor?</a:t>
            </a:r>
            <a:endParaRPr lang="en-US" sz="6000" dirty="0"/>
          </a:p>
        </p:txBody>
      </p:sp>
      <p:sp>
        <p:nvSpPr>
          <p:cNvPr id="4" name="Text 2"/>
          <p:cNvSpPr txBox="1"/>
          <p:nvPr/>
        </p:nvSpPr>
        <p:spPr>
          <a:xfrm>
            <a:off x="548640" y="3383280"/>
            <a:ext cx="10515600" cy="548640"/>
          </a:xfrm>
          <a:prstGeom prst="rect">
            <a:avLst/>
          </a:prstGeom>
          <a:noFill/>
          <a:ln/>
        </p:spPr>
        <p:txBody>
          <a:bodyPr wrap="square" lIns="0" tIns="0" rIns="0" bIns="0" rtlCol="0" anchor="t"/>
          <a:lstStyle/>
          <a:p>
            <a:pPr indent="0" marL="0">
              <a:lnSpc>
                <a:spcPct val="120000"/>
              </a:lnSpc>
              <a:buNone/>
            </a:pPr>
            <a:r>
              <a:rPr lang="en-US" sz="1800" dirty="0">
                <a:solidFill>
                  <a:srgbClr val="B9C4D1"/>
                </a:solidFill>
                <a:latin typeface="Arial" pitchFamily="34" charset="0"/>
                <a:ea typeface="Arial" pitchFamily="34" charset="-122"/>
                <a:cs typeface="Arial" pitchFamily="34" charset="-120"/>
              </a:rPr>
              <a:t>En krypterad hemlighet är aldrig säkrare än nyckeln - och den som får läsa den.</a:t>
            </a:r>
            <a:endParaRPr lang="en-US" sz="1800" dirty="0"/>
          </a:p>
        </p:txBody>
      </p:sp>
      <p:sp>
        <p:nvSpPr>
          <p:cNvPr id="5" name="Text 3"/>
          <p:cNvSpPr txBox="1"/>
          <p:nvPr/>
        </p:nvSpPr>
        <p:spPr>
          <a:xfrm>
            <a:off x="548640" y="6172200"/>
            <a:ext cx="6400800" cy="320040"/>
          </a:xfrm>
          <a:prstGeom prst="rect">
            <a:avLst/>
          </a:prstGeom>
          <a:noFill/>
          <a:ln/>
        </p:spPr>
        <p:txBody>
          <a:bodyPr wrap="square" lIns="0" tIns="0" rIns="0" bIns="0" rtlCol="0" anchor="ctr"/>
          <a:lstStyle/>
          <a:p>
            <a:pPr indent="0" marL="0">
              <a:buNone/>
            </a:pPr>
            <a:r>
              <a:rPr lang="en-US" sz="1400" dirty="0">
                <a:solidFill>
                  <a:srgbClr val="B9C4D1"/>
                </a:solidFill>
                <a:latin typeface="Arial" pitchFamily="34" charset="0"/>
                <a:ea typeface="Arial" pitchFamily="34" charset="-122"/>
                <a:cs typeface="Arial" pitchFamily="34" charset="-120"/>
              </a:rPr>
              <a:t>Kubernetes – Konfiguration, hemligheter och drift · .NET, Frontend &amp; SQL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Konfiguration, hemligheter och drift</dc:title>
  <dc:subject>PptxGenJS Presentation</dc:subject>
  <dc:creator>PptxGenJS</dc:creator>
  <cp:lastModifiedBy>PptxGenJS</cp:lastModifiedBy>
  <cp:revision>1</cp:revision>
  <dcterms:created xsi:type="dcterms:W3CDTF">2026-10-15T07:49:43Z</dcterms:created>
  <dcterms:modified xsi:type="dcterms:W3CDTF">2026-10-15T07:49:43Z</dcterms:modified>
</cp:coreProperties>
</file>