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till sista kvällen! Vi börjar med driftdelen som vi inte hann förra gången: larm, SLO, sampling och skalning. Sedan använder vi Sealed Secrets på riktigt - TelemetryApi får ett nytt lösenord och ett eget TLS-certifikat, båda förseglade så att de kan ligga i Git. Sist knyter vi ihop alla åtta kvällarna och tittar på vad man kan lära sig härnäst.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Sex delar. De två första är bilderna vi hoppade över förra gången. Del 3 är markerad: där används allt från kväll 7 på en riktig app - kubeseal, SealedSecrets och Helm-values. Fråga gärna klassen: var ligger lösenordet till TelemetryApi:s databas just nu? Svaret kommer i del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Kontrollera att TelemetryApi och CustomerClient kör - de används i nästan alla labbar ikväll. Alla kommandon körs från Kvall8-mappen, även de som använder skripten i TelemetryApi. kubeseal.exe kopieras från kväll 7; den som saknar den hämtar den från GitHub igen. cert-info.ps1 ersätter openssl ikväll: den visar namn, utfärdare och giltighet för en certifikatfil eller för certifikatet en server svarar med. Kör allt i PowerShell 7 - setup-db.ps1 och build.ps1 kräver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Bilderna vi inte hann förra gången. Nu med fokus på drift: hur mår infrastrukturen, när ska någon bli väckt, och hur bra är bra nog?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Exportörerna slogs på redan kväll 3 i values-filerna i Infra, med prometheus.io/scrape-annotationer. Därför har Prometheus samlat in dem hela tiden. Låt deltagarna leta i Targets och använda autokompletteringen - mysql_, redis_, gnatsd_ och jetstream_. Exakta metric-namn kan skilja mellan exportörversioner, så autokompletteringen är facit. Uppgiften: en liten infra-dashboard med en panel per tjänst, med teknikerna från kväll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Larm är dashboards som tittar åt en. Bygg regeln tillsammans. Frågan är felandelen från kväll 6. Pending period är viktig: villkoret måste vara uppfyllt en hel minut innan larmet går, så att en enstaka topp inte väcker någon. Utan e-post konfigurerad syns larmet ändå under Alerting med status Firing. Det markerade steget är beviset: tryck på Orsaka fel några gånger och se larmet gå från Normal via Pending till Firing - och tillbaka när felen upphör. Notera att /healthz-anropen späder ut felandelen; en bra diskussion om vad man egentligen vill larma på.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Börja med förkortningarna, de är lätta att blanda ihop. SRE, Site Reliability Engineering, är Googles sätt att driva system, och därifrån kommer orden. SLI, Service Level Indicator, är det man mäter - här andelen anrop utan serverfel. SLO, Service Level Objective, är målet för SLI:n - 99 procent. Felbudgeten är skillnaden upp till 100 procent, och den är markerad eftersom den gör SLO användbart i vardagen: en gemensam valuta mellan utveckling och drift. SLA är avtalet mot kunden och sätts lösare än SLO:n, så att man larmas internt innan avtalet bryts. Fråga: vilken SLI skulle ni välja för CustomerClient? Nästa labb räknar ut SLI och felbudget i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Bygg SLI-frågan i Prometheus först - arbetsflödet från kväll 6 - och lägg den sedan i en Stat-panel. Felbudgeten räknas ut från SLI:n: med SLO 99 procent får 1 procent gå fel, och kvoten visar hur stor del av den som är förbrukad. Latens-SLO:n använder en bucket direkt: le="0.25" är antal anrop under 250 ms. Låt deltagarna se felbudgeten sjunka när de orsakar 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Två praktiska driftfrågor. Vi ändrar beteendet på befintliga appar med Helm och en HorizontalPodAutoscaler - utan att röra koden.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produktion kan traces bli den dyraste signalen. Sampling betyder att bara spara en andel. Den första markerade rutan är viktig: metrics räknas fortfarande på alla anrop, så dashboards blir lika rätta. Parent-based är standardvalet: om anropet redan har ett beslut från webbläsaren följer API:t det, annars blir det halva traces. Det demonstrerar vi i labben.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Ytterligare ett exempel på konfiguration utanför koden: extraEnv i charten blir miljövariabler, och OpenTelemetry-SDK:n läser OTEL_TRACES_SAMPLER själv. 20 direkta anrop ger ungefär fem traces i Tempo, men panelen Anrop per sekund visar fortfarande alla 20. Anrop från CustomerClient syns däremot alla - Faro har redan fattat beslutet och skickar det i traceparent, och parent-based följer det. Glöm inte att återställa.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HPA är en kontrollslinga: metrics-server mäter CPU, HPA jämför mot målet och ändrar replicas i Deployment. k3s levererar metrics-server, så det fungerar direkt. Det markerade är vanligaste felet: utan CPU-request i podden finns ingen procent att räkna på. Koppla tillbaka till CQRS: workern ska inte skalas hur som helst, eftersom ordningen på kommandona spelar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fönster: ett för hpa -w, ett för lasten och ett för describe. När lasten startar stiger CPU över målet och HPA ökar antalet repliker inom någon minut. Avbryt lasten och vänta: nedskalningen är långsam med flit, så att poddar inte startas och stoppas fram och tillbaka. Den som vill kan skala cqrs-api manuellt med kubectl scale och se instanserna i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Kväll 7 krypterade vi en övningshemlighet. Nu gör vi samma sak med en riktig app: TelemetryApi får ett nytt databaslösenord som bara finns krypterat i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Övre raden är hur det fungerar idag: connection string med lösenord står i values.yaml, Helm gör en Secret av den och podden läser den som miljövariabel. Nedre raden är målet: lösenordet krypteras på er dator och bara controllern i klustret kan låsa upp det. Det markerade kortet är det viktiga: ett lösenord som har legat i Git är förbrukat, så vi byter det samtidigt. Fråga: vad mer i repot innehåller lösenord? (MySQL:s root-lösenord i Infra och setup-db.ps1.)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deltagarna hitta lösenordet på tre ställen. Det tredje känner de igen från kväll 7. Det andra brukar överraska: Helm sparar alla values för varje version av releasen, så även ett lösenord man tagit bort ur values.yaml finns kvar i historiken tills releasen tas bort. Avsluta med mallen: if not existingSecret - det är den raden som gör resten av kvällen möjlig utan kodändringar.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Lösenordet slumpas och hamnar direkt i kubeseal, precis som på kväll 7. Bara bokstäver och siffror, eftersom semikolon eller citattecken skulle förstöra connection stringen. Döp inte variabeln till $pwd - det är PowerShells aktuella mapp. @ks är splatting: en array med argument som PowerShell lägger ut efter kommandot, så att raden blir kortare utan backticks. Efter apply finns två Secrets i namespacet. Appen använder fortfarande den gamla - och lösenordet i databasen är inte bytt än. Det gör vi i nästa steg.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setup-db.ps1 kör ALTER USER, så från och med nu gäller bara det nya lösenordet. Redan öppna anslutningar i poolen fortsätter fungera en stund, men nya anslutningar misslyckas tills Helm-uppgraderingen pekar podden på customers-db. Det markerade kortet: build.ps1 kör helm upgrade med chartens values, så values-filen måste med varje gång - annars skapar charten sin egen Secret med det gamla lösenordet igen. Avsluta med Remove-Variable: nu vet ingen människa lösenordet.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Sammanfatta mönstret. Den markerade rutan är en fallgrop: våra charts startar om poddarna när Secret-mallen ändras, via checksum-annotationen. Med existingSecret renderar mallen ingenting, så checksumman ändras aldrig - då får man starta om själv med rollout restart. Hemuppgiften är samma sak för CQRS, och den som vill ta ett steg till kan försegla MySQL:s root-lösenord.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Sedan kväll 5 har alla *.local-adresser delat ett wildcard-certifikat. Nu får TelemetryApi ett eget, och nyckeln hanteras som vilken hemlighet som helst.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TLS-handskakningen sker innan Traefik vet vilken ingress anropet ska till. Därför skickar webbläsaren värdnamnet i klartext i handskakningen - SNI. Traefik letar efter ett certifikat för exakt det namnet bland ingressernas tls-hemligheter, och tar annars reservcertifikatet i TLSStore default. Det markerade är målet för labben. Fråga: varför vill man ha ett eget certifikat per tjänst? (Olika ägare, olika livslängd, och läcker en nyckel gäller den bara en tjänst.)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mkcert signerar med samma rot-CA som kväll 5, så certifikatet blir betrott direkt. Titta på subjectAltName: bara telemetryapi.local. Före-testet visar att telemetryapi.local idag får wildcard-certifikatet från TLSStore default. cert-info.ps1 gör en TLS-handskakning precis som en webbläsare och skriver ut certifikatet servern svarar med - öppna gärna skriptet och visa att det bara är några rader .NET. Den markerade rutan leder till nästa steg: nyckeln är en hemlighet.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Exakt samma flöde som för lösenordet, bara med kubectl create secret tls. kubeseal krypterar båda fälten, även certifikatet som egentligen är publikt. Efter apply skapar controllern en Secret av typen kubernetes.io/tls, som Traefik kan använda. Radera nyckelfilen - den förseglade filen är det enda som behövs, och den kan checkas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Values-filen för del 4 bygger vidare på del 3: build.ps1 tar bara en values-fil, så filen måste innehålla både existingSecret och tls. Det är den markerade rutan. Efter uppgraderingen visar cert-info.ps1 ett annat certifikat - bara telemetryapi.local. Öppna gärna https://telemetryapi.local/scalar i webbläsaren och titta på certifikatet via hänglåset. Jämför med grafana.local, som fortfarande har wildcard-certet.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nivåer. Wildcard-certet har räckt för kursen, men i produktion delar man ogärna en nyckel mellan alla tjänster. Ikväll gjorde vi certifikat per tjänst för hand, vilket fungerar men kräver att någon kommer ihåg att förnya. cert-manager är nästa steg: en controller som beställer och förnyar certifikat automatiskt och lägger dem i precis den sortens Secret som vi skapade. Kommandona nederst visar utgångsdatum för de två certifikaten - mkcert ger drygt två år, Let's Encrypt 90 dagar.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Bara HPA-labben körde i ett eget namespace. Lösenordet och certifikatet är nu en del av TelemetryApi, så de ska inte tas bort - raderar man customers-db slutar appen fungera vid nästa omstart. Kontrollera att ingen okrypterad nyckelfil ligger kvar.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tar vi ett steg tillbaka och tittar på allt vi har byggt sedan första kvällen.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kedjan snabbt och låt deltagarna fylla i: vad minns ni från varje kväll? Poängen är att varje kväll byggde på den förra - utan registryt från kväll 2 inga egna images, utan infrastrukturen från kväll 3 ingen databas att skydda ikväll. Nästa bild visar hur det ser ut i klustret just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Sex namespaces plus er egen dator. Låt deltagarna kontrollera bilden med kubectl get ns och helm list -A i nästa labb. customers är markerad eftersom den ändrades ikväll: appen läser nu sitt lösenord och sitt certifikat från SealedSecrets. Fråga: vilka namespaces pratar med varandra? (customers och cqrs med mysql, nästan allt med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Övre raden är vägen ett klick tar: hosts-filen pekar på Traefik, nginx i customer-client proxar /api vidare, och API:t läser från MySQL med lösenordet från ikväll. Nedre raden är telemetrin från samma klick. Be någon peka ut vilken kväll varje ruta byggdes. Nästa labb: följ ett klick på riktigt.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lugn avslutande labb. helm list -A är markerad eftersom den visar kursen i en lista: infrastrukturen, telemetristacken och era egna appar. LoadBalancer-tjänsterna är de som nås direkt från datorn, som MySQL och Redis. Avsluta med att följa ett klick i Tempo och koppla varje span till en ruta i förra bilden.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Kursen är slut, men Kubernetes är stort. Här är två vägar vidare: CNCF:s certifieringar och teknikerna som ligger närmast det vi har gjort.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CNCF och Linux Foundation har fem Kubernetes-certifieringar. KCNA och KCSA är flervalsprov på 90 minuter - en bra start. CKAD, CKA och CKS är praktiska: två timmar med uppgifter i en terminal, och CKS kräver att man har klarat CKA. Den som har alla fem aktiva samtidigt blir Kubestronaut. Priser och giltighetstider ändras - kolla cncf.io innan ni bokar. En vanlig ordning är KCNA, CKAD, CKA, KCSA och sist CKS, som brukar beskrivas som svårast.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tänkt som uppmuntran: mycket av innehållet i proven har ni redan gjort med egna händer. CKAD är markerad eftersom den ligger närmast kursen - en utvecklare som deployar egna appar. CKA lägger till administration, som användarcertifikaten från kväll 7. Säkerhetsproven bygger på RBAC och hemligheter. Tipset nederst: i de praktiska proven är tiden den stora utmaningen, så träna på kubectl create --dry-run=client -o yaml och kubectl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Sex riktningar som bygger direkt på kursen. GitOps är markerad eftersom det är det naturliga nästa steget: ni har redan allt i Git - charts, values och nu även hemligheterna. Med Argo CD eller Flux är det klustret som hämtar ändringarna, inte ni som kör helm upgrade. cert-manager löser förnyelsen av certifikat som vi gjorde för hand ikväll. Fråga klassen vilken av dem de vill börja 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Muntlig quiz. SealedSecret i Git är markerad: det knyter ihop kväll 7 och 8 - ett lösenord som ingen människa känner till, som ändå kan versionshanteras. Be någon förklara vad som händer om sealed-secrets-nyckeln försvinner, och någon annan vad som händer om den läcker.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Tacka för kursen och öppna för frågor. Påminn om att klustret finns kvar på deras datorer - allt från kursen går att köra igen, och Labbar-mappen innehåller kommandona. Ett bra sista ord: Kubernetes lär man sig genom att bryta saker och laga dem igen, och det kan ni nu göra på egen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KUBERNETES-KURS · KVÄLL 8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Drift, hemligheter och helheten</a:t>
            </a:r>
            <a:endParaRPr lang="en-US" sz="5200" dirty="0"/>
          </a:p>
        </p:txBody>
      </p:sp>
      <p:sp>
        <p:nvSpPr>
          <p:cNvPr id="4" name="Text 2"/>
          <p:cNvSpPr txBox="1"/>
          <p:nvPr/>
        </p:nvSpPr>
        <p:spPr>
          <a:xfrm>
            <a:off x="548640" y="2514600"/>
            <a:ext cx="9875520" cy="914400"/>
          </a:xfrm>
          <a:prstGeom prst="rect">
            <a:avLst/>
          </a:prstGeom>
          <a:noFill/>
          <a:ln/>
        </p:spPr>
        <p:txBody>
          <a:bodyPr wrap="square" lIns="0" tIns="0" rIns="0" bIns="0" rtlCol="0" anchor="t"/>
          <a:lstStyle/>
          <a:p>
            <a:pPr indent="0" marL="0">
              <a:lnSpc>
                <a:spcPct val="130000"/>
              </a:lnSpc>
              <a:buNone/>
            </a:pPr>
            <a:r>
              <a:rPr lang="en-US" sz="2000" dirty="0">
                <a:solidFill>
                  <a:srgbClr val="B9C4D1"/>
                </a:solidFill>
                <a:latin typeface="Arial" pitchFamily="34" charset="0"/>
                <a:ea typeface="Arial" pitchFamily="34" charset="-122"/>
                <a:cs typeface="Arial" pitchFamily="34" charset="-120"/>
              </a:rPr>
              <a:t>Larm, SLO, sampling och skalning - lösenord och certifikat förseglade i Git - och en blick bakåt på hela kursen och framåt mot certifieringarna</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algn="r" indent="0" marL="0">
              <a:buNone/>
            </a:pPr>
            <a:r>
              <a:rPr lang="en-US" sz="1400" b="1" dirty="0">
                <a:solidFill>
                  <a:srgbClr val="7C9CFF"/>
                </a:solidFill>
                <a:latin typeface="Arial" pitchFamily="34" charset="0"/>
                <a:ea typeface="Arial" pitchFamily="34" charset="-122"/>
                <a:cs typeface="Arial" pitchFamily="34" charset="-120"/>
              </a:rPr>
              <a:t>Del 8 av 8 · sista kvällen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AGENDA · KVÄLL 8</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1. Drift</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Infra-metrics, larm i Grafana och SLO</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2. Sampling och skalning</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Färre traces och fler poddar - utan ny kod</a:t>
            </a:r>
            <a:endParaRPr lang="en-US" sz="1300" dirty="0"/>
          </a:p>
        </p:txBody>
      </p:sp>
      <p:sp>
        <p:nvSpPr>
          <p:cNvPr id="10" name="Shape 8"/>
          <p:cNvSpPr/>
          <p:nvPr/>
        </p:nvSpPr>
        <p:spPr>
          <a:xfrm>
            <a:off x="8046720" y="1645920"/>
            <a:ext cx="3593592" cy="1554480"/>
          </a:xfrm>
          <a:prstGeom prst="roundRect">
            <a:avLst>
              <a:gd name="adj" fmla="val 3529"/>
            </a:avLst>
          </a:prstGeom>
          <a:solidFill>
            <a:srgbClr val="3762FF"/>
          </a:solidFill>
          <a:ln w="12700">
            <a:solidFill>
              <a:srgbClr val="3762FF"/>
            </a:solidFill>
            <a:prstDash val="solid"/>
          </a:ln>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3. Hemligheter på riktigt</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TelemetryApi:s lösenord ut ur values.yaml</a:t>
            </a:r>
            <a:endParaRPr lang="en-US" sz="1300" dirty="0"/>
          </a:p>
        </p:txBody>
      </p:sp>
      <p:sp>
        <p:nvSpPr>
          <p:cNvPr id="13" name="Shape 11"/>
          <p:cNvSpPr/>
          <p:nvPr/>
        </p:nvSpPr>
        <p:spPr>
          <a:xfrm>
            <a:off x="54864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4. TLS per tjänst</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Eget certifikat för telemetryapi.local</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5. Helhetsbilden</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Åtta kvällar - ett kluster</a:t>
            </a:r>
            <a:endParaRPr lang="en-US" sz="1300" dirty="0"/>
          </a:p>
        </p:txBody>
      </p:sp>
      <p:sp>
        <p:nvSpPr>
          <p:cNvPr id="19" name="Shape 17"/>
          <p:cNvSpPr/>
          <p:nvPr/>
        </p:nvSpPr>
        <p:spPr>
          <a:xfrm>
            <a:off x="804672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824788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6. Härnäst</a:t>
            </a:r>
            <a:endParaRPr lang="en-US" sz="1600" dirty="0"/>
          </a:p>
        </p:txBody>
      </p:sp>
      <p:sp>
        <p:nvSpPr>
          <p:cNvPr id="21" name="Text 19"/>
          <p:cNvSpPr txBox="1"/>
          <p:nvPr/>
        </p:nvSpPr>
        <p:spPr>
          <a:xfrm>
            <a:off x="824788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Certifieringar och tekniker att lära sig</a:t>
            </a:r>
            <a:endParaRPr lang="en-US" sz="1300" dirty="0"/>
          </a:p>
        </p:txBody>
      </p:sp>
      <p:sp>
        <p:nvSpPr>
          <p:cNvPr id="22" name="Text 20"/>
          <p:cNvSpPr txBox="1"/>
          <p:nvPr/>
        </p:nvSpPr>
        <p:spPr>
          <a:xfrm>
            <a:off x="548640" y="5440680"/>
            <a:ext cx="11094415" cy="548640"/>
          </a:xfrm>
          <a:prstGeom prst="rect">
            <a:avLst/>
          </a:prstGeom>
          <a:noFill/>
          <a:ln/>
        </p:spPr>
        <p:txBody>
          <a:bodyPr wrap="square" lIns="0" tIns="0" rIns="0" bIns="0" rtlCol="0" anchor="t"/>
          <a:lstStyle/>
          <a:p>
            <a:pPr indent="0" marL="0">
              <a:lnSpc>
                <a:spcPct val="120000"/>
              </a:lnSpc>
              <a:buNone/>
            </a:pPr>
            <a:r>
              <a:rPr lang="en-US" sz="1400" dirty="0">
                <a:solidFill>
                  <a:srgbClr val="4A5568"/>
                </a:solidFill>
                <a:latin typeface="Arial" pitchFamily="34" charset="0"/>
                <a:ea typeface="Arial" pitchFamily="34" charset="-122"/>
                <a:cs typeface="Arial" pitchFamily="34" charset="-120"/>
              </a:rPr>
              <a:t>Del 1-4 är labbar i klustret. Del 5-6 är en gemensam genomgång - ta med era frågor.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FÖRBEREDELSER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Innan första labben</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config current-context        # k3d-home</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pods -n customers         # telemetry-api och customer-client</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cd D:\Kvällskurs\Labbar\Kvall8       # alla labbar körs härifrån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kubeseal.exe från kväll 7 - lägg den i Kvall8-mappen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Copy-Item ..\Kvall7\kubeseal.exe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.\kubeseal.exe --version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mkcert -CAROOT                        # mkcert från kväll 5</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.\cert-info.ps1 grafana.local          # visar certifikatet en server svarar med</a:t>
            </a:r>
            <a:endParaRPr lang="en-US" sz="110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Kvall8-mappen</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Labbfiler, values-filer och cert-info.ps1. Stå kvar här hela kvällen.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kubeseal.exe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Saknas den i Kvall7: hämta den från GitHub som förra gången.</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Inga radbrytningar</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Varje kommando står på en rad - kopiera hela raden.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Drift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Infra-metrics, larm i Grafana och SLO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1A · INFRA-METRICS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MySQL, NATS och Redis i Prometheus</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promql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prometheus.local -&gt; Status -&gt; Targets: leta efter :9104, :7777, :9121</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MySQL (mysqld-exporter)</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mysql_up</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mysql_global_status_threads_connected</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rate(mysql_global_status_queries[$__rate_interval])   # i Grafana</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Redis (redis_exporter)</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redis_up ; redis_connected_clients ; redis_memory_used_bytes</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NATS (prometheus-nats-exporter) - skriv gnatsd_ och jetstream_</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gnatsd_varz_connections</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rate(gnatsd_varz_in_msgs[5m])</a:t>
            </a:r>
            <a:endParaRPr lang="en-US" sz="110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Exportörer</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Sidecars som översätter till Prometheus-format.</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prometheus.io/scrape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Samma annotation som collectorn - därför syns de.</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Uppgift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Bygg en panel per tjänst i en egen dashboard.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1B · LARM I GRAFANA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Alerting → Alert rules → New alert rule</a:t>
            </a:r>
            <a:endParaRPr lang="en-US" sz="3000" dirty="0"/>
          </a:p>
        </p:txBody>
      </p:sp>
      <p:sp>
        <p:nvSpPr>
          <p:cNvPr id="4" name="Shape 2"/>
          <p:cNvSpPr/>
          <p:nvPr/>
        </p:nvSpPr>
        <p:spPr>
          <a:xfrm>
            <a:off x="548640" y="1600200"/>
            <a:ext cx="11094415" cy="530352"/>
          </a:xfrm>
          <a:prstGeom prst="roundRect">
            <a:avLst>
              <a:gd name="adj" fmla="val 8621"/>
            </a:avLst>
          </a:prstGeom>
          <a:solidFill>
            <a:srgbClr val="16294A"/>
          </a:solidFill>
          <a:ln w="12700">
            <a:solidFill>
              <a:srgbClr val="16294A"/>
            </a:solidFill>
            <a:prstDash val="solid"/>
          </a:ln>
        </p:spPr>
      </p:sp>
      <p:sp>
        <p:nvSpPr>
          <p:cNvPr id="5" name="Text 3"/>
          <p:cNvSpPr txBox="1"/>
          <p:nvPr/>
        </p:nvSpPr>
        <p:spPr>
          <a:xfrm>
            <a:off x="685800" y="1600200"/>
            <a:ext cx="365760" cy="530352"/>
          </a:xfrm>
          <a:prstGeom prst="rect">
            <a:avLst/>
          </a:prstGeom>
          <a:noFill/>
          <a:ln/>
        </p:spPr>
        <p:txBody>
          <a:bodyPr wrap="square" lIns="0" tIns="0" rIns="0" bIns="0" rtlCol="0" anchor="ctr"/>
          <a:lstStyle/>
          <a:p>
            <a:pPr indent="0" marL="0">
              <a:buNone/>
            </a:pPr>
            <a:r>
              <a:rPr lang="en-US" sz="1800" b="1" dirty="0">
                <a:solidFill>
                  <a:srgbClr val="7C9C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097280" y="1600200"/>
            <a:ext cx="10408615" cy="530352"/>
          </a:xfrm>
          <a:prstGeom prst="rect">
            <a:avLst/>
          </a:prstGeom>
          <a:noFill/>
          <a:ln/>
        </p:spPr>
        <p:txBody>
          <a:bodyPr wrap="square" lIns="0" tIns="0" rIns="0" bIns="0" rtlCol="0" anchor="ctr"/>
          <a:lstStyle/>
          <a:p>
            <a:pPr indent="0" marL="0">
              <a:buNone/>
            </a:pPr>
            <a:r>
              <a:rPr lang="en-US" sz="1300" b="1" dirty="0">
                <a:solidFill>
                  <a:srgbClr val="F5F7FA"/>
                </a:solidFill>
                <a:latin typeface="Arial" pitchFamily="34" charset="0"/>
                <a:ea typeface="Arial" pitchFamily="34" charset="-122"/>
                <a:cs typeface="Arial" pitchFamily="34" charset="-120"/>
              </a:rPr>
              <a:t>Namn och fråga</a:t>
            </a:r>
            <a:r>
              <a:rPr lang="en-US" sz="1300" dirty="0">
                <a:solidFill>
                  <a:srgbClr val="B9C4D1"/>
                </a:solidFill>
                <a:latin typeface="Arial" pitchFamily="34" charset="0"/>
                <a:ea typeface="Arial" pitchFamily="34" charset="-122"/>
                <a:cs typeface="Arial" pitchFamily="34" charset="-120"/>
              </a:rPr>
              <a:t>  Data source Prometheus - felandel för telemetry-api (frågan nedan)</a:t>
            </a:r>
            <a:endParaRPr lang="en-US" sz="1300" dirty="0"/>
          </a:p>
        </p:txBody>
      </p:sp>
      <p:sp>
        <p:nvSpPr>
          <p:cNvPr id="7" name="Shape 5"/>
          <p:cNvSpPr/>
          <p:nvPr/>
        </p:nvSpPr>
        <p:spPr>
          <a:xfrm>
            <a:off x="548640" y="2221992"/>
            <a:ext cx="11094415" cy="530352"/>
          </a:xfrm>
          <a:prstGeom prst="roundRect">
            <a:avLst>
              <a:gd name="adj" fmla="val 8621"/>
            </a:avLst>
          </a:prstGeom>
          <a:solidFill>
            <a:srgbClr val="16294A"/>
          </a:solidFill>
          <a:ln w="12700">
            <a:solidFill>
              <a:srgbClr val="16294A"/>
            </a:solidFill>
            <a:prstDash val="solid"/>
          </a:ln>
        </p:spPr>
      </p:sp>
      <p:sp>
        <p:nvSpPr>
          <p:cNvPr id="8" name="Text 6"/>
          <p:cNvSpPr txBox="1"/>
          <p:nvPr/>
        </p:nvSpPr>
        <p:spPr>
          <a:xfrm>
            <a:off x="685800" y="2221992"/>
            <a:ext cx="365760" cy="530352"/>
          </a:xfrm>
          <a:prstGeom prst="rect">
            <a:avLst/>
          </a:prstGeom>
          <a:noFill/>
          <a:ln/>
        </p:spPr>
        <p:txBody>
          <a:bodyPr wrap="square" lIns="0" tIns="0" rIns="0" bIns="0" rtlCol="0" anchor="ctr"/>
          <a:lstStyle/>
          <a:p>
            <a:pPr indent="0" marL="0">
              <a:buNone/>
            </a:pPr>
            <a:r>
              <a:rPr lang="en-US" sz="1800" b="1" dirty="0">
                <a:solidFill>
                  <a:srgbClr val="7C9C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097280" y="2221992"/>
            <a:ext cx="10408615" cy="530352"/>
          </a:xfrm>
          <a:prstGeom prst="rect">
            <a:avLst/>
          </a:prstGeom>
          <a:noFill/>
          <a:ln/>
        </p:spPr>
        <p:txBody>
          <a:bodyPr wrap="square" lIns="0" tIns="0" rIns="0" bIns="0" rtlCol="0" anchor="ctr"/>
          <a:lstStyle/>
          <a:p>
            <a:pPr indent="0" marL="0">
              <a:buNone/>
            </a:pPr>
            <a:r>
              <a:rPr lang="en-US" sz="1300" b="1" dirty="0">
                <a:solidFill>
                  <a:srgbClr val="F5F7FA"/>
                </a:solidFill>
                <a:latin typeface="Arial" pitchFamily="34" charset="0"/>
                <a:ea typeface="Arial" pitchFamily="34" charset="-122"/>
                <a:cs typeface="Arial" pitchFamily="34" charset="-120"/>
              </a:rPr>
              <a:t>Villkor</a:t>
            </a:r>
            <a:r>
              <a:rPr lang="en-US" sz="1300" dirty="0">
                <a:solidFill>
                  <a:srgbClr val="B9C4D1"/>
                </a:solidFill>
                <a:latin typeface="Arial" pitchFamily="34" charset="0"/>
                <a:ea typeface="Arial" pitchFamily="34" charset="-122"/>
                <a:cs typeface="Arial" pitchFamily="34" charset="-120"/>
              </a:rPr>
              <a:t>  Threshold: IS ABOVE 0.05  (mer än 5 % fel)</a:t>
            </a:r>
            <a:endParaRPr lang="en-US" sz="1300" dirty="0"/>
          </a:p>
        </p:txBody>
      </p:sp>
      <p:sp>
        <p:nvSpPr>
          <p:cNvPr id="10" name="Shape 8"/>
          <p:cNvSpPr/>
          <p:nvPr/>
        </p:nvSpPr>
        <p:spPr>
          <a:xfrm>
            <a:off x="548640" y="2843784"/>
            <a:ext cx="11094415" cy="530352"/>
          </a:xfrm>
          <a:prstGeom prst="roundRect">
            <a:avLst>
              <a:gd name="adj" fmla="val 8621"/>
            </a:avLst>
          </a:prstGeom>
          <a:solidFill>
            <a:srgbClr val="16294A"/>
          </a:solidFill>
          <a:ln w="12700">
            <a:solidFill>
              <a:srgbClr val="16294A"/>
            </a:solidFill>
            <a:prstDash val="solid"/>
          </a:ln>
        </p:spPr>
      </p:sp>
      <p:sp>
        <p:nvSpPr>
          <p:cNvPr id="11" name="Text 9"/>
          <p:cNvSpPr txBox="1"/>
          <p:nvPr/>
        </p:nvSpPr>
        <p:spPr>
          <a:xfrm>
            <a:off x="685800" y="2843784"/>
            <a:ext cx="365760" cy="530352"/>
          </a:xfrm>
          <a:prstGeom prst="rect">
            <a:avLst/>
          </a:prstGeom>
          <a:noFill/>
          <a:ln/>
        </p:spPr>
        <p:txBody>
          <a:bodyPr wrap="square" lIns="0" tIns="0" rIns="0" bIns="0" rtlCol="0" anchor="ctr"/>
          <a:lstStyle/>
          <a:p>
            <a:pPr indent="0" marL="0">
              <a:buNone/>
            </a:pPr>
            <a:r>
              <a:rPr lang="en-US" sz="1800" b="1" dirty="0">
                <a:solidFill>
                  <a:srgbClr val="7C9C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097280" y="2843784"/>
            <a:ext cx="10408615" cy="530352"/>
          </a:xfrm>
          <a:prstGeom prst="rect">
            <a:avLst/>
          </a:prstGeom>
          <a:noFill/>
          <a:ln/>
        </p:spPr>
        <p:txBody>
          <a:bodyPr wrap="square" lIns="0" tIns="0" rIns="0" bIns="0" rtlCol="0" anchor="ctr"/>
          <a:lstStyle/>
          <a:p>
            <a:pPr indent="0" marL="0">
              <a:buNone/>
            </a:pPr>
            <a:r>
              <a:rPr lang="en-US" sz="1300" b="1" dirty="0">
                <a:solidFill>
                  <a:srgbClr val="F5F7FA"/>
                </a:solidFill>
                <a:latin typeface="Arial" pitchFamily="34" charset="0"/>
                <a:ea typeface="Arial" pitchFamily="34" charset="-122"/>
                <a:cs typeface="Arial" pitchFamily="34" charset="-120"/>
              </a:rPr>
              <a:t>Utvärdering</a:t>
            </a:r>
            <a:r>
              <a:rPr lang="en-US" sz="1300" dirty="0">
                <a:solidFill>
                  <a:srgbClr val="B9C4D1"/>
                </a:solidFill>
                <a:latin typeface="Arial" pitchFamily="34" charset="0"/>
                <a:ea typeface="Arial" pitchFamily="34" charset="-122"/>
                <a:cs typeface="Arial" pitchFamily="34" charset="-120"/>
              </a:rPr>
              <a:t>  Folder: Kvällskurs · Evaluation group: var 30 s · Pending period: 1m</a:t>
            </a:r>
            <a:endParaRPr lang="en-US" sz="1300" dirty="0"/>
          </a:p>
        </p:txBody>
      </p:sp>
      <p:sp>
        <p:nvSpPr>
          <p:cNvPr id="13" name="Shape 11"/>
          <p:cNvSpPr/>
          <p:nvPr/>
        </p:nvSpPr>
        <p:spPr>
          <a:xfrm>
            <a:off x="548640" y="3465576"/>
            <a:ext cx="11094415" cy="530352"/>
          </a:xfrm>
          <a:prstGeom prst="roundRect">
            <a:avLst>
              <a:gd name="adj" fmla="val 8621"/>
            </a:avLst>
          </a:prstGeom>
          <a:solidFill>
            <a:srgbClr val="16294A"/>
          </a:solidFill>
          <a:ln w="12700">
            <a:solidFill>
              <a:srgbClr val="16294A"/>
            </a:solidFill>
            <a:prstDash val="solid"/>
          </a:ln>
        </p:spPr>
      </p:sp>
      <p:sp>
        <p:nvSpPr>
          <p:cNvPr id="14" name="Text 12"/>
          <p:cNvSpPr txBox="1"/>
          <p:nvPr/>
        </p:nvSpPr>
        <p:spPr>
          <a:xfrm>
            <a:off x="685800" y="3465576"/>
            <a:ext cx="365760" cy="530352"/>
          </a:xfrm>
          <a:prstGeom prst="rect">
            <a:avLst/>
          </a:prstGeom>
          <a:noFill/>
          <a:ln/>
        </p:spPr>
        <p:txBody>
          <a:bodyPr wrap="square" lIns="0" tIns="0" rIns="0" bIns="0" rtlCol="0" anchor="ctr"/>
          <a:lstStyle/>
          <a:p>
            <a:pPr indent="0" marL="0">
              <a:buNone/>
            </a:pPr>
            <a:r>
              <a:rPr lang="en-US" sz="1800" b="1" dirty="0">
                <a:solidFill>
                  <a:srgbClr val="7C9CFF"/>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097280" y="3465576"/>
            <a:ext cx="10408615" cy="530352"/>
          </a:xfrm>
          <a:prstGeom prst="rect">
            <a:avLst/>
          </a:prstGeom>
          <a:noFill/>
          <a:ln/>
        </p:spPr>
        <p:txBody>
          <a:bodyPr wrap="square" lIns="0" tIns="0" rIns="0" bIns="0" rtlCol="0" anchor="ctr"/>
          <a:lstStyle/>
          <a:p>
            <a:pPr indent="0" marL="0">
              <a:buNone/>
            </a:pPr>
            <a:r>
              <a:rPr lang="en-US" sz="1300" b="1" dirty="0">
                <a:solidFill>
                  <a:srgbClr val="F5F7FA"/>
                </a:solidFill>
                <a:latin typeface="Arial" pitchFamily="34" charset="0"/>
                <a:ea typeface="Arial" pitchFamily="34" charset="-122"/>
                <a:cs typeface="Arial" pitchFamily="34" charset="-120"/>
              </a:rPr>
              <a:t>Etiketter och kontakt</a:t>
            </a:r>
            <a:r>
              <a:rPr lang="en-US" sz="1300" dirty="0">
                <a:solidFill>
                  <a:srgbClr val="B9C4D1"/>
                </a:solidFill>
                <a:latin typeface="Arial" pitchFamily="34" charset="0"/>
                <a:ea typeface="Arial" pitchFamily="34" charset="-122"/>
                <a:cs typeface="Arial" pitchFamily="34" charset="-120"/>
              </a:rPr>
              <a:t>  severity=warning · Contact point: standard (ingen e-post krävs)</a:t>
            </a:r>
            <a:endParaRPr lang="en-US" sz="1300" dirty="0"/>
          </a:p>
        </p:txBody>
      </p:sp>
      <p:sp>
        <p:nvSpPr>
          <p:cNvPr id="16" name="Shape 14"/>
          <p:cNvSpPr/>
          <p:nvPr/>
        </p:nvSpPr>
        <p:spPr>
          <a:xfrm>
            <a:off x="548640" y="4087368"/>
            <a:ext cx="11094415" cy="530352"/>
          </a:xfrm>
          <a:prstGeom prst="roundRect">
            <a:avLst>
              <a:gd name="adj" fmla="val 8621"/>
            </a:avLst>
          </a:prstGeom>
          <a:solidFill>
            <a:srgbClr val="3762FF"/>
          </a:solidFill>
          <a:ln w="12700">
            <a:solidFill>
              <a:srgbClr val="3762FF"/>
            </a:solidFill>
            <a:prstDash val="solid"/>
          </a:ln>
        </p:spPr>
      </p:sp>
      <p:sp>
        <p:nvSpPr>
          <p:cNvPr id="17" name="Text 15"/>
          <p:cNvSpPr txBox="1"/>
          <p:nvPr/>
        </p:nvSpPr>
        <p:spPr>
          <a:xfrm>
            <a:off x="685800" y="4087368"/>
            <a:ext cx="365760" cy="53035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1097280" y="4087368"/>
            <a:ext cx="10408615" cy="53035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Testa</a:t>
            </a:r>
            <a:r>
              <a:rPr lang="en-US" sz="1300" dirty="0">
                <a:solidFill>
                  <a:srgbClr val="FFFFFF"/>
                </a:solidFill>
                <a:latin typeface="Arial" pitchFamily="34" charset="0"/>
                <a:ea typeface="Arial" pitchFamily="34" charset="-122"/>
                <a:cs typeface="Arial" pitchFamily="34" charset="-120"/>
              </a:rPr>
              <a:t>  Tryck "Orsaka fel" i CustomerClient - Normal → Pending → Firing</a:t>
            </a:r>
            <a:endParaRPr lang="en-US" sz="1300" dirty="0"/>
          </a:p>
        </p:txBody>
      </p:sp>
      <p:sp>
        <p:nvSpPr>
          <p:cNvPr id="19" name="Shape 17"/>
          <p:cNvSpPr/>
          <p:nvPr/>
        </p:nvSpPr>
        <p:spPr>
          <a:xfrm>
            <a:off x="548640" y="4800600"/>
            <a:ext cx="11094415" cy="1051560"/>
          </a:xfrm>
          <a:prstGeom prst="roundRect">
            <a:avLst>
              <a:gd name="adj" fmla="val 5217"/>
            </a:avLst>
          </a:prstGeom>
          <a:solidFill>
            <a:srgbClr val="16294A"/>
          </a:solidFill>
          <a:ln w="12700">
            <a:solidFill>
              <a:srgbClr val="16294A"/>
            </a:solidFill>
            <a:prstDash val="solid"/>
          </a:ln>
        </p:spPr>
      </p:sp>
      <p:sp>
        <p:nvSpPr>
          <p:cNvPr id="20" name="Shape 18"/>
          <p:cNvSpPr/>
          <p:nvPr/>
        </p:nvSpPr>
        <p:spPr>
          <a:xfrm>
            <a:off x="749808" y="4965192"/>
            <a:ext cx="109728" cy="109728"/>
          </a:xfrm>
          <a:prstGeom prst="ellipse">
            <a:avLst/>
          </a:prstGeom>
          <a:solidFill>
            <a:srgbClr val="D64545"/>
          </a:solidFill>
          <a:ln w="12700">
            <a:solidFill>
              <a:srgbClr val="D64545"/>
            </a:solidFill>
            <a:prstDash val="solid"/>
          </a:ln>
        </p:spPr>
      </p:sp>
      <p:sp>
        <p:nvSpPr>
          <p:cNvPr id="21" name="Shape 19"/>
          <p:cNvSpPr/>
          <p:nvPr/>
        </p:nvSpPr>
        <p:spPr>
          <a:xfrm>
            <a:off x="932688" y="4965192"/>
            <a:ext cx="109728" cy="109728"/>
          </a:xfrm>
          <a:prstGeom prst="ellipse">
            <a:avLst/>
          </a:prstGeom>
          <a:solidFill>
            <a:srgbClr val="FFB020"/>
          </a:solidFill>
          <a:ln w="12700">
            <a:solidFill>
              <a:srgbClr val="FFB020"/>
            </a:solidFill>
            <a:prstDash val="solid"/>
          </a:ln>
        </p:spPr>
      </p:sp>
      <p:sp>
        <p:nvSpPr>
          <p:cNvPr id="22" name="Shape 20"/>
          <p:cNvSpPr/>
          <p:nvPr/>
        </p:nvSpPr>
        <p:spPr>
          <a:xfrm>
            <a:off x="1115568" y="496519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777240" y="5257800"/>
            <a:ext cx="10637215" cy="45720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sum(rate(otel_http_server_request_duration_seconds_count{service_name="telemetry-api",http_response_status_code=~"5.."}[1m]))</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sum(rate(otel_http_server_request_duration_seconds_count{service_name="telemetry-api"}[1m]))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DRIFT · SRE</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SLI, SLO och felbudget</a:t>
            </a:r>
            <a:endParaRPr lang="en-US" sz="3000" dirty="0"/>
          </a:p>
        </p:txBody>
      </p:sp>
      <p:sp>
        <p:nvSpPr>
          <p:cNvPr id="4" name="Text 2"/>
          <p:cNvSpPr txBox="1"/>
          <p:nvPr/>
        </p:nvSpPr>
        <p:spPr>
          <a:xfrm>
            <a:off x="548640" y="1234440"/>
            <a:ext cx="11094415" cy="365760"/>
          </a:xfrm>
          <a:prstGeom prst="rect">
            <a:avLst/>
          </a:prstGeom>
          <a:noFill/>
          <a:ln/>
        </p:spPr>
        <p:txBody>
          <a:bodyPr wrap="square" lIns="0" tIns="0" rIns="0" bIns="0" rtlCol="0" anchor="ctr"/>
          <a:lstStyle/>
          <a:p>
            <a:pPr indent="0" marL="0">
              <a:buNone/>
            </a:pPr>
            <a:r>
              <a:rPr lang="en-US" sz="1400" b="1" dirty="0">
                <a:solidFill>
                  <a:srgbClr val="16202B"/>
                </a:solidFill>
                <a:latin typeface="Arial" pitchFamily="34" charset="0"/>
                <a:ea typeface="Arial" pitchFamily="34" charset="-122"/>
                <a:cs typeface="Arial" pitchFamily="34" charset="-120"/>
              </a:rPr>
              <a:t>SRE = Site Reliability Engineering: </a:t>
            </a:r>
            <a:r>
              <a:rPr lang="en-US" sz="1400" dirty="0">
                <a:solidFill>
                  <a:srgbClr val="4A5568"/>
                </a:solidFill>
                <a:latin typeface="Arial" pitchFamily="34" charset="0"/>
                <a:ea typeface="Arial" pitchFamily="34" charset="-122"/>
                <a:cs typeface="Arial" pitchFamily="34" charset="-120"/>
              </a:rPr>
              <a:t>Googles sätt att driva system med utvecklarmetoder. Begreppen nedan kommer därifrån.</a:t>
            </a:r>
            <a:endParaRPr lang="en-US" sz="1400" dirty="0"/>
          </a:p>
        </p:txBody>
      </p:sp>
      <p:sp>
        <p:nvSpPr>
          <p:cNvPr id="5" name="Shape 3"/>
          <p:cNvSpPr/>
          <p:nvPr/>
        </p:nvSpPr>
        <p:spPr>
          <a:xfrm>
            <a:off x="548640" y="1828800"/>
            <a:ext cx="3515258"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749808" y="2029968"/>
            <a:ext cx="3112922"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SERVICE LEVEL INDICATOR</a:t>
            </a:r>
            <a:endParaRPr lang="en-US" sz="1100" dirty="0"/>
          </a:p>
        </p:txBody>
      </p:sp>
      <p:sp>
        <p:nvSpPr>
          <p:cNvPr id="7" name="Text 5"/>
          <p:cNvSpPr txBox="1"/>
          <p:nvPr/>
        </p:nvSpPr>
        <p:spPr>
          <a:xfrm>
            <a:off x="749808" y="2322576"/>
            <a:ext cx="3112922" cy="320040"/>
          </a:xfrm>
          <a:prstGeom prst="rect">
            <a:avLst/>
          </a:prstGeom>
          <a:noFill/>
          <a:ln/>
        </p:spPr>
        <p:txBody>
          <a:bodyPr wrap="square" lIns="0" tIns="0" rIns="0" bIns="0" rtlCol="0" anchor="t"/>
          <a:lstStyle/>
          <a:p>
            <a:pPr indent="0" marL="0">
              <a:buNone/>
            </a:pPr>
            <a:r>
              <a:rPr lang="en-US" sz="2200" b="1" dirty="0">
                <a:solidFill>
                  <a:srgbClr val="16202B"/>
                </a:solidFill>
                <a:latin typeface="Calibri" pitchFamily="34" charset="0"/>
                <a:ea typeface="Calibri" pitchFamily="34" charset="-122"/>
                <a:cs typeface="Calibri" pitchFamily="34" charset="-120"/>
              </a:rPr>
              <a:t>SLI</a:t>
            </a:r>
            <a:endParaRPr lang="en-US" sz="2200" dirty="0"/>
          </a:p>
        </p:txBody>
      </p:sp>
      <p:sp>
        <p:nvSpPr>
          <p:cNvPr id="8" name="Text 6"/>
          <p:cNvSpPr txBox="1"/>
          <p:nvPr/>
        </p:nvSpPr>
        <p:spPr>
          <a:xfrm>
            <a:off x="749808" y="2706624"/>
            <a:ext cx="3112922" cy="658368"/>
          </a:xfrm>
          <a:prstGeom prst="rect">
            <a:avLst/>
          </a:prstGeom>
          <a:noFill/>
          <a:ln/>
        </p:spPr>
        <p:txBody>
          <a:bodyPr wrap="square" lIns="0" tIns="0" rIns="0" bIns="0" rtlCol="0" anchor="t"/>
          <a:lstStyle/>
          <a:p>
            <a:pPr indent="0" marL="0">
              <a:lnSpc>
                <a:spcPct val="115000"/>
              </a:lnSpc>
              <a:buNone/>
            </a:pPr>
            <a:r>
              <a:rPr lang="en-US" sz="1400" dirty="0">
                <a:solidFill>
                  <a:srgbClr val="4A5568"/>
                </a:solidFill>
                <a:latin typeface="Arial" pitchFamily="34" charset="0"/>
                <a:ea typeface="Arial" pitchFamily="34" charset="-122"/>
                <a:cs typeface="Arial" pitchFamily="34" charset="-120"/>
              </a:rPr>
              <a:t>Indikator - det vi mäter.</a:t>
            </a:r>
            <a:endParaRPr lang="en-US" sz="1400" dirty="0"/>
          </a:p>
        </p:txBody>
      </p:sp>
      <p:sp>
        <p:nvSpPr>
          <p:cNvPr id="9" name="Shape 7"/>
          <p:cNvSpPr/>
          <p:nvPr/>
        </p:nvSpPr>
        <p:spPr>
          <a:xfrm>
            <a:off x="548640" y="3657600"/>
            <a:ext cx="3515258" cy="777240"/>
          </a:xfrm>
          <a:prstGeom prst="roundRect">
            <a:avLst>
              <a:gd name="adj" fmla="val 7059"/>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0" name="Shape 8"/>
          <p:cNvSpPr/>
          <p:nvPr/>
        </p:nvSpPr>
        <p:spPr>
          <a:xfrm>
            <a:off x="749808" y="3822192"/>
            <a:ext cx="109728" cy="109728"/>
          </a:xfrm>
          <a:prstGeom prst="ellipse">
            <a:avLst/>
          </a:prstGeom>
          <a:solidFill>
            <a:srgbClr val="D64545"/>
          </a:solidFill>
          <a:ln w="12700">
            <a:solidFill>
              <a:srgbClr val="D64545"/>
            </a:solidFill>
            <a:prstDash val="solid"/>
          </a:ln>
        </p:spPr>
      </p:sp>
      <p:sp>
        <p:nvSpPr>
          <p:cNvPr id="11" name="Shape 9"/>
          <p:cNvSpPr/>
          <p:nvPr/>
        </p:nvSpPr>
        <p:spPr>
          <a:xfrm>
            <a:off x="932688" y="3822192"/>
            <a:ext cx="109728" cy="109728"/>
          </a:xfrm>
          <a:prstGeom prst="ellipse">
            <a:avLst/>
          </a:prstGeom>
          <a:solidFill>
            <a:srgbClr val="FFB020"/>
          </a:solidFill>
          <a:ln w="12700">
            <a:solidFill>
              <a:srgbClr val="FFB020"/>
            </a:solidFill>
            <a:prstDash val="solid"/>
          </a:ln>
        </p:spPr>
      </p:sp>
      <p:sp>
        <p:nvSpPr>
          <p:cNvPr id="12" name="Shape 10"/>
          <p:cNvSpPr/>
          <p:nvPr/>
        </p:nvSpPr>
        <p:spPr>
          <a:xfrm>
            <a:off x="1115568" y="3822192"/>
            <a:ext cx="109728" cy="109728"/>
          </a:xfrm>
          <a:prstGeom prst="ellipse">
            <a:avLst/>
          </a:prstGeom>
          <a:solidFill>
            <a:srgbClr val="3CB371"/>
          </a:solidFill>
          <a:ln w="12700">
            <a:solidFill>
              <a:srgbClr val="3CB371"/>
            </a:solidFill>
            <a:prstDash val="solid"/>
          </a:ln>
        </p:spPr>
      </p:sp>
      <p:sp>
        <p:nvSpPr>
          <p:cNvPr id="13" name="Text 11"/>
          <p:cNvSpPr txBox="1"/>
          <p:nvPr/>
        </p:nvSpPr>
        <p:spPr>
          <a:xfrm>
            <a:off x="777240" y="4114800"/>
            <a:ext cx="3058058" cy="18288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Andel anrop utan 5xx</a:t>
            </a:r>
            <a:endParaRPr lang="en-US" sz="1200" dirty="0"/>
          </a:p>
        </p:txBody>
      </p:sp>
      <p:sp>
        <p:nvSpPr>
          <p:cNvPr id="14" name="Shape 12"/>
          <p:cNvSpPr/>
          <p:nvPr/>
        </p:nvSpPr>
        <p:spPr>
          <a:xfrm>
            <a:off x="4338218" y="1828800"/>
            <a:ext cx="3515258"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5" name="Text 13"/>
          <p:cNvSpPr txBox="1"/>
          <p:nvPr/>
        </p:nvSpPr>
        <p:spPr>
          <a:xfrm>
            <a:off x="4539386" y="2029968"/>
            <a:ext cx="3112922"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SERVICE LEVEL OBJECTIVE</a:t>
            </a:r>
            <a:endParaRPr lang="en-US" sz="1100" dirty="0"/>
          </a:p>
        </p:txBody>
      </p:sp>
      <p:sp>
        <p:nvSpPr>
          <p:cNvPr id="16" name="Text 14"/>
          <p:cNvSpPr txBox="1"/>
          <p:nvPr/>
        </p:nvSpPr>
        <p:spPr>
          <a:xfrm>
            <a:off x="4539386" y="2322576"/>
            <a:ext cx="3112922" cy="320040"/>
          </a:xfrm>
          <a:prstGeom prst="rect">
            <a:avLst/>
          </a:prstGeom>
          <a:noFill/>
          <a:ln/>
        </p:spPr>
        <p:txBody>
          <a:bodyPr wrap="square" lIns="0" tIns="0" rIns="0" bIns="0" rtlCol="0" anchor="t"/>
          <a:lstStyle/>
          <a:p>
            <a:pPr indent="0" marL="0">
              <a:buNone/>
            </a:pPr>
            <a:r>
              <a:rPr lang="en-US" sz="2200" b="1" dirty="0">
                <a:solidFill>
                  <a:srgbClr val="16202B"/>
                </a:solidFill>
                <a:latin typeface="Calibri" pitchFamily="34" charset="0"/>
                <a:ea typeface="Calibri" pitchFamily="34" charset="-122"/>
                <a:cs typeface="Calibri" pitchFamily="34" charset="-120"/>
              </a:rPr>
              <a:t>SLO</a:t>
            </a:r>
            <a:endParaRPr lang="en-US" sz="2200" dirty="0"/>
          </a:p>
        </p:txBody>
      </p:sp>
      <p:sp>
        <p:nvSpPr>
          <p:cNvPr id="17" name="Text 15"/>
          <p:cNvSpPr txBox="1"/>
          <p:nvPr/>
        </p:nvSpPr>
        <p:spPr>
          <a:xfrm>
            <a:off x="4539386" y="2706624"/>
            <a:ext cx="3112922" cy="658368"/>
          </a:xfrm>
          <a:prstGeom prst="rect">
            <a:avLst/>
          </a:prstGeom>
          <a:noFill/>
          <a:ln/>
        </p:spPr>
        <p:txBody>
          <a:bodyPr wrap="square" lIns="0" tIns="0" rIns="0" bIns="0" rtlCol="0" anchor="t"/>
          <a:lstStyle/>
          <a:p>
            <a:pPr indent="0" marL="0">
              <a:lnSpc>
                <a:spcPct val="115000"/>
              </a:lnSpc>
              <a:buNone/>
            </a:pPr>
            <a:r>
              <a:rPr lang="en-US" sz="1400" dirty="0">
                <a:solidFill>
                  <a:srgbClr val="4A5568"/>
                </a:solidFill>
                <a:latin typeface="Arial" pitchFamily="34" charset="0"/>
                <a:ea typeface="Arial" pitchFamily="34" charset="-122"/>
                <a:cs typeface="Arial" pitchFamily="34" charset="-120"/>
              </a:rPr>
              <a:t>Mål för SLI:n - hur bra är bra nog?</a:t>
            </a:r>
            <a:endParaRPr lang="en-US" sz="1400" dirty="0"/>
          </a:p>
        </p:txBody>
      </p:sp>
      <p:sp>
        <p:nvSpPr>
          <p:cNvPr id="18" name="Shape 16"/>
          <p:cNvSpPr/>
          <p:nvPr/>
        </p:nvSpPr>
        <p:spPr>
          <a:xfrm>
            <a:off x="4338218" y="3657600"/>
            <a:ext cx="3515258" cy="777240"/>
          </a:xfrm>
          <a:prstGeom prst="roundRect">
            <a:avLst>
              <a:gd name="adj" fmla="val 7059"/>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9" name="Shape 17"/>
          <p:cNvSpPr/>
          <p:nvPr/>
        </p:nvSpPr>
        <p:spPr>
          <a:xfrm>
            <a:off x="4539386" y="3822192"/>
            <a:ext cx="109728" cy="109728"/>
          </a:xfrm>
          <a:prstGeom prst="ellipse">
            <a:avLst/>
          </a:prstGeom>
          <a:solidFill>
            <a:srgbClr val="D64545"/>
          </a:solidFill>
          <a:ln w="12700">
            <a:solidFill>
              <a:srgbClr val="D64545"/>
            </a:solidFill>
            <a:prstDash val="solid"/>
          </a:ln>
        </p:spPr>
      </p:sp>
      <p:sp>
        <p:nvSpPr>
          <p:cNvPr id="20" name="Shape 18"/>
          <p:cNvSpPr/>
          <p:nvPr/>
        </p:nvSpPr>
        <p:spPr>
          <a:xfrm>
            <a:off x="4722266" y="3822192"/>
            <a:ext cx="109728" cy="109728"/>
          </a:xfrm>
          <a:prstGeom prst="ellipse">
            <a:avLst/>
          </a:prstGeom>
          <a:solidFill>
            <a:srgbClr val="FFB020"/>
          </a:solidFill>
          <a:ln w="12700">
            <a:solidFill>
              <a:srgbClr val="FFB020"/>
            </a:solidFill>
            <a:prstDash val="solid"/>
          </a:ln>
        </p:spPr>
      </p:sp>
      <p:sp>
        <p:nvSpPr>
          <p:cNvPr id="21" name="Shape 19"/>
          <p:cNvSpPr/>
          <p:nvPr/>
        </p:nvSpPr>
        <p:spPr>
          <a:xfrm>
            <a:off x="4905146" y="3822192"/>
            <a:ext cx="109728" cy="109728"/>
          </a:xfrm>
          <a:prstGeom prst="ellipse">
            <a:avLst/>
          </a:prstGeom>
          <a:solidFill>
            <a:srgbClr val="3CB371"/>
          </a:solidFill>
          <a:ln w="12700">
            <a:solidFill>
              <a:srgbClr val="3CB371"/>
            </a:solidFill>
            <a:prstDash val="solid"/>
          </a:ln>
        </p:spPr>
      </p:sp>
      <p:sp>
        <p:nvSpPr>
          <p:cNvPr id="22" name="Text 20"/>
          <p:cNvSpPr txBox="1"/>
          <p:nvPr/>
        </p:nvSpPr>
        <p:spPr>
          <a:xfrm>
            <a:off x="4566818" y="4114800"/>
            <a:ext cx="3058058" cy="18288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99 % under 30 dagar</a:t>
            </a:r>
            <a:endParaRPr lang="en-US" sz="1200" dirty="0"/>
          </a:p>
        </p:txBody>
      </p:sp>
      <p:sp>
        <p:nvSpPr>
          <p:cNvPr id="23" name="Shape 21"/>
          <p:cNvSpPr/>
          <p:nvPr/>
        </p:nvSpPr>
        <p:spPr>
          <a:xfrm>
            <a:off x="8127797" y="1828800"/>
            <a:ext cx="3515258" cy="1691640"/>
          </a:xfrm>
          <a:prstGeom prst="roundRect">
            <a:avLst>
              <a:gd name="adj" fmla="val 3243"/>
            </a:avLst>
          </a:prstGeom>
          <a:solidFill>
            <a:srgbClr val="3762FF"/>
          </a:solidFill>
          <a:ln w="12700">
            <a:solidFill>
              <a:srgbClr val="3762FF"/>
            </a:solidFill>
            <a:prstDash val="solid"/>
          </a:ln>
        </p:spPr>
      </p:sp>
      <p:sp>
        <p:nvSpPr>
          <p:cNvPr id="24" name="Text 22"/>
          <p:cNvSpPr txBox="1"/>
          <p:nvPr/>
        </p:nvSpPr>
        <p:spPr>
          <a:xfrm>
            <a:off x="8328965" y="2029968"/>
            <a:ext cx="3112922"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ERROR BUDGET</a:t>
            </a:r>
            <a:endParaRPr lang="en-US" sz="1100" dirty="0"/>
          </a:p>
        </p:txBody>
      </p:sp>
      <p:sp>
        <p:nvSpPr>
          <p:cNvPr id="25" name="Text 23"/>
          <p:cNvSpPr txBox="1"/>
          <p:nvPr/>
        </p:nvSpPr>
        <p:spPr>
          <a:xfrm>
            <a:off x="8328965" y="2322576"/>
            <a:ext cx="3112922" cy="32004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Felbudget</a:t>
            </a:r>
            <a:endParaRPr lang="en-US" sz="2200" dirty="0"/>
          </a:p>
        </p:txBody>
      </p:sp>
      <p:sp>
        <p:nvSpPr>
          <p:cNvPr id="26" name="Text 24"/>
          <p:cNvSpPr txBox="1"/>
          <p:nvPr/>
        </p:nvSpPr>
        <p:spPr>
          <a:xfrm>
            <a:off x="8328965" y="2706624"/>
            <a:ext cx="3112922" cy="658368"/>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Arial" pitchFamily="34" charset="0"/>
                <a:ea typeface="Arial" pitchFamily="34" charset="-122"/>
                <a:cs typeface="Arial" pitchFamily="34" charset="-120"/>
              </a:rPr>
              <a:t>Det som får gå fel: 100 % minus SLO.</a:t>
            </a:r>
            <a:endParaRPr lang="en-US" sz="1400" dirty="0"/>
          </a:p>
        </p:txBody>
      </p:sp>
      <p:sp>
        <p:nvSpPr>
          <p:cNvPr id="27" name="Shape 25"/>
          <p:cNvSpPr/>
          <p:nvPr/>
        </p:nvSpPr>
        <p:spPr>
          <a:xfrm>
            <a:off x="8127797" y="3657600"/>
            <a:ext cx="3515258" cy="777240"/>
          </a:xfrm>
          <a:prstGeom prst="roundRect">
            <a:avLst>
              <a:gd name="adj" fmla="val 7059"/>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28" name="Shape 26"/>
          <p:cNvSpPr/>
          <p:nvPr/>
        </p:nvSpPr>
        <p:spPr>
          <a:xfrm>
            <a:off x="8328965" y="3822192"/>
            <a:ext cx="109728" cy="109728"/>
          </a:xfrm>
          <a:prstGeom prst="ellipse">
            <a:avLst/>
          </a:prstGeom>
          <a:solidFill>
            <a:srgbClr val="D64545"/>
          </a:solidFill>
          <a:ln w="12700">
            <a:solidFill>
              <a:srgbClr val="D64545"/>
            </a:solidFill>
            <a:prstDash val="solid"/>
          </a:ln>
        </p:spPr>
      </p:sp>
      <p:sp>
        <p:nvSpPr>
          <p:cNvPr id="29" name="Shape 27"/>
          <p:cNvSpPr/>
          <p:nvPr/>
        </p:nvSpPr>
        <p:spPr>
          <a:xfrm>
            <a:off x="8511845" y="3822192"/>
            <a:ext cx="109728" cy="109728"/>
          </a:xfrm>
          <a:prstGeom prst="ellipse">
            <a:avLst/>
          </a:prstGeom>
          <a:solidFill>
            <a:srgbClr val="FFB020"/>
          </a:solidFill>
          <a:ln w="12700">
            <a:solidFill>
              <a:srgbClr val="FFB020"/>
            </a:solidFill>
            <a:prstDash val="solid"/>
          </a:ln>
        </p:spPr>
      </p:sp>
      <p:sp>
        <p:nvSpPr>
          <p:cNvPr id="30" name="Shape 28"/>
          <p:cNvSpPr/>
          <p:nvPr/>
        </p:nvSpPr>
        <p:spPr>
          <a:xfrm>
            <a:off x="8694725" y="3822192"/>
            <a:ext cx="109728" cy="109728"/>
          </a:xfrm>
          <a:prstGeom prst="ellipse">
            <a:avLst/>
          </a:prstGeom>
          <a:solidFill>
            <a:srgbClr val="3CB371"/>
          </a:solidFill>
          <a:ln w="12700">
            <a:solidFill>
              <a:srgbClr val="3CB371"/>
            </a:solidFill>
            <a:prstDash val="solid"/>
          </a:ln>
        </p:spPr>
      </p:sp>
      <p:sp>
        <p:nvSpPr>
          <p:cNvPr id="31" name="Text 29"/>
          <p:cNvSpPr txBox="1"/>
          <p:nvPr/>
        </p:nvSpPr>
        <p:spPr>
          <a:xfrm>
            <a:off x="8356397" y="4114800"/>
            <a:ext cx="3058058" cy="18288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1 % = ca 7 h per månad</a:t>
            </a:r>
            <a:endParaRPr lang="en-US" sz="1200" dirty="0"/>
          </a:p>
        </p:txBody>
      </p:sp>
      <p:sp>
        <p:nvSpPr>
          <p:cNvPr id="32" name="Shape 30"/>
          <p:cNvSpPr/>
          <p:nvPr/>
        </p:nvSpPr>
        <p:spPr>
          <a:xfrm>
            <a:off x="548640" y="4663440"/>
            <a:ext cx="5410048" cy="1188720"/>
          </a:xfrm>
          <a:prstGeom prst="roundRect">
            <a:avLst>
              <a:gd name="adj" fmla="val 4615"/>
            </a:avLst>
          </a:prstGeom>
          <a:solidFill>
            <a:srgbClr val="E8EDFF"/>
          </a:solidFill>
          <a:ln w="12700">
            <a:solidFill>
              <a:srgbClr val="E8EDFF"/>
            </a:solidFill>
            <a:prstDash val="solid"/>
          </a:ln>
        </p:spPr>
      </p:sp>
      <p:sp>
        <p:nvSpPr>
          <p:cNvPr id="33" name="Text 31"/>
          <p:cNvSpPr txBox="1"/>
          <p:nvPr/>
        </p:nvSpPr>
        <p:spPr>
          <a:xfrm>
            <a:off x="777240" y="4663440"/>
            <a:ext cx="4952848" cy="1188720"/>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Varför inte 100 %? </a:t>
            </a:r>
            <a:r>
              <a:rPr lang="en-US" sz="1300" dirty="0">
                <a:solidFill>
                  <a:srgbClr val="4A5568"/>
                </a:solidFill>
                <a:latin typeface="Arial" pitchFamily="34" charset="0"/>
                <a:ea typeface="Arial" pitchFamily="34" charset="-122"/>
                <a:cs typeface="Arial" pitchFamily="34" charset="-120"/>
              </a:rPr>
              <a:t>Varje deploy, omstart och nätverksfel kostar. Är felbudgeten slut prioriteras stabilitet före nya funktioner.</a:t>
            </a:r>
            <a:endParaRPr lang="en-US" sz="1300" dirty="0"/>
          </a:p>
        </p:txBody>
      </p:sp>
      <p:sp>
        <p:nvSpPr>
          <p:cNvPr id="34" name="Shape 32"/>
          <p:cNvSpPr/>
          <p:nvPr/>
        </p:nvSpPr>
        <p:spPr>
          <a:xfrm>
            <a:off x="6233008" y="4663440"/>
            <a:ext cx="5410048" cy="1188720"/>
          </a:xfrm>
          <a:prstGeom prst="roundRect">
            <a:avLst>
              <a:gd name="adj" fmla="val 4615"/>
            </a:avLst>
          </a:prstGeom>
          <a:solidFill>
            <a:srgbClr val="E8EDFF"/>
          </a:solidFill>
          <a:ln w="12700">
            <a:solidFill>
              <a:srgbClr val="E8EDFF"/>
            </a:solidFill>
            <a:prstDash val="solid"/>
          </a:ln>
        </p:spPr>
      </p:sp>
      <p:sp>
        <p:nvSpPr>
          <p:cNvPr id="35" name="Text 33"/>
          <p:cNvSpPr txBox="1"/>
          <p:nvPr/>
        </p:nvSpPr>
        <p:spPr>
          <a:xfrm>
            <a:off x="6461608" y="4663440"/>
            <a:ext cx="4952848" cy="1188720"/>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Och SLA? </a:t>
            </a:r>
            <a:r>
              <a:rPr lang="en-US" sz="1300" dirty="0">
                <a:solidFill>
                  <a:srgbClr val="4A5568"/>
                </a:solidFill>
                <a:latin typeface="Arial" pitchFamily="34" charset="0"/>
                <a:ea typeface="Arial" pitchFamily="34" charset="-122"/>
                <a:cs typeface="Arial" pitchFamily="34" charset="-120"/>
              </a:rPr>
              <a:t>Service Level Agreement - ett avtal med kunden, ofta med vite. Sätts lösare än SLO:n så att man hinner reagera.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1C · SLO I PROMQL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Tillgänglighet och kvarvarande felbudget</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promql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SLI: andel lyckade anrop senaste timmen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1 -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sum(increase(otel_http_server_request_duration_seconds_count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{service_name="telemetry-api",http_response_status_code=~"5.."}[1h]))</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sum(increase(otel_http_server_request_duration_seconds_count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{service_name="telemetry-api"}[1h]))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Felbudget kvar (SLO 99 %): 1 = hela budgeten, 0 = slut, &lt; 0 = överskriden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1 - ( (1 - &lt;SLI-frågan&gt;) / 0.01 )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Latens-SLO: andel anrop snabbare än 250 ms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sum(rate(..._bucket{service_name="telemetry-api",le="0.25"}[1h])) / sum(rate(..._count{…}[1h]))</a:t>
            </a:r>
            <a:endParaRPr lang="en-US" sz="10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Stat-panel</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Unit: Percent (0.0-1.0) · Thresholds 0.99 / 0.995.</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Felbudget</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Gauge med min 0 och max 1.</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Uppgift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Tryck Orsaka fel - hur mycket budget gick åt?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Sampling och skalning</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Färre traces och fler poddar - utan ny kod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SAMPLING · VARFÖR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Spara inte varje trace</a:t>
            </a:r>
            <a:endParaRPr lang="en-US" sz="3000" dirty="0"/>
          </a:p>
        </p:txBody>
      </p:sp>
      <p:sp>
        <p:nvSpPr>
          <p:cNvPr id="4" name="Shape 2"/>
          <p:cNvSpPr/>
          <p:nvPr/>
        </p:nvSpPr>
        <p:spPr>
          <a:xfrm>
            <a:off x="548640" y="1645920"/>
            <a:ext cx="3606698" cy="164592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always_on</a:t>
            </a:r>
            <a:endParaRPr lang="en-US" sz="1500" dirty="0"/>
          </a:p>
        </p:txBody>
      </p:sp>
      <p:sp>
        <p:nvSpPr>
          <p:cNvPr id="6" name="Text 4"/>
          <p:cNvSpPr txBox="1"/>
          <p:nvPr/>
        </p:nvSpPr>
        <p:spPr>
          <a:xfrm>
            <a:off x="749808" y="2231136"/>
            <a:ext cx="3204362" cy="9052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Alla traces (vår standard)</a:t>
            </a:r>
            <a:endParaRPr lang="en-US" sz="1300" dirty="0"/>
          </a:p>
        </p:txBody>
      </p:sp>
      <p:sp>
        <p:nvSpPr>
          <p:cNvPr id="7" name="Shape 5"/>
          <p:cNvSpPr/>
          <p:nvPr/>
        </p:nvSpPr>
        <p:spPr>
          <a:xfrm>
            <a:off x="4292498" y="1645920"/>
            <a:ext cx="3606698" cy="164592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3666" y="184708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traceidratio</a:t>
            </a:r>
            <a:endParaRPr lang="en-US" sz="1500" dirty="0"/>
          </a:p>
        </p:txBody>
      </p:sp>
      <p:sp>
        <p:nvSpPr>
          <p:cNvPr id="9" name="Text 7"/>
          <p:cNvSpPr txBox="1"/>
          <p:nvPr/>
        </p:nvSpPr>
        <p:spPr>
          <a:xfrm>
            <a:off x="4493666" y="2231136"/>
            <a:ext cx="3204362" cy="9052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Andel efter trace_id, t.ex. 0.25</a:t>
            </a:r>
            <a:endParaRPr lang="en-US" sz="1300" dirty="0"/>
          </a:p>
        </p:txBody>
      </p:sp>
      <p:sp>
        <p:nvSpPr>
          <p:cNvPr id="10" name="Shape 8"/>
          <p:cNvSpPr/>
          <p:nvPr/>
        </p:nvSpPr>
        <p:spPr>
          <a:xfrm>
            <a:off x="8036357" y="1645920"/>
            <a:ext cx="3606698" cy="1645920"/>
          </a:xfrm>
          <a:prstGeom prst="roundRect">
            <a:avLst>
              <a:gd name="adj" fmla="val 3333"/>
            </a:avLst>
          </a:prstGeom>
          <a:solidFill>
            <a:srgbClr val="3762FF"/>
          </a:solidFill>
          <a:ln w="12700">
            <a:solidFill>
              <a:srgbClr val="3762FF"/>
            </a:solidFill>
            <a:prstDash val="solid"/>
          </a:ln>
        </p:spPr>
      </p:sp>
      <p:sp>
        <p:nvSpPr>
          <p:cNvPr id="11" name="Text 9"/>
          <p:cNvSpPr txBox="1"/>
          <p:nvPr/>
        </p:nvSpPr>
        <p:spPr>
          <a:xfrm>
            <a:off x="8237525" y="184708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parentbased_traceidratio</a:t>
            </a:r>
            <a:endParaRPr lang="en-US" sz="1500" dirty="0"/>
          </a:p>
        </p:txBody>
      </p:sp>
      <p:sp>
        <p:nvSpPr>
          <p:cNvPr id="12" name="Text 10"/>
          <p:cNvSpPr txBox="1"/>
          <p:nvPr/>
        </p:nvSpPr>
        <p:spPr>
          <a:xfrm>
            <a:off x="8237525" y="2231136"/>
            <a:ext cx="3204362" cy="9052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Följ förälderns beslut - annars andel</a:t>
            </a:r>
            <a:endParaRPr lang="en-US" sz="1300" dirty="0"/>
          </a:p>
        </p:txBody>
      </p:sp>
      <p:sp>
        <p:nvSpPr>
          <p:cNvPr id="13" name="Shape 11"/>
          <p:cNvSpPr/>
          <p:nvPr/>
        </p:nvSpPr>
        <p:spPr>
          <a:xfrm>
            <a:off x="548640" y="3520440"/>
            <a:ext cx="3606698" cy="2194560"/>
          </a:xfrm>
          <a:prstGeom prst="roundRect">
            <a:avLst>
              <a:gd name="adj" fmla="val 2500"/>
            </a:avLst>
          </a:prstGeom>
          <a:solidFill>
            <a:srgbClr val="3762FF"/>
          </a:solidFill>
          <a:ln w="12700">
            <a:solidFill>
              <a:srgbClr val="3762FF"/>
            </a:solidFill>
            <a:prstDash val="solid"/>
          </a:ln>
        </p:spPr>
      </p:sp>
      <p:sp>
        <p:nvSpPr>
          <p:cNvPr id="14" name="Text 12"/>
          <p:cNvSpPr txBox="1"/>
          <p:nvPr/>
        </p:nvSpPr>
        <p:spPr>
          <a:xfrm>
            <a:off x="749808" y="372160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Metrics påverkas inte</a:t>
            </a:r>
            <a:endParaRPr lang="en-US" sz="1500" dirty="0"/>
          </a:p>
        </p:txBody>
      </p:sp>
      <p:sp>
        <p:nvSpPr>
          <p:cNvPr id="15" name="Text 13"/>
          <p:cNvSpPr txBox="1"/>
          <p:nvPr/>
        </p:nvSpPr>
        <p:spPr>
          <a:xfrm>
            <a:off x="749808" y="4105656"/>
            <a:ext cx="3204362" cy="145389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Anrop/s och p95 räknas på ALLA anrop - bara traces samplas bort.</a:t>
            </a:r>
            <a:endParaRPr lang="en-US" sz="1300" dirty="0"/>
          </a:p>
        </p:txBody>
      </p:sp>
      <p:sp>
        <p:nvSpPr>
          <p:cNvPr id="16" name="Shape 14"/>
          <p:cNvSpPr/>
          <p:nvPr/>
        </p:nvSpPr>
        <p:spPr>
          <a:xfrm>
            <a:off x="4292498" y="3520440"/>
            <a:ext cx="3606698" cy="2194560"/>
          </a:xfrm>
          <a:prstGeom prst="roundRect">
            <a:avLst>
              <a:gd name="adj" fmla="val 25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4493666" y="372160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Head sampling</a:t>
            </a:r>
            <a:endParaRPr lang="en-US" sz="1500" dirty="0"/>
          </a:p>
        </p:txBody>
      </p:sp>
      <p:sp>
        <p:nvSpPr>
          <p:cNvPr id="18" name="Text 16"/>
          <p:cNvSpPr txBox="1"/>
          <p:nvPr/>
        </p:nvSpPr>
        <p:spPr>
          <a:xfrm>
            <a:off x="4493666" y="4105656"/>
            <a:ext cx="3204362" cy="14538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Beslutet tas när tracen börjar och följer med i traceparent (flaggan -01).</a:t>
            </a:r>
            <a:endParaRPr lang="en-US" sz="1300" dirty="0"/>
          </a:p>
        </p:txBody>
      </p:sp>
      <p:sp>
        <p:nvSpPr>
          <p:cNvPr id="19" name="Shape 17"/>
          <p:cNvSpPr/>
          <p:nvPr/>
        </p:nvSpPr>
        <p:spPr>
          <a:xfrm>
            <a:off x="8036357" y="3520440"/>
            <a:ext cx="3606698" cy="2194560"/>
          </a:xfrm>
          <a:prstGeom prst="roundRect">
            <a:avLst>
              <a:gd name="adj" fmla="val 25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8237525" y="372160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Parent-based</a:t>
            </a:r>
            <a:endParaRPr lang="en-US" sz="1500" dirty="0"/>
          </a:p>
        </p:txBody>
      </p:sp>
      <p:sp>
        <p:nvSpPr>
          <p:cNvPr id="21" name="Text 19"/>
          <p:cNvSpPr txBox="1"/>
          <p:nvPr/>
        </p:nvSpPr>
        <p:spPr>
          <a:xfrm>
            <a:off x="8237525" y="4105656"/>
            <a:ext cx="3204362" cy="14538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Webbläsaren sa ja → API:t säger ja. Annars blir tracen sönderklippt.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2A · SAMPLING MED HELM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Ändra samplingen - utan ny kod</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$chart = "..\..\TelemetryApi\charts\telemetry-api"      # från Kvall8-mappen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helm upgrade telemetry-api $chart -n customers --reuse-values --set extraEnv.OTEL_TRACES_SAMPLER=parentbased_traceidratio --set extraEnv.OTEL_TRACES_SAMPLER_ARG=0.25</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deploy telemetry-api -n customers -o yaml | Select-String OTEL_TRACES</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20 anrop direkt mot API:t (ingen förälder) - hur många traces i Tempo?</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1..20 | % { Invoke-RestMethod http://telemetryapi.local/customers | Out-Null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Klick i CustomerClient - Faro har redan bestämt 'ja' i traceparent</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Återställ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helm upgrade telemetry-api $chart -n customers --reuse-values --set extraEnv=null</a:t>
            </a:r>
            <a:endParaRPr lang="en-US" sz="110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OTEL_TRACES_SAMPLER</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Standardvariabel - SDK:n läser den själv.</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Direkta anrop</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Cirka 5 av 20 syns i Tempo.</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Från webbläsaren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Alla syns - API:t följer Faros beslut.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SKALNING · HPA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HorizontalPodAutoscaler - fler poddar vid last</a:t>
            </a:r>
            <a:endParaRPr lang="en-US" sz="3000" dirty="0"/>
          </a:p>
        </p:txBody>
      </p:sp>
      <p:sp>
        <p:nvSpPr>
          <p:cNvPr id="4" name="Shape 2"/>
          <p:cNvSpPr/>
          <p:nvPr/>
        </p:nvSpPr>
        <p:spPr>
          <a:xfrm>
            <a:off x="548640" y="1691640"/>
            <a:ext cx="3332378"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640080" y="1691640"/>
            <a:ext cx="3149498"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metrics-server</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CPU och minne per podd (kubectl top)</a:t>
            </a:r>
            <a:endParaRPr lang="en-US" sz="1400" dirty="0"/>
          </a:p>
        </p:txBody>
      </p:sp>
      <p:sp>
        <p:nvSpPr>
          <p:cNvPr id="6" name="Shape 4"/>
          <p:cNvSpPr/>
          <p:nvPr/>
        </p:nvSpPr>
        <p:spPr>
          <a:xfrm>
            <a:off x="3926738" y="2194560"/>
            <a:ext cx="457200" cy="0"/>
          </a:xfrm>
          <a:prstGeom prst="line">
            <a:avLst/>
          </a:prstGeom>
          <a:noFill/>
          <a:ln w="19050">
            <a:solidFill>
              <a:srgbClr val="3762FF"/>
            </a:solidFill>
            <a:prstDash val="solid"/>
            <a:tailEnd type="triangle"/>
          </a:ln>
        </p:spPr>
      </p:sp>
      <p:sp>
        <p:nvSpPr>
          <p:cNvPr id="7" name="Shape 5"/>
          <p:cNvSpPr/>
          <p:nvPr/>
        </p:nvSpPr>
        <p:spPr>
          <a:xfrm>
            <a:off x="4429658" y="1691640"/>
            <a:ext cx="3332378" cy="1005840"/>
          </a:xfrm>
          <a:prstGeom prst="roundRect">
            <a:avLst>
              <a:gd name="adj" fmla="val 5455"/>
            </a:avLst>
          </a:prstGeom>
          <a:solidFill>
            <a:srgbClr val="3762FF"/>
          </a:solidFill>
          <a:ln w="12700">
            <a:solidFill>
              <a:srgbClr val="3762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521098" y="1691640"/>
            <a:ext cx="3149498"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HPA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jämför med målet: 50 % av request</a:t>
            </a:r>
            <a:endParaRPr lang="en-US" sz="1400" dirty="0"/>
          </a:p>
        </p:txBody>
      </p:sp>
      <p:sp>
        <p:nvSpPr>
          <p:cNvPr id="9" name="Shape 7"/>
          <p:cNvSpPr/>
          <p:nvPr/>
        </p:nvSpPr>
        <p:spPr>
          <a:xfrm>
            <a:off x="7807757" y="2194560"/>
            <a:ext cx="457200" cy="0"/>
          </a:xfrm>
          <a:prstGeom prst="line">
            <a:avLst/>
          </a:prstGeom>
          <a:noFill/>
          <a:ln w="19050">
            <a:solidFill>
              <a:srgbClr val="3762FF"/>
            </a:solidFill>
            <a:prstDash val="solid"/>
            <a:tailEnd type="triangle"/>
          </a:ln>
        </p:spPr>
      </p:sp>
      <p:sp>
        <p:nvSpPr>
          <p:cNvPr id="10" name="Shape 8"/>
          <p:cNvSpPr/>
          <p:nvPr/>
        </p:nvSpPr>
        <p:spPr>
          <a:xfrm>
            <a:off x="8310677" y="1691640"/>
            <a:ext cx="3332378"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402117" y="1691640"/>
            <a:ext cx="3149498"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Deployment</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replicas: 1 → 5</a:t>
            </a:r>
            <a:endParaRPr lang="en-US" sz="1400" dirty="0"/>
          </a:p>
        </p:txBody>
      </p:sp>
      <p:sp>
        <p:nvSpPr>
          <p:cNvPr id="12" name="Shape 10"/>
          <p:cNvSpPr/>
          <p:nvPr/>
        </p:nvSpPr>
        <p:spPr>
          <a:xfrm>
            <a:off x="548640" y="3063240"/>
            <a:ext cx="3606698" cy="2103120"/>
          </a:xfrm>
          <a:prstGeom prst="roundRect">
            <a:avLst>
              <a:gd name="adj" fmla="val 2609"/>
            </a:avLst>
          </a:prstGeom>
          <a:solidFill>
            <a:srgbClr val="3762FF"/>
          </a:solidFill>
          <a:ln w="12700">
            <a:solidFill>
              <a:srgbClr val="3762FF"/>
            </a:solidFill>
            <a:prstDash val="solid"/>
          </a:ln>
        </p:spPr>
      </p:sp>
      <p:sp>
        <p:nvSpPr>
          <p:cNvPr id="13" name="Text 11"/>
          <p:cNvSpPr txBox="1"/>
          <p:nvPr/>
        </p:nvSpPr>
        <p:spPr>
          <a:xfrm>
            <a:off x="749808" y="326440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requests krävs</a:t>
            </a:r>
            <a:endParaRPr lang="en-US" sz="1500" dirty="0"/>
          </a:p>
        </p:txBody>
      </p:sp>
      <p:sp>
        <p:nvSpPr>
          <p:cNvPr id="14" name="Text 12"/>
          <p:cNvSpPr txBox="1"/>
          <p:nvPr/>
        </p:nvSpPr>
        <p:spPr>
          <a:xfrm>
            <a:off x="749808" y="3648456"/>
            <a:ext cx="3204362" cy="13624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HPA räknar procent av resources.requests.cpu - saknas den händer ingenting.</a:t>
            </a:r>
            <a:endParaRPr lang="en-US" sz="1300" dirty="0"/>
          </a:p>
        </p:txBody>
      </p:sp>
      <p:sp>
        <p:nvSpPr>
          <p:cNvPr id="15" name="Shape 13"/>
          <p:cNvSpPr/>
          <p:nvPr/>
        </p:nvSpPr>
        <p:spPr>
          <a:xfrm>
            <a:off x="4292498" y="3063240"/>
            <a:ext cx="3606698" cy="2103120"/>
          </a:xfrm>
          <a:prstGeom prst="roundRect">
            <a:avLst>
              <a:gd name="adj" fmla="val 260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6" name="Text 14"/>
          <p:cNvSpPr txBox="1"/>
          <p:nvPr/>
        </p:nvSpPr>
        <p:spPr>
          <a:xfrm>
            <a:off x="4493666" y="326440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Stateless skalar</a:t>
            </a:r>
            <a:endParaRPr lang="en-US" sz="1500" dirty="0"/>
          </a:p>
        </p:txBody>
      </p:sp>
      <p:sp>
        <p:nvSpPr>
          <p:cNvPr id="17" name="Text 15"/>
          <p:cNvSpPr txBox="1"/>
          <p:nvPr/>
        </p:nvSpPr>
        <p:spPr>
          <a:xfrm>
            <a:off x="4493666" y="3648456"/>
            <a:ext cx="3204362" cy="13624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web, cqrs-api och telemetry-api kan skalas fritt.</a:t>
            </a:r>
            <a:endParaRPr lang="en-US" sz="1300" dirty="0"/>
          </a:p>
        </p:txBody>
      </p:sp>
      <p:sp>
        <p:nvSpPr>
          <p:cNvPr id="18" name="Shape 16"/>
          <p:cNvSpPr/>
          <p:nvPr/>
        </p:nvSpPr>
        <p:spPr>
          <a:xfrm>
            <a:off x="8036357" y="3063240"/>
            <a:ext cx="3606698" cy="2103120"/>
          </a:xfrm>
          <a:prstGeom prst="roundRect">
            <a:avLst>
              <a:gd name="adj" fmla="val 260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9" name="Text 17"/>
          <p:cNvSpPr txBox="1"/>
          <p:nvPr/>
        </p:nvSpPr>
        <p:spPr>
          <a:xfrm>
            <a:off x="8237525" y="326440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Stateful skalar inte så</a:t>
            </a:r>
            <a:endParaRPr lang="en-US" sz="1500" dirty="0"/>
          </a:p>
        </p:txBody>
      </p:sp>
      <p:sp>
        <p:nvSpPr>
          <p:cNvPr id="20" name="Text 18"/>
          <p:cNvSpPr txBox="1"/>
          <p:nvPr/>
        </p:nvSpPr>
        <p:spPr>
          <a:xfrm>
            <a:off x="8237525" y="3648456"/>
            <a:ext cx="3204362" cy="13624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cqrs-worker: fler repliker = kommandon i fel ordning. MySQL: StatefulSet.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2B · SKALA UNDER LAST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Se HPA:n lägga till poddar</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top nodes ; kubectl top pods -A | Select-Object -First 10</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apply -f 01-hpa-demo.yaml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hpa -n lab -w                       # eget fönster</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Generera last (eget fönster, Ctrl+C för att sluta)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run load -n lab --rm -it --image=busybox:1.36 --restart=Never -- /bin/sh -c "while true; do wget -q -O- http://web &gt;/dev/null; done"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web   Deployment/web   cpu: 180%/50%   1   5   1</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web   Deployment/web   cpu: 92%/50%    1   5   4</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describe hpa web -n lab                 # Events: New size: 4</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kubectl top</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Data från metrics-server.</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-w</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Följer ändringar live.</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Efter lasten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Skalar ner efter ca 5 min - med flit.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Hemligheter på riktigt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TelemetryApi:s lösenord ut ur values.yaml - in i en SealedSecret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HEMLIGHETER · FÖRE OCH EFTER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Var ligger lösenordet?</a:t>
            </a:r>
            <a:endParaRPr lang="en-US" sz="3000" dirty="0"/>
          </a:p>
        </p:txBody>
      </p:sp>
      <p:sp>
        <p:nvSpPr>
          <p:cNvPr id="4" name="Text 2"/>
          <p:cNvSpPr txBox="1"/>
          <p:nvPr/>
        </p:nvSpPr>
        <p:spPr>
          <a:xfrm>
            <a:off x="548640" y="1435608"/>
            <a:ext cx="27432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IDAG</a:t>
            </a:r>
            <a:endParaRPr lang="en-US" sz="1100" dirty="0"/>
          </a:p>
        </p:txBody>
      </p:sp>
      <p:sp>
        <p:nvSpPr>
          <p:cNvPr id="5" name="Shape 3"/>
          <p:cNvSpPr/>
          <p:nvPr/>
        </p:nvSpPr>
        <p:spPr>
          <a:xfrm>
            <a:off x="548640" y="1783080"/>
            <a:ext cx="1889699" cy="868680"/>
          </a:xfrm>
          <a:prstGeom prst="roundRect">
            <a:avLst>
              <a:gd name="adj" fmla="val 6316"/>
            </a:avLst>
          </a:prstGeom>
          <a:solidFill>
            <a:srgbClr val="E8EDFF"/>
          </a:solidFill>
          <a:ln w="12700">
            <a:solidFill>
              <a:srgbClr val="E8ED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640080" y="178308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values.yaml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Git · klartext</a:t>
            </a:r>
            <a:endParaRPr lang="en-US" sz="1300" dirty="0"/>
          </a:p>
        </p:txBody>
      </p:sp>
      <p:sp>
        <p:nvSpPr>
          <p:cNvPr id="7" name="Shape 5"/>
          <p:cNvSpPr/>
          <p:nvPr/>
        </p:nvSpPr>
        <p:spPr>
          <a:xfrm>
            <a:off x="2484059" y="2217420"/>
            <a:ext cx="320040" cy="0"/>
          </a:xfrm>
          <a:prstGeom prst="line">
            <a:avLst/>
          </a:prstGeom>
          <a:noFill/>
          <a:ln w="19050">
            <a:solidFill>
              <a:srgbClr val="3762FF"/>
            </a:solidFill>
            <a:prstDash val="solid"/>
            <a:tailEnd type="triangle"/>
          </a:ln>
        </p:spPr>
      </p:sp>
      <p:sp>
        <p:nvSpPr>
          <p:cNvPr id="8" name="Shape 6"/>
          <p:cNvSpPr/>
          <p:nvPr/>
        </p:nvSpPr>
        <p:spPr>
          <a:xfrm>
            <a:off x="2849819" y="178308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2941259" y="178308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helm upgrade</a:t>
            </a:r>
            <a:endParaRPr lang="en-US" sz="1300" dirty="0"/>
          </a:p>
        </p:txBody>
      </p:sp>
      <p:sp>
        <p:nvSpPr>
          <p:cNvPr id="10" name="Shape 8"/>
          <p:cNvSpPr/>
          <p:nvPr/>
        </p:nvSpPr>
        <p:spPr>
          <a:xfrm>
            <a:off x="4785238" y="2217420"/>
            <a:ext cx="320040" cy="0"/>
          </a:xfrm>
          <a:prstGeom prst="line">
            <a:avLst/>
          </a:prstGeom>
          <a:noFill/>
          <a:ln w="19050">
            <a:solidFill>
              <a:srgbClr val="3762FF"/>
            </a:solidFill>
            <a:prstDash val="solid"/>
            <a:tailEnd type="triangle"/>
          </a:ln>
        </p:spPr>
      </p:sp>
      <p:sp>
        <p:nvSpPr>
          <p:cNvPr id="11" name="Shape 9"/>
          <p:cNvSpPr/>
          <p:nvPr/>
        </p:nvSpPr>
        <p:spPr>
          <a:xfrm>
            <a:off x="5150998" y="178308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2" name="Text 10"/>
          <p:cNvSpPr txBox="1"/>
          <p:nvPr/>
        </p:nvSpPr>
        <p:spPr>
          <a:xfrm>
            <a:off x="5242438" y="178308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secret.yaml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Helm-mallen</a:t>
            </a:r>
            <a:endParaRPr lang="en-US" sz="1300" dirty="0"/>
          </a:p>
        </p:txBody>
      </p:sp>
      <p:sp>
        <p:nvSpPr>
          <p:cNvPr id="13" name="Shape 11"/>
          <p:cNvSpPr/>
          <p:nvPr/>
        </p:nvSpPr>
        <p:spPr>
          <a:xfrm>
            <a:off x="7086417" y="2217420"/>
            <a:ext cx="320040" cy="0"/>
          </a:xfrm>
          <a:prstGeom prst="line">
            <a:avLst/>
          </a:prstGeom>
          <a:noFill/>
          <a:ln w="19050">
            <a:solidFill>
              <a:srgbClr val="3762FF"/>
            </a:solidFill>
            <a:prstDash val="solid"/>
            <a:tailEnd type="triangle"/>
          </a:ln>
        </p:spPr>
      </p:sp>
      <p:sp>
        <p:nvSpPr>
          <p:cNvPr id="14" name="Shape 12"/>
          <p:cNvSpPr/>
          <p:nvPr/>
        </p:nvSpPr>
        <p:spPr>
          <a:xfrm>
            <a:off x="7452177" y="178308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5" name="Text 13"/>
          <p:cNvSpPr txBox="1"/>
          <p:nvPr/>
        </p:nvSpPr>
        <p:spPr>
          <a:xfrm>
            <a:off x="7543617" y="178308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Secret</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telemetry-api-db</a:t>
            </a:r>
            <a:endParaRPr lang="en-US" sz="1300" dirty="0"/>
          </a:p>
        </p:txBody>
      </p:sp>
      <p:sp>
        <p:nvSpPr>
          <p:cNvPr id="16" name="Shape 14"/>
          <p:cNvSpPr/>
          <p:nvPr/>
        </p:nvSpPr>
        <p:spPr>
          <a:xfrm>
            <a:off x="9387596" y="2217420"/>
            <a:ext cx="320040" cy="0"/>
          </a:xfrm>
          <a:prstGeom prst="line">
            <a:avLst/>
          </a:prstGeom>
          <a:noFill/>
          <a:ln w="19050">
            <a:solidFill>
              <a:srgbClr val="3762FF"/>
            </a:solidFill>
            <a:prstDash val="solid"/>
            <a:tailEnd type="triangle"/>
          </a:ln>
        </p:spPr>
      </p:sp>
      <p:sp>
        <p:nvSpPr>
          <p:cNvPr id="17" name="Shape 15"/>
          <p:cNvSpPr/>
          <p:nvPr/>
        </p:nvSpPr>
        <p:spPr>
          <a:xfrm>
            <a:off x="9753356" y="178308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9844796" y="178308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Podden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env-variabel</a:t>
            </a:r>
            <a:endParaRPr lang="en-US" sz="1300" dirty="0"/>
          </a:p>
        </p:txBody>
      </p:sp>
      <p:sp>
        <p:nvSpPr>
          <p:cNvPr id="19" name="Text 17"/>
          <p:cNvSpPr txBox="1"/>
          <p:nvPr/>
        </p:nvSpPr>
        <p:spPr>
          <a:xfrm>
            <a:off x="548640" y="2898648"/>
            <a:ext cx="27432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IKVÄLL</a:t>
            </a:r>
            <a:endParaRPr lang="en-US" sz="1100" dirty="0"/>
          </a:p>
        </p:txBody>
      </p:sp>
      <p:sp>
        <p:nvSpPr>
          <p:cNvPr id="20" name="Shape 18"/>
          <p:cNvSpPr/>
          <p:nvPr/>
        </p:nvSpPr>
        <p:spPr>
          <a:xfrm>
            <a:off x="548640" y="324612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640080" y="324612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kubeseal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din dator</a:t>
            </a:r>
            <a:endParaRPr lang="en-US" sz="1300" dirty="0"/>
          </a:p>
        </p:txBody>
      </p:sp>
      <p:sp>
        <p:nvSpPr>
          <p:cNvPr id="22" name="Shape 20"/>
          <p:cNvSpPr/>
          <p:nvPr/>
        </p:nvSpPr>
        <p:spPr>
          <a:xfrm>
            <a:off x="2484059" y="3680460"/>
            <a:ext cx="320040" cy="0"/>
          </a:xfrm>
          <a:prstGeom prst="line">
            <a:avLst/>
          </a:prstGeom>
          <a:noFill/>
          <a:ln w="19050">
            <a:solidFill>
              <a:srgbClr val="3762FF"/>
            </a:solidFill>
            <a:prstDash val="solid"/>
            <a:tailEnd type="triangle"/>
          </a:ln>
        </p:spPr>
      </p:sp>
      <p:sp>
        <p:nvSpPr>
          <p:cNvPr id="23" name="Shape 21"/>
          <p:cNvSpPr/>
          <p:nvPr/>
        </p:nvSpPr>
        <p:spPr>
          <a:xfrm>
            <a:off x="2849819" y="3246120"/>
            <a:ext cx="1889699" cy="868680"/>
          </a:xfrm>
          <a:prstGeom prst="roundRect">
            <a:avLst>
              <a:gd name="adj" fmla="val 6316"/>
            </a:avLst>
          </a:prstGeom>
          <a:solidFill>
            <a:srgbClr val="3762FF"/>
          </a:solidFill>
          <a:ln w="12700">
            <a:solidFill>
              <a:srgbClr val="3762FF"/>
            </a:solidFill>
            <a:prstDash val="solid"/>
          </a:ln>
          <a:effectLst>
            <a:outerShdw sx="100000" sy="100000" kx="0" ky="0" algn="bl" rotWithShape="0" blurRad="101600" dist="25400" dir="5400000">
              <a:srgbClr val="000000">
                <a:alpha val="10000"/>
              </a:srgbClr>
            </a:outerShdw>
          </a:effectLst>
        </p:spPr>
      </p:sp>
      <p:sp>
        <p:nvSpPr>
          <p:cNvPr id="24" name="Text 22"/>
          <p:cNvSpPr txBox="1"/>
          <p:nvPr/>
        </p:nvSpPr>
        <p:spPr>
          <a:xfrm>
            <a:off x="2941259" y="3246120"/>
            <a:ext cx="1706819"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SealedSecret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Git · krypterad</a:t>
            </a:r>
            <a:endParaRPr lang="en-US" sz="1300" dirty="0"/>
          </a:p>
        </p:txBody>
      </p:sp>
      <p:sp>
        <p:nvSpPr>
          <p:cNvPr id="25" name="Shape 23"/>
          <p:cNvSpPr/>
          <p:nvPr/>
        </p:nvSpPr>
        <p:spPr>
          <a:xfrm>
            <a:off x="4785238" y="3680460"/>
            <a:ext cx="320040" cy="0"/>
          </a:xfrm>
          <a:prstGeom prst="line">
            <a:avLst/>
          </a:prstGeom>
          <a:noFill/>
          <a:ln w="19050">
            <a:solidFill>
              <a:srgbClr val="3762FF"/>
            </a:solidFill>
            <a:prstDash val="solid"/>
            <a:tailEnd type="triangle"/>
          </a:ln>
        </p:spPr>
      </p:sp>
      <p:sp>
        <p:nvSpPr>
          <p:cNvPr id="26" name="Shape 24"/>
          <p:cNvSpPr/>
          <p:nvPr/>
        </p:nvSpPr>
        <p:spPr>
          <a:xfrm>
            <a:off x="5150998" y="324612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7" name="Text 25"/>
          <p:cNvSpPr txBox="1"/>
          <p:nvPr/>
        </p:nvSpPr>
        <p:spPr>
          <a:xfrm>
            <a:off x="5242438" y="324612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controllern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sealed-secrets</a:t>
            </a:r>
            <a:endParaRPr lang="en-US" sz="1300" dirty="0"/>
          </a:p>
        </p:txBody>
      </p:sp>
      <p:sp>
        <p:nvSpPr>
          <p:cNvPr id="28" name="Shape 26"/>
          <p:cNvSpPr/>
          <p:nvPr/>
        </p:nvSpPr>
        <p:spPr>
          <a:xfrm>
            <a:off x="7086417" y="3680460"/>
            <a:ext cx="320040" cy="0"/>
          </a:xfrm>
          <a:prstGeom prst="line">
            <a:avLst/>
          </a:prstGeom>
          <a:noFill/>
          <a:ln w="19050">
            <a:solidFill>
              <a:srgbClr val="3762FF"/>
            </a:solidFill>
            <a:prstDash val="solid"/>
            <a:tailEnd type="triangle"/>
          </a:ln>
        </p:spPr>
      </p:sp>
      <p:sp>
        <p:nvSpPr>
          <p:cNvPr id="29" name="Shape 27"/>
          <p:cNvSpPr/>
          <p:nvPr/>
        </p:nvSpPr>
        <p:spPr>
          <a:xfrm>
            <a:off x="7452177" y="324612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0" name="Text 28"/>
          <p:cNvSpPr txBox="1"/>
          <p:nvPr/>
        </p:nvSpPr>
        <p:spPr>
          <a:xfrm>
            <a:off x="7543617" y="324612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Secret</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customers-db</a:t>
            </a:r>
            <a:endParaRPr lang="en-US" sz="1300" dirty="0"/>
          </a:p>
        </p:txBody>
      </p:sp>
      <p:sp>
        <p:nvSpPr>
          <p:cNvPr id="31" name="Shape 29"/>
          <p:cNvSpPr/>
          <p:nvPr/>
        </p:nvSpPr>
        <p:spPr>
          <a:xfrm>
            <a:off x="9387596" y="3680460"/>
            <a:ext cx="320040" cy="0"/>
          </a:xfrm>
          <a:prstGeom prst="line">
            <a:avLst/>
          </a:prstGeom>
          <a:noFill/>
          <a:ln w="19050">
            <a:solidFill>
              <a:srgbClr val="3762FF"/>
            </a:solidFill>
            <a:prstDash val="solid"/>
            <a:tailEnd type="triangle"/>
          </a:ln>
        </p:spPr>
      </p:sp>
      <p:sp>
        <p:nvSpPr>
          <p:cNvPr id="32" name="Shape 30"/>
          <p:cNvSpPr/>
          <p:nvPr/>
        </p:nvSpPr>
        <p:spPr>
          <a:xfrm>
            <a:off x="9753356" y="3246120"/>
            <a:ext cx="1889699" cy="86868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3" name="Text 31"/>
          <p:cNvSpPr txBox="1"/>
          <p:nvPr/>
        </p:nvSpPr>
        <p:spPr>
          <a:xfrm>
            <a:off x="9844796" y="3246120"/>
            <a:ext cx="1706819" cy="8686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Podden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env-variabel</a:t>
            </a:r>
            <a:endParaRPr lang="en-US" sz="1300" dirty="0"/>
          </a:p>
        </p:txBody>
      </p:sp>
      <p:sp>
        <p:nvSpPr>
          <p:cNvPr id="34" name="Shape 32"/>
          <p:cNvSpPr/>
          <p:nvPr/>
        </p:nvSpPr>
        <p:spPr>
          <a:xfrm>
            <a:off x="548640" y="4526280"/>
            <a:ext cx="3606698" cy="132588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5" name="Text 33"/>
          <p:cNvSpPr txBox="1"/>
          <p:nvPr/>
        </p:nvSpPr>
        <p:spPr>
          <a:xfrm>
            <a:off x="749808" y="472744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database.existingSecret</a:t>
            </a:r>
            <a:endParaRPr lang="en-US" sz="1500" dirty="0"/>
          </a:p>
        </p:txBody>
      </p:sp>
      <p:sp>
        <p:nvSpPr>
          <p:cNvPr id="36" name="Text 34"/>
          <p:cNvSpPr txBox="1"/>
          <p:nvPr/>
        </p:nvSpPr>
        <p:spPr>
          <a:xfrm>
            <a:off x="749808" y="5111496"/>
            <a:ext cx="3204362" cy="585216"/>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Charten hoppar då över sin egen Secret - mallen börjar med {{- if not ... }}. Ingen kodändring.</a:t>
            </a:r>
            <a:endParaRPr lang="en-US" sz="1250" dirty="0"/>
          </a:p>
        </p:txBody>
      </p:sp>
      <p:sp>
        <p:nvSpPr>
          <p:cNvPr id="37" name="Shape 35"/>
          <p:cNvSpPr/>
          <p:nvPr/>
        </p:nvSpPr>
        <p:spPr>
          <a:xfrm>
            <a:off x="4292498" y="4526280"/>
            <a:ext cx="3606698" cy="132588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8" name="Text 36"/>
          <p:cNvSpPr txBox="1"/>
          <p:nvPr/>
        </p:nvSpPr>
        <p:spPr>
          <a:xfrm>
            <a:off x="4493666" y="472744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Nytt namn: customers-db</a:t>
            </a:r>
            <a:endParaRPr lang="en-US" sz="1500" dirty="0"/>
          </a:p>
        </p:txBody>
      </p:sp>
      <p:sp>
        <p:nvSpPr>
          <p:cNvPr id="39" name="Text 37"/>
          <p:cNvSpPr txBox="1"/>
          <p:nvPr/>
        </p:nvSpPr>
        <p:spPr>
          <a:xfrm>
            <a:off x="4493666" y="5111496"/>
            <a:ext cx="3204362" cy="585216"/>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Controllern skriver aldrig över en Secret som den inte själv har skapat.</a:t>
            </a:r>
            <a:endParaRPr lang="en-US" sz="1250" dirty="0"/>
          </a:p>
        </p:txBody>
      </p:sp>
      <p:sp>
        <p:nvSpPr>
          <p:cNvPr id="40" name="Shape 38"/>
          <p:cNvSpPr/>
          <p:nvPr/>
        </p:nvSpPr>
        <p:spPr>
          <a:xfrm>
            <a:off x="8036357" y="4526280"/>
            <a:ext cx="3606698" cy="1325880"/>
          </a:xfrm>
          <a:prstGeom prst="roundRect">
            <a:avLst>
              <a:gd name="adj" fmla="val 4138"/>
            </a:avLst>
          </a:prstGeom>
          <a:solidFill>
            <a:srgbClr val="3762FF"/>
          </a:solidFill>
          <a:ln w="12700">
            <a:solidFill>
              <a:srgbClr val="3762FF"/>
            </a:solidFill>
            <a:prstDash val="solid"/>
          </a:ln>
        </p:spPr>
      </p:sp>
      <p:sp>
        <p:nvSpPr>
          <p:cNvPr id="41" name="Text 39"/>
          <p:cNvSpPr txBox="1"/>
          <p:nvPr/>
        </p:nvSpPr>
        <p:spPr>
          <a:xfrm>
            <a:off x="8237525" y="472744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Nytt lösenord</a:t>
            </a:r>
            <a:endParaRPr lang="en-US" sz="1500" dirty="0"/>
          </a:p>
        </p:txBody>
      </p:sp>
      <p:sp>
        <p:nvSpPr>
          <p:cNvPr id="42" name="Text 40"/>
          <p:cNvSpPr txBox="1"/>
          <p:nvPr/>
        </p:nvSpPr>
        <p:spPr>
          <a:xfrm>
            <a:off x="8237525" y="5111496"/>
            <a:ext cx="3204362" cy="585216"/>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Arial" pitchFamily="34" charset="0"/>
                <a:ea typeface="Arial" pitchFamily="34" charset="-122"/>
                <a:cs typeface="Arial" pitchFamily="34" charset="-120"/>
              </a:rPr>
              <a:t>Det gamla har legat i klartext i Git. Det ska bytas - inte bara flyttas.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3A · HITTA LÖSENORDET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Tre ställen där det syns idag</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1. I Git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Select-String Password ..\..\TelemetryApi\charts\telemetry-api\values.yaml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2. I Helm-releasen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helm get values telemetry-api -n customers --all | Select-String connectionString</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3. I klustret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secret telemetry-api-db -n customers -o go-template='{{.data.connectionString | base64decode}}'</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Hur charten väljer</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Get-Content ..\..\TelemetryApi\charts\telemetry-api\templates\secret.yaml -TotalCount 2</a:t>
            </a:r>
            <a:endParaRPr lang="en-US" sz="10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Git</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Alla med läsrätt till repot.</a:t>
            </a:r>
            <a:endParaRPr lang="en-US" sz="1200" dirty="0"/>
          </a:p>
        </p:txBody>
      </p:sp>
      <p:sp>
        <p:nvSpPr>
          <p:cNvPr id="13" name="Shape 11"/>
          <p:cNvSpPr/>
          <p:nvPr/>
        </p:nvSpPr>
        <p:spPr>
          <a:xfrm>
            <a:off x="8412480" y="3048000"/>
            <a:ext cx="3230575" cy="1356360"/>
          </a:xfrm>
          <a:prstGeom prst="roundRect">
            <a:avLst>
              <a:gd name="adj" fmla="val 4045"/>
            </a:avLst>
          </a:prstGeom>
          <a:solidFill>
            <a:srgbClr val="16294A"/>
          </a:solidFill>
          <a:ln w="12700">
            <a:solidFill>
              <a:srgbClr val="16294A"/>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Helm-releasen</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Sparas som en Secret i namespacet (sh.helm.release.v1...).</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existingSecret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Satt = mallen renderar ingenting.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3B · KRYPTERA EN NY CONNECTION STRING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Nytt lösenord - direkt in i kubeseal</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Slumpa ett lösenord: 24 tecken, bara bokstäver och siffror</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$dbPass = -join ((48..57) + (65..90) + (97..122) | Get-Random -Count 24 | % { [char]$_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$cs = "Server=mysql.mysql.svc.cluster.local;Port=3306;Database=customers;"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$cs += "User ID=customers_app;Password=$dbPass;AllowPublicKeyRetrieval=True"</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Flaggorna till kubeseal - används igen i labb 4b</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$ks = @("--controller-name", "sealed-secrets-controller", "--controller-namespace", "sealed-secrets")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create secret generic customers-db -n customers --from-literal=connectionString=$cs --dry-run=client -o yaml | .\kubeseal.exe @ks -o yaml &gt; customers-db-sealed.yaml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apply -f customers-db-sealed.yaml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sealedsecret,secret -n customers</a:t>
            </a:r>
            <a:endParaRPr lang="en-US" sz="10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@ks</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Splatting: flaggorna i en array - inga långa rader och inga backticks.</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--dry-run | kubeseal</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Klartexten når aldrig disken eller klustret.</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Två Secrets</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telemetry-api-db (gammal) och customers-db (ny) - appen använder fortfarande den gamla.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3C · BYT LÖSENORD OCH PEKA OM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Databasen, sedan Helm - i den ordningen</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..\..\TelemetryApi\setup-db.ps1 -AppPassword $dbPass      # ALTER USER i MySQL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Get-Content 03-telemetry-api-values.yaml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..\..\TelemetryApi\build.ps1 -SkipBuild -Values 03-telemetry-api-values.yaml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rollout status deploy/telemetry-api -n customers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secret -n customers                   # telemetry-api-db är borta</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Invoke-RestMethod http://telemetryapi.local/customers | Select-Object -First 3</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Remove-Variable dbPass, cs                        # behövs aldrig mer</a:t>
            </a:r>
            <a:endParaRPr lang="en-US" sz="10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Ordningen</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Seal → lösenord → Helm. Kort avbrott mellan steg 2 och 3.</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-Values-filen</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Utan den återställer nästa build.ps1 det gamla lösenordet.</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Ingen kan det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Lösenordet finns bara krypterat i Git och i klustret.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HEMLIGHETER · MÖNSTRET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Det här checkar ni in - och det här inte</a:t>
            </a:r>
            <a:endParaRPr lang="en-US" sz="3000" dirty="0"/>
          </a:p>
        </p:txBody>
      </p:sp>
      <p:sp>
        <p:nvSpPr>
          <p:cNvPr id="4" name="Shape 2"/>
          <p:cNvSpPr/>
          <p:nvPr/>
        </p:nvSpPr>
        <p:spPr>
          <a:xfrm>
            <a:off x="548640" y="1645920"/>
            <a:ext cx="3606698" cy="2377440"/>
          </a:xfrm>
          <a:prstGeom prst="roundRect">
            <a:avLst>
              <a:gd name="adj" fmla="val 230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204362"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I Git</a:t>
            </a:r>
            <a:endParaRPr lang="en-US" sz="1700" dirty="0"/>
          </a:p>
        </p:txBody>
      </p:sp>
      <p:sp>
        <p:nvSpPr>
          <p:cNvPr id="6" name="Text 4"/>
          <p:cNvSpPr txBox="1"/>
          <p:nvPr/>
        </p:nvSpPr>
        <p:spPr>
          <a:xfrm>
            <a:off x="749808" y="2231136"/>
            <a:ext cx="3204362" cy="1636776"/>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customers-db-sealed.yaml</a:t>
            </a:r>
            <a:endParaRPr lang="en-US" sz="1350" dirty="0"/>
          </a:p>
          <a:p>
            <a:pPr indent="0" marL="0">
              <a:lnSpc>
                <a:spcPct val="115000"/>
              </a:lnSpc>
              <a:buNone/>
            </a:pPr>
            <a:r>
              <a:rPr lang="en-US" sz="1350" dirty="0">
                <a:solidFill>
                  <a:srgbClr val="4A5568"/>
                </a:solidFill>
                <a:latin typeface="Arial" pitchFamily="34" charset="0"/>
                <a:ea typeface="Arial" pitchFamily="34" charset="-122"/>
                <a:cs typeface="Arial" pitchFamily="34" charset="-120"/>
              </a:rPr>
              <a:t>03-telemetry-api-values.yaml</a:t>
            </a:r>
            <a:endParaRPr lang="en-US" sz="1350" dirty="0"/>
          </a:p>
          <a:p>
            <a:pPr indent="0" marL="0">
              <a:lnSpc>
                <a:spcPct val="115000"/>
              </a:lnSpc>
              <a:buNone/>
            </a:pPr>
            <a:r>
              <a:rPr lang="en-US" sz="1350" dirty="0">
                <a:solidFill>
                  <a:srgbClr val="4A5568"/>
                </a:solidFill>
                <a:latin typeface="Arial" pitchFamily="34" charset="0"/>
                <a:ea typeface="Arial" pitchFamily="34" charset="-122"/>
                <a:cs typeface="Arial" pitchFamily="34" charset="-120"/>
              </a:rPr>
              <a:t>Charten - oförändrad</a:t>
            </a:r>
            <a:endParaRPr lang="en-US" sz="1350" dirty="0"/>
          </a:p>
        </p:txBody>
      </p:sp>
      <p:sp>
        <p:nvSpPr>
          <p:cNvPr id="7" name="Shape 5"/>
          <p:cNvSpPr/>
          <p:nvPr/>
        </p:nvSpPr>
        <p:spPr>
          <a:xfrm>
            <a:off x="4292498" y="1645920"/>
            <a:ext cx="3606698" cy="2377440"/>
          </a:xfrm>
          <a:prstGeom prst="roundRect">
            <a:avLst>
              <a:gd name="adj" fmla="val 230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3666" y="1847088"/>
            <a:ext cx="3204362"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Aldrig i Git</a:t>
            </a:r>
            <a:endParaRPr lang="en-US" sz="1700" dirty="0"/>
          </a:p>
        </p:txBody>
      </p:sp>
      <p:sp>
        <p:nvSpPr>
          <p:cNvPr id="9" name="Text 7"/>
          <p:cNvSpPr txBox="1"/>
          <p:nvPr/>
        </p:nvSpPr>
        <p:spPr>
          <a:xfrm>
            <a:off x="4493666" y="2231136"/>
            <a:ext cx="3204362" cy="1636776"/>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$dbPass och connection stringen</a:t>
            </a:r>
            <a:endParaRPr lang="en-US" sz="1350" dirty="0"/>
          </a:p>
          <a:p>
            <a:pPr indent="0" marL="0">
              <a:lnSpc>
                <a:spcPct val="115000"/>
              </a:lnSpc>
              <a:buNone/>
            </a:pPr>
            <a:r>
              <a:rPr lang="en-US" sz="1350" dirty="0">
                <a:solidFill>
                  <a:srgbClr val="4A5568"/>
                </a:solidFill>
                <a:latin typeface="Arial" pitchFamily="34" charset="0"/>
                <a:ea typeface="Arial" pitchFamily="34" charset="-122"/>
                <a:cs typeface="Arial" pitchFamily="34" charset="-120"/>
              </a:rPr>
              <a:t>sealed-secrets-key.yaml</a:t>
            </a:r>
            <a:endParaRPr lang="en-US" sz="1350" dirty="0"/>
          </a:p>
          <a:p>
            <a:pPr indent="0" marL="0">
              <a:lnSpc>
                <a:spcPct val="115000"/>
              </a:lnSpc>
              <a:buNone/>
            </a:pPr>
            <a:r>
              <a:rPr lang="en-US" sz="1350" dirty="0">
                <a:solidFill>
                  <a:srgbClr val="4A5568"/>
                </a:solidFill>
                <a:latin typeface="Arial" pitchFamily="34" charset="0"/>
                <a:ea typeface="Arial" pitchFamily="34" charset="-122"/>
                <a:cs typeface="Arial" pitchFamily="34" charset="-120"/>
              </a:rPr>
              <a:t>TLS-nyckeln i nästa del</a:t>
            </a:r>
            <a:endParaRPr lang="en-US" sz="1350" dirty="0"/>
          </a:p>
        </p:txBody>
      </p:sp>
      <p:sp>
        <p:nvSpPr>
          <p:cNvPr id="10" name="Shape 8"/>
          <p:cNvSpPr/>
          <p:nvPr/>
        </p:nvSpPr>
        <p:spPr>
          <a:xfrm>
            <a:off x="8036357" y="1645920"/>
            <a:ext cx="3606698" cy="2377440"/>
          </a:xfrm>
          <a:prstGeom prst="roundRect">
            <a:avLst>
              <a:gd name="adj" fmla="val 2308"/>
            </a:avLst>
          </a:prstGeom>
          <a:solidFill>
            <a:srgbClr val="3762FF"/>
          </a:solidFill>
          <a:ln w="12700">
            <a:solidFill>
              <a:srgbClr val="3762FF"/>
            </a:solidFill>
            <a:prstDash val="solid"/>
          </a:ln>
        </p:spPr>
      </p:sp>
      <p:sp>
        <p:nvSpPr>
          <p:cNvPr id="11" name="Text 9"/>
          <p:cNvSpPr txBox="1"/>
          <p:nvPr/>
        </p:nvSpPr>
        <p:spPr>
          <a:xfrm>
            <a:off x="8237525" y="1847088"/>
            <a:ext cx="3204362"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Nästa lösenordsbyte</a:t>
            </a:r>
            <a:endParaRPr lang="en-US" sz="1700" dirty="0"/>
          </a:p>
        </p:txBody>
      </p:sp>
      <p:sp>
        <p:nvSpPr>
          <p:cNvPr id="12" name="Text 10"/>
          <p:cNvSpPr txBox="1"/>
          <p:nvPr/>
        </p:nvSpPr>
        <p:spPr>
          <a:xfrm>
            <a:off x="8237525" y="2231136"/>
            <a:ext cx="3204362" cy="1636776"/>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Arial" pitchFamily="34" charset="0"/>
                <a:ea typeface="Arial" pitchFamily="34" charset="-122"/>
                <a:cs typeface="Arial" pitchFamily="34" charset="-120"/>
              </a:rPr>
              <a:t>Ny SealedSecret + kubectl rollout restart. Checksum-annotationen ser inte ändringen när existingSecret används.</a:t>
            </a:r>
            <a:endParaRPr lang="en-US" sz="1350" dirty="0"/>
          </a:p>
        </p:txBody>
      </p:sp>
      <p:sp>
        <p:nvSpPr>
          <p:cNvPr id="13" name="Shape 11"/>
          <p:cNvSpPr/>
          <p:nvPr/>
        </p:nvSpPr>
        <p:spPr>
          <a:xfrm>
            <a:off x="548640" y="4297680"/>
            <a:ext cx="11094415" cy="1463040"/>
          </a:xfrm>
          <a:prstGeom prst="roundRect">
            <a:avLst>
              <a:gd name="adj" fmla="val 3750"/>
            </a:avLst>
          </a:prstGeom>
          <a:solidFill>
            <a:srgbClr val="E8EDFF"/>
          </a:solidFill>
          <a:ln w="12700">
            <a:solidFill>
              <a:srgbClr val="E8EDFF"/>
            </a:solidFill>
            <a:prstDash val="solid"/>
          </a:ln>
        </p:spPr>
      </p:sp>
      <p:sp>
        <p:nvSpPr>
          <p:cNvPr id="14" name="Text 12"/>
          <p:cNvSpPr txBox="1"/>
          <p:nvPr/>
        </p:nvSpPr>
        <p:spPr>
          <a:xfrm>
            <a:off x="822960" y="4297680"/>
            <a:ext cx="10545775" cy="1463040"/>
          </a:xfrm>
          <a:prstGeom prst="rect">
            <a:avLst/>
          </a:prstGeom>
          <a:noFill/>
          <a:ln/>
        </p:spPr>
        <p:txBody>
          <a:bodyPr wrap="square" lIns="0" tIns="0" rIns="0" bIns="0" rtlCol="0" anchor="ctr"/>
          <a:lstStyle/>
          <a:p>
            <a:pPr indent="0" marL="0">
              <a:buNone/>
            </a:pPr>
            <a:r>
              <a:rPr lang="en-US" sz="1400" b="1" dirty="0">
                <a:solidFill>
                  <a:srgbClr val="16202B"/>
                </a:solidFill>
                <a:latin typeface="Arial" pitchFamily="34" charset="0"/>
                <a:ea typeface="Arial" pitchFamily="34" charset="-122"/>
                <a:cs typeface="Arial" pitchFamily="34" charset="-120"/>
              </a:rPr>
              <a:t>Hemuppgift: </a:t>
            </a:r>
            <a:r>
              <a:rPr lang="en-US" sz="1400" dirty="0">
                <a:solidFill>
                  <a:srgbClr val="4A5568"/>
                </a:solidFill>
                <a:latin typeface="Arial" pitchFamily="34" charset="0"/>
                <a:ea typeface="Arial" pitchFamily="34" charset="-122"/>
                <a:cs typeface="Arial" pitchFamily="34" charset="-120"/>
              </a:rPr>
              <a:t>samma mönster för cqrs-api (cqrs_reader) och cqrs-worker (cqrs_writer) - deras charts har samma existingSecret. Och MySQL:s root-lösenord, som fortfarande står i Infra\deploy-infra.ps1 och i setup-db-skripten.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TLS per tjänst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Eget certifikat för telemetryapi.local - förseglat i Git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TLS · SNI</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Vilket certifikat får webbläsaren?</a:t>
            </a:r>
            <a:endParaRPr lang="en-US" sz="3000" dirty="0"/>
          </a:p>
        </p:txBody>
      </p:sp>
      <p:sp>
        <p:nvSpPr>
          <p:cNvPr id="4" name="Shape 2"/>
          <p:cNvSpPr/>
          <p:nvPr/>
        </p:nvSpPr>
        <p:spPr>
          <a:xfrm>
            <a:off x="548640" y="2240280"/>
            <a:ext cx="2377440" cy="1097280"/>
          </a:xfrm>
          <a:prstGeom prst="roundRect">
            <a:avLst>
              <a:gd name="adj" fmla="val 5000"/>
            </a:avLst>
          </a:prstGeom>
          <a:solidFill>
            <a:srgbClr val="16294A"/>
          </a:solidFill>
          <a:ln w="12700">
            <a:solidFill>
              <a:srgbClr val="16294A"/>
            </a:solidFill>
            <a:prstDash val="solid"/>
          </a:ln>
        </p:spPr>
      </p:sp>
      <p:sp>
        <p:nvSpPr>
          <p:cNvPr id="5" name="Text 3"/>
          <p:cNvSpPr txBox="1"/>
          <p:nvPr/>
        </p:nvSpPr>
        <p:spPr>
          <a:xfrm>
            <a:off x="640080" y="2240280"/>
            <a:ext cx="2194560" cy="109728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Webbläsaren</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SNI: telemetryapi.local</a:t>
            </a:r>
            <a:endParaRPr lang="en-US" sz="1300" dirty="0"/>
          </a:p>
        </p:txBody>
      </p:sp>
      <p:sp>
        <p:nvSpPr>
          <p:cNvPr id="6" name="Shape 4"/>
          <p:cNvSpPr/>
          <p:nvPr/>
        </p:nvSpPr>
        <p:spPr>
          <a:xfrm>
            <a:off x="2971800" y="2788920"/>
            <a:ext cx="731520" cy="0"/>
          </a:xfrm>
          <a:prstGeom prst="line">
            <a:avLst/>
          </a:prstGeom>
          <a:noFill/>
          <a:ln w="19050">
            <a:solidFill>
              <a:srgbClr val="7C9CFF"/>
            </a:solidFill>
            <a:prstDash val="solid"/>
            <a:tailEnd type="triangle"/>
          </a:ln>
        </p:spPr>
      </p:sp>
      <p:sp>
        <p:nvSpPr>
          <p:cNvPr id="7" name="Shape 5"/>
          <p:cNvSpPr/>
          <p:nvPr/>
        </p:nvSpPr>
        <p:spPr>
          <a:xfrm>
            <a:off x="3749040" y="2240280"/>
            <a:ext cx="2377440" cy="1097280"/>
          </a:xfrm>
          <a:prstGeom prst="roundRect">
            <a:avLst>
              <a:gd name="adj" fmla="val 5000"/>
            </a:avLst>
          </a:prstGeom>
          <a:solidFill>
            <a:srgbClr val="16294A"/>
          </a:solidFill>
          <a:ln w="12700">
            <a:solidFill>
              <a:srgbClr val="16294A"/>
            </a:solidFill>
            <a:prstDash val="solid"/>
          </a:ln>
        </p:spPr>
      </p:sp>
      <p:sp>
        <p:nvSpPr>
          <p:cNvPr id="8" name="Text 6"/>
          <p:cNvSpPr txBox="1"/>
          <p:nvPr/>
        </p:nvSpPr>
        <p:spPr>
          <a:xfrm>
            <a:off x="3840480" y="2240280"/>
            <a:ext cx="2194560" cy="109728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Traefik</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kube-system · port 443</a:t>
            </a:r>
            <a:endParaRPr lang="en-US" sz="1300" dirty="0"/>
          </a:p>
        </p:txBody>
      </p:sp>
      <p:sp>
        <p:nvSpPr>
          <p:cNvPr id="9" name="Shape 7"/>
          <p:cNvSpPr/>
          <p:nvPr/>
        </p:nvSpPr>
        <p:spPr>
          <a:xfrm flipV="1">
            <a:off x="6172200" y="1965960"/>
            <a:ext cx="868680" cy="640080"/>
          </a:xfrm>
          <a:prstGeom prst="line">
            <a:avLst/>
          </a:prstGeom>
          <a:noFill/>
          <a:ln w="19050">
            <a:solidFill>
              <a:srgbClr val="7C9CFF"/>
            </a:solidFill>
            <a:prstDash val="solid"/>
            <a:tailEnd type="triangle"/>
          </a:ln>
        </p:spPr>
      </p:sp>
      <p:sp>
        <p:nvSpPr>
          <p:cNvPr id="10" name="Shape 8"/>
          <p:cNvSpPr/>
          <p:nvPr/>
        </p:nvSpPr>
        <p:spPr>
          <a:xfrm>
            <a:off x="6172200" y="2971800"/>
            <a:ext cx="868680" cy="640080"/>
          </a:xfrm>
          <a:prstGeom prst="line">
            <a:avLst/>
          </a:prstGeom>
          <a:noFill/>
          <a:ln w="19050">
            <a:solidFill>
              <a:srgbClr val="7C9CFF"/>
            </a:solidFill>
            <a:prstDash val="solid"/>
            <a:tailEnd type="triangle"/>
          </a:ln>
        </p:spPr>
      </p:sp>
      <p:sp>
        <p:nvSpPr>
          <p:cNvPr id="11" name="Shape 9"/>
          <p:cNvSpPr/>
          <p:nvPr/>
        </p:nvSpPr>
        <p:spPr>
          <a:xfrm>
            <a:off x="7086600" y="1508760"/>
            <a:ext cx="4556455" cy="914400"/>
          </a:xfrm>
          <a:prstGeom prst="roundRect">
            <a:avLst>
              <a:gd name="adj" fmla="val 6000"/>
            </a:avLst>
          </a:prstGeom>
          <a:solidFill>
            <a:srgbClr val="3762FF"/>
          </a:solidFill>
          <a:ln w="12700">
            <a:solidFill>
              <a:srgbClr val="3762FF"/>
            </a:solidFill>
            <a:prstDash val="solid"/>
          </a:ln>
        </p:spPr>
      </p:sp>
      <p:sp>
        <p:nvSpPr>
          <p:cNvPr id="12" name="Text 10"/>
          <p:cNvSpPr txBox="1"/>
          <p:nvPr/>
        </p:nvSpPr>
        <p:spPr>
          <a:xfrm>
            <a:off x="7178040" y="1508760"/>
            <a:ext cx="4373575"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Ingressen har tls.secretName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telemetry-api-tls · DNS:telemetryapi.local</a:t>
            </a:r>
            <a:endParaRPr lang="en-US" sz="1300" dirty="0"/>
          </a:p>
        </p:txBody>
      </p:sp>
      <p:sp>
        <p:nvSpPr>
          <p:cNvPr id="13" name="Shape 11"/>
          <p:cNvSpPr/>
          <p:nvPr/>
        </p:nvSpPr>
        <p:spPr>
          <a:xfrm>
            <a:off x="7086600" y="3154680"/>
            <a:ext cx="4556455" cy="914400"/>
          </a:xfrm>
          <a:prstGeom prst="roundRect">
            <a:avLst>
              <a:gd name="adj" fmla="val 6000"/>
            </a:avLst>
          </a:prstGeom>
          <a:solidFill>
            <a:srgbClr val="16294A"/>
          </a:solidFill>
          <a:ln w="12700">
            <a:solidFill>
              <a:srgbClr val="16294A"/>
            </a:solidFill>
            <a:prstDash val="solid"/>
          </a:ln>
        </p:spPr>
      </p:sp>
      <p:sp>
        <p:nvSpPr>
          <p:cNvPr id="14" name="Text 12"/>
          <p:cNvSpPr txBox="1"/>
          <p:nvPr/>
        </p:nvSpPr>
        <p:spPr>
          <a:xfrm>
            <a:off x="7178040" y="3154680"/>
            <a:ext cx="4373575" cy="91440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Ingen egen</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 TLSStore default · local-tls-secret · DNS:*.local</a:t>
            </a:r>
            <a:endParaRPr lang="en-US" sz="1300" dirty="0"/>
          </a:p>
        </p:txBody>
      </p:sp>
      <p:sp>
        <p:nvSpPr>
          <p:cNvPr id="15" name="Shape 13"/>
          <p:cNvSpPr/>
          <p:nvPr/>
        </p:nvSpPr>
        <p:spPr>
          <a:xfrm>
            <a:off x="548640" y="4434840"/>
            <a:ext cx="3606698" cy="1371600"/>
          </a:xfrm>
          <a:prstGeom prst="roundRect">
            <a:avLst>
              <a:gd name="adj" fmla="val 4000"/>
            </a:avLst>
          </a:prstGeom>
          <a:solidFill>
            <a:srgbClr val="16294A"/>
          </a:solidFill>
          <a:ln w="12700">
            <a:solidFill>
              <a:srgbClr val="16294A"/>
            </a:solidFill>
            <a:prstDash val="solid"/>
          </a:ln>
        </p:spPr>
      </p:sp>
      <p:sp>
        <p:nvSpPr>
          <p:cNvPr id="16" name="Text 14"/>
          <p:cNvSpPr txBox="1"/>
          <p:nvPr/>
        </p:nvSpPr>
        <p:spPr>
          <a:xfrm>
            <a:off x="749808" y="4636008"/>
            <a:ext cx="3204362"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SNI</a:t>
            </a:r>
            <a:endParaRPr lang="en-US" sz="1500" dirty="0"/>
          </a:p>
        </p:txBody>
      </p:sp>
      <p:sp>
        <p:nvSpPr>
          <p:cNvPr id="17" name="Text 15"/>
          <p:cNvSpPr txBox="1"/>
          <p:nvPr/>
        </p:nvSpPr>
        <p:spPr>
          <a:xfrm>
            <a:off x="749808" y="5020056"/>
            <a:ext cx="3204362" cy="630936"/>
          </a:xfrm>
          <a:prstGeom prst="rect">
            <a:avLst/>
          </a:prstGeom>
          <a:noFill/>
          <a:ln/>
        </p:spPr>
        <p:txBody>
          <a:bodyPr wrap="square" lIns="0" tIns="0" rIns="0" bIns="0" rtlCol="0" anchor="t"/>
          <a:lstStyle/>
          <a:p>
            <a:pPr indent="0" marL="0">
              <a:lnSpc>
                <a:spcPct val="115000"/>
              </a:lnSpc>
              <a:buNone/>
            </a:pPr>
            <a:r>
              <a:rPr lang="en-US" sz="1250" dirty="0">
                <a:solidFill>
                  <a:srgbClr val="B9C4D1"/>
                </a:solidFill>
                <a:latin typeface="Arial" pitchFamily="34" charset="0"/>
                <a:ea typeface="Arial" pitchFamily="34" charset="-122"/>
                <a:cs typeface="Arial" pitchFamily="34" charset="-120"/>
              </a:rPr>
              <a:t>Webbläsaren skickar värdnamnet redan i TLS-handskakningen - innan HTTP.</a:t>
            </a:r>
            <a:endParaRPr lang="en-US" sz="1250" dirty="0"/>
          </a:p>
        </p:txBody>
      </p:sp>
      <p:sp>
        <p:nvSpPr>
          <p:cNvPr id="18" name="Shape 16"/>
          <p:cNvSpPr/>
          <p:nvPr/>
        </p:nvSpPr>
        <p:spPr>
          <a:xfrm>
            <a:off x="4292498" y="4434840"/>
            <a:ext cx="3606698" cy="1371600"/>
          </a:xfrm>
          <a:prstGeom prst="roundRect">
            <a:avLst>
              <a:gd name="adj" fmla="val 4000"/>
            </a:avLst>
          </a:prstGeom>
          <a:solidFill>
            <a:srgbClr val="16294A"/>
          </a:solidFill>
          <a:ln w="12700">
            <a:solidFill>
              <a:srgbClr val="16294A"/>
            </a:solidFill>
            <a:prstDash val="solid"/>
          </a:ln>
        </p:spPr>
      </p:sp>
      <p:sp>
        <p:nvSpPr>
          <p:cNvPr id="19" name="Text 17"/>
          <p:cNvSpPr txBox="1"/>
          <p:nvPr/>
        </p:nvSpPr>
        <p:spPr>
          <a:xfrm>
            <a:off x="4493666" y="4636008"/>
            <a:ext cx="3204362"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TLSStore default</a:t>
            </a:r>
            <a:endParaRPr lang="en-US" sz="1500" dirty="0"/>
          </a:p>
        </p:txBody>
      </p:sp>
      <p:sp>
        <p:nvSpPr>
          <p:cNvPr id="20" name="Text 18"/>
          <p:cNvSpPr txBox="1"/>
          <p:nvPr/>
        </p:nvSpPr>
        <p:spPr>
          <a:xfrm>
            <a:off x="4493666" y="5020056"/>
            <a:ext cx="3204362" cy="630936"/>
          </a:xfrm>
          <a:prstGeom prst="rect">
            <a:avLst/>
          </a:prstGeom>
          <a:noFill/>
          <a:ln/>
        </p:spPr>
        <p:txBody>
          <a:bodyPr wrap="square" lIns="0" tIns="0" rIns="0" bIns="0" rtlCol="0" anchor="t"/>
          <a:lstStyle/>
          <a:p>
            <a:pPr indent="0" marL="0">
              <a:lnSpc>
                <a:spcPct val="115000"/>
              </a:lnSpc>
              <a:buNone/>
            </a:pPr>
            <a:r>
              <a:rPr lang="en-US" sz="1250" dirty="0">
                <a:solidFill>
                  <a:srgbClr val="B9C4D1"/>
                </a:solidFill>
                <a:latin typeface="Arial" pitchFamily="34" charset="0"/>
                <a:ea typeface="Arial" pitchFamily="34" charset="-122"/>
                <a:cs typeface="Arial" pitchFamily="34" charset="-120"/>
              </a:rPr>
              <a:t>Reservcertifikatet från kväll 5 för allt som saknar eget.</a:t>
            </a:r>
            <a:endParaRPr lang="en-US" sz="1250" dirty="0"/>
          </a:p>
        </p:txBody>
      </p:sp>
      <p:sp>
        <p:nvSpPr>
          <p:cNvPr id="21" name="Shape 19"/>
          <p:cNvSpPr/>
          <p:nvPr/>
        </p:nvSpPr>
        <p:spPr>
          <a:xfrm>
            <a:off x="8036357" y="4434840"/>
            <a:ext cx="3606698" cy="1371600"/>
          </a:xfrm>
          <a:prstGeom prst="roundRect">
            <a:avLst>
              <a:gd name="adj" fmla="val 4000"/>
            </a:avLst>
          </a:prstGeom>
          <a:solidFill>
            <a:srgbClr val="16294A"/>
          </a:solidFill>
          <a:ln w="12700">
            <a:solidFill>
              <a:srgbClr val="16294A"/>
            </a:solidFill>
            <a:prstDash val="solid"/>
          </a:ln>
        </p:spPr>
      </p:sp>
      <p:sp>
        <p:nvSpPr>
          <p:cNvPr id="22" name="Text 20"/>
          <p:cNvSpPr txBox="1"/>
          <p:nvPr/>
        </p:nvSpPr>
        <p:spPr>
          <a:xfrm>
            <a:off x="8237525" y="4636008"/>
            <a:ext cx="3204362"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mkcert-CA</a:t>
            </a:r>
            <a:endParaRPr lang="en-US" sz="1500" dirty="0"/>
          </a:p>
        </p:txBody>
      </p:sp>
      <p:sp>
        <p:nvSpPr>
          <p:cNvPr id="23" name="Text 21"/>
          <p:cNvSpPr txBox="1"/>
          <p:nvPr/>
        </p:nvSpPr>
        <p:spPr>
          <a:xfrm>
            <a:off x="8237525" y="5020056"/>
            <a:ext cx="3204362" cy="630936"/>
          </a:xfrm>
          <a:prstGeom prst="rect">
            <a:avLst/>
          </a:prstGeom>
          <a:noFill/>
          <a:ln/>
        </p:spPr>
        <p:txBody>
          <a:bodyPr wrap="square" lIns="0" tIns="0" rIns="0" bIns="0" rtlCol="0" anchor="t"/>
          <a:lstStyle/>
          <a:p>
            <a:pPr indent="0" marL="0">
              <a:lnSpc>
                <a:spcPct val="115000"/>
              </a:lnSpc>
              <a:buNone/>
            </a:pPr>
            <a:r>
              <a:rPr lang="en-US" sz="1250" dirty="0">
                <a:solidFill>
                  <a:srgbClr val="B9C4D1"/>
                </a:solidFill>
                <a:latin typeface="Arial" pitchFamily="34" charset="0"/>
                <a:ea typeface="Arial" pitchFamily="34" charset="-122"/>
                <a:cs typeface="Arial" pitchFamily="34" charset="-120"/>
              </a:rPr>
              <a:t>Samma rot-CA signerar båda, så Windows litar på båda.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4A · CERTIFIKAT MED MKCERT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Ett certifikat för ett enda namn</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mkcert -cert-file telemetryapi.crt -key-file telemetryapi.key telemetryapi.local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Certifikatfilen: namn, utfärdare och giltighet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.\cert-info.ps1 telemetryapi.crt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Före: vilket certifikat svarar telemetryapi.local med idag?</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.\cert-info.ps1 telemetryapi.local</a:t>
            </a:r>
            <a:endParaRPr lang="en-US" sz="1050" dirty="0"/>
          </a:p>
          <a:p>
            <a:pPr indent="0" marL="0">
              <a:lnSpc>
                <a:spcPct val="110000"/>
              </a:lnSpc>
              <a:buNone/>
            </a:pPr>
            <a:r>
              <a:rPr lang="en-US" sz="1050" dirty="0">
                <a:solidFill>
                  <a:srgbClr val="B9C4D1"/>
                </a:solidFill>
                <a:latin typeface="Courier New" pitchFamily="34" charset="0"/>
                <a:ea typeface="Courier New" pitchFamily="34" charset="-122"/>
                <a:cs typeface="Courier New" pitchFamily="34" charset="-120"/>
              </a:rPr>
              <a:t>→ Names : DNS Name=*.local, DNS Name=grafana.local, DNS Name=prometheus.local, ...</a:t>
            </a:r>
            <a:endParaRPr lang="en-US" sz="105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telemetryapi.key</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Privat nyckel - samma värde som ett lösenord.</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cert-info.ps1</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Fil eller värdnamn. Värdnamnet skickas som SNI, precis som webbläsaren.</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Names (SAN)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Namnen certet gäller för. Webbläsare läser bara dessa.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4B · TLS-SECRET SOM SEALEDSECRET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Nyckeln krypteras - och raderas lokalt</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i="1" dirty="0">
                <a:solidFill>
                  <a:srgbClr val="B9C4D1"/>
                </a:solidFill>
                <a:latin typeface="Courier New" pitchFamily="34" charset="0"/>
                <a:ea typeface="Courier New" pitchFamily="34" charset="-122"/>
                <a:cs typeface="Courier New" pitchFamily="34" charset="-120"/>
              </a:rPr>
              <a:t># $ks från labb 3b - nytt fönster? Kör den raden igen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create secret tls telemetry-api-tls -n customers --cert=telemetryapi.crt --key=telemetryapi.key --dry-run=client -o yaml | .\kubeseal.exe @ks -o yaml &gt; telemetry-api-tls-sealed.yaml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apply -f telemetry-api-tls-sealed.yaml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secret telemetry-api-tls -n customers     # TYPE kubernetes.io/tls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Remove-Item telemetryapi.key           # finns nu bara i klustret och krypterat</a:t>
            </a:r>
            <a:endParaRPr lang="en-US" sz="10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secret tls</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Två nycklar: tls.crt och tls.key.</a:t>
            </a:r>
            <a:endParaRPr lang="en-US" sz="1200" dirty="0"/>
          </a:p>
        </p:txBody>
      </p:sp>
      <p:sp>
        <p:nvSpPr>
          <p:cNvPr id="13" name="Shape 11"/>
          <p:cNvSpPr/>
          <p:nvPr/>
        </p:nvSpPr>
        <p:spPr>
          <a:xfrm>
            <a:off x="8412480" y="3048000"/>
            <a:ext cx="3230575" cy="1356360"/>
          </a:xfrm>
          <a:prstGeom prst="roundRect">
            <a:avLst>
              <a:gd name="adj" fmla="val 4045"/>
            </a:avLst>
          </a:prstGeom>
          <a:solidFill>
            <a:srgbClr val="16294A"/>
          </a:solidFill>
          <a:ln w="12700">
            <a:solidFill>
              <a:srgbClr val="16294A"/>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Samma flöde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kubeseal bryr sig inte om typen - allt i data krypteras.</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Remove-Item</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Ingen okrypterad nyckel kvar på disken.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4C · INGRESSEN FÅR SITT CERT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ingress.tls i values - och testa</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Get-Content 04-telemetry-api-values.yaml       # existingSecret + ingress.tls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..\..\TelemetryApi\build.ps1 -SkipBuild -Values 04-telemetry-api-values.yaml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ingress telemetry-api -n customers  # PORTS 80, 443</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.\cert-info.ps1 telemetryapi.local</a:t>
            </a:r>
            <a:endParaRPr lang="en-US" sz="1050" dirty="0"/>
          </a:p>
          <a:p>
            <a:pPr indent="0" marL="0">
              <a:lnSpc>
                <a:spcPct val="110000"/>
              </a:lnSpc>
              <a:buNone/>
            </a:pPr>
            <a:r>
              <a:rPr lang="en-US" sz="1050" dirty="0">
                <a:solidFill>
                  <a:srgbClr val="B9C4D1"/>
                </a:solidFill>
                <a:latin typeface="Courier New" pitchFamily="34" charset="0"/>
                <a:ea typeface="Courier New" pitchFamily="34" charset="-122"/>
                <a:cs typeface="Courier New" pitchFamily="34" charset="-120"/>
              </a:rPr>
              <a:t>→ Names : DNS Name=telemetryapi.local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.\cert-info.ps1 grafana.local                   # fortfarande wildcard</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Invoke-RestMethod https://telemetryapi.local/customers | Select-Object -First 3</a:t>
            </a:r>
            <a:endParaRPr lang="en-US" sz="105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04-filen</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Innehåller även existingSecret - annars kommer det gamla lösenordet tillbaka.</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PORTS 443</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Ingressen har nu en tls-sektion.</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Webbläsaren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Hänglåset → certifikatet → bara telemetryapi.local.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TLS · I VERKLIGHETEN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Tre sätt att ge en tjänst ett certifikat</a:t>
            </a:r>
            <a:endParaRPr lang="en-US" sz="3000" dirty="0"/>
          </a:p>
        </p:txBody>
      </p:sp>
      <p:sp>
        <p:nvSpPr>
          <p:cNvPr id="4" name="Shape 2"/>
          <p:cNvSpPr/>
          <p:nvPr/>
        </p:nvSpPr>
        <p:spPr>
          <a:xfrm>
            <a:off x="548640" y="1645920"/>
            <a:ext cx="3606698" cy="246888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204362"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5</a:t>
            </a:r>
            <a:endParaRPr lang="en-US" sz="1100" dirty="0"/>
          </a:p>
        </p:txBody>
      </p:sp>
      <p:sp>
        <p:nvSpPr>
          <p:cNvPr id="6" name="Text 4"/>
          <p:cNvSpPr txBox="1"/>
          <p:nvPr/>
        </p:nvSpPr>
        <p:spPr>
          <a:xfrm>
            <a:off x="749808" y="2139696"/>
            <a:ext cx="3204362"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Wildcard i TLSStore</a:t>
            </a:r>
            <a:endParaRPr lang="en-US" sz="1700" dirty="0"/>
          </a:p>
        </p:txBody>
      </p:sp>
      <p:sp>
        <p:nvSpPr>
          <p:cNvPr id="7" name="Text 5"/>
          <p:cNvSpPr txBox="1"/>
          <p:nvPr/>
        </p:nvSpPr>
        <p:spPr>
          <a:xfrm>
            <a:off x="749808" y="2523744"/>
            <a:ext cx="3204362" cy="1435608"/>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Ett certifikat för *.local. Enkelt - men en nyckel för allt och samma livslängd för alla.</a:t>
            </a:r>
            <a:endParaRPr lang="en-US" sz="1350" dirty="0"/>
          </a:p>
        </p:txBody>
      </p:sp>
      <p:sp>
        <p:nvSpPr>
          <p:cNvPr id="8" name="Shape 6"/>
          <p:cNvSpPr/>
          <p:nvPr/>
        </p:nvSpPr>
        <p:spPr>
          <a:xfrm>
            <a:off x="4292498" y="1645920"/>
            <a:ext cx="3606698" cy="2468880"/>
          </a:xfrm>
          <a:prstGeom prst="roundRect">
            <a:avLst>
              <a:gd name="adj" fmla="val 2222"/>
            </a:avLst>
          </a:prstGeom>
          <a:solidFill>
            <a:srgbClr val="3762FF"/>
          </a:solidFill>
          <a:ln w="12700">
            <a:solidFill>
              <a:srgbClr val="3762FF"/>
            </a:solidFill>
            <a:prstDash val="solid"/>
          </a:ln>
        </p:spPr>
      </p:sp>
      <p:sp>
        <p:nvSpPr>
          <p:cNvPr id="9" name="Text 7"/>
          <p:cNvSpPr txBox="1"/>
          <p:nvPr/>
        </p:nvSpPr>
        <p:spPr>
          <a:xfrm>
            <a:off x="4493666" y="1847088"/>
            <a:ext cx="3204362"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IKVÄLL</a:t>
            </a:r>
            <a:endParaRPr lang="en-US" sz="1100" dirty="0"/>
          </a:p>
        </p:txBody>
      </p:sp>
      <p:sp>
        <p:nvSpPr>
          <p:cNvPr id="10" name="Text 8"/>
          <p:cNvSpPr txBox="1"/>
          <p:nvPr/>
        </p:nvSpPr>
        <p:spPr>
          <a:xfrm>
            <a:off x="4493666" y="2139696"/>
            <a:ext cx="3204362"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Certifikat per tjänst</a:t>
            </a:r>
            <a:endParaRPr lang="en-US" sz="1700" dirty="0"/>
          </a:p>
        </p:txBody>
      </p:sp>
      <p:sp>
        <p:nvSpPr>
          <p:cNvPr id="11" name="Text 9"/>
          <p:cNvSpPr txBox="1"/>
          <p:nvPr/>
        </p:nvSpPr>
        <p:spPr>
          <a:xfrm>
            <a:off x="4493666" y="2523744"/>
            <a:ext cx="3204362" cy="143560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Arial" pitchFamily="34" charset="0"/>
                <a:ea typeface="Arial" pitchFamily="34" charset="-122"/>
                <a:cs typeface="Arial" pitchFamily="34" charset="-120"/>
              </a:rPr>
              <a:t>Egen Secret per ingress, förseglad i Git. Varje team äger sitt certifikat.</a:t>
            </a:r>
            <a:endParaRPr lang="en-US" sz="1350" dirty="0"/>
          </a:p>
        </p:txBody>
      </p:sp>
      <p:sp>
        <p:nvSpPr>
          <p:cNvPr id="12" name="Shape 10"/>
          <p:cNvSpPr/>
          <p:nvPr/>
        </p:nvSpPr>
        <p:spPr>
          <a:xfrm>
            <a:off x="8036357" y="1645920"/>
            <a:ext cx="3606698" cy="246888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8237525" y="1847088"/>
            <a:ext cx="3204362"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HÄRNÄST</a:t>
            </a:r>
            <a:endParaRPr lang="en-US" sz="1100" dirty="0"/>
          </a:p>
        </p:txBody>
      </p:sp>
      <p:sp>
        <p:nvSpPr>
          <p:cNvPr id="14" name="Text 12"/>
          <p:cNvSpPr txBox="1"/>
          <p:nvPr/>
        </p:nvSpPr>
        <p:spPr>
          <a:xfrm>
            <a:off x="8237525" y="2139696"/>
            <a:ext cx="3204362"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cert-manager</a:t>
            </a:r>
            <a:endParaRPr lang="en-US" sz="1700" dirty="0"/>
          </a:p>
        </p:txBody>
      </p:sp>
      <p:sp>
        <p:nvSpPr>
          <p:cNvPr id="15" name="Text 13"/>
          <p:cNvSpPr txBox="1"/>
          <p:nvPr/>
        </p:nvSpPr>
        <p:spPr>
          <a:xfrm>
            <a:off x="8237525" y="2523744"/>
            <a:ext cx="3204362" cy="1435608"/>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Beställer och förnyar automatiskt, t.ex. från Let's Encrypt. Ingen nyckel hanteras för hand.</a:t>
            </a:r>
            <a:endParaRPr lang="en-US" sz="1350" dirty="0"/>
          </a:p>
        </p:txBody>
      </p:sp>
      <p:sp>
        <p:nvSpPr>
          <p:cNvPr id="16" name="Shape 14"/>
          <p:cNvSpPr/>
          <p:nvPr/>
        </p:nvSpPr>
        <p:spPr>
          <a:xfrm>
            <a:off x="548640" y="4389120"/>
            <a:ext cx="11094415" cy="1371600"/>
          </a:xfrm>
          <a:prstGeom prst="roundRect">
            <a:avLst>
              <a:gd name="adj" fmla="val 4000"/>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749808" y="4553712"/>
            <a:ext cx="109728" cy="109728"/>
          </a:xfrm>
          <a:prstGeom prst="ellipse">
            <a:avLst/>
          </a:prstGeom>
          <a:solidFill>
            <a:srgbClr val="D64545"/>
          </a:solidFill>
          <a:ln w="12700">
            <a:solidFill>
              <a:srgbClr val="D64545"/>
            </a:solidFill>
            <a:prstDash val="solid"/>
          </a:ln>
        </p:spPr>
      </p:sp>
      <p:sp>
        <p:nvSpPr>
          <p:cNvPr id="18" name="Shape 16"/>
          <p:cNvSpPr/>
          <p:nvPr/>
        </p:nvSpPr>
        <p:spPr>
          <a:xfrm>
            <a:off x="932688" y="4553712"/>
            <a:ext cx="109728" cy="109728"/>
          </a:xfrm>
          <a:prstGeom prst="ellipse">
            <a:avLst/>
          </a:prstGeom>
          <a:solidFill>
            <a:srgbClr val="FFB020"/>
          </a:solidFill>
          <a:ln w="12700">
            <a:solidFill>
              <a:srgbClr val="FFB020"/>
            </a:solidFill>
            <a:prstDash val="solid"/>
          </a:ln>
        </p:spPr>
      </p:sp>
      <p:sp>
        <p:nvSpPr>
          <p:cNvPr id="19" name="Shape 17"/>
          <p:cNvSpPr/>
          <p:nvPr/>
        </p:nvSpPr>
        <p:spPr>
          <a:xfrm>
            <a:off x="1115568" y="4553712"/>
            <a:ext cx="109728" cy="109728"/>
          </a:xfrm>
          <a:prstGeom prst="ellipse">
            <a:avLst/>
          </a:prstGeom>
          <a:solidFill>
            <a:srgbClr val="3CB371"/>
          </a:solidFill>
          <a:ln w="12700">
            <a:solidFill>
              <a:srgbClr val="3CB371"/>
            </a:solidFill>
            <a:prstDash val="solid"/>
          </a:ln>
        </p:spPr>
      </p:sp>
      <p:sp>
        <p:nvSpPr>
          <p:cNvPr id="20" name="Text 18"/>
          <p:cNvSpPr txBox="1"/>
          <p:nvPr/>
        </p:nvSpPr>
        <p:spPr>
          <a:xfrm>
            <a:off x="777240" y="4846320"/>
            <a:ext cx="10637215" cy="777240"/>
          </a:xfrm>
          <a:prstGeom prst="rect">
            <a:avLst/>
          </a:prstGeom>
          <a:noFill/>
          <a:ln/>
        </p:spPr>
        <p:txBody>
          <a:bodyPr wrap="square" lIns="0" tIns="0" rIns="0" bIns="0" rtlCol="0" anchor="t"/>
          <a:lstStyle/>
          <a:p>
            <a:pPr indent="0" marL="0">
              <a:lnSpc>
                <a:spcPct val="110000"/>
              </a:lnSpc>
              <a:buNone/>
            </a:pPr>
            <a:r>
              <a:rPr lang="en-US" sz="1200" i="1" dirty="0">
                <a:solidFill>
                  <a:srgbClr val="B9C4D1"/>
                </a:solidFill>
                <a:latin typeface="Courier New" pitchFamily="34" charset="0"/>
                <a:ea typeface="Courier New" pitchFamily="34" charset="-122"/>
                <a:cs typeface="Courier New" pitchFamily="34" charset="-120"/>
              </a:rPr>
              <a:t># Var noga med livslängden - när går certifikaten ut?</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(.\cert-info.ps1 telemetryapi.local).NotAfter</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(.\cert-info.ps1 grafana.local).NotAfter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STÄDA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Det här tas bort - och det här blir kvar</a:t>
            </a:r>
            <a:endParaRPr lang="en-US" sz="3000" dirty="0"/>
          </a:p>
        </p:txBody>
      </p:sp>
      <p:sp>
        <p:nvSpPr>
          <p:cNvPr id="4" name="Shape 2"/>
          <p:cNvSpPr/>
          <p:nvPr/>
        </p:nvSpPr>
        <p:spPr>
          <a:xfrm>
            <a:off x="548640" y="1554480"/>
            <a:ext cx="7223760" cy="3108960"/>
          </a:xfrm>
          <a:prstGeom prst="roundRect">
            <a:avLst>
              <a:gd name="adj" fmla="val 176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766560" cy="251460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delete namespace lab                  # HPA-labben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Remove-Item telemetryapi.key -ErrorAction SilentlyContinue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Blir KVAR - används av TelemetryApi:</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sealedsecret -n customers</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customers-db, telemetry-api-tls</a:t>
            </a:r>
            <a:endParaRPr lang="en-US" sz="1150" dirty="0"/>
          </a:p>
        </p:txBody>
      </p:sp>
      <p:sp>
        <p:nvSpPr>
          <p:cNvPr id="10" name="Shape 8"/>
          <p:cNvSpPr/>
          <p:nvPr/>
        </p:nvSpPr>
        <p:spPr>
          <a:xfrm>
            <a:off x="8138160" y="1554480"/>
            <a:ext cx="3504895" cy="1485900"/>
          </a:xfrm>
          <a:prstGeom prst="roundRect">
            <a:avLst>
              <a:gd name="adj" fmla="val 3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339328" y="1755648"/>
            <a:ext cx="310255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Ta bort</a:t>
            </a:r>
            <a:endParaRPr lang="en-US" sz="1400" dirty="0"/>
          </a:p>
        </p:txBody>
      </p:sp>
      <p:sp>
        <p:nvSpPr>
          <p:cNvPr id="12" name="Text 10"/>
          <p:cNvSpPr txBox="1"/>
          <p:nvPr/>
        </p:nvSpPr>
        <p:spPr>
          <a:xfrm>
            <a:off x="8339328" y="2139696"/>
            <a:ext cx="3102559" cy="74523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Namespacet lab och eventuella nyckelfiler.</a:t>
            </a:r>
            <a:endParaRPr lang="en-US" sz="1200" dirty="0"/>
          </a:p>
        </p:txBody>
      </p:sp>
      <p:sp>
        <p:nvSpPr>
          <p:cNvPr id="13" name="Shape 11"/>
          <p:cNvSpPr/>
          <p:nvPr/>
        </p:nvSpPr>
        <p:spPr>
          <a:xfrm>
            <a:off x="8138160" y="3177540"/>
            <a:ext cx="3504895" cy="1485900"/>
          </a:xfrm>
          <a:prstGeom prst="roundRect">
            <a:avLst>
              <a:gd name="adj" fmla="val 3692"/>
            </a:avLst>
          </a:prstGeom>
          <a:solidFill>
            <a:srgbClr val="3762FF"/>
          </a:solidFill>
          <a:ln w="12700">
            <a:solidFill>
              <a:srgbClr val="3762FF"/>
            </a:solidFill>
            <a:prstDash val="solid"/>
          </a:ln>
        </p:spPr>
      </p:sp>
      <p:sp>
        <p:nvSpPr>
          <p:cNvPr id="14" name="Text 12"/>
          <p:cNvSpPr txBox="1"/>
          <p:nvPr/>
        </p:nvSpPr>
        <p:spPr>
          <a:xfrm>
            <a:off x="8339328" y="3378708"/>
            <a:ext cx="310255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Behåll</a:t>
            </a:r>
            <a:endParaRPr lang="en-US" sz="1400" dirty="0"/>
          </a:p>
        </p:txBody>
      </p:sp>
      <p:sp>
        <p:nvSpPr>
          <p:cNvPr id="15" name="Text 13"/>
          <p:cNvSpPr txBox="1"/>
          <p:nvPr/>
        </p:nvSpPr>
        <p:spPr>
          <a:xfrm>
            <a:off x="8339328" y="3762756"/>
            <a:ext cx="3102559" cy="74523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SealedSecrets och values-filerna - appen kör på dem nu.</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Helhetsbilden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Åtta kvällar - ett kluster</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HELHETSBILDEN · KURSEN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Åtta kvällar i en kedja</a:t>
            </a:r>
            <a:endParaRPr lang="en-US" sz="3000" dirty="0"/>
          </a:p>
        </p:txBody>
      </p:sp>
      <p:sp>
        <p:nvSpPr>
          <p:cNvPr id="4" name="Shape 2"/>
          <p:cNvSpPr/>
          <p:nvPr/>
        </p:nvSpPr>
        <p:spPr>
          <a:xfrm>
            <a:off x="548640" y="164592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1</a:t>
            </a:r>
            <a:endParaRPr lang="en-US" sz="1100" dirty="0"/>
          </a:p>
        </p:txBody>
      </p:sp>
      <p:sp>
        <p:nvSpPr>
          <p:cNvPr id="6" name="Text 4"/>
          <p:cNvSpPr txBox="1"/>
          <p:nvPr/>
        </p:nvSpPr>
        <p:spPr>
          <a:xfrm>
            <a:off x="749808" y="213969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Intro</a:t>
            </a:r>
            <a:endParaRPr lang="en-US" sz="1500" dirty="0"/>
          </a:p>
        </p:txBody>
      </p:sp>
      <p:sp>
        <p:nvSpPr>
          <p:cNvPr id="7" name="Text 5"/>
          <p:cNvSpPr txBox="1"/>
          <p:nvPr/>
        </p:nvSpPr>
        <p:spPr>
          <a:xfrm>
            <a:off x="749808" y="252374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Kluster, poddar, Services, Ingress och önskat tillstånd</a:t>
            </a:r>
            <a:endParaRPr lang="en-US" sz="1250" dirty="0"/>
          </a:p>
        </p:txBody>
      </p:sp>
      <p:sp>
        <p:nvSpPr>
          <p:cNvPr id="8" name="Shape 6"/>
          <p:cNvSpPr/>
          <p:nvPr/>
        </p:nvSpPr>
        <p:spPr>
          <a:xfrm>
            <a:off x="3367964" y="164592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3569132" y="184708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2</a:t>
            </a:r>
            <a:endParaRPr lang="en-US" sz="1100" dirty="0"/>
          </a:p>
        </p:txBody>
      </p:sp>
      <p:sp>
        <p:nvSpPr>
          <p:cNvPr id="10" name="Text 8"/>
          <p:cNvSpPr txBox="1"/>
          <p:nvPr/>
        </p:nvSpPr>
        <p:spPr>
          <a:xfrm>
            <a:off x="3569132" y="213969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Eget kluster med k3d</a:t>
            </a:r>
            <a:endParaRPr lang="en-US" sz="1500" dirty="0"/>
          </a:p>
        </p:txBody>
      </p:sp>
      <p:sp>
        <p:nvSpPr>
          <p:cNvPr id="11" name="Text 9"/>
          <p:cNvSpPr txBox="1"/>
          <p:nvPr/>
        </p:nvSpPr>
        <p:spPr>
          <a:xfrm>
            <a:off x="3569132" y="252374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kubectl, Helm, k9s, registry och Traefik</a:t>
            </a:r>
            <a:endParaRPr lang="en-US" sz="1250" dirty="0"/>
          </a:p>
        </p:txBody>
      </p:sp>
      <p:sp>
        <p:nvSpPr>
          <p:cNvPr id="12" name="Shape 10"/>
          <p:cNvSpPr/>
          <p:nvPr/>
        </p:nvSpPr>
        <p:spPr>
          <a:xfrm>
            <a:off x="6187288" y="164592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6388456" y="184708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3</a:t>
            </a:r>
            <a:endParaRPr lang="en-US" sz="1100" dirty="0"/>
          </a:p>
        </p:txBody>
      </p:sp>
      <p:sp>
        <p:nvSpPr>
          <p:cNvPr id="14" name="Text 12"/>
          <p:cNvSpPr txBox="1"/>
          <p:nvPr/>
        </p:nvSpPr>
        <p:spPr>
          <a:xfrm>
            <a:off x="6388456" y="213969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CQRS i klustret</a:t>
            </a:r>
            <a:endParaRPr lang="en-US" sz="1500" dirty="0"/>
          </a:p>
        </p:txBody>
      </p:sp>
      <p:sp>
        <p:nvSpPr>
          <p:cNvPr id="15" name="Text 13"/>
          <p:cNvSpPr txBox="1"/>
          <p:nvPr/>
        </p:nvSpPr>
        <p:spPr>
          <a:xfrm>
            <a:off x="6388456" y="252374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MySQL, NATS och Redis med Helm - API och worker</a:t>
            </a:r>
            <a:endParaRPr lang="en-US" sz="1250" dirty="0"/>
          </a:p>
        </p:txBody>
      </p:sp>
      <p:sp>
        <p:nvSpPr>
          <p:cNvPr id="16" name="Shape 14"/>
          <p:cNvSpPr/>
          <p:nvPr/>
        </p:nvSpPr>
        <p:spPr>
          <a:xfrm>
            <a:off x="9006611" y="164592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9207779" y="184708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4</a:t>
            </a:r>
            <a:endParaRPr lang="en-US" sz="1100" dirty="0"/>
          </a:p>
        </p:txBody>
      </p:sp>
      <p:sp>
        <p:nvSpPr>
          <p:cNvPr id="18" name="Text 16"/>
          <p:cNvSpPr txBox="1"/>
          <p:nvPr/>
        </p:nvSpPr>
        <p:spPr>
          <a:xfrm>
            <a:off x="9207779" y="213969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Angular-klient med nginx</a:t>
            </a:r>
            <a:endParaRPr lang="en-US" sz="1500" dirty="0"/>
          </a:p>
        </p:txBody>
      </p:sp>
      <p:sp>
        <p:nvSpPr>
          <p:cNvPr id="19" name="Text 17"/>
          <p:cNvSpPr txBox="1"/>
          <p:nvPr/>
        </p:nvSpPr>
        <p:spPr>
          <a:xfrm>
            <a:off x="9207779" y="252374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Frontend i klustret, OpenAPI och Copilot</a:t>
            </a:r>
            <a:endParaRPr lang="en-US" sz="1250" dirty="0"/>
          </a:p>
        </p:txBody>
      </p:sp>
      <p:sp>
        <p:nvSpPr>
          <p:cNvPr id="20" name="Shape 18"/>
          <p:cNvSpPr/>
          <p:nvPr/>
        </p:nvSpPr>
        <p:spPr>
          <a:xfrm>
            <a:off x="548640" y="374904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749808" y="395020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5</a:t>
            </a:r>
            <a:endParaRPr lang="en-US" sz="1100" dirty="0"/>
          </a:p>
        </p:txBody>
      </p:sp>
      <p:sp>
        <p:nvSpPr>
          <p:cNvPr id="22" name="Text 20"/>
          <p:cNvSpPr txBox="1"/>
          <p:nvPr/>
        </p:nvSpPr>
        <p:spPr>
          <a:xfrm>
            <a:off x="749808" y="424281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Telemetri med OTel</a:t>
            </a:r>
            <a:endParaRPr lang="en-US" sz="1500" dirty="0"/>
          </a:p>
        </p:txBody>
      </p:sp>
      <p:sp>
        <p:nvSpPr>
          <p:cNvPr id="23" name="Text 21"/>
          <p:cNvSpPr txBox="1"/>
          <p:nvPr/>
        </p:nvSpPr>
        <p:spPr>
          <a:xfrm>
            <a:off x="749808" y="462686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Tempo, Loki, Prometheus, Grafana och Faro</a:t>
            </a:r>
            <a:endParaRPr lang="en-US" sz="1250" dirty="0"/>
          </a:p>
        </p:txBody>
      </p:sp>
      <p:sp>
        <p:nvSpPr>
          <p:cNvPr id="24" name="Shape 22"/>
          <p:cNvSpPr/>
          <p:nvPr/>
        </p:nvSpPr>
        <p:spPr>
          <a:xfrm>
            <a:off x="3367964" y="374904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5" name="Text 23"/>
          <p:cNvSpPr txBox="1"/>
          <p:nvPr/>
        </p:nvSpPr>
        <p:spPr>
          <a:xfrm>
            <a:off x="3569132" y="395020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6</a:t>
            </a:r>
            <a:endParaRPr lang="en-US" sz="1100" dirty="0"/>
          </a:p>
        </p:txBody>
      </p:sp>
      <p:sp>
        <p:nvSpPr>
          <p:cNvPr id="26" name="Text 24"/>
          <p:cNvSpPr txBox="1"/>
          <p:nvPr/>
        </p:nvSpPr>
        <p:spPr>
          <a:xfrm>
            <a:off x="3569132" y="424281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Telemetri i praktiken</a:t>
            </a:r>
            <a:endParaRPr lang="en-US" sz="1500" dirty="0"/>
          </a:p>
        </p:txBody>
      </p:sp>
      <p:sp>
        <p:nvSpPr>
          <p:cNvPr id="27" name="Text 25"/>
          <p:cNvSpPr txBox="1"/>
          <p:nvPr/>
        </p:nvSpPr>
        <p:spPr>
          <a:xfrm>
            <a:off x="3569132" y="462686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PromQL, LogQL, TraceQL och dashboards som kod</a:t>
            </a:r>
            <a:endParaRPr lang="en-US" sz="1250" dirty="0"/>
          </a:p>
        </p:txBody>
      </p:sp>
      <p:sp>
        <p:nvSpPr>
          <p:cNvPr id="28" name="Shape 26"/>
          <p:cNvSpPr/>
          <p:nvPr/>
        </p:nvSpPr>
        <p:spPr>
          <a:xfrm>
            <a:off x="6187288" y="3749040"/>
            <a:ext cx="2636444"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Text 27"/>
          <p:cNvSpPr txBox="1"/>
          <p:nvPr/>
        </p:nvSpPr>
        <p:spPr>
          <a:xfrm>
            <a:off x="6388456" y="3950208"/>
            <a:ext cx="2234108"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KVÄLL 7</a:t>
            </a:r>
            <a:endParaRPr lang="en-US" sz="1100" dirty="0"/>
          </a:p>
        </p:txBody>
      </p:sp>
      <p:sp>
        <p:nvSpPr>
          <p:cNvPr id="30" name="Text 28"/>
          <p:cNvSpPr txBox="1"/>
          <p:nvPr/>
        </p:nvSpPr>
        <p:spPr>
          <a:xfrm>
            <a:off x="6388456" y="4242816"/>
            <a:ext cx="2234108"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Hemligheter</a:t>
            </a:r>
            <a:endParaRPr lang="en-US" sz="1500" dirty="0"/>
          </a:p>
        </p:txBody>
      </p:sp>
      <p:sp>
        <p:nvSpPr>
          <p:cNvPr id="31" name="Text 29"/>
          <p:cNvSpPr txBox="1"/>
          <p:nvPr/>
        </p:nvSpPr>
        <p:spPr>
          <a:xfrm>
            <a:off x="6388456" y="462686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ConfigMaps, Sealed Secrets, RBAC och certifikat</a:t>
            </a:r>
            <a:endParaRPr lang="en-US" sz="1250" dirty="0"/>
          </a:p>
        </p:txBody>
      </p:sp>
      <p:sp>
        <p:nvSpPr>
          <p:cNvPr id="32" name="Shape 30"/>
          <p:cNvSpPr/>
          <p:nvPr/>
        </p:nvSpPr>
        <p:spPr>
          <a:xfrm>
            <a:off x="9006611" y="3749040"/>
            <a:ext cx="2636444" cy="1920240"/>
          </a:xfrm>
          <a:prstGeom prst="roundRect">
            <a:avLst>
              <a:gd name="adj" fmla="val 2857"/>
            </a:avLst>
          </a:prstGeom>
          <a:solidFill>
            <a:srgbClr val="3762FF"/>
          </a:solidFill>
          <a:ln w="12700">
            <a:solidFill>
              <a:srgbClr val="3762FF"/>
            </a:solidFill>
            <a:prstDash val="solid"/>
          </a:ln>
        </p:spPr>
      </p:sp>
      <p:sp>
        <p:nvSpPr>
          <p:cNvPr id="33" name="Text 31"/>
          <p:cNvSpPr txBox="1"/>
          <p:nvPr/>
        </p:nvSpPr>
        <p:spPr>
          <a:xfrm>
            <a:off x="9207779" y="3950208"/>
            <a:ext cx="2234108"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KVÄLL 8</a:t>
            </a:r>
            <a:endParaRPr lang="en-US" sz="1100" dirty="0"/>
          </a:p>
        </p:txBody>
      </p:sp>
      <p:sp>
        <p:nvSpPr>
          <p:cNvPr id="34" name="Text 32"/>
          <p:cNvSpPr txBox="1"/>
          <p:nvPr/>
        </p:nvSpPr>
        <p:spPr>
          <a:xfrm>
            <a:off x="9207779" y="4242816"/>
            <a:ext cx="2234108"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Drift, hemligheter och TLS</a:t>
            </a:r>
            <a:endParaRPr lang="en-US" sz="1500" dirty="0"/>
          </a:p>
        </p:txBody>
      </p:sp>
      <p:sp>
        <p:nvSpPr>
          <p:cNvPr id="35" name="Text 33"/>
          <p:cNvSpPr txBox="1"/>
          <p:nvPr/>
        </p:nvSpPr>
        <p:spPr>
          <a:xfrm>
            <a:off x="9207779" y="4626864"/>
            <a:ext cx="2234108" cy="88696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Arial" pitchFamily="34" charset="0"/>
                <a:ea typeface="Arial" pitchFamily="34" charset="-122"/>
                <a:cs typeface="Arial" pitchFamily="34" charset="-120"/>
              </a:rPr>
              <a:t>Larm, SLO, HPA - och hemligheter på riktigt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HELHETSBILDEN · KLUSTRET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Klustret ni har byggt</a:t>
            </a:r>
            <a:endParaRPr lang="en-US" sz="3000" dirty="0"/>
          </a:p>
        </p:txBody>
      </p:sp>
      <p:sp>
        <p:nvSpPr>
          <p:cNvPr id="4" name="Shape 2"/>
          <p:cNvSpPr/>
          <p:nvPr/>
        </p:nvSpPr>
        <p:spPr>
          <a:xfrm>
            <a:off x="548640" y="1417320"/>
            <a:ext cx="11094415" cy="548640"/>
          </a:xfrm>
          <a:prstGeom prst="roundRect">
            <a:avLst>
              <a:gd name="adj" fmla="val 10000"/>
            </a:avLst>
          </a:prstGeom>
          <a:solidFill>
            <a:srgbClr val="16294A"/>
          </a:solidFill>
          <a:ln w="12700">
            <a:solidFill>
              <a:srgbClr val="16294A"/>
            </a:solidFill>
            <a:prstDash val="solid"/>
          </a:ln>
        </p:spPr>
      </p:sp>
      <p:sp>
        <p:nvSpPr>
          <p:cNvPr id="5" name="Text 3"/>
          <p:cNvSpPr txBox="1"/>
          <p:nvPr/>
        </p:nvSpPr>
        <p:spPr>
          <a:xfrm>
            <a:off x="640080" y="1417320"/>
            <a:ext cx="10911535"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Din dator:  hosts-filen · kubectl · helm · k9s · kubeseal · mkcert · registry på localhost:5000</a:t>
            </a:r>
            <a:endParaRPr lang="en-US" sz="1300" dirty="0"/>
          </a:p>
        </p:txBody>
      </p:sp>
      <p:sp>
        <p:nvSpPr>
          <p:cNvPr id="6" name="Shape 4"/>
          <p:cNvSpPr/>
          <p:nvPr/>
        </p:nvSpPr>
        <p:spPr>
          <a:xfrm>
            <a:off x="548640" y="2194560"/>
            <a:ext cx="3576218" cy="1645920"/>
          </a:xfrm>
          <a:prstGeom prst="roundRect">
            <a:avLst>
              <a:gd name="adj" fmla="val 3333"/>
            </a:avLst>
          </a:prstGeom>
          <a:solidFill>
            <a:srgbClr val="16294A"/>
          </a:solidFill>
          <a:ln w="12700">
            <a:solidFill>
              <a:srgbClr val="16294A"/>
            </a:solidFill>
            <a:prstDash val="solid"/>
          </a:ln>
        </p:spPr>
      </p:sp>
      <p:sp>
        <p:nvSpPr>
          <p:cNvPr id="7" name="Text 5"/>
          <p:cNvSpPr txBox="1"/>
          <p:nvPr/>
        </p:nvSpPr>
        <p:spPr>
          <a:xfrm>
            <a:off x="749808" y="2395728"/>
            <a:ext cx="3173882"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kube-system</a:t>
            </a:r>
            <a:endParaRPr lang="en-US" sz="1600" dirty="0"/>
          </a:p>
        </p:txBody>
      </p:sp>
      <p:sp>
        <p:nvSpPr>
          <p:cNvPr id="8" name="Text 6"/>
          <p:cNvSpPr txBox="1"/>
          <p:nvPr/>
        </p:nvSpPr>
        <p:spPr>
          <a:xfrm>
            <a:off x="749808" y="27797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Traefik · TLSStore default · CoreDNS · metrics-server</a:t>
            </a:r>
            <a:endParaRPr lang="en-US" sz="1300" dirty="0"/>
          </a:p>
        </p:txBody>
      </p:sp>
      <p:sp>
        <p:nvSpPr>
          <p:cNvPr id="9" name="Shape 7"/>
          <p:cNvSpPr/>
          <p:nvPr/>
        </p:nvSpPr>
        <p:spPr>
          <a:xfrm>
            <a:off x="4307738" y="2194560"/>
            <a:ext cx="3576218" cy="1645920"/>
          </a:xfrm>
          <a:prstGeom prst="roundRect">
            <a:avLst>
              <a:gd name="adj" fmla="val 3333"/>
            </a:avLst>
          </a:prstGeom>
          <a:solidFill>
            <a:srgbClr val="16294A"/>
          </a:solidFill>
          <a:ln w="12700">
            <a:solidFill>
              <a:srgbClr val="16294A"/>
            </a:solidFill>
            <a:prstDash val="solid"/>
          </a:ln>
        </p:spPr>
      </p:sp>
      <p:sp>
        <p:nvSpPr>
          <p:cNvPr id="10" name="Text 8"/>
          <p:cNvSpPr txBox="1"/>
          <p:nvPr/>
        </p:nvSpPr>
        <p:spPr>
          <a:xfrm>
            <a:off x="4508906" y="2395728"/>
            <a:ext cx="3173882"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sealed-secrets</a:t>
            </a:r>
            <a:endParaRPr lang="en-US" sz="1600" dirty="0"/>
          </a:p>
        </p:txBody>
      </p:sp>
      <p:sp>
        <p:nvSpPr>
          <p:cNvPr id="11" name="Text 9"/>
          <p:cNvSpPr txBox="1"/>
          <p:nvPr/>
        </p:nvSpPr>
        <p:spPr>
          <a:xfrm>
            <a:off x="4508906" y="27797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Controllern och dess privata nyckel</a:t>
            </a:r>
            <a:endParaRPr lang="en-US" sz="1300" dirty="0"/>
          </a:p>
        </p:txBody>
      </p:sp>
      <p:sp>
        <p:nvSpPr>
          <p:cNvPr id="12" name="Shape 10"/>
          <p:cNvSpPr/>
          <p:nvPr/>
        </p:nvSpPr>
        <p:spPr>
          <a:xfrm>
            <a:off x="8066837" y="2194560"/>
            <a:ext cx="3576218" cy="1645920"/>
          </a:xfrm>
          <a:prstGeom prst="roundRect">
            <a:avLst>
              <a:gd name="adj" fmla="val 3333"/>
            </a:avLst>
          </a:prstGeom>
          <a:solidFill>
            <a:srgbClr val="16294A"/>
          </a:solidFill>
          <a:ln w="12700">
            <a:solidFill>
              <a:srgbClr val="16294A"/>
            </a:solidFill>
            <a:prstDash val="solid"/>
          </a:ln>
        </p:spPr>
      </p:sp>
      <p:sp>
        <p:nvSpPr>
          <p:cNvPr id="13" name="Text 11"/>
          <p:cNvSpPr txBox="1"/>
          <p:nvPr/>
        </p:nvSpPr>
        <p:spPr>
          <a:xfrm>
            <a:off x="8268005" y="2395728"/>
            <a:ext cx="3173882"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mysql · nats · redis</a:t>
            </a:r>
            <a:endParaRPr lang="en-US" sz="1600" dirty="0"/>
          </a:p>
        </p:txBody>
      </p:sp>
      <p:sp>
        <p:nvSpPr>
          <p:cNvPr id="14" name="Text 12"/>
          <p:cNvSpPr txBox="1"/>
          <p:nvPr/>
        </p:nvSpPr>
        <p:spPr>
          <a:xfrm>
            <a:off x="8268005" y="27797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Databas, meddelanden och cache - med exportörer</a:t>
            </a:r>
            <a:endParaRPr lang="en-US" sz="1300" dirty="0"/>
          </a:p>
        </p:txBody>
      </p:sp>
      <p:sp>
        <p:nvSpPr>
          <p:cNvPr id="15" name="Shape 13"/>
          <p:cNvSpPr/>
          <p:nvPr/>
        </p:nvSpPr>
        <p:spPr>
          <a:xfrm>
            <a:off x="548640" y="4023360"/>
            <a:ext cx="3576218" cy="1645920"/>
          </a:xfrm>
          <a:prstGeom prst="roundRect">
            <a:avLst>
              <a:gd name="adj" fmla="val 3333"/>
            </a:avLst>
          </a:prstGeom>
          <a:solidFill>
            <a:srgbClr val="3762FF"/>
          </a:solidFill>
          <a:ln w="12700">
            <a:solidFill>
              <a:srgbClr val="3762FF"/>
            </a:solidFill>
            <a:prstDash val="solid"/>
          </a:ln>
        </p:spPr>
      </p:sp>
      <p:sp>
        <p:nvSpPr>
          <p:cNvPr id="16" name="Text 14"/>
          <p:cNvSpPr txBox="1"/>
          <p:nvPr/>
        </p:nvSpPr>
        <p:spPr>
          <a:xfrm>
            <a:off x="749808" y="4224528"/>
            <a:ext cx="3173882"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customers</a:t>
            </a:r>
            <a:endParaRPr lang="en-US" sz="1600" dirty="0"/>
          </a:p>
        </p:txBody>
      </p:sp>
      <p:sp>
        <p:nvSpPr>
          <p:cNvPr id="17" name="Text 15"/>
          <p:cNvSpPr txBox="1"/>
          <p:nvPr/>
        </p:nvSpPr>
        <p:spPr>
          <a:xfrm>
            <a:off x="749808" y="46085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customer-client · telemetry-api · customers-db · telemetry-api-tls</a:t>
            </a:r>
            <a:endParaRPr lang="en-US" sz="1300" dirty="0"/>
          </a:p>
        </p:txBody>
      </p:sp>
      <p:sp>
        <p:nvSpPr>
          <p:cNvPr id="18" name="Shape 16"/>
          <p:cNvSpPr/>
          <p:nvPr/>
        </p:nvSpPr>
        <p:spPr>
          <a:xfrm>
            <a:off x="4307738" y="4023360"/>
            <a:ext cx="3576218" cy="1645920"/>
          </a:xfrm>
          <a:prstGeom prst="roundRect">
            <a:avLst>
              <a:gd name="adj" fmla="val 3333"/>
            </a:avLst>
          </a:prstGeom>
          <a:solidFill>
            <a:srgbClr val="16294A"/>
          </a:solidFill>
          <a:ln w="12700">
            <a:solidFill>
              <a:srgbClr val="16294A"/>
            </a:solidFill>
            <a:prstDash val="solid"/>
          </a:ln>
        </p:spPr>
      </p:sp>
      <p:sp>
        <p:nvSpPr>
          <p:cNvPr id="19" name="Text 17"/>
          <p:cNvSpPr txBox="1"/>
          <p:nvPr/>
        </p:nvSpPr>
        <p:spPr>
          <a:xfrm>
            <a:off x="4508906" y="4224528"/>
            <a:ext cx="3173882"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cqrs</a:t>
            </a:r>
            <a:endParaRPr lang="en-US" sz="1600" dirty="0"/>
          </a:p>
        </p:txBody>
      </p:sp>
      <p:sp>
        <p:nvSpPr>
          <p:cNvPr id="20" name="Text 18"/>
          <p:cNvSpPr txBox="1"/>
          <p:nvPr/>
        </p:nvSpPr>
        <p:spPr>
          <a:xfrm>
            <a:off x="4508906" y="46085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cqrs-client · cqrs-api · cqrs-worker</a:t>
            </a:r>
            <a:endParaRPr lang="en-US" sz="1300" dirty="0"/>
          </a:p>
        </p:txBody>
      </p:sp>
      <p:sp>
        <p:nvSpPr>
          <p:cNvPr id="21" name="Shape 19"/>
          <p:cNvSpPr/>
          <p:nvPr/>
        </p:nvSpPr>
        <p:spPr>
          <a:xfrm>
            <a:off x="8066837" y="4023360"/>
            <a:ext cx="3576218" cy="1645920"/>
          </a:xfrm>
          <a:prstGeom prst="roundRect">
            <a:avLst>
              <a:gd name="adj" fmla="val 3333"/>
            </a:avLst>
          </a:prstGeom>
          <a:solidFill>
            <a:srgbClr val="16294A"/>
          </a:solidFill>
          <a:ln w="12700">
            <a:solidFill>
              <a:srgbClr val="16294A"/>
            </a:solidFill>
            <a:prstDash val="solid"/>
          </a:ln>
        </p:spPr>
      </p:sp>
      <p:sp>
        <p:nvSpPr>
          <p:cNvPr id="22" name="Text 20"/>
          <p:cNvSpPr txBox="1"/>
          <p:nvPr/>
        </p:nvSpPr>
        <p:spPr>
          <a:xfrm>
            <a:off x="8268005" y="4224528"/>
            <a:ext cx="3173882"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monitoring</a:t>
            </a:r>
            <a:endParaRPr lang="en-US" sz="1600" dirty="0"/>
          </a:p>
        </p:txBody>
      </p:sp>
      <p:sp>
        <p:nvSpPr>
          <p:cNvPr id="23" name="Text 21"/>
          <p:cNvSpPr txBox="1"/>
          <p:nvPr/>
        </p:nvSpPr>
        <p:spPr>
          <a:xfrm>
            <a:off x="8268005" y="4608576"/>
            <a:ext cx="3173882" cy="90525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otel-collector · faro · Tempo · Loki · Prometheus · Grafana</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HELHETSBILDEN · ETT KLICK</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Ett klick genom hela kedjan</a:t>
            </a:r>
            <a:endParaRPr lang="en-US" sz="3000" dirty="0"/>
          </a:p>
        </p:txBody>
      </p:sp>
      <p:sp>
        <p:nvSpPr>
          <p:cNvPr id="4" name="Text 2"/>
          <p:cNvSpPr txBox="1"/>
          <p:nvPr/>
        </p:nvSpPr>
        <p:spPr>
          <a:xfrm>
            <a:off x="548640" y="1463040"/>
            <a:ext cx="27432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ANROPET</a:t>
            </a:r>
            <a:endParaRPr lang="en-US" sz="1100" dirty="0"/>
          </a:p>
        </p:txBody>
      </p:sp>
      <p:sp>
        <p:nvSpPr>
          <p:cNvPr id="5" name="Shape 3"/>
          <p:cNvSpPr/>
          <p:nvPr/>
        </p:nvSpPr>
        <p:spPr>
          <a:xfrm>
            <a:off x="548640" y="1783080"/>
            <a:ext cx="1889699"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640080" y="1783080"/>
            <a:ext cx="1706819"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Webbläsaren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customerclient.local</a:t>
            </a:r>
            <a:endParaRPr lang="en-US" sz="1300" dirty="0"/>
          </a:p>
        </p:txBody>
      </p:sp>
      <p:sp>
        <p:nvSpPr>
          <p:cNvPr id="7" name="Shape 5"/>
          <p:cNvSpPr/>
          <p:nvPr/>
        </p:nvSpPr>
        <p:spPr>
          <a:xfrm>
            <a:off x="2484059" y="2240280"/>
            <a:ext cx="320040" cy="0"/>
          </a:xfrm>
          <a:prstGeom prst="line">
            <a:avLst/>
          </a:prstGeom>
          <a:noFill/>
          <a:ln w="19050">
            <a:solidFill>
              <a:srgbClr val="3762FF"/>
            </a:solidFill>
            <a:prstDash val="solid"/>
            <a:tailEnd type="triangle"/>
          </a:ln>
        </p:spPr>
      </p:sp>
      <p:sp>
        <p:nvSpPr>
          <p:cNvPr id="8" name="Shape 6"/>
          <p:cNvSpPr/>
          <p:nvPr/>
        </p:nvSpPr>
        <p:spPr>
          <a:xfrm>
            <a:off x="2849819" y="1783080"/>
            <a:ext cx="1889699"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2941259" y="1783080"/>
            <a:ext cx="1706819"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Traefik</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TLS · Ingress</a:t>
            </a:r>
            <a:endParaRPr lang="en-US" sz="1300" dirty="0"/>
          </a:p>
        </p:txBody>
      </p:sp>
      <p:sp>
        <p:nvSpPr>
          <p:cNvPr id="10" name="Shape 8"/>
          <p:cNvSpPr/>
          <p:nvPr/>
        </p:nvSpPr>
        <p:spPr>
          <a:xfrm>
            <a:off x="4785238" y="2240280"/>
            <a:ext cx="320040" cy="0"/>
          </a:xfrm>
          <a:prstGeom prst="line">
            <a:avLst/>
          </a:prstGeom>
          <a:noFill/>
          <a:ln w="19050">
            <a:solidFill>
              <a:srgbClr val="3762FF"/>
            </a:solidFill>
            <a:prstDash val="solid"/>
            <a:tailEnd type="triangle"/>
          </a:ln>
        </p:spPr>
      </p:sp>
      <p:sp>
        <p:nvSpPr>
          <p:cNvPr id="11" name="Shape 9"/>
          <p:cNvSpPr/>
          <p:nvPr/>
        </p:nvSpPr>
        <p:spPr>
          <a:xfrm>
            <a:off x="5150998" y="1783080"/>
            <a:ext cx="1889699"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2" name="Text 10"/>
          <p:cNvSpPr txBox="1"/>
          <p:nvPr/>
        </p:nvSpPr>
        <p:spPr>
          <a:xfrm>
            <a:off x="5242438" y="1783080"/>
            <a:ext cx="1706819"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customer-client</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nginx /api</a:t>
            </a:r>
            <a:endParaRPr lang="en-US" sz="1300" dirty="0"/>
          </a:p>
        </p:txBody>
      </p:sp>
      <p:sp>
        <p:nvSpPr>
          <p:cNvPr id="13" name="Shape 11"/>
          <p:cNvSpPr/>
          <p:nvPr/>
        </p:nvSpPr>
        <p:spPr>
          <a:xfrm>
            <a:off x="7086417" y="2240280"/>
            <a:ext cx="320040" cy="0"/>
          </a:xfrm>
          <a:prstGeom prst="line">
            <a:avLst/>
          </a:prstGeom>
          <a:noFill/>
          <a:ln w="19050">
            <a:solidFill>
              <a:srgbClr val="3762FF"/>
            </a:solidFill>
            <a:prstDash val="solid"/>
            <a:tailEnd type="triangle"/>
          </a:ln>
        </p:spPr>
      </p:sp>
      <p:sp>
        <p:nvSpPr>
          <p:cNvPr id="14" name="Shape 12"/>
          <p:cNvSpPr/>
          <p:nvPr/>
        </p:nvSpPr>
        <p:spPr>
          <a:xfrm>
            <a:off x="7452177" y="1783080"/>
            <a:ext cx="1889699" cy="914400"/>
          </a:xfrm>
          <a:prstGeom prst="roundRect">
            <a:avLst>
              <a:gd name="adj" fmla="val 6000"/>
            </a:avLst>
          </a:prstGeom>
          <a:solidFill>
            <a:srgbClr val="3762FF"/>
          </a:solidFill>
          <a:ln w="12700">
            <a:solidFill>
              <a:srgbClr val="3762FF"/>
            </a:solidFill>
            <a:prstDash val="solid"/>
          </a:ln>
          <a:effectLst>
            <a:outerShdw sx="100000" sy="100000" kx="0" ky="0" algn="bl" rotWithShape="0" blurRad="101600" dist="25400" dir="5400000">
              <a:srgbClr val="000000">
                <a:alpha val="10000"/>
              </a:srgbClr>
            </a:outerShdw>
          </a:effectLst>
        </p:spPr>
      </p:sp>
      <p:sp>
        <p:nvSpPr>
          <p:cNvPr id="15" name="Text 13"/>
          <p:cNvSpPr txBox="1"/>
          <p:nvPr/>
        </p:nvSpPr>
        <p:spPr>
          <a:xfrm>
            <a:off x="7543617" y="1783080"/>
            <a:ext cx="1706819"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telemetry-api</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.NET + EF Core</a:t>
            </a:r>
            <a:endParaRPr lang="en-US" sz="1300" dirty="0"/>
          </a:p>
        </p:txBody>
      </p:sp>
      <p:sp>
        <p:nvSpPr>
          <p:cNvPr id="16" name="Shape 14"/>
          <p:cNvSpPr/>
          <p:nvPr/>
        </p:nvSpPr>
        <p:spPr>
          <a:xfrm>
            <a:off x="9387596" y="2240280"/>
            <a:ext cx="320040" cy="0"/>
          </a:xfrm>
          <a:prstGeom prst="line">
            <a:avLst/>
          </a:prstGeom>
          <a:noFill/>
          <a:ln w="19050">
            <a:solidFill>
              <a:srgbClr val="3762FF"/>
            </a:solidFill>
            <a:prstDash val="solid"/>
            <a:tailEnd type="triangle"/>
          </a:ln>
        </p:spPr>
      </p:sp>
      <p:sp>
        <p:nvSpPr>
          <p:cNvPr id="17" name="Shape 15"/>
          <p:cNvSpPr/>
          <p:nvPr/>
        </p:nvSpPr>
        <p:spPr>
          <a:xfrm>
            <a:off x="9753356" y="1783080"/>
            <a:ext cx="1889699"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9844796" y="1783080"/>
            <a:ext cx="1706819"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MySQL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customers-db</a:t>
            </a:r>
            <a:endParaRPr lang="en-US" sz="1300" dirty="0"/>
          </a:p>
        </p:txBody>
      </p:sp>
      <p:sp>
        <p:nvSpPr>
          <p:cNvPr id="19" name="Text 17"/>
          <p:cNvSpPr txBox="1"/>
          <p:nvPr/>
        </p:nvSpPr>
        <p:spPr>
          <a:xfrm>
            <a:off x="548640" y="3063240"/>
            <a:ext cx="27432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TELEMETRIN</a:t>
            </a:r>
            <a:endParaRPr lang="en-US" sz="1100" dirty="0"/>
          </a:p>
        </p:txBody>
      </p:sp>
      <p:sp>
        <p:nvSpPr>
          <p:cNvPr id="20" name="Shape 18"/>
          <p:cNvSpPr/>
          <p:nvPr/>
        </p:nvSpPr>
        <p:spPr>
          <a:xfrm>
            <a:off x="548640" y="3383280"/>
            <a:ext cx="2464994"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640080" y="3383280"/>
            <a:ext cx="2282114"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Faro i webbläsaren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OTLP från .NET</a:t>
            </a:r>
            <a:endParaRPr lang="en-US" sz="1300" dirty="0"/>
          </a:p>
        </p:txBody>
      </p:sp>
      <p:sp>
        <p:nvSpPr>
          <p:cNvPr id="22" name="Shape 20"/>
          <p:cNvSpPr/>
          <p:nvPr/>
        </p:nvSpPr>
        <p:spPr>
          <a:xfrm>
            <a:off x="3059354" y="3840480"/>
            <a:ext cx="320040" cy="0"/>
          </a:xfrm>
          <a:prstGeom prst="line">
            <a:avLst/>
          </a:prstGeom>
          <a:noFill/>
          <a:ln w="19050">
            <a:solidFill>
              <a:srgbClr val="3762FF"/>
            </a:solidFill>
            <a:prstDash val="solid"/>
            <a:tailEnd type="triangle"/>
          </a:ln>
        </p:spPr>
      </p:sp>
      <p:sp>
        <p:nvSpPr>
          <p:cNvPr id="23" name="Shape 21"/>
          <p:cNvSpPr/>
          <p:nvPr/>
        </p:nvSpPr>
        <p:spPr>
          <a:xfrm>
            <a:off x="3425114" y="3383280"/>
            <a:ext cx="2464994"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4" name="Text 22"/>
          <p:cNvSpPr txBox="1"/>
          <p:nvPr/>
        </p:nvSpPr>
        <p:spPr>
          <a:xfrm>
            <a:off x="3516554" y="3383280"/>
            <a:ext cx="2282114"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faro-collector</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otel-collector</a:t>
            </a:r>
            <a:endParaRPr lang="en-US" sz="1300" dirty="0"/>
          </a:p>
        </p:txBody>
      </p:sp>
      <p:sp>
        <p:nvSpPr>
          <p:cNvPr id="25" name="Shape 23"/>
          <p:cNvSpPr/>
          <p:nvPr/>
        </p:nvSpPr>
        <p:spPr>
          <a:xfrm>
            <a:off x="5935828" y="3840480"/>
            <a:ext cx="320040" cy="0"/>
          </a:xfrm>
          <a:prstGeom prst="line">
            <a:avLst/>
          </a:prstGeom>
          <a:noFill/>
          <a:ln w="19050">
            <a:solidFill>
              <a:srgbClr val="3762FF"/>
            </a:solidFill>
            <a:prstDash val="solid"/>
            <a:tailEnd type="triangle"/>
          </a:ln>
        </p:spPr>
      </p:sp>
      <p:sp>
        <p:nvSpPr>
          <p:cNvPr id="26" name="Shape 24"/>
          <p:cNvSpPr/>
          <p:nvPr/>
        </p:nvSpPr>
        <p:spPr>
          <a:xfrm>
            <a:off x="6301588" y="3383280"/>
            <a:ext cx="2464994"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7" name="Text 25"/>
          <p:cNvSpPr txBox="1"/>
          <p:nvPr/>
        </p:nvSpPr>
        <p:spPr>
          <a:xfrm>
            <a:off x="6393028" y="3383280"/>
            <a:ext cx="2282114"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Tempo · Loki</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Prometheus</a:t>
            </a:r>
            <a:endParaRPr lang="en-US" sz="1300" dirty="0"/>
          </a:p>
        </p:txBody>
      </p:sp>
      <p:sp>
        <p:nvSpPr>
          <p:cNvPr id="28" name="Shape 26"/>
          <p:cNvSpPr/>
          <p:nvPr/>
        </p:nvSpPr>
        <p:spPr>
          <a:xfrm>
            <a:off x="8812301" y="3840480"/>
            <a:ext cx="320040" cy="0"/>
          </a:xfrm>
          <a:prstGeom prst="line">
            <a:avLst/>
          </a:prstGeom>
          <a:noFill/>
          <a:ln w="19050">
            <a:solidFill>
              <a:srgbClr val="3762FF"/>
            </a:solidFill>
            <a:prstDash val="solid"/>
            <a:tailEnd type="triangle"/>
          </a:ln>
        </p:spPr>
      </p:sp>
      <p:sp>
        <p:nvSpPr>
          <p:cNvPr id="29" name="Shape 27"/>
          <p:cNvSpPr/>
          <p:nvPr/>
        </p:nvSpPr>
        <p:spPr>
          <a:xfrm>
            <a:off x="9178061" y="3383280"/>
            <a:ext cx="2464994"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0" name="Text 28"/>
          <p:cNvSpPr txBox="1"/>
          <p:nvPr/>
        </p:nvSpPr>
        <p:spPr>
          <a:xfrm>
            <a:off x="9269501" y="3383280"/>
            <a:ext cx="2282114"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Grafana</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en trace_id</a:t>
            </a:r>
            <a:endParaRPr lang="en-US" sz="1300" dirty="0"/>
          </a:p>
        </p:txBody>
      </p:sp>
      <p:sp>
        <p:nvSpPr>
          <p:cNvPr id="31" name="Shape 29"/>
          <p:cNvSpPr/>
          <p:nvPr/>
        </p:nvSpPr>
        <p:spPr>
          <a:xfrm>
            <a:off x="548640" y="4617720"/>
            <a:ext cx="11094415" cy="1188720"/>
          </a:xfrm>
          <a:prstGeom prst="roundRect">
            <a:avLst>
              <a:gd name="adj" fmla="val 4615"/>
            </a:avLst>
          </a:prstGeom>
          <a:solidFill>
            <a:srgbClr val="E8EDFF"/>
          </a:solidFill>
          <a:ln w="12700">
            <a:solidFill>
              <a:srgbClr val="E8EDFF"/>
            </a:solidFill>
            <a:prstDash val="solid"/>
          </a:ln>
        </p:spPr>
      </p:sp>
      <p:sp>
        <p:nvSpPr>
          <p:cNvPr id="32" name="Text 30"/>
          <p:cNvSpPr txBox="1"/>
          <p:nvPr/>
        </p:nvSpPr>
        <p:spPr>
          <a:xfrm>
            <a:off x="822960" y="4617720"/>
            <a:ext cx="10545775" cy="1188720"/>
          </a:xfrm>
          <a:prstGeom prst="rect">
            <a:avLst/>
          </a:prstGeom>
          <a:noFill/>
          <a:ln/>
        </p:spPr>
        <p:txBody>
          <a:bodyPr wrap="square" lIns="0" tIns="0" rIns="0" bIns="0" rtlCol="0" anchor="ctr"/>
          <a:lstStyle/>
          <a:p>
            <a:pPr indent="0" marL="0">
              <a:buNone/>
            </a:pPr>
            <a:r>
              <a:rPr lang="en-US" sz="1400" b="1" dirty="0">
                <a:solidFill>
                  <a:srgbClr val="16202B"/>
                </a:solidFill>
                <a:latin typeface="Arial" pitchFamily="34" charset="0"/>
                <a:ea typeface="Arial" pitchFamily="34" charset="-122"/>
                <a:cs typeface="Arial" pitchFamily="34" charset="-120"/>
              </a:rPr>
              <a:t>traceparent binder ihop allt: </a:t>
            </a:r>
            <a:r>
              <a:rPr lang="en-US" sz="1400" dirty="0">
                <a:solidFill>
                  <a:srgbClr val="4A5568"/>
                </a:solidFill>
                <a:latin typeface="Arial" pitchFamily="34" charset="0"/>
                <a:ea typeface="Arial" pitchFamily="34" charset="-122"/>
                <a:cs typeface="Arial" pitchFamily="34" charset="-120"/>
              </a:rPr>
              <a:t>klicket i webbläsaren, anropet i API:t och SQL-frågan blir en och samma trace i Tempo - med loggar i Loki och exemplars i Prometheus som pekar på samma trace_id.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5 · HELA KLUSTRET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Inventera klustret med kubectl och helm</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namespaces</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helm list -A                                   # allt vi har installerat</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pods -A -o wide</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ingress -A                         # alla värdnamn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sealedsecrets -A</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pvc -A                             # data som överlever en omstart</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svc -A | Select-String LoadBalancer</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Följ ett klick: skapa en kund i CustomerClient -&gt; Grafana -&gt; Explore</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-&gt; Tempo -&gt; Service Name customer-client -&gt; öppna tracen</a:t>
            </a:r>
            <a:endParaRPr lang="en-US" sz="110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helm list -A</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Releaser i alla namespaces - kursen i en lista.</a:t>
            </a:r>
            <a:endParaRPr lang="en-US" sz="1200" dirty="0"/>
          </a:p>
        </p:txBody>
      </p:sp>
      <p:sp>
        <p:nvSpPr>
          <p:cNvPr id="13" name="Shape 11"/>
          <p:cNvSpPr/>
          <p:nvPr/>
        </p:nvSpPr>
        <p:spPr>
          <a:xfrm>
            <a:off x="8412480" y="3048000"/>
            <a:ext cx="3230575" cy="1356360"/>
          </a:xfrm>
          <a:prstGeom prst="roundRect">
            <a:avLst>
              <a:gd name="adj" fmla="val 4045"/>
            </a:avLst>
          </a:prstGeom>
          <a:solidFill>
            <a:srgbClr val="16294A"/>
          </a:solidFill>
          <a:ln w="12700">
            <a:solidFill>
              <a:srgbClr val="16294A"/>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pvc</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MySQL, Prometheus, Loki och Tempo sparar på disk.</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Uppgift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Peka ut varje span i tracen på förra bilden.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06</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Härnäst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Certifieringar och tekniker att lära sig</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HÄRNÄST · CNCF-CERTIFIERINGAR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Fem certifieringar - och Kubestronaut</a:t>
            </a:r>
            <a:endParaRPr lang="en-US" sz="3000" dirty="0"/>
          </a:p>
        </p:txBody>
      </p:sp>
      <p:sp>
        <p:nvSpPr>
          <p:cNvPr id="4" name="Shape 2"/>
          <p:cNvSpPr/>
          <p:nvPr/>
        </p:nvSpPr>
        <p:spPr>
          <a:xfrm>
            <a:off x="548640" y="1645920"/>
            <a:ext cx="2072579" cy="251460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ASSOCIATE</a:t>
            </a:r>
            <a:endParaRPr lang="en-US" sz="1100" dirty="0"/>
          </a:p>
        </p:txBody>
      </p:sp>
      <p:sp>
        <p:nvSpPr>
          <p:cNvPr id="6" name="Text 4"/>
          <p:cNvSpPr txBox="1"/>
          <p:nvPr/>
        </p:nvSpPr>
        <p:spPr>
          <a:xfrm>
            <a:off x="749808" y="2139696"/>
            <a:ext cx="1670243" cy="320040"/>
          </a:xfrm>
          <a:prstGeom prst="rect">
            <a:avLst/>
          </a:prstGeom>
          <a:noFill/>
          <a:ln/>
        </p:spPr>
        <p:txBody>
          <a:bodyPr wrap="square" lIns="0" tIns="0" rIns="0" bIns="0" rtlCol="0" anchor="t"/>
          <a:lstStyle/>
          <a:p>
            <a:pPr indent="0" marL="0">
              <a:buNone/>
            </a:pPr>
            <a:r>
              <a:rPr lang="en-US" sz="2000" b="1" dirty="0">
                <a:solidFill>
                  <a:srgbClr val="16202B"/>
                </a:solidFill>
                <a:latin typeface="Calibri" pitchFamily="34" charset="0"/>
                <a:ea typeface="Calibri" pitchFamily="34" charset="-122"/>
                <a:cs typeface="Calibri" pitchFamily="34" charset="-120"/>
              </a:rPr>
              <a:t>KCNA</a:t>
            </a:r>
            <a:endParaRPr lang="en-US" sz="2000" dirty="0"/>
          </a:p>
        </p:txBody>
      </p:sp>
      <p:sp>
        <p:nvSpPr>
          <p:cNvPr id="7" name="Text 5"/>
          <p:cNvSpPr txBox="1"/>
          <p:nvPr/>
        </p:nvSpPr>
        <p:spPr>
          <a:xfrm>
            <a:off x="749808" y="2523744"/>
            <a:ext cx="1670243" cy="148132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Kubernetes and Cloud Native Associate</a:t>
            </a:r>
            <a:endParaRPr lang="en-US" sz="1250" dirty="0"/>
          </a:p>
          <a:p>
            <a:pPr indent="0" marL="0">
              <a:lnSpc>
                <a:spcPct val="115000"/>
              </a:lnSpc>
              <a:buNone/>
            </a:pPr>
            <a:endParaRPr lang="en-US" sz="1250" dirty="0"/>
          </a:p>
          <a:p>
            <a:pPr indent="0" marL="0">
              <a:lnSpc>
                <a:spcPct val="115000"/>
              </a:lnSpc>
              <a:buNone/>
            </a:pPr>
            <a:r>
              <a:rPr lang="en-US" sz="1250" dirty="0">
                <a:solidFill>
                  <a:srgbClr val="4A5568"/>
                </a:solidFill>
                <a:latin typeface="Arial" pitchFamily="34" charset="0"/>
                <a:ea typeface="Arial" pitchFamily="34" charset="-122"/>
                <a:cs typeface="Arial" pitchFamily="34" charset="-120"/>
              </a:rPr>
              <a:t>Flervalsfrågor · 90 min</a:t>
            </a:r>
            <a:endParaRPr lang="en-US" sz="1250" dirty="0"/>
          </a:p>
        </p:txBody>
      </p:sp>
      <p:sp>
        <p:nvSpPr>
          <p:cNvPr id="8" name="Shape 6"/>
          <p:cNvSpPr/>
          <p:nvPr/>
        </p:nvSpPr>
        <p:spPr>
          <a:xfrm>
            <a:off x="2804099" y="1645920"/>
            <a:ext cx="2072579" cy="251460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3005267" y="184708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ASSOCIATE</a:t>
            </a:r>
            <a:endParaRPr lang="en-US" sz="1100" dirty="0"/>
          </a:p>
        </p:txBody>
      </p:sp>
      <p:sp>
        <p:nvSpPr>
          <p:cNvPr id="10" name="Text 8"/>
          <p:cNvSpPr txBox="1"/>
          <p:nvPr/>
        </p:nvSpPr>
        <p:spPr>
          <a:xfrm>
            <a:off x="3005267" y="2139696"/>
            <a:ext cx="1670243" cy="320040"/>
          </a:xfrm>
          <a:prstGeom prst="rect">
            <a:avLst/>
          </a:prstGeom>
          <a:noFill/>
          <a:ln/>
        </p:spPr>
        <p:txBody>
          <a:bodyPr wrap="square" lIns="0" tIns="0" rIns="0" bIns="0" rtlCol="0" anchor="t"/>
          <a:lstStyle/>
          <a:p>
            <a:pPr indent="0" marL="0">
              <a:buNone/>
            </a:pPr>
            <a:r>
              <a:rPr lang="en-US" sz="2000" b="1" dirty="0">
                <a:solidFill>
                  <a:srgbClr val="16202B"/>
                </a:solidFill>
                <a:latin typeface="Calibri" pitchFamily="34" charset="0"/>
                <a:ea typeface="Calibri" pitchFamily="34" charset="-122"/>
                <a:cs typeface="Calibri" pitchFamily="34" charset="-120"/>
              </a:rPr>
              <a:t>KCSA</a:t>
            </a:r>
            <a:endParaRPr lang="en-US" sz="2000" dirty="0"/>
          </a:p>
        </p:txBody>
      </p:sp>
      <p:sp>
        <p:nvSpPr>
          <p:cNvPr id="11" name="Text 9"/>
          <p:cNvSpPr txBox="1"/>
          <p:nvPr/>
        </p:nvSpPr>
        <p:spPr>
          <a:xfrm>
            <a:off x="3005267" y="2523744"/>
            <a:ext cx="1670243" cy="148132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Kubernetes and Cloud Native Security Associate</a:t>
            </a:r>
            <a:endParaRPr lang="en-US" sz="1250" dirty="0"/>
          </a:p>
          <a:p>
            <a:pPr indent="0" marL="0">
              <a:lnSpc>
                <a:spcPct val="115000"/>
              </a:lnSpc>
              <a:buNone/>
            </a:pPr>
            <a:endParaRPr lang="en-US" sz="1250" dirty="0"/>
          </a:p>
          <a:p>
            <a:pPr indent="0" marL="0">
              <a:lnSpc>
                <a:spcPct val="115000"/>
              </a:lnSpc>
              <a:buNone/>
            </a:pPr>
            <a:r>
              <a:rPr lang="en-US" sz="1250" dirty="0">
                <a:solidFill>
                  <a:srgbClr val="4A5568"/>
                </a:solidFill>
                <a:latin typeface="Arial" pitchFamily="34" charset="0"/>
                <a:ea typeface="Arial" pitchFamily="34" charset="-122"/>
                <a:cs typeface="Arial" pitchFamily="34" charset="-120"/>
              </a:rPr>
              <a:t>Flervalsfrågor · 90 min</a:t>
            </a:r>
            <a:endParaRPr lang="en-US" sz="1250" dirty="0"/>
          </a:p>
        </p:txBody>
      </p:sp>
      <p:sp>
        <p:nvSpPr>
          <p:cNvPr id="12" name="Shape 10"/>
          <p:cNvSpPr/>
          <p:nvPr/>
        </p:nvSpPr>
        <p:spPr>
          <a:xfrm>
            <a:off x="5059558" y="1645920"/>
            <a:ext cx="2072579" cy="251460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5260726" y="184708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PRAKTISK</a:t>
            </a:r>
            <a:endParaRPr lang="en-US" sz="1100" dirty="0"/>
          </a:p>
        </p:txBody>
      </p:sp>
      <p:sp>
        <p:nvSpPr>
          <p:cNvPr id="14" name="Text 12"/>
          <p:cNvSpPr txBox="1"/>
          <p:nvPr/>
        </p:nvSpPr>
        <p:spPr>
          <a:xfrm>
            <a:off x="5260726" y="2139696"/>
            <a:ext cx="1670243" cy="320040"/>
          </a:xfrm>
          <a:prstGeom prst="rect">
            <a:avLst/>
          </a:prstGeom>
          <a:noFill/>
          <a:ln/>
        </p:spPr>
        <p:txBody>
          <a:bodyPr wrap="square" lIns="0" tIns="0" rIns="0" bIns="0" rtlCol="0" anchor="t"/>
          <a:lstStyle/>
          <a:p>
            <a:pPr indent="0" marL="0">
              <a:buNone/>
            </a:pPr>
            <a:r>
              <a:rPr lang="en-US" sz="2000" b="1" dirty="0">
                <a:solidFill>
                  <a:srgbClr val="16202B"/>
                </a:solidFill>
                <a:latin typeface="Calibri" pitchFamily="34" charset="0"/>
                <a:ea typeface="Calibri" pitchFamily="34" charset="-122"/>
                <a:cs typeface="Calibri" pitchFamily="34" charset="-120"/>
              </a:rPr>
              <a:t>CKAD</a:t>
            </a:r>
            <a:endParaRPr lang="en-US" sz="2000" dirty="0"/>
          </a:p>
        </p:txBody>
      </p:sp>
      <p:sp>
        <p:nvSpPr>
          <p:cNvPr id="15" name="Text 13"/>
          <p:cNvSpPr txBox="1"/>
          <p:nvPr/>
        </p:nvSpPr>
        <p:spPr>
          <a:xfrm>
            <a:off x="5260726" y="2523744"/>
            <a:ext cx="1670243" cy="148132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Certified Kubernetes Application Developer</a:t>
            </a:r>
            <a:endParaRPr lang="en-US" sz="1250" dirty="0"/>
          </a:p>
          <a:p>
            <a:pPr indent="0" marL="0">
              <a:lnSpc>
                <a:spcPct val="115000"/>
              </a:lnSpc>
              <a:buNone/>
            </a:pPr>
            <a:endParaRPr lang="en-US" sz="1250" dirty="0"/>
          </a:p>
          <a:p>
            <a:pPr indent="0" marL="0">
              <a:lnSpc>
                <a:spcPct val="115000"/>
              </a:lnSpc>
              <a:buNone/>
            </a:pPr>
            <a:r>
              <a:rPr lang="en-US" sz="1250" dirty="0">
                <a:solidFill>
                  <a:srgbClr val="4A5568"/>
                </a:solidFill>
                <a:latin typeface="Arial" pitchFamily="34" charset="0"/>
                <a:ea typeface="Arial" pitchFamily="34" charset="-122"/>
                <a:cs typeface="Arial" pitchFamily="34" charset="-120"/>
              </a:rPr>
              <a:t>Praktiskt prov · 2 h</a:t>
            </a:r>
            <a:endParaRPr lang="en-US" sz="1250" dirty="0"/>
          </a:p>
        </p:txBody>
      </p:sp>
      <p:sp>
        <p:nvSpPr>
          <p:cNvPr id="16" name="Shape 14"/>
          <p:cNvSpPr/>
          <p:nvPr/>
        </p:nvSpPr>
        <p:spPr>
          <a:xfrm>
            <a:off x="7315017" y="1645920"/>
            <a:ext cx="2072579" cy="251460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516185" y="184708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PRAKTISK</a:t>
            </a:r>
            <a:endParaRPr lang="en-US" sz="1100" dirty="0"/>
          </a:p>
        </p:txBody>
      </p:sp>
      <p:sp>
        <p:nvSpPr>
          <p:cNvPr id="18" name="Text 16"/>
          <p:cNvSpPr txBox="1"/>
          <p:nvPr/>
        </p:nvSpPr>
        <p:spPr>
          <a:xfrm>
            <a:off x="7516185" y="2139696"/>
            <a:ext cx="1670243" cy="320040"/>
          </a:xfrm>
          <a:prstGeom prst="rect">
            <a:avLst/>
          </a:prstGeom>
          <a:noFill/>
          <a:ln/>
        </p:spPr>
        <p:txBody>
          <a:bodyPr wrap="square" lIns="0" tIns="0" rIns="0" bIns="0" rtlCol="0" anchor="t"/>
          <a:lstStyle/>
          <a:p>
            <a:pPr indent="0" marL="0">
              <a:buNone/>
            </a:pPr>
            <a:r>
              <a:rPr lang="en-US" sz="2000" b="1" dirty="0">
                <a:solidFill>
                  <a:srgbClr val="16202B"/>
                </a:solidFill>
                <a:latin typeface="Calibri" pitchFamily="34" charset="0"/>
                <a:ea typeface="Calibri" pitchFamily="34" charset="-122"/>
                <a:cs typeface="Calibri" pitchFamily="34" charset="-120"/>
              </a:rPr>
              <a:t>CKA</a:t>
            </a:r>
            <a:endParaRPr lang="en-US" sz="2000" dirty="0"/>
          </a:p>
        </p:txBody>
      </p:sp>
      <p:sp>
        <p:nvSpPr>
          <p:cNvPr id="19" name="Text 17"/>
          <p:cNvSpPr txBox="1"/>
          <p:nvPr/>
        </p:nvSpPr>
        <p:spPr>
          <a:xfrm>
            <a:off x="7516185" y="2523744"/>
            <a:ext cx="1670243" cy="148132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Certified Kubernetes Administrator</a:t>
            </a:r>
            <a:endParaRPr lang="en-US" sz="1250" dirty="0"/>
          </a:p>
          <a:p>
            <a:pPr indent="0" marL="0">
              <a:lnSpc>
                <a:spcPct val="115000"/>
              </a:lnSpc>
              <a:buNone/>
            </a:pPr>
            <a:endParaRPr lang="en-US" sz="1250" dirty="0"/>
          </a:p>
          <a:p>
            <a:pPr indent="0" marL="0">
              <a:lnSpc>
                <a:spcPct val="115000"/>
              </a:lnSpc>
              <a:buNone/>
            </a:pPr>
            <a:r>
              <a:rPr lang="en-US" sz="1250" dirty="0">
                <a:solidFill>
                  <a:srgbClr val="4A5568"/>
                </a:solidFill>
                <a:latin typeface="Arial" pitchFamily="34" charset="0"/>
                <a:ea typeface="Arial" pitchFamily="34" charset="-122"/>
                <a:cs typeface="Arial" pitchFamily="34" charset="-120"/>
              </a:rPr>
              <a:t>Praktiskt prov · 2 h</a:t>
            </a:r>
            <a:endParaRPr lang="en-US" sz="1250" dirty="0"/>
          </a:p>
        </p:txBody>
      </p:sp>
      <p:sp>
        <p:nvSpPr>
          <p:cNvPr id="20" name="Shape 18"/>
          <p:cNvSpPr/>
          <p:nvPr/>
        </p:nvSpPr>
        <p:spPr>
          <a:xfrm>
            <a:off x="9570476" y="1645920"/>
            <a:ext cx="2072579" cy="251460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9771644" y="184708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PRAKTISK</a:t>
            </a:r>
            <a:endParaRPr lang="en-US" sz="1100" dirty="0"/>
          </a:p>
        </p:txBody>
      </p:sp>
      <p:sp>
        <p:nvSpPr>
          <p:cNvPr id="22" name="Text 20"/>
          <p:cNvSpPr txBox="1"/>
          <p:nvPr/>
        </p:nvSpPr>
        <p:spPr>
          <a:xfrm>
            <a:off x="9771644" y="2139696"/>
            <a:ext cx="1670243" cy="320040"/>
          </a:xfrm>
          <a:prstGeom prst="rect">
            <a:avLst/>
          </a:prstGeom>
          <a:noFill/>
          <a:ln/>
        </p:spPr>
        <p:txBody>
          <a:bodyPr wrap="square" lIns="0" tIns="0" rIns="0" bIns="0" rtlCol="0" anchor="t"/>
          <a:lstStyle/>
          <a:p>
            <a:pPr indent="0" marL="0">
              <a:buNone/>
            </a:pPr>
            <a:r>
              <a:rPr lang="en-US" sz="2000" b="1" dirty="0">
                <a:solidFill>
                  <a:srgbClr val="16202B"/>
                </a:solidFill>
                <a:latin typeface="Calibri" pitchFamily="34" charset="0"/>
                <a:ea typeface="Calibri" pitchFamily="34" charset="-122"/>
                <a:cs typeface="Calibri" pitchFamily="34" charset="-120"/>
              </a:rPr>
              <a:t>CKS</a:t>
            </a:r>
            <a:endParaRPr lang="en-US" sz="2000" dirty="0"/>
          </a:p>
        </p:txBody>
      </p:sp>
      <p:sp>
        <p:nvSpPr>
          <p:cNvPr id="23" name="Text 21"/>
          <p:cNvSpPr txBox="1"/>
          <p:nvPr/>
        </p:nvSpPr>
        <p:spPr>
          <a:xfrm>
            <a:off x="9771644" y="2523744"/>
            <a:ext cx="1670243" cy="1481328"/>
          </a:xfrm>
          <a:prstGeom prst="rect">
            <a:avLst/>
          </a:prstGeom>
          <a:noFill/>
          <a:ln/>
        </p:spPr>
        <p:txBody>
          <a:bodyPr wrap="square" lIns="0" tIns="0" rIns="0" bIns="0" rtlCol="0" anchor="t"/>
          <a:lstStyle/>
          <a:p>
            <a:pPr indent="0" marL="0">
              <a:lnSpc>
                <a:spcPct val="115000"/>
              </a:lnSpc>
              <a:buNone/>
            </a:pPr>
            <a:r>
              <a:rPr lang="en-US" sz="1250" dirty="0">
                <a:solidFill>
                  <a:srgbClr val="4A5568"/>
                </a:solidFill>
                <a:latin typeface="Arial" pitchFamily="34" charset="0"/>
                <a:ea typeface="Arial" pitchFamily="34" charset="-122"/>
                <a:cs typeface="Arial" pitchFamily="34" charset="-120"/>
              </a:rPr>
              <a:t>Certified Kubernetes Security Specialist</a:t>
            </a:r>
            <a:endParaRPr lang="en-US" sz="1250" dirty="0"/>
          </a:p>
          <a:p>
            <a:pPr indent="0" marL="0">
              <a:lnSpc>
                <a:spcPct val="115000"/>
              </a:lnSpc>
              <a:buNone/>
            </a:pPr>
            <a:endParaRPr lang="en-US" sz="1250" dirty="0"/>
          </a:p>
          <a:p>
            <a:pPr indent="0" marL="0">
              <a:lnSpc>
                <a:spcPct val="115000"/>
              </a:lnSpc>
              <a:buNone/>
            </a:pPr>
            <a:r>
              <a:rPr lang="en-US" sz="1250" dirty="0">
                <a:solidFill>
                  <a:srgbClr val="4A5568"/>
                </a:solidFill>
                <a:latin typeface="Arial" pitchFamily="34" charset="0"/>
                <a:ea typeface="Arial" pitchFamily="34" charset="-122"/>
                <a:cs typeface="Arial" pitchFamily="34" charset="-120"/>
              </a:rPr>
              <a:t>Praktiskt prov · 2 h · kräver CKA</a:t>
            </a:r>
            <a:endParaRPr lang="en-US" sz="1250" dirty="0"/>
          </a:p>
        </p:txBody>
      </p:sp>
      <p:sp>
        <p:nvSpPr>
          <p:cNvPr id="24" name="Shape 22"/>
          <p:cNvSpPr/>
          <p:nvPr/>
        </p:nvSpPr>
        <p:spPr>
          <a:xfrm>
            <a:off x="548640" y="4389120"/>
            <a:ext cx="11094415" cy="1371600"/>
          </a:xfrm>
          <a:prstGeom prst="roundRect">
            <a:avLst>
              <a:gd name="adj" fmla="val 4000"/>
            </a:avLst>
          </a:prstGeom>
          <a:solidFill>
            <a:srgbClr val="3762FF"/>
          </a:solidFill>
          <a:ln w="12700">
            <a:solidFill>
              <a:srgbClr val="3762FF"/>
            </a:solidFill>
            <a:prstDash val="solid"/>
          </a:ln>
        </p:spPr>
      </p:sp>
      <p:sp>
        <p:nvSpPr>
          <p:cNvPr id="25" name="Text 23"/>
          <p:cNvSpPr txBox="1"/>
          <p:nvPr/>
        </p:nvSpPr>
        <p:spPr>
          <a:xfrm>
            <a:off x="749808" y="4590288"/>
            <a:ext cx="10692079"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Kubestronaut</a:t>
            </a:r>
            <a:endParaRPr lang="en-US" sz="1800" dirty="0"/>
          </a:p>
        </p:txBody>
      </p:sp>
      <p:sp>
        <p:nvSpPr>
          <p:cNvPr id="26" name="Text 24"/>
          <p:cNvSpPr txBox="1"/>
          <p:nvPr/>
        </p:nvSpPr>
        <p:spPr>
          <a:xfrm>
            <a:off x="749808" y="4974336"/>
            <a:ext cx="10692079" cy="630936"/>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Arial" pitchFamily="34" charset="0"/>
                <a:ea typeface="Arial" pitchFamily="34" charset="-122"/>
                <a:cs typeface="Arial" pitchFamily="34" charset="-120"/>
              </a:rPr>
              <a:t>Alla fem certifieringarna aktiva samtidigt. Praktiska prov görs i en terminal mot riktiga kluster - med kubectl, precis som i den här kursen.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HÄRNÄST · NI HAR REDAN BÖRJAT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Det ni har övat på - per certifiering</a:t>
            </a:r>
            <a:endParaRPr lang="en-US" sz="3000" dirty="0"/>
          </a:p>
        </p:txBody>
      </p:sp>
      <p:sp>
        <p:nvSpPr>
          <p:cNvPr id="4" name="Shape 2"/>
          <p:cNvSpPr/>
          <p:nvPr/>
        </p:nvSpPr>
        <p:spPr>
          <a:xfrm>
            <a:off x="548640" y="1600200"/>
            <a:ext cx="2194560" cy="868680"/>
          </a:xfrm>
          <a:prstGeom prst="roundRect">
            <a:avLst>
              <a:gd name="adj" fmla="val 6316"/>
            </a:avLst>
          </a:prstGeom>
          <a:solidFill>
            <a:srgbClr val="16294A"/>
          </a:solidFill>
          <a:ln w="12700">
            <a:solidFill>
              <a:srgbClr val="16294A"/>
            </a:solidFill>
            <a:prstDash val="solid"/>
          </a:ln>
        </p:spPr>
      </p:sp>
      <p:sp>
        <p:nvSpPr>
          <p:cNvPr id="5" name="Text 3"/>
          <p:cNvSpPr txBox="1"/>
          <p:nvPr/>
        </p:nvSpPr>
        <p:spPr>
          <a:xfrm>
            <a:off x="640080" y="1600200"/>
            <a:ext cx="2011680" cy="86868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KCNA</a:t>
            </a:r>
            <a:endParaRPr lang="en-US" sz="1800" dirty="0"/>
          </a:p>
        </p:txBody>
      </p:sp>
      <p:sp>
        <p:nvSpPr>
          <p:cNvPr id="6" name="Shape 4"/>
          <p:cNvSpPr/>
          <p:nvPr/>
        </p:nvSpPr>
        <p:spPr>
          <a:xfrm>
            <a:off x="2926080" y="1600200"/>
            <a:ext cx="8716975" cy="868680"/>
          </a:xfrm>
          <a:prstGeom prst="roundRect">
            <a:avLst>
              <a:gd name="adj" fmla="val 6316"/>
            </a:avLst>
          </a:prstGeom>
          <a:solidFill>
            <a:srgbClr val="16294A"/>
          </a:solidFill>
          <a:ln w="12700">
            <a:solidFill>
              <a:srgbClr val="16294A"/>
            </a:solidFill>
            <a:prstDash val="solid"/>
          </a:ln>
        </p:spPr>
      </p:sp>
      <p:sp>
        <p:nvSpPr>
          <p:cNvPr id="7" name="Text 5"/>
          <p:cNvSpPr txBox="1"/>
          <p:nvPr/>
        </p:nvSpPr>
        <p:spPr>
          <a:xfrm>
            <a:off x="3154680" y="1600200"/>
            <a:ext cx="8259775" cy="86868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Arkitektur, önskat tillstånd, poddar, Services, observability med OpenTelemetry och Prometheus</a:t>
            </a:r>
            <a:endParaRPr lang="en-US" sz="1400" dirty="0"/>
          </a:p>
        </p:txBody>
      </p:sp>
      <p:sp>
        <p:nvSpPr>
          <p:cNvPr id="8" name="Shape 6"/>
          <p:cNvSpPr/>
          <p:nvPr/>
        </p:nvSpPr>
        <p:spPr>
          <a:xfrm>
            <a:off x="548640" y="2651760"/>
            <a:ext cx="2194560" cy="868680"/>
          </a:xfrm>
          <a:prstGeom prst="roundRect">
            <a:avLst>
              <a:gd name="adj" fmla="val 6316"/>
            </a:avLst>
          </a:prstGeom>
          <a:solidFill>
            <a:srgbClr val="3762FF"/>
          </a:solidFill>
          <a:ln w="12700">
            <a:solidFill>
              <a:srgbClr val="3762FF"/>
            </a:solidFill>
            <a:prstDash val="solid"/>
          </a:ln>
        </p:spPr>
      </p:sp>
      <p:sp>
        <p:nvSpPr>
          <p:cNvPr id="9" name="Text 7"/>
          <p:cNvSpPr txBox="1"/>
          <p:nvPr/>
        </p:nvSpPr>
        <p:spPr>
          <a:xfrm>
            <a:off x="640080" y="2651760"/>
            <a:ext cx="20116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CKAD</a:t>
            </a:r>
            <a:endParaRPr lang="en-US" sz="1800" dirty="0"/>
          </a:p>
        </p:txBody>
      </p:sp>
      <p:sp>
        <p:nvSpPr>
          <p:cNvPr id="10" name="Shape 8"/>
          <p:cNvSpPr/>
          <p:nvPr/>
        </p:nvSpPr>
        <p:spPr>
          <a:xfrm>
            <a:off x="2926080" y="2651760"/>
            <a:ext cx="8716975" cy="868680"/>
          </a:xfrm>
          <a:prstGeom prst="roundRect">
            <a:avLst>
              <a:gd name="adj" fmla="val 6316"/>
            </a:avLst>
          </a:prstGeom>
          <a:solidFill>
            <a:srgbClr val="16294A"/>
          </a:solidFill>
          <a:ln w="12700">
            <a:solidFill>
              <a:srgbClr val="16294A"/>
            </a:solidFill>
            <a:prstDash val="solid"/>
          </a:ln>
        </p:spPr>
      </p:sp>
      <p:sp>
        <p:nvSpPr>
          <p:cNvPr id="11" name="Text 9"/>
          <p:cNvSpPr txBox="1"/>
          <p:nvPr/>
        </p:nvSpPr>
        <p:spPr>
          <a:xfrm>
            <a:off x="3154680" y="2651760"/>
            <a:ext cx="8259775" cy="86868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Deployments, ConfigMaps, Secrets, probes, Ingress, Helm, HPA - kväll 3-8</a:t>
            </a:r>
            <a:endParaRPr lang="en-US" sz="1400" dirty="0"/>
          </a:p>
        </p:txBody>
      </p:sp>
      <p:sp>
        <p:nvSpPr>
          <p:cNvPr id="12" name="Shape 10"/>
          <p:cNvSpPr/>
          <p:nvPr/>
        </p:nvSpPr>
        <p:spPr>
          <a:xfrm>
            <a:off x="548640" y="3703320"/>
            <a:ext cx="2194560" cy="868680"/>
          </a:xfrm>
          <a:prstGeom prst="roundRect">
            <a:avLst>
              <a:gd name="adj" fmla="val 6316"/>
            </a:avLst>
          </a:prstGeom>
          <a:solidFill>
            <a:srgbClr val="16294A"/>
          </a:solidFill>
          <a:ln w="12700">
            <a:solidFill>
              <a:srgbClr val="16294A"/>
            </a:solidFill>
            <a:prstDash val="solid"/>
          </a:ln>
        </p:spPr>
      </p:sp>
      <p:sp>
        <p:nvSpPr>
          <p:cNvPr id="13" name="Text 11"/>
          <p:cNvSpPr txBox="1"/>
          <p:nvPr/>
        </p:nvSpPr>
        <p:spPr>
          <a:xfrm>
            <a:off x="640080" y="3703320"/>
            <a:ext cx="2011680" cy="86868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CKA</a:t>
            </a:r>
            <a:endParaRPr lang="en-US" sz="1800" dirty="0"/>
          </a:p>
        </p:txBody>
      </p:sp>
      <p:sp>
        <p:nvSpPr>
          <p:cNvPr id="14" name="Shape 12"/>
          <p:cNvSpPr/>
          <p:nvPr/>
        </p:nvSpPr>
        <p:spPr>
          <a:xfrm>
            <a:off x="2926080" y="3703320"/>
            <a:ext cx="8716975" cy="868680"/>
          </a:xfrm>
          <a:prstGeom prst="roundRect">
            <a:avLst>
              <a:gd name="adj" fmla="val 6316"/>
            </a:avLst>
          </a:prstGeom>
          <a:solidFill>
            <a:srgbClr val="16294A"/>
          </a:solidFill>
          <a:ln w="12700">
            <a:solidFill>
              <a:srgbClr val="16294A"/>
            </a:solidFill>
            <a:prstDash val="solid"/>
          </a:ln>
        </p:spPr>
      </p:sp>
      <p:sp>
        <p:nvSpPr>
          <p:cNvPr id="15" name="Text 13"/>
          <p:cNvSpPr txBox="1"/>
          <p:nvPr/>
        </p:nvSpPr>
        <p:spPr>
          <a:xfrm>
            <a:off x="3154680" y="3703320"/>
            <a:ext cx="8259775" cy="86868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kubeconfig, RBAC, användarcertifikat med CSR, PVC, felsökning med logs och describe</a:t>
            </a:r>
            <a:endParaRPr lang="en-US" sz="1400" dirty="0"/>
          </a:p>
        </p:txBody>
      </p:sp>
      <p:sp>
        <p:nvSpPr>
          <p:cNvPr id="16" name="Shape 14"/>
          <p:cNvSpPr/>
          <p:nvPr/>
        </p:nvSpPr>
        <p:spPr>
          <a:xfrm>
            <a:off x="548640" y="4754880"/>
            <a:ext cx="2194560" cy="868680"/>
          </a:xfrm>
          <a:prstGeom prst="roundRect">
            <a:avLst>
              <a:gd name="adj" fmla="val 6316"/>
            </a:avLst>
          </a:prstGeom>
          <a:solidFill>
            <a:srgbClr val="16294A"/>
          </a:solidFill>
          <a:ln w="12700">
            <a:solidFill>
              <a:srgbClr val="16294A"/>
            </a:solidFill>
            <a:prstDash val="solid"/>
          </a:ln>
        </p:spPr>
      </p:sp>
      <p:sp>
        <p:nvSpPr>
          <p:cNvPr id="17" name="Text 15"/>
          <p:cNvSpPr txBox="1"/>
          <p:nvPr/>
        </p:nvSpPr>
        <p:spPr>
          <a:xfrm>
            <a:off x="640080" y="4754880"/>
            <a:ext cx="2011680" cy="868680"/>
          </a:xfrm>
          <a:prstGeom prst="rect">
            <a:avLst/>
          </a:prstGeom>
          <a:noFill/>
          <a:ln/>
        </p:spPr>
        <p:txBody>
          <a:bodyPr wrap="square" lIns="0" tIns="0" rIns="0" bIns="0"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KCSA / CKS</a:t>
            </a:r>
            <a:endParaRPr lang="en-US" sz="1800" dirty="0"/>
          </a:p>
        </p:txBody>
      </p:sp>
      <p:sp>
        <p:nvSpPr>
          <p:cNvPr id="18" name="Shape 16"/>
          <p:cNvSpPr/>
          <p:nvPr/>
        </p:nvSpPr>
        <p:spPr>
          <a:xfrm>
            <a:off x="2926080" y="4754880"/>
            <a:ext cx="8716975" cy="868680"/>
          </a:xfrm>
          <a:prstGeom prst="roundRect">
            <a:avLst>
              <a:gd name="adj" fmla="val 6316"/>
            </a:avLst>
          </a:prstGeom>
          <a:solidFill>
            <a:srgbClr val="16294A"/>
          </a:solidFill>
          <a:ln w="12700">
            <a:solidFill>
              <a:srgbClr val="16294A"/>
            </a:solidFill>
            <a:prstDash val="solid"/>
          </a:ln>
        </p:spPr>
      </p:sp>
      <p:sp>
        <p:nvSpPr>
          <p:cNvPr id="19" name="Text 17"/>
          <p:cNvSpPr txBox="1"/>
          <p:nvPr/>
        </p:nvSpPr>
        <p:spPr>
          <a:xfrm>
            <a:off x="3154680" y="4754880"/>
            <a:ext cx="8259775" cy="86868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RBAC, Secrets och vem som kan läsa dem, Sealed Secrets, TLS</a:t>
            </a:r>
            <a:endParaRPr lang="en-US" sz="1400" dirty="0"/>
          </a:p>
        </p:txBody>
      </p:sp>
      <p:sp>
        <p:nvSpPr>
          <p:cNvPr id="20" name="Text 18"/>
          <p:cNvSpPr txBox="1"/>
          <p:nvPr/>
        </p:nvSpPr>
        <p:spPr>
          <a:xfrm>
            <a:off x="548640" y="5852160"/>
            <a:ext cx="11094415" cy="365760"/>
          </a:xfrm>
          <a:prstGeom prst="rect">
            <a:avLst/>
          </a:prstGeom>
          <a:noFill/>
          <a:ln/>
        </p:spPr>
        <p:txBody>
          <a:bodyPr wrap="square" lIns="0" tIns="0" rIns="0" bIns="0" rtlCol="0" anchor="t"/>
          <a:lstStyle/>
          <a:p>
            <a:pPr indent="0" marL="0">
              <a:lnSpc>
                <a:spcPct val="120000"/>
              </a:lnSpc>
              <a:buNone/>
            </a:pPr>
            <a:r>
              <a:rPr lang="en-US" sz="1400" dirty="0">
                <a:solidFill>
                  <a:srgbClr val="B9C4D1"/>
                </a:solidFill>
                <a:latin typeface="Arial" pitchFamily="34" charset="0"/>
                <a:ea typeface="Arial" pitchFamily="34" charset="-122"/>
                <a:cs typeface="Arial" pitchFamily="34" charset="-120"/>
              </a:rPr>
              <a:t>Öva vidare i ert k3d-kluster - de praktiska proven belönar snabbhet med kubectl, inte utantillkunskap.</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HÄRNÄST · TEKNIKER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Sex saker att lära sig efter kursen</a:t>
            </a:r>
            <a:endParaRPr lang="en-US" sz="3000" dirty="0"/>
          </a:p>
        </p:txBody>
      </p:sp>
      <p:sp>
        <p:nvSpPr>
          <p:cNvPr id="4" name="Shape 2"/>
          <p:cNvSpPr/>
          <p:nvPr/>
        </p:nvSpPr>
        <p:spPr>
          <a:xfrm>
            <a:off x="548640" y="1645920"/>
            <a:ext cx="3593592" cy="1828800"/>
          </a:xfrm>
          <a:prstGeom prst="roundRect">
            <a:avLst>
              <a:gd name="adj" fmla="val 3000"/>
            </a:avLst>
          </a:prstGeom>
          <a:solidFill>
            <a:srgbClr val="3762FF"/>
          </a:solidFill>
          <a:ln w="12700">
            <a:solidFill>
              <a:srgbClr val="3762FF"/>
            </a:solidFill>
            <a:prstDash val="solid"/>
          </a:ln>
        </p:spPr>
      </p:sp>
      <p:sp>
        <p:nvSpPr>
          <p:cNvPr id="5" name="Text 3"/>
          <p:cNvSpPr txBox="1"/>
          <p:nvPr/>
        </p:nvSpPr>
        <p:spPr>
          <a:xfrm>
            <a:off x="749808" y="1847088"/>
            <a:ext cx="3191256"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GitOps</a:t>
            </a:r>
            <a:endParaRPr lang="en-US" sz="1700" dirty="0"/>
          </a:p>
        </p:txBody>
      </p:sp>
      <p:sp>
        <p:nvSpPr>
          <p:cNvPr id="6" name="Text 4"/>
          <p:cNvSpPr txBox="1"/>
          <p:nvPr/>
        </p:nvSpPr>
        <p:spPr>
          <a:xfrm>
            <a:off x="749808" y="223113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Argo CD eller Flux: klustret läser sitt önskade tillstånd från Git. Sealed Secrets gör det möjligt.</a:t>
            </a:r>
            <a:endParaRPr lang="en-US" sz="1300" dirty="0"/>
          </a:p>
        </p:txBody>
      </p:sp>
      <p:sp>
        <p:nvSpPr>
          <p:cNvPr id="7" name="Shape 5"/>
          <p:cNvSpPr/>
          <p:nvPr/>
        </p:nvSpPr>
        <p:spPr>
          <a:xfrm>
            <a:off x="4297680" y="1645920"/>
            <a:ext cx="3593592" cy="18288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cert-manager</a:t>
            </a:r>
            <a:endParaRPr lang="en-US" sz="1700" dirty="0"/>
          </a:p>
        </p:txBody>
      </p:sp>
      <p:sp>
        <p:nvSpPr>
          <p:cNvPr id="9" name="Text 7"/>
          <p:cNvSpPr txBox="1"/>
          <p:nvPr/>
        </p:nvSpPr>
        <p:spPr>
          <a:xfrm>
            <a:off x="4498848" y="223113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Certifikat som beställs och förnyas automatiskt, t.ex. från Let's Encrypt.</a:t>
            </a:r>
            <a:endParaRPr lang="en-US" sz="1300" dirty="0"/>
          </a:p>
        </p:txBody>
      </p:sp>
      <p:sp>
        <p:nvSpPr>
          <p:cNvPr id="10" name="Shape 8"/>
          <p:cNvSpPr/>
          <p:nvPr/>
        </p:nvSpPr>
        <p:spPr>
          <a:xfrm>
            <a:off x="8046720" y="1645920"/>
            <a:ext cx="3593592" cy="18288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CI/CD</a:t>
            </a:r>
            <a:endParaRPr lang="en-US" sz="1700" dirty="0"/>
          </a:p>
        </p:txBody>
      </p:sp>
      <p:sp>
        <p:nvSpPr>
          <p:cNvPr id="12" name="Text 10"/>
          <p:cNvSpPr txBox="1"/>
          <p:nvPr/>
        </p:nvSpPr>
        <p:spPr>
          <a:xfrm>
            <a:off x="8247888" y="223113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GitHub Actions bygger, testar och pushar images - istället för build.ps1.</a:t>
            </a:r>
            <a:endParaRPr lang="en-US" sz="1300" dirty="0"/>
          </a:p>
        </p:txBody>
      </p:sp>
      <p:sp>
        <p:nvSpPr>
          <p:cNvPr id="13" name="Shape 11"/>
          <p:cNvSpPr/>
          <p:nvPr/>
        </p:nvSpPr>
        <p:spPr>
          <a:xfrm>
            <a:off x="548640" y="3657600"/>
            <a:ext cx="3593592" cy="18288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49808" y="3858768"/>
            <a:ext cx="3191256"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Molnet</a:t>
            </a:r>
            <a:endParaRPr lang="en-US" sz="1700" dirty="0"/>
          </a:p>
        </p:txBody>
      </p:sp>
      <p:sp>
        <p:nvSpPr>
          <p:cNvPr id="15" name="Text 13"/>
          <p:cNvSpPr txBox="1"/>
          <p:nvPr/>
        </p:nvSpPr>
        <p:spPr>
          <a:xfrm>
            <a:off x="749808" y="424281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AKS, EKS eller GKE. Samma kubectl, samma Helm - andra lagringsklasser och lastbalanserare.</a:t>
            </a:r>
            <a:endParaRPr lang="en-US" sz="1300" dirty="0"/>
          </a:p>
        </p:txBody>
      </p:sp>
      <p:sp>
        <p:nvSpPr>
          <p:cNvPr id="16" name="Shape 14"/>
          <p:cNvSpPr/>
          <p:nvPr/>
        </p:nvSpPr>
        <p:spPr>
          <a:xfrm>
            <a:off x="4297680" y="3657600"/>
            <a:ext cx="3593592" cy="18288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4498848" y="3858768"/>
            <a:ext cx="3191256"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Nätverk och säkerhet</a:t>
            </a:r>
            <a:endParaRPr lang="en-US" sz="1700" dirty="0"/>
          </a:p>
        </p:txBody>
      </p:sp>
      <p:sp>
        <p:nvSpPr>
          <p:cNvPr id="18" name="Text 16"/>
          <p:cNvSpPr txBox="1"/>
          <p:nvPr/>
        </p:nvSpPr>
        <p:spPr>
          <a:xfrm>
            <a:off x="4498848" y="424281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NetworkPolicy, Pod Security Standards och säkerhetsskanning av images.</a:t>
            </a:r>
            <a:endParaRPr lang="en-US" sz="1300" dirty="0"/>
          </a:p>
        </p:txBody>
      </p:sp>
      <p:sp>
        <p:nvSpPr>
          <p:cNvPr id="19" name="Shape 17"/>
          <p:cNvSpPr/>
          <p:nvPr/>
        </p:nvSpPr>
        <p:spPr>
          <a:xfrm>
            <a:off x="8046720" y="3657600"/>
            <a:ext cx="3593592" cy="18288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8247888" y="3858768"/>
            <a:ext cx="3191256" cy="320040"/>
          </a:xfrm>
          <a:prstGeom prst="rect">
            <a:avLst/>
          </a:prstGeom>
          <a:noFill/>
          <a:ln/>
        </p:spPr>
        <p:txBody>
          <a:bodyPr wrap="square" lIns="0" tIns="0" rIns="0" bIns="0" rtlCol="0" anchor="t"/>
          <a:lstStyle/>
          <a:p>
            <a:pPr indent="0" marL="0">
              <a:buNone/>
            </a:pPr>
            <a:r>
              <a:rPr lang="en-US" sz="1700" b="1" dirty="0">
                <a:solidFill>
                  <a:srgbClr val="16202B"/>
                </a:solidFill>
                <a:latin typeface="Calibri" pitchFamily="34" charset="0"/>
                <a:ea typeface="Calibri" pitchFamily="34" charset="-122"/>
                <a:cs typeface="Calibri" pitchFamily="34" charset="-120"/>
              </a:rPr>
              <a:t>Kustomize och operatorer</a:t>
            </a:r>
            <a:endParaRPr lang="en-US" sz="1700" dirty="0"/>
          </a:p>
        </p:txBody>
      </p:sp>
      <p:sp>
        <p:nvSpPr>
          <p:cNvPr id="21" name="Text 19"/>
          <p:cNvSpPr txBox="1"/>
          <p:nvPr/>
        </p:nvSpPr>
        <p:spPr>
          <a:xfrm>
            <a:off x="8247888" y="424281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Miljöer utan mallar - och controllers som driftar databaser åt 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Tio begrepp från sista kvällen</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Exportör</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Översätter till Prometheus</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Pending period</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Ingen väcks av en topp</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SLO &amp; felbudget</a:t>
            </a:r>
            <a:endParaRPr lang="en-US" sz="14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Hur bra är bra nog?</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Sampling</a:t>
            </a:r>
            <a:endParaRPr lang="en-US" sz="16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Färre traces, samma metrics</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HPA</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Fler poddar vid last</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existingSecret</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Charten pekar på en Secret</a:t>
            </a:r>
            <a:endParaRPr lang="en-US" sz="1300" dirty="0"/>
          </a:p>
        </p:txBody>
      </p:sp>
      <p:sp>
        <p:nvSpPr>
          <p:cNvPr id="22" name="Shape 20"/>
          <p:cNvSpPr/>
          <p:nvPr/>
        </p:nvSpPr>
        <p:spPr>
          <a:xfrm>
            <a:off x="2804099" y="3703320"/>
            <a:ext cx="2072579" cy="1874520"/>
          </a:xfrm>
          <a:prstGeom prst="roundRect">
            <a:avLst>
              <a:gd name="adj" fmla="val 2927"/>
            </a:avLst>
          </a:prstGeom>
          <a:solidFill>
            <a:srgbClr val="3762FF"/>
          </a:solidFill>
          <a:ln w="12700">
            <a:solidFill>
              <a:srgbClr val="3762FF"/>
            </a:solidFill>
            <a:prstDash val="solid"/>
          </a:ln>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SealedSecret i Git</a:t>
            </a:r>
            <a:endParaRPr lang="en-US" sz="14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Lösenordet ingen behöver kunna</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SNI</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Värdnamnet i handskakningen</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Cert per tjänst</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En nyckel per ingress</a:t>
            </a:r>
            <a:endParaRPr lang="en-US" sz="1300" dirty="0"/>
          </a:p>
        </p:txBody>
      </p:sp>
      <p:sp>
        <p:nvSpPr>
          <p:cNvPr id="31" name="Shape 29"/>
          <p:cNvSpPr/>
          <p:nvPr/>
        </p:nvSpPr>
        <p:spPr>
          <a:xfrm>
            <a:off x="9570476"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Kubestronaut</a:t>
            </a:r>
            <a:endParaRPr lang="en-US" sz="16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Alla fem certifieringar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KVÄLL 8 AV 8 - KURSEN ÄR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6000" b="1" dirty="0">
                <a:solidFill>
                  <a:srgbClr val="F5F7FA"/>
                </a:solidFill>
                <a:latin typeface="Calibri" pitchFamily="34" charset="0"/>
                <a:ea typeface="Calibri" pitchFamily="34" charset="-122"/>
                <a:cs typeface="Calibri" pitchFamily="34" charset="-120"/>
              </a:rPr>
              <a:t>Tack för kursen!</a:t>
            </a:r>
            <a:endParaRPr lang="en-US" sz="6000" dirty="0"/>
          </a:p>
        </p:txBody>
      </p:sp>
      <p:sp>
        <p:nvSpPr>
          <p:cNvPr id="4" name="Text 2"/>
          <p:cNvSpPr txBox="1"/>
          <p:nvPr/>
        </p:nvSpPr>
        <p:spPr>
          <a:xfrm>
            <a:off x="548640" y="3383280"/>
            <a:ext cx="10515600" cy="82296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Ni har byggt ett kluster, appar, telemetri och säkerhet - med kubectl i handen. Fortsätt öva i ert k3d-kluster.</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Kubernetes – Drift, hemligheter och helheten · .NET, Frontend &amp; SQL</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algn="r" indent="0" marL="0">
              <a:buNone/>
            </a:pPr>
            <a:r>
              <a:rPr lang="en-US" sz="1400" b="1" dirty="0">
                <a:solidFill>
                  <a:srgbClr val="7C9CFF"/>
                </a:solidFill>
                <a:latin typeface="Arial" pitchFamily="34" charset="0"/>
                <a:ea typeface="Arial" pitchFamily="34" charset="-122"/>
                <a:cs typeface="Arial" pitchFamily="34" charset="-120"/>
              </a:rPr>
              <a:t>Del 8 av 8 · avslutning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Drift, hemligheter och helheten</dc:title>
  <dc:subject>PptxGenJS Presentation</dc:subject>
  <dc:creator>PptxGenJS</dc:creator>
  <cp:lastModifiedBy>PptxGenJS</cp:lastModifiedBy>
  <cp:revision>1</cp:revision>
  <dcterms:created xsi:type="dcterms:W3CDTF">2026-10-15T08:20:00Z</dcterms:created>
  <dcterms:modified xsi:type="dcterms:W3CDTF">2026-10-15T08:20:00Z</dcterms:modified>
</cp:coreProperties>
</file>