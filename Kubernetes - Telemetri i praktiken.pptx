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1" d="100"/>
          <a:sy n="111" d="100"/>
        </p:scale>
        <p:origin x="55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560903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Välkomna! Förra gången fick vi telemetrin att flöda in i stacken. Ikväll använder vi den. Vi börjar med beviset - en dashboard som visar alla tre signalerna på en gång - och går sedan steg för steg: frågor direkt i Prometheus, Explore i Grafana, och att bygga egna dashboards. Sist ser vi hur det ser ut i ett riktigt system: ett kommando genom CQRS-appen och NATS-kön som en enda trace.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Kvällen är byggd baklänges med flit: först ser ni hur det ser ut när allt fungerar, sedan lär vi oss delarna som det är byggt av. Del 1 är markerad - den är svaret på frågan från förra gången: varför gör vi allt det här? Del 4 är den stora övningen.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Fyra förmågor. Den markerade är den som gör skillnad i verkligheten: att kunna gå från en symptom-graf till den exakta orsaken. Det kräver att signalerna är kopplade, och det är precis vad vi ska visa ikväll.</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 börjar med slutresultatet. Öppna https://grafana.local/d/telemetri-oversikt på projektorn och låt deltagarna öppna samma sak hos sig.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Så här ser översiktsdashboarden ut - bilden är en förenkling, visa den riktiga på projektorn. Överst Prometheus: fyra siffror och två grafer. I mitten Tempo: senaste traces och traces med fel. Längst ner Loki: loggraderna med trace_id. Den gröna pricken i svarstidsgrafen är en exemplar - ett enskilt anrop vi kan klicka oss in i. Alla tre raderna kommer från samma OTLP-ström in i collectorn. Nästa bild: vi bevisar det live.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Gör det här live och långsamt - det här är kvällens viktigaste fem minuter. Steg 1: tryck på Orsaka fel. Steg 2: vänta tills felandelen slår om - ca 10 sekunder, eftersom apparna skickar metrics var 10:e sekund. Steg 3: i tabellen Traces med fel, klicka på ett Trace ID. Steg 4: på det röda spannet finns Logs for this span - där ligger stacktracen. Steg 5: tryck på Långsamt anrop och visa att p95 stiger; klicka på en prick i grafen och visa att det öppnar exakt det anropet i Tempo. Ställ frågan i den markerade rutan.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 här är förklaringen till varför klicken fungerar. Samma trace_id finns i alla tre signalerna. Faro skapar det i webbläsaren och skickar det vidare i headern traceparent. .NET lägger det på varje loggrad och på exemplars i histogrammen. Grafana vet hur man hoppar mellan dem tack vare tre inställningar i grafana-values.yaml - namnen står längst ner. Visa gärna filen.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dashboard man klickat ihop försvinner om Grafana installeras om. Därför lägger vi dem som JSON-filer i Telemetry\dashboards. deploy-dashboards.ps1 gör en ConfigMap av varje fil med labeln grafana_dashboard. En sidecar-container i Grafana-podden bevakar sådana ConfigMaps och läser in dem automatiskt. Samma idé som Helm-values: allt som kod. I del 4 bygger ni en egen dashboard och exporterar den in i samma loop.</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Grafana visar bara det Prometheus svarar. Därför börjar vi i Prometheus eget gränssnitt: hitta metriken, se dess labels, bygg frågan steg för steg.</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Öppna prometheus.local tillsammans. Query-fältet är där allt börjar - börja skriva otel_ och se förslagen. Table-fliken är den viktigaste för att förstå data: varje rad är en tidsserie, och ni ser alla labels. Explain är nytt i Prometheus 3 och bra för att förstå andras frågor. Targets är facit om något saknas: står otel-collector som DOWN kommer ingen data alls.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Den vanligaste frustrationen: man skriver namnet från koden och får inget svar. Collectorns Prometheus-exporter döper om enligt fyra regler, nederst. Prefixet otel_ kommer från namespace: otel i otel-collector.yaml. Lägg märke till att ett histogram blir tre serier: _bucket, _sum och _count. Tips: använd autokompletteringen - skriv otel_customers och se vad som finns.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Gör alla fem stegen tillsammans och kör varje rad. Efter steg 1 ser ni en rad per stad och podd. Steg 2 filtrerar. Steg 3 är det viktigaste begreppet: en räknare är bara ett växande tal, intressant blir det först som hastighet - rate. Steg 4: med två repliker får ni två serier per stad; sum by (city) slår ihop poddarna. Steg 5: increase ger ett antal under en period, bra för stat-paneler. Arbetsflödet i den markerade rutan är kvällens viktigaste vana.</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Typen avgör frågan. Counter: alltid rate eller increase - det råa värdet säger inget eftersom det nollställs när podden startar om. Gauge: använd värdet direkt, men aggregera mellan poddar med max eller avg - inte sum, om båda poddarna rapporterar samma sak. Histogram är markerat eftersom det är det mest användbara och det svåraste - nästa bild förklarar det. UpDownCounter frågas som en gauge.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Ett histogram sparar inte varje mätning - bara hur många som hamnade under varje gräns. Staplarna är kumulativa: 72 anrop var 25 ms eller snabbare, och de 40 under 10 ms ingår i dem. För p95 letar histogram_quantile upp den första bucket där minst 95 procent ryms - här den på 100 ms - och interpolerar inom den. Därför spelar bucket-gränserna roll: de bestämmer noggrannheten. I CustomerTelemetry har vi satt egna gränser som passar våra svarstider.</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 här är arbetsflödet att ta med sig. Prometheus ger snabb återkoppling utan panelinställningar som stör. När frågan fungerar flyttar ni den till Grafana och byter tidsfönstret mot $__rate_interval - en Grafana-variabel som anpassar fönstret efter zoomnivån och skrapintervallet, så att grafen aldrig blir tom. De två vanligaste felen står till höger.</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Explore är Grafanas arbetsyta för att fråga och felsöka utan att bygga en dashboard. Vi går igenom ett språk per signal.</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 databaser, tre språk - men samma idé: välj vad, filtrera, räkna. Visa Builder-läget först för de som tycker att syntaxen är skrämmande: man klickar i metric, labels och operationer, och Code-läget visar vad det blev. LogQL är markerat eftersom det är nytt för de flesta: det liknar PromQL, med en stream-selector i klamrar följt av filter. Split-vyn är bra för att jämföra en graf med loggarna för samma tidsperiod.</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Kör raderna i Explore. Poängen med Loki: bara labels som service_name är indexerade, så selectorn i klamrarna avgör hur mycket data som läses. Radfilter med |= söker i texten och är dyrare. OpenTelemetry skickar dessutom metadata som detected_level och trace_id. Notera (?i): .NET skickar nivån som Error/Warning/Information, och (?i) gör jämförelsen skiftlägesokänslig. Den markerade raden är magin: alla tjänsters loggar för ett enda anrop, även från både cqrs-api och cqrs-worker. Sista raden visar att man kan göra metrics av loggar - den används på översiktsdashboarden.</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TraceQL frågar spans, och skiljer på två sorters attribut: resource säger vilken tjänst och podd, span säger vad just det steget gjorde. Våra egna taggar från koden - customer.id och cqrs.command_id - är sökbara direkt. Den markerade operatorn är häftig: den hittar traces där ett api-span har ett worker-span någonstans under sig. Det fungerar bara för att tracen faktiskt går genom NATS-kön - mer om det i del 6.</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Fyra hopp, alla förkonfigurerade i grafana-values.yaml - namnet i monospace är inställningen. Gör alla fyra live. Graf till trace är markerad eftersom det kräver tre saker vi slog på inför ikväll: exemplars i .NET-koden, OpenMetrics-formatet i collectorn och exemplar-lagring i Prometheus. Det är nu ni ska känna hur verktygen väver ihop.</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Övningsdelen. Alla bygger samma dashboard för TelemetryApi i sin egen Grafana, panel för panel. Den färdiga versionen finns som telemetryapi.json att jämföra med.</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 svåra med Grafana är inte knapparna utan vad man ska bygga. De här fem typerna är etablerade mönster. RED är markerad: för en webbtjänst är rate, errors och duration det användaren märker. USE kommer från driftvärlden och gäller resurser. Affärsmått är det som gör dashboarden intressant för fler än utvecklare. Ikväll bygger vi en kombination av RED och affärsmått för TelemetryApi.</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Så här ser panel-editorn ut - siffrorna är den ordning ni jobbar i. 1: välj datakälla. 2: frågan, markerad eftersom den är det enda som inte går att klicka fram - klistra in det ni validerat i Prometheus. 3: förhandsvisningen uppdateras när ni trycker Run queries. Till höger, uppifrån: visualiseringstyp, titel, och Standard options där enheten finns - glöm inte enheten, det är skillnaden mellan 0.18 och 180 ms. Thresholds ger färg. Nu bygger vi panel för panel.</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Panel 1: en Time series med en linje per route. {{http_route}} i Legend tar labelns värde som namn. Enheten requests/sec gör axeln läsbar. Panel 2 är en Stat som visar en siffra: antal 5xx delat med alla anrop. =~ "5.." är ett reguljärt uttryck för alla statuskoder som börjar på 5. Thresholds är markerat: det är det som får panelen att slå om till rött när ni trycker Orsaka fel. Gör båda panelerna nu, testa med knappen.</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 använder vi histogrammet som lades till i API:t - det mäter numera alla operationer, taggat med operation och outcome. Panel 3 visar p95 per operation; slå på Exemplars så att prickarna dyker upp. Panel 4 är en heatmap: istället för en siffra ser man hela fördelningen över tid - varje ruta är en bucket. Tryck på Långsamt anrop och se en ny ljus ruta högt upp. Heatmap kräver att formatet sätts till Heatmap och att Grafana inte räknar om själv.</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 olika paneltyper med tre olika datakällor. Bar gauge med Instant-fråga visar ett värde per stad just nu - taggen city på räknaren customers.created gör det möjligt. Logs-panelen är Loki direkt. Table med Tempo och TraceQL listar traces, och Trace ID är klickbart. Poängen i texten längst ner: datakällan väljs per panel, inte per dashboard.</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Variabler gör en dashboard återanvändbar. label_values hämtar alla värden en label har - här alla operationer i histogrammet. Med Multi-value och Include All kan man välja flera, och då måste frågan använda =~, eftersom Grafana gör om valen till ett reguljärt uttryck. Den markerade rutan är nästa steg: en variabel för service_name, och samma RED-dashboard fungerar för telemetry-api, cqrs-api och alla framtida tjänster.</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 sista steget gör dashboarden permanent. Exportera som JSON, lägg filen i dashboards-mappen och kör skriptet. JSON-filen är läsbar: uid ger en stabil adress, templating är variablerna och panels är panelerna med sina frågor. Jämför era exporter med telemetryapi.json som följde med - den är byggd på samma sätt. En dashboard som provisioneras kan ändras i Grafana men skrivs över nästa gång skriptet körs, så ändringar ska tillbaka till filen.</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Referensbild att spara. Varje typ svarar på en sorts fråga. Påminn om felet längst ner: en räknares råvärde i en Stat-panel säger ingenting - det är rate eller increase som ger mening. Heatmap och Node graph är de som brukar imponera mest - visa dem i översikts- och CQRS-dashboarden.</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 tittar på koden bakom panelerna: hur histogrammet från förra veckan blev en mätpunkt för alla operationer, och vilka andra instrument som tillkom.</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Histogrammet customers.requestduration mätte först bara /demo/slow. Nu mäter en liten hjälpare alla operationer: using-satsen startar mätningen och Dispose spelar in tiden. Taggarna operation och outcome är markerade - de är det som gör att en enda metric kan bli en panel per operation, eller visa andelen not_found. Samma hjälpare räknar pågående anrop upp och ner.</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Alla fyra instrumenttyperna finns nu i API:t. Gauge-mätaren customers.count är markerad eftersom den fungerar annorlunda: ingen kod anropar den - OpenTelemetry frågar efter värdet varje gång metrics skickas, och en bakgrundstjänst räknar kunderna i databasen var 15:e sekund. Läs rutan om kardinalitet högt: det är det vanligaste sättet att råka spränga en Prometheus.</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Exemplars är kopplingen från metrics till traces, och kräver att fyra led samarbetar - följ pilen. Koden sparar trace_id på mätningar som görs inuti en trace. Collectorn måste använda OpenMetrics-formatet, det enda som kan bära exemplars. Prometheus måste ha lagringen påslagen. Grafana vet redan att trace_id ska öppnas i Tempo. Saknas ett led syns inga prickar - men allt annat fungerar.</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 tillbaka till CQRS-appen, som nu har OpenTelemetry i API, worker och klient. Här syns varför distribuerad tracing finns: ett anrop som delas upp i tid och process.</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 här är verkligheten. Klicka Lägg till person i CQRSClient och öppna tracen. Överst klienten och API:t, som svarar 202 direkt. Den gula linjen är kön: NATS-klienten lade headern traceparent på meddelandet, och workern läser den när den tar emot kommandot. Därför hamnar workerns span - och EF Cores SQL-satser under det - i samma trace, fast det är en annan podd och en annan tidpunkt. Glappet är eventual consistency, nu synligt i millisekunder.</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 kod än så behövs inte. Bibliotek som NATS.Net och MySqlConnector skapar redan spans via System.Diagnostics - man behöver bara säga till OpenTelemetry att lyssna med AddSource. I workern är msg.StartActivity den markerade nyckeln: den skapar ett span vars förälder kommer från meddelandets headers. Eftersom det spannet blir Activity.Current hamnar EF Cores spans automatiskt under det. Kommandot hade redan ett IssuedAt-fält, och det blir kö-tiden.</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Kvällens finaste demo. Stoppa workern. API:t fortsätter svara 202 - användaren märker inget - men på dashboarden delar sig linjerna för publicerat och utfört. Starta workern igen: den betar av kön, linjerna möts, och kö-tiden visar exakt hur länge kommandona väntade. Öppna en av de traces som väntade: spannet för process börjar långt efter publish. Det här är eventual consistency man kan se, och precis vad CQRS-kvällen handlade om.</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Körschemat för den som ska komma ikapp. deploy-telemetry.ps1 är säker att köra om - allt är helm upgrade och kubectl apply. Ordningen spelar roll: stacken först, sedan apparna. Påminn om att metrics skickas var 10:e sekund, så paneler kan vara tomma en liten stund efter en deploy.</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Muntlig quiz. Exemplar är markerad eftersom det är det begrepp som binder ihop kvällen: från en graf, via en prick, till exakt ett anrop och dess loggar. Be någon förklara hela kedjan i CQRS-experimentet: vad syns i metrics, vad syns i en trace, och vad står i loggarna?</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Stacken och dashboards ligger kvar - de används resten av kursen, bland annat för att se vad som händer när vi skalar. ConfigMaps och Secrets är markerade: vi har redan sett dem användas av Grafanas sidecar och i våra charts, och nu är det dags att förstå dem ordentligt. Larm och SLO är det naturliga nästa steget med dashboards: att Grafana säger till innan användaren gör det.</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Öppna för frågor. Avslutande fråga: en användare säger att det tog tio sekunder att spara en person i går eftermiddag. Gå igenom stegen: CQRS-dashboarden för tidpunkten, kö-tid eller utförandetid? En exemplar eller TraceQL med duration för att hitta tracen, och Logs for this span för orsaken. Kan de svara på det har kvällen lyckats.</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F33"/>
        </a:solidFill>
        <a:effectLst/>
      </p:bgPr>
    </p:bg>
    <p:spTree>
      <p:nvGrpSpPr>
        <p:cNvPr id="1" name=""/>
        <p:cNvGrpSpPr/>
        <p:nvPr/>
      </p:nvGrpSpPr>
      <p:grpSpPr>
        <a:xfrm>
          <a:off x="0" y="0"/>
          <a:ext cx="0" cy="0"/>
          <a:chOff x="0" y="0"/>
          <a:chExt cx="0" cy="0"/>
        </a:xfrm>
      </p:grpSpPr>
      <p:sp>
        <p:nvSpPr>
          <p:cNvPr id="2" name="Text 0"/>
          <p:cNvSpPr txBox="1"/>
          <p:nvPr/>
        </p:nvSpPr>
        <p:spPr>
          <a:xfrm>
            <a:off x="548640" y="822960"/>
            <a:ext cx="11094415" cy="274320"/>
          </a:xfrm>
          <a:prstGeom prst="rect">
            <a:avLst/>
          </a:prstGeom>
          <a:noFill/>
          <a:ln/>
        </p:spPr>
        <p:txBody>
          <a:bodyPr wrap="square" lIns="0" tIns="0" rIns="0" bIns="0" rtlCol="0" anchor="ctr"/>
          <a:lstStyle/>
          <a:p>
            <a:pPr marL="0" indent="0">
              <a:buNone/>
            </a:pPr>
            <a:r>
              <a:rPr lang="en-US" sz="1200" b="1" kern="0" spc="200" dirty="0">
                <a:solidFill>
                  <a:srgbClr val="7C9CFF"/>
                </a:solidFill>
                <a:latin typeface="Arial" pitchFamily="34" charset="0"/>
                <a:ea typeface="Arial" pitchFamily="34" charset="-122"/>
                <a:cs typeface="Arial" pitchFamily="34" charset="-120"/>
              </a:rPr>
              <a:t>KUBERNETES-KURS · KVÄLL 6 AV 8</a:t>
            </a:r>
            <a:endParaRPr lang="en-US" sz="1200" dirty="0"/>
          </a:p>
        </p:txBody>
      </p:sp>
      <p:sp>
        <p:nvSpPr>
          <p:cNvPr id="3" name="Text 1"/>
          <p:cNvSpPr txBox="1"/>
          <p:nvPr/>
        </p:nvSpPr>
        <p:spPr>
          <a:xfrm>
            <a:off x="548640" y="1234440"/>
            <a:ext cx="11094415" cy="1097280"/>
          </a:xfrm>
          <a:prstGeom prst="rect">
            <a:avLst/>
          </a:prstGeom>
          <a:noFill/>
          <a:ln/>
        </p:spPr>
        <p:txBody>
          <a:bodyPr wrap="square" lIns="0" tIns="0" rIns="0" bIns="0" rtlCol="0" anchor="ctr"/>
          <a:lstStyle/>
          <a:p>
            <a:pPr marL="0" indent="0">
              <a:buNone/>
            </a:pPr>
            <a:r>
              <a:rPr lang="en-US" sz="6000" b="1" dirty="0">
                <a:solidFill>
                  <a:srgbClr val="F5F7FA"/>
                </a:solidFill>
                <a:latin typeface="Calibri" pitchFamily="34" charset="0"/>
                <a:ea typeface="Calibri" pitchFamily="34" charset="-122"/>
                <a:cs typeface="Calibri" pitchFamily="34" charset="-120"/>
              </a:rPr>
              <a:t>Telemetri i praktiken</a:t>
            </a:r>
            <a:endParaRPr lang="en-US" sz="6000" dirty="0"/>
          </a:p>
        </p:txBody>
      </p:sp>
      <p:sp>
        <p:nvSpPr>
          <p:cNvPr id="4" name="Text 2"/>
          <p:cNvSpPr txBox="1"/>
          <p:nvPr/>
        </p:nvSpPr>
        <p:spPr>
          <a:xfrm>
            <a:off x="548640" y="2514600"/>
            <a:ext cx="9601200" cy="914400"/>
          </a:xfrm>
          <a:prstGeom prst="rect">
            <a:avLst/>
          </a:prstGeom>
          <a:noFill/>
          <a:ln/>
        </p:spPr>
        <p:txBody>
          <a:bodyPr wrap="square" lIns="0" tIns="0" rIns="0" bIns="0" rtlCol="0" anchor="t"/>
          <a:lstStyle/>
          <a:p>
            <a:pPr marL="0" indent="0">
              <a:lnSpc>
                <a:spcPct val="130000"/>
              </a:lnSpc>
              <a:buNone/>
            </a:pPr>
            <a:r>
              <a:rPr lang="en-US" sz="2000" dirty="0">
                <a:solidFill>
                  <a:srgbClr val="B9C4D1"/>
                </a:solidFill>
                <a:latin typeface="Arial" pitchFamily="34" charset="0"/>
                <a:ea typeface="Arial" pitchFamily="34" charset="-122"/>
                <a:cs typeface="Arial" pitchFamily="34" charset="-120"/>
              </a:rPr>
              <a:t>Prometheus, Grafana och dashboards - från en fråga i Prometheus till en vy som visar hela systemet, och hur trace, metric och logg väver ihop</a:t>
            </a:r>
            <a:endParaRPr lang="en-US" sz="2000" dirty="0"/>
          </a:p>
        </p:txBody>
      </p:sp>
      <p:sp>
        <p:nvSpPr>
          <p:cNvPr id="5" name="Text 3"/>
          <p:cNvSpPr txBox="1"/>
          <p:nvPr/>
        </p:nvSpPr>
        <p:spPr>
          <a:xfrm>
            <a:off x="548640" y="6172200"/>
            <a:ext cx="6400800" cy="320040"/>
          </a:xfrm>
          <a:prstGeom prst="rect">
            <a:avLst/>
          </a:prstGeom>
          <a:noFill/>
          <a:ln/>
        </p:spPr>
        <p:txBody>
          <a:bodyPr wrap="square" lIns="0" tIns="0" rIns="0" bIns="0" rtlCol="0" anchor="ctr"/>
          <a:lstStyle/>
          <a:p>
            <a:pPr marL="0" indent="0">
              <a:buNone/>
            </a:pPr>
            <a:r>
              <a:rPr lang="en-US" sz="1400" dirty="0">
                <a:solidFill>
                  <a:srgbClr val="B9C4D1"/>
                </a:solidFill>
                <a:latin typeface="Arial" pitchFamily="34" charset="0"/>
                <a:ea typeface="Arial" pitchFamily="34" charset="-122"/>
                <a:cs typeface="Arial" pitchFamily="34" charset="-120"/>
              </a:rPr>
              <a:t>.NET · Frontend · SQL — Yrkeshögskola</a:t>
            </a:r>
            <a:endParaRPr lang="en-US" sz="1400" dirty="0"/>
          </a:p>
        </p:txBody>
      </p:sp>
      <p:sp>
        <p:nvSpPr>
          <p:cNvPr id="6" name="Text 4"/>
          <p:cNvSpPr txBox="1"/>
          <p:nvPr/>
        </p:nvSpPr>
        <p:spPr>
          <a:xfrm>
            <a:off x="6156655" y="6172200"/>
            <a:ext cx="5486400" cy="320040"/>
          </a:xfrm>
          <a:prstGeom prst="rect">
            <a:avLst/>
          </a:prstGeom>
          <a:noFill/>
          <a:ln/>
        </p:spPr>
        <p:txBody>
          <a:bodyPr wrap="square" lIns="0" tIns="0" rIns="0" bIns="0" rtlCol="0" anchor="ctr"/>
          <a:lstStyle/>
          <a:p>
            <a:pPr marL="0" indent="0" algn="r">
              <a:buNone/>
            </a:pPr>
            <a:r>
              <a:rPr lang="en-US" sz="1400" b="1" dirty="0">
                <a:solidFill>
                  <a:srgbClr val="7C9CFF"/>
                </a:solidFill>
                <a:latin typeface="Arial" pitchFamily="34" charset="0"/>
                <a:ea typeface="Arial" pitchFamily="34" charset="-122"/>
                <a:cs typeface="Arial" pitchFamily="34" charset="-120"/>
              </a:rPr>
              <a:t>Del 6 av 8 · demo + gemensam övning</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7F4"/>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marL="0" indent="0">
              <a:buNone/>
            </a:pPr>
            <a:r>
              <a:rPr lang="en-US" sz="1200" b="1" kern="0" spc="200" dirty="0">
                <a:solidFill>
                  <a:srgbClr val="3762FF"/>
                </a:solidFill>
                <a:latin typeface="Arial" pitchFamily="34" charset="0"/>
                <a:ea typeface="Arial" pitchFamily="34" charset="-122"/>
                <a:cs typeface="Arial" pitchFamily="34" charset="-120"/>
              </a:rPr>
              <a:t>AGENDA · KVÄLL 6</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marL="0" indent="0">
              <a:buNone/>
            </a:pPr>
            <a:r>
              <a:rPr lang="en-US" sz="3000" b="1" dirty="0">
                <a:solidFill>
                  <a:srgbClr val="16202B"/>
                </a:solidFill>
                <a:latin typeface="Calibri" pitchFamily="34" charset="0"/>
                <a:ea typeface="Calibri" pitchFamily="34" charset="-122"/>
                <a:cs typeface="Calibri" pitchFamily="34" charset="-120"/>
              </a:rPr>
              <a:t>Så här bygger vi upp kvällen</a:t>
            </a:r>
            <a:endParaRPr lang="en-US" sz="3000" dirty="0"/>
          </a:p>
        </p:txBody>
      </p:sp>
      <p:sp>
        <p:nvSpPr>
          <p:cNvPr id="4" name="Shape 2"/>
          <p:cNvSpPr/>
          <p:nvPr/>
        </p:nvSpPr>
        <p:spPr>
          <a:xfrm>
            <a:off x="548640" y="1645920"/>
            <a:ext cx="3593592" cy="1554480"/>
          </a:xfrm>
          <a:prstGeom prst="roundRect">
            <a:avLst>
              <a:gd name="adj" fmla="val 3529"/>
            </a:avLst>
          </a:prstGeom>
          <a:solidFill>
            <a:srgbClr val="3762FF"/>
          </a:solidFill>
          <a:ln w="12700">
            <a:solidFill>
              <a:srgbClr val="3762FF"/>
            </a:solidFill>
            <a:prstDash val="solid"/>
          </a:ln>
        </p:spPr>
      </p:sp>
      <p:sp>
        <p:nvSpPr>
          <p:cNvPr id="5" name="Text 3"/>
          <p:cNvSpPr txBox="1"/>
          <p:nvPr/>
        </p:nvSpPr>
        <p:spPr>
          <a:xfrm>
            <a:off x="749808" y="1847088"/>
            <a:ext cx="3191256" cy="320040"/>
          </a:xfrm>
          <a:prstGeom prst="rect">
            <a:avLst/>
          </a:prstGeom>
          <a:noFill/>
          <a:ln/>
        </p:spPr>
        <p:txBody>
          <a:bodyPr wrap="square" lIns="0" tIns="0" rIns="0" bIns="0" rtlCol="0" anchor="t"/>
          <a:lstStyle/>
          <a:p>
            <a:pPr marL="0" indent="0">
              <a:buNone/>
            </a:pPr>
            <a:r>
              <a:rPr lang="en-US" sz="1600" b="1" dirty="0">
                <a:solidFill>
                  <a:srgbClr val="FFFFFF"/>
                </a:solidFill>
                <a:latin typeface="Calibri" pitchFamily="34" charset="0"/>
                <a:ea typeface="Calibri" pitchFamily="34" charset="-122"/>
                <a:cs typeface="Calibri" pitchFamily="34" charset="-120"/>
              </a:rPr>
              <a:t>1. Beviset</a:t>
            </a:r>
            <a:endParaRPr lang="en-US" sz="1600" dirty="0"/>
          </a:p>
        </p:txBody>
      </p:sp>
      <p:sp>
        <p:nvSpPr>
          <p:cNvPr id="6" name="Text 4"/>
          <p:cNvSpPr txBox="1"/>
          <p:nvPr/>
        </p:nvSpPr>
        <p:spPr>
          <a:xfrm>
            <a:off x="749808" y="2231136"/>
            <a:ext cx="3191256" cy="813816"/>
          </a:xfrm>
          <a:prstGeom prst="rect">
            <a:avLst/>
          </a:prstGeom>
          <a:noFill/>
          <a:ln/>
        </p:spPr>
        <p:txBody>
          <a:bodyPr wrap="square" lIns="0" tIns="0" rIns="0" bIns="0" rtlCol="0" anchor="t"/>
          <a:lstStyle/>
          <a:p>
            <a:pPr marL="0" indent="0">
              <a:lnSpc>
                <a:spcPct val="115000"/>
              </a:lnSpc>
              <a:buNone/>
            </a:pPr>
            <a:r>
              <a:rPr lang="en-US" sz="1300" dirty="0">
                <a:solidFill>
                  <a:srgbClr val="FFFFFF"/>
                </a:solidFill>
                <a:latin typeface="Arial" pitchFamily="34" charset="0"/>
                <a:ea typeface="Arial" pitchFamily="34" charset="-122"/>
                <a:cs typeface="Arial" pitchFamily="34" charset="-120"/>
              </a:rPr>
              <a:t>Översiktsdashboarden - tre signaler i en vy</a:t>
            </a:r>
            <a:endParaRPr lang="en-US" sz="1300" dirty="0"/>
          </a:p>
        </p:txBody>
      </p:sp>
      <p:sp>
        <p:nvSpPr>
          <p:cNvPr id="7" name="Shape 5"/>
          <p:cNvSpPr/>
          <p:nvPr/>
        </p:nvSpPr>
        <p:spPr>
          <a:xfrm>
            <a:off x="4297680" y="1645920"/>
            <a:ext cx="3593592" cy="1554480"/>
          </a:xfrm>
          <a:prstGeom prst="roundRect">
            <a:avLst>
              <a:gd name="adj" fmla="val 3529"/>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8" name="Text 6"/>
          <p:cNvSpPr txBox="1"/>
          <p:nvPr/>
        </p:nvSpPr>
        <p:spPr>
          <a:xfrm>
            <a:off x="4498848" y="1847088"/>
            <a:ext cx="3191256" cy="320040"/>
          </a:xfrm>
          <a:prstGeom prst="rect">
            <a:avLst/>
          </a:prstGeom>
          <a:noFill/>
          <a:ln/>
        </p:spPr>
        <p:txBody>
          <a:bodyPr wrap="square" lIns="0" tIns="0" rIns="0" bIns="0" rtlCol="0" anchor="t"/>
          <a:lstStyle/>
          <a:p>
            <a:pPr marL="0" indent="0">
              <a:buNone/>
            </a:pPr>
            <a:r>
              <a:rPr lang="en-US" sz="1600" b="1" dirty="0">
                <a:solidFill>
                  <a:srgbClr val="16202B"/>
                </a:solidFill>
                <a:latin typeface="Calibri" pitchFamily="34" charset="0"/>
                <a:ea typeface="Calibri" pitchFamily="34" charset="-122"/>
                <a:cs typeface="Calibri" pitchFamily="34" charset="-120"/>
              </a:rPr>
              <a:t>2. Prometheus direkt</a:t>
            </a:r>
            <a:endParaRPr lang="en-US" sz="1600" dirty="0"/>
          </a:p>
        </p:txBody>
      </p:sp>
      <p:sp>
        <p:nvSpPr>
          <p:cNvPr id="9" name="Text 7"/>
          <p:cNvSpPr txBox="1"/>
          <p:nvPr/>
        </p:nvSpPr>
        <p:spPr>
          <a:xfrm>
            <a:off x="4498848" y="2231136"/>
            <a:ext cx="3191256" cy="813816"/>
          </a:xfrm>
          <a:prstGeom prst="rect">
            <a:avLst/>
          </a:prstGeom>
          <a:noFill/>
          <a:ln/>
        </p:spPr>
        <p:txBody>
          <a:bodyPr wrap="square" lIns="0" tIns="0" rIns="0" bIns="0" rtlCol="0" anchor="t"/>
          <a:lstStyle/>
          <a:p>
            <a:pPr marL="0" indent="0">
              <a:lnSpc>
                <a:spcPct val="115000"/>
              </a:lnSpc>
              <a:buNone/>
            </a:pPr>
            <a:r>
              <a:rPr lang="en-US" sz="1300" dirty="0">
                <a:solidFill>
                  <a:srgbClr val="4A5568"/>
                </a:solidFill>
                <a:latin typeface="Arial" pitchFamily="34" charset="0"/>
                <a:ea typeface="Arial" pitchFamily="34" charset="-122"/>
                <a:cs typeface="Arial" pitchFamily="34" charset="-120"/>
              </a:rPr>
              <a:t>PromQL steg för steg - validera innan Grafana</a:t>
            </a:r>
            <a:endParaRPr lang="en-US" sz="1300" dirty="0"/>
          </a:p>
        </p:txBody>
      </p:sp>
      <p:sp>
        <p:nvSpPr>
          <p:cNvPr id="10" name="Shape 8"/>
          <p:cNvSpPr/>
          <p:nvPr/>
        </p:nvSpPr>
        <p:spPr>
          <a:xfrm>
            <a:off x="8046720" y="1645920"/>
            <a:ext cx="3593592" cy="1554480"/>
          </a:xfrm>
          <a:prstGeom prst="roundRect">
            <a:avLst>
              <a:gd name="adj" fmla="val 3529"/>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11" name="Text 9"/>
          <p:cNvSpPr txBox="1"/>
          <p:nvPr/>
        </p:nvSpPr>
        <p:spPr>
          <a:xfrm>
            <a:off x="8247888" y="1847088"/>
            <a:ext cx="3191256" cy="320040"/>
          </a:xfrm>
          <a:prstGeom prst="rect">
            <a:avLst/>
          </a:prstGeom>
          <a:noFill/>
          <a:ln/>
        </p:spPr>
        <p:txBody>
          <a:bodyPr wrap="square" lIns="0" tIns="0" rIns="0" bIns="0" rtlCol="0" anchor="t"/>
          <a:lstStyle/>
          <a:p>
            <a:pPr marL="0" indent="0">
              <a:buNone/>
            </a:pPr>
            <a:r>
              <a:rPr lang="en-US" sz="1600" b="1" dirty="0">
                <a:solidFill>
                  <a:srgbClr val="16202B"/>
                </a:solidFill>
                <a:latin typeface="Calibri" pitchFamily="34" charset="0"/>
                <a:ea typeface="Calibri" pitchFamily="34" charset="-122"/>
                <a:cs typeface="Calibri" pitchFamily="34" charset="-120"/>
              </a:rPr>
              <a:t>3. Grafana Explore</a:t>
            </a:r>
            <a:endParaRPr lang="en-US" sz="1600" dirty="0"/>
          </a:p>
        </p:txBody>
      </p:sp>
      <p:sp>
        <p:nvSpPr>
          <p:cNvPr id="12" name="Text 10"/>
          <p:cNvSpPr txBox="1"/>
          <p:nvPr/>
        </p:nvSpPr>
        <p:spPr>
          <a:xfrm>
            <a:off x="8247888" y="2231136"/>
            <a:ext cx="3191256" cy="813816"/>
          </a:xfrm>
          <a:prstGeom prst="rect">
            <a:avLst/>
          </a:prstGeom>
          <a:noFill/>
          <a:ln/>
        </p:spPr>
        <p:txBody>
          <a:bodyPr wrap="square" lIns="0" tIns="0" rIns="0" bIns="0" rtlCol="0" anchor="t"/>
          <a:lstStyle/>
          <a:p>
            <a:pPr marL="0" indent="0">
              <a:lnSpc>
                <a:spcPct val="115000"/>
              </a:lnSpc>
              <a:buNone/>
            </a:pPr>
            <a:r>
              <a:rPr lang="en-US" sz="1300" dirty="0">
                <a:solidFill>
                  <a:srgbClr val="4A5568"/>
                </a:solidFill>
                <a:latin typeface="Arial" pitchFamily="34" charset="0"/>
                <a:ea typeface="Arial" pitchFamily="34" charset="-122"/>
                <a:cs typeface="Arial" pitchFamily="34" charset="-120"/>
              </a:rPr>
              <a:t>PromQL, LogQL och TraceQL - och kopplingarna</a:t>
            </a:r>
            <a:endParaRPr lang="en-US" sz="1300" dirty="0"/>
          </a:p>
        </p:txBody>
      </p:sp>
      <p:sp>
        <p:nvSpPr>
          <p:cNvPr id="13" name="Shape 11"/>
          <p:cNvSpPr/>
          <p:nvPr/>
        </p:nvSpPr>
        <p:spPr>
          <a:xfrm>
            <a:off x="548640" y="3429000"/>
            <a:ext cx="3593592" cy="1554480"/>
          </a:xfrm>
          <a:prstGeom prst="roundRect">
            <a:avLst>
              <a:gd name="adj" fmla="val 3529"/>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14" name="Text 12"/>
          <p:cNvSpPr txBox="1"/>
          <p:nvPr/>
        </p:nvSpPr>
        <p:spPr>
          <a:xfrm>
            <a:off x="749808" y="3630168"/>
            <a:ext cx="3191256" cy="320040"/>
          </a:xfrm>
          <a:prstGeom prst="rect">
            <a:avLst/>
          </a:prstGeom>
          <a:noFill/>
          <a:ln/>
        </p:spPr>
        <p:txBody>
          <a:bodyPr wrap="square" lIns="0" tIns="0" rIns="0" bIns="0" rtlCol="0" anchor="t"/>
          <a:lstStyle/>
          <a:p>
            <a:pPr marL="0" indent="0">
              <a:buNone/>
            </a:pPr>
            <a:r>
              <a:rPr lang="en-US" sz="1600" b="1" dirty="0">
                <a:solidFill>
                  <a:srgbClr val="16202B"/>
                </a:solidFill>
                <a:latin typeface="Calibri" pitchFamily="34" charset="0"/>
                <a:ea typeface="Calibri" pitchFamily="34" charset="-122"/>
                <a:cs typeface="Calibri" pitchFamily="34" charset="-120"/>
              </a:rPr>
              <a:t>4. Bygg en dashboard</a:t>
            </a:r>
            <a:endParaRPr lang="en-US" sz="1600" dirty="0"/>
          </a:p>
        </p:txBody>
      </p:sp>
      <p:sp>
        <p:nvSpPr>
          <p:cNvPr id="15" name="Text 13"/>
          <p:cNvSpPr txBox="1"/>
          <p:nvPr/>
        </p:nvSpPr>
        <p:spPr>
          <a:xfrm>
            <a:off x="749808" y="4014216"/>
            <a:ext cx="3191256" cy="813816"/>
          </a:xfrm>
          <a:prstGeom prst="rect">
            <a:avLst/>
          </a:prstGeom>
          <a:noFill/>
          <a:ln/>
        </p:spPr>
        <p:txBody>
          <a:bodyPr wrap="square" lIns="0" tIns="0" rIns="0" bIns="0" rtlCol="0" anchor="t"/>
          <a:lstStyle/>
          <a:p>
            <a:pPr marL="0" indent="0">
              <a:lnSpc>
                <a:spcPct val="115000"/>
              </a:lnSpc>
              <a:buNone/>
            </a:pPr>
            <a:r>
              <a:rPr lang="en-US" sz="1300" dirty="0">
                <a:solidFill>
                  <a:srgbClr val="4A5568"/>
                </a:solidFill>
                <a:latin typeface="Arial" pitchFamily="34" charset="0"/>
                <a:ea typeface="Arial" pitchFamily="34" charset="-122"/>
                <a:cs typeface="Arial" pitchFamily="34" charset="-120"/>
              </a:rPr>
              <a:t>Panel för panel, variabler, export som kod</a:t>
            </a:r>
            <a:endParaRPr lang="en-US" sz="1300" dirty="0"/>
          </a:p>
        </p:txBody>
      </p:sp>
      <p:sp>
        <p:nvSpPr>
          <p:cNvPr id="16" name="Shape 14"/>
          <p:cNvSpPr/>
          <p:nvPr/>
        </p:nvSpPr>
        <p:spPr>
          <a:xfrm>
            <a:off x="4297680" y="3429000"/>
            <a:ext cx="3593592" cy="1554480"/>
          </a:xfrm>
          <a:prstGeom prst="roundRect">
            <a:avLst>
              <a:gd name="adj" fmla="val 3529"/>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17" name="Text 15"/>
          <p:cNvSpPr txBox="1"/>
          <p:nvPr/>
        </p:nvSpPr>
        <p:spPr>
          <a:xfrm>
            <a:off x="4498848" y="3630168"/>
            <a:ext cx="3191256" cy="320040"/>
          </a:xfrm>
          <a:prstGeom prst="rect">
            <a:avLst/>
          </a:prstGeom>
          <a:noFill/>
          <a:ln/>
        </p:spPr>
        <p:txBody>
          <a:bodyPr wrap="square" lIns="0" tIns="0" rIns="0" bIns="0" rtlCol="0" anchor="t"/>
          <a:lstStyle/>
          <a:p>
            <a:pPr marL="0" indent="0">
              <a:buNone/>
            </a:pPr>
            <a:r>
              <a:rPr lang="en-US" sz="1600" b="1" dirty="0">
                <a:solidFill>
                  <a:srgbClr val="16202B"/>
                </a:solidFill>
                <a:latin typeface="Calibri" pitchFamily="34" charset="0"/>
                <a:ea typeface="Calibri" pitchFamily="34" charset="-122"/>
                <a:cs typeface="Calibri" pitchFamily="34" charset="-120"/>
              </a:rPr>
              <a:t>5. Fler mätpunkter</a:t>
            </a:r>
            <a:endParaRPr lang="en-US" sz="1600" dirty="0"/>
          </a:p>
        </p:txBody>
      </p:sp>
      <p:sp>
        <p:nvSpPr>
          <p:cNvPr id="18" name="Text 16"/>
          <p:cNvSpPr txBox="1"/>
          <p:nvPr/>
        </p:nvSpPr>
        <p:spPr>
          <a:xfrm>
            <a:off x="4498848" y="4014216"/>
            <a:ext cx="3191256" cy="813816"/>
          </a:xfrm>
          <a:prstGeom prst="rect">
            <a:avLst/>
          </a:prstGeom>
          <a:noFill/>
          <a:ln/>
        </p:spPr>
        <p:txBody>
          <a:bodyPr wrap="square" lIns="0" tIns="0" rIns="0" bIns="0" rtlCol="0" anchor="t"/>
          <a:lstStyle/>
          <a:p>
            <a:pPr marL="0" indent="0">
              <a:lnSpc>
                <a:spcPct val="115000"/>
              </a:lnSpc>
              <a:buNone/>
            </a:pPr>
            <a:r>
              <a:rPr lang="en-US" sz="1300" dirty="0">
                <a:solidFill>
                  <a:srgbClr val="4A5568"/>
                </a:solidFill>
                <a:latin typeface="Arial" pitchFamily="34" charset="0"/>
                <a:ea typeface="Arial" pitchFamily="34" charset="-122"/>
                <a:cs typeface="Arial" pitchFamily="34" charset="-120"/>
              </a:rPr>
              <a:t>Counter, Histogram, Gauge och exemplars i koden</a:t>
            </a:r>
            <a:endParaRPr lang="en-US" sz="1300" dirty="0"/>
          </a:p>
        </p:txBody>
      </p:sp>
      <p:sp>
        <p:nvSpPr>
          <p:cNvPr id="19" name="Shape 17"/>
          <p:cNvSpPr/>
          <p:nvPr/>
        </p:nvSpPr>
        <p:spPr>
          <a:xfrm>
            <a:off x="8046720" y="3429000"/>
            <a:ext cx="3593592" cy="1554480"/>
          </a:xfrm>
          <a:prstGeom prst="roundRect">
            <a:avLst>
              <a:gd name="adj" fmla="val 3529"/>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20" name="Text 18"/>
          <p:cNvSpPr txBox="1"/>
          <p:nvPr/>
        </p:nvSpPr>
        <p:spPr>
          <a:xfrm>
            <a:off x="8247888" y="3630168"/>
            <a:ext cx="3191256" cy="320040"/>
          </a:xfrm>
          <a:prstGeom prst="rect">
            <a:avLst/>
          </a:prstGeom>
          <a:noFill/>
          <a:ln/>
        </p:spPr>
        <p:txBody>
          <a:bodyPr wrap="square" lIns="0" tIns="0" rIns="0" bIns="0" rtlCol="0" anchor="t"/>
          <a:lstStyle/>
          <a:p>
            <a:pPr marL="0" indent="0">
              <a:buNone/>
            </a:pPr>
            <a:r>
              <a:rPr lang="en-US" sz="1600" b="1" dirty="0">
                <a:solidFill>
                  <a:srgbClr val="16202B"/>
                </a:solidFill>
                <a:latin typeface="Calibri" pitchFamily="34" charset="0"/>
                <a:ea typeface="Calibri" pitchFamily="34" charset="-122"/>
                <a:cs typeface="Calibri" pitchFamily="34" charset="-120"/>
              </a:rPr>
              <a:t>6. CQRS i verkligheten</a:t>
            </a:r>
            <a:endParaRPr lang="en-US" sz="1600" dirty="0"/>
          </a:p>
        </p:txBody>
      </p:sp>
      <p:sp>
        <p:nvSpPr>
          <p:cNvPr id="21" name="Text 19"/>
          <p:cNvSpPr txBox="1"/>
          <p:nvPr/>
        </p:nvSpPr>
        <p:spPr>
          <a:xfrm>
            <a:off x="8247888" y="4014216"/>
            <a:ext cx="3191256" cy="813816"/>
          </a:xfrm>
          <a:prstGeom prst="rect">
            <a:avLst/>
          </a:prstGeom>
          <a:noFill/>
          <a:ln/>
        </p:spPr>
        <p:txBody>
          <a:bodyPr wrap="square" lIns="0" tIns="0" rIns="0" bIns="0" rtlCol="0" anchor="t"/>
          <a:lstStyle/>
          <a:p>
            <a:pPr marL="0" indent="0">
              <a:lnSpc>
                <a:spcPct val="115000"/>
              </a:lnSpc>
              <a:buNone/>
            </a:pPr>
            <a:r>
              <a:rPr lang="en-US" sz="1300" dirty="0">
                <a:solidFill>
                  <a:srgbClr val="4A5568"/>
                </a:solidFill>
                <a:latin typeface="Arial" pitchFamily="34" charset="0"/>
                <a:ea typeface="Arial" pitchFamily="34" charset="-122"/>
                <a:cs typeface="Arial" pitchFamily="34" charset="-120"/>
              </a:rPr>
              <a:t>En trace genom NATS-kön - och kö-tiden i siffror</a:t>
            </a:r>
            <a:endParaRPr lang="en-US" sz="1300" dirty="0"/>
          </a:p>
        </p:txBody>
      </p:sp>
      <p:sp>
        <p:nvSpPr>
          <p:cNvPr id="22" name="Text 20"/>
          <p:cNvSpPr txBox="1"/>
          <p:nvPr/>
        </p:nvSpPr>
        <p:spPr>
          <a:xfrm>
            <a:off x="548640" y="5440680"/>
            <a:ext cx="11094415" cy="548640"/>
          </a:xfrm>
          <a:prstGeom prst="rect">
            <a:avLst/>
          </a:prstGeom>
          <a:noFill/>
          <a:ln/>
        </p:spPr>
        <p:txBody>
          <a:bodyPr wrap="square" lIns="0" tIns="0" rIns="0" bIns="0" rtlCol="0" anchor="t"/>
          <a:lstStyle/>
          <a:p>
            <a:pPr marL="0" indent="0">
              <a:lnSpc>
                <a:spcPct val="120000"/>
              </a:lnSpc>
              <a:buNone/>
            </a:pPr>
            <a:r>
              <a:rPr lang="en-US" sz="1400" dirty="0">
                <a:solidFill>
                  <a:srgbClr val="4A5568"/>
                </a:solidFill>
                <a:latin typeface="Arial" pitchFamily="34" charset="0"/>
                <a:ea typeface="Arial" pitchFamily="34" charset="-122"/>
                <a:cs typeface="Arial" pitchFamily="34" charset="-120"/>
              </a:rPr>
              <a:t>Vi börjar med det färdiga resultatet och plockar sedan isär det. Del 4 gör alla tillsammans i sin egen Grafana.</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F33"/>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marL="0" indent="0">
              <a:buNone/>
            </a:pPr>
            <a:r>
              <a:rPr lang="en-US" sz="1200" b="1" kern="0" spc="200" dirty="0">
                <a:solidFill>
                  <a:srgbClr val="7C9CFF"/>
                </a:solidFill>
                <a:latin typeface="Arial" pitchFamily="34" charset="0"/>
                <a:ea typeface="Arial" pitchFamily="34" charset="-122"/>
                <a:cs typeface="Arial" pitchFamily="34" charset="-120"/>
              </a:rPr>
              <a:t>MÅLBILD</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marL="0" indent="0">
              <a:buNone/>
            </a:pPr>
            <a:r>
              <a:rPr lang="en-US" sz="3000" b="1" dirty="0">
                <a:solidFill>
                  <a:srgbClr val="F5F7FA"/>
                </a:solidFill>
                <a:latin typeface="Calibri" pitchFamily="34" charset="0"/>
                <a:ea typeface="Calibri" pitchFamily="34" charset="-122"/>
                <a:cs typeface="Calibri" pitchFamily="34" charset="-120"/>
              </a:rPr>
              <a:t>När ni går hem ikväll kan ni…</a:t>
            </a:r>
            <a:endParaRPr lang="en-US" sz="3000" dirty="0"/>
          </a:p>
        </p:txBody>
      </p:sp>
      <p:sp>
        <p:nvSpPr>
          <p:cNvPr id="4" name="Shape 2"/>
          <p:cNvSpPr/>
          <p:nvPr/>
        </p:nvSpPr>
        <p:spPr>
          <a:xfrm>
            <a:off x="548640" y="1737360"/>
            <a:ext cx="2651760" cy="2103120"/>
          </a:xfrm>
          <a:prstGeom prst="roundRect">
            <a:avLst>
              <a:gd name="adj" fmla="val 2609"/>
            </a:avLst>
          </a:prstGeom>
          <a:solidFill>
            <a:srgbClr val="16294A"/>
          </a:solidFill>
          <a:ln w="12700">
            <a:solidFill>
              <a:srgbClr val="16294A"/>
            </a:solidFill>
            <a:prstDash val="solid"/>
          </a:ln>
        </p:spPr>
      </p:sp>
      <p:sp>
        <p:nvSpPr>
          <p:cNvPr id="5" name="Text 3"/>
          <p:cNvSpPr txBox="1"/>
          <p:nvPr/>
        </p:nvSpPr>
        <p:spPr>
          <a:xfrm>
            <a:off x="749808" y="1938528"/>
            <a:ext cx="2249424" cy="274320"/>
          </a:xfrm>
          <a:prstGeom prst="rect">
            <a:avLst/>
          </a:prstGeom>
          <a:noFill/>
          <a:ln/>
        </p:spPr>
        <p:txBody>
          <a:bodyPr wrap="square" lIns="0" tIns="0" rIns="0" bIns="0" rtlCol="0" anchor="ctr"/>
          <a:lstStyle/>
          <a:p>
            <a:pPr marL="0" indent="0">
              <a:buNone/>
            </a:pPr>
            <a:r>
              <a:rPr lang="en-US" sz="1100" b="1" kern="0" spc="200" dirty="0">
                <a:solidFill>
                  <a:srgbClr val="7C9CFF"/>
                </a:solidFill>
                <a:latin typeface="Arial" pitchFamily="34" charset="0"/>
                <a:ea typeface="Arial" pitchFamily="34" charset="-122"/>
                <a:cs typeface="Arial" pitchFamily="34" charset="-120"/>
              </a:rPr>
              <a:t>01</a:t>
            </a:r>
            <a:endParaRPr lang="en-US" sz="1100" dirty="0"/>
          </a:p>
        </p:txBody>
      </p:sp>
      <p:sp>
        <p:nvSpPr>
          <p:cNvPr id="6" name="Text 4"/>
          <p:cNvSpPr txBox="1"/>
          <p:nvPr/>
        </p:nvSpPr>
        <p:spPr>
          <a:xfrm>
            <a:off x="749808" y="2231136"/>
            <a:ext cx="2249424" cy="320040"/>
          </a:xfrm>
          <a:prstGeom prst="rect">
            <a:avLst/>
          </a:prstGeom>
          <a:noFill/>
          <a:ln/>
        </p:spPr>
        <p:txBody>
          <a:bodyPr wrap="square" lIns="0" tIns="0" rIns="0" bIns="0" rtlCol="0" anchor="t"/>
          <a:lstStyle/>
          <a:p>
            <a:pPr marL="0" indent="0">
              <a:buNone/>
            </a:pPr>
            <a:r>
              <a:rPr lang="en-US" sz="1600" b="1" dirty="0">
                <a:solidFill>
                  <a:srgbClr val="F5F7FA"/>
                </a:solidFill>
                <a:latin typeface="Calibri" pitchFamily="34" charset="0"/>
                <a:ea typeface="Calibri" pitchFamily="34" charset="-122"/>
                <a:cs typeface="Calibri" pitchFamily="34" charset="-120"/>
              </a:rPr>
              <a:t>Läsa systemet</a:t>
            </a:r>
            <a:endParaRPr lang="en-US" sz="1600" dirty="0"/>
          </a:p>
        </p:txBody>
      </p:sp>
      <p:sp>
        <p:nvSpPr>
          <p:cNvPr id="7" name="Text 5"/>
          <p:cNvSpPr txBox="1"/>
          <p:nvPr/>
        </p:nvSpPr>
        <p:spPr>
          <a:xfrm>
            <a:off x="749808" y="2615184"/>
            <a:ext cx="2249424" cy="1069848"/>
          </a:xfrm>
          <a:prstGeom prst="rect">
            <a:avLst/>
          </a:prstGeom>
          <a:noFill/>
          <a:ln/>
        </p:spPr>
        <p:txBody>
          <a:bodyPr wrap="square" lIns="0" tIns="0" rIns="0" bIns="0" rtlCol="0" anchor="t"/>
          <a:lstStyle/>
          <a:p>
            <a:pPr marL="0" indent="0">
              <a:lnSpc>
                <a:spcPct val="115000"/>
              </a:lnSpc>
              <a:buNone/>
            </a:pPr>
            <a:r>
              <a:rPr lang="en-US" sz="1300" dirty="0">
                <a:solidFill>
                  <a:srgbClr val="B9C4D1"/>
                </a:solidFill>
                <a:latin typeface="Arial" pitchFamily="34" charset="0"/>
                <a:ea typeface="Arial" pitchFamily="34" charset="-122"/>
                <a:cs typeface="Arial" pitchFamily="34" charset="-120"/>
              </a:rPr>
              <a:t>Se hälsa, fel och svarstider i översiktsdashboarden</a:t>
            </a:r>
            <a:endParaRPr lang="en-US" sz="1300" dirty="0"/>
          </a:p>
        </p:txBody>
      </p:sp>
      <p:sp>
        <p:nvSpPr>
          <p:cNvPr id="8" name="Shape 6"/>
          <p:cNvSpPr/>
          <p:nvPr/>
        </p:nvSpPr>
        <p:spPr>
          <a:xfrm>
            <a:off x="3362249" y="1737360"/>
            <a:ext cx="2651760" cy="2103120"/>
          </a:xfrm>
          <a:prstGeom prst="roundRect">
            <a:avLst>
              <a:gd name="adj" fmla="val 2609"/>
            </a:avLst>
          </a:prstGeom>
          <a:solidFill>
            <a:srgbClr val="16294A"/>
          </a:solidFill>
          <a:ln w="12700">
            <a:solidFill>
              <a:srgbClr val="16294A"/>
            </a:solidFill>
            <a:prstDash val="solid"/>
          </a:ln>
        </p:spPr>
      </p:sp>
      <p:sp>
        <p:nvSpPr>
          <p:cNvPr id="9" name="Text 7"/>
          <p:cNvSpPr txBox="1"/>
          <p:nvPr/>
        </p:nvSpPr>
        <p:spPr>
          <a:xfrm>
            <a:off x="3563417" y="1938528"/>
            <a:ext cx="2249424" cy="274320"/>
          </a:xfrm>
          <a:prstGeom prst="rect">
            <a:avLst/>
          </a:prstGeom>
          <a:noFill/>
          <a:ln/>
        </p:spPr>
        <p:txBody>
          <a:bodyPr wrap="square" lIns="0" tIns="0" rIns="0" bIns="0" rtlCol="0" anchor="ctr"/>
          <a:lstStyle/>
          <a:p>
            <a:pPr marL="0" indent="0">
              <a:buNone/>
            </a:pPr>
            <a:r>
              <a:rPr lang="en-US" sz="1100" b="1" kern="0" spc="200" dirty="0">
                <a:solidFill>
                  <a:srgbClr val="7C9CFF"/>
                </a:solidFill>
                <a:latin typeface="Arial" pitchFamily="34" charset="0"/>
                <a:ea typeface="Arial" pitchFamily="34" charset="-122"/>
                <a:cs typeface="Arial" pitchFamily="34" charset="-120"/>
              </a:rPr>
              <a:t>02</a:t>
            </a:r>
            <a:endParaRPr lang="en-US" sz="1100" dirty="0"/>
          </a:p>
        </p:txBody>
      </p:sp>
      <p:sp>
        <p:nvSpPr>
          <p:cNvPr id="10" name="Text 8"/>
          <p:cNvSpPr txBox="1"/>
          <p:nvPr/>
        </p:nvSpPr>
        <p:spPr>
          <a:xfrm>
            <a:off x="3563417" y="2231136"/>
            <a:ext cx="2249424" cy="320040"/>
          </a:xfrm>
          <a:prstGeom prst="rect">
            <a:avLst/>
          </a:prstGeom>
          <a:noFill/>
          <a:ln/>
        </p:spPr>
        <p:txBody>
          <a:bodyPr wrap="square" lIns="0" tIns="0" rIns="0" bIns="0" rtlCol="0" anchor="t"/>
          <a:lstStyle/>
          <a:p>
            <a:pPr marL="0" indent="0">
              <a:buNone/>
            </a:pPr>
            <a:r>
              <a:rPr lang="en-US" sz="1600" b="1" dirty="0">
                <a:solidFill>
                  <a:srgbClr val="F5F7FA"/>
                </a:solidFill>
                <a:latin typeface="Calibri" pitchFamily="34" charset="0"/>
                <a:ea typeface="Calibri" pitchFamily="34" charset="-122"/>
                <a:cs typeface="Calibri" pitchFamily="34" charset="-120"/>
              </a:rPr>
              <a:t>Fråga Prometheus</a:t>
            </a:r>
            <a:endParaRPr lang="en-US" sz="1600" dirty="0"/>
          </a:p>
        </p:txBody>
      </p:sp>
      <p:sp>
        <p:nvSpPr>
          <p:cNvPr id="11" name="Text 9"/>
          <p:cNvSpPr txBox="1"/>
          <p:nvPr/>
        </p:nvSpPr>
        <p:spPr>
          <a:xfrm>
            <a:off x="3563417" y="2615184"/>
            <a:ext cx="2249424" cy="1069848"/>
          </a:xfrm>
          <a:prstGeom prst="rect">
            <a:avLst/>
          </a:prstGeom>
          <a:noFill/>
          <a:ln/>
        </p:spPr>
        <p:txBody>
          <a:bodyPr wrap="square" lIns="0" tIns="0" rIns="0" bIns="0" rtlCol="0" anchor="t"/>
          <a:lstStyle/>
          <a:p>
            <a:pPr marL="0" indent="0">
              <a:lnSpc>
                <a:spcPct val="115000"/>
              </a:lnSpc>
              <a:buNone/>
            </a:pPr>
            <a:r>
              <a:rPr lang="en-US" sz="1300" dirty="0">
                <a:solidFill>
                  <a:srgbClr val="B9C4D1"/>
                </a:solidFill>
                <a:latin typeface="Arial" pitchFamily="34" charset="0"/>
                <a:ea typeface="Arial" pitchFamily="34" charset="-122"/>
                <a:cs typeface="Arial" pitchFamily="34" charset="-120"/>
              </a:rPr>
              <a:t>Skriva och validera PromQL innan den hamnar i Grafana</a:t>
            </a:r>
            <a:endParaRPr lang="en-US" sz="1300" dirty="0"/>
          </a:p>
        </p:txBody>
      </p:sp>
      <p:sp>
        <p:nvSpPr>
          <p:cNvPr id="12" name="Shape 10"/>
          <p:cNvSpPr/>
          <p:nvPr/>
        </p:nvSpPr>
        <p:spPr>
          <a:xfrm>
            <a:off x="6175858" y="1737360"/>
            <a:ext cx="2651760" cy="2103120"/>
          </a:xfrm>
          <a:prstGeom prst="roundRect">
            <a:avLst>
              <a:gd name="adj" fmla="val 2609"/>
            </a:avLst>
          </a:prstGeom>
          <a:solidFill>
            <a:srgbClr val="16294A"/>
          </a:solidFill>
          <a:ln w="12700">
            <a:solidFill>
              <a:srgbClr val="16294A"/>
            </a:solidFill>
            <a:prstDash val="solid"/>
          </a:ln>
        </p:spPr>
      </p:sp>
      <p:sp>
        <p:nvSpPr>
          <p:cNvPr id="13" name="Text 11"/>
          <p:cNvSpPr txBox="1"/>
          <p:nvPr/>
        </p:nvSpPr>
        <p:spPr>
          <a:xfrm>
            <a:off x="6377026" y="1938528"/>
            <a:ext cx="2249424" cy="274320"/>
          </a:xfrm>
          <a:prstGeom prst="rect">
            <a:avLst/>
          </a:prstGeom>
          <a:noFill/>
          <a:ln/>
        </p:spPr>
        <p:txBody>
          <a:bodyPr wrap="square" lIns="0" tIns="0" rIns="0" bIns="0" rtlCol="0" anchor="ctr"/>
          <a:lstStyle/>
          <a:p>
            <a:pPr marL="0" indent="0">
              <a:buNone/>
            </a:pPr>
            <a:r>
              <a:rPr lang="en-US" sz="1100" b="1" kern="0" spc="200" dirty="0">
                <a:solidFill>
                  <a:srgbClr val="7C9CFF"/>
                </a:solidFill>
                <a:latin typeface="Arial" pitchFamily="34" charset="0"/>
                <a:ea typeface="Arial" pitchFamily="34" charset="-122"/>
                <a:cs typeface="Arial" pitchFamily="34" charset="-120"/>
              </a:rPr>
              <a:t>03</a:t>
            </a:r>
            <a:endParaRPr lang="en-US" sz="1100" dirty="0"/>
          </a:p>
        </p:txBody>
      </p:sp>
      <p:sp>
        <p:nvSpPr>
          <p:cNvPr id="14" name="Text 12"/>
          <p:cNvSpPr txBox="1"/>
          <p:nvPr/>
        </p:nvSpPr>
        <p:spPr>
          <a:xfrm>
            <a:off x="6377026" y="2231136"/>
            <a:ext cx="2249424" cy="320040"/>
          </a:xfrm>
          <a:prstGeom prst="rect">
            <a:avLst/>
          </a:prstGeom>
          <a:noFill/>
          <a:ln/>
        </p:spPr>
        <p:txBody>
          <a:bodyPr wrap="square" lIns="0" tIns="0" rIns="0" bIns="0" rtlCol="0" anchor="t"/>
          <a:lstStyle/>
          <a:p>
            <a:pPr marL="0" indent="0">
              <a:buNone/>
            </a:pPr>
            <a:r>
              <a:rPr lang="en-US" sz="1600" b="1" dirty="0">
                <a:solidFill>
                  <a:srgbClr val="F5F7FA"/>
                </a:solidFill>
                <a:latin typeface="Calibri" pitchFamily="34" charset="0"/>
                <a:ea typeface="Calibri" pitchFamily="34" charset="-122"/>
                <a:cs typeface="Calibri" pitchFamily="34" charset="-120"/>
              </a:rPr>
              <a:t>Bygga en dashboard</a:t>
            </a:r>
            <a:endParaRPr lang="en-US" sz="1600" dirty="0"/>
          </a:p>
        </p:txBody>
      </p:sp>
      <p:sp>
        <p:nvSpPr>
          <p:cNvPr id="15" name="Text 13"/>
          <p:cNvSpPr txBox="1"/>
          <p:nvPr/>
        </p:nvSpPr>
        <p:spPr>
          <a:xfrm>
            <a:off x="6377026" y="2615184"/>
            <a:ext cx="2249424" cy="1069848"/>
          </a:xfrm>
          <a:prstGeom prst="rect">
            <a:avLst/>
          </a:prstGeom>
          <a:noFill/>
          <a:ln/>
        </p:spPr>
        <p:txBody>
          <a:bodyPr wrap="square" lIns="0" tIns="0" rIns="0" bIns="0" rtlCol="0" anchor="t"/>
          <a:lstStyle/>
          <a:p>
            <a:pPr marL="0" indent="0">
              <a:lnSpc>
                <a:spcPct val="115000"/>
              </a:lnSpc>
              <a:buNone/>
            </a:pPr>
            <a:r>
              <a:rPr lang="en-US" sz="1300" dirty="0">
                <a:solidFill>
                  <a:srgbClr val="B9C4D1"/>
                </a:solidFill>
                <a:latin typeface="Arial" pitchFamily="34" charset="0"/>
                <a:ea typeface="Arial" pitchFamily="34" charset="-122"/>
                <a:cs typeface="Arial" pitchFamily="34" charset="-120"/>
              </a:rPr>
              <a:t>Paneler, variabler och export som kod till klustret</a:t>
            </a:r>
            <a:endParaRPr lang="en-US" sz="1300" dirty="0"/>
          </a:p>
        </p:txBody>
      </p:sp>
      <p:sp>
        <p:nvSpPr>
          <p:cNvPr id="16" name="Shape 14"/>
          <p:cNvSpPr/>
          <p:nvPr/>
        </p:nvSpPr>
        <p:spPr>
          <a:xfrm>
            <a:off x="8989466" y="1737360"/>
            <a:ext cx="2651760" cy="2103120"/>
          </a:xfrm>
          <a:prstGeom prst="roundRect">
            <a:avLst>
              <a:gd name="adj" fmla="val 2609"/>
            </a:avLst>
          </a:prstGeom>
          <a:solidFill>
            <a:srgbClr val="3762FF"/>
          </a:solidFill>
          <a:ln w="12700">
            <a:solidFill>
              <a:srgbClr val="3762FF"/>
            </a:solidFill>
            <a:prstDash val="solid"/>
          </a:ln>
        </p:spPr>
      </p:sp>
      <p:sp>
        <p:nvSpPr>
          <p:cNvPr id="17" name="Text 15"/>
          <p:cNvSpPr txBox="1"/>
          <p:nvPr/>
        </p:nvSpPr>
        <p:spPr>
          <a:xfrm>
            <a:off x="9190634" y="1938528"/>
            <a:ext cx="2249424" cy="274320"/>
          </a:xfrm>
          <a:prstGeom prst="rect">
            <a:avLst/>
          </a:prstGeom>
          <a:noFill/>
          <a:ln/>
        </p:spPr>
        <p:txBody>
          <a:bodyPr wrap="square" lIns="0" tIns="0" rIns="0" bIns="0" rtlCol="0" anchor="ctr"/>
          <a:lstStyle/>
          <a:p>
            <a:pPr marL="0" indent="0">
              <a:buNone/>
            </a:pPr>
            <a:r>
              <a:rPr lang="en-US" sz="1100" b="1" kern="0" spc="200" dirty="0">
                <a:solidFill>
                  <a:srgbClr val="FFFFFF"/>
                </a:solidFill>
                <a:latin typeface="Arial" pitchFamily="34" charset="0"/>
                <a:ea typeface="Arial" pitchFamily="34" charset="-122"/>
                <a:cs typeface="Arial" pitchFamily="34" charset="-120"/>
              </a:rPr>
              <a:t>04</a:t>
            </a:r>
            <a:endParaRPr lang="en-US" sz="1100" dirty="0"/>
          </a:p>
        </p:txBody>
      </p:sp>
      <p:sp>
        <p:nvSpPr>
          <p:cNvPr id="18" name="Text 16"/>
          <p:cNvSpPr txBox="1"/>
          <p:nvPr/>
        </p:nvSpPr>
        <p:spPr>
          <a:xfrm>
            <a:off x="9190634" y="2231136"/>
            <a:ext cx="2249424" cy="320040"/>
          </a:xfrm>
          <a:prstGeom prst="rect">
            <a:avLst/>
          </a:prstGeom>
          <a:noFill/>
          <a:ln/>
        </p:spPr>
        <p:txBody>
          <a:bodyPr wrap="square" lIns="0" tIns="0" rIns="0" bIns="0" rtlCol="0" anchor="t"/>
          <a:lstStyle/>
          <a:p>
            <a:pPr marL="0" indent="0">
              <a:buNone/>
            </a:pPr>
            <a:r>
              <a:rPr lang="en-US" sz="1600" b="1" dirty="0">
                <a:solidFill>
                  <a:srgbClr val="FFFFFF"/>
                </a:solidFill>
                <a:latin typeface="Calibri" pitchFamily="34" charset="0"/>
                <a:ea typeface="Calibri" pitchFamily="34" charset="-122"/>
                <a:cs typeface="Calibri" pitchFamily="34" charset="-120"/>
              </a:rPr>
              <a:t>Följa ett anrop</a:t>
            </a:r>
            <a:endParaRPr lang="en-US" sz="1600" dirty="0"/>
          </a:p>
        </p:txBody>
      </p:sp>
      <p:sp>
        <p:nvSpPr>
          <p:cNvPr id="19" name="Text 17"/>
          <p:cNvSpPr txBox="1"/>
          <p:nvPr/>
        </p:nvSpPr>
        <p:spPr>
          <a:xfrm>
            <a:off x="9190634" y="2615184"/>
            <a:ext cx="2249424" cy="1069848"/>
          </a:xfrm>
          <a:prstGeom prst="rect">
            <a:avLst/>
          </a:prstGeom>
          <a:noFill/>
          <a:ln/>
        </p:spPr>
        <p:txBody>
          <a:bodyPr wrap="square" lIns="0" tIns="0" rIns="0" bIns="0" rtlCol="0" anchor="t"/>
          <a:lstStyle/>
          <a:p>
            <a:pPr marL="0" indent="0">
              <a:lnSpc>
                <a:spcPct val="115000"/>
              </a:lnSpc>
              <a:buNone/>
            </a:pPr>
            <a:r>
              <a:rPr lang="en-US" sz="1300" dirty="0">
                <a:solidFill>
                  <a:srgbClr val="FFFFFF"/>
                </a:solidFill>
                <a:latin typeface="Arial" pitchFamily="34" charset="0"/>
                <a:ea typeface="Arial" pitchFamily="34" charset="-122"/>
                <a:cs typeface="Arial" pitchFamily="34" charset="-120"/>
              </a:rPr>
              <a:t>Från en prick i en graf till trace och logg - även genom NATS</a:t>
            </a:r>
            <a:endParaRPr lang="en-US" sz="1300" dirty="0"/>
          </a:p>
        </p:txBody>
      </p:sp>
      <p:sp>
        <p:nvSpPr>
          <p:cNvPr id="20" name="Text 18"/>
          <p:cNvSpPr txBox="1"/>
          <p:nvPr/>
        </p:nvSpPr>
        <p:spPr>
          <a:xfrm>
            <a:off x="548640" y="4297680"/>
            <a:ext cx="10515600" cy="548640"/>
          </a:xfrm>
          <a:prstGeom prst="rect">
            <a:avLst/>
          </a:prstGeom>
          <a:noFill/>
          <a:ln/>
        </p:spPr>
        <p:txBody>
          <a:bodyPr wrap="square" lIns="0" tIns="0" rIns="0" bIns="0" rtlCol="0" anchor="t"/>
          <a:lstStyle/>
          <a:p>
            <a:pPr marL="0" indent="0">
              <a:lnSpc>
                <a:spcPct val="120000"/>
              </a:lnSpc>
              <a:buNone/>
            </a:pPr>
            <a:r>
              <a:rPr lang="en-US" sz="1600" dirty="0">
                <a:solidFill>
                  <a:srgbClr val="B9C4D1"/>
                </a:solidFill>
                <a:latin typeface="Arial" pitchFamily="34" charset="0"/>
                <a:ea typeface="Arial" pitchFamily="34" charset="-122"/>
                <a:cs typeface="Arial" pitchFamily="34" charset="-120"/>
              </a:rPr>
              <a:t>Den markerade rutan är poängen med telemetri: från "något är långsamt" till exakt vilket anrop och varför - på under en minut.</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F33"/>
        </a:solidFill>
        <a:effectLst/>
      </p:bgPr>
    </p:bg>
    <p:spTree>
      <p:nvGrpSpPr>
        <p:cNvPr id="1" name=""/>
        <p:cNvGrpSpPr/>
        <p:nvPr/>
      </p:nvGrpSpPr>
      <p:grpSpPr>
        <a:xfrm>
          <a:off x="0" y="0"/>
          <a:ext cx="0" cy="0"/>
          <a:chOff x="0" y="0"/>
          <a:chExt cx="0" cy="0"/>
        </a:xfrm>
      </p:grpSpPr>
      <p:sp>
        <p:nvSpPr>
          <p:cNvPr id="2" name="Text 0"/>
          <p:cNvSpPr txBox="1"/>
          <p:nvPr/>
        </p:nvSpPr>
        <p:spPr>
          <a:xfrm>
            <a:off x="502920" y="1188720"/>
            <a:ext cx="4572000" cy="1920240"/>
          </a:xfrm>
          <a:prstGeom prst="rect">
            <a:avLst/>
          </a:prstGeom>
          <a:noFill/>
          <a:ln/>
        </p:spPr>
        <p:txBody>
          <a:bodyPr wrap="square" lIns="0" tIns="0" rIns="0" bIns="0" rtlCol="0" anchor="ctr"/>
          <a:lstStyle/>
          <a:p>
            <a:pPr marL="0" indent="0">
              <a:buNone/>
            </a:pPr>
            <a:r>
              <a:rPr lang="en-US" sz="15000" b="1" dirty="0">
                <a:solidFill>
                  <a:srgbClr val="16294A"/>
                </a:solidFill>
                <a:latin typeface="Calibri" pitchFamily="34" charset="0"/>
                <a:ea typeface="Calibri" pitchFamily="34" charset="-122"/>
                <a:cs typeface="Calibri" pitchFamily="34" charset="-120"/>
              </a:rPr>
              <a:t>01</a:t>
            </a:r>
            <a:endParaRPr lang="en-US" sz="15000" dirty="0"/>
          </a:p>
        </p:txBody>
      </p:sp>
      <p:sp>
        <p:nvSpPr>
          <p:cNvPr id="3" name="Text 1"/>
          <p:cNvSpPr txBox="1"/>
          <p:nvPr/>
        </p:nvSpPr>
        <p:spPr>
          <a:xfrm>
            <a:off x="548640" y="3063240"/>
            <a:ext cx="11094415" cy="822960"/>
          </a:xfrm>
          <a:prstGeom prst="rect">
            <a:avLst/>
          </a:prstGeom>
          <a:noFill/>
          <a:ln/>
        </p:spPr>
        <p:txBody>
          <a:bodyPr wrap="square" lIns="0" tIns="0" rIns="0" bIns="0" rtlCol="0" anchor="ctr"/>
          <a:lstStyle/>
          <a:p>
            <a:pPr marL="0" indent="0">
              <a:buNone/>
            </a:pPr>
            <a:r>
              <a:rPr lang="en-US" sz="5200" b="1" dirty="0">
                <a:solidFill>
                  <a:srgbClr val="F5F7FA"/>
                </a:solidFill>
                <a:latin typeface="Calibri" pitchFamily="34" charset="0"/>
                <a:ea typeface="Calibri" pitchFamily="34" charset="-122"/>
                <a:cs typeface="Calibri" pitchFamily="34" charset="-120"/>
              </a:rPr>
              <a:t>Beviset</a:t>
            </a:r>
            <a:endParaRPr lang="en-US" sz="5200" dirty="0"/>
          </a:p>
        </p:txBody>
      </p:sp>
      <p:sp>
        <p:nvSpPr>
          <p:cNvPr id="4" name="Text 2"/>
          <p:cNvSpPr txBox="1"/>
          <p:nvPr/>
        </p:nvSpPr>
        <p:spPr>
          <a:xfrm>
            <a:off x="548640" y="3977640"/>
            <a:ext cx="9144000" cy="457200"/>
          </a:xfrm>
          <a:prstGeom prst="rect">
            <a:avLst/>
          </a:prstGeom>
          <a:noFill/>
          <a:ln/>
        </p:spPr>
        <p:txBody>
          <a:bodyPr wrap="square" lIns="0" tIns="0" rIns="0" bIns="0" rtlCol="0" anchor="t"/>
          <a:lstStyle/>
          <a:p>
            <a:pPr marL="0" indent="0">
              <a:lnSpc>
                <a:spcPct val="120000"/>
              </a:lnSpc>
              <a:buNone/>
            </a:pPr>
            <a:r>
              <a:rPr lang="en-US" sz="1800" dirty="0">
                <a:solidFill>
                  <a:srgbClr val="B9C4D1"/>
                </a:solidFill>
                <a:latin typeface="Arial" pitchFamily="34" charset="0"/>
                <a:ea typeface="Arial" pitchFamily="34" charset="-122"/>
                <a:cs typeface="Arial" pitchFamily="34" charset="-120"/>
              </a:rPr>
              <a:t>Översiktsdashboarden - metrics, traces och loggar i en vy</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7F4"/>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marL="0" indent="0">
              <a:buNone/>
            </a:pPr>
            <a:r>
              <a:rPr lang="en-US" sz="1200" b="1" kern="0" spc="200" dirty="0">
                <a:solidFill>
                  <a:srgbClr val="3762FF"/>
                </a:solidFill>
                <a:latin typeface="Arial" pitchFamily="34" charset="0"/>
                <a:ea typeface="Arial" pitchFamily="34" charset="-122"/>
                <a:cs typeface="Arial" pitchFamily="34" charset="-120"/>
              </a:rPr>
              <a:t>BEVISET · TELEMETRI - ÖVERSIKT</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marL="0" indent="0">
              <a:buNone/>
            </a:pPr>
            <a:r>
              <a:rPr lang="en-US" sz="3000" b="1" dirty="0">
                <a:solidFill>
                  <a:srgbClr val="16202B"/>
                </a:solidFill>
                <a:latin typeface="Calibri" pitchFamily="34" charset="0"/>
                <a:ea typeface="Calibri" pitchFamily="34" charset="-122"/>
                <a:cs typeface="Calibri" pitchFamily="34" charset="-120"/>
              </a:rPr>
              <a:t>En dashboard, tre signaler</a:t>
            </a:r>
            <a:endParaRPr lang="en-US" sz="3000" dirty="0"/>
          </a:p>
        </p:txBody>
      </p:sp>
      <p:sp>
        <p:nvSpPr>
          <p:cNvPr id="4" name="Shape 2"/>
          <p:cNvSpPr/>
          <p:nvPr/>
        </p:nvSpPr>
        <p:spPr>
          <a:xfrm>
            <a:off x="548640" y="1508760"/>
            <a:ext cx="7589520" cy="4526280"/>
          </a:xfrm>
          <a:prstGeom prst="roundRect">
            <a:avLst>
              <a:gd name="adj" fmla="val 1212"/>
            </a:avLst>
          </a:prstGeom>
          <a:solidFill>
            <a:srgbClr val="0F1F33"/>
          </a:solidFill>
          <a:ln w="12700">
            <a:solidFill>
              <a:srgbClr val="0F1F33"/>
            </a:solidFill>
            <a:prstDash val="solid"/>
          </a:ln>
          <a:effectLst>
            <a:outerShdw blurRad="101600" dist="25400" dir="5400000" algn="bl" rotWithShape="0">
              <a:srgbClr val="000000">
                <a:alpha val="10000"/>
              </a:srgbClr>
            </a:outerShdw>
          </a:effectLst>
        </p:spPr>
      </p:sp>
      <p:sp>
        <p:nvSpPr>
          <p:cNvPr id="5" name="Text 3"/>
          <p:cNvSpPr txBox="1"/>
          <p:nvPr/>
        </p:nvSpPr>
        <p:spPr>
          <a:xfrm>
            <a:off x="731520" y="1600200"/>
            <a:ext cx="3657600" cy="228600"/>
          </a:xfrm>
          <a:prstGeom prst="rect">
            <a:avLst/>
          </a:prstGeom>
          <a:noFill/>
          <a:ln/>
        </p:spPr>
        <p:txBody>
          <a:bodyPr wrap="square" lIns="0" tIns="0" rIns="0" bIns="0" rtlCol="0" anchor="ctr"/>
          <a:lstStyle/>
          <a:p>
            <a:pPr marL="0" indent="0">
              <a:buNone/>
            </a:pPr>
            <a:r>
              <a:rPr lang="en-US" sz="900" b="1" dirty="0">
                <a:solidFill>
                  <a:srgbClr val="7C9CFF"/>
                </a:solidFill>
                <a:latin typeface="Arial" pitchFamily="34" charset="0"/>
                <a:ea typeface="Arial" pitchFamily="34" charset="-122"/>
                <a:cs typeface="Arial" pitchFamily="34" charset="-120"/>
              </a:rPr>
              <a:t>Prometheus - metrics</a:t>
            </a:r>
            <a:endParaRPr lang="en-US" sz="900" dirty="0"/>
          </a:p>
        </p:txBody>
      </p:sp>
      <p:sp>
        <p:nvSpPr>
          <p:cNvPr id="6" name="Shape 4"/>
          <p:cNvSpPr/>
          <p:nvPr/>
        </p:nvSpPr>
        <p:spPr>
          <a:xfrm>
            <a:off x="731520" y="1874520"/>
            <a:ext cx="1691640" cy="685800"/>
          </a:xfrm>
          <a:prstGeom prst="roundRect">
            <a:avLst>
              <a:gd name="adj" fmla="val 5333"/>
            </a:avLst>
          </a:prstGeom>
          <a:solidFill>
            <a:srgbClr val="16294A"/>
          </a:solidFill>
          <a:ln w="12700">
            <a:solidFill>
              <a:srgbClr val="16294A"/>
            </a:solidFill>
            <a:prstDash val="solid"/>
          </a:ln>
        </p:spPr>
      </p:sp>
      <p:sp>
        <p:nvSpPr>
          <p:cNvPr id="7" name="Text 5"/>
          <p:cNvSpPr txBox="1"/>
          <p:nvPr/>
        </p:nvSpPr>
        <p:spPr>
          <a:xfrm>
            <a:off x="822960" y="1901952"/>
            <a:ext cx="1463040" cy="182880"/>
          </a:xfrm>
          <a:prstGeom prst="rect">
            <a:avLst/>
          </a:prstGeom>
          <a:noFill/>
          <a:ln/>
        </p:spPr>
        <p:txBody>
          <a:bodyPr wrap="square" lIns="0" tIns="0" rIns="0" bIns="0" rtlCol="0" anchor="ctr"/>
          <a:lstStyle/>
          <a:p>
            <a:pPr marL="0" indent="0">
              <a:buNone/>
            </a:pPr>
            <a:r>
              <a:rPr lang="en-US" sz="800" dirty="0">
                <a:solidFill>
                  <a:srgbClr val="B9C4D1"/>
                </a:solidFill>
                <a:latin typeface="Arial" pitchFamily="34" charset="0"/>
                <a:ea typeface="Arial" pitchFamily="34" charset="-122"/>
                <a:cs typeface="Arial" pitchFamily="34" charset="-120"/>
              </a:rPr>
              <a:t>Anrop/s</a:t>
            </a:r>
            <a:endParaRPr lang="en-US" sz="800" dirty="0"/>
          </a:p>
        </p:txBody>
      </p:sp>
      <p:sp>
        <p:nvSpPr>
          <p:cNvPr id="8" name="Text 6"/>
          <p:cNvSpPr txBox="1"/>
          <p:nvPr/>
        </p:nvSpPr>
        <p:spPr>
          <a:xfrm>
            <a:off x="822960" y="2084832"/>
            <a:ext cx="1463040" cy="411480"/>
          </a:xfrm>
          <a:prstGeom prst="rect">
            <a:avLst/>
          </a:prstGeom>
          <a:noFill/>
          <a:ln/>
        </p:spPr>
        <p:txBody>
          <a:bodyPr wrap="square" lIns="0" tIns="0" rIns="0" bIns="0" rtlCol="0" anchor="ctr"/>
          <a:lstStyle/>
          <a:p>
            <a:pPr marL="0" indent="0">
              <a:buNone/>
            </a:pPr>
            <a:r>
              <a:rPr lang="en-US" sz="1800" b="1" dirty="0">
                <a:solidFill>
                  <a:srgbClr val="F5F7FA"/>
                </a:solidFill>
                <a:latin typeface="Calibri" pitchFamily="34" charset="0"/>
                <a:ea typeface="Calibri" pitchFamily="34" charset="-122"/>
                <a:cs typeface="Calibri" pitchFamily="34" charset="-120"/>
              </a:rPr>
              <a:t>4.2</a:t>
            </a:r>
            <a:endParaRPr lang="en-US" sz="1800" dirty="0"/>
          </a:p>
        </p:txBody>
      </p:sp>
      <p:sp>
        <p:nvSpPr>
          <p:cNvPr id="9" name="Shape 7"/>
          <p:cNvSpPr/>
          <p:nvPr/>
        </p:nvSpPr>
        <p:spPr>
          <a:xfrm>
            <a:off x="2542032" y="1874520"/>
            <a:ext cx="1691640" cy="685800"/>
          </a:xfrm>
          <a:prstGeom prst="roundRect">
            <a:avLst>
              <a:gd name="adj" fmla="val 5333"/>
            </a:avLst>
          </a:prstGeom>
          <a:solidFill>
            <a:srgbClr val="B8860B"/>
          </a:solidFill>
          <a:ln w="12700">
            <a:solidFill>
              <a:srgbClr val="B8860B"/>
            </a:solidFill>
            <a:prstDash val="solid"/>
          </a:ln>
        </p:spPr>
      </p:sp>
      <p:sp>
        <p:nvSpPr>
          <p:cNvPr id="10" name="Text 8"/>
          <p:cNvSpPr txBox="1"/>
          <p:nvPr/>
        </p:nvSpPr>
        <p:spPr>
          <a:xfrm>
            <a:off x="2633472" y="1901952"/>
            <a:ext cx="1463040" cy="182880"/>
          </a:xfrm>
          <a:prstGeom prst="rect">
            <a:avLst/>
          </a:prstGeom>
          <a:noFill/>
          <a:ln/>
        </p:spPr>
        <p:txBody>
          <a:bodyPr wrap="square" lIns="0" tIns="0" rIns="0" bIns="0" rtlCol="0" anchor="ctr"/>
          <a:lstStyle/>
          <a:p>
            <a:pPr marL="0" indent="0">
              <a:buNone/>
            </a:pPr>
            <a:r>
              <a:rPr lang="en-US" sz="800" dirty="0">
                <a:solidFill>
                  <a:srgbClr val="B9C4D1"/>
                </a:solidFill>
                <a:latin typeface="Arial" pitchFamily="34" charset="0"/>
                <a:ea typeface="Arial" pitchFamily="34" charset="-122"/>
                <a:cs typeface="Arial" pitchFamily="34" charset="-120"/>
              </a:rPr>
              <a:t>Felandel</a:t>
            </a:r>
            <a:endParaRPr lang="en-US" sz="800" dirty="0"/>
          </a:p>
        </p:txBody>
      </p:sp>
      <p:sp>
        <p:nvSpPr>
          <p:cNvPr id="11" name="Text 9"/>
          <p:cNvSpPr txBox="1"/>
          <p:nvPr/>
        </p:nvSpPr>
        <p:spPr>
          <a:xfrm>
            <a:off x="2633472" y="2084832"/>
            <a:ext cx="1463040" cy="411480"/>
          </a:xfrm>
          <a:prstGeom prst="rect">
            <a:avLst/>
          </a:prstGeom>
          <a:noFill/>
          <a:ln/>
        </p:spPr>
        <p:txBody>
          <a:bodyPr wrap="square" lIns="0" tIns="0" rIns="0" bIns="0" rtlCol="0" anchor="ctr"/>
          <a:lstStyle/>
          <a:p>
            <a:pPr marL="0" indent="0">
              <a:buNone/>
            </a:pPr>
            <a:r>
              <a:rPr lang="en-US" sz="1800" b="1" dirty="0">
                <a:solidFill>
                  <a:srgbClr val="F5F7FA"/>
                </a:solidFill>
                <a:latin typeface="Calibri" pitchFamily="34" charset="0"/>
                <a:ea typeface="Calibri" pitchFamily="34" charset="-122"/>
                <a:cs typeface="Calibri" pitchFamily="34" charset="-120"/>
              </a:rPr>
              <a:t>3.1 %</a:t>
            </a:r>
            <a:endParaRPr lang="en-US" sz="1800" dirty="0"/>
          </a:p>
        </p:txBody>
      </p:sp>
      <p:sp>
        <p:nvSpPr>
          <p:cNvPr id="12" name="Shape 10"/>
          <p:cNvSpPr/>
          <p:nvPr/>
        </p:nvSpPr>
        <p:spPr>
          <a:xfrm>
            <a:off x="4352544" y="1874520"/>
            <a:ext cx="1691640" cy="685800"/>
          </a:xfrm>
          <a:prstGeom prst="roundRect">
            <a:avLst>
              <a:gd name="adj" fmla="val 5333"/>
            </a:avLst>
          </a:prstGeom>
          <a:solidFill>
            <a:srgbClr val="16294A"/>
          </a:solidFill>
          <a:ln w="12700">
            <a:solidFill>
              <a:srgbClr val="16294A"/>
            </a:solidFill>
            <a:prstDash val="solid"/>
          </a:ln>
        </p:spPr>
      </p:sp>
      <p:sp>
        <p:nvSpPr>
          <p:cNvPr id="13" name="Text 11"/>
          <p:cNvSpPr txBox="1"/>
          <p:nvPr/>
        </p:nvSpPr>
        <p:spPr>
          <a:xfrm>
            <a:off x="4443984" y="1901952"/>
            <a:ext cx="1463040" cy="182880"/>
          </a:xfrm>
          <a:prstGeom prst="rect">
            <a:avLst/>
          </a:prstGeom>
          <a:noFill/>
          <a:ln/>
        </p:spPr>
        <p:txBody>
          <a:bodyPr wrap="square" lIns="0" tIns="0" rIns="0" bIns="0" rtlCol="0" anchor="ctr"/>
          <a:lstStyle/>
          <a:p>
            <a:pPr marL="0" indent="0">
              <a:buNone/>
            </a:pPr>
            <a:r>
              <a:rPr lang="en-US" sz="800" dirty="0">
                <a:solidFill>
                  <a:srgbClr val="B9C4D1"/>
                </a:solidFill>
                <a:latin typeface="Arial" pitchFamily="34" charset="0"/>
                <a:ea typeface="Arial" pitchFamily="34" charset="-122"/>
                <a:cs typeface="Arial" pitchFamily="34" charset="-120"/>
              </a:rPr>
              <a:t>p95</a:t>
            </a:r>
            <a:endParaRPr lang="en-US" sz="800" dirty="0"/>
          </a:p>
        </p:txBody>
      </p:sp>
      <p:sp>
        <p:nvSpPr>
          <p:cNvPr id="14" name="Text 12"/>
          <p:cNvSpPr txBox="1"/>
          <p:nvPr/>
        </p:nvSpPr>
        <p:spPr>
          <a:xfrm>
            <a:off x="4443984" y="2084832"/>
            <a:ext cx="1463040" cy="411480"/>
          </a:xfrm>
          <a:prstGeom prst="rect">
            <a:avLst/>
          </a:prstGeom>
          <a:noFill/>
          <a:ln/>
        </p:spPr>
        <p:txBody>
          <a:bodyPr wrap="square" lIns="0" tIns="0" rIns="0" bIns="0" rtlCol="0" anchor="ctr"/>
          <a:lstStyle/>
          <a:p>
            <a:pPr marL="0" indent="0">
              <a:buNone/>
            </a:pPr>
            <a:r>
              <a:rPr lang="en-US" sz="1800" b="1" dirty="0">
                <a:solidFill>
                  <a:srgbClr val="F5F7FA"/>
                </a:solidFill>
                <a:latin typeface="Calibri" pitchFamily="34" charset="0"/>
                <a:ea typeface="Calibri" pitchFamily="34" charset="-122"/>
                <a:cs typeface="Calibri" pitchFamily="34" charset="-120"/>
              </a:rPr>
              <a:t>180 ms</a:t>
            </a:r>
            <a:endParaRPr lang="en-US" sz="1800" dirty="0"/>
          </a:p>
        </p:txBody>
      </p:sp>
      <p:sp>
        <p:nvSpPr>
          <p:cNvPr id="15" name="Shape 13"/>
          <p:cNvSpPr/>
          <p:nvPr/>
        </p:nvSpPr>
        <p:spPr>
          <a:xfrm>
            <a:off x="6163056" y="1874520"/>
            <a:ext cx="1691640" cy="685800"/>
          </a:xfrm>
          <a:prstGeom prst="roundRect">
            <a:avLst>
              <a:gd name="adj" fmla="val 5333"/>
            </a:avLst>
          </a:prstGeom>
          <a:solidFill>
            <a:srgbClr val="16294A"/>
          </a:solidFill>
          <a:ln w="12700">
            <a:solidFill>
              <a:srgbClr val="16294A"/>
            </a:solidFill>
            <a:prstDash val="solid"/>
          </a:ln>
        </p:spPr>
      </p:sp>
      <p:sp>
        <p:nvSpPr>
          <p:cNvPr id="16" name="Text 14"/>
          <p:cNvSpPr txBox="1"/>
          <p:nvPr/>
        </p:nvSpPr>
        <p:spPr>
          <a:xfrm>
            <a:off x="6254496" y="1901952"/>
            <a:ext cx="1463040" cy="182880"/>
          </a:xfrm>
          <a:prstGeom prst="rect">
            <a:avLst/>
          </a:prstGeom>
          <a:noFill/>
          <a:ln/>
        </p:spPr>
        <p:txBody>
          <a:bodyPr wrap="square" lIns="0" tIns="0" rIns="0" bIns="0" rtlCol="0" anchor="ctr"/>
          <a:lstStyle/>
          <a:p>
            <a:pPr marL="0" indent="0">
              <a:buNone/>
            </a:pPr>
            <a:r>
              <a:rPr lang="en-US" sz="800" dirty="0">
                <a:solidFill>
                  <a:srgbClr val="B9C4D1"/>
                </a:solidFill>
                <a:latin typeface="Arial" pitchFamily="34" charset="0"/>
                <a:ea typeface="Arial" pitchFamily="34" charset="-122"/>
                <a:cs typeface="Arial" pitchFamily="34" charset="-120"/>
              </a:rPr>
              <a:t>Kunder</a:t>
            </a:r>
            <a:endParaRPr lang="en-US" sz="800" dirty="0"/>
          </a:p>
        </p:txBody>
      </p:sp>
      <p:sp>
        <p:nvSpPr>
          <p:cNvPr id="17" name="Text 15"/>
          <p:cNvSpPr txBox="1"/>
          <p:nvPr/>
        </p:nvSpPr>
        <p:spPr>
          <a:xfrm>
            <a:off x="6254496" y="2084832"/>
            <a:ext cx="1463040" cy="411480"/>
          </a:xfrm>
          <a:prstGeom prst="rect">
            <a:avLst/>
          </a:prstGeom>
          <a:noFill/>
          <a:ln/>
        </p:spPr>
        <p:txBody>
          <a:bodyPr wrap="square" lIns="0" tIns="0" rIns="0" bIns="0" rtlCol="0" anchor="ctr"/>
          <a:lstStyle/>
          <a:p>
            <a:pPr marL="0" indent="0">
              <a:buNone/>
            </a:pPr>
            <a:r>
              <a:rPr lang="en-US" sz="1800" b="1" dirty="0">
                <a:solidFill>
                  <a:srgbClr val="F5F7FA"/>
                </a:solidFill>
                <a:latin typeface="Calibri" pitchFamily="34" charset="0"/>
                <a:ea typeface="Calibri" pitchFamily="34" charset="-122"/>
                <a:cs typeface="Calibri" pitchFamily="34" charset="-120"/>
              </a:rPr>
              <a:t>57</a:t>
            </a:r>
            <a:endParaRPr lang="en-US" sz="1800" dirty="0"/>
          </a:p>
        </p:txBody>
      </p:sp>
      <p:sp>
        <p:nvSpPr>
          <p:cNvPr id="18" name="Shape 16"/>
          <p:cNvSpPr/>
          <p:nvPr/>
        </p:nvSpPr>
        <p:spPr>
          <a:xfrm>
            <a:off x="731520" y="2651760"/>
            <a:ext cx="3520440" cy="1051560"/>
          </a:xfrm>
          <a:prstGeom prst="roundRect">
            <a:avLst>
              <a:gd name="adj" fmla="val 3478"/>
            </a:avLst>
          </a:prstGeom>
          <a:solidFill>
            <a:srgbClr val="16294A"/>
          </a:solidFill>
          <a:ln w="12700">
            <a:solidFill>
              <a:srgbClr val="16294A"/>
            </a:solidFill>
            <a:prstDash val="solid"/>
          </a:ln>
        </p:spPr>
      </p:sp>
      <p:sp>
        <p:nvSpPr>
          <p:cNvPr id="19" name="Shape 17"/>
          <p:cNvSpPr/>
          <p:nvPr/>
        </p:nvSpPr>
        <p:spPr>
          <a:xfrm flipV="1">
            <a:off x="868680" y="3307842"/>
            <a:ext cx="405765" cy="43434"/>
          </a:xfrm>
          <a:prstGeom prst="line">
            <a:avLst/>
          </a:prstGeom>
          <a:noFill/>
          <a:ln w="25400">
            <a:solidFill>
              <a:srgbClr val="7C9CFF"/>
            </a:solidFill>
            <a:prstDash val="solid"/>
          </a:ln>
        </p:spPr>
      </p:sp>
      <p:sp>
        <p:nvSpPr>
          <p:cNvPr id="20" name="Shape 18"/>
          <p:cNvSpPr/>
          <p:nvPr/>
        </p:nvSpPr>
        <p:spPr>
          <a:xfrm flipV="1">
            <a:off x="1274445" y="3177540"/>
            <a:ext cx="405765" cy="130302"/>
          </a:xfrm>
          <a:prstGeom prst="line">
            <a:avLst/>
          </a:prstGeom>
          <a:noFill/>
          <a:ln w="25400">
            <a:solidFill>
              <a:srgbClr val="7C9CFF"/>
            </a:solidFill>
            <a:prstDash val="solid"/>
          </a:ln>
        </p:spPr>
      </p:sp>
      <p:sp>
        <p:nvSpPr>
          <p:cNvPr id="21" name="Shape 19"/>
          <p:cNvSpPr/>
          <p:nvPr/>
        </p:nvSpPr>
        <p:spPr>
          <a:xfrm>
            <a:off x="1680210" y="3177540"/>
            <a:ext cx="405765" cy="43434"/>
          </a:xfrm>
          <a:prstGeom prst="line">
            <a:avLst/>
          </a:prstGeom>
          <a:noFill/>
          <a:ln w="25400">
            <a:solidFill>
              <a:srgbClr val="7C9CFF"/>
            </a:solidFill>
            <a:prstDash val="solid"/>
          </a:ln>
        </p:spPr>
      </p:sp>
      <p:sp>
        <p:nvSpPr>
          <p:cNvPr id="22" name="Shape 20"/>
          <p:cNvSpPr/>
          <p:nvPr/>
        </p:nvSpPr>
        <p:spPr>
          <a:xfrm flipV="1">
            <a:off x="2085975" y="3090672"/>
            <a:ext cx="405765" cy="130302"/>
          </a:xfrm>
          <a:prstGeom prst="line">
            <a:avLst/>
          </a:prstGeom>
          <a:noFill/>
          <a:ln w="25400">
            <a:solidFill>
              <a:srgbClr val="7C9CFF"/>
            </a:solidFill>
            <a:prstDash val="solid"/>
          </a:ln>
        </p:spPr>
      </p:sp>
      <p:sp>
        <p:nvSpPr>
          <p:cNvPr id="23" name="Shape 21"/>
          <p:cNvSpPr/>
          <p:nvPr/>
        </p:nvSpPr>
        <p:spPr>
          <a:xfrm>
            <a:off x="2491740" y="3090672"/>
            <a:ext cx="405765" cy="43434"/>
          </a:xfrm>
          <a:prstGeom prst="line">
            <a:avLst/>
          </a:prstGeom>
          <a:noFill/>
          <a:ln w="25400">
            <a:solidFill>
              <a:srgbClr val="7C9CFF"/>
            </a:solidFill>
            <a:prstDash val="solid"/>
          </a:ln>
        </p:spPr>
      </p:sp>
      <p:sp>
        <p:nvSpPr>
          <p:cNvPr id="24" name="Shape 22"/>
          <p:cNvSpPr/>
          <p:nvPr/>
        </p:nvSpPr>
        <p:spPr>
          <a:xfrm flipV="1">
            <a:off x="2897505" y="3003804"/>
            <a:ext cx="405765" cy="130302"/>
          </a:xfrm>
          <a:prstGeom prst="line">
            <a:avLst/>
          </a:prstGeom>
          <a:noFill/>
          <a:ln w="25400">
            <a:solidFill>
              <a:srgbClr val="7C9CFF"/>
            </a:solidFill>
            <a:prstDash val="solid"/>
          </a:ln>
        </p:spPr>
      </p:sp>
      <p:sp>
        <p:nvSpPr>
          <p:cNvPr id="25" name="Shape 23"/>
          <p:cNvSpPr/>
          <p:nvPr/>
        </p:nvSpPr>
        <p:spPr>
          <a:xfrm>
            <a:off x="3303270" y="3003804"/>
            <a:ext cx="405765" cy="43434"/>
          </a:xfrm>
          <a:prstGeom prst="line">
            <a:avLst/>
          </a:prstGeom>
          <a:noFill/>
          <a:ln w="25400">
            <a:solidFill>
              <a:srgbClr val="7C9CFF"/>
            </a:solidFill>
            <a:prstDash val="solid"/>
          </a:ln>
        </p:spPr>
      </p:sp>
      <p:sp>
        <p:nvSpPr>
          <p:cNvPr id="26" name="Shape 24"/>
          <p:cNvSpPr/>
          <p:nvPr/>
        </p:nvSpPr>
        <p:spPr>
          <a:xfrm flipV="1">
            <a:off x="3709035" y="2960370"/>
            <a:ext cx="405765" cy="86868"/>
          </a:xfrm>
          <a:prstGeom prst="line">
            <a:avLst/>
          </a:prstGeom>
          <a:noFill/>
          <a:ln w="25400">
            <a:solidFill>
              <a:srgbClr val="7C9CFF"/>
            </a:solidFill>
            <a:prstDash val="solid"/>
          </a:ln>
        </p:spPr>
      </p:sp>
      <p:sp>
        <p:nvSpPr>
          <p:cNvPr id="27" name="Shape 25"/>
          <p:cNvSpPr/>
          <p:nvPr/>
        </p:nvSpPr>
        <p:spPr>
          <a:xfrm>
            <a:off x="4361688" y="2651760"/>
            <a:ext cx="3520440" cy="1051560"/>
          </a:xfrm>
          <a:prstGeom prst="roundRect">
            <a:avLst>
              <a:gd name="adj" fmla="val 3478"/>
            </a:avLst>
          </a:prstGeom>
          <a:solidFill>
            <a:srgbClr val="16294A"/>
          </a:solidFill>
          <a:ln w="12700">
            <a:solidFill>
              <a:srgbClr val="16294A"/>
            </a:solidFill>
            <a:prstDash val="solid"/>
          </a:ln>
        </p:spPr>
      </p:sp>
      <p:sp>
        <p:nvSpPr>
          <p:cNvPr id="28" name="Shape 26"/>
          <p:cNvSpPr/>
          <p:nvPr/>
        </p:nvSpPr>
        <p:spPr>
          <a:xfrm flipV="1">
            <a:off x="4498848" y="3420770"/>
            <a:ext cx="405765" cy="17374"/>
          </a:xfrm>
          <a:prstGeom prst="line">
            <a:avLst/>
          </a:prstGeom>
          <a:noFill/>
          <a:ln w="25400">
            <a:solidFill>
              <a:srgbClr val="FFB020"/>
            </a:solidFill>
            <a:prstDash val="solid"/>
          </a:ln>
        </p:spPr>
      </p:sp>
      <p:sp>
        <p:nvSpPr>
          <p:cNvPr id="29" name="Shape 27"/>
          <p:cNvSpPr/>
          <p:nvPr/>
        </p:nvSpPr>
        <p:spPr>
          <a:xfrm>
            <a:off x="4904613" y="3420770"/>
            <a:ext cx="405765" cy="17374"/>
          </a:xfrm>
          <a:prstGeom prst="line">
            <a:avLst/>
          </a:prstGeom>
          <a:noFill/>
          <a:ln w="25400">
            <a:solidFill>
              <a:srgbClr val="FFB020"/>
            </a:solidFill>
            <a:prstDash val="solid"/>
          </a:ln>
        </p:spPr>
      </p:sp>
      <p:sp>
        <p:nvSpPr>
          <p:cNvPr id="30" name="Shape 28"/>
          <p:cNvSpPr/>
          <p:nvPr/>
        </p:nvSpPr>
        <p:spPr>
          <a:xfrm flipV="1">
            <a:off x="5310378" y="3394710"/>
            <a:ext cx="405765" cy="43434"/>
          </a:xfrm>
          <a:prstGeom prst="line">
            <a:avLst/>
          </a:prstGeom>
          <a:noFill/>
          <a:ln w="25400">
            <a:solidFill>
              <a:srgbClr val="FFB020"/>
            </a:solidFill>
            <a:prstDash val="solid"/>
          </a:ln>
        </p:spPr>
      </p:sp>
      <p:sp>
        <p:nvSpPr>
          <p:cNvPr id="31" name="Shape 29"/>
          <p:cNvSpPr/>
          <p:nvPr/>
        </p:nvSpPr>
        <p:spPr>
          <a:xfrm flipV="1">
            <a:off x="5716143" y="2873502"/>
            <a:ext cx="405765" cy="521208"/>
          </a:xfrm>
          <a:prstGeom prst="line">
            <a:avLst/>
          </a:prstGeom>
          <a:noFill/>
          <a:ln w="25400">
            <a:solidFill>
              <a:srgbClr val="FFB020"/>
            </a:solidFill>
            <a:prstDash val="solid"/>
          </a:ln>
        </p:spPr>
      </p:sp>
      <p:sp>
        <p:nvSpPr>
          <p:cNvPr id="32" name="Shape 30"/>
          <p:cNvSpPr/>
          <p:nvPr/>
        </p:nvSpPr>
        <p:spPr>
          <a:xfrm>
            <a:off x="6121908" y="2873502"/>
            <a:ext cx="405765" cy="477774"/>
          </a:xfrm>
          <a:prstGeom prst="line">
            <a:avLst/>
          </a:prstGeom>
          <a:noFill/>
          <a:ln w="25400">
            <a:solidFill>
              <a:srgbClr val="FFB020"/>
            </a:solidFill>
            <a:prstDash val="solid"/>
          </a:ln>
        </p:spPr>
      </p:sp>
      <p:sp>
        <p:nvSpPr>
          <p:cNvPr id="33" name="Shape 31"/>
          <p:cNvSpPr/>
          <p:nvPr/>
        </p:nvSpPr>
        <p:spPr>
          <a:xfrm>
            <a:off x="6527673" y="3351276"/>
            <a:ext cx="405765" cy="69494"/>
          </a:xfrm>
          <a:prstGeom prst="line">
            <a:avLst/>
          </a:prstGeom>
          <a:noFill/>
          <a:ln w="25400">
            <a:solidFill>
              <a:srgbClr val="FFB020"/>
            </a:solidFill>
            <a:prstDash val="solid"/>
          </a:ln>
        </p:spPr>
      </p:sp>
      <p:sp>
        <p:nvSpPr>
          <p:cNvPr id="34" name="Shape 32"/>
          <p:cNvSpPr/>
          <p:nvPr/>
        </p:nvSpPr>
        <p:spPr>
          <a:xfrm flipV="1">
            <a:off x="6933438" y="3394710"/>
            <a:ext cx="405765" cy="26060"/>
          </a:xfrm>
          <a:prstGeom prst="line">
            <a:avLst/>
          </a:prstGeom>
          <a:noFill/>
          <a:ln w="25400">
            <a:solidFill>
              <a:srgbClr val="FFB020"/>
            </a:solidFill>
            <a:prstDash val="solid"/>
          </a:ln>
        </p:spPr>
      </p:sp>
      <p:sp>
        <p:nvSpPr>
          <p:cNvPr id="35" name="Shape 33"/>
          <p:cNvSpPr/>
          <p:nvPr/>
        </p:nvSpPr>
        <p:spPr>
          <a:xfrm>
            <a:off x="7339203" y="3394710"/>
            <a:ext cx="405765" cy="43434"/>
          </a:xfrm>
          <a:prstGeom prst="line">
            <a:avLst/>
          </a:prstGeom>
          <a:noFill/>
          <a:ln w="25400">
            <a:solidFill>
              <a:srgbClr val="FFB020"/>
            </a:solidFill>
            <a:prstDash val="solid"/>
          </a:ln>
        </p:spPr>
      </p:sp>
      <p:sp>
        <p:nvSpPr>
          <p:cNvPr id="36" name="Shape 34"/>
          <p:cNvSpPr/>
          <p:nvPr/>
        </p:nvSpPr>
        <p:spPr>
          <a:xfrm>
            <a:off x="6057900" y="2809494"/>
            <a:ext cx="128016" cy="128016"/>
          </a:xfrm>
          <a:prstGeom prst="ellipse">
            <a:avLst/>
          </a:prstGeom>
          <a:solidFill>
            <a:srgbClr val="3CB371"/>
          </a:solidFill>
          <a:ln w="12700">
            <a:solidFill>
              <a:srgbClr val="FFFFFF"/>
            </a:solidFill>
            <a:prstDash val="solid"/>
          </a:ln>
        </p:spPr>
      </p:sp>
      <p:sp>
        <p:nvSpPr>
          <p:cNvPr id="37" name="Text 35"/>
          <p:cNvSpPr txBox="1"/>
          <p:nvPr/>
        </p:nvSpPr>
        <p:spPr>
          <a:xfrm>
            <a:off x="731520" y="3794760"/>
            <a:ext cx="3657600" cy="228600"/>
          </a:xfrm>
          <a:prstGeom prst="rect">
            <a:avLst/>
          </a:prstGeom>
          <a:noFill/>
          <a:ln/>
        </p:spPr>
        <p:txBody>
          <a:bodyPr wrap="square" lIns="0" tIns="0" rIns="0" bIns="0" rtlCol="0" anchor="ctr"/>
          <a:lstStyle/>
          <a:p>
            <a:pPr marL="0" indent="0">
              <a:buNone/>
            </a:pPr>
            <a:r>
              <a:rPr lang="en-US" sz="900" b="1" dirty="0">
                <a:solidFill>
                  <a:srgbClr val="7C9CFF"/>
                </a:solidFill>
                <a:latin typeface="Arial" pitchFamily="34" charset="0"/>
                <a:ea typeface="Arial" pitchFamily="34" charset="-122"/>
                <a:cs typeface="Arial" pitchFamily="34" charset="-120"/>
              </a:rPr>
              <a:t>Tempo - traces</a:t>
            </a:r>
            <a:endParaRPr lang="en-US" sz="900" dirty="0"/>
          </a:p>
        </p:txBody>
      </p:sp>
      <p:sp>
        <p:nvSpPr>
          <p:cNvPr id="38" name="Shape 36"/>
          <p:cNvSpPr/>
          <p:nvPr/>
        </p:nvSpPr>
        <p:spPr>
          <a:xfrm>
            <a:off x="731520" y="4069080"/>
            <a:ext cx="3520440" cy="868680"/>
          </a:xfrm>
          <a:prstGeom prst="roundRect">
            <a:avLst>
              <a:gd name="adj" fmla="val 4211"/>
            </a:avLst>
          </a:prstGeom>
          <a:solidFill>
            <a:srgbClr val="16294A"/>
          </a:solidFill>
          <a:ln w="12700">
            <a:solidFill>
              <a:srgbClr val="16294A"/>
            </a:solidFill>
            <a:prstDash val="solid"/>
          </a:ln>
        </p:spPr>
      </p:sp>
      <p:sp>
        <p:nvSpPr>
          <p:cNvPr id="39" name="Text 37"/>
          <p:cNvSpPr txBox="1"/>
          <p:nvPr/>
        </p:nvSpPr>
        <p:spPr>
          <a:xfrm>
            <a:off x="841248" y="4114800"/>
            <a:ext cx="3291840" cy="237744"/>
          </a:xfrm>
          <a:prstGeom prst="rect">
            <a:avLst/>
          </a:prstGeom>
          <a:noFill/>
          <a:ln/>
        </p:spPr>
        <p:txBody>
          <a:bodyPr wrap="square" lIns="0" tIns="0" rIns="0" bIns="0" rtlCol="0" anchor="ctr"/>
          <a:lstStyle/>
          <a:p>
            <a:pPr marL="0" indent="0">
              <a:buNone/>
            </a:pPr>
            <a:r>
              <a:rPr lang="en-US" sz="800" dirty="0">
                <a:solidFill>
                  <a:srgbClr val="DDE3EA"/>
                </a:solidFill>
                <a:latin typeface="Courier New" pitchFamily="34" charset="0"/>
                <a:ea typeface="Courier New" pitchFamily="34" charset="-122"/>
                <a:cs typeface="Courier New" pitchFamily="34" charset="-120"/>
              </a:rPr>
              <a:t>customer-client  POST /api/customers  84 ms</a:t>
            </a:r>
            <a:endParaRPr lang="en-US" sz="800" dirty="0"/>
          </a:p>
        </p:txBody>
      </p:sp>
      <p:sp>
        <p:nvSpPr>
          <p:cNvPr id="40" name="Text 38"/>
          <p:cNvSpPr txBox="1"/>
          <p:nvPr/>
        </p:nvSpPr>
        <p:spPr>
          <a:xfrm>
            <a:off x="841248" y="4370832"/>
            <a:ext cx="3291840" cy="237744"/>
          </a:xfrm>
          <a:prstGeom prst="rect">
            <a:avLst/>
          </a:prstGeom>
          <a:noFill/>
          <a:ln/>
        </p:spPr>
        <p:txBody>
          <a:bodyPr wrap="square" lIns="0" tIns="0" rIns="0" bIns="0" rtlCol="0" anchor="ctr"/>
          <a:lstStyle/>
          <a:p>
            <a:pPr marL="0" indent="0">
              <a:buNone/>
            </a:pPr>
            <a:r>
              <a:rPr lang="en-US" sz="800" dirty="0">
                <a:solidFill>
                  <a:srgbClr val="DDE3EA"/>
                </a:solidFill>
                <a:latin typeface="Courier New" pitchFamily="34" charset="0"/>
                <a:ea typeface="Courier New" pitchFamily="34" charset="-122"/>
                <a:cs typeface="Courier New" pitchFamily="34" charset="-120"/>
              </a:rPr>
              <a:t>telemetry-api  GET /customers  12 ms</a:t>
            </a:r>
            <a:endParaRPr lang="en-US" sz="800" dirty="0"/>
          </a:p>
        </p:txBody>
      </p:sp>
      <p:sp>
        <p:nvSpPr>
          <p:cNvPr id="41" name="Text 39"/>
          <p:cNvSpPr txBox="1"/>
          <p:nvPr/>
        </p:nvSpPr>
        <p:spPr>
          <a:xfrm>
            <a:off x="841248" y="4626864"/>
            <a:ext cx="3291840" cy="237744"/>
          </a:xfrm>
          <a:prstGeom prst="rect">
            <a:avLst/>
          </a:prstGeom>
          <a:noFill/>
          <a:ln/>
        </p:spPr>
        <p:txBody>
          <a:bodyPr wrap="square" lIns="0" tIns="0" rIns="0" bIns="0" rtlCol="0" anchor="ctr"/>
          <a:lstStyle/>
          <a:p>
            <a:pPr marL="0" indent="0">
              <a:buNone/>
            </a:pPr>
            <a:r>
              <a:rPr lang="en-US" sz="800" dirty="0">
                <a:solidFill>
                  <a:srgbClr val="DDE3EA"/>
                </a:solidFill>
                <a:latin typeface="Courier New" pitchFamily="34" charset="0"/>
                <a:ea typeface="Courier New" pitchFamily="34" charset="-122"/>
                <a:cs typeface="Courier New" pitchFamily="34" charset="-120"/>
              </a:rPr>
              <a:t>cqrs-client  POST /api/persons  31 ms</a:t>
            </a:r>
            <a:endParaRPr lang="en-US" sz="800" dirty="0"/>
          </a:p>
        </p:txBody>
      </p:sp>
      <p:sp>
        <p:nvSpPr>
          <p:cNvPr id="42" name="Shape 40"/>
          <p:cNvSpPr/>
          <p:nvPr/>
        </p:nvSpPr>
        <p:spPr>
          <a:xfrm>
            <a:off x="4361688" y="4069080"/>
            <a:ext cx="3520440" cy="868680"/>
          </a:xfrm>
          <a:prstGeom prst="roundRect">
            <a:avLst>
              <a:gd name="adj" fmla="val 4211"/>
            </a:avLst>
          </a:prstGeom>
          <a:solidFill>
            <a:srgbClr val="16294A"/>
          </a:solidFill>
          <a:ln w="12700">
            <a:solidFill>
              <a:srgbClr val="16294A"/>
            </a:solidFill>
            <a:prstDash val="solid"/>
          </a:ln>
        </p:spPr>
      </p:sp>
      <p:sp>
        <p:nvSpPr>
          <p:cNvPr id="43" name="Text 41"/>
          <p:cNvSpPr txBox="1"/>
          <p:nvPr/>
        </p:nvSpPr>
        <p:spPr>
          <a:xfrm>
            <a:off x="4471416" y="4114800"/>
            <a:ext cx="3291840" cy="237744"/>
          </a:xfrm>
          <a:prstGeom prst="rect">
            <a:avLst/>
          </a:prstGeom>
          <a:noFill/>
          <a:ln/>
        </p:spPr>
        <p:txBody>
          <a:bodyPr wrap="square" lIns="0" tIns="0" rIns="0" bIns="0" rtlCol="0" anchor="ctr"/>
          <a:lstStyle/>
          <a:p>
            <a:pPr marL="0" indent="0">
              <a:buNone/>
            </a:pPr>
            <a:r>
              <a:rPr lang="en-US" sz="800" dirty="0">
                <a:solidFill>
                  <a:srgbClr val="F19999"/>
                </a:solidFill>
                <a:latin typeface="Courier New" pitchFamily="34" charset="0"/>
                <a:ea typeface="Courier New" pitchFamily="34" charset="-122"/>
                <a:cs typeface="Courier New" pitchFamily="34" charset="-120"/>
              </a:rPr>
              <a:t>telemetry-api  GET /demo/error  500</a:t>
            </a:r>
            <a:endParaRPr lang="en-US" sz="800" dirty="0"/>
          </a:p>
        </p:txBody>
      </p:sp>
      <p:sp>
        <p:nvSpPr>
          <p:cNvPr id="44" name="Text 42"/>
          <p:cNvSpPr txBox="1"/>
          <p:nvPr/>
        </p:nvSpPr>
        <p:spPr>
          <a:xfrm>
            <a:off x="4471416" y="4370832"/>
            <a:ext cx="3291840" cy="237744"/>
          </a:xfrm>
          <a:prstGeom prst="rect">
            <a:avLst/>
          </a:prstGeom>
          <a:noFill/>
          <a:ln/>
        </p:spPr>
        <p:txBody>
          <a:bodyPr wrap="square" lIns="0" tIns="0" rIns="0" bIns="0" rtlCol="0" anchor="ctr"/>
          <a:lstStyle/>
          <a:p>
            <a:pPr marL="0" indent="0">
              <a:buNone/>
            </a:pPr>
            <a:r>
              <a:rPr lang="en-US" sz="800" dirty="0">
                <a:solidFill>
                  <a:srgbClr val="F19999"/>
                </a:solidFill>
                <a:latin typeface="Courier New" pitchFamily="34" charset="0"/>
                <a:ea typeface="Courier New" pitchFamily="34" charset="-122"/>
                <a:cs typeface="Courier New" pitchFamily="34" charset="-120"/>
              </a:rPr>
              <a:t>telemetry-api  GET /demo/error  500</a:t>
            </a:r>
            <a:endParaRPr lang="en-US" sz="800" dirty="0"/>
          </a:p>
        </p:txBody>
      </p:sp>
      <p:sp>
        <p:nvSpPr>
          <p:cNvPr id="45" name="Text 43"/>
          <p:cNvSpPr txBox="1"/>
          <p:nvPr/>
        </p:nvSpPr>
        <p:spPr>
          <a:xfrm>
            <a:off x="4471416" y="4626864"/>
            <a:ext cx="3291840" cy="237744"/>
          </a:xfrm>
          <a:prstGeom prst="rect">
            <a:avLst/>
          </a:prstGeom>
          <a:noFill/>
          <a:ln/>
        </p:spPr>
        <p:txBody>
          <a:bodyPr wrap="square" lIns="0" tIns="0" rIns="0" bIns="0" rtlCol="0" anchor="ctr"/>
          <a:lstStyle/>
          <a:p>
            <a:pPr marL="0" indent="0">
              <a:buNone/>
            </a:pPr>
            <a:r>
              <a:rPr lang="en-US" sz="800" dirty="0">
                <a:solidFill>
                  <a:srgbClr val="F19999"/>
                </a:solidFill>
                <a:latin typeface="Courier New" pitchFamily="34" charset="0"/>
                <a:ea typeface="Courier New" pitchFamily="34" charset="-122"/>
                <a:cs typeface="Courier New" pitchFamily="34" charset="-120"/>
              </a:rPr>
              <a:t>cqrs-worker  persons.cmd.update  retry</a:t>
            </a:r>
            <a:endParaRPr lang="en-US" sz="800" dirty="0"/>
          </a:p>
        </p:txBody>
      </p:sp>
      <p:sp>
        <p:nvSpPr>
          <p:cNvPr id="46" name="Text 44"/>
          <p:cNvSpPr txBox="1"/>
          <p:nvPr/>
        </p:nvSpPr>
        <p:spPr>
          <a:xfrm>
            <a:off x="731520" y="5029200"/>
            <a:ext cx="3657600" cy="228600"/>
          </a:xfrm>
          <a:prstGeom prst="rect">
            <a:avLst/>
          </a:prstGeom>
          <a:noFill/>
          <a:ln/>
        </p:spPr>
        <p:txBody>
          <a:bodyPr wrap="square" lIns="0" tIns="0" rIns="0" bIns="0" rtlCol="0" anchor="ctr"/>
          <a:lstStyle/>
          <a:p>
            <a:pPr marL="0" indent="0">
              <a:buNone/>
            </a:pPr>
            <a:r>
              <a:rPr lang="en-US" sz="900" b="1" dirty="0">
                <a:solidFill>
                  <a:srgbClr val="7C9CFF"/>
                </a:solidFill>
                <a:latin typeface="Arial" pitchFamily="34" charset="0"/>
                <a:ea typeface="Arial" pitchFamily="34" charset="-122"/>
                <a:cs typeface="Arial" pitchFamily="34" charset="-120"/>
              </a:rPr>
              <a:t>Loki - loggar</a:t>
            </a:r>
            <a:endParaRPr lang="en-US" sz="900" dirty="0"/>
          </a:p>
        </p:txBody>
      </p:sp>
      <p:sp>
        <p:nvSpPr>
          <p:cNvPr id="47" name="Shape 45"/>
          <p:cNvSpPr/>
          <p:nvPr/>
        </p:nvSpPr>
        <p:spPr>
          <a:xfrm>
            <a:off x="731520" y="5276088"/>
            <a:ext cx="7223760" cy="640080"/>
          </a:xfrm>
          <a:prstGeom prst="roundRect">
            <a:avLst>
              <a:gd name="adj" fmla="val 5714"/>
            </a:avLst>
          </a:prstGeom>
          <a:solidFill>
            <a:srgbClr val="16294A"/>
          </a:solidFill>
          <a:ln w="12700">
            <a:solidFill>
              <a:srgbClr val="16294A"/>
            </a:solidFill>
            <a:prstDash val="solid"/>
          </a:ln>
        </p:spPr>
      </p:sp>
      <p:sp>
        <p:nvSpPr>
          <p:cNvPr id="48" name="Text 46"/>
          <p:cNvSpPr txBox="1"/>
          <p:nvPr/>
        </p:nvSpPr>
        <p:spPr>
          <a:xfrm>
            <a:off x="841248" y="5303520"/>
            <a:ext cx="7040880" cy="566928"/>
          </a:xfrm>
          <a:prstGeom prst="rect">
            <a:avLst/>
          </a:prstGeom>
          <a:noFill/>
          <a:ln/>
        </p:spPr>
        <p:txBody>
          <a:bodyPr wrap="square" lIns="0" tIns="0" rIns="0" bIns="0" rtlCol="0" anchor="ctr"/>
          <a:lstStyle/>
          <a:p>
            <a:pPr marL="0" indent="0">
              <a:buNone/>
            </a:pPr>
            <a:r>
              <a:rPr lang="en-US" sz="800" dirty="0">
                <a:solidFill>
                  <a:srgbClr val="DDE3EA"/>
                </a:solidFill>
                <a:latin typeface="Courier New" pitchFamily="34" charset="0"/>
                <a:ea typeface="Courier New" pitchFamily="34" charset="-122"/>
                <a:cs typeface="Courier New" pitchFamily="34" charset="-120"/>
              </a:rPr>
              <a:t>18:42:07 INFO  Kund 3f2a… skapad: Ada Lovelace (Göteborg)        trace_id=4bf92f35…</a:t>
            </a:r>
            <a:endParaRPr lang="en-US" sz="800" dirty="0"/>
          </a:p>
          <a:p>
            <a:pPr marL="0" indent="0">
              <a:buNone/>
            </a:pPr>
            <a:r>
              <a:rPr lang="en-US" sz="800" dirty="0">
                <a:solidFill>
                  <a:srgbClr val="DDE3EA"/>
                </a:solidFill>
                <a:latin typeface="Courier New" pitchFamily="34" charset="0"/>
                <a:ea typeface="Courier New" pitchFamily="34" charset="-122"/>
                <a:cs typeface="Courier New" pitchFamily="34" charset="-120"/>
              </a:rPr>
              <a:t>18:42:11 ERROR Ett ohanterat undantag: Avsiktligt fel från /demo/error  trace_id=a1c07e…</a:t>
            </a:r>
            <a:endParaRPr lang="en-US" sz="800" dirty="0"/>
          </a:p>
        </p:txBody>
      </p:sp>
      <p:sp>
        <p:nvSpPr>
          <p:cNvPr id="49" name="Shape 47"/>
          <p:cNvSpPr/>
          <p:nvPr/>
        </p:nvSpPr>
        <p:spPr>
          <a:xfrm>
            <a:off x="8366760" y="1508760"/>
            <a:ext cx="3276295" cy="1371600"/>
          </a:xfrm>
          <a:prstGeom prst="roundRect">
            <a:avLst>
              <a:gd name="adj" fmla="val 4000"/>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50" name="Text 48"/>
          <p:cNvSpPr txBox="1"/>
          <p:nvPr/>
        </p:nvSpPr>
        <p:spPr>
          <a:xfrm>
            <a:off x="8567928" y="1709928"/>
            <a:ext cx="2873959" cy="320040"/>
          </a:xfrm>
          <a:prstGeom prst="rect">
            <a:avLst/>
          </a:prstGeom>
          <a:noFill/>
          <a:ln/>
        </p:spPr>
        <p:txBody>
          <a:bodyPr wrap="square" lIns="0" tIns="0" rIns="0" bIns="0" rtlCol="0" anchor="t"/>
          <a:lstStyle/>
          <a:p>
            <a:pPr marL="0" indent="0">
              <a:buNone/>
            </a:pPr>
            <a:r>
              <a:rPr lang="en-US" sz="1500" b="1" dirty="0">
                <a:solidFill>
                  <a:srgbClr val="16202B"/>
                </a:solidFill>
                <a:latin typeface="Calibri" pitchFamily="34" charset="0"/>
                <a:ea typeface="Calibri" pitchFamily="34" charset="-122"/>
                <a:cs typeface="Calibri" pitchFamily="34" charset="-120"/>
              </a:rPr>
              <a:t>Metrics</a:t>
            </a:r>
            <a:endParaRPr lang="en-US" sz="1500" dirty="0"/>
          </a:p>
        </p:txBody>
      </p:sp>
      <p:sp>
        <p:nvSpPr>
          <p:cNvPr id="51" name="Text 49"/>
          <p:cNvSpPr txBox="1"/>
          <p:nvPr/>
        </p:nvSpPr>
        <p:spPr>
          <a:xfrm>
            <a:off x="8567928" y="2093976"/>
            <a:ext cx="2873959" cy="630936"/>
          </a:xfrm>
          <a:prstGeom prst="rect">
            <a:avLst/>
          </a:prstGeom>
          <a:noFill/>
          <a:ln/>
        </p:spPr>
        <p:txBody>
          <a:bodyPr wrap="square" lIns="0" tIns="0" rIns="0" bIns="0" rtlCol="0" anchor="t"/>
          <a:lstStyle/>
          <a:p>
            <a:pPr marL="0" indent="0">
              <a:lnSpc>
                <a:spcPct val="115000"/>
              </a:lnSpc>
              <a:buNone/>
            </a:pPr>
            <a:r>
              <a:rPr lang="en-US" sz="1200" dirty="0">
                <a:solidFill>
                  <a:srgbClr val="4A5568"/>
                </a:solidFill>
                <a:latin typeface="Arial" pitchFamily="34" charset="0"/>
                <a:ea typeface="Arial" pitchFamily="34" charset="-122"/>
                <a:cs typeface="Arial" pitchFamily="34" charset="-120"/>
              </a:rPr>
              <a:t>ATT något händer: felandel, svarstid, antal.</a:t>
            </a:r>
            <a:endParaRPr lang="en-US" sz="1200" dirty="0"/>
          </a:p>
        </p:txBody>
      </p:sp>
      <p:sp>
        <p:nvSpPr>
          <p:cNvPr id="52" name="Shape 50"/>
          <p:cNvSpPr/>
          <p:nvPr/>
        </p:nvSpPr>
        <p:spPr>
          <a:xfrm>
            <a:off x="8366760" y="3017520"/>
            <a:ext cx="3276295" cy="1371600"/>
          </a:xfrm>
          <a:prstGeom prst="roundRect">
            <a:avLst>
              <a:gd name="adj" fmla="val 4000"/>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53" name="Text 51"/>
          <p:cNvSpPr txBox="1"/>
          <p:nvPr/>
        </p:nvSpPr>
        <p:spPr>
          <a:xfrm>
            <a:off x="8567928" y="3218688"/>
            <a:ext cx="2873959" cy="320040"/>
          </a:xfrm>
          <a:prstGeom prst="rect">
            <a:avLst/>
          </a:prstGeom>
          <a:noFill/>
          <a:ln/>
        </p:spPr>
        <p:txBody>
          <a:bodyPr wrap="square" lIns="0" tIns="0" rIns="0" bIns="0" rtlCol="0" anchor="t"/>
          <a:lstStyle/>
          <a:p>
            <a:pPr marL="0" indent="0">
              <a:buNone/>
            </a:pPr>
            <a:r>
              <a:rPr lang="en-US" sz="1500" b="1" dirty="0">
                <a:solidFill>
                  <a:srgbClr val="16202B"/>
                </a:solidFill>
                <a:latin typeface="Calibri" pitchFamily="34" charset="0"/>
                <a:ea typeface="Calibri" pitchFamily="34" charset="-122"/>
                <a:cs typeface="Calibri" pitchFamily="34" charset="-120"/>
              </a:rPr>
              <a:t>Traces</a:t>
            </a:r>
            <a:endParaRPr lang="en-US" sz="1500" dirty="0"/>
          </a:p>
        </p:txBody>
      </p:sp>
      <p:sp>
        <p:nvSpPr>
          <p:cNvPr id="54" name="Text 52"/>
          <p:cNvSpPr txBox="1"/>
          <p:nvPr/>
        </p:nvSpPr>
        <p:spPr>
          <a:xfrm>
            <a:off x="8567928" y="3602736"/>
            <a:ext cx="2873959" cy="630936"/>
          </a:xfrm>
          <a:prstGeom prst="rect">
            <a:avLst/>
          </a:prstGeom>
          <a:noFill/>
          <a:ln/>
        </p:spPr>
        <p:txBody>
          <a:bodyPr wrap="square" lIns="0" tIns="0" rIns="0" bIns="0" rtlCol="0" anchor="t"/>
          <a:lstStyle/>
          <a:p>
            <a:pPr marL="0" indent="0">
              <a:lnSpc>
                <a:spcPct val="115000"/>
              </a:lnSpc>
              <a:buNone/>
            </a:pPr>
            <a:r>
              <a:rPr lang="en-US" sz="1200" dirty="0">
                <a:solidFill>
                  <a:srgbClr val="4A5568"/>
                </a:solidFill>
                <a:latin typeface="Arial" pitchFamily="34" charset="0"/>
                <a:ea typeface="Arial" pitchFamily="34" charset="-122"/>
                <a:cs typeface="Arial" pitchFamily="34" charset="-120"/>
              </a:rPr>
              <a:t>VAR tiden går: klicka ett Trace ID.</a:t>
            </a:r>
            <a:endParaRPr lang="en-US" sz="1200" dirty="0"/>
          </a:p>
        </p:txBody>
      </p:sp>
      <p:sp>
        <p:nvSpPr>
          <p:cNvPr id="55" name="Shape 53"/>
          <p:cNvSpPr/>
          <p:nvPr/>
        </p:nvSpPr>
        <p:spPr>
          <a:xfrm>
            <a:off x="8366760" y="4526280"/>
            <a:ext cx="3276295" cy="1508760"/>
          </a:xfrm>
          <a:prstGeom prst="roundRect">
            <a:avLst>
              <a:gd name="adj" fmla="val 3636"/>
            </a:avLst>
          </a:prstGeom>
          <a:solidFill>
            <a:srgbClr val="3762FF"/>
          </a:solidFill>
          <a:ln w="12700">
            <a:solidFill>
              <a:srgbClr val="3762FF"/>
            </a:solidFill>
            <a:prstDash val="solid"/>
          </a:ln>
        </p:spPr>
      </p:sp>
      <p:sp>
        <p:nvSpPr>
          <p:cNvPr id="56" name="Text 54"/>
          <p:cNvSpPr txBox="1"/>
          <p:nvPr/>
        </p:nvSpPr>
        <p:spPr>
          <a:xfrm>
            <a:off x="8567928" y="4727448"/>
            <a:ext cx="2873959" cy="320040"/>
          </a:xfrm>
          <a:prstGeom prst="rect">
            <a:avLst/>
          </a:prstGeom>
          <a:noFill/>
          <a:ln/>
        </p:spPr>
        <p:txBody>
          <a:bodyPr wrap="square" lIns="0" tIns="0" rIns="0" bIns="0" rtlCol="0" anchor="t"/>
          <a:lstStyle/>
          <a:p>
            <a:pPr marL="0" indent="0">
              <a:buNone/>
            </a:pPr>
            <a:r>
              <a:rPr lang="en-US" sz="1500" b="1" dirty="0">
                <a:solidFill>
                  <a:srgbClr val="FFFFFF"/>
                </a:solidFill>
                <a:latin typeface="Calibri" pitchFamily="34" charset="0"/>
                <a:ea typeface="Calibri" pitchFamily="34" charset="-122"/>
                <a:cs typeface="Calibri" pitchFamily="34" charset="-120"/>
              </a:rPr>
              <a:t>Loggar</a:t>
            </a:r>
            <a:endParaRPr lang="en-US" sz="1500" dirty="0"/>
          </a:p>
        </p:txBody>
      </p:sp>
      <p:sp>
        <p:nvSpPr>
          <p:cNvPr id="57" name="Text 55"/>
          <p:cNvSpPr txBox="1"/>
          <p:nvPr/>
        </p:nvSpPr>
        <p:spPr>
          <a:xfrm>
            <a:off x="8567928" y="5111496"/>
            <a:ext cx="2873959" cy="768096"/>
          </a:xfrm>
          <a:prstGeom prst="rect">
            <a:avLst/>
          </a:prstGeom>
          <a:noFill/>
          <a:ln/>
        </p:spPr>
        <p:txBody>
          <a:bodyPr wrap="square" lIns="0" tIns="0" rIns="0" bIns="0" rtlCol="0" anchor="t"/>
          <a:lstStyle/>
          <a:p>
            <a:pPr marL="0" indent="0">
              <a:lnSpc>
                <a:spcPct val="115000"/>
              </a:lnSpc>
              <a:buNone/>
            </a:pPr>
            <a:r>
              <a:rPr lang="en-US" sz="1200" dirty="0">
                <a:solidFill>
                  <a:srgbClr val="FFFFFF"/>
                </a:solidFill>
                <a:latin typeface="Arial" pitchFamily="34" charset="0"/>
                <a:ea typeface="Arial" pitchFamily="34" charset="-122"/>
                <a:cs typeface="Arial" pitchFamily="34" charset="-120"/>
              </a:rPr>
              <a:t>VAD som hände: trace_id i raden är en länk.</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F33"/>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marL="0" indent="0">
              <a:buNone/>
            </a:pPr>
            <a:r>
              <a:rPr lang="en-US" sz="1200" b="1" kern="0" spc="200" dirty="0">
                <a:solidFill>
                  <a:srgbClr val="7C9CFF"/>
                </a:solidFill>
                <a:latin typeface="Arial" pitchFamily="34" charset="0"/>
                <a:ea typeface="Arial" pitchFamily="34" charset="-122"/>
                <a:cs typeface="Arial" pitchFamily="34" charset="-120"/>
              </a:rPr>
              <a:t>BEVISET · LIVE</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marL="0" indent="0">
              <a:buNone/>
            </a:pPr>
            <a:r>
              <a:rPr lang="en-US" sz="3000" b="1" dirty="0">
                <a:solidFill>
                  <a:srgbClr val="F5F7FA"/>
                </a:solidFill>
                <a:latin typeface="Calibri" pitchFamily="34" charset="0"/>
                <a:ea typeface="Calibri" pitchFamily="34" charset="-122"/>
                <a:cs typeface="Calibri" pitchFamily="34" charset="-120"/>
              </a:rPr>
              <a:t>Fem klick från symptom till orsak</a:t>
            </a:r>
            <a:endParaRPr lang="en-US" sz="3000" dirty="0"/>
          </a:p>
        </p:txBody>
      </p:sp>
      <p:sp>
        <p:nvSpPr>
          <p:cNvPr id="4" name="Shape 2"/>
          <p:cNvSpPr/>
          <p:nvPr/>
        </p:nvSpPr>
        <p:spPr>
          <a:xfrm>
            <a:off x="548640" y="1600200"/>
            <a:ext cx="6949440" cy="749808"/>
          </a:xfrm>
          <a:prstGeom prst="roundRect">
            <a:avLst>
              <a:gd name="adj" fmla="val 6098"/>
            </a:avLst>
          </a:prstGeom>
          <a:solidFill>
            <a:srgbClr val="16294A"/>
          </a:solidFill>
          <a:ln w="12700">
            <a:solidFill>
              <a:srgbClr val="16294A"/>
            </a:solidFill>
            <a:prstDash val="solid"/>
          </a:ln>
        </p:spPr>
      </p:sp>
      <p:sp>
        <p:nvSpPr>
          <p:cNvPr id="5" name="Text 3"/>
          <p:cNvSpPr txBox="1"/>
          <p:nvPr/>
        </p:nvSpPr>
        <p:spPr>
          <a:xfrm>
            <a:off x="685800" y="1600200"/>
            <a:ext cx="365760" cy="749808"/>
          </a:xfrm>
          <a:prstGeom prst="rect">
            <a:avLst/>
          </a:prstGeom>
          <a:noFill/>
          <a:ln/>
        </p:spPr>
        <p:txBody>
          <a:bodyPr wrap="square" lIns="0" tIns="0" rIns="0" bIns="0" rtlCol="0" anchor="ctr"/>
          <a:lstStyle/>
          <a:p>
            <a:pPr marL="0" indent="0">
              <a:buNone/>
            </a:pPr>
            <a:r>
              <a:rPr lang="en-US" sz="1800" b="1" dirty="0">
                <a:solidFill>
                  <a:srgbClr val="7C9CFF"/>
                </a:solidFill>
                <a:latin typeface="Calibri" pitchFamily="34" charset="0"/>
                <a:ea typeface="Calibri" pitchFamily="34" charset="-122"/>
                <a:cs typeface="Calibri" pitchFamily="34" charset="-120"/>
              </a:rPr>
              <a:t>1</a:t>
            </a:r>
            <a:endParaRPr lang="en-US" sz="1800" dirty="0"/>
          </a:p>
        </p:txBody>
      </p:sp>
      <p:sp>
        <p:nvSpPr>
          <p:cNvPr id="6" name="Text 4"/>
          <p:cNvSpPr txBox="1"/>
          <p:nvPr/>
        </p:nvSpPr>
        <p:spPr>
          <a:xfrm>
            <a:off x="1097280" y="1600200"/>
            <a:ext cx="6263640" cy="749808"/>
          </a:xfrm>
          <a:prstGeom prst="rect">
            <a:avLst/>
          </a:prstGeom>
          <a:noFill/>
          <a:ln/>
        </p:spPr>
        <p:txBody>
          <a:bodyPr wrap="square" lIns="0" tIns="0" rIns="0" bIns="0" rtlCol="0" anchor="ctr"/>
          <a:lstStyle/>
          <a:p>
            <a:pPr marL="0" indent="0">
              <a:buNone/>
            </a:pPr>
            <a:r>
              <a:rPr lang="en-US" sz="1300" b="1" dirty="0">
                <a:solidFill>
                  <a:srgbClr val="F5F7FA"/>
                </a:solidFill>
                <a:latin typeface="Arial" pitchFamily="34" charset="0"/>
                <a:ea typeface="Arial" pitchFamily="34" charset="-122"/>
                <a:cs typeface="Arial" pitchFamily="34" charset="-120"/>
              </a:rPr>
              <a:t>Orsaka fel</a:t>
            </a:r>
            <a:r>
              <a:rPr lang="en-US" sz="1300" dirty="0">
                <a:solidFill>
                  <a:srgbClr val="B9C4D1"/>
                </a:solidFill>
                <a:latin typeface="Arial" pitchFamily="34" charset="0"/>
                <a:ea typeface="Arial" pitchFamily="34" charset="-122"/>
                <a:cs typeface="Arial" pitchFamily="34" charset="-120"/>
              </a:rPr>
              <a:t>  Tryck "Orsaka fel" i CustomerClient några gånger</a:t>
            </a:r>
            <a:endParaRPr lang="en-US" sz="1300" dirty="0"/>
          </a:p>
        </p:txBody>
      </p:sp>
      <p:sp>
        <p:nvSpPr>
          <p:cNvPr id="7" name="Shape 5"/>
          <p:cNvSpPr/>
          <p:nvPr/>
        </p:nvSpPr>
        <p:spPr>
          <a:xfrm>
            <a:off x="548640" y="2441448"/>
            <a:ext cx="6949440" cy="749808"/>
          </a:xfrm>
          <a:prstGeom prst="roundRect">
            <a:avLst>
              <a:gd name="adj" fmla="val 6098"/>
            </a:avLst>
          </a:prstGeom>
          <a:solidFill>
            <a:srgbClr val="16294A"/>
          </a:solidFill>
          <a:ln w="12700">
            <a:solidFill>
              <a:srgbClr val="16294A"/>
            </a:solidFill>
            <a:prstDash val="solid"/>
          </a:ln>
        </p:spPr>
      </p:sp>
      <p:sp>
        <p:nvSpPr>
          <p:cNvPr id="8" name="Text 6"/>
          <p:cNvSpPr txBox="1"/>
          <p:nvPr/>
        </p:nvSpPr>
        <p:spPr>
          <a:xfrm>
            <a:off x="685800" y="2441448"/>
            <a:ext cx="365760" cy="749808"/>
          </a:xfrm>
          <a:prstGeom prst="rect">
            <a:avLst/>
          </a:prstGeom>
          <a:noFill/>
          <a:ln/>
        </p:spPr>
        <p:txBody>
          <a:bodyPr wrap="square" lIns="0" tIns="0" rIns="0" bIns="0" rtlCol="0" anchor="ctr"/>
          <a:lstStyle/>
          <a:p>
            <a:pPr marL="0" indent="0">
              <a:buNone/>
            </a:pPr>
            <a:r>
              <a:rPr lang="en-US" sz="1800" b="1" dirty="0">
                <a:solidFill>
                  <a:srgbClr val="7C9CFF"/>
                </a:solidFill>
                <a:latin typeface="Calibri" pitchFamily="34" charset="0"/>
                <a:ea typeface="Calibri" pitchFamily="34" charset="-122"/>
                <a:cs typeface="Calibri" pitchFamily="34" charset="-120"/>
              </a:rPr>
              <a:t>2</a:t>
            </a:r>
            <a:endParaRPr lang="en-US" sz="1800" dirty="0"/>
          </a:p>
        </p:txBody>
      </p:sp>
      <p:sp>
        <p:nvSpPr>
          <p:cNvPr id="9" name="Text 7"/>
          <p:cNvSpPr txBox="1"/>
          <p:nvPr/>
        </p:nvSpPr>
        <p:spPr>
          <a:xfrm>
            <a:off x="1097280" y="2441448"/>
            <a:ext cx="6263640" cy="749808"/>
          </a:xfrm>
          <a:prstGeom prst="rect">
            <a:avLst/>
          </a:prstGeom>
          <a:noFill/>
          <a:ln/>
        </p:spPr>
        <p:txBody>
          <a:bodyPr wrap="square" lIns="0" tIns="0" rIns="0" bIns="0" rtlCol="0" anchor="ctr"/>
          <a:lstStyle/>
          <a:p>
            <a:pPr marL="0" indent="0">
              <a:buNone/>
            </a:pPr>
            <a:r>
              <a:rPr lang="en-US" sz="1300" b="1" dirty="0">
                <a:solidFill>
                  <a:srgbClr val="F5F7FA"/>
                </a:solidFill>
                <a:latin typeface="Arial" pitchFamily="34" charset="0"/>
                <a:ea typeface="Arial" pitchFamily="34" charset="-122"/>
                <a:cs typeface="Arial" pitchFamily="34" charset="-120"/>
              </a:rPr>
              <a:t>Felandel blir röd</a:t>
            </a:r>
            <a:r>
              <a:rPr lang="en-US" sz="1300" dirty="0">
                <a:solidFill>
                  <a:srgbClr val="B9C4D1"/>
                </a:solidFill>
                <a:latin typeface="Arial" pitchFamily="34" charset="0"/>
                <a:ea typeface="Arial" pitchFamily="34" charset="-122"/>
                <a:cs typeface="Arial" pitchFamily="34" charset="-120"/>
              </a:rPr>
              <a:t>  Stat-panelen "Felandel (5xx)" slår om efter ca 10 s</a:t>
            </a:r>
            <a:endParaRPr lang="en-US" sz="1300" dirty="0"/>
          </a:p>
        </p:txBody>
      </p:sp>
      <p:sp>
        <p:nvSpPr>
          <p:cNvPr id="10" name="Shape 8"/>
          <p:cNvSpPr/>
          <p:nvPr/>
        </p:nvSpPr>
        <p:spPr>
          <a:xfrm>
            <a:off x="548640" y="3282696"/>
            <a:ext cx="6949440" cy="749808"/>
          </a:xfrm>
          <a:prstGeom prst="roundRect">
            <a:avLst>
              <a:gd name="adj" fmla="val 6098"/>
            </a:avLst>
          </a:prstGeom>
          <a:solidFill>
            <a:srgbClr val="16294A"/>
          </a:solidFill>
          <a:ln w="12700">
            <a:solidFill>
              <a:srgbClr val="16294A"/>
            </a:solidFill>
            <a:prstDash val="solid"/>
          </a:ln>
        </p:spPr>
      </p:sp>
      <p:sp>
        <p:nvSpPr>
          <p:cNvPr id="11" name="Text 9"/>
          <p:cNvSpPr txBox="1"/>
          <p:nvPr/>
        </p:nvSpPr>
        <p:spPr>
          <a:xfrm>
            <a:off x="685800" y="3282696"/>
            <a:ext cx="365760" cy="749808"/>
          </a:xfrm>
          <a:prstGeom prst="rect">
            <a:avLst/>
          </a:prstGeom>
          <a:noFill/>
          <a:ln/>
        </p:spPr>
        <p:txBody>
          <a:bodyPr wrap="square" lIns="0" tIns="0" rIns="0" bIns="0" rtlCol="0" anchor="ctr"/>
          <a:lstStyle/>
          <a:p>
            <a:pPr marL="0" indent="0">
              <a:buNone/>
            </a:pPr>
            <a:r>
              <a:rPr lang="en-US" sz="1800" b="1" dirty="0">
                <a:solidFill>
                  <a:srgbClr val="7C9CFF"/>
                </a:solidFill>
                <a:latin typeface="Calibri" pitchFamily="34" charset="0"/>
                <a:ea typeface="Calibri" pitchFamily="34" charset="-122"/>
                <a:cs typeface="Calibri" pitchFamily="34" charset="-120"/>
              </a:rPr>
              <a:t>3</a:t>
            </a:r>
            <a:endParaRPr lang="en-US" sz="1800" dirty="0"/>
          </a:p>
        </p:txBody>
      </p:sp>
      <p:sp>
        <p:nvSpPr>
          <p:cNvPr id="12" name="Text 10"/>
          <p:cNvSpPr txBox="1"/>
          <p:nvPr/>
        </p:nvSpPr>
        <p:spPr>
          <a:xfrm>
            <a:off x="1097280" y="3282696"/>
            <a:ext cx="6263640" cy="749808"/>
          </a:xfrm>
          <a:prstGeom prst="rect">
            <a:avLst/>
          </a:prstGeom>
          <a:noFill/>
          <a:ln/>
        </p:spPr>
        <p:txBody>
          <a:bodyPr wrap="square" lIns="0" tIns="0" rIns="0" bIns="0" rtlCol="0" anchor="ctr"/>
          <a:lstStyle/>
          <a:p>
            <a:pPr marL="0" indent="0">
              <a:buNone/>
            </a:pPr>
            <a:r>
              <a:rPr lang="en-US" sz="1300" b="1" dirty="0">
                <a:solidFill>
                  <a:srgbClr val="F5F7FA"/>
                </a:solidFill>
                <a:latin typeface="Arial" pitchFamily="34" charset="0"/>
                <a:ea typeface="Arial" pitchFamily="34" charset="-122"/>
                <a:cs typeface="Arial" pitchFamily="34" charset="-120"/>
              </a:rPr>
              <a:t>Traces med fel</a:t>
            </a:r>
            <a:r>
              <a:rPr lang="en-US" sz="1300" dirty="0">
                <a:solidFill>
                  <a:srgbClr val="B9C4D1"/>
                </a:solidFill>
                <a:latin typeface="Arial" pitchFamily="34" charset="0"/>
                <a:ea typeface="Arial" pitchFamily="34" charset="-122"/>
                <a:cs typeface="Arial" pitchFamily="34" charset="-120"/>
              </a:rPr>
              <a:t>  Klicka ett Trace ID - vattenfallet öppnas, spannet är rött</a:t>
            </a:r>
            <a:endParaRPr lang="en-US" sz="1300" dirty="0"/>
          </a:p>
        </p:txBody>
      </p:sp>
      <p:sp>
        <p:nvSpPr>
          <p:cNvPr id="13" name="Shape 11"/>
          <p:cNvSpPr/>
          <p:nvPr/>
        </p:nvSpPr>
        <p:spPr>
          <a:xfrm>
            <a:off x="548640" y="4123944"/>
            <a:ext cx="6949440" cy="749808"/>
          </a:xfrm>
          <a:prstGeom prst="roundRect">
            <a:avLst>
              <a:gd name="adj" fmla="val 6098"/>
            </a:avLst>
          </a:prstGeom>
          <a:solidFill>
            <a:srgbClr val="3762FF"/>
          </a:solidFill>
          <a:ln w="12700">
            <a:solidFill>
              <a:srgbClr val="3762FF"/>
            </a:solidFill>
            <a:prstDash val="solid"/>
          </a:ln>
        </p:spPr>
      </p:sp>
      <p:sp>
        <p:nvSpPr>
          <p:cNvPr id="14" name="Text 12"/>
          <p:cNvSpPr txBox="1"/>
          <p:nvPr/>
        </p:nvSpPr>
        <p:spPr>
          <a:xfrm>
            <a:off x="685800" y="4123944"/>
            <a:ext cx="365760" cy="749808"/>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5" name="Text 13"/>
          <p:cNvSpPr txBox="1"/>
          <p:nvPr/>
        </p:nvSpPr>
        <p:spPr>
          <a:xfrm>
            <a:off x="1097280" y="4123944"/>
            <a:ext cx="6263640" cy="749808"/>
          </a:xfrm>
          <a:prstGeom prst="rect">
            <a:avLst/>
          </a:prstGeom>
          <a:noFill/>
          <a:ln/>
        </p:spPr>
        <p:txBody>
          <a:bodyPr wrap="square" lIns="0" tIns="0" rIns="0" bIns="0" rtlCol="0" anchor="ctr"/>
          <a:lstStyle/>
          <a:p>
            <a:pPr marL="0" indent="0">
              <a:buNone/>
            </a:pPr>
            <a:r>
              <a:rPr lang="en-US" sz="1300" b="1" dirty="0">
                <a:solidFill>
                  <a:srgbClr val="FFFFFF"/>
                </a:solidFill>
                <a:latin typeface="Arial" pitchFamily="34" charset="0"/>
                <a:ea typeface="Arial" pitchFamily="34" charset="-122"/>
                <a:cs typeface="Arial" pitchFamily="34" charset="-120"/>
              </a:rPr>
              <a:t>Logs for this span</a:t>
            </a:r>
            <a:r>
              <a:rPr lang="en-US" sz="1300" dirty="0">
                <a:solidFill>
                  <a:srgbClr val="FFFFFF"/>
                </a:solidFill>
                <a:latin typeface="Arial" pitchFamily="34" charset="0"/>
                <a:ea typeface="Arial" pitchFamily="34" charset="-122"/>
                <a:cs typeface="Arial" pitchFamily="34" charset="-120"/>
              </a:rPr>
              <a:t>  Knappen på spannet hoppar till Loki: stacktracen</a:t>
            </a:r>
            <a:endParaRPr lang="en-US" sz="1300" dirty="0"/>
          </a:p>
        </p:txBody>
      </p:sp>
      <p:sp>
        <p:nvSpPr>
          <p:cNvPr id="16" name="Shape 14"/>
          <p:cNvSpPr/>
          <p:nvPr/>
        </p:nvSpPr>
        <p:spPr>
          <a:xfrm>
            <a:off x="548640" y="4965192"/>
            <a:ext cx="6949440" cy="749808"/>
          </a:xfrm>
          <a:prstGeom prst="roundRect">
            <a:avLst>
              <a:gd name="adj" fmla="val 6098"/>
            </a:avLst>
          </a:prstGeom>
          <a:solidFill>
            <a:srgbClr val="16294A"/>
          </a:solidFill>
          <a:ln w="12700">
            <a:solidFill>
              <a:srgbClr val="16294A"/>
            </a:solidFill>
            <a:prstDash val="solid"/>
          </a:ln>
        </p:spPr>
      </p:sp>
      <p:sp>
        <p:nvSpPr>
          <p:cNvPr id="17" name="Text 15"/>
          <p:cNvSpPr txBox="1"/>
          <p:nvPr/>
        </p:nvSpPr>
        <p:spPr>
          <a:xfrm>
            <a:off x="685800" y="4965192"/>
            <a:ext cx="365760" cy="749808"/>
          </a:xfrm>
          <a:prstGeom prst="rect">
            <a:avLst/>
          </a:prstGeom>
          <a:noFill/>
          <a:ln/>
        </p:spPr>
        <p:txBody>
          <a:bodyPr wrap="square" lIns="0" tIns="0" rIns="0" bIns="0" rtlCol="0" anchor="ctr"/>
          <a:lstStyle/>
          <a:p>
            <a:pPr marL="0" indent="0">
              <a:buNone/>
            </a:pPr>
            <a:r>
              <a:rPr lang="en-US" sz="1800" b="1" dirty="0">
                <a:solidFill>
                  <a:srgbClr val="7C9CFF"/>
                </a:solidFill>
                <a:latin typeface="Calibri" pitchFamily="34" charset="0"/>
                <a:ea typeface="Calibri" pitchFamily="34" charset="-122"/>
                <a:cs typeface="Calibri" pitchFamily="34" charset="-120"/>
              </a:rPr>
              <a:t>5</a:t>
            </a:r>
            <a:endParaRPr lang="en-US" sz="1800" dirty="0"/>
          </a:p>
        </p:txBody>
      </p:sp>
      <p:sp>
        <p:nvSpPr>
          <p:cNvPr id="18" name="Text 16"/>
          <p:cNvSpPr txBox="1"/>
          <p:nvPr/>
        </p:nvSpPr>
        <p:spPr>
          <a:xfrm>
            <a:off x="1097280" y="4965192"/>
            <a:ext cx="6263640" cy="749808"/>
          </a:xfrm>
          <a:prstGeom prst="rect">
            <a:avLst/>
          </a:prstGeom>
          <a:noFill/>
          <a:ln/>
        </p:spPr>
        <p:txBody>
          <a:bodyPr wrap="square" lIns="0" tIns="0" rIns="0" bIns="0" rtlCol="0" anchor="ctr"/>
          <a:lstStyle/>
          <a:p>
            <a:pPr marL="0" indent="0">
              <a:buNone/>
            </a:pPr>
            <a:r>
              <a:rPr lang="en-US" sz="1300" b="1" dirty="0">
                <a:solidFill>
                  <a:srgbClr val="F5F7FA"/>
                </a:solidFill>
                <a:latin typeface="Arial" pitchFamily="34" charset="0"/>
                <a:ea typeface="Arial" pitchFamily="34" charset="-122"/>
                <a:cs typeface="Arial" pitchFamily="34" charset="-120"/>
              </a:rPr>
              <a:t>Långsamt anrop</a:t>
            </a:r>
            <a:r>
              <a:rPr lang="en-US" sz="1300" dirty="0">
                <a:solidFill>
                  <a:srgbClr val="B9C4D1"/>
                </a:solidFill>
                <a:latin typeface="Arial" pitchFamily="34" charset="0"/>
                <a:ea typeface="Arial" pitchFamily="34" charset="-122"/>
                <a:cs typeface="Arial" pitchFamily="34" charset="-120"/>
              </a:rPr>
              <a:t>  p95-kurvan stiger - klicka pricken (exemplar) - samma anrop i Tempo</a:t>
            </a:r>
            <a:endParaRPr lang="en-US" sz="1300" dirty="0"/>
          </a:p>
        </p:txBody>
      </p:sp>
      <p:sp>
        <p:nvSpPr>
          <p:cNvPr id="19" name="Shape 17"/>
          <p:cNvSpPr/>
          <p:nvPr/>
        </p:nvSpPr>
        <p:spPr>
          <a:xfrm>
            <a:off x="7863840" y="1600200"/>
            <a:ext cx="3779215" cy="2011680"/>
          </a:xfrm>
          <a:prstGeom prst="roundRect">
            <a:avLst>
              <a:gd name="adj" fmla="val 2727"/>
            </a:avLst>
          </a:prstGeom>
          <a:solidFill>
            <a:srgbClr val="16294A"/>
          </a:solidFill>
          <a:ln w="12700">
            <a:solidFill>
              <a:srgbClr val="16294A"/>
            </a:solidFill>
            <a:prstDash val="solid"/>
          </a:ln>
        </p:spPr>
      </p:sp>
      <p:sp>
        <p:nvSpPr>
          <p:cNvPr id="20" name="Text 18"/>
          <p:cNvSpPr txBox="1"/>
          <p:nvPr/>
        </p:nvSpPr>
        <p:spPr>
          <a:xfrm>
            <a:off x="8065008" y="1801368"/>
            <a:ext cx="3376879" cy="320040"/>
          </a:xfrm>
          <a:prstGeom prst="rect">
            <a:avLst/>
          </a:prstGeom>
          <a:noFill/>
          <a:ln/>
        </p:spPr>
        <p:txBody>
          <a:bodyPr wrap="square" lIns="0" tIns="0" rIns="0" bIns="0" rtlCol="0" anchor="t"/>
          <a:lstStyle/>
          <a:p>
            <a:pPr marL="0" indent="0">
              <a:buNone/>
            </a:pPr>
            <a:r>
              <a:rPr lang="en-US" sz="1500" b="1" dirty="0">
                <a:solidFill>
                  <a:srgbClr val="F5F7FA"/>
                </a:solidFill>
                <a:latin typeface="Calibri" pitchFamily="34" charset="0"/>
                <a:ea typeface="Calibri" pitchFamily="34" charset="-122"/>
                <a:cs typeface="Calibri" pitchFamily="34" charset="-120"/>
              </a:rPr>
              <a:t>Ingen kod ikväll än</a:t>
            </a:r>
            <a:endParaRPr lang="en-US" sz="1500" dirty="0"/>
          </a:p>
        </p:txBody>
      </p:sp>
      <p:sp>
        <p:nvSpPr>
          <p:cNvPr id="21" name="Text 19"/>
          <p:cNvSpPr txBox="1"/>
          <p:nvPr/>
        </p:nvSpPr>
        <p:spPr>
          <a:xfrm>
            <a:off x="8065008" y="2185416"/>
            <a:ext cx="3376879" cy="1271016"/>
          </a:xfrm>
          <a:prstGeom prst="rect">
            <a:avLst/>
          </a:prstGeom>
          <a:noFill/>
          <a:ln/>
        </p:spPr>
        <p:txBody>
          <a:bodyPr wrap="square" lIns="0" tIns="0" rIns="0" bIns="0" rtlCol="0" anchor="t"/>
          <a:lstStyle/>
          <a:p>
            <a:pPr marL="0" indent="0">
              <a:lnSpc>
                <a:spcPct val="115000"/>
              </a:lnSpc>
              <a:buNone/>
            </a:pPr>
            <a:r>
              <a:rPr lang="en-US" sz="1300" dirty="0">
                <a:solidFill>
                  <a:srgbClr val="B9C4D1"/>
                </a:solidFill>
                <a:latin typeface="Arial" pitchFamily="34" charset="0"/>
                <a:ea typeface="Arial" pitchFamily="34" charset="-122"/>
                <a:cs typeface="Arial" pitchFamily="34" charset="-120"/>
              </a:rPr>
              <a:t>Allt det här fungerar redan med det vi byggde förra gången - plus tre små inställningar i stacken.</a:t>
            </a:r>
            <a:endParaRPr lang="en-US" sz="1300" dirty="0"/>
          </a:p>
        </p:txBody>
      </p:sp>
      <p:sp>
        <p:nvSpPr>
          <p:cNvPr id="22" name="Shape 20"/>
          <p:cNvSpPr/>
          <p:nvPr/>
        </p:nvSpPr>
        <p:spPr>
          <a:xfrm>
            <a:off x="7863840" y="3794760"/>
            <a:ext cx="3779215" cy="1965960"/>
          </a:xfrm>
          <a:prstGeom prst="roundRect">
            <a:avLst>
              <a:gd name="adj" fmla="val 2791"/>
            </a:avLst>
          </a:prstGeom>
          <a:solidFill>
            <a:srgbClr val="3762FF"/>
          </a:solidFill>
          <a:ln w="12700">
            <a:solidFill>
              <a:srgbClr val="3762FF"/>
            </a:solidFill>
            <a:prstDash val="solid"/>
          </a:ln>
        </p:spPr>
      </p:sp>
      <p:sp>
        <p:nvSpPr>
          <p:cNvPr id="23" name="Text 21"/>
          <p:cNvSpPr txBox="1"/>
          <p:nvPr/>
        </p:nvSpPr>
        <p:spPr>
          <a:xfrm>
            <a:off x="8065008" y="3995928"/>
            <a:ext cx="3376879" cy="320040"/>
          </a:xfrm>
          <a:prstGeom prst="rect">
            <a:avLst/>
          </a:prstGeom>
          <a:noFill/>
          <a:ln/>
        </p:spPr>
        <p:txBody>
          <a:bodyPr wrap="square" lIns="0" tIns="0" rIns="0" bIns="0" rtlCol="0" anchor="t"/>
          <a:lstStyle/>
          <a:p>
            <a:pPr marL="0" indent="0">
              <a:buNone/>
            </a:pPr>
            <a:r>
              <a:rPr lang="en-US" sz="1500" b="1" dirty="0">
                <a:solidFill>
                  <a:srgbClr val="FFFFFF"/>
                </a:solidFill>
                <a:latin typeface="Calibri" pitchFamily="34" charset="0"/>
                <a:ea typeface="Calibri" pitchFamily="34" charset="-122"/>
                <a:cs typeface="Calibri" pitchFamily="34" charset="-120"/>
              </a:rPr>
              <a:t>Frågan att ställa</a:t>
            </a:r>
            <a:endParaRPr lang="en-US" sz="1500" dirty="0"/>
          </a:p>
        </p:txBody>
      </p:sp>
      <p:sp>
        <p:nvSpPr>
          <p:cNvPr id="24" name="Text 22"/>
          <p:cNvSpPr txBox="1"/>
          <p:nvPr/>
        </p:nvSpPr>
        <p:spPr>
          <a:xfrm>
            <a:off x="8065008" y="4379976"/>
            <a:ext cx="3376879" cy="1225296"/>
          </a:xfrm>
          <a:prstGeom prst="rect">
            <a:avLst/>
          </a:prstGeom>
          <a:noFill/>
          <a:ln/>
        </p:spPr>
        <p:txBody>
          <a:bodyPr wrap="square" lIns="0" tIns="0" rIns="0" bIns="0" rtlCol="0" anchor="t"/>
          <a:lstStyle/>
          <a:p>
            <a:pPr marL="0" indent="0">
              <a:lnSpc>
                <a:spcPct val="115000"/>
              </a:lnSpc>
              <a:buNone/>
            </a:pPr>
            <a:r>
              <a:rPr lang="en-US" sz="1300" dirty="0">
                <a:solidFill>
                  <a:srgbClr val="FFFFFF"/>
                </a:solidFill>
                <a:latin typeface="Arial" pitchFamily="34" charset="0"/>
                <a:ea typeface="Arial" pitchFamily="34" charset="-122"/>
                <a:cs typeface="Arial" pitchFamily="34" charset="-120"/>
              </a:rPr>
              <a:t>Hur lång tid hade samma felsökning tagit med kubectl logs och tre terminalfönster?</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7F4"/>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marL="0" indent="0">
              <a:buNone/>
            </a:pPr>
            <a:r>
              <a:rPr lang="en-US" sz="1200" b="1" kern="0" spc="200" dirty="0">
                <a:solidFill>
                  <a:srgbClr val="3762FF"/>
                </a:solidFill>
                <a:latin typeface="Arial" pitchFamily="34" charset="0"/>
                <a:ea typeface="Arial" pitchFamily="34" charset="-122"/>
                <a:cs typeface="Arial" pitchFamily="34" charset="-120"/>
              </a:rPr>
              <a:t>BEVISET · KOPPLINGARNA</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marL="0" indent="0">
              <a:buNone/>
            </a:pPr>
            <a:r>
              <a:rPr lang="en-US" sz="3000" b="1" dirty="0">
                <a:solidFill>
                  <a:srgbClr val="16202B"/>
                </a:solidFill>
                <a:latin typeface="Calibri" pitchFamily="34" charset="0"/>
                <a:ea typeface="Calibri" pitchFamily="34" charset="-122"/>
                <a:cs typeface="Calibri" pitchFamily="34" charset="-120"/>
              </a:rPr>
              <a:t>trace_id - tråden som syr ihop allt</a:t>
            </a:r>
            <a:endParaRPr lang="en-US" sz="3000" dirty="0"/>
          </a:p>
        </p:txBody>
      </p:sp>
      <p:sp>
        <p:nvSpPr>
          <p:cNvPr id="4" name="Shape 2"/>
          <p:cNvSpPr/>
          <p:nvPr/>
        </p:nvSpPr>
        <p:spPr>
          <a:xfrm>
            <a:off x="4956048" y="2743200"/>
            <a:ext cx="2286000" cy="1005840"/>
          </a:xfrm>
          <a:prstGeom prst="roundRect">
            <a:avLst>
              <a:gd name="adj" fmla="val 5455"/>
            </a:avLst>
          </a:prstGeom>
          <a:solidFill>
            <a:srgbClr val="3762FF"/>
          </a:solidFill>
          <a:ln w="12700">
            <a:solidFill>
              <a:srgbClr val="3762FF"/>
            </a:solidFill>
            <a:prstDash val="solid"/>
          </a:ln>
          <a:effectLst>
            <a:outerShdw blurRad="101600" dist="25400" dir="5400000" algn="bl" rotWithShape="0">
              <a:srgbClr val="000000">
                <a:alpha val="10000"/>
              </a:srgbClr>
            </a:outerShdw>
          </a:effectLst>
        </p:spPr>
      </p:sp>
      <p:sp>
        <p:nvSpPr>
          <p:cNvPr id="5" name="Text 3"/>
          <p:cNvSpPr txBox="1"/>
          <p:nvPr/>
        </p:nvSpPr>
        <p:spPr>
          <a:xfrm>
            <a:off x="5047488" y="2743200"/>
            <a:ext cx="2103120" cy="100584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trace_id</a:t>
            </a:r>
            <a:endParaRPr lang="en-US" sz="1600" dirty="0"/>
          </a:p>
          <a:p>
            <a:pPr marL="0" indent="0" algn="ctr">
              <a:buNone/>
            </a:pPr>
            <a:r>
              <a:rPr lang="en-US" sz="1600" b="1" dirty="0">
                <a:solidFill>
                  <a:srgbClr val="FFFFFF"/>
                </a:solidFill>
                <a:latin typeface="Calibri" pitchFamily="34" charset="0"/>
                <a:ea typeface="Calibri" pitchFamily="34" charset="-122"/>
                <a:cs typeface="Calibri" pitchFamily="34" charset="-120"/>
              </a:rPr>
              <a:t>4bf92f35…</a:t>
            </a:r>
            <a:endParaRPr lang="en-US" sz="1600" dirty="0"/>
          </a:p>
        </p:txBody>
      </p:sp>
      <p:sp>
        <p:nvSpPr>
          <p:cNvPr id="6" name="Shape 4"/>
          <p:cNvSpPr/>
          <p:nvPr/>
        </p:nvSpPr>
        <p:spPr>
          <a:xfrm>
            <a:off x="548640" y="1600200"/>
            <a:ext cx="3291840" cy="960120"/>
          </a:xfrm>
          <a:prstGeom prst="roundRect">
            <a:avLst>
              <a:gd name="adj" fmla="val 5714"/>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7" name="Text 5"/>
          <p:cNvSpPr txBox="1"/>
          <p:nvPr/>
        </p:nvSpPr>
        <p:spPr>
          <a:xfrm>
            <a:off x="640080" y="1600200"/>
            <a:ext cx="3108960" cy="960120"/>
          </a:xfrm>
          <a:prstGeom prst="rect">
            <a:avLst/>
          </a:prstGeom>
          <a:noFill/>
          <a:ln/>
        </p:spPr>
        <p:txBody>
          <a:bodyPr wrap="square" lIns="0" tIns="0" rIns="0" bIns="0" rtlCol="0" anchor="ctr"/>
          <a:lstStyle/>
          <a:p>
            <a:pPr marL="0" indent="0" algn="ctr">
              <a:buNone/>
            </a:pPr>
            <a:r>
              <a:rPr lang="en-US" sz="1400" b="1" dirty="0">
                <a:solidFill>
                  <a:srgbClr val="16202B"/>
                </a:solidFill>
                <a:latin typeface="Calibri" pitchFamily="34" charset="0"/>
                <a:ea typeface="Calibri" pitchFamily="34" charset="-122"/>
                <a:cs typeface="Calibri" pitchFamily="34" charset="-120"/>
              </a:rPr>
              <a:t>Prometheus</a:t>
            </a:r>
            <a:endParaRPr lang="en-US" sz="1400" dirty="0"/>
          </a:p>
          <a:p>
            <a:pPr marL="0" indent="0" algn="ctr">
              <a:buNone/>
            </a:pPr>
            <a:r>
              <a:rPr lang="en-US" sz="1400" b="1" dirty="0">
                <a:solidFill>
                  <a:srgbClr val="16202B"/>
                </a:solidFill>
                <a:latin typeface="Calibri" pitchFamily="34" charset="0"/>
                <a:ea typeface="Calibri" pitchFamily="34" charset="-122"/>
                <a:cs typeface="Calibri" pitchFamily="34" charset="-120"/>
              </a:rPr>
              <a:t>exemplar på en mätpunkt</a:t>
            </a:r>
            <a:endParaRPr lang="en-US" sz="1400" dirty="0"/>
          </a:p>
        </p:txBody>
      </p:sp>
      <p:sp>
        <p:nvSpPr>
          <p:cNvPr id="8" name="Shape 6"/>
          <p:cNvSpPr/>
          <p:nvPr/>
        </p:nvSpPr>
        <p:spPr>
          <a:xfrm>
            <a:off x="8351215" y="1600200"/>
            <a:ext cx="3291840" cy="960120"/>
          </a:xfrm>
          <a:prstGeom prst="roundRect">
            <a:avLst>
              <a:gd name="adj" fmla="val 5714"/>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9" name="Text 7"/>
          <p:cNvSpPr txBox="1"/>
          <p:nvPr/>
        </p:nvSpPr>
        <p:spPr>
          <a:xfrm>
            <a:off x="8442655" y="1600200"/>
            <a:ext cx="3108960" cy="960120"/>
          </a:xfrm>
          <a:prstGeom prst="rect">
            <a:avLst/>
          </a:prstGeom>
          <a:noFill/>
          <a:ln/>
        </p:spPr>
        <p:txBody>
          <a:bodyPr wrap="square" lIns="0" tIns="0" rIns="0" bIns="0" rtlCol="0" anchor="ctr"/>
          <a:lstStyle/>
          <a:p>
            <a:pPr marL="0" indent="0" algn="ctr">
              <a:buNone/>
            </a:pPr>
            <a:r>
              <a:rPr lang="en-US" sz="1400" b="1" dirty="0">
                <a:solidFill>
                  <a:srgbClr val="16202B"/>
                </a:solidFill>
                <a:latin typeface="Calibri" pitchFamily="34" charset="0"/>
                <a:ea typeface="Calibri" pitchFamily="34" charset="-122"/>
                <a:cs typeface="Calibri" pitchFamily="34" charset="-120"/>
              </a:rPr>
              <a:t>Tempo</a:t>
            </a:r>
            <a:endParaRPr lang="en-US" sz="1400" dirty="0"/>
          </a:p>
          <a:p>
            <a:pPr marL="0" indent="0" algn="ctr">
              <a:buNone/>
            </a:pPr>
            <a:r>
              <a:rPr lang="en-US" sz="1400" b="1" dirty="0">
                <a:solidFill>
                  <a:srgbClr val="16202B"/>
                </a:solidFill>
                <a:latin typeface="Calibri" pitchFamily="34" charset="0"/>
                <a:ea typeface="Calibri" pitchFamily="34" charset="-122"/>
                <a:cs typeface="Calibri" pitchFamily="34" charset="-120"/>
              </a:rPr>
              <a:t>tracen med alla spans</a:t>
            </a:r>
            <a:endParaRPr lang="en-US" sz="1400" dirty="0"/>
          </a:p>
        </p:txBody>
      </p:sp>
      <p:sp>
        <p:nvSpPr>
          <p:cNvPr id="10" name="Shape 8"/>
          <p:cNvSpPr/>
          <p:nvPr/>
        </p:nvSpPr>
        <p:spPr>
          <a:xfrm>
            <a:off x="548640" y="3931920"/>
            <a:ext cx="3291840" cy="960120"/>
          </a:xfrm>
          <a:prstGeom prst="roundRect">
            <a:avLst>
              <a:gd name="adj" fmla="val 5714"/>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11" name="Text 9"/>
          <p:cNvSpPr txBox="1"/>
          <p:nvPr/>
        </p:nvSpPr>
        <p:spPr>
          <a:xfrm>
            <a:off x="640080" y="3931920"/>
            <a:ext cx="3108960" cy="960120"/>
          </a:xfrm>
          <a:prstGeom prst="rect">
            <a:avLst/>
          </a:prstGeom>
          <a:noFill/>
          <a:ln/>
        </p:spPr>
        <p:txBody>
          <a:bodyPr wrap="square" lIns="0" tIns="0" rIns="0" bIns="0" rtlCol="0" anchor="ctr"/>
          <a:lstStyle/>
          <a:p>
            <a:pPr marL="0" indent="0" algn="ctr">
              <a:buNone/>
            </a:pPr>
            <a:r>
              <a:rPr lang="en-US" sz="1400" b="1" dirty="0">
                <a:solidFill>
                  <a:srgbClr val="16202B"/>
                </a:solidFill>
                <a:latin typeface="Calibri" pitchFamily="34" charset="0"/>
                <a:ea typeface="Calibri" pitchFamily="34" charset="-122"/>
                <a:cs typeface="Calibri" pitchFamily="34" charset="-120"/>
              </a:rPr>
              <a:t>Loki</a:t>
            </a:r>
            <a:endParaRPr lang="en-US" sz="1400" dirty="0"/>
          </a:p>
          <a:p>
            <a:pPr marL="0" indent="0" algn="ctr">
              <a:buNone/>
            </a:pPr>
            <a:r>
              <a:rPr lang="en-US" sz="1400" b="1" dirty="0">
                <a:solidFill>
                  <a:srgbClr val="16202B"/>
                </a:solidFill>
                <a:latin typeface="Calibri" pitchFamily="34" charset="0"/>
                <a:ea typeface="Calibri" pitchFamily="34" charset="-122"/>
                <a:cs typeface="Calibri" pitchFamily="34" charset="-120"/>
              </a:rPr>
              <a:t>trace_id på varje loggrad</a:t>
            </a:r>
            <a:endParaRPr lang="en-US" sz="1400" dirty="0"/>
          </a:p>
        </p:txBody>
      </p:sp>
      <p:sp>
        <p:nvSpPr>
          <p:cNvPr id="12" name="Shape 10"/>
          <p:cNvSpPr/>
          <p:nvPr/>
        </p:nvSpPr>
        <p:spPr>
          <a:xfrm>
            <a:off x="8351215" y="3931920"/>
            <a:ext cx="3291840" cy="960120"/>
          </a:xfrm>
          <a:prstGeom prst="roundRect">
            <a:avLst>
              <a:gd name="adj" fmla="val 5714"/>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13" name="Text 11"/>
          <p:cNvSpPr txBox="1"/>
          <p:nvPr/>
        </p:nvSpPr>
        <p:spPr>
          <a:xfrm>
            <a:off x="8442655" y="3931920"/>
            <a:ext cx="3108960" cy="960120"/>
          </a:xfrm>
          <a:prstGeom prst="rect">
            <a:avLst/>
          </a:prstGeom>
          <a:noFill/>
          <a:ln/>
        </p:spPr>
        <p:txBody>
          <a:bodyPr wrap="square" lIns="0" tIns="0" rIns="0" bIns="0" rtlCol="0" anchor="ctr"/>
          <a:lstStyle/>
          <a:p>
            <a:pPr marL="0" indent="0" algn="ctr">
              <a:buNone/>
            </a:pPr>
            <a:r>
              <a:rPr lang="en-US" sz="1400" b="1" dirty="0">
                <a:solidFill>
                  <a:srgbClr val="16202B"/>
                </a:solidFill>
                <a:latin typeface="Calibri" pitchFamily="34" charset="0"/>
                <a:ea typeface="Calibri" pitchFamily="34" charset="-122"/>
                <a:cs typeface="Calibri" pitchFamily="34" charset="-120"/>
              </a:rPr>
              <a:t>Faro</a:t>
            </a:r>
            <a:endParaRPr lang="en-US" sz="1400" dirty="0"/>
          </a:p>
          <a:p>
            <a:pPr marL="0" indent="0" algn="ctr">
              <a:buNone/>
            </a:pPr>
            <a:r>
              <a:rPr lang="en-US" sz="1400" b="1" dirty="0">
                <a:solidFill>
                  <a:srgbClr val="16202B"/>
                </a:solidFill>
                <a:latin typeface="Calibri" pitchFamily="34" charset="0"/>
                <a:ea typeface="Calibri" pitchFamily="34" charset="-122"/>
                <a:cs typeface="Calibri" pitchFamily="34" charset="-120"/>
              </a:rPr>
              <a:t>traceparent från webbläsaren</a:t>
            </a:r>
            <a:endParaRPr lang="en-US" sz="1400" dirty="0"/>
          </a:p>
        </p:txBody>
      </p:sp>
      <p:sp>
        <p:nvSpPr>
          <p:cNvPr id="14" name="Shape 12"/>
          <p:cNvSpPr/>
          <p:nvPr/>
        </p:nvSpPr>
        <p:spPr>
          <a:xfrm>
            <a:off x="3886200" y="2194560"/>
            <a:ext cx="1024128" cy="822960"/>
          </a:xfrm>
          <a:prstGeom prst="line">
            <a:avLst/>
          </a:prstGeom>
          <a:noFill/>
          <a:ln w="19050">
            <a:solidFill>
              <a:srgbClr val="3762FF"/>
            </a:solidFill>
            <a:prstDash val="solid"/>
            <a:tailEnd type="triangle"/>
          </a:ln>
        </p:spPr>
      </p:sp>
      <p:sp>
        <p:nvSpPr>
          <p:cNvPr id="15" name="Shape 13"/>
          <p:cNvSpPr/>
          <p:nvPr/>
        </p:nvSpPr>
        <p:spPr>
          <a:xfrm flipV="1">
            <a:off x="7287768" y="2194560"/>
            <a:ext cx="1017727" cy="822960"/>
          </a:xfrm>
          <a:prstGeom prst="line">
            <a:avLst/>
          </a:prstGeom>
          <a:noFill/>
          <a:ln w="19050">
            <a:solidFill>
              <a:srgbClr val="3762FF"/>
            </a:solidFill>
            <a:prstDash val="solid"/>
            <a:tailEnd type="triangle"/>
          </a:ln>
        </p:spPr>
      </p:sp>
      <p:sp>
        <p:nvSpPr>
          <p:cNvPr id="16" name="Shape 14"/>
          <p:cNvSpPr/>
          <p:nvPr/>
        </p:nvSpPr>
        <p:spPr>
          <a:xfrm flipV="1">
            <a:off x="3886200" y="3474720"/>
            <a:ext cx="1024128" cy="914400"/>
          </a:xfrm>
          <a:prstGeom prst="line">
            <a:avLst/>
          </a:prstGeom>
          <a:noFill/>
          <a:ln w="19050">
            <a:solidFill>
              <a:srgbClr val="3762FF"/>
            </a:solidFill>
            <a:prstDash val="solid"/>
            <a:tailEnd type="triangle"/>
          </a:ln>
        </p:spPr>
      </p:sp>
      <p:sp>
        <p:nvSpPr>
          <p:cNvPr id="17" name="Shape 15"/>
          <p:cNvSpPr/>
          <p:nvPr/>
        </p:nvSpPr>
        <p:spPr>
          <a:xfrm flipH="1" flipV="1">
            <a:off x="7287768" y="3474720"/>
            <a:ext cx="1017727" cy="914400"/>
          </a:xfrm>
          <a:prstGeom prst="line">
            <a:avLst/>
          </a:prstGeom>
          <a:noFill/>
          <a:ln w="19050">
            <a:solidFill>
              <a:srgbClr val="3762FF"/>
            </a:solidFill>
            <a:prstDash val="solid"/>
            <a:tailEnd type="triangle"/>
          </a:ln>
        </p:spPr>
      </p:sp>
      <p:sp>
        <p:nvSpPr>
          <p:cNvPr id="18" name="Shape 16"/>
          <p:cNvSpPr/>
          <p:nvPr/>
        </p:nvSpPr>
        <p:spPr>
          <a:xfrm>
            <a:off x="548640" y="5166360"/>
            <a:ext cx="3606698" cy="868680"/>
          </a:xfrm>
          <a:prstGeom prst="roundRect">
            <a:avLst>
              <a:gd name="adj" fmla="val 6316"/>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19" name="Text 17"/>
          <p:cNvSpPr txBox="1"/>
          <p:nvPr/>
        </p:nvSpPr>
        <p:spPr>
          <a:xfrm>
            <a:off x="749808" y="5367528"/>
            <a:ext cx="3204362" cy="320040"/>
          </a:xfrm>
          <a:prstGeom prst="rect">
            <a:avLst/>
          </a:prstGeom>
          <a:noFill/>
          <a:ln/>
        </p:spPr>
        <p:txBody>
          <a:bodyPr wrap="square" lIns="0" tIns="0" rIns="0" bIns="0" rtlCol="0" anchor="t"/>
          <a:lstStyle/>
          <a:p>
            <a:pPr marL="0" indent="0">
              <a:buNone/>
            </a:pPr>
            <a:r>
              <a:rPr lang="en-US" sz="1400" b="1" dirty="0">
                <a:solidFill>
                  <a:srgbClr val="16202B"/>
                </a:solidFill>
                <a:latin typeface="Calibri" pitchFamily="34" charset="0"/>
                <a:ea typeface="Calibri" pitchFamily="34" charset="-122"/>
                <a:cs typeface="Calibri" pitchFamily="34" charset="-120"/>
              </a:rPr>
              <a:t>Metric → Trace</a:t>
            </a:r>
            <a:endParaRPr lang="en-US" sz="1400" dirty="0"/>
          </a:p>
        </p:txBody>
      </p:sp>
      <p:sp>
        <p:nvSpPr>
          <p:cNvPr id="20" name="Text 18"/>
          <p:cNvSpPr txBox="1"/>
          <p:nvPr/>
        </p:nvSpPr>
        <p:spPr>
          <a:xfrm>
            <a:off x="749808" y="5751576"/>
            <a:ext cx="3204362" cy="128016"/>
          </a:xfrm>
          <a:prstGeom prst="rect">
            <a:avLst/>
          </a:prstGeom>
          <a:noFill/>
          <a:ln/>
        </p:spPr>
        <p:txBody>
          <a:bodyPr wrap="square" lIns="0" tIns="0" rIns="0" bIns="0" rtlCol="0" anchor="t"/>
          <a:lstStyle/>
          <a:p>
            <a:pPr marL="0" indent="0">
              <a:lnSpc>
                <a:spcPct val="115000"/>
              </a:lnSpc>
              <a:buNone/>
            </a:pPr>
            <a:r>
              <a:rPr lang="en-US" sz="1100" dirty="0">
                <a:solidFill>
                  <a:srgbClr val="4A5568"/>
                </a:solidFill>
                <a:latin typeface="Arial" pitchFamily="34" charset="0"/>
                <a:ea typeface="Arial" pitchFamily="34" charset="-122"/>
                <a:cs typeface="Arial" pitchFamily="34" charset="-120"/>
              </a:rPr>
              <a:t>exemplarTraceIdDestinations</a:t>
            </a:r>
            <a:endParaRPr lang="en-US" sz="1100" dirty="0"/>
          </a:p>
        </p:txBody>
      </p:sp>
      <p:sp>
        <p:nvSpPr>
          <p:cNvPr id="21" name="Shape 19"/>
          <p:cNvSpPr/>
          <p:nvPr/>
        </p:nvSpPr>
        <p:spPr>
          <a:xfrm>
            <a:off x="4292498" y="5166360"/>
            <a:ext cx="3606698" cy="868680"/>
          </a:xfrm>
          <a:prstGeom prst="roundRect">
            <a:avLst>
              <a:gd name="adj" fmla="val 6316"/>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22" name="Text 20"/>
          <p:cNvSpPr txBox="1"/>
          <p:nvPr/>
        </p:nvSpPr>
        <p:spPr>
          <a:xfrm>
            <a:off x="4493666" y="5367528"/>
            <a:ext cx="3204362" cy="320040"/>
          </a:xfrm>
          <a:prstGeom prst="rect">
            <a:avLst/>
          </a:prstGeom>
          <a:noFill/>
          <a:ln/>
        </p:spPr>
        <p:txBody>
          <a:bodyPr wrap="square" lIns="0" tIns="0" rIns="0" bIns="0" rtlCol="0" anchor="t"/>
          <a:lstStyle/>
          <a:p>
            <a:pPr marL="0" indent="0">
              <a:buNone/>
            </a:pPr>
            <a:r>
              <a:rPr lang="en-US" sz="1400" b="1" dirty="0">
                <a:solidFill>
                  <a:srgbClr val="16202B"/>
                </a:solidFill>
                <a:latin typeface="Calibri" pitchFamily="34" charset="0"/>
                <a:ea typeface="Calibri" pitchFamily="34" charset="-122"/>
                <a:cs typeface="Calibri" pitchFamily="34" charset="-120"/>
              </a:rPr>
              <a:t>Trace → Logg</a:t>
            </a:r>
            <a:endParaRPr lang="en-US" sz="1400" dirty="0"/>
          </a:p>
        </p:txBody>
      </p:sp>
      <p:sp>
        <p:nvSpPr>
          <p:cNvPr id="23" name="Text 21"/>
          <p:cNvSpPr txBox="1"/>
          <p:nvPr/>
        </p:nvSpPr>
        <p:spPr>
          <a:xfrm>
            <a:off x="4493666" y="5751576"/>
            <a:ext cx="3204362" cy="128016"/>
          </a:xfrm>
          <a:prstGeom prst="rect">
            <a:avLst/>
          </a:prstGeom>
          <a:noFill/>
          <a:ln/>
        </p:spPr>
        <p:txBody>
          <a:bodyPr wrap="square" lIns="0" tIns="0" rIns="0" bIns="0" rtlCol="0" anchor="t"/>
          <a:lstStyle/>
          <a:p>
            <a:pPr marL="0" indent="0">
              <a:lnSpc>
                <a:spcPct val="115000"/>
              </a:lnSpc>
              <a:buNone/>
            </a:pPr>
            <a:r>
              <a:rPr lang="en-US" sz="1100" dirty="0">
                <a:solidFill>
                  <a:srgbClr val="4A5568"/>
                </a:solidFill>
                <a:latin typeface="Arial" pitchFamily="34" charset="0"/>
                <a:ea typeface="Arial" pitchFamily="34" charset="-122"/>
                <a:cs typeface="Arial" pitchFamily="34" charset="-120"/>
              </a:rPr>
              <a:t>tracesToLogsV2</a:t>
            </a:r>
            <a:endParaRPr lang="en-US" sz="1100" dirty="0"/>
          </a:p>
        </p:txBody>
      </p:sp>
      <p:sp>
        <p:nvSpPr>
          <p:cNvPr id="24" name="Shape 22"/>
          <p:cNvSpPr/>
          <p:nvPr/>
        </p:nvSpPr>
        <p:spPr>
          <a:xfrm>
            <a:off x="8036357" y="5166360"/>
            <a:ext cx="3606698" cy="868680"/>
          </a:xfrm>
          <a:prstGeom prst="roundRect">
            <a:avLst>
              <a:gd name="adj" fmla="val 6316"/>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25" name="Text 23"/>
          <p:cNvSpPr txBox="1"/>
          <p:nvPr/>
        </p:nvSpPr>
        <p:spPr>
          <a:xfrm>
            <a:off x="8237525" y="5367528"/>
            <a:ext cx="3204362" cy="320040"/>
          </a:xfrm>
          <a:prstGeom prst="rect">
            <a:avLst/>
          </a:prstGeom>
          <a:noFill/>
          <a:ln/>
        </p:spPr>
        <p:txBody>
          <a:bodyPr wrap="square" lIns="0" tIns="0" rIns="0" bIns="0" rtlCol="0" anchor="t"/>
          <a:lstStyle/>
          <a:p>
            <a:pPr marL="0" indent="0">
              <a:buNone/>
            </a:pPr>
            <a:r>
              <a:rPr lang="en-US" sz="1400" b="1" dirty="0">
                <a:solidFill>
                  <a:srgbClr val="16202B"/>
                </a:solidFill>
                <a:latin typeface="Calibri" pitchFamily="34" charset="0"/>
                <a:ea typeface="Calibri" pitchFamily="34" charset="-122"/>
                <a:cs typeface="Calibri" pitchFamily="34" charset="-120"/>
              </a:rPr>
              <a:t>Logg → Trace</a:t>
            </a:r>
            <a:endParaRPr lang="en-US" sz="1400" dirty="0"/>
          </a:p>
        </p:txBody>
      </p:sp>
      <p:sp>
        <p:nvSpPr>
          <p:cNvPr id="26" name="Text 24"/>
          <p:cNvSpPr txBox="1"/>
          <p:nvPr/>
        </p:nvSpPr>
        <p:spPr>
          <a:xfrm>
            <a:off x="8237525" y="5751576"/>
            <a:ext cx="3204362" cy="128016"/>
          </a:xfrm>
          <a:prstGeom prst="rect">
            <a:avLst/>
          </a:prstGeom>
          <a:noFill/>
          <a:ln/>
        </p:spPr>
        <p:txBody>
          <a:bodyPr wrap="square" lIns="0" tIns="0" rIns="0" bIns="0" rtlCol="0" anchor="t"/>
          <a:lstStyle/>
          <a:p>
            <a:pPr marL="0" indent="0">
              <a:lnSpc>
                <a:spcPct val="115000"/>
              </a:lnSpc>
              <a:buNone/>
            </a:pPr>
            <a:r>
              <a:rPr lang="en-US" sz="1100" dirty="0">
                <a:solidFill>
                  <a:srgbClr val="4A5568"/>
                </a:solidFill>
                <a:latin typeface="Arial" pitchFamily="34" charset="0"/>
                <a:ea typeface="Arial" pitchFamily="34" charset="-122"/>
                <a:cs typeface="Arial" pitchFamily="34" charset="-120"/>
              </a:rPr>
              <a:t>derivedFields</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F33"/>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marL="0" indent="0">
              <a:buNone/>
            </a:pPr>
            <a:r>
              <a:rPr lang="en-US" sz="1200" b="1" kern="0" spc="200" dirty="0">
                <a:solidFill>
                  <a:srgbClr val="7C9CFF"/>
                </a:solidFill>
                <a:latin typeface="Arial" pitchFamily="34" charset="0"/>
                <a:ea typeface="Arial" pitchFamily="34" charset="-122"/>
                <a:cs typeface="Arial" pitchFamily="34" charset="-120"/>
              </a:rPr>
              <a:t>BEVISET · DASHBOARDS SOM KOD</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marL="0" indent="0">
              <a:buNone/>
            </a:pPr>
            <a:r>
              <a:rPr lang="en-US" sz="3000" b="1" dirty="0">
                <a:solidFill>
                  <a:srgbClr val="F5F7FA"/>
                </a:solidFill>
                <a:latin typeface="Calibri" pitchFamily="34" charset="0"/>
                <a:ea typeface="Calibri" pitchFamily="34" charset="-122"/>
                <a:cs typeface="Calibri" pitchFamily="34" charset="-120"/>
              </a:rPr>
              <a:t>Dashboarden finns alltid - den ligger i klustret</a:t>
            </a:r>
            <a:endParaRPr lang="en-US" sz="3000" dirty="0"/>
          </a:p>
        </p:txBody>
      </p:sp>
      <p:sp>
        <p:nvSpPr>
          <p:cNvPr id="4" name="Shape 2"/>
          <p:cNvSpPr/>
          <p:nvPr/>
        </p:nvSpPr>
        <p:spPr>
          <a:xfrm>
            <a:off x="548640" y="1645920"/>
            <a:ext cx="2464994" cy="1005840"/>
          </a:xfrm>
          <a:prstGeom prst="roundRect">
            <a:avLst>
              <a:gd name="adj" fmla="val 5455"/>
            </a:avLst>
          </a:prstGeom>
          <a:solidFill>
            <a:srgbClr val="16294A"/>
          </a:solidFill>
          <a:ln w="12700">
            <a:solidFill>
              <a:srgbClr val="16294A"/>
            </a:solidFill>
            <a:prstDash val="solid"/>
          </a:ln>
        </p:spPr>
      </p:sp>
      <p:sp>
        <p:nvSpPr>
          <p:cNvPr id="5" name="Text 3"/>
          <p:cNvSpPr txBox="1"/>
          <p:nvPr/>
        </p:nvSpPr>
        <p:spPr>
          <a:xfrm>
            <a:off x="640080" y="1645920"/>
            <a:ext cx="2282114" cy="1005840"/>
          </a:xfrm>
          <a:prstGeom prst="rect">
            <a:avLst/>
          </a:prstGeom>
          <a:noFill/>
          <a:ln/>
        </p:spPr>
        <p:txBody>
          <a:bodyPr wrap="square" lIns="0" tIns="0" rIns="0" bIns="0" rtlCol="0" anchor="ctr"/>
          <a:lstStyle/>
          <a:p>
            <a:pPr marL="0" indent="0" algn="ctr">
              <a:buNone/>
            </a:pPr>
            <a:r>
              <a:rPr lang="en-US" sz="1300" b="1" dirty="0">
                <a:solidFill>
                  <a:srgbClr val="F5F7FA"/>
                </a:solidFill>
                <a:latin typeface="Calibri" pitchFamily="34" charset="0"/>
                <a:ea typeface="Calibri" pitchFamily="34" charset="-122"/>
                <a:cs typeface="Calibri" pitchFamily="34" charset="-120"/>
              </a:rPr>
              <a:t>dashboards/*.json</a:t>
            </a:r>
            <a:endParaRPr lang="en-US" sz="1300" dirty="0"/>
          </a:p>
          <a:p>
            <a:pPr marL="0" indent="0" algn="ctr">
              <a:buNone/>
            </a:pPr>
            <a:r>
              <a:rPr lang="en-US" sz="1300" b="1" dirty="0">
                <a:solidFill>
                  <a:srgbClr val="F5F7FA"/>
                </a:solidFill>
                <a:latin typeface="Calibri" pitchFamily="34" charset="0"/>
                <a:ea typeface="Calibri" pitchFamily="34" charset="-122"/>
                <a:cs typeface="Calibri" pitchFamily="34" charset="-120"/>
              </a:rPr>
              <a:t>i Git, bredvid koden</a:t>
            </a:r>
            <a:endParaRPr lang="en-US" sz="1300" dirty="0"/>
          </a:p>
        </p:txBody>
      </p:sp>
      <p:sp>
        <p:nvSpPr>
          <p:cNvPr id="6" name="Shape 4"/>
          <p:cNvSpPr/>
          <p:nvPr/>
        </p:nvSpPr>
        <p:spPr>
          <a:xfrm>
            <a:off x="3059354" y="2148840"/>
            <a:ext cx="320040" cy="0"/>
          </a:xfrm>
          <a:prstGeom prst="line">
            <a:avLst/>
          </a:prstGeom>
          <a:noFill/>
          <a:ln w="19050">
            <a:solidFill>
              <a:srgbClr val="7C9CFF"/>
            </a:solidFill>
            <a:prstDash val="solid"/>
            <a:tailEnd type="triangle"/>
          </a:ln>
        </p:spPr>
      </p:sp>
      <p:sp>
        <p:nvSpPr>
          <p:cNvPr id="7" name="Shape 5"/>
          <p:cNvSpPr/>
          <p:nvPr/>
        </p:nvSpPr>
        <p:spPr>
          <a:xfrm>
            <a:off x="3425114" y="1645920"/>
            <a:ext cx="2464994" cy="1005840"/>
          </a:xfrm>
          <a:prstGeom prst="roundRect">
            <a:avLst>
              <a:gd name="adj" fmla="val 5455"/>
            </a:avLst>
          </a:prstGeom>
          <a:solidFill>
            <a:srgbClr val="16294A"/>
          </a:solidFill>
          <a:ln w="12700">
            <a:solidFill>
              <a:srgbClr val="16294A"/>
            </a:solidFill>
            <a:prstDash val="solid"/>
          </a:ln>
        </p:spPr>
      </p:sp>
      <p:sp>
        <p:nvSpPr>
          <p:cNvPr id="8" name="Text 6"/>
          <p:cNvSpPr txBox="1"/>
          <p:nvPr/>
        </p:nvSpPr>
        <p:spPr>
          <a:xfrm>
            <a:off x="3516554" y="1645920"/>
            <a:ext cx="2282114" cy="1005840"/>
          </a:xfrm>
          <a:prstGeom prst="rect">
            <a:avLst/>
          </a:prstGeom>
          <a:noFill/>
          <a:ln/>
        </p:spPr>
        <p:txBody>
          <a:bodyPr wrap="square" lIns="0" tIns="0" rIns="0" bIns="0" rtlCol="0" anchor="ctr"/>
          <a:lstStyle/>
          <a:p>
            <a:pPr marL="0" indent="0" algn="ctr">
              <a:buNone/>
            </a:pPr>
            <a:r>
              <a:rPr lang="en-US" sz="1300" b="1" dirty="0">
                <a:solidFill>
                  <a:srgbClr val="F5F7FA"/>
                </a:solidFill>
                <a:latin typeface="Calibri" pitchFamily="34" charset="0"/>
                <a:ea typeface="Calibri" pitchFamily="34" charset="-122"/>
                <a:cs typeface="Calibri" pitchFamily="34" charset="-120"/>
              </a:rPr>
              <a:t>ConfigMap</a:t>
            </a:r>
            <a:endParaRPr lang="en-US" sz="1300" dirty="0"/>
          </a:p>
          <a:p>
            <a:pPr marL="0" indent="0" algn="ctr">
              <a:buNone/>
            </a:pPr>
            <a:r>
              <a:rPr lang="en-US" sz="1300" b="1" dirty="0">
                <a:solidFill>
                  <a:srgbClr val="F5F7FA"/>
                </a:solidFill>
                <a:latin typeface="Calibri" pitchFamily="34" charset="0"/>
                <a:ea typeface="Calibri" pitchFamily="34" charset="-122"/>
                <a:cs typeface="Calibri" pitchFamily="34" charset="-120"/>
              </a:rPr>
              <a:t>label grafana_dashboard=1</a:t>
            </a:r>
            <a:endParaRPr lang="en-US" sz="1300" dirty="0"/>
          </a:p>
        </p:txBody>
      </p:sp>
      <p:sp>
        <p:nvSpPr>
          <p:cNvPr id="9" name="Shape 7"/>
          <p:cNvSpPr/>
          <p:nvPr/>
        </p:nvSpPr>
        <p:spPr>
          <a:xfrm>
            <a:off x="5935828" y="2148840"/>
            <a:ext cx="320040" cy="0"/>
          </a:xfrm>
          <a:prstGeom prst="line">
            <a:avLst/>
          </a:prstGeom>
          <a:noFill/>
          <a:ln w="19050">
            <a:solidFill>
              <a:srgbClr val="7C9CFF"/>
            </a:solidFill>
            <a:prstDash val="solid"/>
            <a:tailEnd type="triangle"/>
          </a:ln>
        </p:spPr>
      </p:sp>
      <p:sp>
        <p:nvSpPr>
          <p:cNvPr id="10" name="Shape 8"/>
          <p:cNvSpPr/>
          <p:nvPr/>
        </p:nvSpPr>
        <p:spPr>
          <a:xfrm>
            <a:off x="6301588" y="1645920"/>
            <a:ext cx="2464994" cy="1005840"/>
          </a:xfrm>
          <a:prstGeom prst="roundRect">
            <a:avLst>
              <a:gd name="adj" fmla="val 5455"/>
            </a:avLst>
          </a:prstGeom>
          <a:solidFill>
            <a:srgbClr val="16294A"/>
          </a:solidFill>
          <a:ln w="12700">
            <a:solidFill>
              <a:srgbClr val="16294A"/>
            </a:solidFill>
            <a:prstDash val="solid"/>
          </a:ln>
        </p:spPr>
      </p:sp>
      <p:sp>
        <p:nvSpPr>
          <p:cNvPr id="11" name="Text 9"/>
          <p:cNvSpPr txBox="1"/>
          <p:nvPr/>
        </p:nvSpPr>
        <p:spPr>
          <a:xfrm>
            <a:off x="6393028" y="1645920"/>
            <a:ext cx="2282114" cy="1005840"/>
          </a:xfrm>
          <a:prstGeom prst="rect">
            <a:avLst/>
          </a:prstGeom>
          <a:noFill/>
          <a:ln/>
        </p:spPr>
        <p:txBody>
          <a:bodyPr wrap="square" lIns="0" tIns="0" rIns="0" bIns="0" rtlCol="0" anchor="ctr"/>
          <a:lstStyle/>
          <a:p>
            <a:pPr marL="0" indent="0" algn="ctr">
              <a:buNone/>
            </a:pPr>
            <a:r>
              <a:rPr lang="en-US" sz="1300" b="1" dirty="0">
                <a:solidFill>
                  <a:srgbClr val="F5F7FA"/>
                </a:solidFill>
                <a:latin typeface="Calibri" pitchFamily="34" charset="0"/>
                <a:ea typeface="Calibri" pitchFamily="34" charset="-122"/>
                <a:cs typeface="Calibri" pitchFamily="34" charset="-120"/>
              </a:rPr>
              <a:t>Sidecar i Grafana</a:t>
            </a:r>
            <a:endParaRPr lang="en-US" sz="1300" dirty="0"/>
          </a:p>
          <a:p>
            <a:pPr marL="0" indent="0" algn="ctr">
              <a:buNone/>
            </a:pPr>
            <a:r>
              <a:rPr lang="en-US" sz="1300" b="1" dirty="0">
                <a:solidFill>
                  <a:srgbClr val="F5F7FA"/>
                </a:solidFill>
                <a:latin typeface="Calibri" pitchFamily="34" charset="0"/>
                <a:ea typeface="Calibri" pitchFamily="34" charset="-122"/>
                <a:cs typeface="Calibri" pitchFamily="34" charset="-120"/>
              </a:rPr>
              <a:t>bevakar ConfigMaps</a:t>
            </a:r>
            <a:endParaRPr lang="en-US" sz="1300" dirty="0"/>
          </a:p>
        </p:txBody>
      </p:sp>
      <p:sp>
        <p:nvSpPr>
          <p:cNvPr id="12" name="Shape 10"/>
          <p:cNvSpPr/>
          <p:nvPr/>
        </p:nvSpPr>
        <p:spPr>
          <a:xfrm>
            <a:off x="8812301" y="2148840"/>
            <a:ext cx="320040" cy="0"/>
          </a:xfrm>
          <a:prstGeom prst="line">
            <a:avLst/>
          </a:prstGeom>
          <a:noFill/>
          <a:ln w="19050">
            <a:solidFill>
              <a:srgbClr val="7C9CFF"/>
            </a:solidFill>
            <a:prstDash val="solid"/>
            <a:tailEnd type="triangle"/>
          </a:ln>
        </p:spPr>
      </p:sp>
      <p:sp>
        <p:nvSpPr>
          <p:cNvPr id="13" name="Shape 11"/>
          <p:cNvSpPr/>
          <p:nvPr/>
        </p:nvSpPr>
        <p:spPr>
          <a:xfrm>
            <a:off x="9178061" y="1645920"/>
            <a:ext cx="2464994" cy="1005840"/>
          </a:xfrm>
          <a:prstGeom prst="roundRect">
            <a:avLst>
              <a:gd name="adj" fmla="val 5455"/>
            </a:avLst>
          </a:prstGeom>
          <a:solidFill>
            <a:srgbClr val="3762FF"/>
          </a:solidFill>
          <a:ln w="12700">
            <a:solidFill>
              <a:srgbClr val="3762FF"/>
            </a:solidFill>
            <a:prstDash val="solid"/>
          </a:ln>
        </p:spPr>
      </p:sp>
      <p:sp>
        <p:nvSpPr>
          <p:cNvPr id="14" name="Text 12"/>
          <p:cNvSpPr txBox="1"/>
          <p:nvPr/>
        </p:nvSpPr>
        <p:spPr>
          <a:xfrm>
            <a:off x="9269501" y="1645920"/>
            <a:ext cx="2282114" cy="10058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Dashboard</a:t>
            </a:r>
            <a:endParaRPr lang="en-US" sz="1300" dirty="0"/>
          </a:p>
          <a:p>
            <a:pPr marL="0" indent="0" algn="ctr">
              <a:buNone/>
            </a:pPr>
            <a:r>
              <a:rPr lang="en-US" sz="1300" b="1" dirty="0">
                <a:solidFill>
                  <a:srgbClr val="FFFFFF"/>
                </a:solidFill>
                <a:latin typeface="Calibri" pitchFamily="34" charset="0"/>
                <a:ea typeface="Calibri" pitchFamily="34" charset="-122"/>
                <a:cs typeface="Calibri" pitchFamily="34" charset="-120"/>
              </a:rPr>
              <a:t>mappen Kvällskurs</a:t>
            </a:r>
            <a:endParaRPr lang="en-US" sz="1300" dirty="0"/>
          </a:p>
        </p:txBody>
      </p:sp>
      <p:sp>
        <p:nvSpPr>
          <p:cNvPr id="15" name="Shape 13"/>
          <p:cNvSpPr/>
          <p:nvPr/>
        </p:nvSpPr>
        <p:spPr>
          <a:xfrm>
            <a:off x="548640" y="2971800"/>
            <a:ext cx="6949440" cy="2834640"/>
          </a:xfrm>
          <a:prstGeom prst="roundRect">
            <a:avLst>
              <a:gd name="adj" fmla="val 1935"/>
            </a:avLst>
          </a:prstGeom>
          <a:solidFill>
            <a:srgbClr val="16294A"/>
          </a:solidFill>
          <a:ln w="12700">
            <a:solidFill>
              <a:srgbClr val="16294A"/>
            </a:solidFill>
            <a:prstDash val="solid"/>
          </a:ln>
        </p:spPr>
      </p:sp>
      <p:sp>
        <p:nvSpPr>
          <p:cNvPr id="16" name="Shape 14"/>
          <p:cNvSpPr/>
          <p:nvPr/>
        </p:nvSpPr>
        <p:spPr>
          <a:xfrm>
            <a:off x="749808" y="3136392"/>
            <a:ext cx="109728" cy="109728"/>
          </a:xfrm>
          <a:prstGeom prst="ellipse">
            <a:avLst/>
          </a:prstGeom>
          <a:solidFill>
            <a:srgbClr val="D64545"/>
          </a:solidFill>
          <a:ln w="12700">
            <a:solidFill>
              <a:srgbClr val="D64545"/>
            </a:solidFill>
            <a:prstDash val="solid"/>
          </a:ln>
        </p:spPr>
      </p:sp>
      <p:sp>
        <p:nvSpPr>
          <p:cNvPr id="17" name="Shape 15"/>
          <p:cNvSpPr/>
          <p:nvPr/>
        </p:nvSpPr>
        <p:spPr>
          <a:xfrm>
            <a:off x="932688" y="3136392"/>
            <a:ext cx="109728" cy="109728"/>
          </a:xfrm>
          <a:prstGeom prst="ellipse">
            <a:avLst/>
          </a:prstGeom>
          <a:solidFill>
            <a:srgbClr val="FFB020"/>
          </a:solidFill>
          <a:ln w="12700">
            <a:solidFill>
              <a:srgbClr val="FFB020"/>
            </a:solidFill>
            <a:prstDash val="solid"/>
          </a:ln>
        </p:spPr>
      </p:sp>
      <p:sp>
        <p:nvSpPr>
          <p:cNvPr id="18" name="Shape 16"/>
          <p:cNvSpPr/>
          <p:nvPr/>
        </p:nvSpPr>
        <p:spPr>
          <a:xfrm>
            <a:off x="1115568" y="3136392"/>
            <a:ext cx="109728" cy="109728"/>
          </a:xfrm>
          <a:prstGeom prst="ellipse">
            <a:avLst/>
          </a:prstGeom>
          <a:solidFill>
            <a:srgbClr val="3CB371"/>
          </a:solidFill>
          <a:ln w="12700">
            <a:solidFill>
              <a:srgbClr val="3CB371"/>
            </a:solidFill>
            <a:prstDash val="solid"/>
          </a:ln>
        </p:spPr>
      </p:sp>
      <p:sp>
        <p:nvSpPr>
          <p:cNvPr id="19" name="Text 17"/>
          <p:cNvSpPr txBox="1"/>
          <p:nvPr/>
        </p:nvSpPr>
        <p:spPr>
          <a:xfrm>
            <a:off x="1371600" y="3063240"/>
            <a:ext cx="5943600" cy="256032"/>
          </a:xfrm>
          <a:prstGeom prst="rect">
            <a:avLst/>
          </a:prstGeom>
          <a:noFill/>
          <a:ln/>
        </p:spPr>
        <p:txBody>
          <a:bodyPr wrap="square" lIns="0" tIns="0" rIns="0" bIns="0" rtlCol="0" anchor="ctr"/>
          <a:lstStyle/>
          <a:p>
            <a:pPr marL="0" indent="0">
              <a:buNone/>
            </a:pPr>
            <a:r>
              <a:rPr lang="en-US" sz="1100" dirty="0">
                <a:solidFill>
                  <a:srgbClr val="B9C4D1"/>
                </a:solidFill>
                <a:latin typeface="Courier New" pitchFamily="34" charset="0"/>
                <a:ea typeface="Courier New" pitchFamily="34" charset="-122"/>
                <a:cs typeface="Courier New" pitchFamily="34" charset="-120"/>
              </a:rPr>
              <a:t>Telemetry/</a:t>
            </a:r>
            <a:endParaRPr lang="en-US" sz="1100" dirty="0"/>
          </a:p>
        </p:txBody>
      </p:sp>
      <p:sp>
        <p:nvSpPr>
          <p:cNvPr id="20" name="Text 18"/>
          <p:cNvSpPr txBox="1"/>
          <p:nvPr/>
        </p:nvSpPr>
        <p:spPr>
          <a:xfrm>
            <a:off x="777240" y="3429000"/>
            <a:ext cx="6492240" cy="2240280"/>
          </a:xfrm>
          <a:prstGeom prst="rect">
            <a:avLst/>
          </a:prstGeom>
          <a:noFill/>
          <a:ln/>
        </p:spPr>
        <p:txBody>
          <a:bodyPr wrap="square" lIns="0" tIns="0" rIns="0" bIns="0" rtlCol="0" anchor="t"/>
          <a:lstStyle/>
          <a:p>
            <a:pPr marL="0" indent="0">
              <a:lnSpc>
                <a:spcPct val="110000"/>
              </a:lnSpc>
              <a:buNone/>
            </a:pPr>
            <a:r>
              <a:rPr lang="en-US" sz="1200" i="1" dirty="0">
                <a:solidFill>
                  <a:srgbClr val="B9C4D1"/>
                </a:solidFill>
                <a:latin typeface="Courier New" pitchFamily="34" charset="0"/>
                <a:ea typeface="Courier New" pitchFamily="34" charset="-122"/>
                <a:cs typeface="Courier New" pitchFamily="34" charset="-120"/>
              </a:rPr>
              <a:t># grafana-values.yaml</a:t>
            </a:r>
            <a:endParaRPr lang="en-US" sz="1200" dirty="0"/>
          </a:p>
          <a:p>
            <a:pPr marL="0" indent="0">
              <a:lnSpc>
                <a:spcPct val="110000"/>
              </a:lnSpc>
              <a:buNone/>
            </a:pPr>
            <a:r>
              <a:rPr lang="en-US" sz="1200" dirty="0">
                <a:solidFill>
                  <a:srgbClr val="7C9CFF"/>
                </a:solidFill>
                <a:latin typeface="Courier New" pitchFamily="34" charset="0"/>
                <a:ea typeface="Courier New" pitchFamily="34" charset="-122"/>
                <a:cs typeface="Courier New" pitchFamily="34" charset="-120"/>
              </a:rPr>
              <a:t>sidecar:</a:t>
            </a:r>
            <a:r>
              <a:rPr lang="en-US" sz="1200" dirty="0">
                <a:solidFill>
                  <a:srgbClr val="DDE3EA"/>
                </a:solidFill>
                <a:latin typeface="Courier New" pitchFamily="34" charset="0"/>
                <a:ea typeface="Courier New" pitchFamily="34" charset="-122"/>
                <a:cs typeface="Courier New" pitchFamily="34" charset="-120"/>
              </a:rPr>
              <a:t> </a:t>
            </a:r>
            <a:endParaRPr lang="en-US" sz="1200" dirty="0"/>
          </a:p>
          <a:p>
            <a:pPr marL="0" indent="0">
              <a:lnSpc>
                <a:spcPct val="110000"/>
              </a:lnSpc>
              <a:buNone/>
            </a:pPr>
            <a:r>
              <a:rPr lang="en-US" sz="1200" dirty="0">
                <a:solidFill>
                  <a:srgbClr val="DDE3EA"/>
                </a:solidFill>
                <a:latin typeface="Courier New" pitchFamily="34" charset="0"/>
                <a:ea typeface="Courier New" pitchFamily="34" charset="-122"/>
                <a:cs typeface="Courier New" pitchFamily="34" charset="-120"/>
              </a:rPr>
              <a:t>  </a:t>
            </a:r>
            <a:r>
              <a:rPr lang="en-US" sz="1200" dirty="0">
                <a:solidFill>
                  <a:srgbClr val="7C9CFF"/>
                </a:solidFill>
                <a:latin typeface="Courier New" pitchFamily="34" charset="0"/>
                <a:ea typeface="Courier New" pitchFamily="34" charset="-122"/>
                <a:cs typeface="Courier New" pitchFamily="34" charset="-120"/>
              </a:rPr>
              <a:t>dashboards:</a:t>
            </a:r>
            <a:r>
              <a:rPr lang="en-US" sz="1200" dirty="0">
                <a:solidFill>
                  <a:srgbClr val="DDE3EA"/>
                </a:solidFill>
                <a:latin typeface="Courier New" pitchFamily="34" charset="0"/>
                <a:ea typeface="Courier New" pitchFamily="34" charset="-122"/>
                <a:cs typeface="Courier New" pitchFamily="34" charset="-120"/>
              </a:rPr>
              <a:t> </a:t>
            </a:r>
            <a:endParaRPr lang="en-US" sz="1200" dirty="0"/>
          </a:p>
          <a:p>
            <a:pPr marL="0" indent="0">
              <a:lnSpc>
                <a:spcPct val="110000"/>
              </a:lnSpc>
              <a:buNone/>
            </a:pPr>
            <a:r>
              <a:rPr lang="en-US" sz="1200" dirty="0">
                <a:solidFill>
                  <a:srgbClr val="DDE3EA"/>
                </a:solidFill>
                <a:latin typeface="Courier New" pitchFamily="34" charset="0"/>
                <a:ea typeface="Courier New" pitchFamily="34" charset="-122"/>
                <a:cs typeface="Courier New" pitchFamily="34" charset="-120"/>
              </a:rPr>
              <a:t>    </a:t>
            </a:r>
            <a:r>
              <a:rPr lang="en-US" sz="1200" dirty="0">
                <a:solidFill>
                  <a:srgbClr val="7C9CFF"/>
                </a:solidFill>
                <a:latin typeface="Courier New" pitchFamily="34" charset="0"/>
                <a:ea typeface="Courier New" pitchFamily="34" charset="-122"/>
                <a:cs typeface="Courier New" pitchFamily="34" charset="-120"/>
              </a:rPr>
              <a:t>enabled:</a:t>
            </a:r>
            <a:r>
              <a:rPr lang="en-US" sz="1200" dirty="0">
                <a:solidFill>
                  <a:srgbClr val="DDE3EA"/>
                </a:solidFill>
                <a:latin typeface="Courier New" pitchFamily="34" charset="0"/>
                <a:ea typeface="Courier New" pitchFamily="34" charset="-122"/>
                <a:cs typeface="Courier New" pitchFamily="34" charset="-120"/>
              </a:rPr>
              <a:t> true</a:t>
            </a:r>
            <a:endParaRPr lang="en-US" sz="1200" dirty="0"/>
          </a:p>
          <a:p>
            <a:pPr marL="0" indent="0">
              <a:lnSpc>
                <a:spcPct val="110000"/>
              </a:lnSpc>
              <a:buNone/>
            </a:pPr>
            <a:r>
              <a:rPr lang="en-US" sz="1200" dirty="0">
                <a:solidFill>
                  <a:srgbClr val="DDE3EA"/>
                </a:solidFill>
                <a:latin typeface="Courier New" pitchFamily="34" charset="0"/>
                <a:ea typeface="Courier New" pitchFamily="34" charset="-122"/>
                <a:cs typeface="Courier New" pitchFamily="34" charset="-120"/>
              </a:rPr>
              <a:t>    </a:t>
            </a:r>
            <a:r>
              <a:rPr lang="en-US" sz="1200" dirty="0">
                <a:solidFill>
                  <a:srgbClr val="7C9CFF"/>
                </a:solidFill>
                <a:latin typeface="Courier New" pitchFamily="34" charset="0"/>
                <a:ea typeface="Courier New" pitchFamily="34" charset="-122"/>
                <a:cs typeface="Courier New" pitchFamily="34" charset="-120"/>
              </a:rPr>
              <a:t>label:</a:t>
            </a:r>
            <a:r>
              <a:rPr lang="en-US" sz="1200" dirty="0">
                <a:solidFill>
                  <a:srgbClr val="DDE3EA"/>
                </a:solidFill>
                <a:latin typeface="Courier New" pitchFamily="34" charset="0"/>
                <a:ea typeface="Courier New" pitchFamily="34" charset="-122"/>
                <a:cs typeface="Courier New" pitchFamily="34" charset="-120"/>
              </a:rPr>
              <a:t> grafana_dashboard</a:t>
            </a:r>
            <a:endParaRPr lang="en-US" sz="1200" dirty="0"/>
          </a:p>
          <a:p>
            <a:pPr marL="0" indent="0">
              <a:lnSpc>
                <a:spcPct val="110000"/>
              </a:lnSpc>
              <a:buNone/>
            </a:pPr>
            <a:r>
              <a:rPr lang="en-US" sz="1200" dirty="0">
                <a:solidFill>
                  <a:srgbClr val="DDE3EA"/>
                </a:solidFill>
                <a:latin typeface="Courier New" pitchFamily="34" charset="0"/>
                <a:ea typeface="Courier New" pitchFamily="34" charset="-122"/>
                <a:cs typeface="Courier New" pitchFamily="34" charset="-120"/>
              </a:rPr>
              <a:t> </a:t>
            </a:r>
            <a:endParaRPr lang="en-US" sz="1200" dirty="0"/>
          </a:p>
          <a:p>
            <a:pPr marL="0" indent="0">
              <a:lnSpc>
                <a:spcPct val="110000"/>
              </a:lnSpc>
              <a:buNone/>
            </a:pPr>
            <a:r>
              <a:rPr lang="en-US" sz="1200" i="1" dirty="0">
                <a:solidFill>
                  <a:srgbClr val="B9C4D1"/>
                </a:solidFill>
                <a:latin typeface="Courier New" pitchFamily="34" charset="0"/>
                <a:ea typeface="Courier New" pitchFamily="34" charset="-122"/>
                <a:cs typeface="Courier New" pitchFamily="34" charset="-120"/>
              </a:rPr>
              <a:t># Telemetry\deploy-dashboards.ps1</a:t>
            </a:r>
            <a:endParaRPr lang="en-US" sz="1200" dirty="0"/>
          </a:p>
          <a:p>
            <a:pPr marL="0" indent="0">
              <a:lnSpc>
                <a:spcPct val="110000"/>
              </a:lnSpc>
              <a:buNone/>
            </a:pPr>
            <a:r>
              <a:rPr lang="en-US" sz="1200" dirty="0">
                <a:solidFill>
                  <a:srgbClr val="DDE3EA"/>
                </a:solidFill>
                <a:latin typeface="Courier New" pitchFamily="34" charset="0"/>
                <a:ea typeface="Courier New" pitchFamily="34" charset="-122"/>
                <a:cs typeface="Courier New" pitchFamily="34" charset="-120"/>
              </a:rPr>
              <a:t>kubectl create configmap grafana-dashboard-cqrs \</a:t>
            </a:r>
            <a:endParaRPr lang="en-US" sz="1200" dirty="0"/>
          </a:p>
          <a:p>
            <a:pPr marL="0" indent="0">
              <a:lnSpc>
                <a:spcPct val="110000"/>
              </a:lnSpc>
              <a:buNone/>
            </a:pPr>
            <a:r>
              <a:rPr lang="en-US" sz="1200" dirty="0">
                <a:solidFill>
                  <a:srgbClr val="DDE3EA"/>
                </a:solidFill>
                <a:latin typeface="Courier New" pitchFamily="34" charset="0"/>
                <a:ea typeface="Courier New" pitchFamily="34" charset="-122"/>
                <a:cs typeface="Courier New" pitchFamily="34" charset="-120"/>
              </a:rPr>
              <a:t>  --from-file=cqrs.json ... | kubectl apply -f -</a:t>
            </a:r>
            <a:endParaRPr lang="en-US" sz="1200" dirty="0"/>
          </a:p>
        </p:txBody>
      </p:sp>
      <p:sp>
        <p:nvSpPr>
          <p:cNvPr id="21" name="Shape 19"/>
          <p:cNvSpPr/>
          <p:nvPr/>
        </p:nvSpPr>
        <p:spPr>
          <a:xfrm>
            <a:off x="7863840" y="2971800"/>
            <a:ext cx="3779215" cy="1325880"/>
          </a:xfrm>
          <a:prstGeom prst="roundRect">
            <a:avLst>
              <a:gd name="adj" fmla="val 4138"/>
            </a:avLst>
          </a:prstGeom>
          <a:solidFill>
            <a:srgbClr val="16294A"/>
          </a:solidFill>
          <a:ln w="12700">
            <a:solidFill>
              <a:srgbClr val="16294A"/>
            </a:solidFill>
            <a:prstDash val="solid"/>
          </a:ln>
        </p:spPr>
      </p:sp>
      <p:sp>
        <p:nvSpPr>
          <p:cNvPr id="22" name="Text 20"/>
          <p:cNvSpPr txBox="1"/>
          <p:nvPr/>
        </p:nvSpPr>
        <p:spPr>
          <a:xfrm>
            <a:off x="8065008" y="3172968"/>
            <a:ext cx="3376879" cy="320040"/>
          </a:xfrm>
          <a:prstGeom prst="rect">
            <a:avLst/>
          </a:prstGeom>
          <a:noFill/>
          <a:ln/>
        </p:spPr>
        <p:txBody>
          <a:bodyPr wrap="square" lIns="0" tIns="0" rIns="0" bIns="0" rtlCol="0" anchor="t"/>
          <a:lstStyle/>
          <a:p>
            <a:pPr marL="0" indent="0">
              <a:buNone/>
            </a:pPr>
            <a:r>
              <a:rPr lang="en-US" sz="1400" b="1" dirty="0">
                <a:solidFill>
                  <a:srgbClr val="F5F7FA"/>
                </a:solidFill>
                <a:latin typeface="Calibri" pitchFamily="34" charset="0"/>
                <a:ea typeface="Calibri" pitchFamily="34" charset="-122"/>
                <a:cs typeface="Calibri" pitchFamily="34" charset="-120"/>
              </a:rPr>
              <a:t>Tre färdiga</a:t>
            </a:r>
            <a:endParaRPr lang="en-US" sz="1400" dirty="0"/>
          </a:p>
        </p:txBody>
      </p:sp>
      <p:sp>
        <p:nvSpPr>
          <p:cNvPr id="23" name="Text 21"/>
          <p:cNvSpPr txBox="1"/>
          <p:nvPr/>
        </p:nvSpPr>
        <p:spPr>
          <a:xfrm>
            <a:off x="8065008" y="3557016"/>
            <a:ext cx="3376879" cy="585216"/>
          </a:xfrm>
          <a:prstGeom prst="rect">
            <a:avLst/>
          </a:prstGeom>
          <a:noFill/>
          <a:ln/>
        </p:spPr>
        <p:txBody>
          <a:bodyPr wrap="square" lIns="0" tIns="0" rIns="0" bIns="0" rtlCol="0" anchor="t"/>
          <a:lstStyle/>
          <a:p>
            <a:pPr marL="0" indent="0">
              <a:lnSpc>
                <a:spcPct val="115000"/>
              </a:lnSpc>
              <a:buNone/>
            </a:pPr>
            <a:r>
              <a:rPr lang="en-US" sz="1200" dirty="0">
                <a:solidFill>
                  <a:srgbClr val="B9C4D1"/>
                </a:solidFill>
                <a:latin typeface="Arial" pitchFamily="34" charset="0"/>
                <a:ea typeface="Arial" pitchFamily="34" charset="-122"/>
                <a:cs typeface="Arial" pitchFamily="34" charset="-120"/>
              </a:rPr>
              <a:t>telemetri-oversikt, telemetryapi och cqrs.</a:t>
            </a:r>
            <a:endParaRPr lang="en-US" sz="1200" dirty="0"/>
          </a:p>
        </p:txBody>
      </p:sp>
      <p:sp>
        <p:nvSpPr>
          <p:cNvPr id="24" name="Shape 22"/>
          <p:cNvSpPr/>
          <p:nvPr/>
        </p:nvSpPr>
        <p:spPr>
          <a:xfrm>
            <a:off x="7863840" y="4434840"/>
            <a:ext cx="3779215" cy="1371600"/>
          </a:xfrm>
          <a:prstGeom prst="roundRect">
            <a:avLst>
              <a:gd name="adj" fmla="val 4000"/>
            </a:avLst>
          </a:prstGeom>
          <a:solidFill>
            <a:srgbClr val="3762FF"/>
          </a:solidFill>
          <a:ln w="12700">
            <a:solidFill>
              <a:srgbClr val="3762FF"/>
            </a:solidFill>
            <a:prstDash val="solid"/>
          </a:ln>
        </p:spPr>
      </p:sp>
      <p:sp>
        <p:nvSpPr>
          <p:cNvPr id="25" name="Text 23"/>
          <p:cNvSpPr txBox="1"/>
          <p:nvPr/>
        </p:nvSpPr>
        <p:spPr>
          <a:xfrm>
            <a:off x="8065008" y="4636008"/>
            <a:ext cx="3376879" cy="320040"/>
          </a:xfrm>
          <a:prstGeom prst="rect">
            <a:avLst/>
          </a:prstGeom>
          <a:noFill/>
          <a:ln/>
        </p:spPr>
        <p:txBody>
          <a:bodyPr wrap="square" lIns="0" tIns="0" rIns="0" bIns="0" rtlCol="0" anchor="t"/>
          <a:lstStyle/>
          <a:p>
            <a:pPr marL="0" indent="0">
              <a:buNone/>
            </a:pPr>
            <a:r>
              <a:rPr lang="en-US" sz="1400" b="1" dirty="0">
                <a:solidFill>
                  <a:srgbClr val="FFFFFF"/>
                </a:solidFill>
                <a:latin typeface="Calibri" pitchFamily="34" charset="0"/>
                <a:ea typeface="Calibri" pitchFamily="34" charset="-122"/>
                <a:cs typeface="Calibri" pitchFamily="34" charset="-120"/>
              </a:rPr>
              <a:t>Samma loop som allt annat</a:t>
            </a:r>
            <a:endParaRPr lang="en-US" sz="1400" dirty="0"/>
          </a:p>
        </p:txBody>
      </p:sp>
      <p:sp>
        <p:nvSpPr>
          <p:cNvPr id="26" name="Text 24"/>
          <p:cNvSpPr txBox="1"/>
          <p:nvPr/>
        </p:nvSpPr>
        <p:spPr>
          <a:xfrm>
            <a:off x="8065008" y="5020056"/>
            <a:ext cx="3376879" cy="630936"/>
          </a:xfrm>
          <a:prstGeom prst="rect">
            <a:avLst/>
          </a:prstGeom>
          <a:noFill/>
          <a:ln/>
        </p:spPr>
        <p:txBody>
          <a:bodyPr wrap="square" lIns="0" tIns="0" rIns="0" bIns="0" rtlCol="0" anchor="t"/>
          <a:lstStyle/>
          <a:p>
            <a:pPr marL="0" indent="0">
              <a:lnSpc>
                <a:spcPct val="115000"/>
              </a:lnSpc>
              <a:buNone/>
            </a:pPr>
            <a:r>
              <a:rPr lang="en-US" sz="1200" dirty="0">
                <a:solidFill>
                  <a:srgbClr val="FFFFFF"/>
                </a:solidFill>
                <a:latin typeface="Arial" pitchFamily="34" charset="0"/>
                <a:ea typeface="Arial" pitchFamily="34" charset="-122"/>
                <a:cs typeface="Arial" pitchFamily="34" charset="-120"/>
              </a:rPr>
              <a:t>Ändra JSON → kör skriptet → klart.</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F33"/>
        </a:solidFill>
        <a:effectLst/>
      </p:bgPr>
    </p:bg>
    <p:spTree>
      <p:nvGrpSpPr>
        <p:cNvPr id="1" name=""/>
        <p:cNvGrpSpPr/>
        <p:nvPr/>
      </p:nvGrpSpPr>
      <p:grpSpPr>
        <a:xfrm>
          <a:off x="0" y="0"/>
          <a:ext cx="0" cy="0"/>
          <a:chOff x="0" y="0"/>
          <a:chExt cx="0" cy="0"/>
        </a:xfrm>
      </p:grpSpPr>
      <p:sp>
        <p:nvSpPr>
          <p:cNvPr id="2" name="Text 0"/>
          <p:cNvSpPr txBox="1"/>
          <p:nvPr/>
        </p:nvSpPr>
        <p:spPr>
          <a:xfrm>
            <a:off x="502920" y="1188720"/>
            <a:ext cx="4572000" cy="1920240"/>
          </a:xfrm>
          <a:prstGeom prst="rect">
            <a:avLst/>
          </a:prstGeom>
          <a:noFill/>
          <a:ln/>
        </p:spPr>
        <p:txBody>
          <a:bodyPr wrap="square" lIns="0" tIns="0" rIns="0" bIns="0" rtlCol="0" anchor="ctr"/>
          <a:lstStyle/>
          <a:p>
            <a:pPr marL="0" indent="0">
              <a:buNone/>
            </a:pPr>
            <a:r>
              <a:rPr lang="en-US" sz="15000" b="1" dirty="0">
                <a:solidFill>
                  <a:srgbClr val="16294A"/>
                </a:solidFill>
                <a:latin typeface="Calibri" pitchFamily="34" charset="0"/>
                <a:ea typeface="Calibri" pitchFamily="34" charset="-122"/>
                <a:cs typeface="Calibri" pitchFamily="34" charset="-120"/>
              </a:rPr>
              <a:t>02</a:t>
            </a:r>
            <a:endParaRPr lang="en-US" sz="15000" dirty="0"/>
          </a:p>
        </p:txBody>
      </p:sp>
      <p:sp>
        <p:nvSpPr>
          <p:cNvPr id="3" name="Text 1"/>
          <p:cNvSpPr txBox="1"/>
          <p:nvPr/>
        </p:nvSpPr>
        <p:spPr>
          <a:xfrm>
            <a:off x="548640" y="3063240"/>
            <a:ext cx="11094415" cy="822960"/>
          </a:xfrm>
          <a:prstGeom prst="rect">
            <a:avLst/>
          </a:prstGeom>
          <a:noFill/>
          <a:ln/>
        </p:spPr>
        <p:txBody>
          <a:bodyPr wrap="square" lIns="0" tIns="0" rIns="0" bIns="0" rtlCol="0" anchor="ctr"/>
          <a:lstStyle/>
          <a:p>
            <a:pPr marL="0" indent="0">
              <a:buNone/>
            </a:pPr>
            <a:r>
              <a:rPr lang="en-US" sz="5200" b="1" dirty="0">
                <a:solidFill>
                  <a:srgbClr val="F5F7FA"/>
                </a:solidFill>
                <a:latin typeface="Calibri" pitchFamily="34" charset="0"/>
                <a:ea typeface="Calibri" pitchFamily="34" charset="-122"/>
                <a:cs typeface="Calibri" pitchFamily="34" charset="-120"/>
              </a:rPr>
              <a:t>Prometheus direkt</a:t>
            </a:r>
            <a:endParaRPr lang="en-US" sz="5200" dirty="0"/>
          </a:p>
        </p:txBody>
      </p:sp>
      <p:sp>
        <p:nvSpPr>
          <p:cNvPr id="4" name="Text 2"/>
          <p:cNvSpPr txBox="1"/>
          <p:nvPr/>
        </p:nvSpPr>
        <p:spPr>
          <a:xfrm>
            <a:off x="548640" y="3977640"/>
            <a:ext cx="9144000" cy="457200"/>
          </a:xfrm>
          <a:prstGeom prst="rect">
            <a:avLst/>
          </a:prstGeom>
          <a:noFill/>
          <a:ln/>
        </p:spPr>
        <p:txBody>
          <a:bodyPr wrap="square" lIns="0" tIns="0" rIns="0" bIns="0" rtlCol="0" anchor="t"/>
          <a:lstStyle/>
          <a:p>
            <a:pPr marL="0" indent="0">
              <a:lnSpc>
                <a:spcPct val="120000"/>
              </a:lnSpc>
              <a:buNone/>
            </a:pPr>
            <a:r>
              <a:rPr lang="en-US" sz="1800" dirty="0">
                <a:solidFill>
                  <a:srgbClr val="B9C4D1"/>
                </a:solidFill>
                <a:latin typeface="Arial" pitchFamily="34" charset="0"/>
                <a:ea typeface="Arial" pitchFamily="34" charset="-122"/>
                <a:cs typeface="Arial" pitchFamily="34" charset="-120"/>
              </a:rPr>
              <a:t>Skriv och validera PromQL innan den hamnar i Grafana</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7F4"/>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marL="0" indent="0">
              <a:buNone/>
            </a:pPr>
            <a:r>
              <a:rPr lang="en-US" sz="1200" b="1" kern="0" spc="200" dirty="0">
                <a:solidFill>
                  <a:srgbClr val="3762FF"/>
                </a:solidFill>
                <a:latin typeface="Arial" pitchFamily="34" charset="0"/>
                <a:ea typeface="Arial" pitchFamily="34" charset="-122"/>
                <a:cs typeface="Arial" pitchFamily="34" charset="-120"/>
              </a:rPr>
              <a:t>PROMETHEUS · GRÄNSSNITTET</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marL="0" indent="0">
              <a:buNone/>
            </a:pPr>
            <a:r>
              <a:rPr lang="en-US" sz="3000" b="1" dirty="0">
                <a:solidFill>
                  <a:srgbClr val="16202B"/>
                </a:solidFill>
                <a:latin typeface="Calibri" pitchFamily="34" charset="0"/>
                <a:ea typeface="Calibri" pitchFamily="34" charset="-122"/>
                <a:cs typeface="Calibri" pitchFamily="34" charset="-120"/>
              </a:rPr>
              <a:t>https://prometheus.local - fyra platser att känna till</a:t>
            </a:r>
            <a:endParaRPr lang="en-US" sz="3000" dirty="0"/>
          </a:p>
        </p:txBody>
      </p:sp>
      <p:sp>
        <p:nvSpPr>
          <p:cNvPr id="4" name="Shape 2"/>
          <p:cNvSpPr/>
          <p:nvPr/>
        </p:nvSpPr>
        <p:spPr>
          <a:xfrm>
            <a:off x="548640" y="1645920"/>
            <a:ext cx="2651760" cy="2057400"/>
          </a:xfrm>
          <a:prstGeom prst="roundRect">
            <a:avLst>
              <a:gd name="adj" fmla="val 2667"/>
            </a:avLst>
          </a:prstGeom>
          <a:solidFill>
            <a:srgbClr val="3762FF"/>
          </a:solidFill>
          <a:ln w="12700">
            <a:solidFill>
              <a:srgbClr val="3762FF"/>
            </a:solidFill>
            <a:prstDash val="solid"/>
          </a:ln>
        </p:spPr>
      </p:sp>
      <p:sp>
        <p:nvSpPr>
          <p:cNvPr id="5" name="Text 3"/>
          <p:cNvSpPr txBox="1"/>
          <p:nvPr/>
        </p:nvSpPr>
        <p:spPr>
          <a:xfrm>
            <a:off x="749808" y="1847088"/>
            <a:ext cx="2249424" cy="274320"/>
          </a:xfrm>
          <a:prstGeom prst="rect">
            <a:avLst/>
          </a:prstGeom>
          <a:noFill/>
          <a:ln/>
        </p:spPr>
        <p:txBody>
          <a:bodyPr wrap="square" lIns="0" tIns="0" rIns="0" bIns="0" rtlCol="0" anchor="ctr"/>
          <a:lstStyle/>
          <a:p>
            <a:pPr marL="0" indent="0">
              <a:buNone/>
            </a:pPr>
            <a:r>
              <a:rPr lang="en-US" sz="1100" b="1" kern="0" spc="200" dirty="0">
                <a:solidFill>
                  <a:srgbClr val="FFFFFF"/>
                </a:solidFill>
                <a:latin typeface="Arial" pitchFamily="34" charset="0"/>
                <a:ea typeface="Arial" pitchFamily="34" charset="-122"/>
                <a:cs typeface="Arial" pitchFamily="34" charset="-120"/>
              </a:rPr>
              <a:t>01</a:t>
            </a:r>
            <a:endParaRPr lang="en-US" sz="1100" dirty="0"/>
          </a:p>
        </p:txBody>
      </p:sp>
      <p:sp>
        <p:nvSpPr>
          <p:cNvPr id="6" name="Text 4"/>
          <p:cNvSpPr txBox="1"/>
          <p:nvPr/>
        </p:nvSpPr>
        <p:spPr>
          <a:xfrm>
            <a:off x="749808" y="2139696"/>
            <a:ext cx="2249424" cy="320040"/>
          </a:xfrm>
          <a:prstGeom prst="rect">
            <a:avLst/>
          </a:prstGeom>
          <a:noFill/>
          <a:ln/>
        </p:spPr>
        <p:txBody>
          <a:bodyPr wrap="square" lIns="0" tIns="0" rIns="0" bIns="0" rtlCol="0" anchor="t"/>
          <a:lstStyle/>
          <a:p>
            <a:pPr marL="0" indent="0">
              <a:buNone/>
            </a:pPr>
            <a:r>
              <a:rPr lang="en-US" sz="1500" b="1" dirty="0">
                <a:solidFill>
                  <a:srgbClr val="FFFFFF"/>
                </a:solidFill>
                <a:latin typeface="Calibri" pitchFamily="34" charset="0"/>
                <a:ea typeface="Calibri" pitchFamily="34" charset="-122"/>
                <a:cs typeface="Calibri" pitchFamily="34" charset="-120"/>
              </a:rPr>
              <a:t>Query</a:t>
            </a:r>
            <a:endParaRPr lang="en-US" sz="1500" dirty="0"/>
          </a:p>
        </p:txBody>
      </p:sp>
      <p:sp>
        <p:nvSpPr>
          <p:cNvPr id="7" name="Text 5"/>
          <p:cNvSpPr txBox="1"/>
          <p:nvPr/>
        </p:nvSpPr>
        <p:spPr>
          <a:xfrm>
            <a:off x="749808" y="2523744"/>
            <a:ext cx="2249424" cy="1024128"/>
          </a:xfrm>
          <a:prstGeom prst="rect">
            <a:avLst/>
          </a:prstGeom>
          <a:noFill/>
          <a:ln/>
        </p:spPr>
        <p:txBody>
          <a:bodyPr wrap="square" lIns="0" tIns="0" rIns="0" bIns="0" rtlCol="0" anchor="t"/>
          <a:lstStyle/>
          <a:p>
            <a:pPr marL="0" indent="0">
              <a:lnSpc>
                <a:spcPct val="115000"/>
              </a:lnSpc>
              <a:buNone/>
            </a:pPr>
            <a:r>
              <a:rPr lang="en-US" sz="1300" dirty="0">
                <a:solidFill>
                  <a:srgbClr val="FFFFFF"/>
                </a:solidFill>
                <a:latin typeface="Arial" pitchFamily="34" charset="0"/>
                <a:ea typeface="Arial" pitchFamily="34" charset="-122"/>
                <a:cs typeface="Arial" pitchFamily="34" charset="-120"/>
              </a:rPr>
              <a:t>Skriv PromQL. Autokomplettering föreslår metric- och labelnamn.</a:t>
            </a:r>
            <a:endParaRPr lang="en-US" sz="1300" dirty="0"/>
          </a:p>
        </p:txBody>
      </p:sp>
      <p:sp>
        <p:nvSpPr>
          <p:cNvPr id="8" name="Shape 6"/>
          <p:cNvSpPr/>
          <p:nvPr/>
        </p:nvSpPr>
        <p:spPr>
          <a:xfrm>
            <a:off x="3362249" y="1645920"/>
            <a:ext cx="2651760" cy="2057400"/>
          </a:xfrm>
          <a:prstGeom prst="roundRect">
            <a:avLst>
              <a:gd name="adj" fmla="val 2667"/>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9" name="Text 7"/>
          <p:cNvSpPr txBox="1"/>
          <p:nvPr/>
        </p:nvSpPr>
        <p:spPr>
          <a:xfrm>
            <a:off x="3563417" y="1847088"/>
            <a:ext cx="2249424" cy="274320"/>
          </a:xfrm>
          <a:prstGeom prst="rect">
            <a:avLst/>
          </a:prstGeom>
          <a:noFill/>
          <a:ln/>
        </p:spPr>
        <p:txBody>
          <a:bodyPr wrap="square" lIns="0" tIns="0" rIns="0" bIns="0" rtlCol="0" anchor="ctr"/>
          <a:lstStyle/>
          <a:p>
            <a:pPr marL="0" indent="0">
              <a:buNone/>
            </a:pPr>
            <a:r>
              <a:rPr lang="en-US" sz="1100" b="1" kern="0" spc="200" dirty="0">
                <a:solidFill>
                  <a:srgbClr val="3762FF"/>
                </a:solidFill>
                <a:latin typeface="Arial" pitchFamily="34" charset="0"/>
                <a:ea typeface="Arial" pitchFamily="34" charset="-122"/>
                <a:cs typeface="Arial" pitchFamily="34" charset="-120"/>
              </a:rPr>
              <a:t>02</a:t>
            </a:r>
            <a:endParaRPr lang="en-US" sz="1100" dirty="0"/>
          </a:p>
        </p:txBody>
      </p:sp>
      <p:sp>
        <p:nvSpPr>
          <p:cNvPr id="10" name="Text 8"/>
          <p:cNvSpPr txBox="1"/>
          <p:nvPr/>
        </p:nvSpPr>
        <p:spPr>
          <a:xfrm>
            <a:off x="3563417" y="2139696"/>
            <a:ext cx="2249424" cy="320040"/>
          </a:xfrm>
          <a:prstGeom prst="rect">
            <a:avLst/>
          </a:prstGeom>
          <a:noFill/>
          <a:ln/>
        </p:spPr>
        <p:txBody>
          <a:bodyPr wrap="square" lIns="0" tIns="0" rIns="0" bIns="0" rtlCol="0" anchor="t"/>
          <a:lstStyle/>
          <a:p>
            <a:pPr marL="0" indent="0">
              <a:buNone/>
            </a:pPr>
            <a:r>
              <a:rPr lang="en-US" sz="1500" b="1" dirty="0">
                <a:solidFill>
                  <a:srgbClr val="16202B"/>
                </a:solidFill>
                <a:latin typeface="Calibri" pitchFamily="34" charset="0"/>
                <a:ea typeface="Calibri" pitchFamily="34" charset="-122"/>
                <a:cs typeface="Calibri" pitchFamily="34" charset="-120"/>
              </a:rPr>
              <a:t>Table / Graph</a:t>
            </a:r>
            <a:endParaRPr lang="en-US" sz="1500" dirty="0"/>
          </a:p>
        </p:txBody>
      </p:sp>
      <p:sp>
        <p:nvSpPr>
          <p:cNvPr id="11" name="Text 9"/>
          <p:cNvSpPr txBox="1"/>
          <p:nvPr/>
        </p:nvSpPr>
        <p:spPr>
          <a:xfrm>
            <a:off x="3563417" y="2523744"/>
            <a:ext cx="2249424" cy="1024128"/>
          </a:xfrm>
          <a:prstGeom prst="rect">
            <a:avLst/>
          </a:prstGeom>
          <a:noFill/>
          <a:ln/>
        </p:spPr>
        <p:txBody>
          <a:bodyPr wrap="square" lIns="0" tIns="0" rIns="0" bIns="0" rtlCol="0" anchor="t"/>
          <a:lstStyle/>
          <a:p>
            <a:pPr marL="0" indent="0">
              <a:lnSpc>
                <a:spcPct val="115000"/>
              </a:lnSpc>
              <a:buNone/>
            </a:pPr>
            <a:r>
              <a:rPr lang="en-US" sz="1300" dirty="0">
                <a:solidFill>
                  <a:srgbClr val="4A5568"/>
                </a:solidFill>
                <a:latin typeface="Arial" pitchFamily="34" charset="0"/>
                <a:ea typeface="Arial" pitchFamily="34" charset="-122"/>
                <a:cs typeface="Arial" pitchFamily="34" charset="-120"/>
              </a:rPr>
              <a:t>Table visar varje serie med alla labels. Graph ritar kurvan över tid.</a:t>
            </a:r>
            <a:endParaRPr lang="en-US" sz="1300" dirty="0"/>
          </a:p>
        </p:txBody>
      </p:sp>
      <p:sp>
        <p:nvSpPr>
          <p:cNvPr id="12" name="Shape 10"/>
          <p:cNvSpPr/>
          <p:nvPr/>
        </p:nvSpPr>
        <p:spPr>
          <a:xfrm>
            <a:off x="6175858" y="1645920"/>
            <a:ext cx="2651760" cy="2057400"/>
          </a:xfrm>
          <a:prstGeom prst="roundRect">
            <a:avLst>
              <a:gd name="adj" fmla="val 2667"/>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13" name="Text 11"/>
          <p:cNvSpPr txBox="1"/>
          <p:nvPr/>
        </p:nvSpPr>
        <p:spPr>
          <a:xfrm>
            <a:off x="6377026" y="1847088"/>
            <a:ext cx="2249424" cy="274320"/>
          </a:xfrm>
          <a:prstGeom prst="rect">
            <a:avLst/>
          </a:prstGeom>
          <a:noFill/>
          <a:ln/>
        </p:spPr>
        <p:txBody>
          <a:bodyPr wrap="square" lIns="0" tIns="0" rIns="0" bIns="0" rtlCol="0" anchor="ctr"/>
          <a:lstStyle/>
          <a:p>
            <a:pPr marL="0" indent="0">
              <a:buNone/>
            </a:pPr>
            <a:r>
              <a:rPr lang="en-US" sz="1100" b="1" kern="0" spc="200" dirty="0">
                <a:solidFill>
                  <a:srgbClr val="3762FF"/>
                </a:solidFill>
                <a:latin typeface="Arial" pitchFamily="34" charset="0"/>
                <a:ea typeface="Arial" pitchFamily="34" charset="-122"/>
                <a:cs typeface="Arial" pitchFamily="34" charset="-120"/>
              </a:rPr>
              <a:t>03</a:t>
            </a:r>
            <a:endParaRPr lang="en-US" sz="1100" dirty="0"/>
          </a:p>
        </p:txBody>
      </p:sp>
      <p:sp>
        <p:nvSpPr>
          <p:cNvPr id="14" name="Text 12"/>
          <p:cNvSpPr txBox="1"/>
          <p:nvPr/>
        </p:nvSpPr>
        <p:spPr>
          <a:xfrm>
            <a:off x="6377026" y="2139696"/>
            <a:ext cx="2249424" cy="320040"/>
          </a:xfrm>
          <a:prstGeom prst="rect">
            <a:avLst/>
          </a:prstGeom>
          <a:noFill/>
          <a:ln/>
        </p:spPr>
        <p:txBody>
          <a:bodyPr wrap="square" lIns="0" tIns="0" rIns="0" bIns="0" rtlCol="0" anchor="t"/>
          <a:lstStyle/>
          <a:p>
            <a:pPr marL="0" indent="0">
              <a:buNone/>
            </a:pPr>
            <a:r>
              <a:rPr lang="en-US" sz="1500" b="1" dirty="0">
                <a:solidFill>
                  <a:srgbClr val="16202B"/>
                </a:solidFill>
                <a:latin typeface="Calibri" pitchFamily="34" charset="0"/>
                <a:ea typeface="Calibri" pitchFamily="34" charset="-122"/>
                <a:cs typeface="Calibri" pitchFamily="34" charset="-120"/>
              </a:rPr>
              <a:t>Explain</a:t>
            </a:r>
            <a:endParaRPr lang="en-US" sz="1500" dirty="0"/>
          </a:p>
        </p:txBody>
      </p:sp>
      <p:sp>
        <p:nvSpPr>
          <p:cNvPr id="15" name="Text 13"/>
          <p:cNvSpPr txBox="1"/>
          <p:nvPr/>
        </p:nvSpPr>
        <p:spPr>
          <a:xfrm>
            <a:off x="6377026" y="2523744"/>
            <a:ext cx="2249424" cy="1024128"/>
          </a:xfrm>
          <a:prstGeom prst="rect">
            <a:avLst/>
          </a:prstGeom>
          <a:noFill/>
          <a:ln/>
        </p:spPr>
        <p:txBody>
          <a:bodyPr wrap="square" lIns="0" tIns="0" rIns="0" bIns="0" rtlCol="0" anchor="t"/>
          <a:lstStyle/>
          <a:p>
            <a:pPr marL="0" indent="0">
              <a:lnSpc>
                <a:spcPct val="115000"/>
              </a:lnSpc>
              <a:buNone/>
            </a:pPr>
            <a:r>
              <a:rPr lang="en-US" sz="1300" dirty="0">
                <a:solidFill>
                  <a:srgbClr val="4A5568"/>
                </a:solidFill>
                <a:latin typeface="Arial" pitchFamily="34" charset="0"/>
                <a:ea typeface="Arial" pitchFamily="34" charset="-122"/>
                <a:cs typeface="Arial" pitchFamily="34" charset="-120"/>
              </a:rPr>
              <a:t>Plockar isär frågan och förklarar varje del (Prometheus 3).</a:t>
            </a:r>
            <a:endParaRPr lang="en-US" sz="1300" dirty="0"/>
          </a:p>
        </p:txBody>
      </p:sp>
      <p:sp>
        <p:nvSpPr>
          <p:cNvPr id="16" name="Shape 14"/>
          <p:cNvSpPr/>
          <p:nvPr/>
        </p:nvSpPr>
        <p:spPr>
          <a:xfrm>
            <a:off x="8989466" y="1645920"/>
            <a:ext cx="2651760" cy="2057400"/>
          </a:xfrm>
          <a:prstGeom prst="roundRect">
            <a:avLst>
              <a:gd name="adj" fmla="val 2667"/>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17" name="Text 15"/>
          <p:cNvSpPr txBox="1"/>
          <p:nvPr/>
        </p:nvSpPr>
        <p:spPr>
          <a:xfrm>
            <a:off x="9190634" y="1847088"/>
            <a:ext cx="2249424" cy="274320"/>
          </a:xfrm>
          <a:prstGeom prst="rect">
            <a:avLst/>
          </a:prstGeom>
          <a:noFill/>
          <a:ln/>
        </p:spPr>
        <p:txBody>
          <a:bodyPr wrap="square" lIns="0" tIns="0" rIns="0" bIns="0" rtlCol="0" anchor="ctr"/>
          <a:lstStyle/>
          <a:p>
            <a:pPr marL="0" indent="0">
              <a:buNone/>
            </a:pPr>
            <a:r>
              <a:rPr lang="en-US" sz="1100" b="1" kern="0" spc="200" dirty="0">
                <a:solidFill>
                  <a:srgbClr val="3762FF"/>
                </a:solidFill>
                <a:latin typeface="Arial" pitchFamily="34" charset="0"/>
                <a:ea typeface="Arial" pitchFamily="34" charset="-122"/>
                <a:cs typeface="Arial" pitchFamily="34" charset="-120"/>
              </a:rPr>
              <a:t>04</a:t>
            </a:r>
            <a:endParaRPr lang="en-US" sz="1100" dirty="0"/>
          </a:p>
        </p:txBody>
      </p:sp>
      <p:sp>
        <p:nvSpPr>
          <p:cNvPr id="18" name="Text 16"/>
          <p:cNvSpPr txBox="1"/>
          <p:nvPr/>
        </p:nvSpPr>
        <p:spPr>
          <a:xfrm>
            <a:off x="9190634" y="2139696"/>
            <a:ext cx="2249424" cy="320040"/>
          </a:xfrm>
          <a:prstGeom prst="rect">
            <a:avLst/>
          </a:prstGeom>
          <a:noFill/>
          <a:ln/>
        </p:spPr>
        <p:txBody>
          <a:bodyPr wrap="square" lIns="0" tIns="0" rIns="0" bIns="0" rtlCol="0" anchor="t"/>
          <a:lstStyle/>
          <a:p>
            <a:pPr marL="0" indent="0">
              <a:buNone/>
            </a:pPr>
            <a:r>
              <a:rPr lang="en-US" sz="1500" b="1" dirty="0">
                <a:solidFill>
                  <a:srgbClr val="16202B"/>
                </a:solidFill>
                <a:latin typeface="Calibri" pitchFamily="34" charset="0"/>
                <a:ea typeface="Calibri" pitchFamily="34" charset="-122"/>
                <a:cs typeface="Calibri" pitchFamily="34" charset="-120"/>
              </a:rPr>
              <a:t>Status → Targets</a:t>
            </a:r>
            <a:endParaRPr lang="en-US" sz="1500" dirty="0"/>
          </a:p>
        </p:txBody>
      </p:sp>
      <p:sp>
        <p:nvSpPr>
          <p:cNvPr id="19" name="Text 17"/>
          <p:cNvSpPr txBox="1"/>
          <p:nvPr/>
        </p:nvSpPr>
        <p:spPr>
          <a:xfrm>
            <a:off x="9190634" y="2523744"/>
            <a:ext cx="2249424" cy="1024128"/>
          </a:xfrm>
          <a:prstGeom prst="rect">
            <a:avLst/>
          </a:prstGeom>
          <a:noFill/>
          <a:ln/>
        </p:spPr>
        <p:txBody>
          <a:bodyPr wrap="square" lIns="0" tIns="0" rIns="0" bIns="0" rtlCol="0" anchor="t"/>
          <a:lstStyle/>
          <a:p>
            <a:pPr marL="0" indent="0">
              <a:lnSpc>
                <a:spcPct val="115000"/>
              </a:lnSpc>
              <a:buNone/>
            </a:pPr>
            <a:r>
              <a:rPr lang="en-US" sz="1300" dirty="0">
                <a:solidFill>
                  <a:srgbClr val="4A5568"/>
                </a:solidFill>
                <a:latin typeface="Arial" pitchFamily="34" charset="0"/>
                <a:ea typeface="Arial" pitchFamily="34" charset="-122"/>
                <a:cs typeface="Arial" pitchFamily="34" charset="-120"/>
              </a:rPr>
              <a:t>Vilka mål Prometheus skrapar - och om de är UP.</a:t>
            </a:r>
            <a:endParaRPr lang="en-US" sz="1300" dirty="0"/>
          </a:p>
        </p:txBody>
      </p:sp>
      <p:sp>
        <p:nvSpPr>
          <p:cNvPr id="20" name="Shape 18"/>
          <p:cNvSpPr/>
          <p:nvPr/>
        </p:nvSpPr>
        <p:spPr>
          <a:xfrm>
            <a:off x="548640" y="3977640"/>
            <a:ext cx="11094415" cy="1600200"/>
          </a:xfrm>
          <a:prstGeom prst="roundRect">
            <a:avLst>
              <a:gd name="adj" fmla="val 3429"/>
            </a:avLst>
          </a:prstGeom>
          <a:solidFill>
            <a:srgbClr val="0F1F33"/>
          </a:solidFill>
          <a:ln w="12700">
            <a:solidFill>
              <a:srgbClr val="0F1F33"/>
            </a:solidFill>
            <a:prstDash val="solid"/>
          </a:ln>
          <a:effectLst>
            <a:outerShdw blurRad="101600" dist="25400" dir="5400000" algn="bl" rotWithShape="0">
              <a:srgbClr val="000000">
                <a:alpha val="10000"/>
              </a:srgbClr>
            </a:outerShdw>
          </a:effectLst>
        </p:spPr>
      </p:sp>
      <p:sp>
        <p:nvSpPr>
          <p:cNvPr id="21" name="Shape 19"/>
          <p:cNvSpPr/>
          <p:nvPr/>
        </p:nvSpPr>
        <p:spPr>
          <a:xfrm>
            <a:off x="749808" y="4142232"/>
            <a:ext cx="109728" cy="109728"/>
          </a:xfrm>
          <a:prstGeom prst="ellipse">
            <a:avLst/>
          </a:prstGeom>
          <a:solidFill>
            <a:srgbClr val="D64545"/>
          </a:solidFill>
          <a:ln w="12700">
            <a:solidFill>
              <a:srgbClr val="D64545"/>
            </a:solidFill>
            <a:prstDash val="solid"/>
          </a:ln>
        </p:spPr>
      </p:sp>
      <p:sp>
        <p:nvSpPr>
          <p:cNvPr id="22" name="Shape 20"/>
          <p:cNvSpPr/>
          <p:nvPr/>
        </p:nvSpPr>
        <p:spPr>
          <a:xfrm>
            <a:off x="932688" y="4142232"/>
            <a:ext cx="109728" cy="109728"/>
          </a:xfrm>
          <a:prstGeom prst="ellipse">
            <a:avLst/>
          </a:prstGeom>
          <a:solidFill>
            <a:srgbClr val="FFB020"/>
          </a:solidFill>
          <a:ln w="12700">
            <a:solidFill>
              <a:srgbClr val="FFB020"/>
            </a:solidFill>
            <a:prstDash val="solid"/>
          </a:ln>
        </p:spPr>
      </p:sp>
      <p:sp>
        <p:nvSpPr>
          <p:cNvPr id="23" name="Shape 21"/>
          <p:cNvSpPr/>
          <p:nvPr/>
        </p:nvSpPr>
        <p:spPr>
          <a:xfrm>
            <a:off x="1115568" y="4142232"/>
            <a:ext cx="109728" cy="109728"/>
          </a:xfrm>
          <a:prstGeom prst="ellipse">
            <a:avLst/>
          </a:prstGeom>
          <a:solidFill>
            <a:srgbClr val="3CB371"/>
          </a:solidFill>
          <a:ln w="12700">
            <a:solidFill>
              <a:srgbClr val="3CB371"/>
            </a:solidFill>
            <a:prstDash val="solid"/>
          </a:ln>
        </p:spPr>
      </p:sp>
      <p:sp>
        <p:nvSpPr>
          <p:cNvPr id="24" name="Text 22"/>
          <p:cNvSpPr txBox="1"/>
          <p:nvPr/>
        </p:nvSpPr>
        <p:spPr>
          <a:xfrm>
            <a:off x="1371600" y="4069080"/>
            <a:ext cx="10088575" cy="256032"/>
          </a:xfrm>
          <a:prstGeom prst="rect">
            <a:avLst/>
          </a:prstGeom>
          <a:noFill/>
          <a:ln/>
        </p:spPr>
        <p:txBody>
          <a:bodyPr wrap="square" lIns="0" tIns="0" rIns="0" bIns="0" rtlCol="0" anchor="ctr"/>
          <a:lstStyle/>
          <a:p>
            <a:pPr marL="0" indent="0">
              <a:buNone/>
            </a:pPr>
            <a:r>
              <a:rPr lang="en-US" sz="1100" dirty="0">
                <a:solidFill>
                  <a:srgbClr val="B9C4D1"/>
                </a:solidFill>
                <a:latin typeface="Courier New" pitchFamily="34" charset="0"/>
                <a:ea typeface="Courier New" pitchFamily="34" charset="-122"/>
                <a:cs typeface="Courier New" pitchFamily="34" charset="-120"/>
              </a:rPr>
              <a:t>Query → Table</a:t>
            </a:r>
            <a:endParaRPr lang="en-US" sz="1100" dirty="0"/>
          </a:p>
        </p:txBody>
      </p:sp>
      <p:sp>
        <p:nvSpPr>
          <p:cNvPr id="25" name="Text 23"/>
          <p:cNvSpPr txBox="1"/>
          <p:nvPr/>
        </p:nvSpPr>
        <p:spPr>
          <a:xfrm>
            <a:off x="777240" y="4434840"/>
            <a:ext cx="10637215" cy="1005840"/>
          </a:xfrm>
          <a:prstGeom prst="rect">
            <a:avLst/>
          </a:prstGeom>
          <a:noFill/>
          <a:ln/>
        </p:spPr>
        <p:txBody>
          <a:bodyPr wrap="square" lIns="0" tIns="0" rIns="0" bIns="0" rtlCol="0" anchor="t"/>
          <a:lstStyle/>
          <a:p>
            <a:pPr marL="0" indent="0">
              <a:lnSpc>
                <a:spcPct val="110000"/>
              </a:lnSpc>
              <a:buNone/>
            </a:pPr>
            <a:r>
              <a:rPr lang="en-US" sz="1200" i="1" dirty="0">
                <a:solidFill>
                  <a:srgbClr val="B9C4D1"/>
                </a:solidFill>
                <a:latin typeface="Courier New" pitchFamily="34" charset="0"/>
                <a:ea typeface="Courier New" pitchFamily="34" charset="-122"/>
                <a:cs typeface="Courier New" pitchFamily="34" charset="-120"/>
              </a:rPr>
              <a:t># Första frågan - skriv bara namnet och tryck Execute:</a:t>
            </a:r>
            <a:endParaRPr lang="en-US" sz="1200" dirty="0"/>
          </a:p>
          <a:p>
            <a:pPr marL="0" indent="0">
              <a:lnSpc>
                <a:spcPct val="110000"/>
              </a:lnSpc>
              <a:buNone/>
            </a:pPr>
            <a:r>
              <a:rPr lang="en-US" sz="1200" dirty="0">
                <a:solidFill>
                  <a:srgbClr val="DDE3EA"/>
                </a:solidFill>
                <a:latin typeface="Courier New" pitchFamily="34" charset="0"/>
                <a:ea typeface="Courier New" pitchFamily="34" charset="-122"/>
                <a:cs typeface="Courier New" pitchFamily="34" charset="-120"/>
              </a:rPr>
              <a:t>otel_customers_created_total</a:t>
            </a:r>
            <a:endParaRPr lang="en-US" sz="1200" dirty="0"/>
          </a:p>
          <a:p>
            <a:pPr marL="0" indent="0">
              <a:lnSpc>
                <a:spcPct val="110000"/>
              </a:lnSpc>
              <a:buNone/>
            </a:pPr>
            <a:r>
              <a:rPr lang="en-US" sz="1200" dirty="0">
                <a:solidFill>
                  <a:srgbClr val="B9C4D1"/>
                </a:solidFill>
                <a:latin typeface="Courier New" pitchFamily="34" charset="0"/>
                <a:ea typeface="Courier New" pitchFamily="34" charset="-122"/>
                <a:cs typeface="Courier New" pitchFamily="34" charset="-120"/>
              </a:rPr>
              <a:t>→ otel_customers_created_total{city="Göteborg", service_name="telemetry-api", service_instance_id="telemetry-api-7c9…", …}  12</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7F4"/>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marL="0" indent="0">
              <a:buNone/>
            </a:pPr>
            <a:r>
              <a:rPr lang="en-US" sz="1200" b="1" kern="0" spc="200" dirty="0">
                <a:solidFill>
                  <a:srgbClr val="3762FF"/>
                </a:solidFill>
                <a:latin typeface="Arial" pitchFamily="34" charset="0"/>
                <a:ea typeface="Arial" pitchFamily="34" charset="-122"/>
                <a:cs typeface="Arial" pitchFamily="34" charset="-120"/>
              </a:rPr>
              <a:t>PROMETHEUS · NAMNEN</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marL="0" indent="0">
              <a:buNone/>
            </a:pPr>
            <a:r>
              <a:rPr lang="en-US" sz="3000" b="1" dirty="0">
                <a:solidFill>
                  <a:srgbClr val="16202B"/>
                </a:solidFill>
                <a:latin typeface="Calibri" pitchFamily="34" charset="0"/>
                <a:ea typeface="Calibri" pitchFamily="34" charset="-122"/>
                <a:cs typeface="Calibri" pitchFamily="34" charset="-120"/>
              </a:rPr>
              <a:t>Från namnet i koden till namnet i Prometheus</a:t>
            </a:r>
            <a:endParaRPr lang="en-US" sz="3000" dirty="0"/>
          </a:p>
        </p:txBody>
      </p:sp>
      <p:graphicFrame>
        <p:nvGraphicFramePr>
          <p:cNvPr id="12" name="Table 0"/>
          <p:cNvGraphicFramePr>
            <a:graphicFrameLocks noGrp="1"/>
          </p:cNvGraphicFramePr>
          <p:nvPr>
            <p:extLst>
              <p:ext uri="{D42A27DB-BD31-4B8C-83A1-F6EECF244321}">
                <p14:modId xmlns:p14="http://schemas.microsoft.com/office/powerpoint/2010/main" val="1040638962"/>
              </p:ext>
            </p:extLst>
          </p:nvPr>
        </p:nvGraphicFramePr>
        <p:xfrm>
          <a:off x="562708" y="1508760"/>
          <a:ext cx="11077604" cy="2880360"/>
        </p:xfrm>
        <a:graphic>
          <a:graphicData uri="http://schemas.openxmlformats.org/drawingml/2006/table">
            <a:tbl>
              <a:tblPr/>
              <a:tblGrid>
                <a:gridCol w="3094892">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5971032">
                  <a:extLst>
                    <a:ext uri="{9D8B030D-6E8A-4147-A177-3AD203B41FA5}">
                      <a16:colId xmlns:a16="http://schemas.microsoft.com/office/drawing/2014/main" val="20002"/>
                    </a:ext>
                  </a:extLst>
                </a:gridCol>
              </a:tblGrid>
              <a:tr h="411480">
                <a:tc>
                  <a:txBody>
                    <a:bodyPr/>
                    <a:lstStyle/>
                    <a:p>
                      <a:pPr marL="0" indent="0">
                        <a:buNone/>
                      </a:pPr>
                      <a:r>
                        <a:rPr lang="en-US" sz="1200" b="1" dirty="0">
                          <a:solidFill>
                            <a:srgbClr val="3762FF"/>
                          </a:solidFill>
                          <a:latin typeface="Arial" pitchFamily="34" charset="0"/>
                          <a:ea typeface="Arial" pitchFamily="34" charset="-122"/>
                          <a:cs typeface="Arial" pitchFamily="34" charset="-120"/>
                        </a:rPr>
                        <a:t>I koden (OpenTelemetry)</a:t>
                      </a:r>
                      <a:endParaRPr lang="en-US" sz="1200" dirty="0">
                        <a:latin typeface="Arial" charset="0"/>
                        <a:ea typeface="Arial" charset="0"/>
                        <a:cs typeface="Arial" charset="0"/>
                      </a:endParaRPr>
                    </a:p>
                  </a:txBody>
                  <a:tcPr marL="73152" marR="73152">
                    <a:lnL w="0" cap="flat" cmpd="sng" algn="ctr">
                      <a:noFill/>
                    </a:lnL>
                    <a:lnR w="0" cap="flat" cmpd="sng" algn="ctr">
                      <a:noFill/>
                    </a:lnR>
                    <a:lnT w="0" cap="flat" cmpd="sng" algn="ctr">
                      <a:noFill/>
                    </a:lnT>
                    <a:lnB w="6350" cap="flat" cmpd="sng" algn="ctr">
                      <a:solidFill>
                        <a:srgbClr val="D9DDE3"/>
                      </a:solidFill>
                      <a:prstDash val="solid"/>
                      <a:round/>
                      <a:headEnd type="none" w="med" len="med"/>
                      <a:tailEnd type="none" w="med" len="med"/>
                    </a:lnB>
                    <a:solidFill>
                      <a:srgbClr val="F7F7F4"/>
                    </a:solidFill>
                  </a:tcPr>
                </a:tc>
                <a:tc>
                  <a:txBody>
                    <a:bodyPr/>
                    <a:lstStyle/>
                    <a:p>
                      <a:pPr marL="0" indent="0">
                        <a:buNone/>
                      </a:pPr>
                      <a:r>
                        <a:rPr lang="en-US" sz="1200" b="1" dirty="0">
                          <a:solidFill>
                            <a:srgbClr val="3762FF"/>
                          </a:solidFill>
                          <a:latin typeface="Arial" pitchFamily="34" charset="0"/>
                          <a:ea typeface="Arial" pitchFamily="34" charset="-122"/>
                          <a:cs typeface="Arial" pitchFamily="34" charset="-120"/>
                        </a:rPr>
                        <a:t>Typ / enhet</a:t>
                      </a:r>
                      <a:endParaRPr lang="en-US" sz="1200" dirty="0">
                        <a:latin typeface="Arial" charset="0"/>
                        <a:ea typeface="Arial" charset="0"/>
                        <a:cs typeface="Arial" charset="0"/>
                      </a:endParaRPr>
                    </a:p>
                  </a:txBody>
                  <a:tcPr marL="73152" marR="73152">
                    <a:lnL w="0" cap="flat" cmpd="sng" algn="ctr">
                      <a:noFill/>
                    </a:lnL>
                    <a:lnR w="0" cap="flat" cmpd="sng" algn="ctr">
                      <a:noFill/>
                    </a:lnR>
                    <a:lnT w="0" cap="flat" cmpd="sng" algn="ctr">
                      <a:noFill/>
                    </a:lnT>
                    <a:lnB w="6350" cap="flat" cmpd="sng" algn="ctr">
                      <a:solidFill>
                        <a:srgbClr val="D9DDE3"/>
                      </a:solidFill>
                      <a:prstDash val="solid"/>
                      <a:round/>
                      <a:headEnd type="none" w="med" len="med"/>
                      <a:tailEnd type="none" w="med" len="med"/>
                    </a:lnB>
                    <a:solidFill>
                      <a:srgbClr val="F7F7F4"/>
                    </a:solidFill>
                  </a:tcPr>
                </a:tc>
                <a:tc>
                  <a:txBody>
                    <a:bodyPr/>
                    <a:lstStyle/>
                    <a:p>
                      <a:pPr marL="0" indent="0">
                        <a:buNone/>
                      </a:pPr>
                      <a:r>
                        <a:rPr lang="en-US" sz="1200" b="1" dirty="0">
                          <a:solidFill>
                            <a:srgbClr val="3762FF"/>
                          </a:solidFill>
                          <a:latin typeface="Arial" pitchFamily="34" charset="0"/>
                          <a:ea typeface="Arial" pitchFamily="34" charset="-122"/>
                          <a:cs typeface="Arial" pitchFamily="34" charset="-120"/>
                        </a:rPr>
                        <a:t>I Prometheus</a:t>
                      </a:r>
                      <a:endParaRPr lang="en-US" sz="1200" dirty="0">
                        <a:latin typeface="Arial" charset="0"/>
                        <a:ea typeface="Arial" charset="0"/>
                        <a:cs typeface="Arial" charset="0"/>
                      </a:endParaRPr>
                    </a:p>
                  </a:txBody>
                  <a:tcPr marL="73152" marR="73152">
                    <a:lnL w="0" cap="flat" cmpd="sng" algn="ctr">
                      <a:noFill/>
                    </a:lnL>
                    <a:lnR w="0" cap="flat" cmpd="sng" algn="ctr">
                      <a:noFill/>
                    </a:lnR>
                    <a:lnT w="0" cap="flat" cmpd="sng" algn="ctr">
                      <a:noFill/>
                    </a:lnT>
                    <a:lnB w="6350" cap="flat" cmpd="sng" algn="ctr">
                      <a:solidFill>
                        <a:srgbClr val="D9DDE3"/>
                      </a:solidFill>
                      <a:prstDash val="solid"/>
                      <a:round/>
                      <a:headEnd type="none" w="med" len="med"/>
                      <a:tailEnd type="none" w="med" len="med"/>
                    </a:lnB>
                    <a:solidFill>
                      <a:srgbClr val="F7F7F4"/>
                    </a:solidFill>
                  </a:tcPr>
                </a:tc>
                <a:extLst>
                  <a:ext uri="{0D108BD9-81ED-4DB2-BD59-A6C34878D82A}">
                    <a16:rowId xmlns:a16="http://schemas.microsoft.com/office/drawing/2014/main" val="10000"/>
                  </a:ext>
                </a:extLst>
              </a:tr>
              <a:tr h="411480">
                <a:tc>
                  <a:txBody>
                    <a:bodyPr/>
                    <a:lstStyle/>
                    <a:p>
                      <a:pPr marL="0" indent="0">
                        <a:buNone/>
                      </a:pPr>
                      <a:r>
                        <a:rPr lang="en-US" sz="1200" dirty="0">
                          <a:solidFill>
                            <a:srgbClr val="16202B"/>
                          </a:solidFill>
                          <a:latin typeface="Courier New" pitchFamily="34" charset="0"/>
                          <a:ea typeface="Courier New" pitchFamily="34" charset="-122"/>
                          <a:cs typeface="Courier New" pitchFamily="34" charset="-120"/>
                        </a:rPr>
                        <a:t>customers.created</a:t>
                      </a:r>
                      <a:endParaRPr lang="en-US" sz="1200" dirty="0">
                        <a:latin typeface="Courier New" charset="0"/>
                        <a:ea typeface="Courier New" charset="0"/>
                        <a:cs typeface="Courier New" charset="0"/>
                      </a:endParaRPr>
                    </a:p>
                  </a:txBody>
                  <a:tcPr marL="73152" marR="73152">
                    <a:lnL w="0" cap="flat" cmpd="sng" algn="ctr">
                      <a:noFill/>
                    </a:lnL>
                    <a:lnR w="0" cap="flat" cmpd="sng" algn="ctr">
                      <a:noFill/>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7F7F4"/>
                    </a:solidFill>
                  </a:tcPr>
                </a:tc>
                <a:tc>
                  <a:txBody>
                    <a:bodyPr/>
                    <a:lstStyle/>
                    <a:p>
                      <a:pPr marL="0" indent="0">
                        <a:buNone/>
                      </a:pPr>
                      <a:r>
                        <a:rPr lang="en-US" sz="1200" dirty="0">
                          <a:solidFill>
                            <a:srgbClr val="16202B"/>
                          </a:solidFill>
                          <a:latin typeface="Arial" pitchFamily="34" charset="0"/>
                          <a:ea typeface="Arial" pitchFamily="34" charset="-122"/>
                          <a:cs typeface="Arial" pitchFamily="34" charset="-120"/>
                        </a:rPr>
                        <a:t>Counter, {customer}</a:t>
                      </a:r>
                      <a:endParaRPr lang="en-US" sz="1200" dirty="0">
                        <a:latin typeface="Arial" charset="0"/>
                        <a:ea typeface="Arial" charset="0"/>
                        <a:cs typeface="Arial" charset="0"/>
                      </a:endParaRPr>
                    </a:p>
                  </a:txBody>
                  <a:tcPr marL="73152" marR="73152">
                    <a:lnL w="0" cap="flat" cmpd="sng" algn="ctr">
                      <a:noFill/>
                    </a:lnL>
                    <a:lnR w="0" cap="flat" cmpd="sng" algn="ctr">
                      <a:noFill/>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7F7F4"/>
                    </a:solidFill>
                  </a:tcPr>
                </a:tc>
                <a:tc>
                  <a:txBody>
                    <a:bodyPr/>
                    <a:lstStyle/>
                    <a:p>
                      <a:pPr marL="0" indent="0">
                        <a:buNone/>
                      </a:pPr>
                      <a:r>
                        <a:rPr lang="en-US" sz="1100" dirty="0">
                          <a:solidFill>
                            <a:srgbClr val="16202B"/>
                          </a:solidFill>
                          <a:latin typeface="Courier New" pitchFamily="34" charset="0"/>
                          <a:ea typeface="Courier New" pitchFamily="34" charset="-122"/>
                          <a:cs typeface="Courier New" pitchFamily="34" charset="-120"/>
                        </a:rPr>
                        <a:t>otel_customers_created_total</a:t>
                      </a:r>
                      <a:endParaRPr lang="en-US" sz="1100" dirty="0">
                        <a:latin typeface="Courier New" charset="0"/>
                        <a:ea typeface="Courier New" charset="0"/>
                        <a:cs typeface="Courier New" charset="0"/>
                      </a:endParaRPr>
                    </a:p>
                  </a:txBody>
                  <a:tcPr marL="73152" marR="73152">
                    <a:lnL w="0" cap="flat" cmpd="sng" algn="ctr">
                      <a:noFill/>
                    </a:lnL>
                    <a:lnR w="0" cap="flat" cmpd="sng" algn="ctr">
                      <a:noFill/>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7F7F4"/>
                    </a:solidFill>
                  </a:tcPr>
                </a:tc>
                <a:extLst>
                  <a:ext uri="{0D108BD9-81ED-4DB2-BD59-A6C34878D82A}">
                    <a16:rowId xmlns:a16="http://schemas.microsoft.com/office/drawing/2014/main" val="10001"/>
                  </a:ext>
                </a:extLst>
              </a:tr>
              <a:tr h="411480">
                <a:tc>
                  <a:txBody>
                    <a:bodyPr/>
                    <a:lstStyle/>
                    <a:p>
                      <a:pPr marL="0" indent="0">
                        <a:buNone/>
                      </a:pPr>
                      <a:r>
                        <a:rPr lang="en-US" sz="1200" dirty="0">
                          <a:solidFill>
                            <a:srgbClr val="16202B"/>
                          </a:solidFill>
                          <a:latin typeface="Courier New" pitchFamily="34" charset="0"/>
                          <a:ea typeface="Courier New" pitchFamily="34" charset="-122"/>
                          <a:cs typeface="Courier New" pitchFamily="34" charset="-120"/>
                        </a:rPr>
                        <a:t>customers.requestduration</a:t>
                      </a:r>
                      <a:endParaRPr lang="en-US" sz="1200" dirty="0">
                        <a:latin typeface="Courier New" charset="0"/>
                        <a:ea typeface="Courier New" charset="0"/>
                        <a:cs typeface="Courier New" charset="0"/>
                      </a:endParaRPr>
                    </a:p>
                  </a:txBody>
                  <a:tcPr marL="73152" marR="73152">
                    <a:lnL w="0" cap="flat" cmpd="sng" algn="ctr">
                      <a:noFill/>
                    </a:lnL>
                    <a:lnR w="0" cap="flat" cmpd="sng" algn="ctr">
                      <a:noFill/>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7F7F4"/>
                    </a:solidFill>
                  </a:tcPr>
                </a:tc>
                <a:tc>
                  <a:txBody>
                    <a:bodyPr/>
                    <a:lstStyle/>
                    <a:p>
                      <a:pPr marL="0" indent="0">
                        <a:buNone/>
                      </a:pPr>
                      <a:r>
                        <a:rPr lang="en-US" sz="1200" dirty="0">
                          <a:solidFill>
                            <a:srgbClr val="16202B"/>
                          </a:solidFill>
                          <a:latin typeface="Arial" pitchFamily="34" charset="0"/>
                          <a:ea typeface="Arial" pitchFamily="34" charset="-122"/>
                          <a:cs typeface="Arial" pitchFamily="34" charset="-120"/>
                        </a:rPr>
                        <a:t>Histogram, ms</a:t>
                      </a:r>
                      <a:endParaRPr lang="en-US" sz="1200" dirty="0">
                        <a:latin typeface="Arial" charset="0"/>
                        <a:ea typeface="Arial" charset="0"/>
                        <a:cs typeface="Arial" charset="0"/>
                      </a:endParaRPr>
                    </a:p>
                  </a:txBody>
                  <a:tcPr marL="73152" marR="73152">
                    <a:lnL w="0" cap="flat" cmpd="sng" algn="ctr">
                      <a:noFill/>
                    </a:lnL>
                    <a:lnR w="0" cap="flat" cmpd="sng" algn="ctr">
                      <a:noFill/>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7F7F4"/>
                    </a:solidFill>
                  </a:tcPr>
                </a:tc>
                <a:tc>
                  <a:txBody>
                    <a:bodyPr/>
                    <a:lstStyle/>
                    <a:p>
                      <a:pPr marL="0" indent="0">
                        <a:buNone/>
                      </a:pPr>
                      <a:r>
                        <a:rPr lang="en-US" sz="1100" dirty="0">
                          <a:solidFill>
                            <a:srgbClr val="16202B"/>
                          </a:solidFill>
                          <a:latin typeface="Courier New" pitchFamily="34" charset="0"/>
                          <a:ea typeface="Courier New" pitchFamily="34" charset="-122"/>
                          <a:cs typeface="Courier New" pitchFamily="34" charset="-120"/>
                        </a:rPr>
                        <a:t>otel_customers_requestduration_milliseconds_bucket / _sum / _count</a:t>
                      </a:r>
                      <a:endParaRPr lang="en-US" sz="1100" dirty="0">
                        <a:latin typeface="Courier New" charset="0"/>
                        <a:ea typeface="Courier New" charset="0"/>
                        <a:cs typeface="Courier New" charset="0"/>
                      </a:endParaRPr>
                    </a:p>
                  </a:txBody>
                  <a:tcPr marL="73152" marR="73152">
                    <a:lnL w="0" cap="flat" cmpd="sng" algn="ctr">
                      <a:noFill/>
                    </a:lnL>
                    <a:lnR w="0" cap="flat" cmpd="sng" algn="ctr">
                      <a:noFill/>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7F7F4"/>
                    </a:solidFill>
                  </a:tcPr>
                </a:tc>
                <a:extLst>
                  <a:ext uri="{0D108BD9-81ED-4DB2-BD59-A6C34878D82A}">
                    <a16:rowId xmlns:a16="http://schemas.microsoft.com/office/drawing/2014/main" val="10002"/>
                  </a:ext>
                </a:extLst>
              </a:tr>
              <a:tr h="411480">
                <a:tc>
                  <a:txBody>
                    <a:bodyPr/>
                    <a:lstStyle/>
                    <a:p>
                      <a:pPr marL="0" indent="0">
                        <a:buNone/>
                      </a:pPr>
                      <a:r>
                        <a:rPr lang="en-US" sz="1200" dirty="0">
                          <a:solidFill>
                            <a:srgbClr val="16202B"/>
                          </a:solidFill>
                          <a:latin typeface="Courier New" pitchFamily="34" charset="0"/>
                          <a:ea typeface="Courier New" pitchFamily="34" charset="-122"/>
                          <a:cs typeface="Courier New" pitchFamily="34" charset="-120"/>
                        </a:rPr>
                        <a:t>customers.count</a:t>
                      </a:r>
                      <a:endParaRPr lang="en-US" sz="1200" dirty="0">
                        <a:latin typeface="Courier New" charset="0"/>
                        <a:ea typeface="Courier New" charset="0"/>
                        <a:cs typeface="Courier New" charset="0"/>
                      </a:endParaRPr>
                    </a:p>
                  </a:txBody>
                  <a:tcPr marL="73152" marR="73152">
                    <a:lnL w="0" cap="flat" cmpd="sng" algn="ctr">
                      <a:noFill/>
                    </a:lnL>
                    <a:lnR w="0" cap="flat" cmpd="sng" algn="ctr">
                      <a:noFill/>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7F7F4"/>
                    </a:solidFill>
                  </a:tcPr>
                </a:tc>
                <a:tc>
                  <a:txBody>
                    <a:bodyPr/>
                    <a:lstStyle/>
                    <a:p>
                      <a:pPr marL="0" indent="0">
                        <a:buNone/>
                      </a:pPr>
                      <a:r>
                        <a:rPr lang="en-US" sz="1200" dirty="0">
                          <a:solidFill>
                            <a:srgbClr val="16202B"/>
                          </a:solidFill>
                          <a:latin typeface="Arial" pitchFamily="34" charset="0"/>
                          <a:ea typeface="Arial" pitchFamily="34" charset="-122"/>
                          <a:cs typeface="Arial" pitchFamily="34" charset="-120"/>
                        </a:rPr>
                        <a:t>ObservableGauge</a:t>
                      </a:r>
                      <a:endParaRPr lang="en-US" sz="1200" dirty="0">
                        <a:latin typeface="Arial" charset="0"/>
                        <a:ea typeface="Arial" charset="0"/>
                        <a:cs typeface="Arial" charset="0"/>
                      </a:endParaRPr>
                    </a:p>
                  </a:txBody>
                  <a:tcPr marL="73152" marR="73152">
                    <a:lnL w="0" cap="flat" cmpd="sng" algn="ctr">
                      <a:noFill/>
                    </a:lnL>
                    <a:lnR w="0" cap="flat" cmpd="sng" algn="ctr">
                      <a:noFill/>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7F7F4"/>
                    </a:solidFill>
                  </a:tcPr>
                </a:tc>
                <a:tc>
                  <a:txBody>
                    <a:bodyPr/>
                    <a:lstStyle/>
                    <a:p>
                      <a:pPr marL="0" indent="0">
                        <a:buNone/>
                      </a:pPr>
                      <a:r>
                        <a:rPr lang="en-US" sz="1100" dirty="0">
                          <a:solidFill>
                            <a:srgbClr val="16202B"/>
                          </a:solidFill>
                          <a:latin typeface="Courier New" pitchFamily="34" charset="0"/>
                          <a:ea typeface="Courier New" pitchFamily="34" charset="-122"/>
                          <a:cs typeface="Courier New" pitchFamily="34" charset="-120"/>
                        </a:rPr>
                        <a:t>otel_customers_count</a:t>
                      </a:r>
                      <a:endParaRPr lang="en-US" sz="1100" dirty="0">
                        <a:latin typeface="Courier New" charset="0"/>
                        <a:ea typeface="Courier New" charset="0"/>
                        <a:cs typeface="Courier New" charset="0"/>
                      </a:endParaRPr>
                    </a:p>
                  </a:txBody>
                  <a:tcPr marL="73152" marR="73152">
                    <a:lnL w="0" cap="flat" cmpd="sng" algn="ctr">
                      <a:noFill/>
                    </a:lnL>
                    <a:lnR w="0" cap="flat" cmpd="sng" algn="ctr">
                      <a:noFill/>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7F7F4"/>
                    </a:solidFill>
                  </a:tcPr>
                </a:tc>
                <a:extLst>
                  <a:ext uri="{0D108BD9-81ED-4DB2-BD59-A6C34878D82A}">
                    <a16:rowId xmlns:a16="http://schemas.microsoft.com/office/drawing/2014/main" val="10003"/>
                  </a:ext>
                </a:extLst>
              </a:tr>
              <a:tr h="411480">
                <a:tc>
                  <a:txBody>
                    <a:bodyPr/>
                    <a:lstStyle/>
                    <a:p>
                      <a:pPr marL="0" indent="0">
                        <a:buNone/>
                      </a:pPr>
                      <a:r>
                        <a:rPr lang="en-US" sz="1200" dirty="0">
                          <a:solidFill>
                            <a:srgbClr val="16202B"/>
                          </a:solidFill>
                          <a:latin typeface="Courier New" pitchFamily="34" charset="0"/>
                          <a:ea typeface="Courier New" pitchFamily="34" charset="-122"/>
                          <a:cs typeface="Courier New" pitchFamily="34" charset="-120"/>
                        </a:rPr>
                        <a:t>http.server.request.duration</a:t>
                      </a:r>
                      <a:endParaRPr lang="en-US" sz="1200" dirty="0">
                        <a:latin typeface="Courier New" charset="0"/>
                        <a:ea typeface="Courier New" charset="0"/>
                        <a:cs typeface="Courier New" charset="0"/>
                      </a:endParaRPr>
                    </a:p>
                  </a:txBody>
                  <a:tcPr marL="73152" marR="73152">
                    <a:lnL w="0" cap="flat" cmpd="sng" algn="ctr">
                      <a:noFill/>
                    </a:lnL>
                    <a:lnR w="0" cap="flat" cmpd="sng" algn="ctr">
                      <a:noFill/>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7F7F4"/>
                    </a:solidFill>
                  </a:tcPr>
                </a:tc>
                <a:tc>
                  <a:txBody>
                    <a:bodyPr/>
                    <a:lstStyle/>
                    <a:p>
                      <a:pPr marL="0" indent="0">
                        <a:buNone/>
                      </a:pPr>
                      <a:r>
                        <a:rPr lang="en-US" sz="1200" dirty="0">
                          <a:solidFill>
                            <a:srgbClr val="16202B"/>
                          </a:solidFill>
                          <a:latin typeface="Arial" pitchFamily="34" charset="0"/>
                          <a:ea typeface="Arial" pitchFamily="34" charset="-122"/>
                          <a:cs typeface="Arial" pitchFamily="34" charset="-120"/>
                        </a:rPr>
                        <a:t>Histogram, s</a:t>
                      </a:r>
                      <a:endParaRPr lang="en-US" sz="1200" dirty="0">
                        <a:latin typeface="Arial" charset="0"/>
                        <a:ea typeface="Arial" charset="0"/>
                        <a:cs typeface="Arial" charset="0"/>
                      </a:endParaRPr>
                    </a:p>
                  </a:txBody>
                  <a:tcPr marL="73152" marR="73152">
                    <a:lnL w="0" cap="flat" cmpd="sng" algn="ctr">
                      <a:noFill/>
                    </a:lnL>
                    <a:lnR w="0" cap="flat" cmpd="sng" algn="ctr">
                      <a:noFill/>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7F7F4"/>
                    </a:solidFill>
                  </a:tcPr>
                </a:tc>
                <a:tc>
                  <a:txBody>
                    <a:bodyPr/>
                    <a:lstStyle/>
                    <a:p>
                      <a:pPr marL="0" indent="0">
                        <a:buNone/>
                      </a:pPr>
                      <a:r>
                        <a:rPr lang="en-US" sz="1100" dirty="0">
                          <a:solidFill>
                            <a:srgbClr val="16202B"/>
                          </a:solidFill>
                          <a:latin typeface="Courier New" pitchFamily="34" charset="0"/>
                          <a:ea typeface="Courier New" pitchFamily="34" charset="-122"/>
                          <a:cs typeface="Courier New" pitchFamily="34" charset="-120"/>
                        </a:rPr>
                        <a:t>otel_http_server_request_duration_seconds_bucket …</a:t>
                      </a:r>
                      <a:endParaRPr lang="en-US" sz="1100" dirty="0">
                        <a:latin typeface="Courier New" charset="0"/>
                        <a:ea typeface="Courier New" charset="0"/>
                        <a:cs typeface="Courier New" charset="0"/>
                      </a:endParaRPr>
                    </a:p>
                  </a:txBody>
                  <a:tcPr marL="73152" marR="73152">
                    <a:lnL w="0" cap="flat" cmpd="sng" algn="ctr">
                      <a:noFill/>
                    </a:lnL>
                    <a:lnR w="0" cap="flat" cmpd="sng" algn="ctr">
                      <a:noFill/>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7F7F4"/>
                    </a:solidFill>
                  </a:tcPr>
                </a:tc>
                <a:extLst>
                  <a:ext uri="{0D108BD9-81ED-4DB2-BD59-A6C34878D82A}">
                    <a16:rowId xmlns:a16="http://schemas.microsoft.com/office/drawing/2014/main" val="10004"/>
                  </a:ext>
                </a:extLst>
              </a:tr>
              <a:tr h="411480">
                <a:tc>
                  <a:txBody>
                    <a:bodyPr/>
                    <a:lstStyle/>
                    <a:p>
                      <a:pPr marL="0" indent="0">
                        <a:buNone/>
                      </a:pPr>
                      <a:r>
                        <a:rPr lang="en-US" sz="1200" dirty="0">
                          <a:solidFill>
                            <a:srgbClr val="16202B"/>
                          </a:solidFill>
                          <a:latin typeface="Courier New" pitchFamily="34" charset="0"/>
                          <a:ea typeface="Courier New" pitchFamily="34" charset="-122"/>
                          <a:cs typeface="Courier New" pitchFamily="34" charset="-120"/>
                        </a:rPr>
                        <a:t>attribut http.route</a:t>
                      </a:r>
                      <a:endParaRPr lang="en-US" sz="1200" dirty="0">
                        <a:latin typeface="Courier New" charset="0"/>
                        <a:ea typeface="Courier New" charset="0"/>
                        <a:cs typeface="Courier New" charset="0"/>
                      </a:endParaRPr>
                    </a:p>
                  </a:txBody>
                  <a:tcPr marL="73152" marR="73152">
                    <a:lnL w="0" cap="flat" cmpd="sng" algn="ctr">
                      <a:noFill/>
                    </a:lnL>
                    <a:lnR w="0" cap="flat" cmpd="sng" algn="ctr">
                      <a:noFill/>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7F7F4"/>
                    </a:solidFill>
                  </a:tcPr>
                </a:tc>
                <a:tc>
                  <a:txBody>
                    <a:bodyPr/>
                    <a:lstStyle/>
                    <a:p>
                      <a:pPr marL="0" indent="0">
                        <a:buNone/>
                      </a:pPr>
                      <a:r>
                        <a:rPr lang="en-US" sz="1200" dirty="0">
                          <a:solidFill>
                            <a:srgbClr val="16202B"/>
                          </a:solidFill>
                          <a:latin typeface="Arial" pitchFamily="34" charset="0"/>
                          <a:ea typeface="Arial" pitchFamily="34" charset="-122"/>
                          <a:cs typeface="Arial" pitchFamily="34" charset="-120"/>
                        </a:rPr>
                        <a:t>label</a:t>
                      </a:r>
                      <a:endParaRPr lang="en-US" sz="1200" dirty="0">
                        <a:latin typeface="Arial" charset="0"/>
                        <a:ea typeface="Arial" charset="0"/>
                        <a:cs typeface="Arial" charset="0"/>
                      </a:endParaRPr>
                    </a:p>
                  </a:txBody>
                  <a:tcPr marL="73152" marR="73152">
                    <a:lnL w="0" cap="flat" cmpd="sng" algn="ctr">
                      <a:noFill/>
                    </a:lnL>
                    <a:lnR w="0" cap="flat" cmpd="sng" algn="ctr">
                      <a:noFill/>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7F7F4"/>
                    </a:solidFill>
                  </a:tcPr>
                </a:tc>
                <a:tc>
                  <a:txBody>
                    <a:bodyPr/>
                    <a:lstStyle/>
                    <a:p>
                      <a:pPr marL="0" indent="0">
                        <a:buNone/>
                      </a:pPr>
                      <a:r>
                        <a:rPr lang="en-US" sz="1100" dirty="0">
                          <a:solidFill>
                            <a:srgbClr val="16202B"/>
                          </a:solidFill>
                          <a:latin typeface="Courier New" pitchFamily="34" charset="0"/>
                          <a:ea typeface="Courier New" pitchFamily="34" charset="-122"/>
                          <a:cs typeface="Courier New" pitchFamily="34" charset="-120"/>
                        </a:rPr>
                        <a:t>http_route</a:t>
                      </a:r>
                      <a:endParaRPr lang="en-US" sz="1100" dirty="0">
                        <a:latin typeface="Courier New" charset="0"/>
                        <a:ea typeface="Courier New" charset="0"/>
                        <a:cs typeface="Courier New" charset="0"/>
                      </a:endParaRPr>
                    </a:p>
                  </a:txBody>
                  <a:tcPr marL="73152" marR="73152">
                    <a:lnL w="0" cap="flat" cmpd="sng" algn="ctr">
                      <a:noFill/>
                    </a:lnL>
                    <a:lnR w="0" cap="flat" cmpd="sng" algn="ctr">
                      <a:noFill/>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7F7F4"/>
                    </a:solidFill>
                  </a:tcPr>
                </a:tc>
                <a:extLst>
                  <a:ext uri="{0D108BD9-81ED-4DB2-BD59-A6C34878D82A}">
                    <a16:rowId xmlns:a16="http://schemas.microsoft.com/office/drawing/2014/main" val="10005"/>
                  </a:ext>
                </a:extLst>
              </a:tr>
              <a:tr h="411480">
                <a:tc>
                  <a:txBody>
                    <a:bodyPr/>
                    <a:lstStyle/>
                    <a:p>
                      <a:pPr marL="0" indent="0">
                        <a:buNone/>
                      </a:pPr>
                      <a:r>
                        <a:rPr lang="en-US" sz="1200" dirty="0">
                          <a:solidFill>
                            <a:srgbClr val="16202B"/>
                          </a:solidFill>
                          <a:latin typeface="Courier New" pitchFamily="34" charset="0"/>
                          <a:ea typeface="Courier New" pitchFamily="34" charset="-122"/>
                          <a:cs typeface="Courier New" pitchFamily="34" charset="-120"/>
                        </a:rPr>
                        <a:t>resource service.name</a:t>
                      </a:r>
                      <a:endParaRPr lang="en-US" sz="1200" dirty="0">
                        <a:latin typeface="Courier New" charset="0"/>
                        <a:ea typeface="Courier New" charset="0"/>
                        <a:cs typeface="Courier New" charset="0"/>
                      </a:endParaRPr>
                    </a:p>
                  </a:txBody>
                  <a:tcPr marL="73152" marR="73152">
                    <a:lnL w="0" cap="flat" cmpd="sng" algn="ctr">
                      <a:noFill/>
                    </a:lnL>
                    <a:lnR w="0" cap="flat" cmpd="sng" algn="ctr">
                      <a:noFill/>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7F7F4"/>
                    </a:solidFill>
                  </a:tcPr>
                </a:tc>
                <a:tc>
                  <a:txBody>
                    <a:bodyPr/>
                    <a:lstStyle/>
                    <a:p>
                      <a:pPr marL="0" indent="0">
                        <a:buNone/>
                      </a:pPr>
                      <a:r>
                        <a:rPr lang="en-US" sz="1200" dirty="0">
                          <a:solidFill>
                            <a:srgbClr val="16202B"/>
                          </a:solidFill>
                          <a:latin typeface="Arial" pitchFamily="34" charset="0"/>
                          <a:ea typeface="Arial" pitchFamily="34" charset="-122"/>
                          <a:cs typeface="Arial" pitchFamily="34" charset="-120"/>
                        </a:rPr>
                        <a:t>label</a:t>
                      </a:r>
                      <a:endParaRPr lang="en-US" sz="1200" dirty="0">
                        <a:latin typeface="Arial" charset="0"/>
                        <a:ea typeface="Arial" charset="0"/>
                        <a:cs typeface="Arial" charset="0"/>
                      </a:endParaRPr>
                    </a:p>
                  </a:txBody>
                  <a:tcPr marL="73152" marR="73152">
                    <a:lnL w="0" cap="flat" cmpd="sng" algn="ctr">
                      <a:noFill/>
                    </a:lnL>
                    <a:lnR w="0" cap="flat" cmpd="sng" algn="ctr">
                      <a:noFill/>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7F7F4"/>
                    </a:solidFill>
                  </a:tcPr>
                </a:tc>
                <a:tc>
                  <a:txBody>
                    <a:bodyPr/>
                    <a:lstStyle/>
                    <a:p>
                      <a:pPr marL="0" indent="0">
                        <a:buNone/>
                      </a:pPr>
                      <a:r>
                        <a:rPr lang="en-US" sz="1100" dirty="0">
                          <a:solidFill>
                            <a:srgbClr val="16202B"/>
                          </a:solidFill>
                          <a:latin typeface="Courier New" pitchFamily="34" charset="0"/>
                          <a:ea typeface="Courier New" pitchFamily="34" charset="-122"/>
                          <a:cs typeface="Courier New" pitchFamily="34" charset="-120"/>
                        </a:rPr>
                        <a:t>service_name</a:t>
                      </a:r>
                      <a:endParaRPr lang="en-US" sz="1100" dirty="0">
                        <a:latin typeface="Courier New" charset="0"/>
                        <a:ea typeface="Courier New" charset="0"/>
                        <a:cs typeface="Courier New" charset="0"/>
                      </a:endParaRPr>
                    </a:p>
                  </a:txBody>
                  <a:tcPr marL="73152" marR="73152">
                    <a:lnL w="0" cap="flat" cmpd="sng" algn="ctr">
                      <a:noFill/>
                    </a:lnL>
                    <a:lnR w="0" cap="flat" cmpd="sng" algn="ctr">
                      <a:noFill/>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7F7F4"/>
                    </a:solidFill>
                  </a:tcPr>
                </a:tc>
                <a:extLst>
                  <a:ext uri="{0D108BD9-81ED-4DB2-BD59-A6C34878D82A}">
                    <a16:rowId xmlns:a16="http://schemas.microsoft.com/office/drawing/2014/main" val="10006"/>
                  </a:ext>
                </a:extLst>
              </a:tr>
            </a:tbl>
          </a:graphicData>
        </a:graphic>
      </p:graphicFrame>
      <p:sp>
        <p:nvSpPr>
          <p:cNvPr id="5" name="Shape 2"/>
          <p:cNvSpPr/>
          <p:nvPr/>
        </p:nvSpPr>
        <p:spPr>
          <a:xfrm>
            <a:off x="548640" y="4617720"/>
            <a:ext cx="2651760" cy="1188720"/>
          </a:xfrm>
          <a:prstGeom prst="roundRect">
            <a:avLst>
              <a:gd name="adj" fmla="val 4615"/>
            </a:avLst>
          </a:prstGeom>
          <a:solidFill>
            <a:srgbClr val="3762FF"/>
          </a:solidFill>
          <a:ln w="12700">
            <a:solidFill>
              <a:srgbClr val="3762FF"/>
            </a:solidFill>
            <a:prstDash val="solid"/>
          </a:ln>
        </p:spPr>
      </p:sp>
      <p:sp>
        <p:nvSpPr>
          <p:cNvPr id="6" name="Text 3"/>
          <p:cNvSpPr txBox="1"/>
          <p:nvPr/>
        </p:nvSpPr>
        <p:spPr>
          <a:xfrm>
            <a:off x="749808" y="4818888"/>
            <a:ext cx="2249424" cy="320040"/>
          </a:xfrm>
          <a:prstGeom prst="rect">
            <a:avLst/>
          </a:prstGeom>
          <a:noFill/>
          <a:ln/>
        </p:spPr>
        <p:txBody>
          <a:bodyPr wrap="square" lIns="0" tIns="0" rIns="0" bIns="0" rtlCol="0" anchor="t"/>
          <a:lstStyle/>
          <a:p>
            <a:pPr marL="0" indent="0">
              <a:buNone/>
            </a:pPr>
            <a:r>
              <a:rPr lang="en-US" sz="1400" b="1" dirty="0">
                <a:solidFill>
                  <a:srgbClr val="FFFFFF"/>
                </a:solidFill>
                <a:latin typeface="Calibri" pitchFamily="34" charset="0"/>
                <a:ea typeface="Calibri" pitchFamily="34" charset="-122"/>
                <a:cs typeface="Calibri" pitchFamily="34" charset="-120"/>
              </a:rPr>
              <a:t>otel_</a:t>
            </a:r>
            <a:endParaRPr lang="en-US" sz="1400" dirty="0"/>
          </a:p>
        </p:txBody>
      </p:sp>
      <p:sp>
        <p:nvSpPr>
          <p:cNvPr id="7" name="Text 4"/>
          <p:cNvSpPr txBox="1"/>
          <p:nvPr/>
        </p:nvSpPr>
        <p:spPr>
          <a:xfrm>
            <a:off x="749808" y="5202936"/>
            <a:ext cx="2249424" cy="448056"/>
          </a:xfrm>
          <a:prstGeom prst="rect">
            <a:avLst/>
          </a:prstGeom>
          <a:noFill/>
          <a:ln/>
        </p:spPr>
        <p:txBody>
          <a:bodyPr wrap="square" lIns="0" tIns="0" rIns="0" bIns="0" rtlCol="0" anchor="t"/>
          <a:lstStyle/>
          <a:p>
            <a:pPr marL="0" indent="0">
              <a:lnSpc>
                <a:spcPct val="115000"/>
              </a:lnSpc>
              <a:buNone/>
            </a:pPr>
            <a:r>
              <a:rPr lang="en-US" sz="1200" dirty="0">
                <a:solidFill>
                  <a:srgbClr val="FFFFFF"/>
                </a:solidFill>
                <a:latin typeface="Arial" pitchFamily="34" charset="0"/>
                <a:ea typeface="Arial" pitchFamily="34" charset="-122"/>
                <a:cs typeface="Arial" pitchFamily="34" charset="-120"/>
              </a:rPr>
              <a:t>prefix från collectorn (namespace: otel)</a:t>
            </a:r>
            <a:endParaRPr lang="en-US" sz="1200" dirty="0"/>
          </a:p>
        </p:txBody>
      </p:sp>
      <p:sp>
        <p:nvSpPr>
          <p:cNvPr id="8" name="Shape 5"/>
          <p:cNvSpPr/>
          <p:nvPr/>
        </p:nvSpPr>
        <p:spPr>
          <a:xfrm>
            <a:off x="3362249" y="4617720"/>
            <a:ext cx="2651760" cy="1188720"/>
          </a:xfrm>
          <a:prstGeom prst="roundRect">
            <a:avLst>
              <a:gd name="adj" fmla="val 4615"/>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9" name="Text 6"/>
          <p:cNvSpPr txBox="1"/>
          <p:nvPr/>
        </p:nvSpPr>
        <p:spPr>
          <a:xfrm>
            <a:off x="3563417" y="4818888"/>
            <a:ext cx="2249424" cy="320040"/>
          </a:xfrm>
          <a:prstGeom prst="rect">
            <a:avLst/>
          </a:prstGeom>
          <a:noFill/>
          <a:ln/>
        </p:spPr>
        <p:txBody>
          <a:bodyPr wrap="square" lIns="0" tIns="0" rIns="0" bIns="0" rtlCol="0" anchor="t"/>
          <a:lstStyle/>
          <a:p>
            <a:pPr marL="0" indent="0">
              <a:buNone/>
            </a:pPr>
            <a:r>
              <a:rPr lang="en-US" sz="1400" b="1" dirty="0">
                <a:solidFill>
                  <a:srgbClr val="16202B"/>
                </a:solidFill>
                <a:latin typeface="Calibri" pitchFamily="34" charset="0"/>
                <a:ea typeface="Calibri" pitchFamily="34" charset="-122"/>
                <a:cs typeface="Calibri" pitchFamily="34" charset="-120"/>
              </a:rPr>
              <a:t>. blir _</a:t>
            </a:r>
            <a:endParaRPr lang="en-US" sz="1400" dirty="0"/>
          </a:p>
        </p:txBody>
      </p:sp>
      <p:sp>
        <p:nvSpPr>
          <p:cNvPr id="10" name="Text 7"/>
          <p:cNvSpPr txBox="1"/>
          <p:nvPr/>
        </p:nvSpPr>
        <p:spPr>
          <a:xfrm>
            <a:off x="3563417" y="5202936"/>
            <a:ext cx="2249424" cy="448056"/>
          </a:xfrm>
          <a:prstGeom prst="rect">
            <a:avLst/>
          </a:prstGeom>
          <a:noFill/>
          <a:ln/>
        </p:spPr>
        <p:txBody>
          <a:bodyPr wrap="square" lIns="0" tIns="0" rIns="0" bIns="0" rtlCol="0" anchor="t"/>
          <a:lstStyle/>
          <a:p>
            <a:pPr marL="0" indent="0">
              <a:lnSpc>
                <a:spcPct val="115000"/>
              </a:lnSpc>
              <a:buNone/>
            </a:pPr>
            <a:r>
              <a:rPr lang="en-US" sz="1200" dirty="0">
                <a:solidFill>
                  <a:srgbClr val="4A5568"/>
                </a:solidFill>
                <a:latin typeface="Arial" pitchFamily="34" charset="0"/>
                <a:ea typeface="Arial" pitchFamily="34" charset="-122"/>
                <a:cs typeface="Arial" pitchFamily="34" charset="-120"/>
              </a:rPr>
              <a:t>Prometheus tillåter inte punkter</a:t>
            </a:r>
            <a:endParaRPr lang="en-US" sz="1200" dirty="0"/>
          </a:p>
        </p:txBody>
      </p:sp>
      <p:sp>
        <p:nvSpPr>
          <p:cNvPr id="11" name="Shape 8"/>
          <p:cNvSpPr/>
          <p:nvPr/>
        </p:nvSpPr>
        <p:spPr>
          <a:xfrm>
            <a:off x="6175858" y="4617720"/>
            <a:ext cx="2651760" cy="1188720"/>
          </a:xfrm>
          <a:prstGeom prst="roundRect">
            <a:avLst>
              <a:gd name="adj" fmla="val 4615"/>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4" name="Text 9"/>
          <p:cNvSpPr txBox="1"/>
          <p:nvPr/>
        </p:nvSpPr>
        <p:spPr>
          <a:xfrm>
            <a:off x="6377026" y="4818888"/>
            <a:ext cx="2249424" cy="320040"/>
          </a:xfrm>
          <a:prstGeom prst="rect">
            <a:avLst/>
          </a:prstGeom>
          <a:noFill/>
          <a:ln/>
        </p:spPr>
        <p:txBody>
          <a:bodyPr wrap="square" lIns="0" tIns="0" rIns="0" bIns="0" rtlCol="0" anchor="t"/>
          <a:lstStyle/>
          <a:p>
            <a:pPr marL="0" indent="0">
              <a:buNone/>
            </a:pPr>
            <a:r>
              <a:rPr lang="en-US" sz="1400" b="1" dirty="0">
                <a:solidFill>
                  <a:srgbClr val="16202B"/>
                </a:solidFill>
                <a:latin typeface="Calibri" pitchFamily="34" charset="0"/>
                <a:ea typeface="Calibri" pitchFamily="34" charset="-122"/>
                <a:cs typeface="Calibri" pitchFamily="34" charset="-120"/>
              </a:rPr>
              <a:t>_milliseconds / _seconds</a:t>
            </a:r>
            <a:endParaRPr lang="en-US" sz="1400" dirty="0"/>
          </a:p>
        </p:txBody>
      </p:sp>
      <p:sp>
        <p:nvSpPr>
          <p:cNvPr id="13" name="Text 10"/>
          <p:cNvSpPr txBox="1"/>
          <p:nvPr/>
        </p:nvSpPr>
        <p:spPr>
          <a:xfrm>
            <a:off x="6377026" y="5202936"/>
            <a:ext cx="2249424" cy="448056"/>
          </a:xfrm>
          <a:prstGeom prst="rect">
            <a:avLst/>
          </a:prstGeom>
          <a:noFill/>
          <a:ln/>
        </p:spPr>
        <p:txBody>
          <a:bodyPr wrap="square" lIns="0" tIns="0" rIns="0" bIns="0" rtlCol="0" anchor="t"/>
          <a:lstStyle/>
          <a:p>
            <a:pPr marL="0" indent="0">
              <a:lnSpc>
                <a:spcPct val="115000"/>
              </a:lnSpc>
              <a:buNone/>
            </a:pPr>
            <a:r>
              <a:rPr lang="en-US" sz="1200" dirty="0">
                <a:solidFill>
                  <a:srgbClr val="4A5568"/>
                </a:solidFill>
                <a:latin typeface="Arial" pitchFamily="34" charset="0"/>
                <a:ea typeface="Arial" pitchFamily="34" charset="-122"/>
                <a:cs typeface="Arial" pitchFamily="34" charset="-120"/>
              </a:rPr>
              <a:t>enheten läggs till</a:t>
            </a:r>
            <a:endParaRPr lang="en-US" sz="1200" dirty="0"/>
          </a:p>
        </p:txBody>
      </p:sp>
      <p:sp>
        <p:nvSpPr>
          <p:cNvPr id="14" name="Shape 11"/>
          <p:cNvSpPr/>
          <p:nvPr/>
        </p:nvSpPr>
        <p:spPr>
          <a:xfrm>
            <a:off x="8989466" y="4617720"/>
            <a:ext cx="2651760" cy="1188720"/>
          </a:xfrm>
          <a:prstGeom prst="roundRect">
            <a:avLst>
              <a:gd name="adj" fmla="val 4615"/>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15" name="Text 12"/>
          <p:cNvSpPr txBox="1"/>
          <p:nvPr/>
        </p:nvSpPr>
        <p:spPr>
          <a:xfrm>
            <a:off x="9190634" y="4818888"/>
            <a:ext cx="2249424" cy="320040"/>
          </a:xfrm>
          <a:prstGeom prst="rect">
            <a:avLst/>
          </a:prstGeom>
          <a:noFill/>
          <a:ln/>
        </p:spPr>
        <p:txBody>
          <a:bodyPr wrap="square" lIns="0" tIns="0" rIns="0" bIns="0" rtlCol="0" anchor="t"/>
          <a:lstStyle/>
          <a:p>
            <a:pPr marL="0" indent="0">
              <a:buNone/>
            </a:pPr>
            <a:r>
              <a:rPr lang="en-US" sz="1400" b="1" dirty="0">
                <a:solidFill>
                  <a:srgbClr val="16202B"/>
                </a:solidFill>
                <a:latin typeface="Calibri" pitchFamily="34" charset="0"/>
                <a:ea typeface="Calibri" pitchFamily="34" charset="-122"/>
                <a:cs typeface="Calibri" pitchFamily="34" charset="-120"/>
              </a:rPr>
              <a:t>_total</a:t>
            </a:r>
            <a:endParaRPr lang="en-US" sz="1400" dirty="0"/>
          </a:p>
        </p:txBody>
      </p:sp>
      <p:sp>
        <p:nvSpPr>
          <p:cNvPr id="16" name="Text 13"/>
          <p:cNvSpPr txBox="1"/>
          <p:nvPr/>
        </p:nvSpPr>
        <p:spPr>
          <a:xfrm>
            <a:off x="9190634" y="5202936"/>
            <a:ext cx="2249424" cy="448056"/>
          </a:xfrm>
          <a:prstGeom prst="rect">
            <a:avLst/>
          </a:prstGeom>
          <a:noFill/>
          <a:ln/>
        </p:spPr>
        <p:txBody>
          <a:bodyPr wrap="square" lIns="0" tIns="0" rIns="0" bIns="0" rtlCol="0" anchor="t"/>
          <a:lstStyle/>
          <a:p>
            <a:pPr marL="0" indent="0">
              <a:lnSpc>
                <a:spcPct val="115000"/>
              </a:lnSpc>
              <a:buNone/>
            </a:pPr>
            <a:r>
              <a:rPr lang="en-US" sz="1200" dirty="0">
                <a:solidFill>
                  <a:srgbClr val="4A5568"/>
                </a:solidFill>
                <a:latin typeface="Arial" pitchFamily="34" charset="0"/>
                <a:ea typeface="Arial" pitchFamily="34" charset="-122"/>
                <a:cs typeface="Arial" pitchFamily="34" charset="-120"/>
              </a:rPr>
              <a:t>på alla räknare</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F33"/>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marL="0" indent="0">
              <a:buNone/>
            </a:pPr>
            <a:r>
              <a:rPr lang="en-US" sz="1200" b="1" kern="0" spc="200" dirty="0">
                <a:solidFill>
                  <a:srgbClr val="7C9CFF"/>
                </a:solidFill>
                <a:latin typeface="Arial" pitchFamily="34" charset="0"/>
                <a:ea typeface="Arial" pitchFamily="34" charset="-122"/>
                <a:cs typeface="Arial" pitchFamily="34" charset="-120"/>
              </a:rPr>
              <a:t>PROMETHEUS · PROMQL</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marL="0" indent="0">
              <a:buNone/>
            </a:pPr>
            <a:r>
              <a:rPr lang="en-US" sz="3000" b="1" dirty="0">
                <a:solidFill>
                  <a:srgbClr val="F5F7FA"/>
                </a:solidFill>
                <a:latin typeface="Calibri" pitchFamily="34" charset="0"/>
                <a:ea typeface="Calibri" pitchFamily="34" charset="-122"/>
                <a:cs typeface="Calibri" pitchFamily="34" charset="-120"/>
              </a:rPr>
              <a:t>Bygg frågan inifrån och ut</a:t>
            </a:r>
            <a:endParaRPr lang="en-US" sz="3000" dirty="0"/>
          </a:p>
        </p:txBody>
      </p:sp>
      <p:sp>
        <p:nvSpPr>
          <p:cNvPr id="4" name="Shape 2"/>
          <p:cNvSpPr/>
          <p:nvPr/>
        </p:nvSpPr>
        <p:spPr>
          <a:xfrm>
            <a:off x="548640" y="1554480"/>
            <a:ext cx="7589520" cy="4297680"/>
          </a:xfrm>
          <a:prstGeom prst="roundRect">
            <a:avLst>
              <a:gd name="adj" fmla="val 1277"/>
            </a:avLst>
          </a:prstGeom>
          <a:solidFill>
            <a:srgbClr val="16294A"/>
          </a:solidFill>
          <a:ln w="12700">
            <a:solidFill>
              <a:srgbClr val="16294A"/>
            </a:solidFill>
            <a:prstDash val="solid"/>
          </a:ln>
        </p:spPr>
      </p:sp>
      <p:sp>
        <p:nvSpPr>
          <p:cNvPr id="5" name="Shape 3"/>
          <p:cNvSpPr/>
          <p:nvPr/>
        </p:nvSpPr>
        <p:spPr>
          <a:xfrm>
            <a:off x="749808" y="1719072"/>
            <a:ext cx="109728" cy="109728"/>
          </a:xfrm>
          <a:prstGeom prst="ellipse">
            <a:avLst/>
          </a:prstGeom>
          <a:solidFill>
            <a:srgbClr val="D64545"/>
          </a:solidFill>
          <a:ln w="12700">
            <a:solidFill>
              <a:srgbClr val="D64545"/>
            </a:solidFill>
            <a:prstDash val="solid"/>
          </a:ln>
        </p:spPr>
      </p:sp>
      <p:sp>
        <p:nvSpPr>
          <p:cNvPr id="6" name="Shape 4"/>
          <p:cNvSpPr/>
          <p:nvPr/>
        </p:nvSpPr>
        <p:spPr>
          <a:xfrm>
            <a:off x="932688" y="1719072"/>
            <a:ext cx="109728" cy="109728"/>
          </a:xfrm>
          <a:prstGeom prst="ellipse">
            <a:avLst/>
          </a:prstGeom>
          <a:solidFill>
            <a:srgbClr val="FFB020"/>
          </a:solidFill>
          <a:ln w="12700">
            <a:solidFill>
              <a:srgbClr val="FFB020"/>
            </a:solidFill>
            <a:prstDash val="solid"/>
          </a:ln>
        </p:spPr>
      </p:sp>
      <p:sp>
        <p:nvSpPr>
          <p:cNvPr id="7" name="Shape 5"/>
          <p:cNvSpPr/>
          <p:nvPr/>
        </p:nvSpPr>
        <p:spPr>
          <a:xfrm>
            <a:off x="1115568" y="1719072"/>
            <a:ext cx="109728" cy="109728"/>
          </a:xfrm>
          <a:prstGeom prst="ellipse">
            <a:avLst/>
          </a:prstGeom>
          <a:solidFill>
            <a:srgbClr val="3CB371"/>
          </a:solidFill>
          <a:ln w="12700">
            <a:solidFill>
              <a:srgbClr val="3CB371"/>
            </a:solidFill>
            <a:prstDash val="solid"/>
          </a:ln>
        </p:spPr>
      </p:sp>
      <p:sp>
        <p:nvSpPr>
          <p:cNvPr id="8" name="Text 6"/>
          <p:cNvSpPr txBox="1"/>
          <p:nvPr/>
        </p:nvSpPr>
        <p:spPr>
          <a:xfrm>
            <a:off x="1371600" y="1645920"/>
            <a:ext cx="6583680" cy="256032"/>
          </a:xfrm>
          <a:prstGeom prst="rect">
            <a:avLst/>
          </a:prstGeom>
          <a:noFill/>
          <a:ln/>
        </p:spPr>
        <p:txBody>
          <a:bodyPr wrap="square" lIns="0" tIns="0" rIns="0" bIns="0" rtlCol="0" anchor="ctr"/>
          <a:lstStyle/>
          <a:p>
            <a:pPr marL="0" indent="0">
              <a:buNone/>
            </a:pPr>
            <a:r>
              <a:rPr lang="en-US" sz="1100" dirty="0">
                <a:solidFill>
                  <a:srgbClr val="B9C4D1"/>
                </a:solidFill>
                <a:latin typeface="Courier New" pitchFamily="34" charset="0"/>
                <a:ea typeface="Courier New" pitchFamily="34" charset="-122"/>
                <a:cs typeface="Courier New" pitchFamily="34" charset="-120"/>
              </a:rPr>
              <a:t>Prometheus → Query (kör varje rad för sig)</a:t>
            </a:r>
            <a:endParaRPr lang="en-US" sz="1100" dirty="0"/>
          </a:p>
        </p:txBody>
      </p:sp>
      <p:sp>
        <p:nvSpPr>
          <p:cNvPr id="9" name="Text 7"/>
          <p:cNvSpPr txBox="1"/>
          <p:nvPr/>
        </p:nvSpPr>
        <p:spPr>
          <a:xfrm>
            <a:off x="777240" y="2011680"/>
            <a:ext cx="7132320" cy="3703320"/>
          </a:xfrm>
          <a:prstGeom prst="rect">
            <a:avLst/>
          </a:prstGeom>
          <a:noFill/>
          <a:ln/>
        </p:spPr>
        <p:txBody>
          <a:bodyPr wrap="square" lIns="0" tIns="0" rIns="0" bIns="0" rtlCol="0" anchor="t"/>
          <a:lstStyle/>
          <a:p>
            <a:pPr marL="0" indent="0">
              <a:lnSpc>
                <a:spcPct val="110000"/>
              </a:lnSpc>
              <a:buNone/>
            </a:pPr>
            <a:r>
              <a:rPr lang="en-US" sz="1200" i="1" dirty="0">
                <a:solidFill>
                  <a:srgbClr val="B9C4D1"/>
                </a:solidFill>
                <a:latin typeface="Courier New" pitchFamily="34" charset="0"/>
                <a:ea typeface="Courier New" pitchFamily="34" charset="-122"/>
                <a:cs typeface="Courier New" pitchFamily="34" charset="-120"/>
              </a:rPr>
              <a:t># 1. Selector - alla serier med namnet</a:t>
            </a:r>
            <a:endParaRPr lang="en-US" sz="1200" dirty="0"/>
          </a:p>
          <a:p>
            <a:pPr marL="0" indent="0">
              <a:lnSpc>
                <a:spcPct val="110000"/>
              </a:lnSpc>
              <a:buNone/>
            </a:pPr>
            <a:r>
              <a:rPr lang="en-US" sz="1200" dirty="0">
                <a:solidFill>
                  <a:srgbClr val="DDE3EA"/>
                </a:solidFill>
                <a:latin typeface="Courier New" pitchFamily="34" charset="0"/>
                <a:ea typeface="Courier New" pitchFamily="34" charset="-122"/>
                <a:cs typeface="Courier New" pitchFamily="34" charset="-120"/>
              </a:rPr>
              <a:t>otel_customers_created_total</a:t>
            </a:r>
            <a:endParaRPr lang="en-US" sz="1200" dirty="0"/>
          </a:p>
          <a:p>
            <a:pPr marL="0" indent="0">
              <a:lnSpc>
                <a:spcPct val="110000"/>
              </a:lnSpc>
              <a:buNone/>
            </a:pPr>
            <a:r>
              <a:rPr lang="en-US" sz="1200" i="1" dirty="0">
                <a:solidFill>
                  <a:srgbClr val="B9C4D1"/>
                </a:solidFill>
                <a:latin typeface="Courier New" pitchFamily="34" charset="0"/>
                <a:ea typeface="Courier New" pitchFamily="34" charset="-122"/>
                <a:cs typeface="Courier New" pitchFamily="34" charset="-120"/>
              </a:rPr>
              <a:t># 2. Filtrera på label</a:t>
            </a:r>
            <a:endParaRPr lang="en-US" sz="1200" dirty="0"/>
          </a:p>
          <a:p>
            <a:pPr marL="0" indent="0">
              <a:lnSpc>
                <a:spcPct val="110000"/>
              </a:lnSpc>
              <a:buNone/>
            </a:pPr>
            <a:r>
              <a:rPr lang="en-US" sz="1200" dirty="0">
                <a:solidFill>
                  <a:srgbClr val="DDE3EA"/>
                </a:solidFill>
                <a:latin typeface="Courier New" pitchFamily="34" charset="0"/>
                <a:ea typeface="Courier New" pitchFamily="34" charset="-122"/>
                <a:cs typeface="Courier New" pitchFamily="34" charset="-120"/>
              </a:rPr>
              <a:t>otel_customers_created_total{city="Göteborg"}</a:t>
            </a:r>
            <a:endParaRPr lang="en-US" sz="1200" dirty="0"/>
          </a:p>
          <a:p>
            <a:pPr marL="0" indent="0">
              <a:lnSpc>
                <a:spcPct val="110000"/>
              </a:lnSpc>
              <a:buNone/>
            </a:pPr>
            <a:r>
              <a:rPr lang="en-US" sz="1200" i="1" dirty="0">
                <a:solidFill>
                  <a:srgbClr val="B9C4D1"/>
                </a:solidFill>
                <a:latin typeface="Courier New" pitchFamily="34" charset="0"/>
                <a:ea typeface="Courier New" pitchFamily="34" charset="-122"/>
                <a:cs typeface="Courier New" pitchFamily="34" charset="-120"/>
              </a:rPr>
              <a:t># 3. Räknare växer alltid - rate ger ökning per sekund</a:t>
            </a:r>
            <a:endParaRPr lang="en-US" sz="1200" dirty="0"/>
          </a:p>
          <a:p>
            <a:pPr marL="0" indent="0">
              <a:lnSpc>
                <a:spcPct val="110000"/>
              </a:lnSpc>
              <a:buNone/>
            </a:pPr>
            <a:r>
              <a:rPr lang="en-US" sz="1200" dirty="0">
                <a:solidFill>
                  <a:srgbClr val="DDE3EA"/>
                </a:solidFill>
                <a:latin typeface="Courier New" pitchFamily="34" charset="0"/>
                <a:ea typeface="Courier New" pitchFamily="34" charset="-122"/>
                <a:cs typeface="Courier New" pitchFamily="34" charset="-120"/>
              </a:rPr>
              <a:t>rate(otel_customers_created_total[5m])</a:t>
            </a:r>
            <a:endParaRPr lang="en-US" sz="1200" dirty="0"/>
          </a:p>
          <a:p>
            <a:pPr marL="0" indent="0">
              <a:lnSpc>
                <a:spcPct val="110000"/>
              </a:lnSpc>
              <a:buNone/>
            </a:pPr>
            <a:r>
              <a:rPr lang="en-US" sz="1200" i="1" dirty="0">
                <a:solidFill>
                  <a:srgbClr val="B9C4D1"/>
                </a:solidFill>
                <a:latin typeface="Courier New" pitchFamily="34" charset="0"/>
                <a:ea typeface="Courier New" pitchFamily="34" charset="-122"/>
                <a:cs typeface="Courier New" pitchFamily="34" charset="-120"/>
              </a:rPr>
              <a:t># 4. Summera bort poddarna, behåll staden</a:t>
            </a:r>
            <a:endParaRPr lang="en-US" sz="1200" dirty="0"/>
          </a:p>
          <a:p>
            <a:pPr marL="0" indent="0">
              <a:lnSpc>
                <a:spcPct val="110000"/>
              </a:lnSpc>
              <a:buNone/>
            </a:pPr>
            <a:r>
              <a:rPr lang="en-US" sz="1200" dirty="0">
                <a:solidFill>
                  <a:srgbClr val="DDE3EA"/>
                </a:solidFill>
                <a:latin typeface="Courier New" pitchFamily="34" charset="0"/>
                <a:ea typeface="Courier New" pitchFamily="34" charset="-122"/>
                <a:cs typeface="Courier New" pitchFamily="34" charset="-120"/>
              </a:rPr>
              <a:t>sum by (city) (rate(otel_customers_created_total[5m]))</a:t>
            </a:r>
            <a:endParaRPr lang="en-US" sz="1200" dirty="0"/>
          </a:p>
          <a:p>
            <a:pPr marL="0" indent="0">
              <a:lnSpc>
                <a:spcPct val="110000"/>
              </a:lnSpc>
              <a:buNone/>
            </a:pPr>
            <a:r>
              <a:rPr lang="en-US" sz="1200" i="1" dirty="0">
                <a:solidFill>
                  <a:srgbClr val="B9C4D1"/>
                </a:solidFill>
                <a:latin typeface="Courier New" pitchFamily="34" charset="0"/>
                <a:ea typeface="Courier New" pitchFamily="34" charset="-122"/>
                <a:cs typeface="Courier New" pitchFamily="34" charset="-120"/>
              </a:rPr>
              <a:t># 5. Hur många den senaste timmen?</a:t>
            </a:r>
            <a:endParaRPr lang="en-US" sz="1200" dirty="0"/>
          </a:p>
          <a:p>
            <a:pPr marL="0" indent="0">
              <a:lnSpc>
                <a:spcPct val="110000"/>
              </a:lnSpc>
              <a:buNone/>
            </a:pPr>
            <a:r>
              <a:rPr lang="en-US" sz="1200" dirty="0">
                <a:solidFill>
                  <a:srgbClr val="DDE3EA"/>
                </a:solidFill>
                <a:latin typeface="Courier New" pitchFamily="34" charset="0"/>
                <a:ea typeface="Courier New" pitchFamily="34" charset="-122"/>
                <a:cs typeface="Courier New" pitchFamily="34" charset="-120"/>
              </a:rPr>
              <a:t>sum by (city) (increase(otel_customers_created_total[1h]))</a:t>
            </a:r>
            <a:endParaRPr lang="en-US" sz="1200" dirty="0"/>
          </a:p>
        </p:txBody>
      </p:sp>
      <p:sp>
        <p:nvSpPr>
          <p:cNvPr id="10" name="Shape 8"/>
          <p:cNvSpPr/>
          <p:nvPr/>
        </p:nvSpPr>
        <p:spPr>
          <a:xfrm>
            <a:off x="8503920" y="1554480"/>
            <a:ext cx="3139135" cy="1325880"/>
          </a:xfrm>
          <a:prstGeom prst="roundRect">
            <a:avLst>
              <a:gd name="adj" fmla="val 4138"/>
            </a:avLst>
          </a:prstGeom>
          <a:solidFill>
            <a:srgbClr val="16294A"/>
          </a:solidFill>
          <a:ln w="12700">
            <a:solidFill>
              <a:srgbClr val="16294A"/>
            </a:solidFill>
            <a:prstDash val="solid"/>
          </a:ln>
        </p:spPr>
      </p:sp>
      <p:sp>
        <p:nvSpPr>
          <p:cNvPr id="11" name="Text 9"/>
          <p:cNvSpPr txBox="1"/>
          <p:nvPr/>
        </p:nvSpPr>
        <p:spPr>
          <a:xfrm>
            <a:off x="8705088" y="1755648"/>
            <a:ext cx="2736799" cy="320040"/>
          </a:xfrm>
          <a:prstGeom prst="rect">
            <a:avLst/>
          </a:prstGeom>
          <a:noFill/>
          <a:ln/>
        </p:spPr>
        <p:txBody>
          <a:bodyPr wrap="square" lIns="0" tIns="0" rIns="0" bIns="0" rtlCol="0" anchor="t"/>
          <a:lstStyle/>
          <a:p>
            <a:pPr marL="0" indent="0">
              <a:buNone/>
            </a:pPr>
            <a:r>
              <a:rPr lang="en-US" sz="1400" b="1" dirty="0">
                <a:solidFill>
                  <a:srgbClr val="F5F7FA"/>
                </a:solidFill>
                <a:latin typeface="Calibri" pitchFamily="34" charset="0"/>
                <a:ea typeface="Calibri" pitchFamily="34" charset="-122"/>
                <a:cs typeface="Calibri" pitchFamily="34" charset="-120"/>
              </a:rPr>
              <a:t>[5m]</a:t>
            </a:r>
            <a:endParaRPr lang="en-US" sz="1400" dirty="0"/>
          </a:p>
        </p:txBody>
      </p:sp>
      <p:sp>
        <p:nvSpPr>
          <p:cNvPr id="12" name="Text 10"/>
          <p:cNvSpPr txBox="1"/>
          <p:nvPr/>
        </p:nvSpPr>
        <p:spPr>
          <a:xfrm>
            <a:off x="8705088" y="2139696"/>
            <a:ext cx="2736799" cy="585216"/>
          </a:xfrm>
          <a:prstGeom prst="rect">
            <a:avLst/>
          </a:prstGeom>
          <a:noFill/>
          <a:ln/>
        </p:spPr>
        <p:txBody>
          <a:bodyPr wrap="square" lIns="0" tIns="0" rIns="0" bIns="0" rtlCol="0" anchor="t"/>
          <a:lstStyle/>
          <a:p>
            <a:pPr marL="0" indent="0">
              <a:lnSpc>
                <a:spcPct val="115000"/>
              </a:lnSpc>
              <a:buNone/>
            </a:pPr>
            <a:r>
              <a:rPr lang="en-US" sz="1200" dirty="0">
                <a:solidFill>
                  <a:srgbClr val="B9C4D1"/>
                </a:solidFill>
                <a:latin typeface="Arial" pitchFamily="34" charset="0"/>
                <a:ea typeface="Arial" pitchFamily="34" charset="-122"/>
                <a:cs typeface="Arial" pitchFamily="34" charset="-120"/>
              </a:rPr>
              <a:t>Tidsfönstret rate räknar över.</a:t>
            </a:r>
            <a:endParaRPr lang="en-US" sz="1200" dirty="0"/>
          </a:p>
        </p:txBody>
      </p:sp>
      <p:sp>
        <p:nvSpPr>
          <p:cNvPr id="13" name="Shape 11"/>
          <p:cNvSpPr/>
          <p:nvPr/>
        </p:nvSpPr>
        <p:spPr>
          <a:xfrm>
            <a:off x="8503920" y="3017520"/>
            <a:ext cx="3139135" cy="1325880"/>
          </a:xfrm>
          <a:prstGeom prst="roundRect">
            <a:avLst>
              <a:gd name="adj" fmla="val 4138"/>
            </a:avLst>
          </a:prstGeom>
          <a:solidFill>
            <a:srgbClr val="16294A"/>
          </a:solidFill>
          <a:ln w="12700">
            <a:solidFill>
              <a:srgbClr val="16294A"/>
            </a:solidFill>
            <a:prstDash val="solid"/>
          </a:ln>
        </p:spPr>
      </p:sp>
      <p:sp>
        <p:nvSpPr>
          <p:cNvPr id="14" name="Text 12"/>
          <p:cNvSpPr txBox="1"/>
          <p:nvPr/>
        </p:nvSpPr>
        <p:spPr>
          <a:xfrm>
            <a:off x="8705088" y="3218688"/>
            <a:ext cx="2736799" cy="320040"/>
          </a:xfrm>
          <a:prstGeom prst="rect">
            <a:avLst/>
          </a:prstGeom>
          <a:noFill/>
          <a:ln/>
        </p:spPr>
        <p:txBody>
          <a:bodyPr wrap="square" lIns="0" tIns="0" rIns="0" bIns="0" rtlCol="0" anchor="t"/>
          <a:lstStyle/>
          <a:p>
            <a:pPr marL="0" indent="0">
              <a:buNone/>
            </a:pPr>
            <a:r>
              <a:rPr lang="en-US" sz="1400" b="1" dirty="0">
                <a:solidFill>
                  <a:srgbClr val="F5F7FA"/>
                </a:solidFill>
                <a:latin typeface="Calibri" pitchFamily="34" charset="0"/>
                <a:ea typeface="Calibri" pitchFamily="34" charset="-122"/>
                <a:cs typeface="Calibri" pitchFamily="34" charset="-120"/>
              </a:rPr>
              <a:t>sum by (…)</a:t>
            </a:r>
            <a:endParaRPr lang="en-US" sz="1400" dirty="0"/>
          </a:p>
        </p:txBody>
      </p:sp>
      <p:sp>
        <p:nvSpPr>
          <p:cNvPr id="15" name="Text 13"/>
          <p:cNvSpPr txBox="1"/>
          <p:nvPr/>
        </p:nvSpPr>
        <p:spPr>
          <a:xfrm>
            <a:off x="8705088" y="3602736"/>
            <a:ext cx="2736799" cy="585216"/>
          </a:xfrm>
          <a:prstGeom prst="rect">
            <a:avLst/>
          </a:prstGeom>
          <a:noFill/>
          <a:ln/>
        </p:spPr>
        <p:txBody>
          <a:bodyPr wrap="square" lIns="0" tIns="0" rIns="0" bIns="0" rtlCol="0" anchor="t"/>
          <a:lstStyle/>
          <a:p>
            <a:pPr marL="0" indent="0">
              <a:lnSpc>
                <a:spcPct val="115000"/>
              </a:lnSpc>
              <a:buNone/>
            </a:pPr>
            <a:r>
              <a:rPr lang="en-US" sz="1200" dirty="0">
                <a:solidFill>
                  <a:srgbClr val="B9C4D1"/>
                </a:solidFill>
                <a:latin typeface="Arial" pitchFamily="34" charset="0"/>
                <a:ea typeface="Arial" pitchFamily="34" charset="-122"/>
                <a:cs typeface="Arial" pitchFamily="34" charset="-120"/>
              </a:rPr>
              <a:t>Slår ihop serier - behåller bara de labels ni anger.</a:t>
            </a:r>
            <a:endParaRPr lang="en-US" sz="1200" dirty="0"/>
          </a:p>
        </p:txBody>
      </p:sp>
      <p:sp>
        <p:nvSpPr>
          <p:cNvPr id="16" name="Shape 14"/>
          <p:cNvSpPr/>
          <p:nvPr/>
        </p:nvSpPr>
        <p:spPr>
          <a:xfrm>
            <a:off x="8503920" y="4480560"/>
            <a:ext cx="3139135" cy="1371600"/>
          </a:xfrm>
          <a:prstGeom prst="roundRect">
            <a:avLst>
              <a:gd name="adj" fmla="val 4000"/>
            </a:avLst>
          </a:prstGeom>
          <a:solidFill>
            <a:srgbClr val="3762FF"/>
          </a:solidFill>
          <a:ln w="12700">
            <a:solidFill>
              <a:srgbClr val="3762FF"/>
            </a:solidFill>
            <a:prstDash val="solid"/>
          </a:ln>
        </p:spPr>
      </p:sp>
      <p:sp>
        <p:nvSpPr>
          <p:cNvPr id="17" name="Text 15"/>
          <p:cNvSpPr txBox="1"/>
          <p:nvPr/>
        </p:nvSpPr>
        <p:spPr>
          <a:xfrm>
            <a:off x="8705088" y="4681728"/>
            <a:ext cx="2736799" cy="320040"/>
          </a:xfrm>
          <a:prstGeom prst="rect">
            <a:avLst/>
          </a:prstGeom>
          <a:noFill/>
          <a:ln/>
        </p:spPr>
        <p:txBody>
          <a:bodyPr wrap="square" lIns="0" tIns="0" rIns="0" bIns="0" rtlCol="0" anchor="t"/>
          <a:lstStyle/>
          <a:p>
            <a:pPr marL="0" indent="0">
              <a:buNone/>
            </a:pPr>
            <a:r>
              <a:rPr lang="en-US" sz="1400" b="1" dirty="0">
                <a:solidFill>
                  <a:srgbClr val="FFFFFF"/>
                </a:solidFill>
                <a:latin typeface="Calibri" pitchFamily="34" charset="0"/>
                <a:ea typeface="Calibri" pitchFamily="34" charset="-122"/>
                <a:cs typeface="Calibri" pitchFamily="34" charset="-120"/>
              </a:rPr>
              <a:t>Ett steg i taget</a:t>
            </a:r>
            <a:endParaRPr lang="en-US" sz="1400" dirty="0"/>
          </a:p>
        </p:txBody>
      </p:sp>
      <p:sp>
        <p:nvSpPr>
          <p:cNvPr id="18" name="Text 16"/>
          <p:cNvSpPr txBox="1"/>
          <p:nvPr/>
        </p:nvSpPr>
        <p:spPr>
          <a:xfrm>
            <a:off x="8705088" y="5065776"/>
            <a:ext cx="2736799" cy="630936"/>
          </a:xfrm>
          <a:prstGeom prst="rect">
            <a:avLst/>
          </a:prstGeom>
          <a:noFill/>
          <a:ln/>
        </p:spPr>
        <p:txBody>
          <a:bodyPr wrap="square" lIns="0" tIns="0" rIns="0" bIns="0" rtlCol="0" anchor="t"/>
          <a:lstStyle/>
          <a:p>
            <a:pPr marL="0" indent="0">
              <a:lnSpc>
                <a:spcPct val="115000"/>
              </a:lnSpc>
              <a:buNone/>
            </a:pPr>
            <a:r>
              <a:rPr lang="en-US" sz="1200" dirty="0">
                <a:solidFill>
                  <a:srgbClr val="FFFFFF"/>
                </a:solidFill>
                <a:latin typeface="Arial" pitchFamily="34" charset="0"/>
                <a:ea typeface="Arial" pitchFamily="34" charset="-122"/>
                <a:cs typeface="Arial" pitchFamily="34" charset="-120"/>
              </a:rPr>
              <a:t>Kör i Table efter varje steg - se vad som ändras.</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7F4"/>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marL="0" indent="0">
              <a:buNone/>
            </a:pPr>
            <a:r>
              <a:rPr lang="en-US" sz="1200" b="1" kern="0" spc="200" dirty="0">
                <a:solidFill>
                  <a:srgbClr val="3762FF"/>
                </a:solidFill>
                <a:latin typeface="Arial" pitchFamily="34" charset="0"/>
                <a:ea typeface="Arial" pitchFamily="34" charset="-122"/>
                <a:cs typeface="Arial" pitchFamily="34" charset="-120"/>
              </a:rPr>
              <a:t>PROMETHEUS · METRICTYPER</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marL="0" indent="0">
              <a:buNone/>
            </a:pPr>
            <a:r>
              <a:rPr lang="en-US" sz="3000" b="1" dirty="0">
                <a:solidFill>
                  <a:srgbClr val="16202B"/>
                </a:solidFill>
                <a:latin typeface="Calibri" pitchFamily="34" charset="0"/>
                <a:ea typeface="Calibri" pitchFamily="34" charset="-122"/>
                <a:cs typeface="Calibri" pitchFamily="34" charset="-120"/>
              </a:rPr>
              <a:t>Fyra typer - fyra sätt att fråga</a:t>
            </a:r>
            <a:endParaRPr lang="en-US" sz="3000" dirty="0"/>
          </a:p>
        </p:txBody>
      </p:sp>
      <p:sp>
        <p:nvSpPr>
          <p:cNvPr id="4" name="Shape 2"/>
          <p:cNvSpPr/>
          <p:nvPr/>
        </p:nvSpPr>
        <p:spPr>
          <a:xfrm>
            <a:off x="548640" y="1600200"/>
            <a:ext cx="2636444" cy="4206240"/>
          </a:xfrm>
          <a:prstGeom prst="roundRect">
            <a:avLst>
              <a:gd name="adj" fmla="val 2081"/>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5" name="Text 3"/>
          <p:cNvSpPr txBox="1"/>
          <p:nvPr/>
        </p:nvSpPr>
        <p:spPr>
          <a:xfrm>
            <a:off x="731520" y="1783080"/>
            <a:ext cx="2270684" cy="411480"/>
          </a:xfrm>
          <a:prstGeom prst="rect">
            <a:avLst/>
          </a:prstGeom>
          <a:noFill/>
          <a:ln/>
        </p:spPr>
        <p:txBody>
          <a:bodyPr wrap="square" lIns="0" tIns="0" rIns="0" bIns="0" rtlCol="0" anchor="ctr"/>
          <a:lstStyle/>
          <a:p>
            <a:pPr marL="0" indent="0">
              <a:buNone/>
            </a:pPr>
            <a:r>
              <a:rPr lang="en-US" sz="2000" b="1" dirty="0">
                <a:solidFill>
                  <a:srgbClr val="16202B"/>
                </a:solidFill>
                <a:latin typeface="Calibri" pitchFamily="34" charset="0"/>
                <a:ea typeface="Calibri" pitchFamily="34" charset="-122"/>
                <a:cs typeface="Calibri" pitchFamily="34" charset="-120"/>
              </a:rPr>
              <a:t>Counter</a:t>
            </a:r>
            <a:endParaRPr lang="en-US" sz="2000" dirty="0"/>
          </a:p>
        </p:txBody>
      </p:sp>
      <p:sp>
        <p:nvSpPr>
          <p:cNvPr id="6" name="Text 4"/>
          <p:cNvSpPr txBox="1"/>
          <p:nvPr/>
        </p:nvSpPr>
        <p:spPr>
          <a:xfrm>
            <a:off x="731520" y="2240280"/>
            <a:ext cx="2270684" cy="320040"/>
          </a:xfrm>
          <a:prstGeom prst="rect">
            <a:avLst/>
          </a:prstGeom>
          <a:noFill/>
          <a:ln/>
        </p:spPr>
        <p:txBody>
          <a:bodyPr wrap="square" lIns="0" tIns="0" rIns="0" bIns="0" rtlCol="0" anchor="ctr"/>
          <a:lstStyle/>
          <a:p>
            <a:pPr marL="0" indent="0">
              <a:buNone/>
            </a:pPr>
            <a:r>
              <a:rPr lang="en-US" sz="1300" dirty="0">
                <a:solidFill>
                  <a:srgbClr val="4A5568"/>
                </a:solidFill>
                <a:latin typeface="Arial" pitchFamily="34" charset="0"/>
                <a:ea typeface="Arial" pitchFamily="34" charset="-122"/>
                <a:cs typeface="Arial" pitchFamily="34" charset="-120"/>
              </a:rPr>
              <a:t>Räknar bara uppåt</a:t>
            </a:r>
            <a:endParaRPr lang="en-US" sz="1300" dirty="0"/>
          </a:p>
        </p:txBody>
      </p:sp>
      <p:sp>
        <p:nvSpPr>
          <p:cNvPr id="7" name="Shape 5"/>
          <p:cNvSpPr/>
          <p:nvPr/>
        </p:nvSpPr>
        <p:spPr>
          <a:xfrm>
            <a:off x="685800" y="2743200"/>
            <a:ext cx="2362124" cy="1463040"/>
          </a:xfrm>
          <a:prstGeom prst="roundRect">
            <a:avLst>
              <a:gd name="adj" fmla="val 2500"/>
            </a:avLst>
          </a:prstGeom>
          <a:solidFill>
            <a:srgbClr val="0F1F33"/>
          </a:solidFill>
          <a:ln w="12700">
            <a:solidFill>
              <a:srgbClr val="0F1F33"/>
            </a:solidFill>
            <a:prstDash val="solid"/>
          </a:ln>
        </p:spPr>
      </p:sp>
      <p:sp>
        <p:nvSpPr>
          <p:cNvPr id="8" name="Text 6"/>
          <p:cNvSpPr txBox="1"/>
          <p:nvPr/>
        </p:nvSpPr>
        <p:spPr>
          <a:xfrm>
            <a:off x="777240" y="2788920"/>
            <a:ext cx="2179244" cy="1371600"/>
          </a:xfrm>
          <a:prstGeom prst="rect">
            <a:avLst/>
          </a:prstGeom>
          <a:noFill/>
          <a:ln/>
        </p:spPr>
        <p:txBody>
          <a:bodyPr wrap="square" lIns="0" tIns="0" rIns="0" bIns="0" rtlCol="0" anchor="t"/>
          <a:lstStyle/>
          <a:p>
            <a:pPr marL="0" indent="0">
              <a:buNone/>
            </a:pPr>
            <a:r>
              <a:rPr lang="en-US" sz="1050" dirty="0">
                <a:solidFill>
                  <a:srgbClr val="DDE3EA"/>
                </a:solidFill>
                <a:latin typeface="Courier New" pitchFamily="34" charset="0"/>
                <a:ea typeface="Courier New" pitchFamily="34" charset="-122"/>
                <a:cs typeface="Courier New" pitchFamily="34" charset="-120"/>
              </a:rPr>
              <a:t>rate(x_total[5m])</a:t>
            </a:r>
            <a:endParaRPr lang="en-US" sz="1050" dirty="0"/>
          </a:p>
          <a:p>
            <a:pPr marL="0" indent="0">
              <a:buNone/>
            </a:pPr>
            <a:r>
              <a:rPr lang="en-US" sz="1050" dirty="0">
                <a:solidFill>
                  <a:srgbClr val="DDE3EA"/>
                </a:solidFill>
                <a:latin typeface="Courier New" pitchFamily="34" charset="0"/>
                <a:ea typeface="Courier New" pitchFamily="34" charset="-122"/>
                <a:cs typeface="Courier New" pitchFamily="34" charset="-120"/>
              </a:rPr>
              <a:t>increase(x_total[1h])</a:t>
            </a:r>
            <a:endParaRPr lang="en-US" sz="1050" dirty="0"/>
          </a:p>
        </p:txBody>
      </p:sp>
      <p:sp>
        <p:nvSpPr>
          <p:cNvPr id="9" name="Text 7"/>
          <p:cNvSpPr txBox="1"/>
          <p:nvPr/>
        </p:nvSpPr>
        <p:spPr>
          <a:xfrm>
            <a:off x="731520" y="4434840"/>
            <a:ext cx="2270684" cy="274320"/>
          </a:xfrm>
          <a:prstGeom prst="rect">
            <a:avLst/>
          </a:prstGeom>
          <a:noFill/>
          <a:ln/>
        </p:spPr>
        <p:txBody>
          <a:bodyPr wrap="square" lIns="0" tIns="0" rIns="0" bIns="0" rtlCol="0" anchor="ctr"/>
          <a:lstStyle/>
          <a:p>
            <a:pPr marL="0" indent="0">
              <a:buNone/>
            </a:pPr>
            <a:r>
              <a:rPr lang="en-US" sz="1100" b="1" dirty="0">
                <a:solidFill>
                  <a:srgbClr val="3762FF"/>
                </a:solidFill>
                <a:latin typeface="Arial" pitchFamily="34" charset="0"/>
                <a:ea typeface="Arial" pitchFamily="34" charset="-122"/>
                <a:cs typeface="Arial" pitchFamily="34" charset="-120"/>
              </a:rPr>
              <a:t>I TelemetryApi:</a:t>
            </a:r>
            <a:endParaRPr lang="en-US" sz="1100" dirty="0"/>
          </a:p>
        </p:txBody>
      </p:sp>
      <p:sp>
        <p:nvSpPr>
          <p:cNvPr id="10" name="Text 8"/>
          <p:cNvSpPr txBox="1"/>
          <p:nvPr/>
        </p:nvSpPr>
        <p:spPr>
          <a:xfrm>
            <a:off x="731520" y="4709160"/>
            <a:ext cx="2270684" cy="822960"/>
          </a:xfrm>
          <a:prstGeom prst="rect">
            <a:avLst/>
          </a:prstGeom>
          <a:noFill/>
          <a:ln/>
        </p:spPr>
        <p:txBody>
          <a:bodyPr wrap="square" lIns="0" tIns="0" rIns="0" bIns="0" rtlCol="0" anchor="t"/>
          <a:lstStyle/>
          <a:p>
            <a:pPr marL="0" indent="0">
              <a:buNone/>
            </a:pPr>
            <a:r>
              <a:rPr lang="en-US" sz="1100" dirty="0">
                <a:solidFill>
                  <a:srgbClr val="16202B"/>
                </a:solidFill>
                <a:latin typeface="Courier New" pitchFamily="34" charset="0"/>
                <a:ea typeface="Courier New" pitchFamily="34" charset="-122"/>
                <a:cs typeface="Courier New" pitchFamily="34" charset="-120"/>
              </a:rPr>
              <a:t>customers.created</a:t>
            </a:r>
            <a:endParaRPr lang="en-US" sz="1100" dirty="0"/>
          </a:p>
        </p:txBody>
      </p:sp>
      <p:sp>
        <p:nvSpPr>
          <p:cNvPr id="11" name="Shape 9"/>
          <p:cNvSpPr/>
          <p:nvPr/>
        </p:nvSpPr>
        <p:spPr>
          <a:xfrm>
            <a:off x="3367964" y="1600200"/>
            <a:ext cx="2636444" cy="4206240"/>
          </a:xfrm>
          <a:prstGeom prst="roundRect">
            <a:avLst>
              <a:gd name="adj" fmla="val 2081"/>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12" name="Text 10"/>
          <p:cNvSpPr txBox="1"/>
          <p:nvPr/>
        </p:nvSpPr>
        <p:spPr>
          <a:xfrm>
            <a:off x="3550844" y="1783080"/>
            <a:ext cx="2270684" cy="411480"/>
          </a:xfrm>
          <a:prstGeom prst="rect">
            <a:avLst/>
          </a:prstGeom>
          <a:noFill/>
          <a:ln/>
        </p:spPr>
        <p:txBody>
          <a:bodyPr wrap="square" lIns="0" tIns="0" rIns="0" bIns="0" rtlCol="0" anchor="ctr"/>
          <a:lstStyle/>
          <a:p>
            <a:pPr marL="0" indent="0">
              <a:buNone/>
            </a:pPr>
            <a:r>
              <a:rPr lang="en-US" sz="2000" b="1" dirty="0">
                <a:solidFill>
                  <a:srgbClr val="16202B"/>
                </a:solidFill>
                <a:latin typeface="Calibri" pitchFamily="34" charset="0"/>
                <a:ea typeface="Calibri" pitchFamily="34" charset="-122"/>
                <a:cs typeface="Calibri" pitchFamily="34" charset="-120"/>
              </a:rPr>
              <a:t>Gauge</a:t>
            </a:r>
            <a:endParaRPr lang="en-US" sz="2000" dirty="0"/>
          </a:p>
        </p:txBody>
      </p:sp>
      <p:sp>
        <p:nvSpPr>
          <p:cNvPr id="13" name="Text 11"/>
          <p:cNvSpPr txBox="1"/>
          <p:nvPr/>
        </p:nvSpPr>
        <p:spPr>
          <a:xfrm>
            <a:off x="3550844" y="2240280"/>
            <a:ext cx="2270684" cy="320040"/>
          </a:xfrm>
          <a:prstGeom prst="rect">
            <a:avLst/>
          </a:prstGeom>
          <a:noFill/>
          <a:ln/>
        </p:spPr>
        <p:txBody>
          <a:bodyPr wrap="square" lIns="0" tIns="0" rIns="0" bIns="0" rtlCol="0" anchor="ctr"/>
          <a:lstStyle/>
          <a:p>
            <a:pPr marL="0" indent="0">
              <a:buNone/>
            </a:pPr>
            <a:r>
              <a:rPr lang="en-US" sz="1300" dirty="0">
                <a:solidFill>
                  <a:srgbClr val="4A5568"/>
                </a:solidFill>
                <a:latin typeface="Arial" pitchFamily="34" charset="0"/>
                <a:ea typeface="Arial" pitchFamily="34" charset="-122"/>
                <a:cs typeface="Arial" pitchFamily="34" charset="-120"/>
              </a:rPr>
              <a:t>Ett värde just nu</a:t>
            </a:r>
            <a:endParaRPr lang="en-US" sz="1300" dirty="0"/>
          </a:p>
        </p:txBody>
      </p:sp>
      <p:sp>
        <p:nvSpPr>
          <p:cNvPr id="14" name="Shape 12"/>
          <p:cNvSpPr/>
          <p:nvPr/>
        </p:nvSpPr>
        <p:spPr>
          <a:xfrm>
            <a:off x="3505124" y="2743200"/>
            <a:ext cx="2362124" cy="1463040"/>
          </a:xfrm>
          <a:prstGeom prst="roundRect">
            <a:avLst>
              <a:gd name="adj" fmla="val 2500"/>
            </a:avLst>
          </a:prstGeom>
          <a:solidFill>
            <a:srgbClr val="0F1F33"/>
          </a:solidFill>
          <a:ln w="12700">
            <a:solidFill>
              <a:srgbClr val="0F1F33"/>
            </a:solidFill>
            <a:prstDash val="solid"/>
          </a:ln>
        </p:spPr>
      </p:sp>
      <p:sp>
        <p:nvSpPr>
          <p:cNvPr id="15" name="Text 13"/>
          <p:cNvSpPr txBox="1"/>
          <p:nvPr/>
        </p:nvSpPr>
        <p:spPr>
          <a:xfrm>
            <a:off x="3596564" y="2788920"/>
            <a:ext cx="2179244" cy="1371600"/>
          </a:xfrm>
          <a:prstGeom prst="rect">
            <a:avLst/>
          </a:prstGeom>
          <a:noFill/>
          <a:ln/>
        </p:spPr>
        <p:txBody>
          <a:bodyPr wrap="square" lIns="0" tIns="0" rIns="0" bIns="0" rtlCol="0" anchor="t"/>
          <a:lstStyle/>
          <a:p>
            <a:pPr marL="0" indent="0">
              <a:buNone/>
            </a:pPr>
            <a:r>
              <a:rPr lang="en-US" sz="1050" dirty="0">
                <a:solidFill>
                  <a:srgbClr val="DDE3EA"/>
                </a:solidFill>
                <a:latin typeface="Courier New" pitchFamily="34" charset="0"/>
                <a:ea typeface="Courier New" pitchFamily="34" charset="-122"/>
                <a:cs typeface="Courier New" pitchFamily="34" charset="-120"/>
              </a:rPr>
              <a:t>max(otel_customers_count)</a:t>
            </a:r>
            <a:endParaRPr lang="en-US" sz="1050" dirty="0"/>
          </a:p>
          <a:p>
            <a:pPr marL="0" indent="0">
              <a:buNone/>
            </a:pPr>
            <a:r>
              <a:rPr lang="en-US" sz="1050" dirty="0">
                <a:solidFill>
                  <a:srgbClr val="DDE3EA"/>
                </a:solidFill>
                <a:latin typeface="Courier New" pitchFamily="34" charset="0"/>
                <a:ea typeface="Courier New" pitchFamily="34" charset="-122"/>
                <a:cs typeface="Courier New" pitchFamily="34" charset="-120"/>
              </a:rPr>
              <a:t>avg by (pod) (...)</a:t>
            </a:r>
            <a:endParaRPr lang="en-US" sz="1050" dirty="0"/>
          </a:p>
        </p:txBody>
      </p:sp>
      <p:sp>
        <p:nvSpPr>
          <p:cNvPr id="16" name="Text 14"/>
          <p:cNvSpPr txBox="1"/>
          <p:nvPr/>
        </p:nvSpPr>
        <p:spPr>
          <a:xfrm>
            <a:off x="3550844" y="4434840"/>
            <a:ext cx="2270684" cy="274320"/>
          </a:xfrm>
          <a:prstGeom prst="rect">
            <a:avLst/>
          </a:prstGeom>
          <a:noFill/>
          <a:ln/>
        </p:spPr>
        <p:txBody>
          <a:bodyPr wrap="square" lIns="0" tIns="0" rIns="0" bIns="0" rtlCol="0" anchor="ctr"/>
          <a:lstStyle/>
          <a:p>
            <a:pPr marL="0" indent="0">
              <a:buNone/>
            </a:pPr>
            <a:r>
              <a:rPr lang="en-US" sz="1100" b="1" dirty="0">
                <a:solidFill>
                  <a:srgbClr val="3762FF"/>
                </a:solidFill>
                <a:latin typeface="Arial" pitchFamily="34" charset="0"/>
                <a:ea typeface="Arial" pitchFamily="34" charset="-122"/>
                <a:cs typeface="Arial" pitchFamily="34" charset="-120"/>
              </a:rPr>
              <a:t>I TelemetryApi:</a:t>
            </a:r>
            <a:endParaRPr lang="en-US" sz="1100" dirty="0"/>
          </a:p>
        </p:txBody>
      </p:sp>
      <p:sp>
        <p:nvSpPr>
          <p:cNvPr id="17" name="Text 15"/>
          <p:cNvSpPr txBox="1"/>
          <p:nvPr/>
        </p:nvSpPr>
        <p:spPr>
          <a:xfrm>
            <a:off x="3550844" y="4709160"/>
            <a:ext cx="2270684" cy="822960"/>
          </a:xfrm>
          <a:prstGeom prst="rect">
            <a:avLst/>
          </a:prstGeom>
          <a:noFill/>
          <a:ln/>
        </p:spPr>
        <p:txBody>
          <a:bodyPr wrap="square" lIns="0" tIns="0" rIns="0" bIns="0" rtlCol="0" anchor="t"/>
          <a:lstStyle/>
          <a:p>
            <a:pPr marL="0" indent="0">
              <a:buNone/>
            </a:pPr>
            <a:r>
              <a:rPr lang="en-US" sz="1100" dirty="0">
                <a:solidFill>
                  <a:srgbClr val="16202B"/>
                </a:solidFill>
                <a:latin typeface="Courier New" pitchFamily="34" charset="0"/>
                <a:ea typeface="Courier New" pitchFamily="34" charset="-122"/>
                <a:cs typeface="Courier New" pitchFamily="34" charset="-120"/>
              </a:rPr>
              <a:t>customers.count</a:t>
            </a:r>
            <a:endParaRPr lang="en-US" sz="1100" dirty="0"/>
          </a:p>
        </p:txBody>
      </p:sp>
      <p:sp>
        <p:nvSpPr>
          <p:cNvPr id="18" name="Shape 16"/>
          <p:cNvSpPr/>
          <p:nvPr/>
        </p:nvSpPr>
        <p:spPr>
          <a:xfrm>
            <a:off x="6187288" y="1600200"/>
            <a:ext cx="2636444" cy="4206240"/>
          </a:xfrm>
          <a:prstGeom prst="roundRect">
            <a:avLst>
              <a:gd name="adj" fmla="val 2081"/>
            </a:avLst>
          </a:prstGeom>
          <a:solidFill>
            <a:srgbClr val="3762FF"/>
          </a:solidFill>
          <a:ln w="12700">
            <a:solidFill>
              <a:srgbClr val="3762FF"/>
            </a:solidFill>
            <a:prstDash val="solid"/>
          </a:ln>
        </p:spPr>
      </p:sp>
      <p:sp>
        <p:nvSpPr>
          <p:cNvPr id="19" name="Text 17"/>
          <p:cNvSpPr txBox="1"/>
          <p:nvPr/>
        </p:nvSpPr>
        <p:spPr>
          <a:xfrm>
            <a:off x="6370168" y="1783080"/>
            <a:ext cx="2270684" cy="41148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Histogram</a:t>
            </a:r>
            <a:endParaRPr lang="en-US" sz="2000" dirty="0"/>
          </a:p>
        </p:txBody>
      </p:sp>
      <p:sp>
        <p:nvSpPr>
          <p:cNvPr id="20" name="Text 18"/>
          <p:cNvSpPr txBox="1"/>
          <p:nvPr/>
        </p:nvSpPr>
        <p:spPr>
          <a:xfrm>
            <a:off x="6370168" y="2240280"/>
            <a:ext cx="2270684" cy="320040"/>
          </a:xfrm>
          <a:prstGeom prst="rect">
            <a:avLst/>
          </a:prstGeom>
          <a:noFill/>
          <a:ln/>
        </p:spPr>
        <p:txBody>
          <a:bodyPr wrap="square" lIns="0" tIns="0" rIns="0" bIns="0" rtlCol="0" anchor="ctr"/>
          <a:lstStyle/>
          <a:p>
            <a:pPr marL="0" indent="0">
              <a:buNone/>
            </a:pPr>
            <a:r>
              <a:rPr lang="en-US" sz="1300" dirty="0">
                <a:solidFill>
                  <a:srgbClr val="FFFFFF"/>
                </a:solidFill>
                <a:latin typeface="Arial" pitchFamily="34" charset="0"/>
                <a:ea typeface="Arial" pitchFamily="34" charset="-122"/>
                <a:cs typeface="Arial" pitchFamily="34" charset="-120"/>
              </a:rPr>
              <a:t>Fördelning av värden</a:t>
            </a:r>
            <a:endParaRPr lang="en-US" sz="1300" dirty="0"/>
          </a:p>
        </p:txBody>
      </p:sp>
      <p:sp>
        <p:nvSpPr>
          <p:cNvPr id="21" name="Shape 19"/>
          <p:cNvSpPr/>
          <p:nvPr/>
        </p:nvSpPr>
        <p:spPr>
          <a:xfrm>
            <a:off x="6324448" y="2743200"/>
            <a:ext cx="2362124" cy="1463040"/>
          </a:xfrm>
          <a:prstGeom prst="roundRect">
            <a:avLst>
              <a:gd name="adj" fmla="val 2500"/>
            </a:avLst>
          </a:prstGeom>
          <a:solidFill>
            <a:srgbClr val="0F1F33"/>
          </a:solidFill>
          <a:ln w="12700">
            <a:solidFill>
              <a:srgbClr val="0F1F33"/>
            </a:solidFill>
            <a:prstDash val="solid"/>
          </a:ln>
        </p:spPr>
      </p:sp>
      <p:sp>
        <p:nvSpPr>
          <p:cNvPr id="22" name="Text 20"/>
          <p:cNvSpPr txBox="1"/>
          <p:nvPr/>
        </p:nvSpPr>
        <p:spPr>
          <a:xfrm>
            <a:off x="6415888" y="2788920"/>
            <a:ext cx="2179244" cy="1371600"/>
          </a:xfrm>
          <a:prstGeom prst="rect">
            <a:avLst/>
          </a:prstGeom>
          <a:noFill/>
          <a:ln/>
        </p:spPr>
        <p:txBody>
          <a:bodyPr wrap="square" lIns="0" tIns="0" rIns="0" bIns="0" rtlCol="0" anchor="t"/>
          <a:lstStyle/>
          <a:p>
            <a:pPr marL="0" indent="0">
              <a:buNone/>
            </a:pPr>
            <a:r>
              <a:rPr lang="en-US" sz="1050" dirty="0">
                <a:solidFill>
                  <a:srgbClr val="DDE3EA"/>
                </a:solidFill>
                <a:latin typeface="Courier New" pitchFamily="34" charset="0"/>
                <a:ea typeface="Courier New" pitchFamily="34" charset="-122"/>
                <a:cs typeface="Courier New" pitchFamily="34" charset="-120"/>
              </a:rPr>
              <a:t>histogram_quantile(0.95,</a:t>
            </a:r>
            <a:endParaRPr lang="en-US" sz="1050" dirty="0"/>
          </a:p>
          <a:p>
            <a:pPr marL="0" indent="0">
              <a:buNone/>
            </a:pPr>
            <a:r>
              <a:rPr lang="en-US" sz="1050" dirty="0">
                <a:solidFill>
                  <a:srgbClr val="DDE3EA"/>
                </a:solidFill>
                <a:latin typeface="Courier New" pitchFamily="34" charset="0"/>
                <a:ea typeface="Courier New" pitchFamily="34" charset="-122"/>
                <a:cs typeface="Courier New" pitchFamily="34" charset="-120"/>
              </a:rPr>
              <a:t>  sum by (le) (rate(x_bucket[5m])))</a:t>
            </a:r>
            <a:endParaRPr lang="en-US" sz="1050" dirty="0"/>
          </a:p>
        </p:txBody>
      </p:sp>
      <p:sp>
        <p:nvSpPr>
          <p:cNvPr id="23" name="Text 21"/>
          <p:cNvSpPr txBox="1"/>
          <p:nvPr/>
        </p:nvSpPr>
        <p:spPr>
          <a:xfrm>
            <a:off x="6370168" y="4434840"/>
            <a:ext cx="2270684" cy="274320"/>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I TelemetryApi:</a:t>
            </a:r>
            <a:endParaRPr lang="en-US" sz="1100" dirty="0"/>
          </a:p>
        </p:txBody>
      </p:sp>
      <p:sp>
        <p:nvSpPr>
          <p:cNvPr id="24" name="Text 22"/>
          <p:cNvSpPr txBox="1"/>
          <p:nvPr/>
        </p:nvSpPr>
        <p:spPr>
          <a:xfrm>
            <a:off x="6370168" y="4709160"/>
            <a:ext cx="2270684" cy="822960"/>
          </a:xfrm>
          <a:prstGeom prst="rect">
            <a:avLst/>
          </a:prstGeom>
          <a:noFill/>
          <a:ln/>
        </p:spPr>
        <p:txBody>
          <a:bodyPr wrap="square" lIns="0" tIns="0" rIns="0" bIns="0" rtlCol="0" anchor="t"/>
          <a:lstStyle/>
          <a:p>
            <a:pPr marL="0" indent="0">
              <a:buNone/>
            </a:pPr>
            <a:r>
              <a:rPr lang="en-US" sz="1100" dirty="0">
                <a:solidFill>
                  <a:srgbClr val="FFFFFF"/>
                </a:solidFill>
                <a:latin typeface="Courier New" pitchFamily="34" charset="0"/>
                <a:ea typeface="Courier New" pitchFamily="34" charset="-122"/>
                <a:cs typeface="Courier New" pitchFamily="34" charset="-120"/>
              </a:rPr>
              <a:t>customers.requestduration</a:t>
            </a:r>
            <a:endParaRPr lang="en-US" sz="1100" dirty="0"/>
          </a:p>
        </p:txBody>
      </p:sp>
      <p:sp>
        <p:nvSpPr>
          <p:cNvPr id="25" name="Shape 23"/>
          <p:cNvSpPr/>
          <p:nvPr/>
        </p:nvSpPr>
        <p:spPr>
          <a:xfrm>
            <a:off x="9006611" y="1600200"/>
            <a:ext cx="2636444" cy="4206240"/>
          </a:xfrm>
          <a:prstGeom prst="roundRect">
            <a:avLst>
              <a:gd name="adj" fmla="val 2081"/>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26" name="Text 24"/>
          <p:cNvSpPr txBox="1"/>
          <p:nvPr/>
        </p:nvSpPr>
        <p:spPr>
          <a:xfrm>
            <a:off x="9189491" y="1783080"/>
            <a:ext cx="2270684" cy="411480"/>
          </a:xfrm>
          <a:prstGeom prst="rect">
            <a:avLst/>
          </a:prstGeom>
          <a:noFill/>
          <a:ln/>
        </p:spPr>
        <p:txBody>
          <a:bodyPr wrap="square" lIns="0" tIns="0" rIns="0" bIns="0" rtlCol="0" anchor="ctr"/>
          <a:lstStyle/>
          <a:p>
            <a:pPr marL="0" indent="0">
              <a:buNone/>
            </a:pPr>
            <a:r>
              <a:rPr lang="en-US" sz="2000" b="1" dirty="0">
                <a:solidFill>
                  <a:srgbClr val="16202B"/>
                </a:solidFill>
                <a:latin typeface="Calibri" pitchFamily="34" charset="0"/>
                <a:ea typeface="Calibri" pitchFamily="34" charset="-122"/>
                <a:cs typeface="Calibri" pitchFamily="34" charset="-120"/>
              </a:rPr>
              <a:t>UpDownCounter</a:t>
            </a:r>
            <a:endParaRPr lang="en-US" sz="2000" dirty="0"/>
          </a:p>
        </p:txBody>
      </p:sp>
      <p:sp>
        <p:nvSpPr>
          <p:cNvPr id="27" name="Text 25"/>
          <p:cNvSpPr txBox="1"/>
          <p:nvPr/>
        </p:nvSpPr>
        <p:spPr>
          <a:xfrm>
            <a:off x="9189491" y="2240280"/>
            <a:ext cx="2270684" cy="320040"/>
          </a:xfrm>
          <a:prstGeom prst="rect">
            <a:avLst/>
          </a:prstGeom>
          <a:noFill/>
          <a:ln/>
        </p:spPr>
        <p:txBody>
          <a:bodyPr wrap="square" lIns="0" tIns="0" rIns="0" bIns="0" rtlCol="0" anchor="ctr"/>
          <a:lstStyle/>
          <a:p>
            <a:pPr marL="0" indent="0">
              <a:buNone/>
            </a:pPr>
            <a:r>
              <a:rPr lang="en-US" sz="1300" dirty="0">
                <a:solidFill>
                  <a:srgbClr val="4A5568"/>
                </a:solidFill>
                <a:latin typeface="Arial" pitchFamily="34" charset="0"/>
                <a:ea typeface="Arial" pitchFamily="34" charset="-122"/>
                <a:cs typeface="Arial" pitchFamily="34" charset="-120"/>
              </a:rPr>
              <a:t>Upp och ner</a:t>
            </a:r>
            <a:endParaRPr lang="en-US" sz="1300" dirty="0"/>
          </a:p>
        </p:txBody>
      </p:sp>
      <p:sp>
        <p:nvSpPr>
          <p:cNvPr id="28" name="Shape 26"/>
          <p:cNvSpPr/>
          <p:nvPr/>
        </p:nvSpPr>
        <p:spPr>
          <a:xfrm>
            <a:off x="9143771" y="2743200"/>
            <a:ext cx="2362124" cy="1463040"/>
          </a:xfrm>
          <a:prstGeom prst="roundRect">
            <a:avLst>
              <a:gd name="adj" fmla="val 2500"/>
            </a:avLst>
          </a:prstGeom>
          <a:solidFill>
            <a:srgbClr val="0F1F33"/>
          </a:solidFill>
          <a:ln w="12700">
            <a:solidFill>
              <a:srgbClr val="0F1F33"/>
            </a:solidFill>
            <a:prstDash val="solid"/>
          </a:ln>
        </p:spPr>
      </p:sp>
      <p:sp>
        <p:nvSpPr>
          <p:cNvPr id="29" name="Text 27"/>
          <p:cNvSpPr txBox="1"/>
          <p:nvPr/>
        </p:nvSpPr>
        <p:spPr>
          <a:xfrm>
            <a:off x="9235211" y="2788920"/>
            <a:ext cx="2179244" cy="1371600"/>
          </a:xfrm>
          <a:prstGeom prst="rect">
            <a:avLst/>
          </a:prstGeom>
          <a:noFill/>
          <a:ln/>
        </p:spPr>
        <p:txBody>
          <a:bodyPr wrap="square" lIns="0" tIns="0" rIns="0" bIns="0" rtlCol="0" anchor="t"/>
          <a:lstStyle/>
          <a:p>
            <a:pPr marL="0" indent="0">
              <a:buNone/>
            </a:pPr>
            <a:r>
              <a:rPr lang="en-US" sz="1050" dirty="0">
                <a:solidFill>
                  <a:srgbClr val="DDE3EA"/>
                </a:solidFill>
                <a:latin typeface="Courier New" pitchFamily="34" charset="0"/>
                <a:ea typeface="Courier New" pitchFamily="34" charset="-122"/>
                <a:cs typeface="Courier New" pitchFamily="34" charset="-120"/>
              </a:rPr>
              <a:t>sum(otel_customers_</a:t>
            </a:r>
            <a:endParaRPr lang="en-US" sz="1050" dirty="0"/>
          </a:p>
          <a:p>
            <a:pPr marL="0" indent="0">
              <a:buNone/>
            </a:pPr>
            <a:r>
              <a:rPr lang="en-US" sz="1050" dirty="0">
                <a:solidFill>
                  <a:srgbClr val="DDE3EA"/>
                </a:solidFill>
                <a:latin typeface="Courier New" pitchFamily="34" charset="0"/>
                <a:ea typeface="Courier New" pitchFamily="34" charset="-122"/>
                <a:cs typeface="Courier New" pitchFamily="34" charset="-120"/>
              </a:rPr>
              <a:t>  requests_in_progress)</a:t>
            </a:r>
            <a:endParaRPr lang="en-US" sz="1050" dirty="0"/>
          </a:p>
        </p:txBody>
      </p:sp>
      <p:sp>
        <p:nvSpPr>
          <p:cNvPr id="30" name="Text 28"/>
          <p:cNvSpPr txBox="1"/>
          <p:nvPr/>
        </p:nvSpPr>
        <p:spPr>
          <a:xfrm>
            <a:off x="9189491" y="4434840"/>
            <a:ext cx="2270684" cy="274320"/>
          </a:xfrm>
          <a:prstGeom prst="rect">
            <a:avLst/>
          </a:prstGeom>
          <a:noFill/>
          <a:ln/>
        </p:spPr>
        <p:txBody>
          <a:bodyPr wrap="square" lIns="0" tIns="0" rIns="0" bIns="0" rtlCol="0" anchor="ctr"/>
          <a:lstStyle/>
          <a:p>
            <a:pPr marL="0" indent="0">
              <a:buNone/>
            </a:pPr>
            <a:r>
              <a:rPr lang="en-US" sz="1100" b="1" dirty="0">
                <a:solidFill>
                  <a:srgbClr val="3762FF"/>
                </a:solidFill>
                <a:latin typeface="Arial" pitchFamily="34" charset="0"/>
                <a:ea typeface="Arial" pitchFamily="34" charset="-122"/>
                <a:cs typeface="Arial" pitchFamily="34" charset="-120"/>
              </a:rPr>
              <a:t>I TelemetryApi:</a:t>
            </a:r>
            <a:endParaRPr lang="en-US" sz="1100" dirty="0"/>
          </a:p>
        </p:txBody>
      </p:sp>
      <p:sp>
        <p:nvSpPr>
          <p:cNvPr id="31" name="Text 29"/>
          <p:cNvSpPr txBox="1"/>
          <p:nvPr/>
        </p:nvSpPr>
        <p:spPr>
          <a:xfrm>
            <a:off x="9189491" y="4709160"/>
            <a:ext cx="2270684" cy="822960"/>
          </a:xfrm>
          <a:prstGeom prst="rect">
            <a:avLst/>
          </a:prstGeom>
          <a:noFill/>
          <a:ln/>
        </p:spPr>
        <p:txBody>
          <a:bodyPr wrap="square" lIns="0" tIns="0" rIns="0" bIns="0" rtlCol="0" anchor="t"/>
          <a:lstStyle/>
          <a:p>
            <a:pPr marL="0" indent="0">
              <a:buNone/>
            </a:pPr>
            <a:r>
              <a:rPr lang="en-US" sz="1100" dirty="0">
                <a:solidFill>
                  <a:srgbClr val="16202B"/>
                </a:solidFill>
                <a:latin typeface="Courier New" pitchFamily="34" charset="0"/>
                <a:ea typeface="Courier New" pitchFamily="34" charset="-122"/>
                <a:cs typeface="Courier New" pitchFamily="34" charset="-120"/>
              </a:rPr>
              <a:t>customers.requests.in_progress</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7F4"/>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marL="0" indent="0">
              <a:buNone/>
            </a:pPr>
            <a:r>
              <a:rPr lang="en-US" sz="1200" b="1" kern="0" spc="200" dirty="0">
                <a:solidFill>
                  <a:srgbClr val="3762FF"/>
                </a:solidFill>
                <a:latin typeface="Arial" pitchFamily="34" charset="0"/>
                <a:ea typeface="Arial" pitchFamily="34" charset="-122"/>
                <a:cs typeface="Arial" pitchFamily="34" charset="-120"/>
              </a:rPr>
              <a:t>PROMETHEUS · HISTOGRAM</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marL="0" indent="0">
              <a:buNone/>
            </a:pPr>
            <a:r>
              <a:rPr lang="en-US" sz="3000" b="1" dirty="0">
                <a:solidFill>
                  <a:srgbClr val="16202B"/>
                </a:solidFill>
                <a:latin typeface="Calibri" pitchFamily="34" charset="0"/>
                <a:ea typeface="Calibri" pitchFamily="34" charset="-122"/>
                <a:cs typeface="Calibri" pitchFamily="34" charset="-120"/>
              </a:rPr>
              <a:t>Hur p95 räknas fram ur buckets</a:t>
            </a:r>
            <a:endParaRPr lang="en-US" sz="3000" dirty="0"/>
          </a:p>
        </p:txBody>
      </p:sp>
      <p:sp>
        <p:nvSpPr>
          <p:cNvPr id="4" name="Shape 2"/>
          <p:cNvSpPr/>
          <p:nvPr/>
        </p:nvSpPr>
        <p:spPr>
          <a:xfrm>
            <a:off x="822960" y="3511296"/>
            <a:ext cx="749808" cy="1243584"/>
          </a:xfrm>
          <a:prstGeom prst="rect">
            <a:avLst/>
          </a:prstGeom>
          <a:solidFill>
            <a:srgbClr val="B9C7FF"/>
          </a:solidFill>
          <a:ln w="12700">
            <a:solidFill>
              <a:srgbClr val="B9C7FF"/>
            </a:solidFill>
            <a:prstDash val="solid"/>
          </a:ln>
        </p:spPr>
      </p:sp>
      <p:sp>
        <p:nvSpPr>
          <p:cNvPr id="5" name="Text 3"/>
          <p:cNvSpPr txBox="1"/>
          <p:nvPr/>
        </p:nvSpPr>
        <p:spPr>
          <a:xfrm>
            <a:off x="822960" y="3236976"/>
            <a:ext cx="749808" cy="256032"/>
          </a:xfrm>
          <a:prstGeom prst="rect">
            <a:avLst/>
          </a:prstGeom>
          <a:noFill/>
          <a:ln/>
        </p:spPr>
        <p:txBody>
          <a:bodyPr wrap="square" lIns="0" tIns="0" rIns="0" bIns="0" rtlCol="0" anchor="ctr"/>
          <a:lstStyle/>
          <a:p>
            <a:pPr marL="0" indent="0" algn="ctr">
              <a:buNone/>
            </a:pPr>
            <a:r>
              <a:rPr lang="en-US" sz="1100" b="1" dirty="0">
                <a:solidFill>
                  <a:srgbClr val="16202B"/>
                </a:solidFill>
                <a:latin typeface="Arial" pitchFamily="34" charset="0"/>
                <a:ea typeface="Arial" pitchFamily="34" charset="-122"/>
                <a:cs typeface="Arial" pitchFamily="34" charset="-120"/>
              </a:rPr>
              <a:t>40</a:t>
            </a:r>
            <a:endParaRPr lang="en-US" sz="1100" dirty="0"/>
          </a:p>
        </p:txBody>
      </p:sp>
      <p:sp>
        <p:nvSpPr>
          <p:cNvPr id="6" name="Text 4"/>
          <p:cNvSpPr txBox="1"/>
          <p:nvPr/>
        </p:nvSpPr>
        <p:spPr>
          <a:xfrm>
            <a:off x="822960" y="4800600"/>
            <a:ext cx="749808" cy="274320"/>
          </a:xfrm>
          <a:prstGeom prst="rect">
            <a:avLst/>
          </a:prstGeom>
          <a:noFill/>
          <a:ln/>
        </p:spPr>
        <p:txBody>
          <a:bodyPr wrap="square" lIns="0" tIns="0" rIns="0" bIns="0" rtlCol="0" anchor="ctr"/>
          <a:lstStyle/>
          <a:p>
            <a:pPr marL="0" indent="0" algn="ctr">
              <a:buNone/>
            </a:pPr>
            <a:r>
              <a:rPr lang="en-US" sz="1050" dirty="0">
                <a:solidFill>
                  <a:srgbClr val="4A5568"/>
                </a:solidFill>
                <a:latin typeface="Courier New" pitchFamily="34" charset="0"/>
                <a:ea typeface="Courier New" pitchFamily="34" charset="-122"/>
                <a:cs typeface="Courier New" pitchFamily="34" charset="-120"/>
              </a:rPr>
              <a:t>≤10</a:t>
            </a:r>
            <a:endParaRPr lang="en-US" sz="1050" dirty="0"/>
          </a:p>
        </p:txBody>
      </p:sp>
      <p:sp>
        <p:nvSpPr>
          <p:cNvPr id="7" name="Shape 5"/>
          <p:cNvSpPr/>
          <p:nvPr/>
        </p:nvSpPr>
        <p:spPr>
          <a:xfrm>
            <a:off x="1682496" y="2516429"/>
            <a:ext cx="749808" cy="2238451"/>
          </a:xfrm>
          <a:prstGeom prst="rect">
            <a:avLst/>
          </a:prstGeom>
          <a:solidFill>
            <a:srgbClr val="B9C7FF"/>
          </a:solidFill>
          <a:ln w="12700">
            <a:solidFill>
              <a:srgbClr val="B9C7FF"/>
            </a:solidFill>
            <a:prstDash val="solid"/>
          </a:ln>
        </p:spPr>
      </p:sp>
      <p:sp>
        <p:nvSpPr>
          <p:cNvPr id="8" name="Text 6"/>
          <p:cNvSpPr txBox="1"/>
          <p:nvPr/>
        </p:nvSpPr>
        <p:spPr>
          <a:xfrm>
            <a:off x="1682496" y="2242109"/>
            <a:ext cx="749808" cy="256032"/>
          </a:xfrm>
          <a:prstGeom prst="rect">
            <a:avLst/>
          </a:prstGeom>
          <a:noFill/>
          <a:ln/>
        </p:spPr>
        <p:txBody>
          <a:bodyPr wrap="square" lIns="0" tIns="0" rIns="0" bIns="0" rtlCol="0" anchor="ctr"/>
          <a:lstStyle/>
          <a:p>
            <a:pPr marL="0" indent="0" algn="ctr">
              <a:buNone/>
            </a:pPr>
            <a:r>
              <a:rPr lang="en-US" sz="1100" b="1" dirty="0">
                <a:solidFill>
                  <a:srgbClr val="16202B"/>
                </a:solidFill>
                <a:latin typeface="Arial" pitchFamily="34" charset="0"/>
                <a:ea typeface="Arial" pitchFamily="34" charset="-122"/>
                <a:cs typeface="Arial" pitchFamily="34" charset="-120"/>
              </a:rPr>
              <a:t>72</a:t>
            </a:r>
            <a:endParaRPr lang="en-US" sz="1100" dirty="0"/>
          </a:p>
        </p:txBody>
      </p:sp>
      <p:sp>
        <p:nvSpPr>
          <p:cNvPr id="9" name="Text 7"/>
          <p:cNvSpPr txBox="1"/>
          <p:nvPr/>
        </p:nvSpPr>
        <p:spPr>
          <a:xfrm>
            <a:off x="1682496" y="4800600"/>
            <a:ext cx="749808" cy="274320"/>
          </a:xfrm>
          <a:prstGeom prst="rect">
            <a:avLst/>
          </a:prstGeom>
          <a:noFill/>
          <a:ln/>
        </p:spPr>
        <p:txBody>
          <a:bodyPr wrap="square" lIns="0" tIns="0" rIns="0" bIns="0" rtlCol="0" anchor="ctr"/>
          <a:lstStyle/>
          <a:p>
            <a:pPr marL="0" indent="0" algn="ctr">
              <a:buNone/>
            </a:pPr>
            <a:r>
              <a:rPr lang="en-US" sz="1050" dirty="0">
                <a:solidFill>
                  <a:srgbClr val="4A5568"/>
                </a:solidFill>
                <a:latin typeface="Courier New" pitchFamily="34" charset="0"/>
                <a:ea typeface="Courier New" pitchFamily="34" charset="-122"/>
                <a:cs typeface="Courier New" pitchFamily="34" charset="-120"/>
              </a:rPr>
              <a:t>≤25</a:t>
            </a:r>
            <a:endParaRPr lang="en-US" sz="1050" dirty="0"/>
          </a:p>
        </p:txBody>
      </p:sp>
      <p:sp>
        <p:nvSpPr>
          <p:cNvPr id="10" name="Shape 8"/>
          <p:cNvSpPr/>
          <p:nvPr/>
        </p:nvSpPr>
        <p:spPr>
          <a:xfrm>
            <a:off x="2542032" y="2018995"/>
            <a:ext cx="749808" cy="2735885"/>
          </a:xfrm>
          <a:prstGeom prst="rect">
            <a:avLst/>
          </a:prstGeom>
          <a:solidFill>
            <a:srgbClr val="B9C7FF"/>
          </a:solidFill>
          <a:ln w="12700">
            <a:solidFill>
              <a:srgbClr val="B9C7FF"/>
            </a:solidFill>
            <a:prstDash val="solid"/>
          </a:ln>
        </p:spPr>
      </p:sp>
      <p:sp>
        <p:nvSpPr>
          <p:cNvPr id="11" name="Text 9"/>
          <p:cNvSpPr txBox="1"/>
          <p:nvPr/>
        </p:nvSpPr>
        <p:spPr>
          <a:xfrm>
            <a:off x="2542032" y="1744675"/>
            <a:ext cx="749808" cy="256032"/>
          </a:xfrm>
          <a:prstGeom prst="rect">
            <a:avLst/>
          </a:prstGeom>
          <a:noFill/>
          <a:ln/>
        </p:spPr>
        <p:txBody>
          <a:bodyPr wrap="square" lIns="0" tIns="0" rIns="0" bIns="0" rtlCol="0" anchor="ctr"/>
          <a:lstStyle/>
          <a:p>
            <a:pPr marL="0" indent="0" algn="ctr">
              <a:buNone/>
            </a:pPr>
            <a:r>
              <a:rPr lang="en-US" sz="1100" b="1" dirty="0">
                <a:solidFill>
                  <a:srgbClr val="16202B"/>
                </a:solidFill>
                <a:latin typeface="Arial" pitchFamily="34" charset="0"/>
                <a:ea typeface="Arial" pitchFamily="34" charset="-122"/>
                <a:cs typeface="Arial" pitchFamily="34" charset="-120"/>
              </a:rPr>
              <a:t>88</a:t>
            </a:r>
            <a:endParaRPr lang="en-US" sz="1100" dirty="0"/>
          </a:p>
        </p:txBody>
      </p:sp>
      <p:sp>
        <p:nvSpPr>
          <p:cNvPr id="12" name="Text 10"/>
          <p:cNvSpPr txBox="1"/>
          <p:nvPr/>
        </p:nvSpPr>
        <p:spPr>
          <a:xfrm>
            <a:off x="2542032" y="4800600"/>
            <a:ext cx="749808" cy="274320"/>
          </a:xfrm>
          <a:prstGeom prst="rect">
            <a:avLst/>
          </a:prstGeom>
          <a:noFill/>
          <a:ln/>
        </p:spPr>
        <p:txBody>
          <a:bodyPr wrap="square" lIns="0" tIns="0" rIns="0" bIns="0" rtlCol="0" anchor="ctr"/>
          <a:lstStyle/>
          <a:p>
            <a:pPr marL="0" indent="0" algn="ctr">
              <a:buNone/>
            </a:pPr>
            <a:r>
              <a:rPr lang="en-US" sz="1050" dirty="0">
                <a:solidFill>
                  <a:srgbClr val="4A5568"/>
                </a:solidFill>
                <a:latin typeface="Courier New" pitchFamily="34" charset="0"/>
                <a:ea typeface="Courier New" pitchFamily="34" charset="-122"/>
                <a:cs typeface="Courier New" pitchFamily="34" charset="-120"/>
              </a:rPr>
              <a:t>≤50</a:t>
            </a:r>
            <a:endParaRPr lang="en-US" sz="1050" dirty="0"/>
          </a:p>
        </p:txBody>
      </p:sp>
      <p:sp>
        <p:nvSpPr>
          <p:cNvPr id="13" name="Shape 11"/>
          <p:cNvSpPr/>
          <p:nvPr/>
        </p:nvSpPr>
        <p:spPr>
          <a:xfrm>
            <a:off x="3401568" y="1832458"/>
            <a:ext cx="749808" cy="2922422"/>
          </a:xfrm>
          <a:prstGeom prst="rect">
            <a:avLst/>
          </a:prstGeom>
          <a:solidFill>
            <a:srgbClr val="3762FF"/>
          </a:solidFill>
          <a:ln w="12700">
            <a:solidFill>
              <a:srgbClr val="3762FF"/>
            </a:solidFill>
            <a:prstDash val="solid"/>
          </a:ln>
        </p:spPr>
      </p:sp>
      <p:sp>
        <p:nvSpPr>
          <p:cNvPr id="14" name="Text 12"/>
          <p:cNvSpPr txBox="1"/>
          <p:nvPr/>
        </p:nvSpPr>
        <p:spPr>
          <a:xfrm>
            <a:off x="3401568" y="1558138"/>
            <a:ext cx="749808" cy="256032"/>
          </a:xfrm>
          <a:prstGeom prst="rect">
            <a:avLst/>
          </a:prstGeom>
          <a:noFill/>
          <a:ln/>
        </p:spPr>
        <p:txBody>
          <a:bodyPr wrap="square" lIns="0" tIns="0" rIns="0" bIns="0" rtlCol="0" anchor="ctr"/>
          <a:lstStyle/>
          <a:p>
            <a:pPr marL="0" indent="0" algn="ctr">
              <a:buNone/>
            </a:pPr>
            <a:r>
              <a:rPr lang="en-US" sz="1100" b="1" dirty="0">
                <a:solidFill>
                  <a:srgbClr val="16202B"/>
                </a:solidFill>
                <a:latin typeface="Arial" pitchFamily="34" charset="0"/>
                <a:ea typeface="Arial" pitchFamily="34" charset="-122"/>
                <a:cs typeface="Arial" pitchFamily="34" charset="-120"/>
              </a:rPr>
              <a:t>94</a:t>
            </a:r>
            <a:endParaRPr lang="en-US" sz="1100" dirty="0"/>
          </a:p>
        </p:txBody>
      </p:sp>
      <p:sp>
        <p:nvSpPr>
          <p:cNvPr id="15" name="Text 13"/>
          <p:cNvSpPr txBox="1"/>
          <p:nvPr/>
        </p:nvSpPr>
        <p:spPr>
          <a:xfrm>
            <a:off x="3401568" y="4800600"/>
            <a:ext cx="749808" cy="274320"/>
          </a:xfrm>
          <a:prstGeom prst="rect">
            <a:avLst/>
          </a:prstGeom>
          <a:noFill/>
          <a:ln/>
        </p:spPr>
        <p:txBody>
          <a:bodyPr wrap="square" lIns="0" tIns="0" rIns="0" bIns="0" rtlCol="0" anchor="ctr"/>
          <a:lstStyle/>
          <a:p>
            <a:pPr marL="0" indent="0" algn="ctr">
              <a:buNone/>
            </a:pPr>
            <a:r>
              <a:rPr lang="en-US" sz="1050" dirty="0">
                <a:solidFill>
                  <a:srgbClr val="4A5568"/>
                </a:solidFill>
                <a:latin typeface="Courier New" pitchFamily="34" charset="0"/>
                <a:ea typeface="Courier New" pitchFamily="34" charset="-122"/>
                <a:cs typeface="Courier New" pitchFamily="34" charset="-120"/>
              </a:rPr>
              <a:t>≤100</a:t>
            </a:r>
            <a:endParaRPr lang="en-US" sz="1050" dirty="0"/>
          </a:p>
        </p:txBody>
      </p:sp>
      <p:sp>
        <p:nvSpPr>
          <p:cNvPr id="16" name="Shape 14"/>
          <p:cNvSpPr/>
          <p:nvPr/>
        </p:nvSpPr>
        <p:spPr>
          <a:xfrm>
            <a:off x="4261104" y="1739189"/>
            <a:ext cx="749808" cy="3015691"/>
          </a:xfrm>
          <a:prstGeom prst="rect">
            <a:avLst/>
          </a:prstGeom>
          <a:solidFill>
            <a:srgbClr val="B9C7FF"/>
          </a:solidFill>
          <a:ln w="12700">
            <a:solidFill>
              <a:srgbClr val="B9C7FF"/>
            </a:solidFill>
            <a:prstDash val="solid"/>
          </a:ln>
        </p:spPr>
      </p:sp>
      <p:sp>
        <p:nvSpPr>
          <p:cNvPr id="17" name="Text 15"/>
          <p:cNvSpPr txBox="1"/>
          <p:nvPr/>
        </p:nvSpPr>
        <p:spPr>
          <a:xfrm>
            <a:off x="4261104" y="1464869"/>
            <a:ext cx="749808" cy="256032"/>
          </a:xfrm>
          <a:prstGeom prst="rect">
            <a:avLst/>
          </a:prstGeom>
          <a:noFill/>
          <a:ln/>
        </p:spPr>
        <p:txBody>
          <a:bodyPr wrap="square" lIns="0" tIns="0" rIns="0" bIns="0" rtlCol="0" anchor="ctr"/>
          <a:lstStyle/>
          <a:p>
            <a:pPr marL="0" indent="0" algn="ctr">
              <a:buNone/>
            </a:pPr>
            <a:r>
              <a:rPr lang="en-US" sz="1100" b="1" dirty="0">
                <a:solidFill>
                  <a:srgbClr val="16202B"/>
                </a:solidFill>
                <a:latin typeface="Arial" pitchFamily="34" charset="0"/>
                <a:ea typeface="Arial" pitchFamily="34" charset="-122"/>
                <a:cs typeface="Arial" pitchFamily="34" charset="-120"/>
              </a:rPr>
              <a:t>97</a:t>
            </a:r>
            <a:endParaRPr lang="en-US" sz="1100" dirty="0"/>
          </a:p>
        </p:txBody>
      </p:sp>
      <p:sp>
        <p:nvSpPr>
          <p:cNvPr id="18" name="Text 16"/>
          <p:cNvSpPr txBox="1"/>
          <p:nvPr/>
        </p:nvSpPr>
        <p:spPr>
          <a:xfrm>
            <a:off x="4261104" y="4800600"/>
            <a:ext cx="749808" cy="274320"/>
          </a:xfrm>
          <a:prstGeom prst="rect">
            <a:avLst/>
          </a:prstGeom>
          <a:noFill/>
          <a:ln/>
        </p:spPr>
        <p:txBody>
          <a:bodyPr wrap="square" lIns="0" tIns="0" rIns="0" bIns="0" rtlCol="0" anchor="ctr"/>
          <a:lstStyle/>
          <a:p>
            <a:pPr marL="0" indent="0" algn="ctr">
              <a:buNone/>
            </a:pPr>
            <a:r>
              <a:rPr lang="en-US" sz="1050" dirty="0">
                <a:solidFill>
                  <a:srgbClr val="4A5568"/>
                </a:solidFill>
                <a:latin typeface="Courier New" pitchFamily="34" charset="0"/>
                <a:ea typeface="Courier New" pitchFamily="34" charset="-122"/>
                <a:cs typeface="Courier New" pitchFamily="34" charset="-120"/>
              </a:rPr>
              <a:t>≤250</a:t>
            </a:r>
            <a:endParaRPr lang="en-US" sz="1050" dirty="0"/>
          </a:p>
        </p:txBody>
      </p:sp>
      <p:sp>
        <p:nvSpPr>
          <p:cNvPr id="19" name="Shape 17"/>
          <p:cNvSpPr/>
          <p:nvPr/>
        </p:nvSpPr>
        <p:spPr>
          <a:xfrm>
            <a:off x="5120640" y="1677010"/>
            <a:ext cx="749808" cy="3077870"/>
          </a:xfrm>
          <a:prstGeom prst="rect">
            <a:avLst/>
          </a:prstGeom>
          <a:solidFill>
            <a:srgbClr val="B9C7FF"/>
          </a:solidFill>
          <a:ln w="12700">
            <a:solidFill>
              <a:srgbClr val="B9C7FF"/>
            </a:solidFill>
            <a:prstDash val="solid"/>
          </a:ln>
        </p:spPr>
      </p:sp>
      <p:sp>
        <p:nvSpPr>
          <p:cNvPr id="20" name="Text 18"/>
          <p:cNvSpPr txBox="1"/>
          <p:nvPr/>
        </p:nvSpPr>
        <p:spPr>
          <a:xfrm>
            <a:off x="5120640" y="1402690"/>
            <a:ext cx="749808" cy="256032"/>
          </a:xfrm>
          <a:prstGeom prst="rect">
            <a:avLst/>
          </a:prstGeom>
          <a:noFill/>
          <a:ln/>
        </p:spPr>
        <p:txBody>
          <a:bodyPr wrap="square" lIns="0" tIns="0" rIns="0" bIns="0" rtlCol="0" anchor="ctr"/>
          <a:lstStyle/>
          <a:p>
            <a:pPr marL="0" indent="0" algn="ctr">
              <a:buNone/>
            </a:pPr>
            <a:r>
              <a:rPr lang="en-US" sz="1100" b="1" dirty="0">
                <a:solidFill>
                  <a:srgbClr val="16202B"/>
                </a:solidFill>
                <a:latin typeface="Arial" pitchFamily="34" charset="0"/>
                <a:ea typeface="Arial" pitchFamily="34" charset="-122"/>
                <a:cs typeface="Arial" pitchFamily="34" charset="-120"/>
              </a:rPr>
              <a:t>99</a:t>
            </a:r>
            <a:endParaRPr lang="en-US" sz="1100" dirty="0"/>
          </a:p>
        </p:txBody>
      </p:sp>
      <p:sp>
        <p:nvSpPr>
          <p:cNvPr id="21" name="Text 19"/>
          <p:cNvSpPr txBox="1"/>
          <p:nvPr/>
        </p:nvSpPr>
        <p:spPr>
          <a:xfrm>
            <a:off x="5120640" y="4800600"/>
            <a:ext cx="749808" cy="274320"/>
          </a:xfrm>
          <a:prstGeom prst="rect">
            <a:avLst/>
          </a:prstGeom>
          <a:noFill/>
          <a:ln/>
        </p:spPr>
        <p:txBody>
          <a:bodyPr wrap="square" lIns="0" tIns="0" rIns="0" bIns="0" rtlCol="0" anchor="ctr"/>
          <a:lstStyle/>
          <a:p>
            <a:pPr marL="0" indent="0" algn="ctr">
              <a:buNone/>
            </a:pPr>
            <a:r>
              <a:rPr lang="en-US" sz="1050" dirty="0">
                <a:solidFill>
                  <a:srgbClr val="4A5568"/>
                </a:solidFill>
                <a:latin typeface="Courier New" pitchFamily="34" charset="0"/>
                <a:ea typeface="Courier New" pitchFamily="34" charset="-122"/>
                <a:cs typeface="Courier New" pitchFamily="34" charset="-120"/>
              </a:rPr>
              <a:t>≤1000</a:t>
            </a:r>
            <a:endParaRPr lang="en-US" sz="1050" dirty="0"/>
          </a:p>
        </p:txBody>
      </p:sp>
      <p:sp>
        <p:nvSpPr>
          <p:cNvPr id="22" name="Shape 20"/>
          <p:cNvSpPr/>
          <p:nvPr/>
        </p:nvSpPr>
        <p:spPr>
          <a:xfrm>
            <a:off x="5980176" y="1645920"/>
            <a:ext cx="749808" cy="3108960"/>
          </a:xfrm>
          <a:prstGeom prst="rect">
            <a:avLst/>
          </a:prstGeom>
          <a:solidFill>
            <a:srgbClr val="B9C7FF"/>
          </a:solidFill>
          <a:ln w="12700">
            <a:solidFill>
              <a:srgbClr val="B9C7FF"/>
            </a:solidFill>
            <a:prstDash val="solid"/>
          </a:ln>
        </p:spPr>
      </p:sp>
      <p:sp>
        <p:nvSpPr>
          <p:cNvPr id="23" name="Text 21"/>
          <p:cNvSpPr txBox="1"/>
          <p:nvPr/>
        </p:nvSpPr>
        <p:spPr>
          <a:xfrm>
            <a:off x="5980176" y="1371600"/>
            <a:ext cx="749808" cy="256032"/>
          </a:xfrm>
          <a:prstGeom prst="rect">
            <a:avLst/>
          </a:prstGeom>
          <a:noFill/>
          <a:ln/>
        </p:spPr>
        <p:txBody>
          <a:bodyPr wrap="square" lIns="0" tIns="0" rIns="0" bIns="0" rtlCol="0" anchor="ctr"/>
          <a:lstStyle/>
          <a:p>
            <a:pPr marL="0" indent="0" algn="ctr">
              <a:buNone/>
            </a:pPr>
            <a:r>
              <a:rPr lang="en-US" sz="1100" b="1" dirty="0">
                <a:solidFill>
                  <a:srgbClr val="16202B"/>
                </a:solidFill>
                <a:latin typeface="Arial" pitchFamily="34" charset="0"/>
                <a:ea typeface="Arial" pitchFamily="34" charset="-122"/>
                <a:cs typeface="Arial" pitchFamily="34" charset="-120"/>
              </a:rPr>
              <a:t>100</a:t>
            </a:r>
            <a:endParaRPr lang="en-US" sz="1100" dirty="0"/>
          </a:p>
        </p:txBody>
      </p:sp>
      <p:sp>
        <p:nvSpPr>
          <p:cNvPr id="24" name="Text 22"/>
          <p:cNvSpPr txBox="1"/>
          <p:nvPr/>
        </p:nvSpPr>
        <p:spPr>
          <a:xfrm>
            <a:off x="5980176" y="4800600"/>
            <a:ext cx="749808" cy="274320"/>
          </a:xfrm>
          <a:prstGeom prst="rect">
            <a:avLst/>
          </a:prstGeom>
          <a:noFill/>
          <a:ln/>
        </p:spPr>
        <p:txBody>
          <a:bodyPr wrap="square" lIns="0" tIns="0" rIns="0" bIns="0" rtlCol="0" anchor="ctr"/>
          <a:lstStyle/>
          <a:p>
            <a:pPr marL="0" indent="0" algn="ctr">
              <a:buNone/>
            </a:pPr>
            <a:r>
              <a:rPr lang="en-US" sz="1050" dirty="0">
                <a:solidFill>
                  <a:srgbClr val="4A5568"/>
                </a:solidFill>
                <a:latin typeface="Courier New" pitchFamily="34" charset="0"/>
                <a:ea typeface="Courier New" pitchFamily="34" charset="-122"/>
                <a:cs typeface="Courier New" pitchFamily="34" charset="-120"/>
              </a:rPr>
              <a:t>≤2500</a:t>
            </a:r>
            <a:endParaRPr lang="en-US" sz="1050" dirty="0"/>
          </a:p>
        </p:txBody>
      </p:sp>
      <p:sp>
        <p:nvSpPr>
          <p:cNvPr id="25" name="Shape 23"/>
          <p:cNvSpPr/>
          <p:nvPr/>
        </p:nvSpPr>
        <p:spPr>
          <a:xfrm>
            <a:off x="6839712" y="1645920"/>
            <a:ext cx="749808" cy="3108960"/>
          </a:xfrm>
          <a:prstGeom prst="rect">
            <a:avLst/>
          </a:prstGeom>
          <a:solidFill>
            <a:srgbClr val="B9C7FF"/>
          </a:solidFill>
          <a:ln w="12700">
            <a:solidFill>
              <a:srgbClr val="B9C7FF"/>
            </a:solidFill>
            <a:prstDash val="solid"/>
          </a:ln>
        </p:spPr>
      </p:sp>
      <p:sp>
        <p:nvSpPr>
          <p:cNvPr id="26" name="Text 24"/>
          <p:cNvSpPr txBox="1"/>
          <p:nvPr/>
        </p:nvSpPr>
        <p:spPr>
          <a:xfrm>
            <a:off x="6839712" y="1371600"/>
            <a:ext cx="749808" cy="256032"/>
          </a:xfrm>
          <a:prstGeom prst="rect">
            <a:avLst/>
          </a:prstGeom>
          <a:noFill/>
          <a:ln/>
        </p:spPr>
        <p:txBody>
          <a:bodyPr wrap="square" lIns="0" tIns="0" rIns="0" bIns="0" rtlCol="0" anchor="ctr"/>
          <a:lstStyle/>
          <a:p>
            <a:pPr marL="0" indent="0" algn="ctr">
              <a:buNone/>
            </a:pPr>
            <a:r>
              <a:rPr lang="en-US" sz="1100" b="1" dirty="0">
                <a:solidFill>
                  <a:srgbClr val="16202B"/>
                </a:solidFill>
                <a:latin typeface="Arial" pitchFamily="34" charset="0"/>
                <a:ea typeface="Arial" pitchFamily="34" charset="-122"/>
                <a:cs typeface="Arial" pitchFamily="34" charset="-120"/>
              </a:rPr>
              <a:t>100</a:t>
            </a:r>
            <a:endParaRPr lang="en-US" sz="1100" dirty="0"/>
          </a:p>
        </p:txBody>
      </p:sp>
      <p:sp>
        <p:nvSpPr>
          <p:cNvPr id="27" name="Text 25"/>
          <p:cNvSpPr txBox="1"/>
          <p:nvPr/>
        </p:nvSpPr>
        <p:spPr>
          <a:xfrm>
            <a:off x="6839712" y="4800600"/>
            <a:ext cx="749808" cy="274320"/>
          </a:xfrm>
          <a:prstGeom prst="rect">
            <a:avLst/>
          </a:prstGeom>
          <a:noFill/>
          <a:ln/>
        </p:spPr>
        <p:txBody>
          <a:bodyPr wrap="square" lIns="0" tIns="0" rIns="0" bIns="0" rtlCol="0" anchor="ctr"/>
          <a:lstStyle/>
          <a:p>
            <a:pPr marL="0" indent="0" algn="ctr">
              <a:buNone/>
            </a:pPr>
            <a:r>
              <a:rPr lang="en-US" sz="1050" dirty="0">
                <a:solidFill>
                  <a:srgbClr val="4A5568"/>
                </a:solidFill>
                <a:latin typeface="Courier New" pitchFamily="34" charset="0"/>
                <a:ea typeface="Courier New" pitchFamily="34" charset="-122"/>
                <a:cs typeface="Courier New" pitchFamily="34" charset="-120"/>
              </a:rPr>
              <a:t>+Inf</a:t>
            </a:r>
            <a:endParaRPr lang="en-US" sz="1050" dirty="0"/>
          </a:p>
        </p:txBody>
      </p:sp>
      <p:sp>
        <p:nvSpPr>
          <p:cNvPr id="28" name="Shape 26"/>
          <p:cNvSpPr/>
          <p:nvPr/>
        </p:nvSpPr>
        <p:spPr>
          <a:xfrm>
            <a:off x="731520" y="1801368"/>
            <a:ext cx="6876288" cy="0"/>
          </a:xfrm>
          <a:prstGeom prst="line">
            <a:avLst/>
          </a:prstGeom>
          <a:noFill/>
          <a:ln w="19050">
            <a:solidFill>
              <a:srgbClr val="D64545"/>
            </a:solidFill>
            <a:prstDash val="dash"/>
          </a:ln>
        </p:spPr>
      </p:sp>
      <p:sp>
        <p:nvSpPr>
          <p:cNvPr id="29" name="Text 27"/>
          <p:cNvSpPr txBox="1"/>
          <p:nvPr/>
        </p:nvSpPr>
        <p:spPr>
          <a:xfrm>
            <a:off x="6601968" y="1508760"/>
            <a:ext cx="1097280" cy="256032"/>
          </a:xfrm>
          <a:prstGeom prst="rect">
            <a:avLst/>
          </a:prstGeom>
          <a:noFill/>
          <a:ln/>
        </p:spPr>
        <p:txBody>
          <a:bodyPr wrap="square" lIns="0" tIns="0" rIns="0" bIns="0" rtlCol="0" anchor="ctr"/>
          <a:lstStyle/>
          <a:p>
            <a:pPr marL="0" indent="0">
              <a:buNone/>
            </a:pPr>
            <a:r>
              <a:rPr lang="en-US" sz="1100" b="1" dirty="0">
                <a:solidFill>
                  <a:srgbClr val="D64545"/>
                </a:solidFill>
                <a:latin typeface="Arial" pitchFamily="34" charset="0"/>
                <a:ea typeface="Arial" pitchFamily="34" charset="-122"/>
                <a:cs typeface="Arial" pitchFamily="34" charset="-120"/>
              </a:rPr>
              <a:t>95 av 100</a:t>
            </a:r>
            <a:endParaRPr lang="en-US" sz="1100" dirty="0"/>
          </a:p>
        </p:txBody>
      </p:sp>
      <p:sp>
        <p:nvSpPr>
          <p:cNvPr id="30" name="Text 28"/>
          <p:cNvSpPr txBox="1"/>
          <p:nvPr/>
        </p:nvSpPr>
        <p:spPr>
          <a:xfrm>
            <a:off x="548640" y="5166360"/>
            <a:ext cx="7315200" cy="548640"/>
          </a:xfrm>
          <a:prstGeom prst="rect">
            <a:avLst/>
          </a:prstGeom>
          <a:noFill/>
          <a:ln/>
        </p:spPr>
        <p:txBody>
          <a:bodyPr wrap="square" lIns="0" tIns="0" rIns="0" bIns="0" rtlCol="0" anchor="t"/>
          <a:lstStyle/>
          <a:p>
            <a:pPr marL="0" indent="0">
              <a:lnSpc>
                <a:spcPct val="120000"/>
              </a:lnSpc>
              <a:buNone/>
            </a:pPr>
            <a:r>
              <a:rPr lang="en-US" sz="1200" dirty="0">
                <a:solidFill>
                  <a:srgbClr val="4A5568"/>
                </a:solidFill>
                <a:latin typeface="Courier New" pitchFamily="34" charset="0"/>
                <a:ea typeface="Courier New" pitchFamily="34" charset="-122"/>
                <a:cs typeface="Courier New" pitchFamily="34" charset="-120"/>
              </a:rPr>
              <a:t>otel_customers_requestduration_milliseconds_bucket{le="…"} - antal anrop som var snabbare än gränsen (kumulativt)</a:t>
            </a:r>
            <a:endParaRPr lang="en-US" sz="1200" dirty="0"/>
          </a:p>
        </p:txBody>
      </p:sp>
      <p:sp>
        <p:nvSpPr>
          <p:cNvPr id="31" name="Shape 29"/>
          <p:cNvSpPr/>
          <p:nvPr/>
        </p:nvSpPr>
        <p:spPr>
          <a:xfrm>
            <a:off x="8503920" y="1600200"/>
            <a:ext cx="3139135" cy="1463040"/>
          </a:xfrm>
          <a:prstGeom prst="roundRect">
            <a:avLst>
              <a:gd name="adj" fmla="val 3750"/>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32" name="Text 30"/>
          <p:cNvSpPr txBox="1"/>
          <p:nvPr/>
        </p:nvSpPr>
        <p:spPr>
          <a:xfrm>
            <a:off x="8705088" y="1801368"/>
            <a:ext cx="2736799" cy="320040"/>
          </a:xfrm>
          <a:prstGeom prst="rect">
            <a:avLst/>
          </a:prstGeom>
          <a:noFill/>
          <a:ln/>
        </p:spPr>
        <p:txBody>
          <a:bodyPr wrap="square" lIns="0" tIns="0" rIns="0" bIns="0" rtlCol="0" anchor="t"/>
          <a:lstStyle/>
          <a:p>
            <a:pPr marL="0" indent="0">
              <a:buNone/>
            </a:pPr>
            <a:r>
              <a:rPr lang="en-US" sz="1400" b="1" dirty="0">
                <a:solidFill>
                  <a:srgbClr val="16202B"/>
                </a:solidFill>
                <a:latin typeface="Calibri" pitchFamily="34" charset="0"/>
                <a:ea typeface="Calibri" pitchFamily="34" charset="-122"/>
                <a:cs typeface="Calibri" pitchFamily="34" charset="-120"/>
              </a:rPr>
              <a:t>Kumulativt</a:t>
            </a:r>
            <a:endParaRPr lang="en-US" sz="1400" dirty="0"/>
          </a:p>
        </p:txBody>
      </p:sp>
      <p:sp>
        <p:nvSpPr>
          <p:cNvPr id="33" name="Text 31"/>
          <p:cNvSpPr txBox="1"/>
          <p:nvPr/>
        </p:nvSpPr>
        <p:spPr>
          <a:xfrm>
            <a:off x="8705088" y="2185416"/>
            <a:ext cx="2736799" cy="722376"/>
          </a:xfrm>
          <a:prstGeom prst="rect">
            <a:avLst/>
          </a:prstGeom>
          <a:noFill/>
          <a:ln/>
        </p:spPr>
        <p:txBody>
          <a:bodyPr wrap="square" lIns="0" tIns="0" rIns="0" bIns="0" rtlCol="0" anchor="t"/>
          <a:lstStyle/>
          <a:p>
            <a:pPr marL="0" indent="0">
              <a:lnSpc>
                <a:spcPct val="115000"/>
              </a:lnSpc>
              <a:buNone/>
            </a:pPr>
            <a:r>
              <a:rPr lang="en-US" sz="1200" dirty="0">
                <a:solidFill>
                  <a:srgbClr val="4A5568"/>
                </a:solidFill>
                <a:latin typeface="Arial" pitchFamily="34" charset="0"/>
                <a:ea typeface="Arial" pitchFamily="34" charset="-122"/>
                <a:cs typeface="Arial" pitchFamily="34" charset="-120"/>
              </a:rPr>
              <a:t>Varje stapel räknar ALLA anrop upp till sin gräns (le = less or equal).</a:t>
            </a:r>
            <a:endParaRPr lang="en-US" sz="1200" dirty="0"/>
          </a:p>
        </p:txBody>
      </p:sp>
      <p:sp>
        <p:nvSpPr>
          <p:cNvPr id="34" name="Shape 32"/>
          <p:cNvSpPr/>
          <p:nvPr/>
        </p:nvSpPr>
        <p:spPr>
          <a:xfrm>
            <a:off x="8503920" y="3200400"/>
            <a:ext cx="3139135" cy="1325880"/>
          </a:xfrm>
          <a:prstGeom prst="roundRect">
            <a:avLst>
              <a:gd name="adj" fmla="val 4138"/>
            </a:avLst>
          </a:prstGeom>
          <a:solidFill>
            <a:srgbClr val="3762FF"/>
          </a:solidFill>
          <a:ln w="12700">
            <a:solidFill>
              <a:srgbClr val="3762FF"/>
            </a:solidFill>
            <a:prstDash val="solid"/>
          </a:ln>
        </p:spPr>
      </p:sp>
      <p:sp>
        <p:nvSpPr>
          <p:cNvPr id="35" name="Text 33"/>
          <p:cNvSpPr txBox="1"/>
          <p:nvPr/>
        </p:nvSpPr>
        <p:spPr>
          <a:xfrm>
            <a:off x="8705088" y="3401568"/>
            <a:ext cx="2736799" cy="320040"/>
          </a:xfrm>
          <a:prstGeom prst="rect">
            <a:avLst/>
          </a:prstGeom>
          <a:noFill/>
          <a:ln/>
        </p:spPr>
        <p:txBody>
          <a:bodyPr wrap="square" lIns="0" tIns="0" rIns="0" bIns="0" rtlCol="0" anchor="t"/>
          <a:lstStyle/>
          <a:p>
            <a:pPr marL="0" indent="0">
              <a:buNone/>
            </a:pPr>
            <a:r>
              <a:rPr lang="en-US" sz="1400" b="1" dirty="0">
                <a:solidFill>
                  <a:srgbClr val="FFFFFF"/>
                </a:solidFill>
                <a:latin typeface="Calibri" pitchFamily="34" charset="0"/>
                <a:ea typeface="Calibri" pitchFamily="34" charset="-122"/>
                <a:cs typeface="Calibri" pitchFamily="34" charset="-120"/>
              </a:rPr>
              <a:t>p95 ≈ 100 ms</a:t>
            </a:r>
            <a:endParaRPr lang="en-US" sz="1400" dirty="0"/>
          </a:p>
        </p:txBody>
      </p:sp>
      <p:sp>
        <p:nvSpPr>
          <p:cNvPr id="36" name="Text 34"/>
          <p:cNvSpPr txBox="1"/>
          <p:nvPr/>
        </p:nvSpPr>
        <p:spPr>
          <a:xfrm>
            <a:off x="8705088" y="3785616"/>
            <a:ext cx="2736799" cy="585216"/>
          </a:xfrm>
          <a:prstGeom prst="rect">
            <a:avLst/>
          </a:prstGeom>
          <a:noFill/>
          <a:ln/>
        </p:spPr>
        <p:txBody>
          <a:bodyPr wrap="square" lIns="0" tIns="0" rIns="0" bIns="0" rtlCol="0" anchor="t"/>
          <a:lstStyle/>
          <a:p>
            <a:pPr marL="0" indent="0">
              <a:lnSpc>
                <a:spcPct val="115000"/>
              </a:lnSpc>
              <a:buNone/>
            </a:pPr>
            <a:r>
              <a:rPr lang="en-US" sz="1200" dirty="0">
                <a:solidFill>
                  <a:srgbClr val="FFFFFF"/>
                </a:solidFill>
                <a:latin typeface="Arial" pitchFamily="34" charset="0"/>
                <a:ea typeface="Arial" pitchFamily="34" charset="-122"/>
                <a:cs typeface="Arial" pitchFamily="34" charset="-120"/>
              </a:rPr>
              <a:t>Första bucket där 95 av 100 ryms. Prometheus interpolerar inom den.</a:t>
            </a:r>
            <a:endParaRPr lang="en-US" sz="1200" dirty="0"/>
          </a:p>
        </p:txBody>
      </p:sp>
      <p:sp>
        <p:nvSpPr>
          <p:cNvPr id="37" name="Shape 35"/>
          <p:cNvSpPr/>
          <p:nvPr/>
        </p:nvSpPr>
        <p:spPr>
          <a:xfrm>
            <a:off x="8503920" y="4663440"/>
            <a:ext cx="3139135" cy="1143000"/>
          </a:xfrm>
          <a:prstGeom prst="roundRect">
            <a:avLst>
              <a:gd name="adj" fmla="val 4800"/>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38" name="Text 36"/>
          <p:cNvSpPr txBox="1"/>
          <p:nvPr/>
        </p:nvSpPr>
        <p:spPr>
          <a:xfrm>
            <a:off x="8705088" y="4864608"/>
            <a:ext cx="2736799" cy="320040"/>
          </a:xfrm>
          <a:prstGeom prst="rect">
            <a:avLst/>
          </a:prstGeom>
          <a:noFill/>
          <a:ln/>
        </p:spPr>
        <p:txBody>
          <a:bodyPr wrap="square" lIns="0" tIns="0" rIns="0" bIns="0" rtlCol="0" anchor="t"/>
          <a:lstStyle/>
          <a:p>
            <a:pPr marL="0" indent="0">
              <a:buNone/>
            </a:pPr>
            <a:r>
              <a:rPr lang="en-US" sz="1400" b="1" dirty="0">
                <a:solidFill>
                  <a:srgbClr val="16202B"/>
                </a:solidFill>
                <a:latin typeface="Calibri" pitchFamily="34" charset="0"/>
                <a:ea typeface="Calibri" pitchFamily="34" charset="-122"/>
                <a:cs typeface="Calibri" pitchFamily="34" charset="-120"/>
              </a:rPr>
              <a:t>Egna gränser</a:t>
            </a:r>
            <a:endParaRPr lang="en-US" sz="1400" dirty="0"/>
          </a:p>
        </p:txBody>
      </p:sp>
      <p:sp>
        <p:nvSpPr>
          <p:cNvPr id="39" name="Text 37"/>
          <p:cNvSpPr txBox="1"/>
          <p:nvPr/>
        </p:nvSpPr>
        <p:spPr>
          <a:xfrm>
            <a:off x="8705088" y="5248656"/>
            <a:ext cx="2736799" cy="402336"/>
          </a:xfrm>
          <a:prstGeom prst="rect">
            <a:avLst/>
          </a:prstGeom>
          <a:noFill/>
          <a:ln/>
        </p:spPr>
        <p:txBody>
          <a:bodyPr wrap="square" lIns="0" tIns="0" rIns="0" bIns="0" rtlCol="0" anchor="t"/>
          <a:lstStyle/>
          <a:p>
            <a:pPr marL="0" indent="0">
              <a:lnSpc>
                <a:spcPct val="115000"/>
              </a:lnSpc>
              <a:buNone/>
            </a:pPr>
            <a:r>
              <a:rPr lang="en-US" sz="1200" dirty="0">
                <a:solidFill>
                  <a:srgbClr val="4A5568"/>
                </a:solidFill>
                <a:latin typeface="Arial" pitchFamily="34" charset="0"/>
                <a:ea typeface="Arial" pitchFamily="34" charset="-122"/>
                <a:cs typeface="Arial" pitchFamily="34" charset="-120"/>
              </a:rPr>
              <a:t>HistogramBucketBoundaries i CustomerTelemetry.cs.</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1F33"/>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marL="0" indent="0">
              <a:buNone/>
            </a:pPr>
            <a:r>
              <a:rPr lang="en-US" sz="1200" b="1" kern="0" spc="200" dirty="0">
                <a:solidFill>
                  <a:srgbClr val="7C9CFF"/>
                </a:solidFill>
                <a:latin typeface="Arial" pitchFamily="34" charset="0"/>
                <a:ea typeface="Arial" pitchFamily="34" charset="-122"/>
                <a:cs typeface="Arial" pitchFamily="34" charset="-120"/>
              </a:rPr>
              <a:t>PROMETHEUS · ARBETSFLÖDET</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marL="0" indent="0">
              <a:buNone/>
            </a:pPr>
            <a:r>
              <a:rPr lang="en-US" sz="3000" b="1" dirty="0">
                <a:solidFill>
                  <a:srgbClr val="F5F7FA"/>
                </a:solidFill>
                <a:latin typeface="Calibri" pitchFamily="34" charset="0"/>
                <a:ea typeface="Calibri" pitchFamily="34" charset="-122"/>
                <a:cs typeface="Calibri" pitchFamily="34" charset="-120"/>
              </a:rPr>
              <a:t>Validera i Prometheus - klistra in i Grafana</a:t>
            </a:r>
            <a:endParaRPr lang="en-US" sz="3000" dirty="0"/>
          </a:p>
        </p:txBody>
      </p:sp>
      <p:sp>
        <p:nvSpPr>
          <p:cNvPr id="4" name="Shape 2"/>
          <p:cNvSpPr/>
          <p:nvPr/>
        </p:nvSpPr>
        <p:spPr>
          <a:xfrm>
            <a:off x="548640" y="1600200"/>
            <a:ext cx="6949440" cy="749808"/>
          </a:xfrm>
          <a:prstGeom prst="roundRect">
            <a:avLst>
              <a:gd name="adj" fmla="val 6098"/>
            </a:avLst>
          </a:prstGeom>
          <a:solidFill>
            <a:srgbClr val="16294A"/>
          </a:solidFill>
          <a:ln w="12700">
            <a:solidFill>
              <a:srgbClr val="16294A"/>
            </a:solidFill>
            <a:prstDash val="solid"/>
          </a:ln>
        </p:spPr>
      </p:sp>
      <p:sp>
        <p:nvSpPr>
          <p:cNvPr id="5" name="Text 3"/>
          <p:cNvSpPr txBox="1"/>
          <p:nvPr/>
        </p:nvSpPr>
        <p:spPr>
          <a:xfrm>
            <a:off x="685800" y="1600200"/>
            <a:ext cx="365760" cy="749808"/>
          </a:xfrm>
          <a:prstGeom prst="rect">
            <a:avLst/>
          </a:prstGeom>
          <a:noFill/>
          <a:ln/>
        </p:spPr>
        <p:txBody>
          <a:bodyPr wrap="square" lIns="0" tIns="0" rIns="0" bIns="0" rtlCol="0" anchor="ctr"/>
          <a:lstStyle/>
          <a:p>
            <a:pPr marL="0" indent="0">
              <a:buNone/>
            </a:pPr>
            <a:r>
              <a:rPr lang="en-US" sz="1800" b="1" dirty="0">
                <a:solidFill>
                  <a:srgbClr val="7C9CFF"/>
                </a:solidFill>
                <a:latin typeface="Calibri" pitchFamily="34" charset="0"/>
                <a:ea typeface="Calibri" pitchFamily="34" charset="-122"/>
                <a:cs typeface="Calibri" pitchFamily="34" charset="-120"/>
              </a:rPr>
              <a:t>1</a:t>
            </a:r>
            <a:endParaRPr lang="en-US" sz="1800" dirty="0"/>
          </a:p>
        </p:txBody>
      </p:sp>
      <p:sp>
        <p:nvSpPr>
          <p:cNvPr id="6" name="Text 4"/>
          <p:cNvSpPr txBox="1"/>
          <p:nvPr/>
        </p:nvSpPr>
        <p:spPr>
          <a:xfrm>
            <a:off x="1097280" y="1600200"/>
            <a:ext cx="6263640" cy="749808"/>
          </a:xfrm>
          <a:prstGeom prst="rect">
            <a:avLst/>
          </a:prstGeom>
          <a:noFill/>
          <a:ln/>
        </p:spPr>
        <p:txBody>
          <a:bodyPr wrap="square" lIns="0" tIns="0" rIns="0" bIns="0" rtlCol="0" anchor="ctr"/>
          <a:lstStyle/>
          <a:p>
            <a:pPr marL="0" indent="0">
              <a:buNone/>
            </a:pPr>
            <a:r>
              <a:rPr lang="en-US" sz="1300" b="1" dirty="0">
                <a:solidFill>
                  <a:srgbClr val="F5F7FA"/>
                </a:solidFill>
                <a:latin typeface="Arial" pitchFamily="34" charset="0"/>
                <a:ea typeface="Arial" pitchFamily="34" charset="-122"/>
                <a:cs typeface="Arial" pitchFamily="34" charset="-120"/>
              </a:rPr>
              <a:t>Hitta metriken</a:t>
            </a:r>
            <a:r>
              <a:rPr lang="en-US" sz="1300" dirty="0">
                <a:solidFill>
                  <a:srgbClr val="B9C4D1"/>
                </a:solidFill>
                <a:latin typeface="Arial" pitchFamily="34" charset="0"/>
                <a:ea typeface="Arial" pitchFamily="34" charset="-122"/>
                <a:cs typeface="Arial" pitchFamily="34" charset="-120"/>
              </a:rPr>
              <a:t>  Autokomplettering eller metrics explorer (glober-ikonen)</a:t>
            </a:r>
            <a:endParaRPr lang="en-US" sz="1300" dirty="0"/>
          </a:p>
        </p:txBody>
      </p:sp>
      <p:sp>
        <p:nvSpPr>
          <p:cNvPr id="7" name="Shape 5"/>
          <p:cNvSpPr/>
          <p:nvPr/>
        </p:nvSpPr>
        <p:spPr>
          <a:xfrm>
            <a:off x="548640" y="2441448"/>
            <a:ext cx="6949440" cy="749808"/>
          </a:xfrm>
          <a:prstGeom prst="roundRect">
            <a:avLst>
              <a:gd name="adj" fmla="val 6098"/>
            </a:avLst>
          </a:prstGeom>
          <a:solidFill>
            <a:srgbClr val="16294A"/>
          </a:solidFill>
          <a:ln w="12700">
            <a:solidFill>
              <a:srgbClr val="16294A"/>
            </a:solidFill>
            <a:prstDash val="solid"/>
          </a:ln>
        </p:spPr>
      </p:sp>
      <p:sp>
        <p:nvSpPr>
          <p:cNvPr id="8" name="Text 6"/>
          <p:cNvSpPr txBox="1"/>
          <p:nvPr/>
        </p:nvSpPr>
        <p:spPr>
          <a:xfrm>
            <a:off x="685800" y="2441448"/>
            <a:ext cx="365760" cy="749808"/>
          </a:xfrm>
          <a:prstGeom prst="rect">
            <a:avLst/>
          </a:prstGeom>
          <a:noFill/>
          <a:ln/>
        </p:spPr>
        <p:txBody>
          <a:bodyPr wrap="square" lIns="0" tIns="0" rIns="0" bIns="0" rtlCol="0" anchor="ctr"/>
          <a:lstStyle/>
          <a:p>
            <a:pPr marL="0" indent="0">
              <a:buNone/>
            </a:pPr>
            <a:r>
              <a:rPr lang="en-US" sz="1800" b="1" dirty="0">
                <a:solidFill>
                  <a:srgbClr val="7C9CFF"/>
                </a:solidFill>
                <a:latin typeface="Calibri" pitchFamily="34" charset="0"/>
                <a:ea typeface="Calibri" pitchFamily="34" charset="-122"/>
                <a:cs typeface="Calibri" pitchFamily="34" charset="-120"/>
              </a:rPr>
              <a:t>2</a:t>
            </a:r>
            <a:endParaRPr lang="en-US" sz="1800" dirty="0"/>
          </a:p>
        </p:txBody>
      </p:sp>
      <p:sp>
        <p:nvSpPr>
          <p:cNvPr id="9" name="Text 7"/>
          <p:cNvSpPr txBox="1"/>
          <p:nvPr/>
        </p:nvSpPr>
        <p:spPr>
          <a:xfrm>
            <a:off x="1097280" y="2441448"/>
            <a:ext cx="6263640" cy="749808"/>
          </a:xfrm>
          <a:prstGeom prst="rect">
            <a:avLst/>
          </a:prstGeom>
          <a:noFill/>
          <a:ln/>
        </p:spPr>
        <p:txBody>
          <a:bodyPr wrap="square" lIns="0" tIns="0" rIns="0" bIns="0" rtlCol="0" anchor="ctr"/>
          <a:lstStyle/>
          <a:p>
            <a:pPr marL="0" indent="0">
              <a:buNone/>
            </a:pPr>
            <a:r>
              <a:rPr lang="en-US" sz="1300" b="1" dirty="0">
                <a:solidFill>
                  <a:srgbClr val="F5F7FA"/>
                </a:solidFill>
                <a:latin typeface="Arial" pitchFamily="34" charset="0"/>
                <a:ea typeface="Arial" pitchFamily="34" charset="-122"/>
                <a:cs typeface="Arial" pitchFamily="34" charset="-120"/>
              </a:rPr>
              <a:t>Table</a:t>
            </a:r>
            <a:r>
              <a:rPr lang="en-US" sz="1300" dirty="0">
                <a:solidFill>
                  <a:srgbClr val="B9C4D1"/>
                </a:solidFill>
                <a:latin typeface="Arial" pitchFamily="34" charset="0"/>
                <a:ea typeface="Arial" pitchFamily="34" charset="-122"/>
                <a:cs typeface="Arial" pitchFamily="34" charset="-120"/>
              </a:rPr>
              <a:t>  Vilka labels finns? Hur många serier?</a:t>
            </a:r>
            <a:endParaRPr lang="en-US" sz="1300" dirty="0"/>
          </a:p>
        </p:txBody>
      </p:sp>
      <p:sp>
        <p:nvSpPr>
          <p:cNvPr id="10" name="Shape 8"/>
          <p:cNvSpPr/>
          <p:nvPr/>
        </p:nvSpPr>
        <p:spPr>
          <a:xfrm>
            <a:off x="548640" y="3282696"/>
            <a:ext cx="6949440" cy="749808"/>
          </a:xfrm>
          <a:prstGeom prst="roundRect">
            <a:avLst>
              <a:gd name="adj" fmla="val 6098"/>
            </a:avLst>
          </a:prstGeom>
          <a:solidFill>
            <a:srgbClr val="16294A"/>
          </a:solidFill>
          <a:ln w="12700">
            <a:solidFill>
              <a:srgbClr val="16294A"/>
            </a:solidFill>
            <a:prstDash val="solid"/>
          </a:ln>
        </p:spPr>
      </p:sp>
      <p:sp>
        <p:nvSpPr>
          <p:cNvPr id="11" name="Text 9"/>
          <p:cNvSpPr txBox="1"/>
          <p:nvPr/>
        </p:nvSpPr>
        <p:spPr>
          <a:xfrm>
            <a:off x="685800" y="3282696"/>
            <a:ext cx="365760" cy="749808"/>
          </a:xfrm>
          <a:prstGeom prst="rect">
            <a:avLst/>
          </a:prstGeom>
          <a:noFill/>
          <a:ln/>
        </p:spPr>
        <p:txBody>
          <a:bodyPr wrap="square" lIns="0" tIns="0" rIns="0" bIns="0" rtlCol="0" anchor="ctr"/>
          <a:lstStyle/>
          <a:p>
            <a:pPr marL="0" indent="0">
              <a:buNone/>
            </a:pPr>
            <a:r>
              <a:rPr lang="en-US" sz="1800" b="1" dirty="0">
                <a:solidFill>
                  <a:srgbClr val="7C9CFF"/>
                </a:solidFill>
                <a:latin typeface="Calibri" pitchFamily="34" charset="0"/>
                <a:ea typeface="Calibri" pitchFamily="34" charset="-122"/>
                <a:cs typeface="Calibri" pitchFamily="34" charset="-120"/>
              </a:rPr>
              <a:t>3</a:t>
            </a:r>
            <a:endParaRPr lang="en-US" sz="1800" dirty="0"/>
          </a:p>
        </p:txBody>
      </p:sp>
      <p:sp>
        <p:nvSpPr>
          <p:cNvPr id="12" name="Text 10"/>
          <p:cNvSpPr txBox="1"/>
          <p:nvPr/>
        </p:nvSpPr>
        <p:spPr>
          <a:xfrm>
            <a:off x="1097280" y="3282696"/>
            <a:ext cx="6263640" cy="749808"/>
          </a:xfrm>
          <a:prstGeom prst="rect">
            <a:avLst/>
          </a:prstGeom>
          <a:noFill/>
          <a:ln/>
        </p:spPr>
        <p:txBody>
          <a:bodyPr wrap="square" lIns="0" tIns="0" rIns="0" bIns="0" rtlCol="0" anchor="ctr"/>
          <a:lstStyle/>
          <a:p>
            <a:pPr marL="0" indent="0">
              <a:buNone/>
            </a:pPr>
            <a:r>
              <a:rPr lang="en-US" sz="1300" b="1" dirty="0">
                <a:solidFill>
                  <a:srgbClr val="F5F7FA"/>
                </a:solidFill>
                <a:latin typeface="Arial" pitchFamily="34" charset="0"/>
                <a:ea typeface="Arial" pitchFamily="34" charset="-122"/>
                <a:cs typeface="Arial" pitchFamily="34" charset="-120"/>
              </a:rPr>
              <a:t>Bygg stegvis</a:t>
            </a:r>
            <a:r>
              <a:rPr lang="en-US" sz="1300" dirty="0">
                <a:solidFill>
                  <a:srgbClr val="B9C4D1"/>
                </a:solidFill>
                <a:latin typeface="Arial" pitchFamily="34" charset="0"/>
                <a:ea typeface="Arial" pitchFamily="34" charset="-122"/>
                <a:cs typeface="Arial" pitchFamily="34" charset="-120"/>
              </a:rPr>
              <a:t>  Filter → rate → sum by → histogram_quantile</a:t>
            </a:r>
            <a:endParaRPr lang="en-US" sz="1300" dirty="0"/>
          </a:p>
        </p:txBody>
      </p:sp>
      <p:sp>
        <p:nvSpPr>
          <p:cNvPr id="13" name="Shape 11"/>
          <p:cNvSpPr/>
          <p:nvPr/>
        </p:nvSpPr>
        <p:spPr>
          <a:xfrm>
            <a:off x="548640" y="4123944"/>
            <a:ext cx="6949440" cy="749808"/>
          </a:xfrm>
          <a:prstGeom prst="roundRect">
            <a:avLst>
              <a:gd name="adj" fmla="val 6098"/>
            </a:avLst>
          </a:prstGeom>
          <a:solidFill>
            <a:srgbClr val="16294A"/>
          </a:solidFill>
          <a:ln w="12700">
            <a:solidFill>
              <a:srgbClr val="16294A"/>
            </a:solidFill>
            <a:prstDash val="solid"/>
          </a:ln>
        </p:spPr>
      </p:sp>
      <p:sp>
        <p:nvSpPr>
          <p:cNvPr id="14" name="Text 12"/>
          <p:cNvSpPr txBox="1"/>
          <p:nvPr/>
        </p:nvSpPr>
        <p:spPr>
          <a:xfrm>
            <a:off x="685800" y="4123944"/>
            <a:ext cx="365760" cy="749808"/>
          </a:xfrm>
          <a:prstGeom prst="rect">
            <a:avLst/>
          </a:prstGeom>
          <a:noFill/>
          <a:ln/>
        </p:spPr>
        <p:txBody>
          <a:bodyPr wrap="square" lIns="0" tIns="0" rIns="0" bIns="0" rtlCol="0" anchor="ctr"/>
          <a:lstStyle/>
          <a:p>
            <a:pPr marL="0" indent="0">
              <a:buNone/>
            </a:pPr>
            <a:r>
              <a:rPr lang="en-US" sz="1800" b="1" dirty="0">
                <a:solidFill>
                  <a:srgbClr val="7C9CFF"/>
                </a:solidFill>
                <a:latin typeface="Calibri" pitchFamily="34" charset="0"/>
                <a:ea typeface="Calibri" pitchFamily="34" charset="-122"/>
                <a:cs typeface="Calibri" pitchFamily="34" charset="-120"/>
              </a:rPr>
              <a:t>4</a:t>
            </a:r>
            <a:endParaRPr lang="en-US" sz="1800" dirty="0"/>
          </a:p>
        </p:txBody>
      </p:sp>
      <p:sp>
        <p:nvSpPr>
          <p:cNvPr id="15" name="Text 13"/>
          <p:cNvSpPr txBox="1"/>
          <p:nvPr/>
        </p:nvSpPr>
        <p:spPr>
          <a:xfrm>
            <a:off x="1097280" y="4123944"/>
            <a:ext cx="6263640" cy="749808"/>
          </a:xfrm>
          <a:prstGeom prst="rect">
            <a:avLst/>
          </a:prstGeom>
          <a:noFill/>
          <a:ln/>
        </p:spPr>
        <p:txBody>
          <a:bodyPr wrap="square" lIns="0" tIns="0" rIns="0" bIns="0" rtlCol="0" anchor="ctr"/>
          <a:lstStyle/>
          <a:p>
            <a:pPr marL="0" indent="0">
              <a:buNone/>
            </a:pPr>
            <a:r>
              <a:rPr lang="en-US" sz="1300" b="1" dirty="0">
                <a:solidFill>
                  <a:srgbClr val="F5F7FA"/>
                </a:solidFill>
                <a:latin typeface="Arial" pitchFamily="34" charset="0"/>
                <a:ea typeface="Arial" pitchFamily="34" charset="-122"/>
                <a:cs typeface="Arial" pitchFamily="34" charset="-120"/>
              </a:rPr>
              <a:t>Graph</a:t>
            </a:r>
            <a:r>
              <a:rPr lang="en-US" sz="1300" dirty="0">
                <a:solidFill>
                  <a:srgbClr val="B9C4D1"/>
                </a:solidFill>
                <a:latin typeface="Arial" pitchFamily="34" charset="0"/>
                <a:ea typeface="Arial" pitchFamily="34" charset="-122"/>
                <a:cs typeface="Arial" pitchFamily="34" charset="-120"/>
              </a:rPr>
              <a:t>  Ser kurvan rimlig ut när ni klickar i appen?</a:t>
            </a:r>
            <a:endParaRPr lang="en-US" sz="1300" dirty="0"/>
          </a:p>
        </p:txBody>
      </p:sp>
      <p:sp>
        <p:nvSpPr>
          <p:cNvPr id="16" name="Shape 14"/>
          <p:cNvSpPr/>
          <p:nvPr/>
        </p:nvSpPr>
        <p:spPr>
          <a:xfrm>
            <a:off x="548640" y="4965192"/>
            <a:ext cx="6949440" cy="749808"/>
          </a:xfrm>
          <a:prstGeom prst="roundRect">
            <a:avLst>
              <a:gd name="adj" fmla="val 6098"/>
            </a:avLst>
          </a:prstGeom>
          <a:solidFill>
            <a:srgbClr val="3762FF"/>
          </a:solidFill>
          <a:ln w="12700">
            <a:solidFill>
              <a:srgbClr val="3762FF"/>
            </a:solidFill>
            <a:prstDash val="solid"/>
          </a:ln>
        </p:spPr>
      </p:sp>
      <p:sp>
        <p:nvSpPr>
          <p:cNvPr id="17" name="Text 15"/>
          <p:cNvSpPr txBox="1"/>
          <p:nvPr/>
        </p:nvSpPr>
        <p:spPr>
          <a:xfrm>
            <a:off x="685800" y="4965192"/>
            <a:ext cx="365760" cy="749808"/>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8" name="Text 16"/>
          <p:cNvSpPr txBox="1"/>
          <p:nvPr/>
        </p:nvSpPr>
        <p:spPr>
          <a:xfrm>
            <a:off x="1097280" y="4965192"/>
            <a:ext cx="6263640" cy="749808"/>
          </a:xfrm>
          <a:prstGeom prst="rect">
            <a:avLst/>
          </a:prstGeom>
          <a:noFill/>
          <a:ln/>
        </p:spPr>
        <p:txBody>
          <a:bodyPr wrap="square" lIns="0" tIns="0" rIns="0" bIns="0" rtlCol="0" anchor="ctr"/>
          <a:lstStyle/>
          <a:p>
            <a:pPr marL="0" indent="0">
              <a:buNone/>
            </a:pPr>
            <a:r>
              <a:rPr lang="en-US" sz="1300" b="1" dirty="0">
                <a:solidFill>
                  <a:srgbClr val="FFFFFF"/>
                </a:solidFill>
                <a:latin typeface="Arial" pitchFamily="34" charset="0"/>
                <a:ea typeface="Arial" pitchFamily="34" charset="-122"/>
                <a:cs typeface="Arial" pitchFamily="34" charset="-120"/>
              </a:rPr>
              <a:t>Kopiera till Grafana</a:t>
            </a:r>
            <a:r>
              <a:rPr lang="en-US" sz="1300" dirty="0">
                <a:solidFill>
                  <a:srgbClr val="FFFFFF"/>
                </a:solidFill>
                <a:latin typeface="Arial" pitchFamily="34" charset="0"/>
                <a:ea typeface="Arial" pitchFamily="34" charset="-122"/>
                <a:cs typeface="Arial" pitchFamily="34" charset="-120"/>
              </a:rPr>
              <a:t>  Byt [5m] mot [$__rate_interval]</a:t>
            </a:r>
            <a:endParaRPr lang="en-US" sz="1300" dirty="0"/>
          </a:p>
        </p:txBody>
      </p:sp>
      <p:sp>
        <p:nvSpPr>
          <p:cNvPr id="19" name="Shape 17"/>
          <p:cNvSpPr/>
          <p:nvPr/>
        </p:nvSpPr>
        <p:spPr>
          <a:xfrm>
            <a:off x="7863840" y="1600200"/>
            <a:ext cx="3779215" cy="1325880"/>
          </a:xfrm>
          <a:prstGeom prst="roundRect">
            <a:avLst>
              <a:gd name="adj" fmla="val 4138"/>
            </a:avLst>
          </a:prstGeom>
          <a:solidFill>
            <a:srgbClr val="16294A"/>
          </a:solidFill>
          <a:ln w="12700">
            <a:solidFill>
              <a:srgbClr val="16294A"/>
            </a:solidFill>
            <a:prstDash val="solid"/>
          </a:ln>
        </p:spPr>
      </p:sp>
      <p:sp>
        <p:nvSpPr>
          <p:cNvPr id="20" name="Text 18"/>
          <p:cNvSpPr txBox="1"/>
          <p:nvPr/>
        </p:nvSpPr>
        <p:spPr>
          <a:xfrm>
            <a:off x="8065008" y="1801368"/>
            <a:ext cx="3376879" cy="320040"/>
          </a:xfrm>
          <a:prstGeom prst="rect">
            <a:avLst/>
          </a:prstGeom>
          <a:noFill/>
          <a:ln/>
        </p:spPr>
        <p:txBody>
          <a:bodyPr wrap="square" lIns="0" tIns="0" rIns="0" bIns="0" rtlCol="0" anchor="t"/>
          <a:lstStyle/>
          <a:p>
            <a:pPr marL="0" indent="0">
              <a:buNone/>
            </a:pPr>
            <a:r>
              <a:rPr lang="en-US" sz="1400" b="1" dirty="0">
                <a:solidFill>
                  <a:srgbClr val="F5F7FA"/>
                </a:solidFill>
                <a:latin typeface="Calibri" pitchFamily="34" charset="0"/>
                <a:ea typeface="Calibri" pitchFamily="34" charset="-122"/>
                <a:cs typeface="Calibri" pitchFamily="34" charset="-120"/>
              </a:rPr>
              <a:t>Ingen data?</a:t>
            </a:r>
            <a:endParaRPr lang="en-US" sz="1400" dirty="0"/>
          </a:p>
        </p:txBody>
      </p:sp>
      <p:sp>
        <p:nvSpPr>
          <p:cNvPr id="21" name="Text 19"/>
          <p:cNvSpPr txBox="1"/>
          <p:nvPr/>
        </p:nvSpPr>
        <p:spPr>
          <a:xfrm>
            <a:off x="8065008" y="2185416"/>
            <a:ext cx="3376879" cy="585216"/>
          </a:xfrm>
          <a:prstGeom prst="rect">
            <a:avLst/>
          </a:prstGeom>
          <a:noFill/>
          <a:ln/>
        </p:spPr>
        <p:txBody>
          <a:bodyPr wrap="square" lIns="0" tIns="0" rIns="0" bIns="0" rtlCol="0" anchor="t"/>
          <a:lstStyle/>
          <a:p>
            <a:pPr marL="0" indent="0">
              <a:lnSpc>
                <a:spcPct val="115000"/>
              </a:lnSpc>
              <a:buNone/>
            </a:pPr>
            <a:r>
              <a:rPr lang="en-US" sz="1200" dirty="0">
                <a:solidFill>
                  <a:srgbClr val="B9C4D1"/>
                </a:solidFill>
                <a:latin typeface="Arial" pitchFamily="34" charset="0"/>
                <a:ea typeface="Arial" pitchFamily="34" charset="-122"/>
                <a:cs typeface="Arial" pitchFamily="34" charset="-120"/>
              </a:rPr>
              <a:t>Status → Targets. Är otel-collector UP?</a:t>
            </a:r>
            <a:endParaRPr lang="en-US" sz="1200" dirty="0"/>
          </a:p>
        </p:txBody>
      </p:sp>
      <p:sp>
        <p:nvSpPr>
          <p:cNvPr id="22" name="Shape 20"/>
          <p:cNvSpPr/>
          <p:nvPr/>
        </p:nvSpPr>
        <p:spPr>
          <a:xfrm>
            <a:off x="7863840" y="3063240"/>
            <a:ext cx="3779215" cy="1325880"/>
          </a:xfrm>
          <a:prstGeom prst="roundRect">
            <a:avLst>
              <a:gd name="adj" fmla="val 4138"/>
            </a:avLst>
          </a:prstGeom>
          <a:solidFill>
            <a:srgbClr val="16294A"/>
          </a:solidFill>
          <a:ln w="12700">
            <a:solidFill>
              <a:srgbClr val="16294A"/>
            </a:solidFill>
            <a:prstDash val="solid"/>
          </a:ln>
        </p:spPr>
      </p:sp>
      <p:sp>
        <p:nvSpPr>
          <p:cNvPr id="23" name="Text 21"/>
          <p:cNvSpPr txBox="1"/>
          <p:nvPr/>
        </p:nvSpPr>
        <p:spPr>
          <a:xfrm>
            <a:off x="8065008" y="3264408"/>
            <a:ext cx="3376879" cy="320040"/>
          </a:xfrm>
          <a:prstGeom prst="rect">
            <a:avLst/>
          </a:prstGeom>
          <a:noFill/>
          <a:ln/>
        </p:spPr>
        <p:txBody>
          <a:bodyPr wrap="square" lIns="0" tIns="0" rIns="0" bIns="0" rtlCol="0" anchor="t"/>
          <a:lstStyle/>
          <a:p>
            <a:pPr marL="0" indent="0">
              <a:buNone/>
            </a:pPr>
            <a:r>
              <a:rPr lang="en-US" sz="1400" b="1" dirty="0">
                <a:solidFill>
                  <a:srgbClr val="F5F7FA"/>
                </a:solidFill>
                <a:latin typeface="Calibri" pitchFamily="34" charset="0"/>
                <a:ea typeface="Calibri" pitchFamily="34" charset="-122"/>
                <a:cs typeface="Calibri" pitchFamily="34" charset="-120"/>
              </a:rPr>
              <a:t>Tom efter rate?</a:t>
            </a:r>
            <a:endParaRPr lang="en-US" sz="1400" dirty="0"/>
          </a:p>
        </p:txBody>
      </p:sp>
      <p:sp>
        <p:nvSpPr>
          <p:cNvPr id="24" name="Text 22"/>
          <p:cNvSpPr txBox="1"/>
          <p:nvPr/>
        </p:nvSpPr>
        <p:spPr>
          <a:xfrm>
            <a:off x="8065008" y="3648456"/>
            <a:ext cx="3376879" cy="585216"/>
          </a:xfrm>
          <a:prstGeom prst="rect">
            <a:avLst/>
          </a:prstGeom>
          <a:noFill/>
          <a:ln/>
        </p:spPr>
        <p:txBody>
          <a:bodyPr wrap="square" lIns="0" tIns="0" rIns="0" bIns="0" rtlCol="0" anchor="t"/>
          <a:lstStyle/>
          <a:p>
            <a:pPr marL="0" indent="0">
              <a:lnSpc>
                <a:spcPct val="115000"/>
              </a:lnSpc>
              <a:buNone/>
            </a:pPr>
            <a:r>
              <a:rPr lang="en-US" sz="1200" dirty="0">
                <a:solidFill>
                  <a:srgbClr val="B9C4D1"/>
                </a:solidFill>
                <a:latin typeface="Arial" pitchFamily="34" charset="0"/>
                <a:ea typeface="Arial" pitchFamily="34" charset="-122"/>
                <a:cs typeface="Arial" pitchFamily="34" charset="-120"/>
              </a:rPr>
              <a:t>Fönstret för kort - minst 4 × skrapintervallet.</a:t>
            </a:r>
            <a:endParaRPr lang="en-US" sz="1200" dirty="0"/>
          </a:p>
        </p:txBody>
      </p:sp>
      <p:sp>
        <p:nvSpPr>
          <p:cNvPr id="25" name="Shape 23"/>
          <p:cNvSpPr/>
          <p:nvPr/>
        </p:nvSpPr>
        <p:spPr>
          <a:xfrm>
            <a:off x="7863840" y="4526280"/>
            <a:ext cx="3779215" cy="1280160"/>
          </a:xfrm>
          <a:prstGeom prst="roundRect">
            <a:avLst>
              <a:gd name="adj" fmla="val 4286"/>
            </a:avLst>
          </a:prstGeom>
          <a:solidFill>
            <a:srgbClr val="3762FF"/>
          </a:solidFill>
          <a:ln w="12700">
            <a:solidFill>
              <a:srgbClr val="3762FF"/>
            </a:solidFill>
            <a:prstDash val="solid"/>
          </a:ln>
        </p:spPr>
      </p:sp>
      <p:sp>
        <p:nvSpPr>
          <p:cNvPr id="26" name="Text 24"/>
          <p:cNvSpPr txBox="1"/>
          <p:nvPr/>
        </p:nvSpPr>
        <p:spPr>
          <a:xfrm>
            <a:off x="8065008" y="4727448"/>
            <a:ext cx="3376879" cy="320040"/>
          </a:xfrm>
          <a:prstGeom prst="rect">
            <a:avLst/>
          </a:prstGeom>
          <a:noFill/>
          <a:ln/>
        </p:spPr>
        <p:txBody>
          <a:bodyPr wrap="square" lIns="0" tIns="0" rIns="0" bIns="0" rtlCol="0" anchor="t"/>
          <a:lstStyle/>
          <a:p>
            <a:pPr marL="0" indent="0">
              <a:buNone/>
            </a:pPr>
            <a:r>
              <a:rPr lang="en-US" sz="1400" b="1" dirty="0">
                <a:solidFill>
                  <a:srgbClr val="FFFFFF"/>
                </a:solidFill>
                <a:latin typeface="Calibri" pitchFamily="34" charset="0"/>
                <a:ea typeface="Calibri" pitchFamily="34" charset="-122"/>
                <a:cs typeface="Calibri" pitchFamily="34" charset="-120"/>
              </a:rPr>
              <a:t>$__rate_interval</a:t>
            </a:r>
            <a:endParaRPr lang="en-US" sz="1400" dirty="0"/>
          </a:p>
        </p:txBody>
      </p:sp>
      <p:sp>
        <p:nvSpPr>
          <p:cNvPr id="27" name="Text 25"/>
          <p:cNvSpPr txBox="1"/>
          <p:nvPr/>
        </p:nvSpPr>
        <p:spPr>
          <a:xfrm>
            <a:off x="8065008" y="5111496"/>
            <a:ext cx="3376879" cy="539496"/>
          </a:xfrm>
          <a:prstGeom prst="rect">
            <a:avLst/>
          </a:prstGeom>
          <a:noFill/>
          <a:ln/>
        </p:spPr>
        <p:txBody>
          <a:bodyPr wrap="square" lIns="0" tIns="0" rIns="0" bIns="0" rtlCol="0" anchor="t"/>
          <a:lstStyle/>
          <a:p>
            <a:pPr marL="0" indent="0">
              <a:lnSpc>
                <a:spcPct val="115000"/>
              </a:lnSpc>
              <a:buNone/>
            </a:pPr>
            <a:r>
              <a:rPr lang="en-US" sz="1200" dirty="0">
                <a:solidFill>
                  <a:srgbClr val="FFFFFF"/>
                </a:solidFill>
                <a:latin typeface="Arial" pitchFamily="34" charset="0"/>
                <a:ea typeface="Arial" pitchFamily="34" charset="-122"/>
                <a:cs typeface="Arial" pitchFamily="34" charset="-120"/>
              </a:rPr>
              <a:t>Grafana väljer ett säkert fönster åt er.</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1F33"/>
        </a:solidFill>
        <a:effectLst/>
      </p:bgPr>
    </p:bg>
    <p:spTree>
      <p:nvGrpSpPr>
        <p:cNvPr id="1" name=""/>
        <p:cNvGrpSpPr/>
        <p:nvPr/>
      </p:nvGrpSpPr>
      <p:grpSpPr>
        <a:xfrm>
          <a:off x="0" y="0"/>
          <a:ext cx="0" cy="0"/>
          <a:chOff x="0" y="0"/>
          <a:chExt cx="0" cy="0"/>
        </a:xfrm>
      </p:grpSpPr>
      <p:sp>
        <p:nvSpPr>
          <p:cNvPr id="2" name="Text 0"/>
          <p:cNvSpPr txBox="1"/>
          <p:nvPr/>
        </p:nvSpPr>
        <p:spPr>
          <a:xfrm>
            <a:off x="502920" y="1188720"/>
            <a:ext cx="4572000" cy="1920240"/>
          </a:xfrm>
          <a:prstGeom prst="rect">
            <a:avLst/>
          </a:prstGeom>
          <a:noFill/>
          <a:ln/>
        </p:spPr>
        <p:txBody>
          <a:bodyPr wrap="square" lIns="0" tIns="0" rIns="0" bIns="0" rtlCol="0" anchor="ctr"/>
          <a:lstStyle/>
          <a:p>
            <a:pPr marL="0" indent="0">
              <a:buNone/>
            </a:pPr>
            <a:r>
              <a:rPr lang="en-US" sz="15000" b="1" dirty="0">
                <a:solidFill>
                  <a:srgbClr val="16294A"/>
                </a:solidFill>
                <a:latin typeface="Calibri" pitchFamily="34" charset="0"/>
                <a:ea typeface="Calibri" pitchFamily="34" charset="-122"/>
                <a:cs typeface="Calibri" pitchFamily="34" charset="-120"/>
              </a:rPr>
              <a:t>03</a:t>
            </a:r>
            <a:endParaRPr lang="en-US" sz="15000" dirty="0"/>
          </a:p>
        </p:txBody>
      </p:sp>
      <p:sp>
        <p:nvSpPr>
          <p:cNvPr id="3" name="Text 1"/>
          <p:cNvSpPr txBox="1"/>
          <p:nvPr/>
        </p:nvSpPr>
        <p:spPr>
          <a:xfrm>
            <a:off x="548640" y="3063240"/>
            <a:ext cx="11094415" cy="822960"/>
          </a:xfrm>
          <a:prstGeom prst="rect">
            <a:avLst/>
          </a:prstGeom>
          <a:noFill/>
          <a:ln/>
        </p:spPr>
        <p:txBody>
          <a:bodyPr wrap="square" lIns="0" tIns="0" rIns="0" bIns="0" rtlCol="0" anchor="ctr"/>
          <a:lstStyle/>
          <a:p>
            <a:pPr marL="0" indent="0">
              <a:buNone/>
            </a:pPr>
            <a:r>
              <a:rPr lang="en-US" sz="5200" b="1" dirty="0">
                <a:solidFill>
                  <a:srgbClr val="F5F7FA"/>
                </a:solidFill>
                <a:latin typeface="Calibri" pitchFamily="34" charset="0"/>
                <a:ea typeface="Calibri" pitchFamily="34" charset="-122"/>
                <a:cs typeface="Calibri" pitchFamily="34" charset="-120"/>
              </a:rPr>
              <a:t>Grafana Explore</a:t>
            </a:r>
            <a:endParaRPr lang="en-US" sz="5200" dirty="0"/>
          </a:p>
        </p:txBody>
      </p:sp>
      <p:sp>
        <p:nvSpPr>
          <p:cNvPr id="4" name="Text 2"/>
          <p:cNvSpPr txBox="1"/>
          <p:nvPr/>
        </p:nvSpPr>
        <p:spPr>
          <a:xfrm>
            <a:off x="548640" y="3977640"/>
            <a:ext cx="9144000" cy="457200"/>
          </a:xfrm>
          <a:prstGeom prst="rect">
            <a:avLst/>
          </a:prstGeom>
          <a:noFill/>
          <a:ln/>
        </p:spPr>
        <p:txBody>
          <a:bodyPr wrap="square" lIns="0" tIns="0" rIns="0" bIns="0" rtlCol="0" anchor="t"/>
          <a:lstStyle/>
          <a:p>
            <a:pPr marL="0" indent="0">
              <a:lnSpc>
                <a:spcPct val="120000"/>
              </a:lnSpc>
              <a:buNone/>
            </a:pPr>
            <a:r>
              <a:rPr lang="en-US" sz="1800" dirty="0">
                <a:solidFill>
                  <a:srgbClr val="B9C4D1"/>
                </a:solidFill>
                <a:latin typeface="Arial" pitchFamily="34" charset="0"/>
                <a:ea typeface="Arial" pitchFamily="34" charset="-122"/>
                <a:cs typeface="Arial" pitchFamily="34" charset="-120"/>
              </a:rPr>
              <a:t>Tre datakällor, tre frågespråk - och kopplingarna mellan dem</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7F4"/>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marL="0" indent="0">
              <a:buNone/>
            </a:pPr>
            <a:r>
              <a:rPr lang="en-US" sz="1200" b="1" kern="0" spc="200" dirty="0">
                <a:solidFill>
                  <a:srgbClr val="3762FF"/>
                </a:solidFill>
                <a:latin typeface="Arial" pitchFamily="34" charset="0"/>
                <a:ea typeface="Arial" pitchFamily="34" charset="-122"/>
                <a:cs typeface="Arial" pitchFamily="34" charset="-120"/>
              </a:rPr>
              <a:t>EXPLORE · TRE SPRÅK</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marL="0" indent="0">
              <a:buNone/>
            </a:pPr>
            <a:r>
              <a:rPr lang="en-US" sz="3000" b="1" dirty="0">
                <a:solidFill>
                  <a:srgbClr val="16202B"/>
                </a:solidFill>
                <a:latin typeface="Calibri" pitchFamily="34" charset="0"/>
                <a:ea typeface="Calibri" pitchFamily="34" charset="-122"/>
                <a:cs typeface="Calibri" pitchFamily="34" charset="-120"/>
              </a:rPr>
              <a:t>Explore → välj datakälla → skriv frågan</a:t>
            </a:r>
            <a:endParaRPr lang="en-US" sz="3000" dirty="0"/>
          </a:p>
        </p:txBody>
      </p:sp>
      <p:sp>
        <p:nvSpPr>
          <p:cNvPr id="4" name="Shape 2"/>
          <p:cNvSpPr/>
          <p:nvPr/>
        </p:nvSpPr>
        <p:spPr>
          <a:xfrm>
            <a:off x="548640" y="1554480"/>
            <a:ext cx="3515258" cy="685800"/>
          </a:xfrm>
          <a:prstGeom prst="roundRect">
            <a:avLst>
              <a:gd name="adj" fmla="val 8000"/>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5" name="Text 3"/>
          <p:cNvSpPr txBox="1"/>
          <p:nvPr/>
        </p:nvSpPr>
        <p:spPr>
          <a:xfrm>
            <a:off x="640080" y="1554480"/>
            <a:ext cx="3332378" cy="685800"/>
          </a:xfrm>
          <a:prstGeom prst="rect">
            <a:avLst/>
          </a:prstGeom>
          <a:noFill/>
          <a:ln/>
        </p:spPr>
        <p:txBody>
          <a:bodyPr wrap="square" lIns="0" tIns="0" rIns="0" bIns="0" rtlCol="0" anchor="ctr"/>
          <a:lstStyle/>
          <a:p>
            <a:pPr marL="0" indent="0" algn="ctr">
              <a:buNone/>
            </a:pPr>
            <a:r>
              <a:rPr lang="en-US" sz="1500" b="1" dirty="0">
                <a:solidFill>
                  <a:srgbClr val="16202B"/>
                </a:solidFill>
                <a:latin typeface="Calibri" pitchFamily="34" charset="0"/>
                <a:ea typeface="Calibri" pitchFamily="34" charset="-122"/>
                <a:cs typeface="Calibri" pitchFamily="34" charset="-120"/>
              </a:rPr>
              <a:t>PromQL  ·  Prometheus</a:t>
            </a:r>
            <a:endParaRPr lang="en-US" sz="1500" dirty="0"/>
          </a:p>
        </p:txBody>
      </p:sp>
      <p:sp>
        <p:nvSpPr>
          <p:cNvPr id="6" name="Shape 4"/>
          <p:cNvSpPr/>
          <p:nvPr/>
        </p:nvSpPr>
        <p:spPr>
          <a:xfrm>
            <a:off x="548640" y="2377440"/>
            <a:ext cx="3515258" cy="2103120"/>
          </a:xfrm>
          <a:prstGeom prst="roundRect">
            <a:avLst>
              <a:gd name="adj" fmla="val 2609"/>
            </a:avLst>
          </a:prstGeom>
          <a:solidFill>
            <a:srgbClr val="0F1F33"/>
          </a:solidFill>
          <a:ln w="12700">
            <a:solidFill>
              <a:srgbClr val="0F1F33"/>
            </a:solidFill>
            <a:prstDash val="solid"/>
          </a:ln>
          <a:effectLst>
            <a:outerShdw blurRad="101600" dist="25400" dir="5400000" algn="bl" rotWithShape="0">
              <a:srgbClr val="000000">
                <a:alpha val="10000"/>
              </a:srgbClr>
            </a:outerShdw>
          </a:effectLst>
        </p:spPr>
      </p:sp>
      <p:sp>
        <p:nvSpPr>
          <p:cNvPr id="7" name="Shape 5"/>
          <p:cNvSpPr/>
          <p:nvPr/>
        </p:nvSpPr>
        <p:spPr>
          <a:xfrm>
            <a:off x="749808" y="2542032"/>
            <a:ext cx="109728" cy="109728"/>
          </a:xfrm>
          <a:prstGeom prst="ellipse">
            <a:avLst/>
          </a:prstGeom>
          <a:solidFill>
            <a:srgbClr val="D64545"/>
          </a:solidFill>
          <a:ln w="12700">
            <a:solidFill>
              <a:srgbClr val="D64545"/>
            </a:solidFill>
            <a:prstDash val="solid"/>
          </a:ln>
        </p:spPr>
      </p:sp>
      <p:sp>
        <p:nvSpPr>
          <p:cNvPr id="8" name="Shape 6"/>
          <p:cNvSpPr/>
          <p:nvPr/>
        </p:nvSpPr>
        <p:spPr>
          <a:xfrm>
            <a:off x="932688" y="2542032"/>
            <a:ext cx="109728" cy="109728"/>
          </a:xfrm>
          <a:prstGeom prst="ellipse">
            <a:avLst/>
          </a:prstGeom>
          <a:solidFill>
            <a:srgbClr val="FFB020"/>
          </a:solidFill>
          <a:ln w="12700">
            <a:solidFill>
              <a:srgbClr val="FFB020"/>
            </a:solidFill>
            <a:prstDash val="solid"/>
          </a:ln>
        </p:spPr>
      </p:sp>
      <p:sp>
        <p:nvSpPr>
          <p:cNvPr id="9" name="Shape 7"/>
          <p:cNvSpPr/>
          <p:nvPr/>
        </p:nvSpPr>
        <p:spPr>
          <a:xfrm>
            <a:off x="1115568" y="2542032"/>
            <a:ext cx="109728" cy="109728"/>
          </a:xfrm>
          <a:prstGeom prst="ellipse">
            <a:avLst/>
          </a:prstGeom>
          <a:solidFill>
            <a:srgbClr val="3CB371"/>
          </a:solidFill>
          <a:ln w="12700">
            <a:solidFill>
              <a:srgbClr val="3CB371"/>
            </a:solidFill>
            <a:prstDash val="solid"/>
          </a:ln>
        </p:spPr>
      </p:sp>
      <p:sp>
        <p:nvSpPr>
          <p:cNvPr id="10" name="Text 8"/>
          <p:cNvSpPr txBox="1"/>
          <p:nvPr/>
        </p:nvSpPr>
        <p:spPr>
          <a:xfrm>
            <a:off x="777240" y="2834640"/>
            <a:ext cx="3058058" cy="1508760"/>
          </a:xfrm>
          <a:prstGeom prst="rect">
            <a:avLst/>
          </a:prstGeom>
          <a:noFill/>
          <a:ln/>
        </p:spPr>
        <p:txBody>
          <a:bodyPr wrap="square" lIns="0" tIns="0" rIns="0" bIns="0" rtlCol="0" anchor="t"/>
          <a:lstStyle/>
          <a:p>
            <a:pPr marL="0" indent="0">
              <a:lnSpc>
                <a:spcPct val="110000"/>
              </a:lnSpc>
              <a:buNone/>
            </a:pPr>
            <a:r>
              <a:rPr lang="en-US" sz="1150" dirty="0">
                <a:solidFill>
                  <a:srgbClr val="DDE3EA"/>
                </a:solidFill>
                <a:latin typeface="Courier New" pitchFamily="34" charset="0"/>
                <a:ea typeface="Courier New" pitchFamily="34" charset="-122"/>
                <a:cs typeface="Courier New" pitchFamily="34" charset="-120"/>
              </a:rPr>
              <a:t>histogram_quantile(0.95,</a:t>
            </a:r>
            <a:endParaRPr lang="en-US" sz="1150" dirty="0"/>
          </a:p>
          <a:p>
            <a:pPr marL="0" indent="0">
              <a:lnSpc>
                <a:spcPct val="110000"/>
              </a:lnSpc>
              <a:buNone/>
            </a:pPr>
            <a:r>
              <a:rPr lang="en-US" sz="1150" dirty="0">
                <a:solidFill>
                  <a:srgbClr val="DDE3EA"/>
                </a:solidFill>
                <a:latin typeface="Courier New" pitchFamily="34" charset="0"/>
                <a:ea typeface="Courier New" pitchFamily="34" charset="-122"/>
                <a:cs typeface="Courier New" pitchFamily="34" charset="-120"/>
              </a:rPr>
              <a:t>  sum by (le, http_route) (</a:t>
            </a:r>
            <a:endParaRPr lang="en-US" sz="1150" dirty="0"/>
          </a:p>
          <a:p>
            <a:pPr marL="0" indent="0">
              <a:lnSpc>
                <a:spcPct val="110000"/>
              </a:lnSpc>
              <a:buNone/>
            </a:pPr>
            <a:r>
              <a:rPr lang="en-US" sz="1150" dirty="0">
                <a:solidFill>
                  <a:srgbClr val="DDE3EA"/>
                </a:solidFill>
                <a:latin typeface="Courier New" pitchFamily="34" charset="0"/>
                <a:ea typeface="Courier New" pitchFamily="34" charset="-122"/>
                <a:cs typeface="Courier New" pitchFamily="34" charset="-120"/>
              </a:rPr>
              <a:t>  rate(otel_http_server_request_</a:t>
            </a:r>
            <a:endParaRPr lang="en-US" sz="1150" dirty="0"/>
          </a:p>
          <a:p>
            <a:pPr marL="0" indent="0">
              <a:lnSpc>
                <a:spcPct val="110000"/>
              </a:lnSpc>
              <a:buNone/>
            </a:pPr>
            <a:r>
              <a:rPr lang="en-US" sz="1150" dirty="0">
                <a:solidFill>
                  <a:srgbClr val="DDE3EA"/>
                </a:solidFill>
                <a:latin typeface="Courier New" pitchFamily="34" charset="0"/>
                <a:ea typeface="Courier New" pitchFamily="34" charset="-122"/>
                <a:cs typeface="Courier New" pitchFamily="34" charset="-120"/>
              </a:rPr>
              <a:t>  duration_seconds_bucket[5m])))</a:t>
            </a:r>
            <a:endParaRPr lang="en-US" sz="1150" dirty="0"/>
          </a:p>
        </p:txBody>
      </p:sp>
      <p:sp>
        <p:nvSpPr>
          <p:cNvPr id="11" name="Shape 9"/>
          <p:cNvSpPr/>
          <p:nvPr/>
        </p:nvSpPr>
        <p:spPr>
          <a:xfrm>
            <a:off x="4338218" y="1554480"/>
            <a:ext cx="3515258" cy="685800"/>
          </a:xfrm>
          <a:prstGeom prst="roundRect">
            <a:avLst>
              <a:gd name="adj" fmla="val 8000"/>
            </a:avLst>
          </a:prstGeom>
          <a:solidFill>
            <a:srgbClr val="3762FF"/>
          </a:solidFill>
          <a:ln w="12700">
            <a:solidFill>
              <a:srgbClr val="3762FF"/>
            </a:solidFill>
            <a:prstDash val="solid"/>
          </a:ln>
          <a:effectLst>
            <a:outerShdw blurRad="101600" dist="25400" dir="5400000" algn="bl" rotWithShape="0">
              <a:srgbClr val="000000">
                <a:alpha val="10000"/>
              </a:srgbClr>
            </a:outerShdw>
          </a:effectLst>
        </p:spPr>
      </p:sp>
      <p:sp>
        <p:nvSpPr>
          <p:cNvPr id="12" name="Text 10"/>
          <p:cNvSpPr txBox="1"/>
          <p:nvPr/>
        </p:nvSpPr>
        <p:spPr>
          <a:xfrm>
            <a:off x="4429658" y="1554480"/>
            <a:ext cx="3332378" cy="6858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LogQL  ·  Loki</a:t>
            </a:r>
            <a:endParaRPr lang="en-US" sz="1500" dirty="0"/>
          </a:p>
        </p:txBody>
      </p:sp>
      <p:sp>
        <p:nvSpPr>
          <p:cNvPr id="13" name="Shape 11"/>
          <p:cNvSpPr/>
          <p:nvPr/>
        </p:nvSpPr>
        <p:spPr>
          <a:xfrm>
            <a:off x="4338218" y="2377440"/>
            <a:ext cx="3515258" cy="2103120"/>
          </a:xfrm>
          <a:prstGeom prst="roundRect">
            <a:avLst>
              <a:gd name="adj" fmla="val 2609"/>
            </a:avLst>
          </a:prstGeom>
          <a:solidFill>
            <a:srgbClr val="0F1F33"/>
          </a:solidFill>
          <a:ln w="12700">
            <a:solidFill>
              <a:srgbClr val="0F1F33"/>
            </a:solidFill>
            <a:prstDash val="solid"/>
          </a:ln>
          <a:effectLst>
            <a:outerShdw blurRad="101600" dist="25400" dir="5400000" algn="bl" rotWithShape="0">
              <a:srgbClr val="000000">
                <a:alpha val="10000"/>
              </a:srgbClr>
            </a:outerShdw>
          </a:effectLst>
        </p:spPr>
      </p:sp>
      <p:sp>
        <p:nvSpPr>
          <p:cNvPr id="14" name="Shape 12"/>
          <p:cNvSpPr/>
          <p:nvPr/>
        </p:nvSpPr>
        <p:spPr>
          <a:xfrm>
            <a:off x="4539386" y="2542032"/>
            <a:ext cx="109728" cy="109728"/>
          </a:xfrm>
          <a:prstGeom prst="ellipse">
            <a:avLst/>
          </a:prstGeom>
          <a:solidFill>
            <a:srgbClr val="D64545"/>
          </a:solidFill>
          <a:ln w="12700">
            <a:solidFill>
              <a:srgbClr val="D64545"/>
            </a:solidFill>
            <a:prstDash val="solid"/>
          </a:ln>
        </p:spPr>
      </p:sp>
      <p:sp>
        <p:nvSpPr>
          <p:cNvPr id="15" name="Shape 13"/>
          <p:cNvSpPr/>
          <p:nvPr/>
        </p:nvSpPr>
        <p:spPr>
          <a:xfrm>
            <a:off x="4722266" y="2542032"/>
            <a:ext cx="109728" cy="109728"/>
          </a:xfrm>
          <a:prstGeom prst="ellipse">
            <a:avLst/>
          </a:prstGeom>
          <a:solidFill>
            <a:srgbClr val="FFB020"/>
          </a:solidFill>
          <a:ln w="12700">
            <a:solidFill>
              <a:srgbClr val="FFB020"/>
            </a:solidFill>
            <a:prstDash val="solid"/>
          </a:ln>
        </p:spPr>
      </p:sp>
      <p:sp>
        <p:nvSpPr>
          <p:cNvPr id="16" name="Shape 14"/>
          <p:cNvSpPr/>
          <p:nvPr/>
        </p:nvSpPr>
        <p:spPr>
          <a:xfrm>
            <a:off x="4905146" y="2542032"/>
            <a:ext cx="109728" cy="109728"/>
          </a:xfrm>
          <a:prstGeom prst="ellipse">
            <a:avLst/>
          </a:prstGeom>
          <a:solidFill>
            <a:srgbClr val="3CB371"/>
          </a:solidFill>
          <a:ln w="12700">
            <a:solidFill>
              <a:srgbClr val="3CB371"/>
            </a:solidFill>
            <a:prstDash val="solid"/>
          </a:ln>
        </p:spPr>
      </p:sp>
      <p:sp>
        <p:nvSpPr>
          <p:cNvPr id="17" name="Text 15"/>
          <p:cNvSpPr txBox="1"/>
          <p:nvPr/>
        </p:nvSpPr>
        <p:spPr>
          <a:xfrm>
            <a:off x="4566818" y="2834640"/>
            <a:ext cx="3058058" cy="1508760"/>
          </a:xfrm>
          <a:prstGeom prst="rect">
            <a:avLst/>
          </a:prstGeom>
          <a:noFill/>
          <a:ln/>
        </p:spPr>
        <p:txBody>
          <a:bodyPr wrap="square" lIns="0" tIns="0" rIns="0" bIns="0" rtlCol="0" anchor="t"/>
          <a:lstStyle/>
          <a:p>
            <a:pPr marL="0" indent="0">
              <a:lnSpc>
                <a:spcPct val="110000"/>
              </a:lnSpc>
              <a:buNone/>
            </a:pPr>
            <a:r>
              <a:rPr lang="en-US" sz="1150" dirty="0">
                <a:solidFill>
                  <a:srgbClr val="DDE3EA"/>
                </a:solidFill>
                <a:latin typeface="Courier New" pitchFamily="34" charset="0"/>
                <a:ea typeface="Courier New" pitchFamily="34" charset="-122"/>
                <a:cs typeface="Courier New" pitchFamily="34" charset="-120"/>
              </a:rPr>
              <a:t>{service_name="telemetry-api"}</a:t>
            </a:r>
            <a:endParaRPr lang="en-US" sz="1150" dirty="0"/>
          </a:p>
          <a:p>
            <a:pPr marL="0" indent="0">
              <a:lnSpc>
                <a:spcPct val="110000"/>
              </a:lnSpc>
              <a:buNone/>
            </a:pPr>
            <a:r>
              <a:rPr lang="en-US" sz="1150" dirty="0">
                <a:solidFill>
                  <a:srgbClr val="DDE3EA"/>
                </a:solidFill>
                <a:latin typeface="Courier New" pitchFamily="34" charset="0"/>
                <a:ea typeface="Courier New" pitchFamily="34" charset="-122"/>
                <a:cs typeface="Courier New" pitchFamily="34" charset="-120"/>
              </a:rPr>
              <a:t>  |= "Kund"</a:t>
            </a:r>
            <a:endParaRPr lang="en-US" sz="1150" dirty="0"/>
          </a:p>
          <a:p>
            <a:pPr marL="0" indent="0">
              <a:lnSpc>
                <a:spcPct val="110000"/>
              </a:lnSpc>
              <a:buNone/>
            </a:pPr>
            <a:r>
              <a:rPr lang="en-US" sz="1150" dirty="0">
                <a:solidFill>
                  <a:srgbClr val="DDE3EA"/>
                </a:solidFill>
                <a:latin typeface="Courier New" pitchFamily="34" charset="0"/>
                <a:ea typeface="Courier New" pitchFamily="34" charset="-122"/>
                <a:cs typeface="Courier New" pitchFamily="34" charset="-120"/>
              </a:rPr>
              <a:t>  | detected_level=~"(?i)error"</a:t>
            </a:r>
            <a:endParaRPr lang="en-US" sz="1150" dirty="0"/>
          </a:p>
        </p:txBody>
      </p:sp>
      <p:sp>
        <p:nvSpPr>
          <p:cNvPr id="18" name="Shape 16"/>
          <p:cNvSpPr/>
          <p:nvPr/>
        </p:nvSpPr>
        <p:spPr>
          <a:xfrm>
            <a:off x="8127797" y="1554480"/>
            <a:ext cx="3515258" cy="685800"/>
          </a:xfrm>
          <a:prstGeom prst="roundRect">
            <a:avLst>
              <a:gd name="adj" fmla="val 8000"/>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19" name="Text 17"/>
          <p:cNvSpPr txBox="1"/>
          <p:nvPr/>
        </p:nvSpPr>
        <p:spPr>
          <a:xfrm>
            <a:off x="8219237" y="1554480"/>
            <a:ext cx="3332378" cy="685800"/>
          </a:xfrm>
          <a:prstGeom prst="rect">
            <a:avLst/>
          </a:prstGeom>
          <a:noFill/>
          <a:ln/>
        </p:spPr>
        <p:txBody>
          <a:bodyPr wrap="square" lIns="0" tIns="0" rIns="0" bIns="0" rtlCol="0" anchor="ctr"/>
          <a:lstStyle/>
          <a:p>
            <a:pPr marL="0" indent="0" algn="ctr">
              <a:buNone/>
            </a:pPr>
            <a:r>
              <a:rPr lang="en-US" sz="1500" b="1" dirty="0">
                <a:solidFill>
                  <a:srgbClr val="16202B"/>
                </a:solidFill>
                <a:latin typeface="Calibri" pitchFamily="34" charset="0"/>
                <a:ea typeface="Calibri" pitchFamily="34" charset="-122"/>
                <a:cs typeface="Calibri" pitchFamily="34" charset="-120"/>
              </a:rPr>
              <a:t>TraceQL  ·  Tempo</a:t>
            </a:r>
            <a:endParaRPr lang="en-US" sz="1500" dirty="0"/>
          </a:p>
        </p:txBody>
      </p:sp>
      <p:sp>
        <p:nvSpPr>
          <p:cNvPr id="20" name="Shape 18"/>
          <p:cNvSpPr/>
          <p:nvPr/>
        </p:nvSpPr>
        <p:spPr>
          <a:xfrm>
            <a:off x="8127797" y="2377440"/>
            <a:ext cx="3515258" cy="2103120"/>
          </a:xfrm>
          <a:prstGeom prst="roundRect">
            <a:avLst>
              <a:gd name="adj" fmla="val 2609"/>
            </a:avLst>
          </a:prstGeom>
          <a:solidFill>
            <a:srgbClr val="0F1F33"/>
          </a:solidFill>
          <a:ln w="12700">
            <a:solidFill>
              <a:srgbClr val="0F1F33"/>
            </a:solidFill>
            <a:prstDash val="solid"/>
          </a:ln>
          <a:effectLst>
            <a:outerShdw blurRad="101600" dist="25400" dir="5400000" algn="bl" rotWithShape="0">
              <a:srgbClr val="000000">
                <a:alpha val="10000"/>
              </a:srgbClr>
            </a:outerShdw>
          </a:effectLst>
        </p:spPr>
      </p:sp>
      <p:sp>
        <p:nvSpPr>
          <p:cNvPr id="21" name="Shape 19"/>
          <p:cNvSpPr/>
          <p:nvPr/>
        </p:nvSpPr>
        <p:spPr>
          <a:xfrm>
            <a:off x="8328965" y="2542032"/>
            <a:ext cx="109728" cy="109728"/>
          </a:xfrm>
          <a:prstGeom prst="ellipse">
            <a:avLst/>
          </a:prstGeom>
          <a:solidFill>
            <a:srgbClr val="D64545"/>
          </a:solidFill>
          <a:ln w="12700">
            <a:solidFill>
              <a:srgbClr val="D64545"/>
            </a:solidFill>
            <a:prstDash val="solid"/>
          </a:ln>
        </p:spPr>
      </p:sp>
      <p:sp>
        <p:nvSpPr>
          <p:cNvPr id="22" name="Shape 20"/>
          <p:cNvSpPr/>
          <p:nvPr/>
        </p:nvSpPr>
        <p:spPr>
          <a:xfrm>
            <a:off x="8511845" y="2542032"/>
            <a:ext cx="109728" cy="109728"/>
          </a:xfrm>
          <a:prstGeom prst="ellipse">
            <a:avLst/>
          </a:prstGeom>
          <a:solidFill>
            <a:srgbClr val="FFB020"/>
          </a:solidFill>
          <a:ln w="12700">
            <a:solidFill>
              <a:srgbClr val="FFB020"/>
            </a:solidFill>
            <a:prstDash val="solid"/>
          </a:ln>
        </p:spPr>
      </p:sp>
      <p:sp>
        <p:nvSpPr>
          <p:cNvPr id="23" name="Shape 21"/>
          <p:cNvSpPr/>
          <p:nvPr/>
        </p:nvSpPr>
        <p:spPr>
          <a:xfrm>
            <a:off x="8694725" y="2542032"/>
            <a:ext cx="109728" cy="109728"/>
          </a:xfrm>
          <a:prstGeom prst="ellipse">
            <a:avLst/>
          </a:prstGeom>
          <a:solidFill>
            <a:srgbClr val="3CB371"/>
          </a:solidFill>
          <a:ln w="12700">
            <a:solidFill>
              <a:srgbClr val="3CB371"/>
            </a:solidFill>
            <a:prstDash val="solid"/>
          </a:ln>
        </p:spPr>
      </p:sp>
      <p:sp>
        <p:nvSpPr>
          <p:cNvPr id="24" name="Text 22"/>
          <p:cNvSpPr txBox="1"/>
          <p:nvPr/>
        </p:nvSpPr>
        <p:spPr>
          <a:xfrm>
            <a:off x="8356397" y="2834640"/>
            <a:ext cx="3058058" cy="1508760"/>
          </a:xfrm>
          <a:prstGeom prst="rect">
            <a:avLst/>
          </a:prstGeom>
          <a:noFill/>
          <a:ln/>
        </p:spPr>
        <p:txBody>
          <a:bodyPr wrap="square" lIns="0" tIns="0" rIns="0" bIns="0" rtlCol="0" anchor="t"/>
          <a:lstStyle/>
          <a:p>
            <a:pPr marL="0" indent="0">
              <a:lnSpc>
                <a:spcPct val="110000"/>
              </a:lnSpc>
              <a:buNone/>
            </a:pPr>
            <a:r>
              <a:rPr lang="en-US" sz="1150" dirty="0">
                <a:solidFill>
                  <a:srgbClr val="DDE3EA"/>
                </a:solidFill>
                <a:latin typeface="Courier New" pitchFamily="34" charset="0"/>
                <a:ea typeface="Courier New" pitchFamily="34" charset="-122"/>
                <a:cs typeface="Courier New" pitchFamily="34" charset="-120"/>
              </a:rPr>
              <a:t>{ resource.service.name =</a:t>
            </a:r>
            <a:endParaRPr lang="en-US" sz="1150" dirty="0"/>
          </a:p>
          <a:p>
            <a:pPr marL="0" indent="0">
              <a:lnSpc>
                <a:spcPct val="110000"/>
              </a:lnSpc>
              <a:buNone/>
            </a:pPr>
            <a:r>
              <a:rPr lang="en-US" sz="1150" dirty="0">
                <a:solidFill>
                  <a:srgbClr val="DDE3EA"/>
                </a:solidFill>
                <a:latin typeface="Courier New" pitchFamily="34" charset="0"/>
                <a:ea typeface="Courier New" pitchFamily="34" charset="-122"/>
                <a:cs typeface="Courier New" pitchFamily="34" charset="-120"/>
              </a:rPr>
              <a:t>  "telemetry-api"</a:t>
            </a:r>
            <a:endParaRPr lang="en-US" sz="1150" dirty="0"/>
          </a:p>
          <a:p>
            <a:pPr marL="0" indent="0">
              <a:lnSpc>
                <a:spcPct val="110000"/>
              </a:lnSpc>
              <a:buNone/>
            </a:pPr>
            <a:r>
              <a:rPr lang="en-US" sz="1150" dirty="0">
                <a:solidFill>
                  <a:srgbClr val="DDE3EA"/>
                </a:solidFill>
                <a:latin typeface="Courier New" pitchFamily="34" charset="0"/>
                <a:ea typeface="Courier New" pitchFamily="34" charset="-122"/>
                <a:cs typeface="Courier New" pitchFamily="34" charset="-120"/>
              </a:rPr>
              <a:t>  &amp;&amp; duration &gt; 500ms }</a:t>
            </a:r>
            <a:endParaRPr lang="en-US" sz="1150" dirty="0"/>
          </a:p>
        </p:txBody>
      </p:sp>
      <p:sp>
        <p:nvSpPr>
          <p:cNvPr id="25" name="Shape 23"/>
          <p:cNvSpPr/>
          <p:nvPr/>
        </p:nvSpPr>
        <p:spPr>
          <a:xfrm>
            <a:off x="548640" y="4709160"/>
            <a:ext cx="3515258" cy="1143000"/>
          </a:xfrm>
          <a:prstGeom prst="roundRect">
            <a:avLst>
              <a:gd name="adj" fmla="val 4800"/>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26" name="Text 24"/>
          <p:cNvSpPr txBox="1"/>
          <p:nvPr/>
        </p:nvSpPr>
        <p:spPr>
          <a:xfrm>
            <a:off x="749808" y="4910328"/>
            <a:ext cx="3112922" cy="320040"/>
          </a:xfrm>
          <a:prstGeom prst="rect">
            <a:avLst/>
          </a:prstGeom>
          <a:noFill/>
          <a:ln/>
        </p:spPr>
        <p:txBody>
          <a:bodyPr wrap="square" lIns="0" tIns="0" rIns="0" bIns="0" rtlCol="0" anchor="t"/>
          <a:lstStyle/>
          <a:p>
            <a:pPr marL="0" indent="0">
              <a:buNone/>
            </a:pPr>
            <a:r>
              <a:rPr lang="en-US" sz="1400" b="1" dirty="0">
                <a:solidFill>
                  <a:srgbClr val="16202B"/>
                </a:solidFill>
                <a:latin typeface="Calibri" pitchFamily="34" charset="0"/>
                <a:ea typeface="Calibri" pitchFamily="34" charset="-122"/>
                <a:cs typeface="Calibri" pitchFamily="34" charset="-120"/>
              </a:rPr>
              <a:t>Builder / Code</a:t>
            </a:r>
            <a:endParaRPr lang="en-US" sz="1400" dirty="0"/>
          </a:p>
        </p:txBody>
      </p:sp>
      <p:sp>
        <p:nvSpPr>
          <p:cNvPr id="27" name="Text 25"/>
          <p:cNvSpPr txBox="1"/>
          <p:nvPr/>
        </p:nvSpPr>
        <p:spPr>
          <a:xfrm>
            <a:off x="749808" y="5294376"/>
            <a:ext cx="3112922" cy="402336"/>
          </a:xfrm>
          <a:prstGeom prst="rect">
            <a:avLst/>
          </a:prstGeom>
          <a:noFill/>
          <a:ln/>
        </p:spPr>
        <p:txBody>
          <a:bodyPr wrap="square" lIns="0" tIns="0" rIns="0" bIns="0" rtlCol="0" anchor="t"/>
          <a:lstStyle/>
          <a:p>
            <a:pPr marL="0" indent="0">
              <a:lnSpc>
                <a:spcPct val="115000"/>
              </a:lnSpc>
              <a:buNone/>
            </a:pPr>
            <a:r>
              <a:rPr lang="en-US" sz="1200" dirty="0">
                <a:solidFill>
                  <a:srgbClr val="4A5568"/>
                </a:solidFill>
                <a:latin typeface="Arial" pitchFamily="34" charset="0"/>
                <a:ea typeface="Arial" pitchFamily="34" charset="-122"/>
                <a:cs typeface="Arial" pitchFamily="34" charset="-120"/>
              </a:rPr>
              <a:t>Builder klickar ihop frågan - Code visar texten. Växla fritt.</a:t>
            </a:r>
            <a:endParaRPr lang="en-US" sz="1200" dirty="0"/>
          </a:p>
        </p:txBody>
      </p:sp>
      <p:sp>
        <p:nvSpPr>
          <p:cNvPr id="28" name="Shape 26"/>
          <p:cNvSpPr/>
          <p:nvPr/>
        </p:nvSpPr>
        <p:spPr>
          <a:xfrm>
            <a:off x="4338218" y="4709160"/>
            <a:ext cx="3515258" cy="1143000"/>
          </a:xfrm>
          <a:prstGeom prst="roundRect">
            <a:avLst>
              <a:gd name="adj" fmla="val 4800"/>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29" name="Text 27"/>
          <p:cNvSpPr txBox="1"/>
          <p:nvPr/>
        </p:nvSpPr>
        <p:spPr>
          <a:xfrm>
            <a:off x="4539386" y="4910328"/>
            <a:ext cx="3112922" cy="320040"/>
          </a:xfrm>
          <a:prstGeom prst="rect">
            <a:avLst/>
          </a:prstGeom>
          <a:noFill/>
          <a:ln/>
        </p:spPr>
        <p:txBody>
          <a:bodyPr wrap="square" lIns="0" tIns="0" rIns="0" bIns="0" rtlCol="0" anchor="t"/>
          <a:lstStyle/>
          <a:p>
            <a:pPr marL="0" indent="0">
              <a:buNone/>
            </a:pPr>
            <a:r>
              <a:rPr lang="en-US" sz="1400" b="1" dirty="0">
                <a:solidFill>
                  <a:srgbClr val="16202B"/>
                </a:solidFill>
                <a:latin typeface="Calibri" pitchFamily="34" charset="0"/>
                <a:ea typeface="Calibri" pitchFamily="34" charset="-122"/>
                <a:cs typeface="Calibri" pitchFamily="34" charset="-120"/>
              </a:rPr>
              <a:t>Split</a:t>
            </a:r>
            <a:endParaRPr lang="en-US" sz="1400" dirty="0"/>
          </a:p>
        </p:txBody>
      </p:sp>
      <p:sp>
        <p:nvSpPr>
          <p:cNvPr id="30" name="Text 28"/>
          <p:cNvSpPr txBox="1"/>
          <p:nvPr/>
        </p:nvSpPr>
        <p:spPr>
          <a:xfrm>
            <a:off x="4539386" y="5294376"/>
            <a:ext cx="3112922" cy="402336"/>
          </a:xfrm>
          <a:prstGeom prst="rect">
            <a:avLst/>
          </a:prstGeom>
          <a:noFill/>
          <a:ln/>
        </p:spPr>
        <p:txBody>
          <a:bodyPr wrap="square" lIns="0" tIns="0" rIns="0" bIns="0" rtlCol="0" anchor="t"/>
          <a:lstStyle/>
          <a:p>
            <a:pPr marL="0" indent="0">
              <a:lnSpc>
                <a:spcPct val="115000"/>
              </a:lnSpc>
              <a:buNone/>
            </a:pPr>
            <a:r>
              <a:rPr lang="en-US" sz="1200" dirty="0">
                <a:solidFill>
                  <a:srgbClr val="4A5568"/>
                </a:solidFill>
                <a:latin typeface="Arial" pitchFamily="34" charset="0"/>
                <a:ea typeface="Arial" pitchFamily="34" charset="-122"/>
                <a:cs typeface="Arial" pitchFamily="34" charset="-120"/>
              </a:rPr>
              <a:t>Två frågor sida vid sida - t.ex. metrics och loggar för samma tid.</a:t>
            </a:r>
            <a:endParaRPr lang="en-US" sz="1200" dirty="0"/>
          </a:p>
        </p:txBody>
      </p:sp>
      <p:sp>
        <p:nvSpPr>
          <p:cNvPr id="31" name="Shape 29"/>
          <p:cNvSpPr/>
          <p:nvPr/>
        </p:nvSpPr>
        <p:spPr>
          <a:xfrm>
            <a:off x="8127797" y="4709160"/>
            <a:ext cx="3515258" cy="1143000"/>
          </a:xfrm>
          <a:prstGeom prst="roundRect">
            <a:avLst>
              <a:gd name="adj" fmla="val 4800"/>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32" name="Text 30"/>
          <p:cNvSpPr txBox="1"/>
          <p:nvPr/>
        </p:nvSpPr>
        <p:spPr>
          <a:xfrm>
            <a:off x="8328965" y="4910328"/>
            <a:ext cx="3112922" cy="320040"/>
          </a:xfrm>
          <a:prstGeom prst="rect">
            <a:avLst/>
          </a:prstGeom>
          <a:noFill/>
          <a:ln/>
        </p:spPr>
        <p:txBody>
          <a:bodyPr wrap="square" lIns="0" tIns="0" rIns="0" bIns="0" rtlCol="0" anchor="t"/>
          <a:lstStyle/>
          <a:p>
            <a:pPr marL="0" indent="0">
              <a:buNone/>
            </a:pPr>
            <a:r>
              <a:rPr lang="en-US" sz="1400" b="1" dirty="0">
                <a:solidFill>
                  <a:srgbClr val="16202B"/>
                </a:solidFill>
                <a:latin typeface="Calibri" pitchFamily="34" charset="0"/>
                <a:ea typeface="Calibri" pitchFamily="34" charset="-122"/>
                <a:cs typeface="Calibri" pitchFamily="34" charset="-120"/>
              </a:rPr>
              <a:t>Query inspector</a:t>
            </a:r>
            <a:endParaRPr lang="en-US" sz="1400" dirty="0"/>
          </a:p>
        </p:txBody>
      </p:sp>
      <p:sp>
        <p:nvSpPr>
          <p:cNvPr id="33" name="Text 31"/>
          <p:cNvSpPr txBox="1"/>
          <p:nvPr/>
        </p:nvSpPr>
        <p:spPr>
          <a:xfrm>
            <a:off x="8328965" y="5294376"/>
            <a:ext cx="3112922" cy="402336"/>
          </a:xfrm>
          <a:prstGeom prst="rect">
            <a:avLst/>
          </a:prstGeom>
          <a:noFill/>
          <a:ln/>
        </p:spPr>
        <p:txBody>
          <a:bodyPr wrap="square" lIns="0" tIns="0" rIns="0" bIns="0" rtlCol="0" anchor="t"/>
          <a:lstStyle/>
          <a:p>
            <a:pPr marL="0" indent="0">
              <a:lnSpc>
                <a:spcPct val="115000"/>
              </a:lnSpc>
              <a:buNone/>
            </a:pPr>
            <a:r>
              <a:rPr lang="en-US" sz="1200" dirty="0">
                <a:solidFill>
                  <a:srgbClr val="4A5568"/>
                </a:solidFill>
                <a:latin typeface="Arial" pitchFamily="34" charset="0"/>
                <a:ea typeface="Arial" pitchFamily="34" charset="-122"/>
                <a:cs typeface="Arial" pitchFamily="34" charset="-120"/>
              </a:rPr>
              <a:t>Se exakt vad Grafana skickade till datakällan.</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7F4"/>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marL="0" indent="0">
              <a:buNone/>
            </a:pPr>
            <a:r>
              <a:rPr lang="en-US" sz="1200" b="1" kern="0" spc="200" dirty="0">
                <a:solidFill>
                  <a:srgbClr val="3762FF"/>
                </a:solidFill>
                <a:latin typeface="Arial" pitchFamily="34" charset="0"/>
                <a:ea typeface="Arial" pitchFamily="34" charset="-122"/>
                <a:cs typeface="Arial" pitchFamily="34" charset="-120"/>
              </a:rPr>
              <a:t>EXPLORE · LOGQL</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marL="0" indent="0">
              <a:buNone/>
            </a:pPr>
            <a:r>
              <a:rPr lang="en-US" sz="3000" b="1" dirty="0">
                <a:solidFill>
                  <a:srgbClr val="16202B"/>
                </a:solidFill>
                <a:latin typeface="Calibri" pitchFamily="34" charset="0"/>
                <a:ea typeface="Calibri" pitchFamily="34" charset="-122"/>
                <a:cs typeface="Calibri" pitchFamily="34" charset="-120"/>
              </a:rPr>
              <a:t>LogQL - selector, filter, och siffror ur loggar</a:t>
            </a:r>
            <a:endParaRPr lang="en-US" sz="3000" dirty="0"/>
          </a:p>
        </p:txBody>
      </p:sp>
      <p:sp>
        <p:nvSpPr>
          <p:cNvPr id="4" name="Shape 2"/>
          <p:cNvSpPr/>
          <p:nvPr/>
        </p:nvSpPr>
        <p:spPr>
          <a:xfrm>
            <a:off x="548640" y="1554480"/>
            <a:ext cx="7223760" cy="4297680"/>
          </a:xfrm>
          <a:prstGeom prst="roundRect">
            <a:avLst>
              <a:gd name="adj" fmla="val 1277"/>
            </a:avLst>
          </a:prstGeom>
          <a:solidFill>
            <a:srgbClr val="0F1F33"/>
          </a:solidFill>
          <a:ln w="12700">
            <a:solidFill>
              <a:srgbClr val="0F1F33"/>
            </a:solidFill>
            <a:prstDash val="solid"/>
          </a:ln>
          <a:effectLst>
            <a:outerShdw blurRad="101600" dist="25400" dir="5400000" algn="bl" rotWithShape="0">
              <a:srgbClr val="000000">
                <a:alpha val="10000"/>
              </a:srgbClr>
            </a:outerShdw>
          </a:effectLst>
        </p:spPr>
      </p:sp>
      <p:sp>
        <p:nvSpPr>
          <p:cNvPr id="5" name="Shape 3"/>
          <p:cNvSpPr/>
          <p:nvPr/>
        </p:nvSpPr>
        <p:spPr>
          <a:xfrm>
            <a:off x="749808" y="1719072"/>
            <a:ext cx="109728" cy="109728"/>
          </a:xfrm>
          <a:prstGeom prst="ellipse">
            <a:avLst/>
          </a:prstGeom>
          <a:solidFill>
            <a:srgbClr val="D64545"/>
          </a:solidFill>
          <a:ln w="12700">
            <a:solidFill>
              <a:srgbClr val="D64545"/>
            </a:solidFill>
            <a:prstDash val="solid"/>
          </a:ln>
        </p:spPr>
      </p:sp>
      <p:sp>
        <p:nvSpPr>
          <p:cNvPr id="6" name="Shape 4"/>
          <p:cNvSpPr/>
          <p:nvPr/>
        </p:nvSpPr>
        <p:spPr>
          <a:xfrm>
            <a:off x="932688" y="1719072"/>
            <a:ext cx="109728" cy="109728"/>
          </a:xfrm>
          <a:prstGeom prst="ellipse">
            <a:avLst/>
          </a:prstGeom>
          <a:solidFill>
            <a:srgbClr val="FFB020"/>
          </a:solidFill>
          <a:ln w="12700">
            <a:solidFill>
              <a:srgbClr val="FFB020"/>
            </a:solidFill>
            <a:prstDash val="solid"/>
          </a:ln>
        </p:spPr>
      </p:sp>
      <p:sp>
        <p:nvSpPr>
          <p:cNvPr id="7" name="Shape 5"/>
          <p:cNvSpPr/>
          <p:nvPr/>
        </p:nvSpPr>
        <p:spPr>
          <a:xfrm>
            <a:off x="1115568" y="1719072"/>
            <a:ext cx="109728" cy="109728"/>
          </a:xfrm>
          <a:prstGeom prst="ellipse">
            <a:avLst/>
          </a:prstGeom>
          <a:solidFill>
            <a:srgbClr val="3CB371"/>
          </a:solidFill>
          <a:ln w="12700">
            <a:solidFill>
              <a:srgbClr val="3CB371"/>
            </a:solidFill>
            <a:prstDash val="solid"/>
          </a:ln>
        </p:spPr>
      </p:sp>
      <p:sp>
        <p:nvSpPr>
          <p:cNvPr id="8" name="Text 6"/>
          <p:cNvSpPr txBox="1"/>
          <p:nvPr/>
        </p:nvSpPr>
        <p:spPr>
          <a:xfrm>
            <a:off x="1371600" y="1645920"/>
            <a:ext cx="6217920" cy="256032"/>
          </a:xfrm>
          <a:prstGeom prst="rect">
            <a:avLst/>
          </a:prstGeom>
          <a:noFill/>
          <a:ln/>
        </p:spPr>
        <p:txBody>
          <a:bodyPr wrap="square" lIns="0" tIns="0" rIns="0" bIns="0" rtlCol="0" anchor="ctr"/>
          <a:lstStyle/>
          <a:p>
            <a:pPr marL="0" indent="0">
              <a:buNone/>
            </a:pPr>
            <a:r>
              <a:rPr lang="en-US" sz="1100" dirty="0">
                <a:solidFill>
                  <a:srgbClr val="B9C4D1"/>
                </a:solidFill>
                <a:latin typeface="Courier New" pitchFamily="34" charset="0"/>
                <a:ea typeface="Courier New" pitchFamily="34" charset="-122"/>
                <a:cs typeface="Courier New" pitchFamily="34" charset="-120"/>
              </a:rPr>
              <a:t>Explore → Loki → Code</a:t>
            </a:r>
            <a:endParaRPr lang="en-US" sz="1100" dirty="0"/>
          </a:p>
        </p:txBody>
      </p:sp>
      <p:sp>
        <p:nvSpPr>
          <p:cNvPr id="9" name="Text 7"/>
          <p:cNvSpPr txBox="1"/>
          <p:nvPr/>
        </p:nvSpPr>
        <p:spPr>
          <a:xfrm>
            <a:off x="777240" y="2011680"/>
            <a:ext cx="6766560" cy="3703320"/>
          </a:xfrm>
          <a:prstGeom prst="rect">
            <a:avLst/>
          </a:prstGeom>
          <a:noFill/>
          <a:ln/>
        </p:spPr>
        <p:txBody>
          <a:bodyPr wrap="square" lIns="0" tIns="0" rIns="0" bIns="0" rtlCol="0" anchor="t"/>
          <a:lstStyle/>
          <a:p>
            <a:pPr marL="0" indent="0">
              <a:lnSpc>
                <a:spcPct val="110000"/>
              </a:lnSpc>
              <a:buNone/>
            </a:pPr>
            <a:r>
              <a:rPr lang="en-US" sz="1150" i="1" dirty="0">
                <a:solidFill>
                  <a:srgbClr val="B9C4D1"/>
                </a:solidFill>
                <a:latin typeface="Courier New" pitchFamily="34" charset="0"/>
                <a:ea typeface="Courier New" pitchFamily="34" charset="-122"/>
                <a:cs typeface="Courier New" pitchFamily="34" charset="-120"/>
              </a:rPr>
              <a:t># Stream selector - väljer loggströmmar via labels</a:t>
            </a:r>
            <a:endParaRPr lang="en-US" sz="1150" dirty="0"/>
          </a:p>
          <a:p>
            <a:pPr marL="0" indent="0">
              <a:lnSpc>
                <a:spcPct val="110000"/>
              </a:lnSpc>
              <a:buNone/>
            </a:pPr>
            <a:r>
              <a:rPr lang="en-US" sz="1150" dirty="0">
                <a:solidFill>
                  <a:srgbClr val="DDE3EA"/>
                </a:solidFill>
                <a:latin typeface="Courier New" pitchFamily="34" charset="0"/>
                <a:ea typeface="Courier New" pitchFamily="34" charset="-122"/>
                <a:cs typeface="Courier New" pitchFamily="34" charset="-120"/>
              </a:rPr>
              <a:t>{service_name="telemetry-api"}</a:t>
            </a:r>
            <a:endParaRPr lang="en-US" sz="1150" dirty="0"/>
          </a:p>
          <a:p>
            <a:pPr marL="0" indent="0">
              <a:lnSpc>
                <a:spcPct val="110000"/>
              </a:lnSpc>
              <a:buNone/>
            </a:pPr>
            <a:r>
              <a:rPr lang="en-US" sz="1150" i="1" dirty="0">
                <a:solidFill>
                  <a:srgbClr val="B9C4D1"/>
                </a:solidFill>
                <a:latin typeface="Courier New" pitchFamily="34" charset="0"/>
                <a:ea typeface="Courier New" pitchFamily="34" charset="-122"/>
                <a:cs typeface="Courier New" pitchFamily="34" charset="-120"/>
              </a:rPr>
              <a:t># Radfilter - text i meddelandet</a:t>
            </a:r>
            <a:endParaRPr lang="en-US" sz="1150" dirty="0"/>
          </a:p>
          <a:p>
            <a:pPr marL="0" indent="0">
              <a:lnSpc>
                <a:spcPct val="110000"/>
              </a:lnSpc>
              <a:buNone/>
            </a:pPr>
            <a:r>
              <a:rPr lang="en-US" sz="1150" dirty="0">
                <a:solidFill>
                  <a:srgbClr val="DDE3EA"/>
                </a:solidFill>
                <a:latin typeface="Courier New" pitchFamily="34" charset="0"/>
                <a:ea typeface="Courier New" pitchFamily="34" charset="-122"/>
                <a:cs typeface="Courier New" pitchFamily="34" charset="-120"/>
              </a:rPr>
              <a:t>{service_name="telemetry-api"} |= "skapad"</a:t>
            </a:r>
            <a:endParaRPr lang="en-US" sz="1150" dirty="0"/>
          </a:p>
          <a:p>
            <a:pPr marL="0" indent="0">
              <a:lnSpc>
                <a:spcPct val="110000"/>
              </a:lnSpc>
              <a:buNone/>
            </a:pPr>
            <a:r>
              <a:rPr lang="en-US" sz="1150" i="1" dirty="0">
                <a:solidFill>
                  <a:srgbClr val="B9C4D1"/>
                </a:solidFill>
                <a:latin typeface="Courier New" pitchFamily="34" charset="0"/>
                <a:ea typeface="Courier New" pitchFamily="34" charset="-122"/>
                <a:cs typeface="Courier New" pitchFamily="34" charset="-120"/>
              </a:rPr>
              <a:t># Filter på metadata från OpenTelemetry</a:t>
            </a:r>
            <a:endParaRPr lang="en-US" sz="1150" dirty="0"/>
          </a:p>
          <a:p>
            <a:pPr marL="0" indent="0">
              <a:lnSpc>
                <a:spcPct val="110000"/>
              </a:lnSpc>
              <a:buNone/>
            </a:pPr>
            <a:r>
              <a:rPr lang="en-US" sz="1150" dirty="0">
                <a:solidFill>
                  <a:srgbClr val="DDE3EA"/>
                </a:solidFill>
                <a:latin typeface="Courier New" pitchFamily="34" charset="0"/>
                <a:ea typeface="Courier New" pitchFamily="34" charset="-122"/>
                <a:cs typeface="Courier New" pitchFamily="34" charset="-120"/>
              </a:rPr>
              <a:t>{service_name=~"cqrs-.*"} | detected_level=~"(?i)error"</a:t>
            </a:r>
            <a:endParaRPr lang="en-US" sz="1150" dirty="0"/>
          </a:p>
          <a:p>
            <a:pPr marL="0" indent="0">
              <a:lnSpc>
                <a:spcPct val="110000"/>
              </a:lnSpc>
              <a:buNone/>
            </a:pPr>
            <a:r>
              <a:rPr lang="en-US" sz="1150" i="1" dirty="0">
                <a:solidFill>
                  <a:srgbClr val="B9C4D1"/>
                </a:solidFill>
                <a:latin typeface="Courier New" pitchFamily="34" charset="0"/>
                <a:ea typeface="Courier New" pitchFamily="34" charset="-122"/>
                <a:cs typeface="Courier New" pitchFamily="34" charset="-120"/>
              </a:rPr>
              <a:t># Hitta alla rader för ett anrop</a:t>
            </a:r>
            <a:endParaRPr lang="en-US" sz="1150" dirty="0"/>
          </a:p>
          <a:p>
            <a:pPr marL="0" indent="0">
              <a:lnSpc>
                <a:spcPct val="110000"/>
              </a:lnSpc>
              <a:buNone/>
            </a:pPr>
            <a:r>
              <a:rPr lang="en-US" sz="1150" dirty="0">
                <a:solidFill>
                  <a:srgbClr val="DDE3EA"/>
                </a:solidFill>
                <a:latin typeface="Courier New" pitchFamily="34" charset="0"/>
                <a:ea typeface="Courier New" pitchFamily="34" charset="-122"/>
                <a:cs typeface="Courier New" pitchFamily="34" charset="-120"/>
              </a:rPr>
              <a:t>{service_name=~".+"} | trace_id="4bf92f3577b34da6…"</a:t>
            </a:r>
            <a:endParaRPr lang="en-US" sz="1150" dirty="0"/>
          </a:p>
          <a:p>
            <a:pPr marL="0" indent="0">
              <a:lnSpc>
                <a:spcPct val="110000"/>
              </a:lnSpc>
              <a:buNone/>
            </a:pPr>
            <a:r>
              <a:rPr lang="en-US" sz="1150" i="1" dirty="0">
                <a:solidFill>
                  <a:srgbClr val="B9C4D1"/>
                </a:solidFill>
                <a:latin typeface="Courier New" pitchFamily="34" charset="0"/>
                <a:ea typeface="Courier New" pitchFamily="34" charset="-122"/>
                <a:cs typeface="Courier New" pitchFamily="34" charset="-120"/>
              </a:rPr>
              <a:t># Metric-fråga: loggrader per minut och nivå</a:t>
            </a:r>
            <a:endParaRPr lang="en-US" sz="1150" dirty="0"/>
          </a:p>
          <a:p>
            <a:pPr marL="0" indent="0">
              <a:lnSpc>
                <a:spcPct val="110000"/>
              </a:lnSpc>
              <a:buNone/>
            </a:pPr>
            <a:r>
              <a:rPr lang="en-US" sz="1150" dirty="0">
                <a:solidFill>
                  <a:srgbClr val="DDE3EA"/>
                </a:solidFill>
                <a:latin typeface="Courier New" pitchFamily="34" charset="0"/>
                <a:ea typeface="Courier New" pitchFamily="34" charset="-122"/>
                <a:cs typeface="Courier New" pitchFamily="34" charset="-120"/>
              </a:rPr>
              <a:t>sum by (detected_level) (count_over_time({service_name=~".+"}[1m]))</a:t>
            </a:r>
            <a:endParaRPr lang="en-US" sz="1150" dirty="0"/>
          </a:p>
        </p:txBody>
      </p:sp>
      <p:sp>
        <p:nvSpPr>
          <p:cNvPr id="10" name="Shape 8"/>
          <p:cNvSpPr/>
          <p:nvPr/>
        </p:nvSpPr>
        <p:spPr>
          <a:xfrm>
            <a:off x="8138160" y="1554480"/>
            <a:ext cx="3504895" cy="1325880"/>
          </a:xfrm>
          <a:prstGeom prst="roundRect">
            <a:avLst>
              <a:gd name="adj" fmla="val 4138"/>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11" name="Text 9"/>
          <p:cNvSpPr txBox="1"/>
          <p:nvPr/>
        </p:nvSpPr>
        <p:spPr>
          <a:xfrm>
            <a:off x="8339328" y="1755648"/>
            <a:ext cx="3102559" cy="320040"/>
          </a:xfrm>
          <a:prstGeom prst="rect">
            <a:avLst/>
          </a:prstGeom>
          <a:noFill/>
          <a:ln/>
        </p:spPr>
        <p:txBody>
          <a:bodyPr wrap="square" lIns="0" tIns="0" rIns="0" bIns="0" rtlCol="0" anchor="t"/>
          <a:lstStyle/>
          <a:p>
            <a:pPr marL="0" indent="0">
              <a:buNone/>
            </a:pPr>
            <a:r>
              <a:rPr lang="en-US" sz="1400" b="1" dirty="0">
                <a:solidFill>
                  <a:srgbClr val="16202B"/>
                </a:solidFill>
                <a:latin typeface="Calibri" pitchFamily="34" charset="0"/>
                <a:ea typeface="Calibri" pitchFamily="34" charset="-122"/>
                <a:cs typeface="Calibri" pitchFamily="34" charset="-120"/>
              </a:rPr>
              <a:t>Labels är indexerade</a:t>
            </a:r>
            <a:endParaRPr lang="en-US" sz="1400" dirty="0"/>
          </a:p>
        </p:txBody>
      </p:sp>
      <p:sp>
        <p:nvSpPr>
          <p:cNvPr id="12" name="Text 10"/>
          <p:cNvSpPr txBox="1"/>
          <p:nvPr/>
        </p:nvSpPr>
        <p:spPr>
          <a:xfrm>
            <a:off x="8339328" y="2139696"/>
            <a:ext cx="3102559" cy="585216"/>
          </a:xfrm>
          <a:prstGeom prst="rect">
            <a:avLst/>
          </a:prstGeom>
          <a:noFill/>
          <a:ln/>
        </p:spPr>
        <p:txBody>
          <a:bodyPr wrap="square" lIns="0" tIns="0" rIns="0" bIns="0" rtlCol="0" anchor="t"/>
          <a:lstStyle/>
          <a:p>
            <a:pPr marL="0" indent="0">
              <a:lnSpc>
                <a:spcPct val="115000"/>
              </a:lnSpc>
              <a:buNone/>
            </a:pPr>
            <a:r>
              <a:rPr lang="en-US" sz="1200" dirty="0">
                <a:solidFill>
                  <a:srgbClr val="4A5568"/>
                </a:solidFill>
                <a:latin typeface="Arial" pitchFamily="34" charset="0"/>
                <a:ea typeface="Arial" pitchFamily="34" charset="-122"/>
                <a:cs typeface="Arial" pitchFamily="34" charset="-120"/>
              </a:rPr>
              <a:t>Börja alltid med {…} - det är snabbt.</a:t>
            </a:r>
            <a:endParaRPr lang="en-US" sz="1200" dirty="0"/>
          </a:p>
        </p:txBody>
      </p:sp>
      <p:sp>
        <p:nvSpPr>
          <p:cNvPr id="13" name="Shape 11"/>
          <p:cNvSpPr/>
          <p:nvPr/>
        </p:nvSpPr>
        <p:spPr>
          <a:xfrm>
            <a:off x="8138160" y="3017520"/>
            <a:ext cx="3504895" cy="1325880"/>
          </a:xfrm>
          <a:prstGeom prst="roundRect">
            <a:avLst>
              <a:gd name="adj" fmla="val 4138"/>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14" name="Text 12"/>
          <p:cNvSpPr txBox="1"/>
          <p:nvPr/>
        </p:nvSpPr>
        <p:spPr>
          <a:xfrm>
            <a:off x="8339328" y="3218688"/>
            <a:ext cx="3102559" cy="320040"/>
          </a:xfrm>
          <a:prstGeom prst="rect">
            <a:avLst/>
          </a:prstGeom>
          <a:noFill/>
          <a:ln/>
        </p:spPr>
        <p:txBody>
          <a:bodyPr wrap="square" lIns="0" tIns="0" rIns="0" bIns="0" rtlCol="0" anchor="t"/>
          <a:lstStyle/>
          <a:p>
            <a:pPr marL="0" indent="0">
              <a:buNone/>
            </a:pPr>
            <a:r>
              <a:rPr lang="en-US" sz="1400" b="1" dirty="0">
                <a:solidFill>
                  <a:srgbClr val="16202B"/>
                </a:solidFill>
                <a:latin typeface="Calibri" pitchFamily="34" charset="0"/>
                <a:ea typeface="Calibri" pitchFamily="34" charset="-122"/>
                <a:cs typeface="Calibri" pitchFamily="34" charset="-120"/>
              </a:rPr>
              <a:t>Texten är det inte</a:t>
            </a:r>
            <a:endParaRPr lang="en-US" sz="1400" dirty="0"/>
          </a:p>
        </p:txBody>
      </p:sp>
      <p:sp>
        <p:nvSpPr>
          <p:cNvPr id="15" name="Text 13"/>
          <p:cNvSpPr txBox="1"/>
          <p:nvPr/>
        </p:nvSpPr>
        <p:spPr>
          <a:xfrm>
            <a:off x="8339328" y="3602736"/>
            <a:ext cx="3102559" cy="585216"/>
          </a:xfrm>
          <a:prstGeom prst="rect">
            <a:avLst/>
          </a:prstGeom>
          <a:noFill/>
          <a:ln/>
        </p:spPr>
        <p:txBody>
          <a:bodyPr wrap="square" lIns="0" tIns="0" rIns="0" bIns="0" rtlCol="0" anchor="t"/>
          <a:lstStyle/>
          <a:p>
            <a:pPr marL="0" indent="0">
              <a:lnSpc>
                <a:spcPct val="115000"/>
              </a:lnSpc>
              <a:buNone/>
            </a:pPr>
            <a:r>
              <a:rPr lang="en-US" sz="1200" dirty="0">
                <a:solidFill>
                  <a:srgbClr val="4A5568"/>
                </a:solidFill>
                <a:latin typeface="Arial" pitchFamily="34" charset="0"/>
                <a:ea typeface="Arial" pitchFamily="34" charset="-122"/>
                <a:cs typeface="Arial" pitchFamily="34" charset="-120"/>
              </a:rPr>
              <a:t>|= letar igenom raderna - begränsa tiden.</a:t>
            </a:r>
            <a:endParaRPr lang="en-US" sz="1200" dirty="0"/>
          </a:p>
        </p:txBody>
      </p:sp>
      <p:sp>
        <p:nvSpPr>
          <p:cNvPr id="16" name="Shape 14"/>
          <p:cNvSpPr/>
          <p:nvPr/>
        </p:nvSpPr>
        <p:spPr>
          <a:xfrm>
            <a:off x="8138160" y="4480560"/>
            <a:ext cx="3504895" cy="1371600"/>
          </a:xfrm>
          <a:prstGeom prst="roundRect">
            <a:avLst>
              <a:gd name="adj" fmla="val 4000"/>
            </a:avLst>
          </a:prstGeom>
          <a:solidFill>
            <a:srgbClr val="3762FF"/>
          </a:solidFill>
          <a:ln w="12700">
            <a:solidFill>
              <a:srgbClr val="3762FF"/>
            </a:solidFill>
            <a:prstDash val="solid"/>
          </a:ln>
        </p:spPr>
      </p:sp>
      <p:sp>
        <p:nvSpPr>
          <p:cNvPr id="17" name="Text 15"/>
          <p:cNvSpPr txBox="1"/>
          <p:nvPr/>
        </p:nvSpPr>
        <p:spPr>
          <a:xfrm>
            <a:off x="8339328" y="4681728"/>
            <a:ext cx="3102559" cy="320040"/>
          </a:xfrm>
          <a:prstGeom prst="rect">
            <a:avLst/>
          </a:prstGeom>
          <a:noFill/>
          <a:ln/>
        </p:spPr>
        <p:txBody>
          <a:bodyPr wrap="square" lIns="0" tIns="0" rIns="0" bIns="0" rtlCol="0" anchor="t"/>
          <a:lstStyle/>
          <a:p>
            <a:pPr marL="0" indent="0">
              <a:buNone/>
            </a:pPr>
            <a:r>
              <a:rPr lang="en-US" sz="1400" b="1" dirty="0">
                <a:solidFill>
                  <a:srgbClr val="FFFFFF"/>
                </a:solidFill>
                <a:latin typeface="Calibri" pitchFamily="34" charset="0"/>
                <a:ea typeface="Calibri" pitchFamily="34" charset="-122"/>
                <a:cs typeface="Calibri" pitchFamily="34" charset="-120"/>
              </a:rPr>
              <a:t>trace_id</a:t>
            </a:r>
            <a:endParaRPr lang="en-US" sz="1400" dirty="0"/>
          </a:p>
        </p:txBody>
      </p:sp>
      <p:sp>
        <p:nvSpPr>
          <p:cNvPr id="18" name="Text 16"/>
          <p:cNvSpPr txBox="1"/>
          <p:nvPr/>
        </p:nvSpPr>
        <p:spPr>
          <a:xfrm>
            <a:off x="8339328" y="5065776"/>
            <a:ext cx="3102559" cy="630936"/>
          </a:xfrm>
          <a:prstGeom prst="rect">
            <a:avLst/>
          </a:prstGeom>
          <a:noFill/>
          <a:ln/>
        </p:spPr>
        <p:txBody>
          <a:bodyPr wrap="square" lIns="0" tIns="0" rIns="0" bIns="0" rtlCol="0" anchor="t"/>
          <a:lstStyle/>
          <a:p>
            <a:pPr marL="0" indent="0">
              <a:lnSpc>
                <a:spcPct val="115000"/>
              </a:lnSpc>
              <a:buNone/>
            </a:pPr>
            <a:r>
              <a:rPr lang="en-US" sz="1200" dirty="0">
                <a:solidFill>
                  <a:srgbClr val="FFFFFF"/>
                </a:solidFill>
                <a:latin typeface="Arial" pitchFamily="34" charset="0"/>
                <a:ea typeface="Arial" pitchFamily="34" charset="-122"/>
                <a:cs typeface="Arial" pitchFamily="34" charset="-120"/>
              </a:rPr>
              <a:t>Sparas som metadata - alla tjänsters rader för ett anrop.</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F1F33"/>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marL="0" indent="0">
              <a:buNone/>
            </a:pPr>
            <a:r>
              <a:rPr lang="en-US" sz="1200" b="1" kern="0" spc="200" dirty="0">
                <a:solidFill>
                  <a:srgbClr val="7C9CFF"/>
                </a:solidFill>
                <a:latin typeface="Arial" pitchFamily="34" charset="0"/>
                <a:ea typeface="Arial" pitchFamily="34" charset="-122"/>
                <a:cs typeface="Arial" pitchFamily="34" charset="-120"/>
              </a:rPr>
              <a:t>EXPLORE · TRACEQL</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marL="0" indent="0">
              <a:buNone/>
            </a:pPr>
            <a:r>
              <a:rPr lang="en-US" sz="3000" b="1" dirty="0">
                <a:solidFill>
                  <a:srgbClr val="F5F7FA"/>
                </a:solidFill>
                <a:latin typeface="Calibri" pitchFamily="34" charset="0"/>
                <a:ea typeface="Calibri" pitchFamily="34" charset="-122"/>
                <a:cs typeface="Calibri" pitchFamily="34" charset="-120"/>
              </a:rPr>
              <a:t>TraceQL - sök bland spans</a:t>
            </a:r>
            <a:endParaRPr lang="en-US" sz="3000" dirty="0"/>
          </a:p>
        </p:txBody>
      </p:sp>
      <p:sp>
        <p:nvSpPr>
          <p:cNvPr id="4" name="Shape 2"/>
          <p:cNvSpPr/>
          <p:nvPr/>
        </p:nvSpPr>
        <p:spPr>
          <a:xfrm>
            <a:off x="548640" y="1554480"/>
            <a:ext cx="7223760" cy="4297680"/>
          </a:xfrm>
          <a:prstGeom prst="roundRect">
            <a:avLst>
              <a:gd name="adj" fmla="val 1277"/>
            </a:avLst>
          </a:prstGeom>
          <a:solidFill>
            <a:srgbClr val="16294A"/>
          </a:solidFill>
          <a:ln w="12700">
            <a:solidFill>
              <a:srgbClr val="16294A"/>
            </a:solidFill>
            <a:prstDash val="solid"/>
          </a:ln>
        </p:spPr>
      </p:sp>
      <p:sp>
        <p:nvSpPr>
          <p:cNvPr id="5" name="Shape 3"/>
          <p:cNvSpPr/>
          <p:nvPr/>
        </p:nvSpPr>
        <p:spPr>
          <a:xfrm>
            <a:off x="749808" y="1719072"/>
            <a:ext cx="109728" cy="109728"/>
          </a:xfrm>
          <a:prstGeom prst="ellipse">
            <a:avLst/>
          </a:prstGeom>
          <a:solidFill>
            <a:srgbClr val="D64545"/>
          </a:solidFill>
          <a:ln w="12700">
            <a:solidFill>
              <a:srgbClr val="D64545"/>
            </a:solidFill>
            <a:prstDash val="solid"/>
          </a:ln>
        </p:spPr>
      </p:sp>
      <p:sp>
        <p:nvSpPr>
          <p:cNvPr id="6" name="Shape 4"/>
          <p:cNvSpPr/>
          <p:nvPr/>
        </p:nvSpPr>
        <p:spPr>
          <a:xfrm>
            <a:off x="932688" y="1719072"/>
            <a:ext cx="109728" cy="109728"/>
          </a:xfrm>
          <a:prstGeom prst="ellipse">
            <a:avLst/>
          </a:prstGeom>
          <a:solidFill>
            <a:srgbClr val="FFB020"/>
          </a:solidFill>
          <a:ln w="12700">
            <a:solidFill>
              <a:srgbClr val="FFB020"/>
            </a:solidFill>
            <a:prstDash val="solid"/>
          </a:ln>
        </p:spPr>
      </p:sp>
      <p:sp>
        <p:nvSpPr>
          <p:cNvPr id="7" name="Shape 5"/>
          <p:cNvSpPr/>
          <p:nvPr/>
        </p:nvSpPr>
        <p:spPr>
          <a:xfrm>
            <a:off x="1115568" y="1719072"/>
            <a:ext cx="109728" cy="109728"/>
          </a:xfrm>
          <a:prstGeom prst="ellipse">
            <a:avLst/>
          </a:prstGeom>
          <a:solidFill>
            <a:srgbClr val="3CB371"/>
          </a:solidFill>
          <a:ln w="12700">
            <a:solidFill>
              <a:srgbClr val="3CB371"/>
            </a:solidFill>
            <a:prstDash val="solid"/>
          </a:ln>
        </p:spPr>
      </p:sp>
      <p:sp>
        <p:nvSpPr>
          <p:cNvPr id="8" name="Text 6"/>
          <p:cNvSpPr txBox="1"/>
          <p:nvPr/>
        </p:nvSpPr>
        <p:spPr>
          <a:xfrm>
            <a:off x="1371600" y="1645920"/>
            <a:ext cx="6217920" cy="256032"/>
          </a:xfrm>
          <a:prstGeom prst="rect">
            <a:avLst/>
          </a:prstGeom>
          <a:noFill/>
          <a:ln/>
        </p:spPr>
        <p:txBody>
          <a:bodyPr wrap="square" lIns="0" tIns="0" rIns="0" bIns="0" rtlCol="0" anchor="ctr"/>
          <a:lstStyle/>
          <a:p>
            <a:pPr marL="0" indent="0">
              <a:buNone/>
            </a:pPr>
            <a:r>
              <a:rPr lang="en-US" sz="1100" dirty="0">
                <a:solidFill>
                  <a:srgbClr val="B9C4D1"/>
                </a:solidFill>
                <a:latin typeface="Courier New" pitchFamily="34" charset="0"/>
                <a:ea typeface="Courier New" pitchFamily="34" charset="-122"/>
                <a:cs typeface="Courier New" pitchFamily="34" charset="-120"/>
              </a:rPr>
              <a:t>Explore → Tempo → TraceQL</a:t>
            </a:r>
            <a:endParaRPr lang="en-US" sz="1100" dirty="0"/>
          </a:p>
        </p:txBody>
      </p:sp>
      <p:sp>
        <p:nvSpPr>
          <p:cNvPr id="9" name="Text 7"/>
          <p:cNvSpPr txBox="1"/>
          <p:nvPr/>
        </p:nvSpPr>
        <p:spPr>
          <a:xfrm>
            <a:off x="777240" y="2011680"/>
            <a:ext cx="6766560" cy="3703320"/>
          </a:xfrm>
          <a:prstGeom prst="rect">
            <a:avLst/>
          </a:prstGeom>
          <a:noFill/>
          <a:ln/>
        </p:spPr>
        <p:txBody>
          <a:bodyPr wrap="square" lIns="0" tIns="0" rIns="0" bIns="0" rtlCol="0" anchor="t"/>
          <a:lstStyle/>
          <a:p>
            <a:pPr marL="0" indent="0">
              <a:lnSpc>
                <a:spcPct val="110000"/>
              </a:lnSpc>
              <a:buNone/>
            </a:pPr>
            <a:r>
              <a:rPr lang="en-US" sz="1150" i="1" dirty="0">
                <a:solidFill>
                  <a:srgbClr val="B9C4D1"/>
                </a:solidFill>
                <a:latin typeface="Courier New" pitchFamily="34" charset="0"/>
                <a:ea typeface="Courier New" pitchFamily="34" charset="-122"/>
                <a:cs typeface="Courier New" pitchFamily="34" charset="-120"/>
              </a:rPr>
              <a:t># Alla traces där en tjänst är inblandad</a:t>
            </a:r>
            <a:endParaRPr lang="en-US" sz="1150" dirty="0"/>
          </a:p>
          <a:p>
            <a:pPr marL="0" indent="0">
              <a:lnSpc>
                <a:spcPct val="110000"/>
              </a:lnSpc>
              <a:buNone/>
            </a:pPr>
            <a:r>
              <a:rPr lang="en-US" sz="1150" dirty="0">
                <a:solidFill>
                  <a:srgbClr val="DDE3EA"/>
                </a:solidFill>
                <a:latin typeface="Courier New" pitchFamily="34" charset="0"/>
                <a:ea typeface="Courier New" pitchFamily="34" charset="-122"/>
                <a:cs typeface="Courier New" pitchFamily="34" charset="-120"/>
              </a:rPr>
              <a:t>{ resource.service.name = "telemetry-api" }</a:t>
            </a:r>
            <a:endParaRPr lang="en-US" sz="1150" dirty="0"/>
          </a:p>
          <a:p>
            <a:pPr marL="0" indent="0">
              <a:lnSpc>
                <a:spcPct val="110000"/>
              </a:lnSpc>
              <a:buNone/>
            </a:pPr>
            <a:r>
              <a:rPr lang="en-US" sz="1150" i="1" dirty="0">
                <a:solidFill>
                  <a:srgbClr val="B9C4D1"/>
                </a:solidFill>
                <a:latin typeface="Courier New" pitchFamily="34" charset="0"/>
                <a:ea typeface="Courier New" pitchFamily="34" charset="-122"/>
                <a:cs typeface="Courier New" pitchFamily="34" charset="-120"/>
              </a:rPr>
              <a:t># Långsamma eller felande spans</a:t>
            </a:r>
            <a:endParaRPr lang="en-US" sz="1150" dirty="0"/>
          </a:p>
          <a:p>
            <a:pPr marL="0" indent="0">
              <a:lnSpc>
                <a:spcPct val="110000"/>
              </a:lnSpc>
              <a:buNone/>
            </a:pPr>
            <a:r>
              <a:rPr lang="en-US" sz="1150" dirty="0">
                <a:solidFill>
                  <a:srgbClr val="DDE3EA"/>
                </a:solidFill>
                <a:latin typeface="Courier New" pitchFamily="34" charset="0"/>
                <a:ea typeface="Courier New" pitchFamily="34" charset="-122"/>
                <a:cs typeface="Courier New" pitchFamily="34" charset="-120"/>
              </a:rPr>
              <a:t>{ duration &gt; 500ms }</a:t>
            </a:r>
            <a:endParaRPr lang="en-US" sz="1150" dirty="0"/>
          </a:p>
          <a:p>
            <a:pPr marL="0" indent="0">
              <a:lnSpc>
                <a:spcPct val="110000"/>
              </a:lnSpc>
              <a:buNone/>
            </a:pPr>
            <a:r>
              <a:rPr lang="en-US" sz="1150" dirty="0">
                <a:solidFill>
                  <a:srgbClr val="DDE3EA"/>
                </a:solidFill>
                <a:latin typeface="Courier New" pitchFamily="34" charset="0"/>
                <a:ea typeface="Courier New" pitchFamily="34" charset="-122"/>
                <a:cs typeface="Courier New" pitchFamily="34" charset="-120"/>
              </a:rPr>
              <a:t>{ status = error }</a:t>
            </a:r>
            <a:endParaRPr lang="en-US" sz="1150" dirty="0"/>
          </a:p>
          <a:p>
            <a:pPr marL="0" indent="0">
              <a:lnSpc>
                <a:spcPct val="110000"/>
              </a:lnSpc>
              <a:buNone/>
            </a:pPr>
            <a:r>
              <a:rPr lang="en-US" sz="1150" i="1" dirty="0">
                <a:solidFill>
                  <a:srgbClr val="B9C4D1"/>
                </a:solidFill>
                <a:latin typeface="Courier New" pitchFamily="34" charset="0"/>
                <a:ea typeface="Courier New" pitchFamily="34" charset="-122"/>
                <a:cs typeface="Courier New" pitchFamily="34" charset="-120"/>
              </a:rPr>
              <a:t># Våra egna attribut (Activity.SetTag)</a:t>
            </a:r>
            <a:endParaRPr lang="en-US" sz="1150" dirty="0"/>
          </a:p>
          <a:p>
            <a:pPr marL="0" indent="0">
              <a:lnSpc>
                <a:spcPct val="110000"/>
              </a:lnSpc>
              <a:buNone/>
            </a:pPr>
            <a:r>
              <a:rPr lang="en-US" sz="1150" dirty="0">
                <a:solidFill>
                  <a:srgbClr val="DDE3EA"/>
                </a:solidFill>
                <a:latin typeface="Courier New" pitchFamily="34" charset="0"/>
                <a:ea typeface="Courier New" pitchFamily="34" charset="-122"/>
                <a:cs typeface="Courier New" pitchFamily="34" charset="-120"/>
              </a:rPr>
              <a:t>{ span.customer.id = "3f2a…" }</a:t>
            </a:r>
            <a:endParaRPr lang="en-US" sz="1150" dirty="0"/>
          </a:p>
          <a:p>
            <a:pPr marL="0" indent="0">
              <a:lnSpc>
                <a:spcPct val="110000"/>
              </a:lnSpc>
              <a:buNone/>
            </a:pPr>
            <a:r>
              <a:rPr lang="en-US" sz="1150" dirty="0">
                <a:solidFill>
                  <a:srgbClr val="DDE3EA"/>
                </a:solidFill>
                <a:latin typeface="Courier New" pitchFamily="34" charset="0"/>
                <a:ea typeface="Courier New" pitchFamily="34" charset="-122"/>
                <a:cs typeface="Courier New" pitchFamily="34" charset="-120"/>
              </a:rPr>
              <a:t>{ span.cqrs.command_id = "9b1e…" }</a:t>
            </a:r>
            <a:endParaRPr lang="en-US" sz="1150" dirty="0"/>
          </a:p>
          <a:p>
            <a:pPr marL="0" indent="0">
              <a:lnSpc>
                <a:spcPct val="110000"/>
              </a:lnSpc>
              <a:buNone/>
            </a:pPr>
            <a:r>
              <a:rPr lang="en-US" sz="1150" i="1" dirty="0">
                <a:solidFill>
                  <a:srgbClr val="B9C4D1"/>
                </a:solidFill>
                <a:latin typeface="Courier New" pitchFamily="34" charset="0"/>
                <a:ea typeface="Courier New" pitchFamily="34" charset="-122"/>
                <a:cs typeface="Courier New" pitchFamily="34" charset="-120"/>
              </a:rPr>
              <a:t># Struktur: api-span som har ett worker-span längre ner</a:t>
            </a:r>
            <a:endParaRPr lang="en-US" sz="1150" dirty="0"/>
          </a:p>
          <a:p>
            <a:pPr marL="0" indent="0">
              <a:lnSpc>
                <a:spcPct val="110000"/>
              </a:lnSpc>
              <a:buNone/>
            </a:pPr>
            <a:r>
              <a:rPr lang="en-US" sz="1150" dirty="0">
                <a:solidFill>
                  <a:srgbClr val="DDE3EA"/>
                </a:solidFill>
                <a:latin typeface="Courier New" pitchFamily="34" charset="0"/>
                <a:ea typeface="Courier New" pitchFamily="34" charset="-122"/>
                <a:cs typeface="Courier New" pitchFamily="34" charset="-120"/>
              </a:rPr>
              <a:t>{ resource.service.name = "cqrs-api" } &gt;&gt; { resource.service.name = "cqrs-worker" }</a:t>
            </a:r>
            <a:endParaRPr lang="en-US" sz="1150" dirty="0"/>
          </a:p>
        </p:txBody>
      </p:sp>
      <p:sp>
        <p:nvSpPr>
          <p:cNvPr id="10" name="Shape 8"/>
          <p:cNvSpPr/>
          <p:nvPr/>
        </p:nvSpPr>
        <p:spPr>
          <a:xfrm>
            <a:off x="8138160" y="1554480"/>
            <a:ext cx="3504895" cy="1325880"/>
          </a:xfrm>
          <a:prstGeom prst="roundRect">
            <a:avLst>
              <a:gd name="adj" fmla="val 4138"/>
            </a:avLst>
          </a:prstGeom>
          <a:solidFill>
            <a:srgbClr val="16294A"/>
          </a:solidFill>
          <a:ln w="12700">
            <a:solidFill>
              <a:srgbClr val="16294A"/>
            </a:solidFill>
            <a:prstDash val="solid"/>
          </a:ln>
        </p:spPr>
      </p:sp>
      <p:sp>
        <p:nvSpPr>
          <p:cNvPr id="11" name="Text 9"/>
          <p:cNvSpPr txBox="1"/>
          <p:nvPr/>
        </p:nvSpPr>
        <p:spPr>
          <a:xfrm>
            <a:off x="8339328" y="1755648"/>
            <a:ext cx="3102559" cy="320040"/>
          </a:xfrm>
          <a:prstGeom prst="rect">
            <a:avLst/>
          </a:prstGeom>
          <a:noFill/>
          <a:ln/>
        </p:spPr>
        <p:txBody>
          <a:bodyPr wrap="square" lIns="0" tIns="0" rIns="0" bIns="0" rtlCol="0" anchor="t"/>
          <a:lstStyle/>
          <a:p>
            <a:pPr marL="0" indent="0">
              <a:buNone/>
            </a:pPr>
            <a:r>
              <a:rPr lang="en-US" sz="1400" b="1" dirty="0">
                <a:solidFill>
                  <a:srgbClr val="F5F7FA"/>
                </a:solidFill>
                <a:latin typeface="Calibri" pitchFamily="34" charset="0"/>
                <a:ea typeface="Calibri" pitchFamily="34" charset="-122"/>
                <a:cs typeface="Calibri" pitchFamily="34" charset="-120"/>
              </a:rPr>
              <a:t>resource.</a:t>
            </a:r>
            <a:endParaRPr lang="en-US" sz="1400" dirty="0"/>
          </a:p>
        </p:txBody>
      </p:sp>
      <p:sp>
        <p:nvSpPr>
          <p:cNvPr id="12" name="Text 10"/>
          <p:cNvSpPr txBox="1"/>
          <p:nvPr/>
        </p:nvSpPr>
        <p:spPr>
          <a:xfrm>
            <a:off x="8339328" y="2139696"/>
            <a:ext cx="3102559" cy="585216"/>
          </a:xfrm>
          <a:prstGeom prst="rect">
            <a:avLst/>
          </a:prstGeom>
          <a:noFill/>
          <a:ln/>
        </p:spPr>
        <p:txBody>
          <a:bodyPr wrap="square" lIns="0" tIns="0" rIns="0" bIns="0" rtlCol="0" anchor="t"/>
          <a:lstStyle/>
          <a:p>
            <a:pPr marL="0" indent="0">
              <a:lnSpc>
                <a:spcPct val="115000"/>
              </a:lnSpc>
              <a:buNone/>
            </a:pPr>
            <a:r>
              <a:rPr lang="en-US" sz="1200" dirty="0">
                <a:solidFill>
                  <a:srgbClr val="B9C4D1"/>
                </a:solidFill>
                <a:latin typeface="Arial" pitchFamily="34" charset="0"/>
                <a:ea typeface="Arial" pitchFamily="34" charset="-122"/>
                <a:cs typeface="Arial" pitchFamily="34" charset="-120"/>
              </a:rPr>
              <a:t>Om tjänsten: service.name, k8s.pod.name.</a:t>
            </a:r>
            <a:endParaRPr lang="en-US" sz="1200" dirty="0"/>
          </a:p>
        </p:txBody>
      </p:sp>
      <p:sp>
        <p:nvSpPr>
          <p:cNvPr id="13" name="Shape 11"/>
          <p:cNvSpPr/>
          <p:nvPr/>
        </p:nvSpPr>
        <p:spPr>
          <a:xfrm>
            <a:off x="8138160" y="3017520"/>
            <a:ext cx="3504895" cy="1325880"/>
          </a:xfrm>
          <a:prstGeom prst="roundRect">
            <a:avLst>
              <a:gd name="adj" fmla="val 4138"/>
            </a:avLst>
          </a:prstGeom>
          <a:solidFill>
            <a:srgbClr val="16294A"/>
          </a:solidFill>
          <a:ln w="12700">
            <a:solidFill>
              <a:srgbClr val="16294A"/>
            </a:solidFill>
            <a:prstDash val="solid"/>
          </a:ln>
        </p:spPr>
      </p:sp>
      <p:sp>
        <p:nvSpPr>
          <p:cNvPr id="14" name="Text 12"/>
          <p:cNvSpPr txBox="1"/>
          <p:nvPr/>
        </p:nvSpPr>
        <p:spPr>
          <a:xfrm>
            <a:off x="8339328" y="3218688"/>
            <a:ext cx="3102559" cy="320040"/>
          </a:xfrm>
          <a:prstGeom prst="rect">
            <a:avLst/>
          </a:prstGeom>
          <a:noFill/>
          <a:ln/>
        </p:spPr>
        <p:txBody>
          <a:bodyPr wrap="square" lIns="0" tIns="0" rIns="0" bIns="0" rtlCol="0" anchor="t"/>
          <a:lstStyle/>
          <a:p>
            <a:pPr marL="0" indent="0">
              <a:buNone/>
            </a:pPr>
            <a:r>
              <a:rPr lang="en-US" sz="1400" b="1" dirty="0">
                <a:solidFill>
                  <a:srgbClr val="F5F7FA"/>
                </a:solidFill>
                <a:latin typeface="Calibri" pitchFamily="34" charset="0"/>
                <a:ea typeface="Calibri" pitchFamily="34" charset="-122"/>
                <a:cs typeface="Calibri" pitchFamily="34" charset="-120"/>
              </a:rPr>
              <a:t>span.</a:t>
            </a:r>
            <a:endParaRPr lang="en-US" sz="1400" dirty="0"/>
          </a:p>
        </p:txBody>
      </p:sp>
      <p:sp>
        <p:nvSpPr>
          <p:cNvPr id="15" name="Text 13"/>
          <p:cNvSpPr txBox="1"/>
          <p:nvPr/>
        </p:nvSpPr>
        <p:spPr>
          <a:xfrm>
            <a:off x="8339328" y="3602736"/>
            <a:ext cx="3102559" cy="585216"/>
          </a:xfrm>
          <a:prstGeom prst="rect">
            <a:avLst/>
          </a:prstGeom>
          <a:noFill/>
          <a:ln/>
        </p:spPr>
        <p:txBody>
          <a:bodyPr wrap="square" lIns="0" tIns="0" rIns="0" bIns="0" rtlCol="0" anchor="t"/>
          <a:lstStyle/>
          <a:p>
            <a:pPr marL="0" indent="0">
              <a:lnSpc>
                <a:spcPct val="115000"/>
              </a:lnSpc>
              <a:buNone/>
            </a:pPr>
            <a:r>
              <a:rPr lang="en-US" sz="1200" dirty="0">
                <a:solidFill>
                  <a:srgbClr val="B9C4D1"/>
                </a:solidFill>
                <a:latin typeface="Arial" pitchFamily="34" charset="0"/>
                <a:ea typeface="Arial" pitchFamily="34" charset="-122"/>
                <a:cs typeface="Arial" pitchFamily="34" charset="-120"/>
              </a:rPr>
              <a:t>Om steget: http.route, customer.id, db.…</a:t>
            </a:r>
            <a:endParaRPr lang="en-US" sz="1200" dirty="0"/>
          </a:p>
        </p:txBody>
      </p:sp>
      <p:sp>
        <p:nvSpPr>
          <p:cNvPr id="16" name="Shape 14"/>
          <p:cNvSpPr/>
          <p:nvPr/>
        </p:nvSpPr>
        <p:spPr>
          <a:xfrm>
            <a:off x="8138160" y="4480560"/>
            <a:ext cx="3504895" cy="1371600"/>
          </a:xfrm>
          <a:prstGeom prst="roundRect">
            <a:avLst>
              <a:gd name="adj" fmla="val 4000"/>
            </a:avLst>
          </a:prstGeom>
          <a:solidFill>
            <a:srgbClr val="3762FF"/>
          </a:solidFill>
          <a:ln w="12700">
            <a:solidFill>
              <a:srgbClr val="3762FF"/>
            </a:solidFill>
            <a:prstDash val="solid"/>
          </a:ln>
        </p:spPr>
      </p:sp>
      <p:sp>
        <p:nvSpPr>
          <p:cNvPr id="17" name="Text 15"/>
          <p:cNvSpPr txBox="1"/>
          <p:nvPr/>
        </p:nvSpPr>
        <p:spPr>
          <a:xfrm>
            <a:off x="8339328" y="4681728"/>
            <a:ext cx="3102559" cy="320040"/>
          </a:xfrm>
          <a:prstGeom prst="rect">
            <a:avLst/>
          </a:prstGeom>
          <a:noFill/>
          <a:ln/>
        </p:spPr>
        <p:txBody>
          <a:bodyPr wrap="square" lIns="0" tIns="0" rIns="0" bIns="0" rtlCol="0" anchor="t"/>
          <a:lstStyle/>
          <a:p>
            <a:pPr marL="0" indent="0">
              <a:buNone/>
            </a:pPr>
            <a:r>
              <a:rPr lang="en-US" sz="1400" b="1" dirty="0">
                <a:solidFill>
                  <a:srgbClr val="FFFFFF"/>
                </a:solidFill>
                <a:latin typeface="Calibri" pitchFamily="34" charset="0"/>
                <a:ea typeface="Calibri" pitchFamily="34" charset="-122"/>
                <a:cs typeface="Calibri" pitchFamily="34" charset="-120"/>
              </a:rPr>
              <a:t>&gt;&gt;</a:t>
            </a:r>
            <a:endParaRPr lang="en-US" sz="1400" dirty="0"/>
          </a:p>
        </p:txBody>
      </p:sp>
      <p:sp>
        <p:nvSpPr>
          <p:cNvPr id="18" name="Text 16"/>
          <p:cNvSpPr txBox="1"/>
          <p:nvPr/>
        </p:nvSpPr>
        <p:spPr>
          <a:xfrm>
            <a:off x="8339328" y="5065776"/>
            <a:ext cx="3102559" cy="630936"/>
          </a:xfrm>
          <a:prstGeom prst="rect">
            <a:avLst/>
          </a:prstGeom>
          <a:noFill/>
          <a:ln/>
        </p:spPr>
        <p:txBody>
          <a:bodyPr wrap="square" lIns="0" tIns="0" rIns="0" bIns="0" rtlCol="0" anchor="t"/>
          <a:lstStyle/>
          <a:p>
            <a:pPr marL="0" indent="0">
              <a:lnSpc>
                <a:spcPct val="115000"/>
              </a:lnSpc>
              <a:buNone/>
            </a:pPr>
            <a:r>
              <a:rPr lang="en-US" sz="1200" dirty="0">
                <a:solidFill>
                  <a:srgbClr val="FFFFFF"/>
                </a:solidFill>
                <a:latin typeface="Arial" pitchFamily="34" charset="0"/>
                <a:ea typeface="Arial" pitchFamily="34" charset="-122"/>
                <a:cs typeface="Arial" pitchFamily="34" charset="-120"/>
              </a:rPr>
              <a:t>Förälder-barn genom hela kedjan - även genom NATS.</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7F4"/>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marL="0" indent="0">
              <a:buNone/>
            </a:pPr>
            <a:r>
              <a:rPr lang="en-US" sz="1200" b="1" kern="0" spc="200" dirty="0">
                <a:solidFill>
                  <a:srgbClr val="3762FF"/>
                </a:solidFill>
                <a:latin typeface="Arial" pitchFamily="34" charset="0"/>
                <a:ea typeface="Arial" pitchFamily="34" charset="-122"/>
                <a:cs typeface="Arial" pitchFamily="34" charset="-120"/>
              </a:rPr>
              <a:t>EXPLORE · KOPPLINGARNA</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marL="0" indent="0">
              <a:buNone/>
            </a:pPr>
            <a:r>
              <a:rPr lang="en-US" sz="3000" b="1" dirty="0">
                <a:solidFill>
                  <a:srgbClr val="16202B"/>
                </a:solidFill>
                <a:latin typeface="Calibri" pitchFamily="34" charset="0"/>
                <a:ea typeface="Calibri" pitchFamily="34" charset="-122"/>
                <a:cs typeface="Calibri" pitchFamily="34" charset="-120"/>
              </a:rPr>
              <a:t>Hoppa mellan signalerna - utan att skriva en fråga</a:t>
            </a:r>
            <a:endParaRPr lang="en-US" sz="3000" dirty="0"/>
          </a:p>
        </p:txBody>
      </p:sp>
      <p:sp>
        <p:nvSpPr>
          <p:cNvPr id="4" name="Shape 2"/>
          <p:cNvSpPr/>
          <p:nvPr/>
        </p:nvSpPr>
        <p:spPr>
          <a:xfrm>
            <a:off x="548640" y="1600200"/>
            <a:ext cx="5455768" cy="1874520"/>
          </a:xfrm>
          <a:prstGeom prst="roundRect">
            <a:avLst>
              <a:gd name="adj" fmla="val 2927"/>
            </a:avLst>
          </a:prstGeom>
          <a:solidFill>
            <a:srgbClr val="3762FF"/>
          </a:solidFill>
          <a:ln w="12700">
            <a:solidFill>
              <a:srgbClr val="3762FF"/>
            </a:solidFill>
            <a:prstDash val="solid"/>
          </a:ln>
        </p:spPr>
      </p:sp>
      <p:sp>
        <p:nvSpPr>
          <p:cNvPr id="5" name="Text 3"/>
          <p:cNvSpPr txBox="1"/>
          <p:nvPr/>
        </p:nvSpPr>
        <p:spPr>
          <a:xfrm>
            <a:off x="749808" y="1801368"/>
            <a:ext cx="5053432" cy="320040"/>
          </a:xfrm>
          <a:prstGeom prst="rect">
            <a:avLst/>
          </a:prstGeom>
          <a:noFill/>
          <a:ln/>
        </p:spPr>
        <p:txBody>
          <a:bodyPr wrap="square" lIns="0" tIns="0" rIns="0" bIns="0" rtlCol="0" anchor="t"/>
          <a:lstStyle/>
          <a:p>
            <a:pPr marL="0" indent="0">
              <a:buNone/>
            </a:pPr>
            <a:r>
              <a:rPr lang="en-US" sz="1700" b="1" dirty="0">
                <a:solidFill>
                  <a:srgbClr val="FFFFFF"/>
                </a:solidFill>
                <a:latin typeface="Calibri" pitchFamily="34" charset="0"/>
                <a:ea typeface="Calibri" pitchFamily="34" charset="-122"/>
                <a:cs typeface="Calibri" pitchFamily="34" charset="-120"/>
              </a:rPr>
              <a:t>Graf → Trace</a:t>
            </a:r>
            <a:endParaRPr lang="en-US" sz="1700" dirty="0"/>
          </a:p>
        </p:txBody>
      </p:sp>
      <p:sp>
        <p:nvSpPr>
          <p:cNvPr id="6" name="Text 4"/>
          <p:cNvSpPr txBox="1"/>
          <p:nvPr/>
        </p:nvSpPr>
        <p:spPr>
          <a:xfrm>
            <a:off x="749808" y="2185416"/>
            <a:ext cx="5053432" cy="1133856"/>
          </a:xfrm>
          <a:prstGeom prst="rect">
            <a:avLst/>
          </a:prstGeom>
          <a:noFill/>
          <a:ln/>
        </p:spPr>
        <p:txBody>
          <a:bodyPr wrap="square" lIns="0" tIns="0" rIns="0" bIns="0" rtlCol="0" anchor="t"/>
          <a:lstStyle/>
          <a:p>
            <a:pPr marL="0" indent="0">
              <a:lnSpc>
                <a:spcPct val="115000"/>
              </a:lnSpc>
              <a:buNone/>
            </a:pPr>
            <a:r>
              <a:rPr lang="en-US" sz="1300" dirty="0">
                <a:solidFill>
                  <a:srgbClr val="FFFFFF"/>
                </a:solidFill>
                <a:latin typeface="Arial" pitchFamily="34" charset="0"/>
                <a:ea typeface="Arial" pitchFamily="34" charset="-122"/>
                <a:cs typeface="Arial" pitchFamily="34" charset="-120"/>
              </a:rPr>
              <a:t>Prometheus: slå på Exemplars under frågan. Klicka en prick → "Query with Tempo".</a:t>
            </a:r>
            <a:endParaRPr lang="en-US" sz="1300" dirty="0"/>
          </a:p>
        </p:txBody>
      </p:sp>
      <p:sp>
        <p:nvSpPr>
          <p:cNvPr id="7" name="Text 5"/>
          <p:cNvSpPr txBox="1"/>
          <p:nvPr/>
        </p:nvSpPr>
        <p:spPr>
          <a:xfrm>
            <a:off x="749808" y="3017520"/>
            <a:ext cx="5090008" cy="274320"/>
          </a:xfrm>
          <a:prstGeom prst="rect">
            <a:avLst/>
          </a:prstGeom>
          <a:noFill/>
          <a:ln/>
        </p:spPr>
        <p:txBody>
          <a:bodyPr wrap="square" lIns="0" tIns="0" rIns="0" bIns="0" rtlCol="0" anchor="ctr"/>
          <a:lstStyle/>
          <a:p>
            <a:pPr marL="0" indent="0">
              <a:buNone/>
            </a:pPr>
            <a:r>
              <a:rPr lang="en-US" sz="1100" dirty="0">
                <a:solidFill>
                  <a:srgbClr val="FFFFFF"/>
                </a:solidFill>
                <a:latin typeface="Courier New" pitchFamily="34" charset="0"/>
                <a:ea typeface="Courier New" pitchFamily="34" charset="-122"/>
                <a:cs typeface="Courier New" pitchFamily="34" charset="-120"/>
              </a:rPr>
              <a:t>exemplarTraceIdDestinations</a:t>
            </a:r>
            <a:endParaRPr lang="en-US" sz="1100" dirty="0"/>
          </a:p>
        </p:txBody>
      </p:sp>
      <p:sp>
        <p:nvSpPr>
          <p:cNvPr id="8" name="Shape 6"/>
          <p:cNvSpPr/>
          <p:nvPr/>
        </p:nvSpPr>
        <p:spPr>
          <a:xfrm>
            <a:off x="6187288" y="1600200"/>
            <a:ext cx="5455768" cy="1874520"/>
          </a:xfrm>
          <a:prstGeom prst="roundRect">
            <a:avLst>
              <a:gd name="adj" fmla="val 2927"/>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9" name="Text 7"/>
          <p:cNvSpPr txBox="1"/>
          <p:nvPr/>
        </p:nvSpPr>
        <p:spPr>
          <a:xfrm>
            <a:off x="6388456" y="1801368"/>
            <a:ext cx="5053432" cy="320040"/>
          </a:xfrm>
          <a:prstGeom prst="rect">
            <a:avLst/>
          </a:prstGeom>
          <a:noFill/>
          <a:ln/>
        </p:spPr>
        <p:txBody>
          <a:bodyPr wrap="square" lIns="0" tIns="0" rIns="0" bIns="0" rtlCol="0" anchor="t"/>
          <a:lstStyle/>
          <a:p>
            <a:pPr marL="0" indent="0">
              <a:buNone/>
            </a:pPr>
            <a:r>
              <a:rPr lang="en-US" sz="1700" b="1" dirty="0">
                <a:solidFill>
                  <a:srgbClr val="16202B"/>
                </a:solidFill>
                <a:latin typeface="Calibri" pitchFamily="34" charset="0"/>
                <a:ea typeface="Calibri" pitchFamily="34" charset="-122"/>
                <a:cs typeface="Calibri" pitchFamily="34" charset="-120"/>
              </a:rPr>
              <a:t>Trace → Loggar</a:t>
            </a:r>
            <a:endParaRPr lang="en-US" sz="1700" dirty="0"/>
          </a:p>
        </p:txBody>
      </p:sp>
      <p:sp>
        <p:nvSpPr>
          <p:cNvPr id="10" name="Text 8"/>
          <p:cNvSpPr txBox="1"/>
          <p:nvPr/>
        </p:nvSpPr>
        <p:spPr>
          <a:xfrm>
            <a:off x="6388456" y="2185416"/>
            <a:ext cx="5053432" cy="1133856"/>
          </a:xfrm>
          <a:prstGeom prst="rect">
            <a:avLst/>
          </a:prstGeom>
          <a:noFill/>
          <a:ln/>
        </p:spPr>
        <p:txBody>
          <a:bodyPr wrap="square" lIns="0" tIns="0" rIns="0" bIns="0" rtlCol="0" anchor="t"/>
          <a:lstStyle/>
          <a:p>
            <a:pPr marL="0" indent="0">
              <a:lnSpc>
                <a:spcPct val="115000"/>
              </a:lnSpc>
              <a:buNone/>
            </a:pPr>
            <a:r>
              <a:rPr lang="en-US" sz="1300" dirty="0">
                <a:solidFill>
                  <a:srgbClr val="4A5568"/>
                </a:solidFill>
                <a:latin typeface="Arial" pitchFamily="34" charset="0"/>
                <a:ea typeface="Arial" pitchFamily="34" charset="-122"/>
                <a:cs typeface="Arial" pitchFamily="34" charset="-120"/>
              </a:rPr>
              <a:t>Tempo: öppna ett span → "Logs for this span". Loki filtreras på trace_id.</a:t>
            </a:r>
            <a:endParaRPr lang="en-US" sz="1300" dirty="0"/>
          </a:p>
        </p:txBody>
      </p:sp>
      <p:sp>
        <p:nvSpPr>
          <p:cNvPr id="11" name="Text 9"/>
          <p:cNvSpPr txBox="1"/>
          <p:nvPr/>
        </p:nvSpPr>
        <p:spPr>
          <a:xfrm>
            <a:off x="6388456" y="3017520"/>
            <a:ext cx="5090008" cy="274320"/>
          </a:xfrm>
          <a:prstGeom prst="rect">
            <a:avLst/>
          </a:prstGeom>
          <a:noFill/>
          <a:ln/>
        </p:spPr>
        <p:txBody>
          <a:bodyPr wrap="square" lIns="0" tIns="0" rIns="0" bIns="0" rtlCol="0" anchor="ctr"/>
          <a:lstStyle/>
          <a:p>
            <a:pPr marL="0" indent="0">
              <a:buNone/>
            </a:pPr>
            <a:r>
              <a:rPr lang="en-US" sz="1100" dirty="0">
                <a:solidFill>
                  <a:srgbClr val="3762FF"/>
                </a:solidFill>
                <a:latin typeface="Courier New" pitchFamily="34" charset="0"/>
                <a:ea typeface="Courier New" pitchFamily="34" charset="-122"/>
                <a:cs typeface="Courier New" pitchFamily="34" charset="-120"/>
              </a:rPr>
              <a:t>tracesToLogsV2</a:t>
            </a:r>
            <a:endParaRPr lang="en-US" sz="1100" dirty="0"/>
          </a:p>
        </p:txBody>
      </p:sp>
      <p:sp>
        <p:nvSpPr>
          <p:cNvPr id="12" name="Shape 10"/>
          <p:cNvSpPr/>
          <p:nvPr/>
        </p:nvSpPr>
        <p:spPr>
          <a:xfrm>
            <a:off x="548640" y="3703320"/>
            <a:ext cx="5455768" cy="1874520"/>
          </a:xfrm>
          <a:prstGeom prst="roundRect">
            <a:avLst>
              <a:gd name="adj" fmla="val 2927"/>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13" name="Text 11"/>
          <p:cNvSpPr txBox="1"/>
          <p:nvPr/>
        </p:nvSpPr>
        <p:spPr>
          <a:xfrm>
            <a:off x="749808" y="3904488"/>
            <a:ext cx="5053432" cy="320040"/>
          </a:xfrm>
          <a:prstGeom prst="rect">
            <a:avLst/>
          </a:prstGeom>
          <a:noFill/>
          <a:ln/>
        </p:spPr>
        <p:txBody>
          <a:bodyPr wrap="square" lIns="0" tIns="0" rIns="0" bIns="0" rtlCol="0" anchor="t"/>
          <a:lstStyle/>
          <a:p>
            <a:pPr marL="0" indent="0">
              <a:buNone/>
            </a:pPr>
            <a:r>
              <a:rPr lang="en-US" sz="1700" b="1" dirty="0">
                <a:solidFill>
                  <a:srgbClr val="16202B"/>
                </a:solidFill>
                <a:latin typeface="Calibri" pitchFamily="34" charset="0"/>
                <a:ea typeface="Calibri" pitchFamily="34" charset="-122"/>
                <a:cs typeface="Calibri" pitchFamily="34" charset="-120"/>
              </a:rPr>
              <a:t>Logg → Trace</a:t>
            </a:r>
            <a:endParaRPr lang="en-US" sz="1700" dirty="0"/>
          </a:p>
        </p:txBody>
      </p:sp>
      <p:sp>
        <p:nvSpPr>
          <p:cNvPr id="14" name="Text 12"/>
          <p:cNvSpPr txBox="1"/>
          <p:nvPr/>
        </p:nvSpPr>
        <p:spPr>
          <a:xfrm>
            <a:off x="749808" y="4288536"/>
            <a:ext cx="5053432" cy="1133856"/>
          </a:xfrm>
          <a:prstGeom prst="rect">
            <a:avLst/>
          </a:prstGeom>
          <a:noFill/>
          <a:ln/>
        </p:spPr>
        <p:txBody>
          <a:bodyPr wrap="square" lIns="0" tIns="0" rIns="0" bIns="0" rtlCol="0" anchor="t"/>
          <a:lstStyle/>
          <a:p>
            <a:pPr marL="0" indent="0">
              <a:lnSpc>
                <a:spcPct val="115000"/>
              </a:lnSpc>
              <a:buNone/>
            </a:pPr>
            <a:r>
              <a:rPr lang="en-US" sz="1300" dirty="0">
                <a:solidFill>
                  <a:srgbClr val="4A5568"/>
                </a:solidFill>
                <a:latin typeface="Arial" pitchFamily="34" charset="0"/>
                <a:ea typeface="Arial" pitchFamily="34" charset="-122"/>
                <a:cs typeface="Arial" pitchFamily="34" charset="-120"/>
              </a:rPr>
              <a:t>Loki: öppna en rad → trace_id har en Tempo-knapp.</a:t>
            </a:r>
            <a:endParaRPr lang="en-US" sz="1300" dirty="0"/>
          </a:p>
        </p:txBody>
      </p:sp>
      <p:sp>
        <p:nvSpPr>
          <p:cNvPr id="15" name="Text 13"/>
          <p:cNvSpPr txBox="1"/>
          <p:nvPr/>
        </p:nvSpPr>
        <p:spPr>
          <a:xfrm>
            <a:off x="749808" y="5120640"/>
            <a:ext cx="5090008" cy="274320"/>
          </a:xfrm>
          <a:prstGeom prst="rect">
            <a:avLst/>
          </a:prstGeom>
          <a:noFill/>
          <a:ln/>
        </p:spPr>
        <p:txBody>
          <a:bodyPr wrap="square" lIns="0" tIns="0" rIns="0" bIns="0" rtlCol="0" anchor="ctr"/>
          <a:lstStyle/>
          <a:p>
            <a:pPr marL="0" indent="0">
              <a:buNone/>
            </a:pPr>
            <a:r>
              <a:rPr lang="en-US" sz="1100" dirty="0">
                <a:solidFill>
                  <a:srgbClr val="3762FF"/>
                </a:solidFill>
                <a:latin typeface="Courier New" pitchFamily="34" charset="0"/>
                <a:ea typeface="Courier New" pitchFamily="34" charset="-122"/>
                <a:cs typeface="Courier New" pitchFamily="34" charset="-120"/>
              </a:rPr>
              <a:t>derivedFields</a:t>
            </a:r>
            <a:endParaRPr lang="en-US" sz="1100" dirty="0"/>
          </a:p>
        </p:txBody>
      </p:sp>
      <p:sp>
        <p:nvSpPr>
          <p:cNvPr id="16" name="Shape 14"/>
          <p:cNvSpPr/>
          <p:nvPr/>
        </p:nvSpPr>
        <p:spPr>
          <a:xfrm>
            <a:off x="6187288" y="3703320"/>
            <a:ext cx="5455768" cy="1874520"/>
          </a:xfrm>
          <a:prstGeom prst="roundRect">
            <a:avLst>
              <a:gd name="adj" fmla="val 2927"/>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17" name="Text 15"/>
          <p:cNvSpPr txBox="1"/>
          <p:nvPr/>
        </p:nvSpPr>
        <p:spPr>
          <a:xfrm>
            <a:off x="6388456" y="3904488"/>
            <a:ext cx="5053432" cy="320040"/>
          </a:xfrm>
          <a:prstGeom prst="rect">
            <a:avLst/>
          </a:prstGeom>
          <a:noFill/>
          <a:ln/>
        </p:spPr>
        <p:txBody>
          <a:bodyPr wrap="square" lIns="0" tIns="0" rIns="0" bIns="0" rtlCol="0" anchor="t"/>
          <a:lstStyle/>
          <a:p>
            <a:pPr marL="0" indent="0">
              <a:buNone/>
            </a:pPr>
            <a:r>
              <a:rPr lang="en-US" sz="1700" b="1" dirty="0">
                <a:solidFill>
                  <a:srgbClr val="16202B"/>
                </a:solidFill>
                <a:latin typeface="Calibri" pitchFamily="34" charset="0"/>
                <a:ea typeface="Calibri" pitchFamily="34" charset="-122"/>
                <a:cs typeface="Calibri" pitchFamily="34" charset="-120"/>
              </a:rPr>
              <a:t>Trace → Metrics</a:t>
            </a:r>
            <a:endParaRPr lang="en-US" sz="1700" dirty="0"/>
          </a:p>
        </p:txBody>
      </p:sp>
      <p:sp>
        <p:nvSpPr>
          <p:cNvPr id="18" name="Text 16"/>
          <p:cNvSpPr txBox="1"/>
          <p:nvPr/>
        </p:nvSpPr>
        <p:spPr>
          <a:xfrm>
            <a:off x="6388456" y="4288536"/>
            <a:ext cx="5053432" cy="1133856"/>
          </a:xfrm>
          <a:prstGeom prst="rect">
            <a:avLst/>
          </a:prstGeom>
          <a:noFill/>
          <a:ln/>
        </p:spPr>
        <p:txBody>
          <a:bodyPr wrap="square" lIns="0" tIns="0" rIns="0" bIns="0" rtlCol="0" anchor="t"/>
          <a:lstStyle/>
          <a:p>
            <a:pPr marL="0" indent="0">
              <a:lnSpc>
                <a:spcPct val="115000"/>
              </a:lnSpc>
              <a:buNone/>
            </a:pPr>
            <a:r>
              <a:rPr lang="en-US" sz="1300" dirty="0">
                <a:solidFill>
                  <a:srgbClr val="4A5568"/>
                </a:solidFill>
                <a:latin typeface="Arial" pitchFamily="34" charset="0"/>
                <a:ea typeface="Arial" pitchFamily="34" charset="-122"/>
                <a:cs typeface="Arial" pitchFamily="34" charset="-120"/>
              </a:rPr>
              <a:t>Tempo: Service Graph-fliken - anrop, fel och tider per tjänst.</a:t>
            </a:r>
            <a:endParaRPr lang="en-US" sz="1300" dirty="0"/>
          </a:p>
        </p:txBody>
      </p:sp>
      <p:sp>
        <p:nvSpPr>
          <p:cNvPr id="19" name="Text 17"/>
          <p:cNvSpPr txBox="1"/>
          <p:nvPr/>
        </p:nvSpPr>
        <p:spPr>
          <a:xfrm>
            <a:off x="6388456" y="5120640"/>
            <a:ext cx="5090008" cy="274320"/>
          </a:xfrm>
          <a:prstGeom prst="rect">
            <a:avLst/>
          </a:prstGeom>
          <a:noFill/>
          <a:ln/>
        </p:spPr>
        <p:txBody>
          <a:bodyPr wrap="square" lIns="0" tIns="0" rIns="0" bIns="0" rtlCol="0" anchor="ctr"/>
          <a:lstStyle/>
          <a:p>
            <a:pPr marL="0" indent="0">
              <a:buNone/>
            </a:pPr>
            <a:r>
              <a:rPr lang="en-US" sz="1100" dirty="0">
                <a:solidFill>
                  <a:srgbClr val="3762FF"/>
                </a:solidFill>
                <a:latin typeface="Courier New" pitchFamily="34" charset="0"/>
                <a:ea typeface="Courier New" pitchFamily="34" charset="-122"/>
                <a:cs typeface="Courier New" pitchFamily="34" charset="-120"/>
              </a:rPr>
              <a:t>serviceMap</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F1F33"/>
        </a:solidFill>
        <a:effectLst/>
      </p:bgPr>
    </p:bg>
    <p:spTree>
      <p:nvGrpSpPr>
        <p:cNvPr id="1" name=""/>
        <p:cNvGrpSpPr/>
        <p:nvPr/>
      </p:nvGrpSpPr>
      <p:grpSpPr>
        <a:xfrm>
          <a:off x="0" y="0"/>
          <a:ext cx="0" cy="0"/>
          <a:chOff x="0" y="0"/>
          <a:chExt cx="0" cy="0"/>
        </a:xfrm>
      </p:grpSpPr>
      <p:sp>
        <p:nvSpPr>
          <p:cNvPr id="2" name="Text 0"/>
          <p:cNvSpPr txBox="1"/>
          <p:nvPr/>
        </p:nvSpPr>
        <p:spPr>
          <a:xfrm>
            <a:off x="502920" y="1188720"/>
            <a:ext cx="4572000" cy="1920240"/>
          </a:xfrm>
          <a:prstGeom prst="rect">
            <a:avLst/>
          </a:prstGeom>
          <a:noFill/>
          <a:ln/>
        </p:spPr>
        <p:txBody>
          <a:bodyPr wrap="square" lIns="0" tIns="0" rIns="0" bIns="0" rtlCol="0" anchor="ctr"/>
          <a:lstStyle/>
          <a:p>
            <a:pPr marL="0" indent="0">
              <a:buNone/>
            </a:pPr>
            <a:r>
              <a:rPr lang="en-US" sz="15000" b="1" dirty="0">
                <a:solidFill>
                  <a:srgbClr val="16294A"/>
                </a:solidFill>
                <a:latin typeface="Calibri" pitchFamily="34" charset="0"/>
                <a:ea typeface="Calibri" pitchFamily="34" charset="-122"/>
                <a:cs typeface="Calibri" pitchFamily="34" charset="-120"/>
              </a:rPr>
              <a:t>04</a:t>
            </a:r>
            <a:endParaRPr lang="en-US" sz="15000" dirty="0"/>
          </a:p>
        </p:txBody>
      </p:sp>
      <p:sp>
        <p:nvSpPr>
          <p:cNvPr id="3" name="Text 1"/>
          <p:cNvSpPr txBox="1"/>
          <p:nvPr/>
        </p:nvSpPr>
        <p:spPr>
          <a:xfrm>
            <a:off x="548640" y="3063240"/>
            <a:ext cx="11094415" cy="822960"/>
          </a:xfrm>
          <a:prstGeom prst="rect">
            <a:avLst/>
          </a:prstGeom>
          <a:noFill/>
          <a:ln/>
        </p:spPr>
        <p:txBody>
          <a:bodyPr wrap="square" lIns="0" tIns="0" rIns="0" bIns="0" rtlCol="0" anchor="ctr"/>
          <a:lstStyle/>
          <a:p>
            <a:pPr marL="0" indent="0">
              <a:buNone/>
            </a:pPr>
            <a:r>
              <a:rPr lang="en-US" sz="5200" b="1" dirty="0">
                <a:solidFill>
                  <a:srgbClr val="F5F7FA"/>
                </a:solidFill>
                <a:latin typeface="Calibri" pitchFamily="34" charset="0"/>
                <a:ea typeface="Calibri" pitchFamily="34" charset="-122"/>
                <a:cs typeface="Calibri" pitchFamily="34" charset="-120"/>
              </a:rPr>
              <a:t>Bygg en dashboard</a:t>
            </a:r>
            <a:endParaRPr lang="en-US" sz="5200" dirty="0"/>
          </a:p>
        </p:txBody>
      </p:sp>
      <p:sp>
        <p:nvSpPr>
          <p:cNvPr id="4" name="Text 2"/>
          <p:cNvSpPr txBox="1"/>
          <p:nvPr/>
        </p:nvSpPr>
        <p:spPr>
          <a:xfrm>
            <a:off x="548640" y="3977640"/>
            <a:ext cx="9144000" cy="457200"/>
          </a:xfrm>
          <a:prstGeom prst="rect">
            <a:avLst/>
          </a:prstGeom>
          <a:noFill/>
          <a:ln/>
        </p:spPr>
        <p:txBody>
          <a:bodyPr wrap="square" lIns="0" tIns="0" rIns="0" bIns="0" rtlCol="0" anchor="t"/>
          <a:lstStyle/>
          <a:p>
            <a:pPr marL="0" indent="0">
              <a:lnSpc>
                <a:spcPct val="120000"/>
              </a:lnSpc>
              <a:buNone/>
            </a:pPr>
            <a:r>
              <a:rPr lang="en-US" sz="1800" dirty="0">
                <a:solidFill>
                  <a:srgbClr val="B9C4D1"/>
                </a:solidFill>
                <a:latin typeface="Arial" pitchFamily="34" charset="0"/>
                <a:ea typeface="Arial" pitchFamily="34" charset="-122"/>
                <a:cs typeface="Arial" pitchFamily="34" charset="-120"/>
              </a:rPr>
              <a:t>Vilka dashboards, vilka paneler - och hur, klick för klick</a:t>
            </a:r>
            <a:endParaRPr lang="en-US" sz="1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7F4"/>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marL="0" indent="0">
              <a:buNone/>
            </a:pPr>
            <a:r>
              <a:rPr lang="en-US" sz="1200" b="1" kern="0" spc="200" dirty="0">
                <a:solidFill>
                  <a:srgbClr val="3762FF"/>
                </a:solidFill>
                <a:latin typeface="Arial" pitchFamily="34" charset="0"/>
                <a:ea typeface="Arial" pitchFamily="34" charset="-122"/>
                <a:cs typeface="Arial" pitchFamily="34" charset="-120"/>
              </a:rPr>
              <a:t>DASHBOARD · VAD SKA MAN BYGGA?</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marL="0" indent="0">
              <a:buNone/>
            </a:pPr>
            <a:r>
              <a:rPr lang="en-US" sz="3000" b="1" dirty="0">
                <a:solidFill>
                  <a:srgbClr val="16202B"/>
                </a:solidFill>
                <a:latin typeface="Calibri" pitchFamily="34" charset="0"/>
                <a:ea typeface="Calibri" pitchFamily="34" charset="-122"/>
                <a:cs typeface="Calibri" pitchFamily="34" charset="-120"/>
              </a:rPr>
              <a:t>Fem sorters dashboards som täcker det mesta</a:t>
            </a:r>
            <a:endParaRPr lang="en-US" sz="3000" dirty="0"/>
          </a:p>
        </p:txBody>
      </p:sp>
      <p:sp>
        <p:nvSpPr>
          <p:cNvPr id="4" name="Shape 2"/>
          <p:cNvSpPr/>
          <p:nvPr/>
        </p:nvSpPr>
        <p:spPr>
          <a:xfrm>
            <a:off x="548640" y="1645920"/>
            <a:ext cx="2072579" cy="2377440"/>
          </a:xfrm>
          <a:prstGeom prst="roundRect">
            <a:avLst>
              <a:gd name="adj" fmla="val 2647"/>
            </a:avLst>
          </a:prstGeom>
          <a:solidFill>
            <a:srgbClr val="3762FF"/>
          </a:solidFill>
          <a:ln w="12700">
            <a:solidFill>
              <a:srgbClr val="3762FF"/>
            </a:solidFill>
            <a:prstDash val="solid"/>
          </a:ln>
        </p:spPr>
      </p:sp>
      <p:sp>
        <p:nvSpPr>
          <p:cNvPr id="5" name="Text 3"/>
          <p:cNvSpPr txBox="1"/>
          <p:nvPr/>
        </p:nvSpPr>
        <p:spPr>
          <a:xfrm>
            <a:off x="749808" y="1847088"/>
            <a:ext cx="1670243" cy="320040"/>
          </a:xfrm>
          <a:prstGeom prst="rect">
            <a:avLst/>
          </a:prstGeom>
          <a:noFill/>
          <a:ln/>
        </p:spPr>
        <p:txBody>
          <a:bodyPr wrap="square" lIns="0" tIns="0" rIns="0" bIns="0" rtlCol="0" anchor="t"/>
          <a:lstStyle/>
          <a:p>
            <a:pPr marL="0" indent="0">
              <a:buNone/>
            </a:pPr>
            <a:r>
              <a:rPr lang="en-US" sz="2000" b="1" dirty="0">
                <a:solidFill>
                  <a:srgbClr val="FFFFFF"/>
                </a:solidFill>
                <a:latin typeface="Calibri" pitchFamily="34" charset="0"/>
                <a:ea typeface="Calibri" pitchFamily="34" charset="-122"/>
                <a:cs typeface="Calibri" pitchFamily="34" charset="-120"/>
              </a:rPr>
              <a:t>RED</a:t>
            </a:r>
            <a:endParaRPr lang="en-US" sz="2000" dirty="0"/>
          </a:p>
        </p:txBody>
      </p:sp>
      <p:sp>
        <p:nvSpPr>
          <p:cNvPr id="6" name="Text 4"/>
          <p:cNvSpPr txBox="1"/>
          <p:nvPr/>
        </p:nvSpPr>
        <p:spPr>
          <a:xfrm>
            <a:off x="749808" y="2231136"/>
            <a:ext cx="1670243" cy="1636776"/>
          </a:xfrm>
          <a:prstGeom prst="rect">
            <a:avLst/>
          </a:prstGeom>
          <a:noFill/>
          <a:ln/>
        </p:spPr>
        <p:txBody>
          <a:bodyPr wrap="square" lIns="0" tIns="0" rIns="0" bIns="0" rtlCol="0" anchor="t"/>
          <a:lstStyle/>
          <a:p>
            <a:pPr marL="0" indent="0">
              <a:lnSpc>
                <a:spcPct val="115000"/>
              </a:lnSpc>
              <a:buNone/>
            </a:pPr>
            <a:r>
              <a:rPr lang="en-US" sz="1250" dirty="0">
                <a:solidFill>
                  <a:srgbClr val="FFFFFF"/>
                </a:solidFill>
                <a:latin typeface="Arial" pitchFamily="34" charset="0"/>
                <a:ea typeface="Arial" pitchFamily="34" charset="-122"/>
                <a:cs typeface="Arial" pitchFamily="34" charset="-120"/>
              </a:rPr>
              <a:t>Per tjänst: Rate, Errors, Duration. Svarar på: mår tjänsten bra just nu?</a:t>
            </a:r>
            <a:endParaRPr lang="en-US" sz="1250" dirty="0"/>
          </a:p>
        </p:txBody>
      </p:sp>
      <p:sp>
        <p:nvSpPr>
          <p:cNvPr id="7" name="Shape 5"/>
          <p:cNvSpPr/>
          <p:nvPr/>
        </p:nvSpPr>
        <p:spPr>
          <a:xfrm>
            <a:off x="2804099" y="1645920"/>
            <a:ext cx="2072579" cy="2377440"/>
          </a:xfrm>
          <a:prstGeom prst="roundRect">
            <a:avLst>
              <a:gd name="adj" fmla="val 2647"/>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8" name="Text 6"/>
          <p:cNvSpPr txBox="1"/>
          <p:nvPr/>
        </p:nvSpPr>
        <p:spPr>
          <a:xfrm>
            <a:off x="3005267" y="1847088"/>
            <a:ext cx="1670243" cy="320040"/>
          </a:xfrm>
          <a:prstGeom prst="rect">
            <a:avLst/>
          </a:prstGeom>
          <a:noFill/>
          <a:ln/>
        </p:spPr>
        <p:txBody>
          <a:bodyPr wrap="square" lIns="0" tIns="0" rIns="0" bIns="0" rtlCol="0" anchor="t"/>
          <a:lstStyle/>
          <a:p>
            <a:pPr marL="0" indent="0">
              <a:buNone/>
            </a:pPr>
            <a:r>
              <a:rPr lang="en-US" sz="2000" b="1" dirty="0">
                <a:solidFill>
                  <a:srgbClr val="16202B"/>
                </a:solidFill>
                <a:latin typeface="Calibri" pitchFamily="34" charset="0"/>
                <a:ea typeface="Calibri" pitchFamily="34" charset="-122"/>
                <a:cs typeface="Calibri" pitchFamily="34" charset="-120"/>
              </a:rPr>
              <a:t>USE</a:t>
            </a:r>
            <a:endParaRPr lang="en-US" sz="2000" dirty="0"/>
          </a:p>
        </p:txBody>
      </p:sp>
      <p:sp>
        <p:nvSpPr>
          <p:cNvPr id="9" name="Text 7"/>
          <p:cNvSpPr txBox="1"/>
          <p:nvPr/>
        </p:nvSpPr>
        <p:spPr>
          <a:xfrm>
            <a:off x="3005267" y="2231136"/>
            <a:ext cx="1670243" cy="1636776"/>
          </a:xfrm>
          <a:prstGeom prst="rect">
            <a:avLst/>
          </a:prstGeom>
          <a:noFill/>
          <a:ln/>
        </p:spPr>
        <p:txBody>
          <a:bodyPr wrap="square" lIns="0" tIns="0" rIns="0" bIns="0" rtlCol="0" anchor="t"/>
          <a:lstStyle/>
          <a:p>
            <a:pPr marL="0" indent="0">
              <a:lnSpc>
                <a:spcPct val="115000"/>
              </a:lnSpc>
              <a:buNone/>
            </a:pPr>
            <a:r>
              <a:rPr lang="en-US" sz="1250" dirty="0">
                <a:solidFill>
                  <a:srgbClr val="4A5568"/>
                </a:solidFill>
                <a:latin typeface="Arial" pitchFamily="34" charset="0"/>
                <a:ea typeface="Arial" pitchFamily="34" charset="-122"/>
                <a:cs typeface="Arial" pitchFamily="34" charset="-120"/>
              </a:rPr>
              <a:t>Per resurs: Utilization, Saturation, Errors - CPU, minne, köer, databas.</a:t>
            </a:r>
            <a:endParaRPr lang="en-US" sz="1250" dirty="0"/>
          </a:p>
        </p:txBody>
      </p:sp>
      <p:sp>
        <p:nvSpPr>
          <p:cNvPr id="10" name="Shape 8"/>
          <p:cNvSpPr/>
          <p:nvPr/>
        </p:nvSpPr>
        <p:spPr>
          <a:xfrm>
            <a:off x="5059558" y="1645920"/>
            <a:ext cx="2072579" cy="2377440"/>
          </a:xfrm>
          <a:prstGeom prst="roundRect">
            <a:avLst>
              <a:gd name="adj" fmla="val 2647"/>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11" name="Text 9"/>
          <p:cNvSpPr txBox="1"/>
          <p:nvPr/>
        </p:nvSpPr>
        <p:spPr>
          <a:xfrm>
            <a:off x="5260726" y="1847088"/>
            <a:ext cx="1670243" cy="320040"/>
          </a:xfrm>
          <a:prstGeom prst="rect">
            <a:avLst/>
          </a:prstGeom>
          <a:noFill/>
          <a:ln/>
        </p:spPr>
        <p:txBody>
          <a:bodyPr wrap="square" lIns="0" tIns="0" rIns="0" bIns="0" rtlCol="0" anchor="t"/>
          <a:lstStyle/>
          <a:p>
            <a:pPr marL="0" indent="0">
              <a:buNone/>
            </a:pPr>
            <a:r>
              <a:rPr lang="en-US" sz="2000" b="1" dirty="0">
                <a:solidFill>
                  <a:srgbClr val="16202B"/>
                </a:solidFill>
                <a:latin typeface="Calibri" pitchFamily="34" charset="0"/>
                <a:ea typeface="Calibri" pitchFamily="34" charset="-122"/>
                <a:cs typeface="Calibri" pitchFamily="34" charset="-120"/>
              </a:rPr>
              <a:t>Affär</a:t>
            </a:r>
            <a:endParaRPr lang="en-US" sz="2000" dirty="0"/>
          </a:p>
        </p:txBody>
      </p:sp>
      <p:sp>
        <p:nvSpPr>
          <p:cNvPr id="12" name="Text 10"/>
          <p:cNvSpPr txBox="1"/>
          <p:nvPr/>
        </p:nvSpPr>
        <p:spPr>
          <a:xfrm>
            <a:off x="5260726" y="2231136"/>
            <a:ext cx="1670243" cy="1636776"/>
          </a:xfrm>
          <a:prstGeom prst="rect">
            <a:avLst/>
          </a:prstGeom>
          <a:noFill/>
          <a:ln/>
        </p:spPr>
        <p:txBody>
          <a:bodyPr wrap="square" lIns="0" tIns="0" rIns="0" bIns="0" rtlCol="0" anchor="t"/>
          <a:lstStyle/>
          <a:p>
            <a:pPr marL="0" indent="0">
              <a:lnSpc>
                <a:spcPct val="115000"/>
              </a:lnSpc>
              <a:buNone/>
            </a:pPr>
            <a:r>
              <a:rPr lang="en-US" sz="1250" dirty="0">
                <a:solidFill>
                  <a:srgbClr val="4A5568"/>
                </a:solidFill>
                <a:latin typeface="Arial" pitchFamily="34" charset="0"/>
                <a:ea typeface="Arial" pitchFamily="34" charset="-122"/>
                <a:cs typeface="Arial" pitchFamily="34" charset="-120"/>
              </a:rPr>
              <a:t>Det verksamheten bryr sig om: nya kunder, utförda kommandon.</a:t>
            </a:r>
            <a:endParaRPr lang="en-US" sz="1250" dirty="0"/>
          </a:p>
        </p:txBody>
      </p:sp>
      <p:sp>
        <p:nvSpPr>
          <p:cNvPr id="13" name="Shape 11"/>
          <p:cNvSpPr/>
          <p:nvPr/>
        </p:nvSpPr>
        <p:spPr>
          <a:xfrm>
            <a:off x="7315017" y="1645920"/>
            <a:ext cx="2072579" cy="2377440"/>
          </a:xfrm>
          <a:prstGeom prst="roundRect">
            <a:avLst>
              <a:gd name="adj" fmla="val 2647"/>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14" name="Text 12"/>
          <p:cNvSpPr txBox="1"/>
          <p:nvPr/>
        </p:nvSpPr>
        <p:spPr>
          <a:xfrm>
            <a:off x="7516185" y="1847088"/>
            <a:ext cx="1670243" cy="320040"/>
          </a:xfrm>
          <a:prstGeom prst="rect">
            <a:avLst/>
          </a:prstGeom>
          <a:noFill/>
          <a:ln/>
        </p:spPr>
        <p:txBody>
          <a:bodyPr wrap="square" lIns="0" tIns="0" rIns="0" bIns="0" rtlCol="0" anchor="t"/>
          <a:lstStyle/>
          <a:p>
            <a:pPr marL="0" indent="0">
              <a:buNone/>
            </a:pPr>
            <a:r>
              <a:rPr lang="en-US" sz="2000" b="1" dirty="0">
                <a:solidFill>
                  <a:srgbClr val="16202B"/>
                </a:solidFill>
                <a:latin typeface="Calibri" pitchFamily="34" charset="0"/>
                <a:ea typeface="Calibri" pitchFamily="34" charset="-122"/>
                <a:cs typeface="Calibri" pitchFamily="34" charset="-120"/>
              </a:rPr>
              <a:t>Översikt</a:t>
            </a:r>
            <a:endParaRPr lang="en-US" sz="2000" dirty="0"/>
          </a:p>
        </p:txBody>
      </p:sp>
      <p:sp>
        <p:nvSpPr>
          <p:cNvPr id="15" name="Text 13"/>
          <p:cNvSpPr txBox="1"/>
          <p:nvPr/>
        </p:nvSpPr>
        <p:spPr>
          <a:xfrm>
            <a:off x="7516185" y="2231136"/>
            <a:ext cx="1670243" cy="1636776"/>
          </a:xfrm>
          <a:prstGeom prst="rect">
            <a:avLst/>
          </a:prstGeom>
          <a:noFill/>
          <a:ln/>
        </p:spPr>
        <p:txBody>
          <a:bodyPr wrap="square" lIns="0" tIns="0" rIns="0" bIns="0" rtlCol="0" anchor="t"/>
          <a:lstStyle/>
          <a:p>
            <a:pPr marL="0" indent="0">
              <a:lnSpc>
                <a:spcPct val="115000"/>
              </a:lnSpc>
              <a:buNone/>
            </a:pPr>
            <a:r>
              <a:rPr lang="en-US" sz="1250" dirty="0">
                <a:solidFill>
                  <a:srgbClr val="4A5568"/>
                </a:solidFill>
                <a:latin typeface="Arial" pitchFamily="34" charset="0"/>
                <a:ea typeface="Arial" pitchFamily="34" charset="-122"/>
                <a:cs typeface="Arial" pitchFamily="34" charset="-120"/>
              </a:rPr>
              <a:t>Landningssida: några siffror per tjänst, länkar vidare.</a:t>
            </a:r>
            <a:endParaRPr lang="en-US" sz="1250" dirty="0"/>
          </a:p>
        </p:txBody>
      </p:sp>
      <p:sp>
        <p:nvSpPr>
          <p:cNvPr id="16" name="Shape 14"/>
          <p:cNvSpPr/>
          <p:nvPr/>
        </p:nvSpPr>
        <p:spPr>
          <a:xfrm>
            <a:off x="9570476" y="1645920"/>
            <a:ext cx="2072579" cy="2377440"/>
          </a:xfrm>
          <a:prstGeom prst="roundRect">
            <a:avLst>
              <a:gd name="adj" fmla="val 2647"/>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17" name="Text 15"/>
          <p:cNvSpPr txBox="1"/>
          <p:nvPr/>
        </p:nvSpPr>
        <p:spPr>
          <a:xfrm>
            <a:off x="9771644" y="1847088"/>
            <a:ext cx="1670243" cy="320040"/>
          </a:xfrm>
          <a:prstGeom prst="rect">
            <a:avLst/>
          </a:prstGeom>
          <a:noFill/>
          <a:ln/>
        </p:spPr>
        <p:txBody>
          <a:bodyPr wrap="square" lIns="0" tIns="0" rIns="0" bIns="0" rtlCol="0" anchor="t"/>
          <a:lstStyle/>
          <a:p>
            <a:pPr marL="0" indent="0">
              <a:buNone/>
            </a:pPr>
            <a:r>
              <a:rPr lang="en-US" sz="2000" b="1" dirty="0">
                <a:solidFill>
                  <a:srgbClr val="16202B"/>
                </a:solidFill>
                <a:latin typeface="Calibri" pitchFamily="34" charset="0"/>
                <a:ea typeface="Calibri" pitchFamily="34" charset="-122"/>
                <a:cs typeface="Calibri" pitchFamily="34" charset="-120"/>
              </a:rPr>
              <a:t>Felsökning</a:t>
            </a:r>
            <a:endParaRPr lang="en-US" sz="2000" dirty="0"/>
          </a:p>
        </p:txBody>
      </p:sp>
      <p:sp>
        <p:nvSpPr>
          <p:cNvPr id="18" name="Text 16"/>
          <p:cNvSpPr txBox="1"/>
          <p:nvPr/>
        </p:nvSpPr>
        <p:spPr>
          <a:xfrm>
            <a:off x="9771644" y="2231136"/>
            <a:ext cx="1670243" cy="1636776"/>
          </a:xfrm>
          <a:prstGeom prst="rect">
            <a:avLst/>
          </a:prstGeom>
          <a:noFill/>
          <a:ln/>
        </p:spPr>
        <p:txBody>
          <a:bodyPr wrap="square" lIns="0" tIns="0" rIns="0" bIns="0" rtlCol="0" anchor="t"/>
          <a:lstStyle/>
          <a:p>
            <a:pPr marL="0" indent="0">
              <a:lnSpc>
                <a:spcPct val="115000"/>
              </a:lnSpc>
              <a:buNone/>
            </a:pPr>
            <a:r>
              <a:rPr lang="en-US" sz="1250" dirty="0">
                <a:solidFill>
                  <a:srgbClr val="4A5568"/>
                </a:solidFill>
                <a:latin typeface="Arial" pitchFamily="34" charset="0"/>
                <a:ea typeface="Arial" pitchFamily="34" charset="-122"/>
                <a:cs typeface="Arial" pitchFamily="34" charset="-120"/>
              </a:rPr>
              <a:t>Traces och loggar bredvid metrics för en tjänst.</a:t>
            </a:r>
            <a:endParaRPr lang="en-US" sz="1250" dirty="0"/>
          </a:p>
        </p:txBody>
      </p:sp>
      <p:sp>
        <p:nvSpPr>
          <p:cNvPr id="19" name="Shape 17"/>
          <p:cNvSpPr/>
          <p:nvPr/>
        </p:nvSpPr>
        <p:spPr>
          <a:xfrm>
            <a:off x="548640" y="4343400"/>
            <a:ext cx="11094415" cy="1280160"/>
          </a:xfrm>
          <a:prstGeom prst="roundRect">
            <a:avLst>
              <a:gd name="adj" fmla="val 4286"/>
            </a:avLst>
          </a:prstGeom>
          <a:solidFill>
            <a:srgbClr val="E8EDFF"/>
          </a:solidFill>
          <a:ln w="12700">
            <a:solidFill>
              <a:srgbClr val="E8EDFF"/>
            </a:solidFill>
            <a:prstDash val="solid"/>
          </a:ln>
        </p:spPr>
      </p:sp>
      <p:sp>
        <p:nvSpPr>
          <p:cNvPr id="20" name="Text 18"/>
          <p:cNvSpPr txBox="1"/>
          <p:nvPr/>
        </p:nvSpPr>
        <p:spPr>
          <a:xfrm>
            <a:off x="822960" y="4343400"/>
            <a:ext cx="10545775" cy="1280160"/>
          </a:xfrm>
          <a:prstGeom prst="rect">
            <a:avLst/>
          </a:prstGeom>
          <a:noFill/>
          <a:ln/>
        </p:spPr>
        <p:txBody>
          <a:bodyPr wrap="square" lIns="0" tIns="0" rIns="0" bIns="0" rtlCol="0" anchor="ctr"/>
          <a:lstStyle/>
          <a:p>
            <a:pPr marL="0" indent="0">
              <a:buNone/>
            </a:pPr>
            <a:r>
              <a:rPr lang="en-US" sz="1500" b="1" dirty="0">
                <a:solidFill>
                  <a:srgbClr val="16202B"/>
                </a:solidFill>
                <a:latin typeface="Arial" pitchFamily="34" charset="0"/>
                <a:ea typeface="Arial" pitchFamily="34" charset="-122"/>
                <a:cs typeface="Arial" pitchFamily="34" charset="-120"/>
              </a:rPr>
              <a:t>Tumregel: </a:t>
            </a:r>
            <a:r>
              <a:rPr lang="en-US" sz="1500" dirty="0">
                <a:solidFill>
                  <a:srgbClr val="4A5568"/>
                </a:solidFill>
                <a:latin typeface="Arial" pitchFamily="34" charset="0"/>
                <a:ea typeface="Arial" pitchFamily="34" charset="-122"/>
                <a:cs typeface="Arial" pitchFamily="34" charset="-120"/>
              </a:rPr>
              <a:t>en dashboard ska svara på EN fråga. Börja med RED för varje tjänst - de tre panelerna fångar nästan alla problem en användare märker.</a:t>
            </a:r>
            <a:endParaRPr lang="en-US" sz="15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F1F33"/>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marL="0" indent="0">
              <a:buNone/>
            </a:pPr>
            <a:r>
              <a:rPr lang="en-US" sz="1200" b="1" kern="0" spc="200" dirty="0">
                <a:solidFill>
                  <a:srgbClr val="7C9CFF"/>
                </a:solidFill>
                <a:latin typeface="Arial" pitchFamily="34" charset="0"/>
                <a:ea typeface="Arial" pitchFamily="34" charset="-122"/>
                <a:cs typeface="Arial" pitchFamily="34" charset="-120"/>
              </a:rPr>
              <a:t>DASHBOARD · PANEL-EDITORN</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marL="0" indent="0">
              <a:buNone/>
            </a:pPr>
            <a:r>
              <a:rPr lang="en-US" sz="3000" b="1" dirty="0">
                <a:solidFill>
                  <a:srgbClr val="F5F7FA"/>
                </a:solidFill>
                <a:latin typeface="Calibri" pitchFamily="34" charset="0"/>
                <a:ea typeface="Calibri" pitchFamily="34" charset="-122"/>
                <a:cs typeface="Calibri" pitchFamily="34" charset="-120"/>
              </a:rPr>
              <a:t>Dashboards → New → Add visualization</a:t>
            </a:r>
            <a:endParaRPr lang="en-US" sz="3000" dirty="0"/>
          </a:p>
        </p:txBody>
      </p:sp>
      <p:sp>
        <p:nvSpPr>
          <p:cNvPr id="4" name="Shape 2"/>
          <p:cNvSpPr/>
          <p:nvPr/>
        </p:nvSpPr>
        <p:spPr>
          <a:xfrm>
            <a:off x="548640" y="1508760"/>
            <a:ext cx="7863840" cy="4434840"/>
          </a:xfrm>
          <a:prstGeom prst="roundRect">
            <a:avLst>
              <a:gd name="adj" fmla="val 1237"/>
            </a:avLst>
          </a:prstGeom>
          <a:solidFill>
            <a:srgbClr val="16294A"/>
          </a:solidFill>
          <a:ln w="12700">
            <a:solidFill>
              <a:srgbClr val="16294A"/>
            </a:solidFill>
            <a:prstDash val="solid"/>
          </a:ln>
        </p:spPr>
      </p:sp>
      <p:sp>
        <p:nvSpPr>
          <p:cNvPr id="5" name="Shape 3"/>
          <p:cNvSpPr/>
          <p:nvPr/>
        </p:nvSpPr>
        <p:spPr>
          <a:xfrm>
            <a:off x="685800" y="1645920"/>
            <a:ext cx="5120640" cy="2103120"/>
          </a:xfrm>
          <a:prstGeom prst="roundRect">
            <a:avLst>
              <a:gd name="adj" fmla="val 1739"/>
            </a:avLst>
          </a:prstGeom>
          <a:solidFill>
            <a:srgbClr val="0F1F33"/>
          </a:solidFill>
          <a:ln w="12700">
            <a:solidFill>
              <a:srgbClr val="2A3E63"/>
            </a:solidFill>
            <a:prstDash val="solid"/>
          </a:ln>
        </p:spPr>
      </p:sp>
      <p:sp>
        <p:nvSpPr>
          <p:cNvPr id="6" name="Text 4"/>
          <p:cNvSpPr txBox="1"/>
          <p:nvPr/>
        </p:nvSpPr>
        <p:spPr>
          <a:xfrm>
            <a:off x="795528" y="1645920"/>
            <a:ext cx="4901184" cy="2103120"/>
          </a:xfrm>
          <a:prstGeom prst="rect">
            <a:avLst/>
          </a:prstGeom>
          <a:noFill/>
          <a:ln/>
        </p:spPr>
        <p:txBody>
          <a:bodyPr wrap="square" lIns="0" tIns="0" rIns="0" bIns="0" rtlCol="0" anchor="ctr"/>
          <a:lstStyle/>
          <a:p>
            <a:pPr marL="0" indent="0">
              <a:buNone/>
            </a:pPr>
            <a:r>
              <a:rPr lang="en-US" sz="1200" b="1" dirty="0">
                <a:solidFill>
                  <a:srgbClr val="7C9CFF"/>
                </a:solidFill>
                <a:latin typeface="Arial" pitchFamily="34" charset="0"/>
                <a:ea typeface="Arial" pitchFamily="34" charset="-122"/>
                <a:cs typeface="Arial" pitchFamily="34" charset="-120"/>
              </a:rPr>
              <a:t>3  </a:t>
            </a:r>
            <a:r>
              <a:rPr lang="en-US" sz="1200" dirty="0">
                <a:solidFill>
                  <a:srgbClr val="F5F7FA"/>
                </a:solidFill>
                <a:latin typeface="Arial" pitchFamily="34" charset="0"/>
                <a:ea typeface="Arial" pitchFamily="34" charset="-122"/>
                <a:cs typeface="Arial" pitchFamily="34" charset="-120"/>
              </a:rPr>
              <a:t>Förhandsvisning av panelen</a:t>
            </a:r>
            <a:endParaRPr lang="en-US" sz="1200" dirty="0"/>
          </a:p>
        </p:txBody>
      </p:sp>
      <p:sp>
        <p:nvSpPr>
          <p:cNvPr id="7" name="Shape 5"/>
          <p:cNvSpPr/>
          <p:nvPr/>
        </p:nvSpPr>
        <p:spPr>
          <a:xfrm>
            <a:off x="685800" y="3840480"/>
            <a:ext cx="5120640" cy="457200"/>
          </a:xfrm>
          <a:prstGeom prst="roundRect">
            <a:avLst>
              <a:gd name="adj" fmla="val 8000"/>
            </a:avLst>
          </a:prstGeom>
          <a:solidFill>
            <a:srgbClr val="0F1F33"/>
          </a:solidFill>
          <a:ln w="12700">
            <a:solidFill>
              <a:srgbClr val="2A3E63"/>
            </a:solidFill>
            <a:prstDash val="solid"/>
          </a:ln>
        </p:spPr>
      </p:sp>
      <p:sp>
        <p:nvSpPr>
          <p:cNvPr id="8" name="Text 6"/>
          <p:cNvSpPr txBox="1"/>
          <p:nvPr/>
        </p:nvSpPr>
        <p:spPr>
          <a:xfrm>
            <a:off x="795528" y="3840480"/>
            <a:ext cx="4901184" cy="457200"/>
          </a:xfrm>
          <a:prstGeom prst="rect">
            <a:avLst/>
          </a:prstGeom>
          <a:noFill/>
          <a:ln/>
        </p:spPr>
        <p:txBody>
          <a:bodyPr wrap="square" lIns="0" tIns="0" rIns="0" bIns="0" rtlCol="0" anchor="ctr"/>
          <a:lstStyle/>
          <a:p>
            <a:pPr marL="0" indent="0">
              <a:buNone/>
            </a:pPr>
            <a:r>
              <a:rPr lang="en-US" sz="1200" b="1" dirty="0">
                <a:solidFill>
                  <a:srgbClr val="7C9CFF"/>
                </a:solidFill>
                <a:latin typeface="Arial" pitchFamily="34" charset="0"/>
                <a:ea typeface="Arial" pitchFamily="34" charset="-122"/>
                <a:cs typeface="Arial" pitchFamily="34" charset="-120"/>
              </a:rPr>
              <a:t>1  </a:t>
            </a:r>
            <a:r>
              <a:rPr lang="en-US" sz="1200" dirty="0">
                <a:solidFill>
                  <a:srgbClr val="F5F7FA"/>
                </a:solidFill>
                <a:latin typeface="Arial" pitchFamily="34" charset="0"/>
                <a:ea typeface="Arial" pitchFamily="34" charset="-122"/>
                <a:cs typeface="Arial" pitchFamily="34" charset="-120"/>
              </a:rPr>
              <a:t>Data source: Prometheus</a:t>
            </a:r>
            <a:endParaRPr lang="en-US" sz="1200" dirty="0"/>
          </a:p>
        </p:txBody>
      </p:sp>
      <p:sp>
        <p:nvSpPr>
          <p:cNvPr id="9" name="Shape 7"/>
          <p:cNvSpPr/>
          <p:nvPr/>
        </p:nvSpPr>
        <p:spPr>
          <a:xfrm>
            <a:off x="685800" y="4389120"/>
            <a:ext cx="5120640" cy="1417320"/>
          </a:xfrm>
          <a:prstGeom prst="roundRect">
            <a:avLst>
              <a:gd name="adj" fmla="val 2581"/>
            </a:avLst>
          </a:prstGeom>
          <a:solidFill>
            <a:srgbClr val="3762FF"/>
          </a:solidFill>
          <a:ln w="12700">
            <a:solidFill>
              <a:srgbClr val="3762FF"/>
            </a:solidFill>
            <a:prstDash val="solid"/>
          </a:ln>
        </p:spPr>
      </p:sp>
      <p:sp>
        <p:nvSpPr>
          <p:cNvPr id="10" name="Text 8"/>
          <p:cNvSpPr txBox="1"/>
          <p:nvPr/>
        </p:nvSpPr>
        <p:spPr>
          <a:xfrm>
            <a:off x="795528" y="4389120"/>
            <a:ext cx="4901184" cy="1417320"/>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2  </a:t>
            </a:r>
            <a:r>
              <a:rPr lang="en-US" sz="1200" dirty="0">
                <a:solidFill>
                  <a:srgbClr val="F5F7FA"/>
                </a:solidFill>
                <a:latin typeface="Arial" pitchFamily="34" charset="0"/>
                <a:ea typeface="Arial" pitchFamily="34" charset="-122"/>
                <a:cs typeface="Arial" pitchFamily="34" charset="-120"/>
              </a:rPr>
              <a:t>Query: Builder | Code  ·  Legend  ·  Run queries</a:t>
            </a:r>
            <a:endParaRPr lang="en-US" sz="1200" dirty="0"/>
          </a:p>
        </p:txBody>
      </p:sp>
      <p:sp>
        <p:nvSpPr>
          <p:cNvPr id="11" name="Shape 9"/>
          <p:cNvSpPr/>
          <p:nvPr/>
        </p:nvSpPr>
        <p:spPr>
          <a:xfrm>
            <a:off x="5943600" y="1645920"/>
            <a:ext cx="2331720" cy="548640"/>
          </a:xfrm>
          <a:prstGeom prst="roundRect">
            <a:avLst>
              <a:gd name="adj" fmla="val 6667"/>
            </a:avLst>
          </a:prstGeom>
          <a:solidFill>
            <a:srgbClr val="0F1F33"/>
          </a:solidFill>
          <a:ln w="12700">
            <a:solidFill>
              <a:srgbClr val="2A3E63"/>
            </a:solidFill>
            <a:prstDash val="solid"/>
          </a:ln>
        </p:spPr>
      </p:sp>
      <p:sp>
        <p:nvSpPr>
          <p:cNvPr id="12" name="Text 10"/>
          <p:cNvSpPr txBox="1"/>
          <p:nvPr/>
        </p:nvSpPr>
        <p:spPr>
          <a:xfrm>
            <a:off x="6053328" y="1645920"/>
            <a:ext cx="2112264" cy="548640"/>
          </a:xfrm>
          <a:prstGeom prst="rect">
            <a:avLst/>
          </a:prstGeom>
          <a:noFill/>
          <a:ln/>
        </p:spPr>
        <p:txBody>
          <a:bodyPr wrap="square" lIns="0" tIns="0" rIns="0" bIns="0" rtlCol="0" anchor="ctr"/>
          <a:lstStyle/>
          <a:p>
            <a:pPr marL="0" indent="0">
              <a:buNone/>
            </a:pPr>
            <a:r>
              <a:rPr lang="en-US" sz="1200" b="1" dirty="0">
                <a:solidFill>
                  <a:srgbClr val="7C9CFF"/>
                </a:solidFill>
                <a:latin typeface="Arial" pitchFamily="34" charset="0"/>
                <a:ea typeface="Arial" pitchFamily="34" charset="-122"/>
                <a:cs typeface="Arial" pitchFamily="34" charset="-120"/>
              </a:rPr>
              <a:t>4  </a:t>
            </a:r>
            <a:r>
              <a:rPr lang="en-US" sz="1200" dirty="0">
                <a:solidFill>
                  <a:srgbClr val="F5F7FA"/>
                </a:solidFill>
                <a:latin typeface="Arial" pitchFamily="34" charset="0"/>
                <a:ea typeface="Arial" pitchFamily="34" charset="-122"/>
                <a:cs typeface="Arial" pitchFamily="34" charset="-120"/>
              </a:rPr>
              <a:t>Visualisering</a:t>
            </a:r>
            <a:endParaRPr lang="en-US" sz="1200" dirty="0"/>
          </a:p>
        </p:txBody>
      </p:sp>
      <p:sp>
        <p:nvSpPr>
          <p:cNvPr id="13" name="Shape 11"/>
          <p:cNvSpPr/>
          <p:nvPr/>
        </p:nvSpPr>
        <p:spPr>
          <a:xfrm>
            <a:off x="5943600" y="2286000"/>
            <a:ext cx="2331720" cy="548640"/>
          </a:xfrm>
          <a:prstGeom prst="roundRect">
            <a:avLst>
              <a:gd name="adj" fmla="val 6667"/>
            </a:avLst>
          </a:prstGeom>
          <a:solidFill>
            <a:srgbClr val="0F1F33"/>
          </a:solidFill>
          <a:ln w="12700">
            <a:solidFill>
              <a:srgbClr val="2A3E63"/>
            </a:solidFill>
            <a:prstDash val="solid"/>
          </a:ln>
        </p:spPr>
      </p:sp>
      <p:sp>
        <p:nvSpPr>
          <p:cNvPr id="14" name="Text 12"/>
          <p:cNvSpPr txBox="1"/>
          <p:nvPr/>
        </p:nvSpPr>
        <p:spPr>
          <a:xfrm>
            <a:off x="6053328" y="2286000"/>
            <a:ext cx="2112264" cy="548640"/>
          </a:xfrm>
          <a:prstGeom prst="rect">
            <a:avLst/>
          </a:prstGeom>
          <a:noFill/>
          <a:ln/>
        </p:spPr>
        <p:txBody>
          <a:bodyPr wrap="square" lIns="0" tIns="0" rIns="0" bIns="0" rtlCol="0" anchor="ctr"/>
          <a:lstStyle/>
          <a:p>
            <a:pPr marL="0" indent="0">
              <a:buNone/>
            </a:pPr>
            <a:r>
              <a:rPr lang="en-US" sz="1200" b="1" dirty="0">
                <a:solidFill>
                  <a:srgbClr val="7C9CFF"/>
                </a:solidFill>
                <a:latin typeface="Arial" pitchFamily="34" charset="0"/>
                <a:ea typeface="Arial" pitchFamily="34" charset="-122"/>
                <a:cs typeface="Arial" pitchFamily="34" charset="-120"/>
              </a:rPr>
              <a:t>5  </a:t>
            </a:r>
            <a:r>
              <a:rPr lang="en-US" sz="1200" dirty="0">
                <a:solidFill>
                  <a:srgbClr val="F5F7FA"/>
                </a:solidFill>
                <a:latin typeface="Arial" pitchFamily="34" charset="0"/>
                <a:ea typeface="Arial" pitchFamily="34" charset="-122"/>
                <a:cs typeface="Arial" pitchFamily="34" charset="-120"/>
              </a:rPr>
              <a:t>Panel options</a:t>
            </a:r>
            <a:endParaRPr lang="en-US" sz="1200" dirty="0"/>
          </a:p>
        </p:txBody>
      </p:sp>
      <p:sp>
        <p:nvSpPr>
          <p:cNvPr id="15" name="Shape 13"/>
          <p:cNvSpPr/>
          <p:nvPr/>
        </p:nvSpPr>
        <p:spPr>
          <a:xfrm>
            <a:off x="5943600" y="2926080"/>
            <a:ext cx="2331720" cy="548640"/>
          </a:xfrm>
          <a:prstGeom prst="roundRect">
            <a:avLst>
              <a:gd name="adj" fmla="val 6667"/>
            </a:avLst>
          </a:prstGeom>
          <a:solidFill>
            <a:srgbClr val="0F1F33"/>
          </a:solidFill>
          <a:ln w="12700">
            <a:solidFill>
              <a:srgbClr val="2A3E63"/>
            </a:solidFill>
            <a:prstDash val="solid"/>
          </a:ln>
        </p:spPr>
      </p:sp>
      <p:sp>
        <p:nvSpPr>
          <p:cNvPr id="16" name="Text 14"/>
          <p:cNvSpPr txBox="1"/>
          <p:nvPr/>
        </p:nvSpPr>
        <p:spPr>
          <a:xfrm>
            <a:off x="6053328" y="2926080"/>
            <a:ext cx="2112264" cy="548640"/>
          </a:xfrm>
          <a:prstGeom prst="rect">
            <a:avLst/>
          </a:prstGeom>
          <a:noFill/>
          <a:ln/>
        </p:spPr>
        <p:txBody>
          <a:bodyPr wrap="square" lIns="0" tIns="0" rIns="0" bIns="0" rtlCol="0" anchor="ctr"/>
          <a:lstStyle/>
          <a:p>
            <a:pPr marL="0" indent="0">
              <a:buNone/>
            </a:pPr>
            <a:r>
              <a:rPr lang="en-US" sz="1200" b="1" dirty="0">
                <a:solidFill>
                  <a:srgbClr val="7C9CFF"/>
                </a:solidFill>
                <a:latin typeface="Arial" pitchFamily="34" charset="0"/>
                <a:ea typeface="Arial" pitchFamily="34" charset="-122"/>
                <a:cs typeface="Arial" pitchFamily="34" charset="-120"/>
              </a:rPr>
              <a:t>6  </a:t>
            </a:r>
            <a:r>
              <a:rPr lang="en-US" sz="1200" dirty="0">
                <a:solidFill>
                  <a:srgbClr val="F5F7FA"/>
                </a:solidFill>
                <a:latin typeface="Arial" pitchFamily="34" charset="0"/>
                <a:ea typeface="Arial" pitchFamily="34" charset="-122"/>
                <a:cs typeface="Arial" pitchFamily="34" charset="-120"/>
              </a:rPr>
              <a:t>Standard options</a:t>
            </a:r>
            <a:endParaRPr lang="en-US" sz="1200" dirty="0"/>
          </a:p>
        </p:txBody>
      </p:sp>
      <p:sp>
        <p:nvSpPr>
          <p:cNvPr id="17" name="Shape 15"/>
          <p:cNvSpPr/>
          <p:nvPr/>
        </p:nvSpPr>
        <p:spPr>
          <a:xfrm>
            <a:off x="5943600" y="3566160"/>
            <a:ext cx="2331720" cy="548640"/>
          </a:xfrm>
          <a:prstGeom prst="roundRect">
            <a:avLst>
              <a:gd name="adj" fmla="val 6667"/>
            </a:avLst>
          </a:prstGeom>
          <a:solidFill>
            <a:srgbClr val="0F1F33"/>
          </a:solidFill>
          <a:ln w="12700">
            <a:solidFill>
              <a:srgbClr val="2A3E63"/>
            </a:solidFill>
            <a:prstDash val="solid"/>
          </a:ln>
        </p:spPr>
      </p:sp>
      <p:sp>
        <p:nvSpPr>
          <p:cNvPr id="18" name="Text 16"/>
          <p:cNvSpPr txBox="1"/>
          <p:nvPr/>
        </p:nvSpPr>
        <p:spPr>
          <a:xfrm>
            <a:off x="6053328" y="3566160"/>
            <a:ext cx="2112264" cy="548640"/>
          </a:xfrm>
          <a:prstGeom prst="rect">
            <a:avLst/>
          </a:prstGeom>
          <a:noFill/>
          <a:ln/>
        </p:spPr>
        <p:txBody>
          <a:bodyPr wrap="square" lIns="0" tIns="0" rIns="0" bIns="0" rtlCol="0" anchor="ctr"/>
          <a:lstStyle/>
          <a:p>
            <a:pPr marL="0" indent="0">
              <a:buNone/>
            </a:pPr>
            <a:r>
              <a:rPr lang="en-US" sz="1200" b="1" dirty="0">
                <a:solidFill>
                  <a:srgbClr val="7C9CFF"/>
                </a:solidFill>
                <a:latin typeface="Arial" pitchFamily="34" charset="0"/>
                <a:ea typeface="Arial" pitchFamily="34" charset="-122"/>
                <a:cs typeface="Arial" pitchFamily="34" charset="-120"/>
              </a:rPr>
              <a:t>7  </a:t>
            </a:r>
            <a:r>
              <a:rPr lang="en-US" sz="1200" dirty="0">
                <a:solidFill>
                  <a:srgbClr val="F5F7FA"/>
                </a:solidFill>
                <a:latin typeface="Arial" pitchFamily="34" charset="0"/>
                <a:ea typeface="Arial" pitchFamily="34" charset="-122"/>
                <a:cs typeface="Arial" pitchFamily="34" charset="-120"/>
              </a:rPr>
              <a:t>Thresholds</a:t>
            </a:r>
            <a:endParaRPr lang="en-US" sz="1200" dirty="0"/>
          </a:p>
        </p:txBody>
      </p:sp>
      <p:sp>
        <p:nvSpPr>
          <p:cNvPr id="19" name="Shape 17"/>
          <p:cNvSpPr/>
          <p:nvPr/>
        </p:nvSpPr>
        <p:spPr>
          <a:xfrm>
            <a:off x="5943600" y="4206240"/>
            <a:ext cx="2331720" cy="548640"/>
          </a:xfrm>
          <a:prstGeom prst="roundRect">
            <a:avLst>
              <a:gd name="adj" fmla="val 6667"/>
            </a:avLst>
          </a:prstGeom>
          <a:solidFill>
            <a:srgbClr val="0F1F33"/>
          </a:solidFill>
          <a:ln w="12700">
            <a:solidFill>
              <a:srgbClr val="2A3E63"/>
            </a:solidFill>
            <a:prstDash val="solid"/>
          </a:ln>
        </p:spPr>
      </p:sp>
      <p:sp>
        <p:nvSpPr>
          <p:cNvPr id="20" name="Text 18"/>
          <p:cNvSpPr txBox="1"/>
          <p:nvPr/>
        </p:nvSpPr>
        <p:spPr>
          <a:xfrm>
            <a:off x="6053328" y="4206240"/>
            <a:ext cx="2112264" cy="548640"/>
          </a:xfrm>
          <a:prstGeom prst="rect">
            <a:avLst/>
          </a:prstGeom>
          <a:noFill/>
          <a:ln/>
        </p:spPr>
        <p:txBody>
          <a:bodyPr wrap="square" lIns="0" tIns="0" rIns="0" bIns="0" rtlCol="0" anchor="ctr"/>
          <a:lstStyle/>
          <a:p>
            <a:pPr marL="0" indent="0">
              <a:buNone/>
            </a:pPr>
            <a:r>
              <a:rPr lang="en-US" sz="1200" b="1" dirty="0">
                <a:solidFill>
                  <a:srgbClr val="7C9CFF"/>
                </a:solidFill>
                <a:latin typeface="Arial" pitchFamily="34" charset="0"/>
                <a:ea typeface="Arial" pitchFamily="34" charset="-122"/>
                <a:cs typeface="Arial" pitchFamily="34" charset="-120"/>
              </a:rPr>
              <a:t>8  </a:t>
            </a:r>
            <a:r>
              <a:rPr lang="en-US" sz="1200" dirty="0">
                <a:solidFill>
                  <a:srgbClr val="F5F7FA"/>
                </a:solidFill>
                <a:latin typeface="Arial" pitchFamily="34" charset="0"/>
                <a:ea typeface="Arial" pitchFamily="34" charset="-122"/>
                <a:cs typeface="Arial" pitchFamily="34" charset="-120"/>
              </a:rPr>
              <a:t>Overrides</a:t>
            </a:r>
            <a:endParaRPr lang="en-US" sz="1200" dirty="0"/>
          </a:p>
        </p:txBody>
      </p:sp>
      <p:sp>
        <p:nvSpPr>
          <p:cNvPr id="21" name="Shape 19"/>
          <p:cNvSpPr/>
          <p:nvPr/>
        </p:nvSpPr>
        <p:spPr>
          <a:xfrm>
            <a:off x="8778240" y="1508760"/>
            <a:ext cx="2864815" cy="1005840"/>
          </a:xfrm>
          <a:prstGeom prst="roundRect">
            <a:avLst>
              <a:gd name="adj" fmla="val 5455"/>
            </a:avLst>
          </a:prstGeom>
          <a:solidFill>
            <a:srgbClr val="16294A"/>
          </a:solidFill>
          <a:ln w="12700">
            <a:solidFill>
              <a:srgbClr val="16294A"/>
            </a:solidFill>
            <a:prstDash val="solid"/>
          </a:ln>
        </p:spPr>
      </p:sp>
      <p:sp>
        <p:nvSpPr>
          <p:cNvPr id="22" name="Text 20"/>
          <p:cNvSpPr txBox="1"/>
          <p:nvPr/>
        </p:nvSpPr>
        <p:spPr>
          <a:xfrm>
            <a:off x="8979408" y="1709928"/>
            <a:ext cx="2462479" cy="320040"/>
          </a:xfrm>
          <a:prstGeom prst="rect">
            <a:avLst/>
          </a:prstGeom>
          <a:noFill/>
          <a:ln/>
        </p:spPr>
        <p:txBody>
          <a:bodyPr wrap="square" lIns="0" tIns="0" rIns="0" bIns="0" rtlCol="0" anchor="t"/>
          <a:lstStyle/>
          <a:p>
            <a:pPr marL="0" indent="0">
              <a:buNone/>
            </a:pPr>
            <a:r>
              <a:rPr lang="en-US" sz="1400" b="1" dirty="0">
                <a:solidFill>
                  <a:srgbClr val="F5F7FA"/>
                </a:solidFill>
                <a:latin typeface="Calibri" pitchFamily="34" charset="0"/>
                <a:ea typeface="Calibri" pitchFamily="34" charset="-122"/>
                <a:cs typeface="Calibri" pitchFamily="34" charset="-120"/>
              </a:rPr>
              <a:t>1-2</a:t>
            </a:r>
            <a:endParaRPr lang="en-US" sz="1400" dirty="0"/>
          </a:p>
        </p:txBody>
      </p:sp>
      <p:sp>
        <p:nvSpPr>
          <p:cNvPr id="23" name="Text 21"/>
          <p:cNvSpPr txBox="1"/>
          <p:nvPr/>
        </p:nvSpPr>
        <p:spPr>
          <a:xfrm>
            <a:off x="8979408" y="2093976"/>
            <a:ext cx="2462479" cy="265176"/>
          </a:xfrm>
          <a:prstGeom prst="rect">
            <a:avLst/>
          </a:prstGeom>
          <a:noFill/>
          <a:ln/>
        </p:spPr>
        <p:txBody>
          <a:bodyPr wrap="square" lIns="0" tIns="0" rIns="0" bIns="0" rtlCol="0" anchor="t"/>
          <a:lstStyle/>
          <a:p>
            <a:pPr marL="0" indent="0">
              <a:lnSpc>
                <a:spcPct val="115000"/>
              </a:lnSpc>
              <a:buNone/>
            </a:pPr>
            <a:r>
              <a:rPr lang="en-US" sz="1200" dirty="0">
                <a:solidFill>
                  <a:srgbClr val="B9C4D1"/>
                </a:solidFill>
                <a:latin typeface="Arial" pitchFamily="34" charset="0"/>
                <a:ea typeface="Arial" pitchFamily="34" charset="-122"/>
                <a:cs typeface="Arial" pitchFamily="34" charset="-120"/>
              </a:rPr>
              <a:t>Datakälla och fråga - klistra in från Prometheus</a:t>
            </a:r>
            <a:endParaRPr lang="en-US" sz="1200" dirty="0"/>
          </a:p>
        </p:txBody>
      </p:sp>
      <p:sp>
        <p:nvSpPr>
          <p:cNvPr id="24" name="Shape 22"/>
          <p:cNvSpPr/>
          <p:nvPr/>
        </p:nvSpPr>
        <p:spPr>
          <a:xfrm>
            <a:off x="8778240" y="2624328"/>
            <a:ext cx="2864815" cy="1005840"/>
          </a:xfrm>
          <a:prstGeom prst="roundRect">
            <a:avLst>
              <a:gd name="adj" fmla="val 5455"/>
            </a:avLst>
          </a:prstGeom>
          <a:solidFill>
            <a:srgbClr val="16294A"/>
          </a:solidFill>
          <a:ln w="12700">
            <a:solidFill>
              <a:srgbClr val="16294A"/>
            </a:solidFill>
            <a:prstDash val="solid"/>
          </a:ln>
        </p:spPr>
      </p:sp>
      <p:sp>
        <p:nvSpPr>
          <p:cNvPr id="25" name="Text 23"/>
          <p:cNvSpPr txBox="1"/>
          <p:nvPr/>
        </p:nvSpPr>
        <p:spPr>
          <a:xfrm>
            <a:off x="8979408" y="2825496"/>
            <a:ext cx="2462479" cy="320040"/>
          </a:xfrm>
          <a:prstGeom prst="rect">
            <a:avLst/>
          </a:prstGeom>
          <a:noFill/>
          <a:ln/>
        </p:spPr>
        <p:txBody>
          <a:bodyPr wrap="square" lIns="0" tIns="0" rIns="0" bIns="0" rtlCol="0" anchor="t"/>
          <a:lstStyle/>
          <a:p>
            <a:pPr marL="0" indent="0">
              <a:buNone/>
            </a:pPr>
            <a:r>
              <a:rPr lang="en-US" sz="1400" b="1" dirty="0">
                <a:solidFill>
                  <a:srgbClr val="F5F7FA"/>
                </a:solidFill>
                <a:latin typeface="Calibri" pitchFamily="34" charset="0"/>
                <a:ea typeface="Calibri" pitchFamily="34" charset="-122"/>
                <a:cs typeface="Calibri" pitchFamily="34" charset="-120"/>
              </a:rPr>
              <a:t>4</a:t>
            </a:r>
            <a:endParaRPr lang="en-US" sz="1400" dirty="0"/>
          </a:p>
        </p:txBody>
      </p:sp>
      <p:sp>
        <p:nvSpPr>
          <p:cNvPr id="26" name="Text 24"/>
          <p:cNvSpPr txBox="1"/>
          <p:nvPr/>
        </p:nvSpPr>
        <p:spPr>
          <a:xfrm>
            <a:off x="8979408" y="3209544"/>
            <a:ext cx="2462479" cy="265176"/>
          </a:xfrm>
          <a:prstGeom prst="rect">
            <a:avLst/>
          </a:prstGeom>
          <a:noFill/>
          <a:ln/>
        </p:spPr>
        <p:txBody>
          <a:bodyPr wrap="square" lIns="0" tIns="0" rIns="0" bIns="0" rtlCol="0" anchor="t"/>
          <a:lstStyle/>
          <a:p>
            <a:pPr marL="0" indent="0">
              <a:lnSpc>
                <a:spcPct val="115000"/>
              </a:lnSpc>
              <a:buNone/>
            </a:pPr>
            <a:r>
              <a:rPr lang="en-US" sz="1200" dirty="0">
                <a:solidFill>
                  <a:srgbClr val="B9C4D1"/>
                </a:solidFill>
                <a:latin typeface="Arial" pitchFamily="34" charset="0"/>
                <a:ea typeface="Arial" pitchFamily="34" charset="-122"/>
                <a:cs typeface="Arial" pitchFamily="34" charset="-120"/>
              </a:rPr>
              <a:t>Time series, Stat, Bar gauge …</a:t>
            </a:r>
            <a:endParaRPr lang="en-US" sz="1200" dirty="0"/>
          </a:p>
        </p:txBody>
      </p:sp>
      <p:sp>
        <p:nvSpPr>
          <p:cNvPr id="27" name="Shape 25"/>
          <p:cNvSpPr/>
          <p:nvPr/>
        </p:nvSpPr>
        <p:spPr>
          <a:xfrm>
            <a:off x="8778240" y="3739896"/>
            <a:ext cx="2864815" cy="1005840"/>
          </a:xfrm>
          <a:prstGeom prst="roundRect">
            <a:avLst>
              <a:gd name="adj" fmla="val 5455"/>
            </a:avLst>
          </a:prstGeom>
          <a:solidFill>
            <a:srgbClr val="16294A"/>
          </a:solidFill>
          <a:ln w="12700">
            <a:solidFill>
              <a:srgbClr val="16294A"/>
            </a:solidFill>
            <a:prstDash val="solid"/>
          </a:ln>
        </p:spPr>
      </p:sp>
      <p:sp>
        <p:nvSpPr>
          <p:cNvPr id="28" name="Text 26"/>
          <p:cNvSpPr txBox="1"/>
          <p:nvPr/>
        </p:nvSpPr>
        <p:spPr>
          <a:xfrm>
            <a:off x="8979408" y="3941064"/>
            <a:ext cx="2462479" cy="320040"/>
          </a:xfrm>
          <a:prstGeom prst="rect">
            <a:avLst/>
          </a:prstGeom>
          <a:noFill/>
          <a:ln/>
        </p:spPr>
        <p:txBody>
          <a:bodyPr wrap="square" lIns="0" tIns="0" rIns="0" bIns="0" rtlCol="0" anchor="t"/>
          <a:lstStyle/>
          <a:p>
            <a:pPr marL="0" indent="0">
              <a:buNone/>
            </a:pPr>
            <a:r>
              <a:rPr lang="en-US" sz="1400" b="1" dirty="0">
                <a:solidFill>
                  <a:srgbClr val="F5F7FA"/>
                </a:solidFill>
                <a:latin typeface="Calibri" pitchFamily="34" charset="0"/>
                <a:ea typeface="Calibri" pitchFamily="34" charset="-122"/>
                <a:cs typeface="Calibri" pitchFamily="34" charset="-120"/>
              </a:rPr>
              <a:t>5-6</a:t>
            </a:r>
            <a:endParaRPr lang="en-US" sz="1400" dirty="0"/>
          </a:p>
        </p:txBody>
      </p:sp>
      <p:sp>
        <p:nvSpPr>
          <p:cNvPr id="29" name="Text 27"/>
          <p:cNvSpPr txBox="1"/>
          <p:nvPr/>
        </p:nvSpPr>
        <p:spPr>
          <a:xfrm>
            <a:off x="8979408" y="4325112"/>
            <a:ext cx="2462479" cy="265176"/>
          </a:xfrm>
          <a:prstGeom prst="rect">
            <a:avLst/>
          </a:prstGeom>
          <a:noFill/>
          <a:ln/>
        </p:spPr>
        <p:txBody>
          <a:bodyPr wrap="square" lIns="0" tIns="0" rIns="0" bIns="0" rtlCol="0" anchor="t"/>
          <a:lstStyle/>
          <a:p>
            <a:pPr marL="0" indent="0">
              <a:lnSpc>
                <a:spcPct val="115000"/>
              </a:lnSpc>
              <a:buNone/>
            </a:pPr>
            <a:r>
              <a:rPr lang="en-US" sz="1200" dirty="0">
                <a:solidFill>
                  <a:srgbClr val="B9C4D1"/>
                </a:solidFill>
                <a:latin typeface="Arial" pitchFamily="34" charset="0"/>
                <a:ea typeface="Arial" pitchFamily="34" charset="-122"/>
                <a:cs typeface="Arial" pitchFamily="34" charset="-120"/>
              </a:rPr>
              <a:t>Titel, beskrivning, ENHET</a:t>
            </a:r>
            <a:endParaRPr lang="en-US" sz="1200" dirty="0"/>
          </a:p>
        </p:txBody>
      </p:sp>
      <p:sp>
        <p:nvSpPr>
          <p:cNvPr id="30" name="Shape 28"/>
          <p:cNvSpPr/>
          <p:nvPr/>
        </p:nvSpPr>
        <p:spPr>
          <a:xfrm>
            <a:off x="8778240" y="4855464"/>
            <a:ext cx="2864815" cy="1005840"/>
          </a:xfrm>
          <a:prstGeom prst="roundRect">
            <a:avLst>
              <a:gd name="adj" fmla="val 5455"/>
            </a:avLst>
          </a:prstGeom>
          <a:solidFill>
            <a:srgbClr val="16294A"/>
          </a:solidFill>
          <a:ln w="12700">
            <a:solidFill>
              <a:srgbClr val="16294A"/>
            </a:solidFill>
            <a:prstDash val="solid"/>
          </a:ln>
        </p:spPr>
      </p:sp>
      <p:sp>
        <p:nvSpPr>
          <p:cNvPr id="31" name="Text 29"/>
          <p:cNvSpPr txBox="1"/>
          <p:nvPr/>
        </p:nvSpPr>
        <p:spPr>
          <a:xfrm>
            <a:off x="8979408" y="5056632"/>
            <a:ext cx="2462479" cy="320040"/>
          </a:xfrm>
          <a:prstGeom prst="rect">
            <a:avLst/>
          </a:prstGeom>
          <a:noFill/>
          <a:ln/>
        </p:spPr>
        <p:txBody>
          <a:bodyPr wrap="square" lIns="0" tIns="0" rIns="0" bIns="0" rtlCol="0" anchor="t"/>
          <a:lstStyle/>
          <a:p>
            <a:pPr marL="0" indent="0">
              <a:buNone/>
            </a:pPr>
            <a:r>
              <a:rPr lang="en-US" sz="1400" b="1" dirty="0">
                <a:solidFill>
                  <a:srgbClr val="F5F7FA"/>
                </a:solidFill>
                <a:latin typeface="Calibri" pitchFamily="34" charset="0"/>
                <a:ea typeface="Calibri" pitchFamily="34" charset="-122"/>
                <a:cs typeface="Calibri" pitchFamily="34" charset="-120"/>
              </a:rPr>
              <a:t>7</a:t>
            </a:r>
            <a:endParaRPr lang="en-US" sz="1400" dirty="0"/>
          </a:p>
        </p:txBody>
      </p:sp>
      <p:sp>
        <p:nvSpPr>
          <p:cNvPr id="32" name="Text 30"/>
          <p:cNvSpPr txBox="1"/>
          <p:nvPr/>
        </p:nvSpPr>
        <p:spPr>
          <a:xfrm>
            <a:off x="8979408" y="5440680"/>
            <a:ext cx="2462479" cy="265176"/>
          </a:xfrm>
          <a:prstGeom prst="rect">
            <a:avLst/>
          </a:prstGeom>
          <a:noFill/>
          <a:ln/>
        </p:spPr>
        <p:txBody>
          <a:bodyPr wrap="square" lIns="0" tIns="0" rIns="0" bIns="0" rtlCol="0" anchor="t"/>
          <a:lstStyle/>
          <a:p>
            <a:pPr marL="0" indent="0">
              <a:lnSpc>
                <a:spcPct val="115000"/>
              </a:lnSpc>
              <a:buNone/>
            </a:pPr>
            <a:r>
              <a:rPr lang="en-US" sz="1200" dirty="0">
                <a:solidFill>
                  <a:srgbClr val="B9C4D1"/>
                </a:solidFill>
                <a:latin typeface="Arial" pitchFamily="34" charset="0"/>
                <a:ea typeface="Arial" pitchFamily="34" charset="-122"/>
                <a:cs typeface="Arial" pitchFamily="34" charset="-120"/>
              </a:rPr>
              <a:t>Färg vid gränsvärden</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7F7F4"/>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marL="0" indent="0">
              <a:buNone/>
            </a:pPr>
            <a:r>
              <a:rPr lang="en-US" sz="1200" b="1" kern="0" spc="200" dirty="0">
                <a:solidFill>
                  <a:srgbClr val="3762FF"/>
                </a:solidFill>
                <a:latin typeface="Arial" pitchFamily="34" charset="0"/>
                <a:ea typeface="Arial" pitchFamily="34" charset="-122"/>
                <a:cs typeface="Arial" pitchFamily="34" charset="-120"/>
              </a:rPr>
              <a:t>DASHBOARD · PANEL 1 OCH 2</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marL="0" indent="0">
              <a:buNone/>
            </a:pPr>
            <a:r>
              <a:rPr lang="en-US" sz="3000" b="1" dirty="0">
                <a:solidFill>
                  <a:srgbClr val="16202B"/>
                </a:solidFill>
                <a:latin typeface="Calibri" pitchFamily="34" charset="0"/>
                <a:ea typeface="Calibri" pitchFamily="34" charset="-122"/>
                <a:cs typeface="Calibri" pitchFamily="34" charset="-120"/>
              </a:rPr>
              <a:t>Rate per route och felandel</a:t>
            </a:r>
            <a:endParaRPr lang="en-US" sz="3000" dirty="0"/>
          </a:p>
        </p:txBody>
      </p:sp>
      <p:sp>
        <p:nvSpPr>
          <p:cNvPr id="4" name="Shape 2"/>
          <p:cNvSpPr/>
          <p:nvPr/>
        </p:nvSpPr>
        <p:spPr>
          <a:xfrm>
            <a:off x="548640" y="1554480"/>
            <a:ext cx="5455768" cy="1828800"/>
          </a:xfrm>
          <a:prstGeom prst="roundRect">
            <a:avLst>
              <a:gd name="adj" fmla="val 3000"/>
            </a:avLst>
          </a:prstGeom>
          <a:solidFill>
            <a:srgbClr val="0F1F33"/>
          </a:solidFill>
          <a:ln w="12700">
            <a:solidFill>
              <a:srgbClr val="0F1F33"/>
            </a:solidFill>
            <a:prstDash val="solid"/>
          </a:ln>
          <a:effectLst>
            <a:outerShdw blurRad="101600" dist="25400" dir="5400000" algn="bl" rotWithShape="0">
              <a:srgbClr val="000000">
                <a:alpha val="10000"/>
              </a:srgbClr>
            </a:outerShdw>
          </a:effectLst>
        </p:spPr>
      </p:sp>
      <p:sp>
        <p:nvSpPr>
          <p:cNvPr id="5" name="Shape 3"/>
          <p:cNvSpPr/>
          <p:nvPr/>
        </p:nvSpPr>
        <p:spPr>
          <a:xfrm>
            <a:off x="749808" y="1719072"/>
            <a:ext cx="109728" cy="109728"/>
          </a:xfrm>
          <a:prstGeom prst="ellipse">
            <a:avLst/>
          </a:prstGeom>
          <a:solidFill>
            <a:srgbClr val="D64545"/>
          </a:solidFill>
          <a:ln w="12700">
            <a:solidFill>
              <a:srgbClr val="D64545"/>
            </a:solidFill>
            <a:prstDash val="solid"/>
          </a:ln>
        </p:spPr>
      </p:sp>
      <p:sp>
        <p:nvSpPr>
          <p:cNvPr id="6" name="Shape 4"/>
          <p:cNvSpPr/>
          <p:nvPr/>
        </p:nvSpPr>
        <p:spPr>
          <a:xfrm>
            <a:off x="932688" y="1719072"/>
            <a:ext cx="109728" cy="109728"/>
          </a:xfrm>
          <a:prstGeom prst="ellipse">
            <a:avLst/>
          </a:prstGeom>
          <a:solidFill>
            <a:srgbClr val="FFB020"/>
          </a:solidFill>
          <a:ln w="12700">
            <a:solidFill>
              <a:srgbClr val="FFB020"/>
            </a:solidFill>
            <a:prstDash val="solid"/>
          </a:ln>
        </p:spPr>
      </p:sp>
      <p:sp>
        <p:nvSpPr>
          <p:cNvPr id="7" name="Shape 5"/>
          <p:cNvSpPr/>
          <p:nvPr/>
        </p:nvSpPr>
        <p:spPr>
          <a:xfrm>
            <a:off x="1115568" y="1719072"/>
            <a:ext cx="109728" cy="109728"/>
          </a:xfrm>
          <a:prstGeom prst="ellipse">
            <a:avLst/>
          </a:prstGeom>
          <a:solidFill>
            <a:srgbClr val="3CB371"/>
          </a:solidFill>
          <a:ln w="12700">
            <a:solidFill>
              <a:srgbClr val="3CB371"/>
            </a:solidFill>
            <a:prstDash val="solid"/>
          </a:ln>
        </p:spPr>
      </p:sp>
      <p:sp>
        <p:nvSpPr>
          <p:cNvPr id="8" name="Text 6"/>
          <p:cNvSpPr txBox="1"/>
          <p:nvPr/>
        </p:nvSpPr>
        <p:spPr>
          <a:xfrm>
            <a:off x="1371600" y="1645920"/>
            <a:ext cx="4449928" cy="256032"/>
          </a:xfrm>
          <a:prstGeom prst="rect">
            <a:avLst/>
          </a:prstGeom>
          <a:noFill/>
          <a:ln/>
        </p:spPr>
        <p:txBody>
          <a:bodyPr wrap="square" lIns="0" tIns="0" rIns="0" bIns="0" rtlCol="0" anchor="ctr"/>
          <a:lstStyle/>
          <a:p>
            <a:pPr marL="0" indent="0">
              <a:buNone/>
            </a:pPr>
            <a:r>
              <a:rPr lang="en-US" sz="1100" dirty="0">
                <a:solidFill>
                  <a:srgbClr val="B9C4D1"/>
                </a:solidFill>
                <a:latin typeface="Courier New" pitchFamily="34" charset="0"/>
                <a:ea typeface="Courier New" pitchFamily="34" charset="-122"/>
                <a:cs typeface="Courier New" pitchFamily="34" charset="-120"/>
              </a:rPr>
              <a:t>Panel 1 · Time series</a:t>
            </a:r>
            <a:endParaRPr lang="en-US" sz="1100" dirty="0"/>
          </a:p>
        </p:txBody>
      </p:sp>
      <p:sp>
        <p:nvSpPr>
          <p:cNvPr id="9" name="Text 7"/>
          <p:cNvSpPr txBox="1"/>
          <p:nvPr/>
        </p:nvSpPr>
        <p:spPr>
          <a:xfrm>
            <a:off x="777240" y="2011680"/>
            <a:ext cx="4998568" cy="1234440"/>
          </a:xfrm>
          <a:prstGeom prst="rect">
            <a:avLst/>
          </a:prstGeom>
          <a:noFill/>
          <a:ln/>
        </p:spPr>
        <p:txBody>
          <a:bodyPr wrap="square" lIns="0" tIns="0" rIns="0" bIns="0" rtlCol="0" anchor="t"/>
          <a:lstStyle/>
          <a:p>
            <a:pPr marL="0" indent="0">
              <a:lnSpc>
                <a:spcPct val="110000"/>
              </a:lnSpc>
              <a:buNone/>
            </a:pPr>
            <a:r>
              <a:rPr lang="en-US" sz="1100" dirty="0">
                <a:solidFill>
                  <a:srgbClr val="DDE3EA"/>
                </a:solidFill>
                <a:latin typeface="Courier New" pitchFamily="34" charset="0"/>
                <a:ea typeface="Courier New" pitchFamily="34" charset="-122"/>
                <a:cs typeface="Courier New" pitchFamily="34" charset="-120"/>
              </a:rPr>
              <a:t>sum by (http_route) (</a:t>
            </a:r>
            <a:endParaRPr lang="en-US" sz="1100" dirty="0"/>
          </a:p>
          <a:p>
            <a:pPr marL="0" indent="0">
              <a:lnSpc>
                <a:spcPct val="110000"/>
              </a:lnSpc>
              <a:buNone/>
            </a:pPr>
            <a:r>
              <a:rPr lang="en-US" sz="1100" dirty="0">
                <a:solidFill>
                  <a:srgbClr val="DDE3EA"/>
                </a:solidFill>
                <a:latin typeface="Courier New" pitchFamily="34" charset="0"/>
                <a:ea typeface="Courier New" pitchFamily="34" charset="-122"/>
                <a:cs typeface="Courier New" pitchFamily="34" charset="-120"/>
              </a:rPr>
              <a:t>  rate(otel_http_server_request_duration_seconds_count</a:t>
            </a:r>
            <a:endParaRPr lang="en-US" sz="1100" dirty="0"/>
          </a:p>
          <a:p>
            <a:pPr marL="0" indent="0">
              <a:lnSpc>
                <a:spcPct val="110000"/>
              </a:lnSpc>
              <a:buNone/>
            </a:pPr>
            <a:r>
              <a:rPr lang="en-US" sz="1100" dirty="0">
                <a:solidFill>
                  <a:srgbClr val="DDE3EA"/>
                </a:solidFill>
                <a:latin typeface="Courier New" pitchFamily="34" charset="0"/>
                <a:ea typeface="Courier New" pitchFamily="34" charset="-122"/>
                <a:cs typeface="Courier New" pitchFamily="34" charset="-120"/>
              </a:rPr>
              <a:t>    {service_name="telemetry-api"}[$__rate_interval]))</a:t>
            </a:r>
            <a:endParaRPr lang="en-US" sz="1100" dirty="0"/>
          </a:p>
        </p:txBody>
      </p:sp>
      <p:sp>
        <p:nvSpPr>
          <p:cNvPr id="10" name="Shape 8"/>
          <p:cNvSpPr/>
          <p:nvPr/>
        </p:nvSpPr>
        <p:spPr>
          <a:xfrm>
            <a:off x="548640" y="3520440"/>
            <a:ext cx="5455768" cy="640080"/>
          </a:xfrm>
          <a:prstGeom prst="roundRect">
            <a:avLst>
              <a:gd name="adj" fmla="val 7143"/>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11" name="Text 9"/>
          <p:cNvSpPr txBox="1"/>
          <p:nvPr/>
        </p:nvSpPr>
        <p:spPr>
          <a:xfrm>
            <a:off x="685800" y="3520440"/>
            <a:ext cx="365760" cy="640080"/>
          </a:xfrm>
          <a:prstGeom prst="rect">
            <a:avLst/>
          </a:prstGeom>
          <a:noFill/>
          <a:ln/>
        </p:spPr>
        <p:txBody>
          <a:bodyPr wrap="square" lIns="0" tIns="0" rIns="0" bIns="0" rtlCol="0" anchor="ctr"/>
          <a:lstStyle/>
          <a:p>
            <a:pPr marL="0" indent="0">
              <a:buNone/>
            </a:pPr>
            <a:r>
              <a:rPr lang="en-US" sz="1800" b="1" dirty="0">
                <a:solidFill>
                  <a:srgbClr val="3762FF"/>
                </a:solidFill>
                <a:latin typeface="Calibri" pitchFamily="34" charset="0"/>
                <a:ea typeface="Calibri" pitchFamily="34" charset="-122"/>
                <a:cs typeface="Calibri" pitchFamily="34" charset="-120"/>
              </a:rPr>
              <a:t>1</a:t>
            </a:r>
            <a:endParaRPr lang="en-US" sz="1800" dirty="0"/>
          </a:p>
        </p:txBody>
      </p:sp>
      <p:sp>
        <p:nvSpPr>
          <p:cNvPr id="12" name="Text 10"/>
          <p:cNvSpPr txBox="1"/>
          <p:nvPr/>
        </p:nvSpPr>
        <p:spPr>
          <a:xfrm>
            <a:off x="1097280" y="3520440"/>
            <a:ext cx="4769968" cy="640080"/>
          </a:xfrm>
          <a:prstGeom prst="rect">
            <a:avLst/>
          </a:prstGeom>
          <a:noFill/>
          <a:ln/>
        </p:spPr>
        <p:txBody>
          <a:bodyPr wrap="square" lIns="0" tIns="0" rIns="0" bIns="0" rtlCol="0" anchor="ctr"/>
          <a:lstStyle/>
          <a:p>
            <a:pPr marL="0" indent="0">
              <a:buNone/>
            </a:pPr>
            <a:r>
              <a:rPr lang="en-US" sz="1300" b="1" dirty="0">
                <a:solidFill>
                  <a:srgbClr val="16202B"/>
                </a:solidFill>
                <a:latin typeface="Arial" pitchFamily="34" charset="0"/>
                <a:ea typeface="Arial" pitchFamily="34" charset="-122"/>
                <a:cs typeface="Arial" pitchFamily="34" charset="-120"/>
              </a:rPr>
              <a:t>Legend</a:t>
            </a:r>
            <a:r>
              <a:rPr lang="en-US" sz="1300" dirty="0">
                <a:solidFill>
                  <a:srgbClr val="4A5568"/>
                </a:solidFill>
                <a:latin typeface="Arial" pitchFamily="34" charset="0"/>
                <a:ea typeface="Arial" pitchFamily="34" charset="-122"/>
                <a:cs typeface="Arial" pitchFamily="34" charset="-120"/>
              </a:rPr>
              <a:t>  Custom: {{http_route}}</a:t>
            </a:r>
            <a:endParaRPr lang="en-US" sz="1300" dirty="0"/>
          </a:p>
        </p:txBody>
      </p:sp>
      <p:sp>
        <p:nvSpPr>
          <p:cNvPr id="13" name="Shape 11"/>
          <p:cNvSpPr/>
          <p:nvPr/>
        </p:nvSpPr>
        <p:spPr>
          <a:xfrm>
            <a:off x="548640" y="4251960"/>
            <a:ext cx="5455768" cy="640080"/>
          </a:xfrm>
          <a:prstGeom prst="roundRect">
            <a:avLst>
              <a:gd name="adj" fmla="val 7143"/>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14" name="Text 12"/>
          <p:cNvSpPr txBox="1"/>
          <p:nvPr/>
        </p:nvSpPr>
        <p:spPr>
          <a:xfrm>
            <a:off x="685800" y="4251960"/>
            <a:ext cx="365760" cy="640080"/>
          </a:xfrm>
          <a:prstGeom prst="rect">
            <a:avLst/>
          </a:prstGeom>
          <a:noFill/>
          <a:ln/>
        </p:spPr>
        <p:txBody>
          <a:bodyPr wrap="square" lIns="0" tIns="0" rIns="0" bIns="0" rtlCol="0" anchor="ctr"/>
          <a:lstStyle/>
          <a:p>
            <a:pPr marL="0" indent="0">
              <a:buNone/>
            </a:pPr>
            <a:r>
              <a:rPr lang="en-US" sz="1800" b="1" dirty="0">
                <a:solidFill>
                  <a:srgbClr val="3762FF"/>
                </a:solidFill>
                <a:latin typeface="Calibri" pitchFamily="34" charset="0"/>
                <a:ea typeface="Calibri" pitchFamily="34" charset="-122"/>
                <a:cs typeface="Calibri" pitchFamily="34" charset="-120"/>
              </a:rPr>
              <a:t>2</a:t>
            </a:r>
            <a:endParaRPr lang="en-US" sz="1800" dirty="0"/>
          </a:p>
        </p:txBody>
      </p:sp>
      <p:sp>
        <p:nvSpPr>
          <p:cNvPr id="15" name="Text 13"/>
          <p:cNvSpPr txBox="1"/>
          <p:nvPr/>
        </p:nvSpPr>
        <p:spPr>
          <a:xfrm>
            <a:off x="1097280" y="4251960"/>
            <a:ext cx="4769968" cy="640080"/>
          </a:xfrm>
          <a:prstGeom prst="rect">
            <a:avLst/>
          </a:prstGeom>
          <a:noFill/>
          <a:ln/>
        </p:spPr>
        <p:txBody>
          <a:bodyPr wrap="square" lIns="0" tIns="0" rIns="0" bIns="0" rtlCol="0" anchor="ctr"/>
          <a:lstStyle/>
          <a:p>
            <a:pPr marL="0" indent="0">
              <a:buNone/>
            </a:pPr>
            <a:r>
              <a:rPr lang="en-US" sz="1300" b="1" dirty="0">
                <a:solidFill>
                  <a:srgbClr val="16202B"/>
                </a:solidFill>
                <a:latin typeface="Arial" pitchFamily="34" charset="0"/>
                <a:ea typeface="Arial" pitchFamily="34" charset="-122"/>
                <a:cs typeface="Arial" pitchFamily="34" charset="-120"/>
              </a:rPr>
              <a:t>Unit</a:t>
            </a:r>
            <a:r>
              <a:rPr lang="en-US" sz="1300" dirty="0">
                <a:solidFill>
                  <a:srgbClr val="4A5568"/>
                </a:solidFill>
                <a:latin typeface="Arial" pitchFamily="34" charset="0"/>
                <a:ea typeface="Arial" pitchFamily="34" charset="-122"/>
                <a:cs typeface="Arial" pitchFamily="34" charset="-120"/>
              </a:rPr>
              <a:t>  Throughput → requests/sec (rps)</a:t>
            </a:r>
            <a:endParaRPr lang="en-US" sz="1300" dirty="0"/>
          </a:p>
        </p:txBody>
      </p:sp>
      <p:sp>
        <p:nvSpPr>
          <p:cNvPr id="16" name="Shape 14"/>
          <p:cNvSpPr/>
          <p:nvPr/>
        </p:nvSpPr>
        <p:spPr>
          <a:xfrm>
            <a:off x="548640" y="4983480"/>
            <a:ext cx="5455768" cy="640080"/>
          </a:xfrm>
          <a:prstGeom prst="roundRect">
            <a:avLst>
              <a:gd name="adj" fmla="val 7143"/>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17" name="Text 15"/>
          <p:cNvSpPr txBox="1"/>
          <p:nvPr/>
        </p:nvSpPr>
        <p:spPr>
          <a:xfrm>
            <a:off x="685800" y="4983480"/>
            <a:ext cx="365760" cy="640080"/>
          </a:xfrm>
          <a:prstGeom prst="rect">
            <a:avLst/>
          </a:prstGeom>
          <a:noFill/>
          <a:ln/>
        </p:spPr>
        <p:txBody>
          <a:bodyPr wrap="square" lIns="0" tIns="0" rIns="0" bIns="0" rtlCol="0" anchor="ctr"/>
          <a:lstStyle/>
          <a:p>
            <a:pPr marL="0" indent="0">
              <a:buNone/>
            </a:pPr>
            <a:r>
              <a:rPr lang="en-US" sz="1800" b="1" dirty="0">
                <a:solidFill>
                  <a:srgbClr val="3762FF"/>
                </a:solidFill>
                <a:latin typeface="Calibri" pitchFamily="34" charset="0"/>
                <a:ea typeface="Calibri" pitchFamily="34" charset="-122"/>
                <a:cs typeface="Calibri" pitchFamily="34" charset="-120"/>
              </a:rPr>
              <a:t>3</a:t>
            </a:r>
            <a:endParaRPr lang="en-US" sz="1800" dirty="0"/>
          </a:p>
        </p:txBody>
      </p:sp>
      <p:sp>
        <p:nvSpPr>
          <p:cNvPr id="18" name="Text 16"/>
          <p:cNvSpPr txBox="1"/>
          <p:nvPr/>
        </p:nvSpPr>
        <p:spPr>
          <a:xfrm>
            <a:off x="1097280" y="4983480"/>
            <a:ext cx="4769968" cy="640080"/>
          </a:xfrm>
          <a:prstGeom prst="rect">
            <a:avLst/>
          </a:prstGeom>
          <a:noFill/>
          <a:ln/>
        </p:spPr>
        <p:txBody>
          <a:bodyPr wrap="square" lIns="0" tIns="0" rIns="0" bIns="0" rtlCol="0" anchor="ctr"/>
          <a:lstStyle/>
          <a:p>
            <a:pPr marL="0" indent="0">
              <a:buNone/>
            </a:pPr>
            <a:r>
              <a:rPr lang="en-US" sz="1300" b="1" dirty="0">
                <a:solidFill>
                  <a:srgbClr val="16202B"/>
                </a:solidFill>
                <a:latin typeface="Arial" pitchFamily="34" charset="0"/>
                <a:ea typeface="Arial" pitchFamily="34" charset="-122"/>
                <a:cs typeface="Arial" pitchFamily="34" charset="-120"/>
              </a:rPr>
              <a:t>Title</a:t>
            </a:r>
            <a:r>
              <a:rPr lang="en-US" sz="1300" dirty="0">
                <a:solidFill>
                  <a:srgbClr val="4A5568"/>
                </a:solidFill>
                <a:latin typeface="Arial" pitchFamily="34" charset="0"/>
                <a:ea typeface="Arial" pitchFamily="34" charset="-122"/>
                <a:cs typeface="Arial" pitchFamily="34" charset="-120"/>
              </a:rPr>
              <a:t>  Anrop per sekund per route</a:t>
            </a:r>
            <a:endParaRPr lang="en-US" sz="1300" dirty="0"/>
          </a:p>
        </p:txBody>
      </p:sp>
      <p:sp>
        <p:nvSpPr>
          <p:cNvPr id="19" name="Shape 17"/>
          <p:cNvSpPr/>
          <p:nvPr/>
        </p:nvSpPr>
        <p:spPr>
          <a:xfrm>
            <a:off x="6187288" y="1554480"/>
            <a:ext cx="5455768" cy="1828800"/>
          </a:xfrm>
          <a:prstGeom prst="roundRect">
            <a:avLst>
              <a:gd name="adj" fmla="val 3000"/>
            </a:avLst>
          </a:prstGeom>
          <a:solidFill>
            <a:srgbClr val="0F1F33"/>
          </a:solidFill>
          <a:ln w="12700">
            <a:solidFill>
              <a:srgbClr val="0F1F33"/>
            </a:solidFill>
            <a:prstDash val="solid"/>
          </a:ln>
          <a:effectLst>
            <a:outerShdw blurRad="101600" dist="25400" dir="5400000" algn="bl" rotWithShape="0">
              <a:srgbClr val="000000">
                <a:alpha val="10000"/>
              </a:srgbClr>
            </a:outerShdw>
          </a:effectLst>
        </p:spPr>
      </p:sp>
      <p:sp>
        <p:nvSpPr>
          <p:cNvPr id="20" name="Shape 18"/>
          <p:cNvSpPr/>
          <p:nvPr/>
        </p:nvSpPr>
        <p:spPr>
          <a:xfrm>
            <a:off x="6388456" y="1719072"/>
            <a:ext cx="109728" cy="109728"/>
          </a:xfrm>
          <a:prstGeom prst="ellipse">
            <a:avLst/>
          </a:prstGeom>
          <a:solidFill>
            <a:srgbClr val="D64545"/>
          </a:solidFill>
          <a:ln w="12700">
            <a:solidFill>
              <a:srgbClr val="D64545"/>
            </a:solidFill>
            <a:prstDash val="solid"/>
          </a:ln>
        </p:spPr>
      </p:sp>
      <p:sp>
        <p:nvSpPr>
          <p:cNvPr id="21" name="Shape 19"/>
          <p:cNvSpPr/>
          <p:nvPr/>
        </p:nvSpPr>
        <p:spPr>
          <a:xfrm>
            <a:off x="6571336" y="1719072"/>
            <a:ext cx="109728" cy="109728"/>
          </a:xfrm>
          <a:prstGeom prst="ellipse">
            <a:avLst/>
          </a:prstGeom>
          <a:solidFill>
            <a:srgbClr val="FFB020"/>
          </a:solidFill>
          <a:ln w="12700">
            <a:solidFill>
              <a:srgbClr val="FFB020"/>
            </a:solidFill>
            <a:prstDash val="solid"/>
          </a:ln>
        </p:spPr>
      </p:sp>
      <p:sp>
        <p:nvSpPr>
          <p:cNvPr id="22" name="Shape 20"/>
          <p:cNvSpPr/>
          <p:nvPr/>
        </p:nvSpPr>
        <p:spPr>
          <a:xfrm>
            <a:off x="6754216" y="1719072"/>
            <a:ext cx="109728" cy="109728"/>
          </a:xfrm>
          <a:prstGeom prst="ellipse">
            <a:avLst/>
          </a:prstGeom>
          <a:solidFill>
            <a:srgbClr val="3CB371"/>
          </a:solidFill>
          <a:ln w="12700">
            <a:solidFill>
              <a:srgbClr val="3CB371"/>
            </a:solidFill>
            <a:prstDash val="solid"/>
          </a:ln>
        </p:spPr>
      </p:sp>
      <p:sp>
        <p:nvSpPr>
          <p:cNvPr id="23" name="Text 21"/>
          <p:cNvSpPr txBox="1"/>
          <p:nvPr/>
        </p:nvSpPr>
        <p:spPr>
          <a:xfrm>
            <a:off x="7010248" y="1645920"/>
            <a:ext cx="4449928" cy="256032"/>
          </a:xfrm>
          <a:prstGeom prst="rect">
            <a:avLst/>
          </a:prstGeom>
          <a:noFill/>
          <a:ln/>
        </p:spPr>
        <p:txBody>
          <a:bodyPr wrap="square" lIns="0" tIns="0" rIns="0" bIns="0" rtlCol="0" anchor="ctr"/>
          <a:lstStyle/>
          <a:p>
            <a:pPr marL="0" indent="0">
              <a:buNone/>
            </a:pPr>
            <a:r>
              <a:rPr lang="en-US" sz="1100" dirty="0">
                <a:solidFill>
                  <a:srgbClr val="B9C4D1"/>
                </a:solidFill>
                <a:latin typeface="Courier New" pitchFamily="34" charset="0"/>
                <a:ea typeface="Courier New" pitchFamily="34" charset="-122"/>
                <a:cs typeface="Courier New" pitchFamily="34" charset="-120"/>
              </a:rPr>
              <a:t>Panel 2 · Stat</a:t>
            </a:r>
            <a:endParaRPr lang="en-US" sz="1100" dirty="0"/>
          </a:p>
        </p:txBody>
      </p:sp>
      <p:sp>
        <p:nvSpPr>
          <p:cNvPr id="24" name="Text 22"/>
          <p:cNvSpPr txBox="1"/>
          <p:nvPr/>
        </p:nvSpPr>
        <p:spPr>
          <a:xfrm>
            <a:off x="6415888" y="2011680"/>
            <a:ext cx="4998568" cy="1234440"/>
          </a:xfrm>
          <a:prstGeom prst="rect">
            <a:avLst/>
          </a:prstGeom>
          <a:noFill/>
          <a:ln/>
        </p:spPr>
        <p:txBody>
          <a:bodyPr wrap="square" lIns="0" tIns="0" rIns="0" bIns="0" rtlCol="0" anchor="t"/>
          <a:lstStyle/>
          <a:p>
            <a:pPr marL="0" indent="0">
              <a:lnSpc>
                <a:spcPct val="110000"/>
              </a:lnSpc>
              <a:buNone/>
            </a:pPr>
            <a:r>
              <a:rPr lang="en-US" sz="1100" dirty="0">
                <a:solidFill>
                  <a:srgbClr val="DDE3EA"/>
                </a:solidFill>
                <a:latin typeface="Courier New" pitchFamily="34" charset="0"/>
                <a:ea typeface="Courier New" pitchFamily="34" charset="-122"/>
                <a:cs typeface="Courier New" pitchFamily="34" charset="-120"/>
              </a:rPr>
              <a:t>sum(rate(…_count{service_name="telemetry-api",</a:t>
            </a:r>
            <a:endParaRPr lang="en-US" sz="1100" dirty="0"/>
          </a:p>
          <a:p>
            <a:pPr marL="0" indent="0">
              <a:lnSpc>
                <a:spcPct val="110000"/>
              </a:lnSpc>
              <a:buNone/>
            </a:pPr>
            <a:r>
              <a:rPr lang="en-US" sz="1100" dirty="0">
                <a:solidFill>
                  <a:srgbClr val="DDE3EA"/>
                </a:solidFill>
                <a:latin typeface="Courier New" pitchFamily="34" charset="0"/>
                <a:ea typeface="Courier New" pitchFamily="34" charset="-122"/>
                <a:cs typeface="Courier New" pitchFamily="34" charset="-120"/>
              </a:rPr>
              <a:t>    http_response_status_code=~"5.."}[$__rate_interval]))</a:t>
            </a:r>
            <a:endParaRPr lang="en-US" sz="1100" dirty="0"/>
          </a:p>
          <a:p>
            <a:pPr marL="0" indent="0">
              <a:lnSpc>
                <a:spcPct val="110000"/>
              </a:lnSpc>
              <a:buNone/>
            </a:pPr>
            <a:r>
              <a:rPr lang="en-US" sz="1100" dirty="0">
                <a:solidFill>
                  <a:srgbClr val="DDE3EA"/>
                </a:solidFill>
                <a:latin typeface="Courier New" pitchFamily="34" charset="0"/>
                <a:ea typeface="Courier New" pitchFamily="34" charset="-122"/>
                <a:cs typeface="Courier New" pitchFamily="34" charset="-120"/>
              </a:rPr>
              <a:t>/ sum(rate(…_count{service_name="telemetry-api"}</a:t>
            </a:r>
            <a:endParaRPr lang="en-US" sz="1100" dirty="0"/>
          </a:p>
          <a:p>
            <a:pPr marL="0" indent="0">
              <a:lnSpc>
                <a:spcPct val="110000"/>
              </a:lnSpc>
              <a:buNone/>
            </a:pPr>
            <a:r>
              <a:rPr lang="en-US" sz="1100" dirty="0">
                <a:solidFill>
                  <a:srgbClr val="DDE3EA"/>
                </a:solidFill>
                <a:latin typeface="Courier New" pitchFamily="34" charset="0"/>
                <a:ea typeface="Courier New" pitchFamily="34" charset="-122"/>
                <a:cs typeface="Courier New" pitchFamily="34" charset="-120"/>
              </a:rPr>
              <a:t>    [$__rate_interval]))</a:t>
            </a:r>
            <a:endParaRPr lang="en-US" sz="1100" dirty="0"/>
          </a:p>
        </p:txBody>
      </p:sp>
      <p:sp>
        <p:nvSpPr>
          <p:cNvPr id="25" name="Shape 23"/>
          <p:cNvSpPr/>
          <p:nvPr/>
        </p:nvSpPr>
        <p:spPr>
          <a:xfrm>
            <a:off x="6187288" y="3520440"/>
            <a:ext cx="5455768" cy="640080"/>
          </a:xfrm>
          <a:prstGeom prst="roundRect">
            <a:avLst>
              <a:gd name="adj" fmla="val 7143"/>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26" name="Text 24"/>
          <p:cNvSpPr txBox="1"/>
          <p:nvPr/>
        </p:nvSpPr>
        <p:spPr>
          <a:xfrm>
            <a:off x="6324448" y="3520440"/>
            <a:ext cx="365760" cy="640080"/>
          </a:xfrm>
          <a:prstGeom prst="rect">
            <a:avLst/>
          </a:prstGeom>
          <a:noFill/>
          <a:ln/>
        </p:spPr>
        <p:txBody>
          <a:bodyPr wrap="square" lIns="0" tIns="0" rIns="0" bIns="0" rtlCol="0" anchor="ctr"/>
          <a:lstStyle/>
          <a:p>
            <a:pPr marL="0" indent="0">
              <a:buNone/>
            </a:pPr>
            <a:r>
              <a:rPr lang="en-US" sz="1800" b="1" dirty="0">
                <a:solidFill>
                  <a:srgbClr val="3762FF"/>
                </a:solidFill>
                <a:latin typeface="Calibri" pitchFamily="34" charset="0"/>
                <a:ea typeface="Calibri" pitchFamily="34" charset="-122"/>
                <a:cs typeface="Calibri" pitchFamily="34" charset="-120"/>
              </a:rPr>
              <a:t>1</a:t>
            </a:r>
            <a:endParaRPr lang="en-US" sz="1800" dirty="0"/>
          </a:p>
        </p:txBody>
      </p:sp>
      <p:sp>
        <p:nvSpPr>
          <p:cNvPr id="27" name="Text 25"/>
          <p:cNvSpPr txBox="1"/>
          <p:nvPr/>
        </p:nvSpPr>
        <p:spPr>
          <a:xfrm>
            <a:off x="6735928" y="3520440"/>
            <a:ext cx="4769968" cy="640080"/>
          </a:xfrm>
          <a:prstGeom prst="rect">
            <a:avLst/>
          </a:prstGeom>
          <a:noFill/>
          <a:ln/>
        </p:spPr>
        <p:txBody>
          <a:bodyPr wrap="square" lIns="0" tIns="0" rIns="0" bIns="0" rtlCol="0" anchor="ctr"/>
          <a:lstStyle/>
          <a:p>
            <a:pPr marL="0" indent="0">
              <a:buNone/>
            </a:pPr>
            <a:r>
              <a:rPr lang="en-US" sz="1300" b="1" dirty="0">
                <a:solidFill>
                  <a:srgbClr val="16202B"/>
                </a:solidFill>
                <a:latin typeface="Arial" pitchFamily="34" charset="0"/>
                <a:ea typeface="Arial" pitchFamily="34" charset="-122"/>
                <a:cs typeface="Arial" pitchFamily="34" charset="-120"/>
              </a:rPr>
              <a:t>Unit</a:t>
            </a:r>
            <a:r>
              <a:rPr lang="en-US" sz="1300" dirty="0">
                <a:solidFill>
                  <a:srgbClr val="4A5568"/>
                </a:solidFill>
                <a:latin typeface="Arial" pitchFamily="34" charset="0"/>
                <a:ea typeface="Arial" pitchFamily="34" charset="-122"/>
                <a:cs typeface="Arial" pitchFamily="34" charset="-120"/>
              </a:rPr>
              <a:t>  Misc → Percent (0.0-1.0)</a:t>
            </a:r>
            <a:endParaRPr lang="en-US" sz="1300" dirty="0"/>
          </a:p>
        </p:txBody>
      </p:sp>
      <p:sp>
        <p:nvSpPr>
          <p:cNvPr id="28" name="Shape 26"/>
          <p:cNvSpPr/>
          <p:nvPr/>
        </p:nvSpPr>
        <p:spPr>
          <a:xfrm>
            <a:off x="6187288" y="4251960"/>
            <a:ext cx="5455768" cy="640080"/>
          </a:xfrm>
          <a:prstGeom prst="roundRect">
            <a:avLst>
              <a:gd name="adj" fmla="val 7143"/>
            </a:avLst>
          </a:prstGeom>
          <a:solidFill>
            <a:srgbClr val="3762FF"/>
          </a:solidFill>
          <a:ln w="12700">
            <a:solidFill>
              <a:srgbClr val="3762FF"/>
            </a:solidFill>
            <a:prstDash val="solid"/>
          </a:ln>
        </p:spPr>
      </p:sp>
      <p:sp>
        <p:nvSpPr>
          <p:cNvPr id="29" name="Text 27"/>
          <p:cNvSpPr txBox="1"/>
          <p:nvPr/>
        </p:nvSpPr>
        <p:spPr>
          <a:xfrm>
            <a:off x="6324448" y="4251960"/>
            <a:ext cx="365760" cy="64008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30" name="Text 28"/>
          <p:cNvSpPr txBox="1"/>
          <p:nvPr/>
        </p:nvSpPr>
        <p:spPr>
          <a:xfrm>
            <a:off x="6735928" y="4251960"/>
            <a:ext cx="4769968" cy="640080"/>
          </a:xfrm>
          <a:prstGeom prst="rect">
            <a:avLst/>
          </a:prstGeom>
          <a:noFill/>
          <a:ln/>
        </p:spPr>
        <p:txBody>
          <a:bodyPr wrap="square" lIns="0" tIns="0" rIns="0" bIns="0" rtlCol="0" anchor="ctr"/>
          <a:lstStyle/>
          <a:p>
            <a:pPr marL="0" indent="0">
              <a:buNone/>
            </a:pPr>
            <a:r>
              <a:rPr lang="en-US" sz="1300" b="1" dirty="0">
                <a:solidFill>
                  <a:srgbClr val="FFFFFF"/>
                </a:solidFill>
                <a:latin typeface="Arial" pitchFamily="34" charset="0"/>
                <a:ea typeface="Arial" pitchFamily="34" charset="-122"/>
                <a:cs typeface="Arial" pitchFamily="34" charset="-120"/>
              </a:rPr>
              <a:t>Thresholds</a:t>
            </a:r>
            <a:r>
              <a:rPr lang="en-US" sz="1300" dirty="0">
                <a:solidFill>
                  <a:srgbClr val="FFFFFF"/>
                </a:solidFill>
                <a:latin typeface="Arial" pitchFamily="34" charset="0"/>
                <a:ea typeface="Arial" pitchFamily="34" charset="-122"/>
                <a:cs typeface="Arial" pitchFamily="34" charset="-120"/>
              </a:rPr>
              <a:t>  Grön · 0.01 orange · 0.05 röd</a:t>
            </a:r>
            <a:endParaRPr lang="en-US" sz="1300" dirty="0"/>
          </a:p>
        </p:txBody>
      </p:sp>
      <p:sp>
        <p:nvSpPr>
          <p:cNvPr id="31" name="Shape 29"/>
          <p:cNvSpPr/>
          <p:nvPr/>
        </p:nvSpPr>
        <p:spPr>
          <a:xfrm>
            <a:off x="6187288" y="4983480"/>
            <a:ext cx="5455768" cy="640080"/>
          </a:xfrm>
          <a:prstGeom prst="roundRect">
            <a:avLst>
              <a:gd name="adj" fmla="val 7143"/>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32" name="Text 30"/>
          <p:cNvSpPr txBox="1"/>
          <p:nvPr/>
        </p:nvSpPr>
        <p:spPr>
          <a:xfrm>
            <a:off x="6324448" y="4983480"/>
            <a:ext cx="365760" cy="640080"/>
          </a:xfrm>
          <a:prstGeom prst="rect">
            <a:avLst/>
          </a:prstGeom>
          <a:noFill/>
          <a:ln/>
        </p:spPr>
        <p:txBody>
          <a:bodyPr wrap="square" lIns="0" tIns="0" rIns="0" bIns="0" rtlCol="0" anchor="ctr"/>
          <a:lstStyle/>
          <a:p>
            <a:pPr marL="0" indent="0">
              <a:buNone/>
            </a:pPr>
            <a:r>
              <a:rPr lang="en-US" sz="1800" b="1" dirty="0">
                <a:solidFill>
                  <a:srgbClr val="3762FF"/>
                </a:solidFill>
                <a:latin typeface="Calibri" pitchFamily="34" charset="0"/>
                <a:ea typeface="Calibri" pitchFamily="34" charset="-122"/>
                <a:cs typeface="Calibri" pitchFamily="34" charset="-120"/>
              </a:rPr>
              <a:t>3</a:t>
            </a:r>
            <a:endParaRPr lang="en-US" sz="1800" dirty="0"/>
          </a:p>
        </p:txBody>
      </p:sp>
      <p:sp>
        <p:nvSpPr>
          <p:cNvPr id="33" name="Text 31"/>
          <p:cNvSpPr txBox="1"/>
          <p:nvPr/>
        </p:nvSpPr>
        <p:spPr>
          <a:xfrm>
            <a:off x="6735928" y="4983480"/>
            <a:ext cx="4769968" cy="640080"/>
          </a:xfrm>
          <a:prstGeom prst="rect">
            <a:avLst/>
          </a:prstGeom>
          <a:noFill/>
          <a:ln/>
        </p:spPr>
        <p:txBody>
          <a:bodyPr wrap="square" lIns="0" tIns="0" rIns="0" bIns="0" rtlCol="0" anchor="ctr"/>
          <a:lstStyle/>
          <a:p>
            <a:pPr marL="0" indent="0">
              <a:buNone/>
            </a:pPr>
            <a:r>
              <a:rPr lang="en-US" sz="1300" b="1" dirty="0">
                <a:solidFill>
                  <a:srgbClr val="16202B"/>
                </a:solidFill>
                <a:latin typeface="Arial" pitchFamily="34" charset="0"/>
                <a:ea typeface="Arial" pitchFamily="34" charset="-122"/>
                <a:cs typeface="Arial" pitchFamily="34" charset="-120"/>
              </a:rPr>
              <a:t>Color mode</a:t>
            </a:r>
            <a:r>
              <a:rPr lang="en-US" sz="1300" dirty="0">
                <a:solidFill>
                  <a:srgbClr val="4A5568"/>
                </a:solidFill>
                <a:latin typeface="Arial" pitchFamily="34" charset="0"/>
                <a:ea typeface="Arial" pitchFamily="34" charset="-122"/>
                <a:cs typeface="Arial" pitchFamily="34" charset="-120"/>
              </a:rPr>
              <a:t>  Background solid</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7F7F4"/>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marL="0" indent="0">
              <a:buNone/>
            </a:pPr>
            <a:r>
              <a:rPr lang="en-US" sz="1200" b="1" kern="0" spc="200" dirty="0">
                <a:solidFill>
                  <a:srgbClr val="3762FF"/>
                </a:solidFill>
                <a:latin typeface="Arial" pitchFamily="34" charset="0"/>
                <a:ea typeface="Arial" pitchFamily="34" charset="-122"/>
                <a:cs typeface="Arial" pitchFamily="34" charset="-120"/>
              </a:rPr>
              <a:t>DASHBOARD · PANEL 3 OCH 4</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marL="0" indent="0">
              <a:buNone/>
            </a:pPr>
            <a:r>
              <a:rPr lang="en-US" sz="3000" b="1" dirty="0">
                <a:solidFill>
                  <a:srgbClr val="16202B"/>
                </a:solidFill>
                <a:latin typeface="Calibri" pitchFamily="34" charset="0"/>
                <a:ea typeface="Calibri" pitchFamily="34" charset="-122"/>
                <a:cs typeface="Calibri" pitchFamily="34" charset="-120"/>
              </a:rPr>
              <a:t>Histogrammet: percentiler och heatmap</a:t>
            </a:r>
            <a:endParaRPr lang="en-US" sz="3000" dirty="0"/>
          </a:p>
        </p:txBody>
      </p:sp>
      <p:sp>
        <p:nvSpPr>
          <p:cNvPr id="4" name="Shape 2"/>
          <p:cNvSpPr/>
          <p:nvPr/>
        </p:nvSpPr>
        <p:spPr>
          <a:xfrm>
            <a:off x="548640" y="1554480"/>
            <a:ext cx="5455768" cy="1828800"/>
          </a:xfrm>
          <a:prstGeom prst="roundRect">
            <a:avLst>
              <a:gd name="adj" fmla="val 3000"/>
            </a:avLst>
          </a:prstGeom>
          <a:solidFill>
            <a:srgbClr val="0F1F33"/>
          </a:solidFill>
          <a:ln w="12700">
            <a:solidFill>
              <a:srgbClr val="0F1F33"/>
            </a:solidFill>
            <a:prstDash val="solid"/>
          </a:ln>
          <a:effectLst>
            <a:outerShdw blurRad="101600" dist="25400" dir="5400000" algn="bl" rotWithShape="0">
              <a:srgbClr val="000000">
                <a:alpha val="10000"/>
              </a:srgbClr>
            </a:outerShdw>
          </a:effectLst>
        </p:spPr>
      </p:sp>
      <p:sp>
        <p:nvSpPr>
          <p:cNvPr id="5" name="Shape 3"/>
          <p:cNvSpPr/>
          <p:nvPr/>
        </p:nvSpPr>
        <p:spPr>
          <a:xfrm>
            <a:off x="749808" y="1719072"/>
            <a:ext cx="109728" cy="109728"/>
          </a:xfrm>
          <a:prstGeom prst="ellipse">
            <a:avLst/>
          </a:prstGeom>
          <a:solidFill>
            <a:srgbClr val="D64545"/>
          </a:solidFill>
          <a:ln w="12700">
            <a:solidFill>
              <a:srgbClr val="D64545"/>
            </a:solidFill>
            <a:prstDash val="solid"/>
          </a:ln>
        </p:spPr>
      </p:sp>
      <p:sp>
        <p:nvSpPr>
          <p:cNvPr id="6" name="Shape 4"/>
          <p:cNvSpPr/>
          <p:nvPr/>
        </p:nvSpPr>
        <p:spPr>
          <a:xfrm>
            <a:off x="932688" y="1719072"/>
            <a:ext cx="109728" cy="109728"/>
          </a:xfrm>
          <a:prstGeom prst="ellipse">
            <a:avLst/>
          </a:prstGeom>
          <a:solidFill>
            <a:srgbClr val="FFB020"/>
          </a:solidFill>
          <a:ln w="12700">
            <a:solidFill>
              <a:srgbClr val="FFB020"/>
            </a:solidFill>
            <a:prstDash val="solid"/>
          </a:ln>
        </p:spPr>
      </p:sp>
      <p:sp>
        <p:nvSpPr>
          <p:cNvPr id="7" name="Shape 5"/>
          <p:cNvSpPr/>
          <p:nvPr/>
        </p:nvSpPr>
        <p:spPr>
          <a:xfrm>
            <a:off x="1115568" y="1719072"/>
            <a:ext cx="109728" cy="109728"/>
          </a:xfrm>
          <a:prstGeom prst="ellipse">
            <a:avLst/>
          </a:prstGeom>
          <a:solidFill>
            <a:srgbClr val="3CB371"/>
          </a:solidFill>
          <a:ln w="12700">
            <a:solidFill>
              <a:srgbClr val="3CB371"/>
            </a:solidFill>
            <a:prstDash val="solid"/>
          </a:ln>
        </p:spPr>
      </p:sp>
      <p:sp>
        <p:nvSpPr>
          <p:cNvPr id="8" name="Text 6"/>
          <p:cNvSpPr txBox="1"/>
          <p:nvPr/>
        </p:nvSpPr>
        <p:spPr>
          <a:xfrm>
            <a:off x="1371600" y="1645920"/>
            <a:ext cx="4449928" cy="256032"/>
          </a:xfrm>
          <a:prstGeom prst="rect">
            <a:avLst/>
          </a:prstGeom>
          <a:noFill/>
          <a:ln/>
        </p:spPr>
        <p:txBody>
          <a:bodyPr wrap="square" lIns="0" tIns="0" rIns="0" bIns="0" rtlCol="0" anchor="ctr"/>
          <a:lstStyle/>
          <a:p>
            <a:pPr marL="0" indent="0">
              <a:buNone/>
            </a:pPr>
            <a:r>
              <a:rPr lang="en-US" sz="1100" dirty="0">
                <a:solidFill>
                  <a:srgbClr val="B9C4D1"/>
                </a:solidFill>
                <a:latin typeface="Courier New" pitchFamily="34" charset="0"/>
                <a:ea typeface="Courier New" pitchFamily="34" charset="-122"/>
                <a:cs typeface="Courier New" pitchFamily="34" charset="-120"/>
              </a:rPr>
              <a:t>Panel 3 · Time series</a:t>
            </a:r>
            <a:endParaRPr lang="en-US" sz="1100" dirty="0"/>
          </a:p>
        </p:txBody>
      </p:sp>
      <p:sp>
        <p:nvSpPr>
          <p:cNvPr id="9" name="Text 7"/>
          <p:cNvSpPr txBox="1"/>
          <p:nvPr/>
        </p:nvSpPr>
        <p:spPr>
          <a:xfrm>
            <a:off x="777240" y="2011680"/>
            <a:ext cx="4998568" cy="1234440"/>
          </a:xfrm>
          <a:prstGeom prst="rect">
            <a:avLst/>
          </a:prstGeom>
          <a:noFill/>
          <a:ln/>
        </p:spPr>
        <p:txBody>
          <a:bodyPr wrap="square" lIns="0" tIns="0" rIns="0" bIns="0" rtlCol="0" anchor="t"/>
          <a:lstStyle/>
          <a:p>
            <a:pPr marL="0" indent="0">
              <a:lnSpc>
                <a:spcPct val="110000"/>
              </a:lnSpc>
              <a:buNone/>
            </a:pPr>
            <a:r>
              <a:rPr lang="en-US" sz="1100" dirty="0">
                <a:solidFill>
                  <a:srgbClr val="DDE3EA"/>
                </a:solidFill>
                <a:latin typeface="Courier New" pitchFamily="34" charset="0"/>
                <a:ea typeface="Courier New" pitchFamily="34" charset="-122"/>
                <a:cs typeface="Courier New" pitchFamily="34" charset="-120"/>
              </a:rPr>
              <a:t>histogram_quantile(0.95, sum by (le, operation) (</a:t>
            </a:r>
            <a:endParaRPr lang="en-US" sz="1100" dirty="0"/>
          </a:p>
          <a:p>
            <a:pPr marL="0" indent="0">
              <a:lnSpc>
                <a:spcPct val="110000"/>
              </a:lnSpc>
              <a:buNone/>
            </a:pPr>
            <a:r>
              <a:rPr lang="en-US" sz="1100" dirty="0">
                <a:solidFill>
                  <a:srgbClr val="DDE3EA"/>
                </a:solidFill>
                <a:latin typeface="Courier New" pitchFamily="34" charset="0"/>
                <a:ea typeface="Courier New" pitchFamily="34" charset="-122"/>
                <a:cs typeface="Courier New" pitchFamily="34" charset="-120"/>
              </a:rPr>
              <a:t>  rate(otel_customers_requestduration_milliseconds_bucket</a:t>
            </a:r>
            <a:endParaRPr lang="en-US" sz="1100" dirty="0"/>
          </a:p>
          <a:p>
            <a:pPr marL="0" indent="0">
              <a:lnSpc>
                <a:spcPct val="110000"/>
              </a:lnSpc>
              <a:buNone/>
            </a:pPr>
            <a:r>
              <a:rPr lang="en-US" sz="1100" dirty="0">
                <a:solidFill>
                  <a:srgbClr val="DDE3EA"/>
                </a:solidFill>
                <a:latin typeface="Courier New" pitchFamily="34" charset="0"/>
                <a:ea typeface="Courier New" pitchFamily="34" charset="-122"/>
                <a:cs typeface="Courier New" pitchFamily="34" charset="-120"/>
              </a:rPr>
              <a:t>    [$__rate_interval])))</a:t>
            </a:r>
            <a:endParaRPr lang="en-US" sz="1100" dirty="0"/>
          </a:p>
        </p:txBody>
      </p:sp>
      <p:sp>
        <p:nvSpPr>
          <p:cNvPr id="10" name="Shape 8"/>
          <p:cNvSpPr/>
          <p:nvPr/>
        </p:nvSpPr>
        <p:spPr>
          <a:xfrm>
            <a:off x="548640" y="3520440"/>
            <a:ext cx="5455768" cy="640080"/>
          </a:xfrm>
          <a:prstGeom prst="roundRect">
            <a:avLst>
              <a:gd name="adj" fmla="val 7143"/>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11" name="Text 9"/>
          <p:cNvSpPr txBox="1"/>
          <p:nvPr/>
        </p:nvSpPr>
        <p:spPr>
          <a:xfrm>
            <a:off x="685800" y="3520440"/>
            <a:ext cx="365760" cy="640080"/>
          </a:xfrm>
          <a:prstGeom prst="rect">
            <a:avLst/>
          </a:prstGeom>
          <a:noFill/>
          <a:ln/>
        </p:spPr>
        <p:txBody>
          <a:bodyPr wrap="square" lIns="0" tIns="0" rIns="0" bIns="0" rtlCol="0" anchor="ctr"/>
          <a:lstStyle/>
          <a:p>
            <a:pPr marL="0" indent="0">
              <a:buNone/>
            </a:pPr>
            <a:r>
              <a:rPr lang="en-US" sz="1800" b="1" dirty="0">
                <a:solidFill>
                  <a:srgbClr val="3762FF"/>
                </a:solidFill>
                <a:latin typeface="Calibri" pitchFamily="34" charset="0"/>
                <a:ea typeface="Calibri" pitchFamily="34" charset="-122"/>
                <a:cs typeface="Calibri" pitchFamily="34" charset="-120"/>
              </a:rPr>
              <a:t>1</a:t>
            </a:r>
            <a:endParaRPr lang="en-US" sz="1800" dirty="0"/>
          </a:p>
        </p:txBody>
      </p:sp>
      <p:sp>
        <p:nvSpPr>
          <p:cNvPr id="12" name="Text 10"/>
          <p:cNvSpPr txBox="1"/>
          <p:nvPr/>
        </p:nvSpPr>
        <p:spPr>
          <a:xfrm>
            <a:off x="1097280" y="3520440"/>
            <a:ext cx="4769968" cy="640080"/>
          </a:xfrm>
          <a:prstGeom prst="rect">
            <a:avLst/>
          </a:prstGeom>
          <a:noFill/>
          <a:ln/>
        </p:spPr>
        <p:txBody>
          <a:bodyPr wrap="square" lIns="0" tIns="0" rIns="0" bIns="0" rtlCol="0" anchor="ctr"/>
          <a:lstStyle/>
          <a:p>
            <a:pPr marL="0" indent="0">
              <a:buNone/>
            </a:pPr>
            <a:r>
              <a:rPr lang="en-US" sz="1300" b="1" dirty="0">
                <a:solidFill>
                  <a:srgbClr val="16202B"/>
                </a:solidFill>
                <a:latin typeface="Arial" pitchFamily="34" charset="0"/>
                <a:ea typeface="Arial" pitchFamily="34" charset="-122"/>
                <a:cs typeface="Arial" pitchFamily="34" charset="-120"/>
              </a:rPr>
              <a:t>Legend</a:t>
            </a:r>
            <a:r>
              <a:rPr lang="en-US" sz="1300" dirty="0">
                <a:solidFill>
                  <a:srgbClr val="4A5568"/>
                </a:solidFill>
                <a:latin typeface="Arial" pitchFamily="34" charset="0"/>
                <a:ea typeface="Arial" pitchFamily="34" charset="-122"/>
                <a:cs typeface="Arial" pitchFamily="34" charset="-120"/>
              </a:rPr>
              <a:t>  {{operation}}</a:t>
            </a:r>
            <a:endParaRPr lang="en-US" sz="1300" dirty="0"/>
          </a:p>
        </p:txBody>
      </p:sp>
      <p:sp>
        <p:nvSpPr>
          <p:cNvPr id="13" name="Shape 11"/>
          <p:cNvSpPr/>
          <p:nvPr/>
        </p:nvSpPr>
        <p:spPr>
          <a:xfrm>
            <a:off x="548640" y="4251960"/>
            <a:ext cx="5455768" cy="640080"/>
          </a:xfrm>
          <a:prstGeom prst="roundRect">
            <a:avLst>
              <a:gd name="adj" fmla="val 7143"/>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14" name="Text 12"/>
          <p:cNvSpPr txBox="1"/>
          <p:nvPr/>
        </p:nvSpPr>
        <p:spPr>
          <a:xfrm>
            <a:off x="685800" y="4251960"/>
            <a:ext cx="365760" cy="640080"/>
          </a:xfrm>
          <a:prstGeom prst="rect">
            <a:avLst/>
          </a:prstGeom>
          <a:noFill/>
          <a:ln/>
        </p:spPr>
        <p:txBody>
          <a:bodyPr wrap="square" lIns="0" tIns="0" rIns="0" bIns="0" rtlCol="0" anchor="ctr"/>
          <a:lstStyle/>
          <a:p>
            <a:pPr marL="0" indent="0">
              <a:buNone/>
            </a:pPr>
            <a:r>
              <a:rPr lang="en-US" sz="1800" b="1" dirty="0">
                <a:solidFill>
                  <a:srgbClr val="3762FF"/>
                </a:solidFill>
                <a:latin typeface="Calibri" pitchFamily="34" charset="0"/>
                <a:ea typeface="Calibri" pitchFamily="34" charset="-122"/>
                <a:cs typeface="Calibri" pitchFamily="34" charset="-120"/>
              </a:rPr>
              <a:t>2</a:t>
            </a:r>
            <a:endParaRPr lang="en-US" sz="1800" dirty="0"/>
          </a:p>
        </p:txBody>
      </p:sp>
      <p:sp>
        <p:nvSpPr>
          <p:cNvPr id="15" name="Text 13"/>
          <p:cNvSpPr txBox="1"/>
          <p:nvPr/>
        </p:nvSpPr>
        <p:spPr>
          <a:xfrm>
            <a:off x="1097280" y="4251960"/>
            <a:ext cx="4769968" cy="640080"/>
          </a:xfrm>
          <a:prstGeom prst="rect">
            <a:avLst/>
          </a:prstGeom>
          <a:noFill/>
          <a:ln/>
        </p:spPr>
        <p:txBody>
          <a:bodyPr wrap="square" lIns="0" tIns="0" rIns="0" bIns="0" rtlCol="0" anchor="ctr"/>
          <a:lstStyle/>
          <a:p>
            <a:pPr marL="0" indent="0">
              <a:buNone/>
            </a:pPr>
            <a:r>
              <a:rPr lang="en-US" sz="1300" b="1" dirty="0">
                <a:solidFill>
                  <a:srgbClr val="16202B"/>
                </a:solidFill>
                <a:latin typeface="Arial" pitchFamily="34" charset="0"/>
                <a:ea typeface="Arial" pitchFamily="34" charset="-122"/>
                <a:cs typeface="Arial" pitchFamily="34" charset="-120"/>
              </a:rPr>
              <a:t>Unit</a:t>
            </a:r>
            <a:r>
              <a:rPr lang="en-US" sz="1300" dirty="0">
                <a:solidFill>
                  <a:srgbClr val="4A5568"/>
                </a:solidFill>
                <a:latin typeface="Arial" pitchFamily="34" charset="0"/>
                <a:ea typeface="Arial" pitchFamily="34" charset="-122"/>
                <a:cs typeface="Arial" pitchFamily="34" charset="-120"/>
              </a:rPr>
              <a:t>  Time → milliseconds (ms)</a:t>
            </a:r>
            <a:endParaRPr lang="en-US" sz="1300" dirty="0"/>
          </a:p>
        </p:txBody>
      </p:sp>
      <p:sp>
        <p:nvSpPr>
          <p:cNvPr id="16" name="Shape 14"/>
          <p:cNvSpPr/>
          <p:nvPr/>
        </p:nvSpPr>
        <p:spPr>
          <a:xfrm>
            <a:off x="548640" y="4983480"/>
            <a:ext cx="5455768" cy="640080"/>
          </a:xfrm>
          <a:prstGeom prst="roundRect">
            <a:avLst>
              <a:gd name="adj" fmla="val 7143"/>
            </a:avLst>
          </a:prstGeom>
          <a:solidFill>
            <a:srgbClr val="3762FF"/>
          </a:solidFill>
          <a:ln w="12700">
            <a:solidFill>
              <a:srgbClr val="3762FF"/>
            </a:solidFill>
            <a:prstDash val="solid"/>
          </a:ln>
        </p:spPr>
      </p:sp>
      <p:sp>
        <p:nvSpPr>
          <p:cNvPr id="17" name="Text 15"/>
          <p:cNvSpPr txBox="1"/>
          <p:nvPr/>
        </p:nvSpPr>
        <p:spPr>
          <a:xfrm>
            <a:off x="685800" y="4983480"/>
            <a:ext cx="365760" cy="64008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8" name="Text 16"/>
          <p:cNvSpPr txBox="1"/>
          <p:nvPr/>
        </p:nvSpPr>
        <p:spPr>
          <a:xfrm>
            <a:off x="1097280" y="4983480"/>
            <a:ext cx="4769968" cy="640080"/>
          </a:xfrm>
          <a:prstGeom prst="rect">
            <a:avLst/>
          </a:prstGeom>
          <a:noFill/>
          <a:ln/>
        </p:spPr>
        <p:txBody>
          <a:bodyPr wrap="square" lIns="0" tIns="0" rIns="0" bIns="0" rtlCol="0" anchor="ctr"/>
          <a:lstStyle/>
          <a:p>
            <a:pPr marL="0" indent="0">
              <a:buNone/>
            </a:pPr>
            <a:r>
              <a:rPr lang="en-US" sz="1300" b="1" dirty="0">
                <a:solidFill>
                  <a:srgbClr val="FFFFFF"/>
                </a:solidFill>
                <a:latin typeface="Arial" pitchFamily="34" charset="0"/>
                <a:ea typeface="Arial" pitchFamily="34" charset="-122"/>
                <a:cs typeface="Arial" pitchFamily="34" charset="-120"/>
              </a:rPr>
              <a:t>Exemplars</a:t>
            </a:r>
            <a:r>
              <a:rPr lang="en-US" sz="1300" dirty="0">
                <a:solidFill>
                  <a:srgbClr val="FFFFFF"/>
                </a:solidFill>
                <a:latin typeface="Arial" pitchFamily="34" charset="0"/>
                <a:ea typeface="Arial" pitchFamily="34" charset="-122"/>
                <a:cs typeface="Arial" pitchFamily="34" charset="-120"/>
              </a:rPr>
              <a:t>  På - under frågan (toggle)</a:t>
            </a:r>
            <a:endParaRPr lang="en-US" sz="1300" dirty="0"/>
          </a:p>
        </p:txBody>
      </p:sp>
      <p:sp>
        <p:nvSpPr>
          <p:cNvPr id="19" name="Shape 17"/>
          <p:cNvSpPr/>
          <p:nvPr/>
        </p:nvSpPr>
        <p:spPr>
          <a:xfrm>
            <a:off x="6187288" y="1554480"/>
            <a:ext cx="5455768" cy="1828800"/>
          </a:xfrm>
          <a:prstGeom prst="roundRect">
            <a:avLst>
              <a:gd name="adj" fmla="val 3000"/>
            </a:avLst>
          </a:prstGeom>
          <a:solidFill>
            <a:srgbClr val="0F1F33"/>
          </a:solidFill>
          <a:ln w="12700">
            <a:solidFill>
              <a:srgbClr val="0F1F33"/>
            </a:solidFill>
            <a:prstDash val="solid"/>
          </a:ln>
          <a:effectLst>
            <a:outerShdw blurRad="101600" dist="25400" dir="5400000" algn="bl" rotWithShape="0">
              <a:srgbClr val="000000">
                <a:alpha val="10000"/>
              </a:srgbClr>
            </a:outerShdw>
          </a:effectLst>
        </p:spPr>
      </p:sp>
      <p:sp>
        <p:nvSpPr>
          <p:cNvPr id="20" name="Shape 18"/>
          <p:cNvSpPr/>
          <p:nvPr/>
        </p:nvSpPr>
        <p:spPr>
          <a:xfrm>
            <a:off x="6388456" y="1719072"/>
            <a:ext cx="109728" cy="109728"/>
          </a:xfrm>
          <a:prstGeom prst="ellipse">
            <a:avLst/>
          </a:prstGeom>
          <a:solidFill>
            <a:srgbClr val="D64545"/>
          </a:solidFill>
          <a:ln w="12700">
            <a:solidFill>
              <a:srgbClr val="D64545"/>
            </a:solidFill>
            <a:prstDash val="solid"/>
          </a:ln>
        </p:spPr>
      </p:sp>
      <p:sp>
        <p:nvSpPr>
          <p:cNvPr id="21" name="Shape 19"/>
          <p:cNvSpPr/>
          <p:nvPr/>
        </p:nvSpPr>
        <p:spPr>
          <a:xfrm>
            <a:off x="6571336" y="1719072"/>
            <a:ext cx="109728" cy="109728"/>
          </a:xfrm>
          <a:prstGeom prst="ellipse">
            <a:avLst/>
          </a:prstGeom>
          <a:solidFill>
            <a:srgbClr val="FFB020"/>
          </a:solidFill>
          <a:ln w="12700">
            <a:solidFill>
              <a:srgbClr val="FFB020"/>
            </a:solidFill>
            <a:prstDash val="solid"/>
          </a:ln>
        </p:spPr>
      </p:sp>
      <p:sp>
        <p:nvSpPr>
          <p:cNvPr id="22" name="Shape 20"/>
          <p:cNvSpPr/>
          <p:nvPr/>
        </p:nvSpPr>
        <p:spPr>
          <a:xfrm>
            <a:off x="6754216" y="1719072"/>
            <a:ext cx="109728" cy="109728"/>
          </a:xfrm>
          <a:prstGeom prst="ellipse">
            <a:avLst/>
          </a:prstGeom>
          <a:solidFill>
            <a:srgbClr val="3CB371"/>
          </a:solidFill>
          <a:ln w="12700">
            <a:solidFill>
              <a:srgbClr val="3CB371"/>
            </a:solidFill>
            <a:prstDash val="solid"/>
          </a:ln>
        </p:spPr>
      </p:sp>
      <p:sp>
        <p:nvSpPr>
          <p:cNvPr id="23" name="Text 21"/>
          <p:cNvSpPr txBox="1"/>
          <p:nvPr/>
        </p:nvSpPr>
        <p:spPr>
          <a:xfrm>
            <a:off x="7010248" y="1645920"/>
            <a:ext cx="4449928" cy="256032"/>
          </a:xfrm>
          <a:prstGeom prst="rect">
            <a:avLst/>
          </a:prstGeom>
          <a:noFill/>
          <a:ln/>
        </p:spPr>
        <p:txBody>
          <a:bodyPr wrap="square" lIns="0" tIns="0" rIns="0" bIns="0" rtlCol="0" anchor="ctr"/>
          <a:lstStyle/>
          <a:p>
            <a:pPr marL="0" indent="0">
              <a:buNone/>
            </a:pPr>
            <a:r>
              <a:rPr lang="en-US" sz="1100" dirty="0">
                <a:solidFill>
                  <a:srgbClr val="B9C4D1"/>
                </a:solidFill>
                <a:latin typeface="Courier New" pitchFamily="34" charset="0"/>
                <a:ea typeface="Courier New" pitchFamily="34" charset="-122"/>
                <a:cs typeface="Courier New" pitchFamily="34" charset="-120"/>
              </a:rPr>
              <a:t>Panel 4 · Heatmap</a:t>
            </a:r>
            <a:endParaRPr lang="en-US" sz="1100" dirty="0"/>
          </a:p>
        </p:txBody>
      </p:sp>
      <p:sp>
        <p:nvSpPr>
          <p:cNvPr id="24" name="Text 22"/>
          <p:cNvSpPr txBox="1"/>
          <p:nvPr/>
        </p:nvSpPr>
        <p:spPr>
          <a:xfrm>
            <a:off x="6415888" y="2011680"/>
            <a:ext cx="4998568" cy="1234440"/>
          </a:xfrm>
          <a:prstGeom prst="rect">
            <a:avLst/>
          </a:prstGeom>
          <a:noFill/>
          <a:ln/>
        </p:spPr>
        <p:txBody>
          <a:bodyPr wrap="square" lIns="0" tIns="0" rIns="0" bIns="0" rtlCol="0" anchor="t"/>
          <a:lstStyle/>
          <a:p>
            <a:pPr marL="0" indent="0">
              <a:lnSpc>
                <a:spcPct val="110000"/>
              </a:lnSpc>
              <a:buNone/>
            </a:pPr>
            <a:r>
              <a:rPr lang="en-US" sz="1100" dirty="0">
                <a:solidFill>
                  <a:srgbClr val="DDE3EA"/>
                </a:solidFill>
                <a:latin typeface="Courier New" pitchFamily="34" charset="0"/>
                <a:ea typeface="Courier New" pitchFamily="34" charset="-122"/>
                <a:cs typeface="Courier New" pitchFamily="34" charset="-120"/>
              </a:rPr>
              <a:t>sum by (le) (increase(</a:t>
            </a:r>
            <a:endParaRPr lang="en-US" sz="1100" dirty="0"/>
          </a:p>
          <a:p>
            <a:pPr marL="0" indent="0">
              <a:lnSpc>
                <a:spcPct val="110000"/>
              </a:lnSpc>
              <a:buNone/>
            </a:pPr>
            <a:r>
              <a:rPr lang="en-US" sz="1100" dirty="0">
                <a:solidFill>
                  <a:srgbClr val="DDE3EA"/>
                </a:solidFill>
                <a:latin typeface="Courier New" pitchFamily="34" charset="0"/>
                <a:ea typeface="Courier New" pitchFamily="34" charset="-122"/>
                <a:cs typeface="Courier New" pitchFamily="34" charset="-120"/>
              </a:rPr>
              <a:t>  otel_customers_requestduration_milliseconds_bucket</a:t>
            </a:r>
            <a:endParaRPr lang="en-US" sz="1100" dirty="0"/>
          </a:p>
          <a:p>
            <a:pPr marL="0" indent="0">
              <a:lnSpc>
                <a:spcPct val="110000"/>
              </a:lnSpc>
              <a:buNone/>
            </a:pPr>
            <a:r>
              <a:rPr lang="en-US" sz="1100" dirty="0">
                <a:solidFill>
                  <a:srgbClr val="DDE3EA"/>
                </a:solidFill>
                <a:latin typeface="Courier New" pitchFamily="34" charset="0"/>
                <a:ea typeface="Courier New" pitchFamily="34" charset="-122"/>
                <a:cs typeface="Courier New" pitchFamily="34" charset="-120"/>
              </a:rPr>
              <a:t>  [$__rate_interval]))</a:t>
            </a:r>
            <a:endParaRPr lang="en-US" sz="1100" dirty="0"/>
          </a:p>
        </p:txBody>
      </p:sp>
      <p:sp>
        <p:nvSpPr>
          <p:cNvPr id="25" name="Shape 23"/>
          <p:cNvSpPr/>
          <p:nvPr/>
        </p:nvSpPr>
        <p:spPr>
          <a:xfrm>
            <a:off x="6187288" y="3520440"/>
            <a:ext cx="5455768" cy="640080"/>
          </a:xfrm>
          <a:prstGeom prst="roundRect">
            <a:avLst>
              <a:gd name="adj" fmla="val 7143"/>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26" name="Text 24"/>
          <p:cNvSpPr txBox="1"/>
          <p:nvPr/>
        </p:nvSpPr>
        <p:spPr>
          <a:xfrm>
            <a:off x="6324448" y="3520440"/>
            <a:ext cx="365760" cy="640080"/>
          </a:xfrm>
          <a:prstGeom prst="rect">
            <a:avLst/>
          </a:prstGeom>
          <a:noFill/>
          <a:ln/>
        </p:spPr>
        <p:txBody>
          <a:bodyPr wrap="square" lIns="0" tIns="0" rIns="0" bIns="0" rtlCol="0" anchor="ctr"/>
          <a:lstStyle/>
          <a:p>
            <a:pPr marL="0" indent="0">
              <a:buNone/>
            </a:pPr>
            <a:r>
              <a:rPr lang="en-US" sz="1800" b="1" dirty="0">
                <a:solidFill>
                  <a:srgbClr val="3762FF"/>
                </a:solidFill>
                <a:latin typeface="Calibri" pitchFamily="34" charset="0"/>
                <a:ea typeface="Calibri" pitchFamily="34" charset="-122"/>
                <a:cs typeface="Calibri" pitchFamily="34" charset="-120"/>
              </a:rPr>
              <a:t>1</a:t>
            </a:r>
            <a:endParaRPr lang="en-US" sz="1800" dirty="0"/>
          </a:p>
        </p:txBody>
      </p:sp>
      <p:sp>
        <p:nvSpPr>
          <p:cNvPr id="27" name="Text 25"/>
          <p:cNvSpPr txBox="1"/>
          <p:nvPr/>
        </p:nvSpPr>
        <p:spPr>
          <a:xfrm>
            <a:off x="6735928" y="3520440"/>
            <a:ext cx="4769968" cy="640080"/>
          </a:xfrm>
          <a:prstGeom prst="rect">
            <a:avLst/>
          </a:prstGeom>
          <a:noFill/>
          <a:ln/>
        </p:spPr>
        <p:txBody>
          <a:bodyPr wrap="square" lIns="0" tIns="0" rIns="0" bIns="0" rtlCol="0" anchor="ctr"/>
          <a:lstStyle/>
          <a:p>
            <a:pPr marL="0" indent="0">
              <a:buNone/>
            </a:pPr>
            <a:r>
              <a:rPr lang="en-US" sz="1300" b="1" dirty="0">
                <a:solidFill>
                  <a:srgbClr val="16202B"/>
                </a:solidFill>
                <a:latin typeface="Arial" pitchFamily="34" charset="0"/>
                <a:ea typeface="Arial" pitchFamily="34" charset="-122"/>
                <a:cs typeface="Arial" pitchFamily="34" charset="-120"/>
              </a:rPr>
              <a:t>Format</a:t>
            </a:r>
            <a:r>
              <a:rPr lang="en-US" sz="1300" dirty="0">
                <a:solidFill>
                  <a:srgbClr val="4A5568"/>
                </a:solidFill>
                <a:latin typeface="Arial" pitchFamily="34" charset="0"/>
                <a:ea typeface="Arial" pitchFamily="34" charset="-122"/>
                <a:cs typeface="Arial" pitchFamily="34" charset="-120"/>
              </a:rPr>
              <a:t>  Query options → Format: Heatmap</a:t>
            </a:r>
            <a:endParaRPr lang="en-US" sz="1300" dirty="0"/>
          </a:p>
        </p:txBody>
      </p:sp>
      <p:sp>
        <p:nvSpPr>
          <p:cNvPr id="28" name="Shape 26"/>
          <p:cNvSpPr/>
          <p:nvPr/>
        </p:nvSpPr>
        <p:spPr>
          <a:xfrm>
            <a:off x="6187288" y="4251960"/>
            <a:ext cx="5455768" cy="640080"/>
          </a:xfrm>
          <a:prstGeom prst="roundRect">
            <a:avLst>
              <a:gd name="adj" fmla="val 7143"/>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29" name="Text 27"/>
          <p:cNvSpPr txBox="1"/>
          <p:nvPr/>
        </p:nvSpPr>
        <p:spPr>
          <a:xfrm>
            <a:off x="6324448" y="4251960"/>
            <a:ext cx="365760" cy="640080"/>
          </a:xfrm>
          <a:prstGeom prst="rect">
            <a:avLst/>
          </a:prstGeom>
          <a:noFill/>
          <a:ln/>
        </p:spPr>
        <p:txBody>
          <a:bodyPr wrap="square" lIns="0" tIns="0" rIns="0" bIns="0" rtlCol="0" anchor="ctr"/>
          <a:lstStyle/>
          <a:p>
            <a:pPr marL="0" indent="0">
              <a:buNone/>
            </a:pPr>
            <a:r>
              <a:rPr lang="en-US" sz="1800" b="1" dirty="0">
                <a:solidFill>
                  <a:srgbClr val="3762FF"/>
                </a:solidFill>
                <a:latin typeface="Calibri" pitchFamily="34" charset="0"/>
                <a:ea typeface="Calibri" pitchFamily="34" charset="-122"/>
                <a:cs typeface="Calibri" pitchFamily="34" charset="-120"/>
              </a:rPr>
              <a:t>2</a:t>
            </a:r>
            <a:endParaRPr lang="en-US" sz="1800" dirty="0"/>
          </a:p>
        </p:txBody>
      </p:sp>
      <p:sp>
        <p:nvSpPr>
          <p:cNvPr id="30" name="Text 28"/>
          <p:cNvSpPr txBox="1"/>
          <p:nvPr/>
        </p:nvSpPr>
        <p:spPr>
          <a:xfrm>
            <a:off x="6735928" y="4251960"/>
            <a:ext cx="4769968" cy="640080"/>
          </a:xfrm>
          <a:prstGeom prst="rect">
            <a:avLst/>
          </a:prstGeom>
          <a:noFill/>
          <a:ln/>
        </p:spPr>
        <p:txBody>
          <a:bodyPr wrap="square" lIns="0" tIns="0" rIns="0" bIns="0" rtlCol="0" anchor="ctr"/>
          <a:lstStyle/>
          <a:p>
            <a:pPr marL="0" indent="0">
              <a:buNone/>
            </a:pPr>
            <a:r>
              <a:rPr lang="en-US" sz="1300" b="1" dirty="0">
                <a:solidFill>
                  <a:srgbClr val="16202B"/>
                </a:solidFill>
                <a:latin typeface="Arial" pitchFamily="34" charset="0"/>
                <a:ea typeface="Arial" pitchFamily="34" charset="-122"/>
                <a:cs typeface="Arial" pitchFamily="34" charset="-120"/>
              </a:rPr>
              <a:t>Calculate</a:t>
            </a:r>
            <a:r>
              <a:rPr lang="en-US" sz="1300" dirty="0">
                <a:solidFill>
                  <a:srgbClr val="4A5568"/>
                </a:solidFill>
                <a:latin typeface="Arial" pitchFamily="34" charset="0"/>
                <a:ea typeface="Arial" pitchFamily="34" charset="-122"/>
                <a:cs typeface="Arial" pitchFamily="34" charset="-120"/>
              </a:rPr>
              <a:t>  Calculate from data: No</a:t>
            </a:r>
            <a:endParaRPr lang="en-US" sz="1300" dirty="0"/>
          </a:p>
        </p:txBody>
      </p:sp>
      <p:sp>
        <p:nvSpPr>
          <p:cNvPr id="31" name="Shape 29"/>
          <p:cNvSpPr/>
          <p:nvPr/>
        </p:nvSpPr>
        <p:spPr>
          <a:xfrm>
            <a:off x="6187288" y="4983480"/>
            <a:ext cx="5455768" cy="640080"/>
          </a:xfrm>
          <a:prstGeom prst="roundRect">
            <a:avLst>
              <a:gd name="adj" fmla="val 7143"/>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32" name="Text 30"/>
          <p:cNvSpPr txBox="1"/>
          <p:nvPr/>
        </p:nvSpPr>
        <p:spPr>
          <a:xfrm>
            <a:off x="6324448" y="4983480"/>
            <a:ext cx="365760" cy="640080"/>
          </a:xfrm>
          <a:prstGeom prst="rect">
            <a:avLst/>
          </a:prstGeom>
          <a:noFill/>
          <a:ln/>
        </p:spPr>
        <p:txBody>
          <a:bodyPr wrap="square" lIns="0" tIns="0" rIns="0" bIns="0" rtlCol="0" anchor="ctr"/>
          <a:lstStyle/>
          <a:p>
            <a:pPr marL="0" indent="0">
              <a:buNone/>
            </a:pPr>
            <a:r>
              <a:rPr lang="en-US" sz="1800" b="1" dirty="0">
                <a:solidFill>
                  <a:srgbClr val="3762FF"/>
                </a:solidFill>
                <a:latin typeface="Calibri" pitchFamily="34" charset="0"/>
                <a:ea typeface="Calibri" pitchFamily="34" charset="-122"/>
                <a:cs typeface="Calibri" pitchFamily="34" charset="-120"/>
              </a:rPr>
              <a:t>3</a:t>
            </a:r>
            <a:endParaRPr lang="en-US" sz="1800" dirty="0"/>
          </a:p>
        </p:txBody>
      </p:sp>
      <p:sp>
        <p:nvSpPr>
          <p:cNvPr id="33" name="Text 31"/>
          <p:cNvSpPr txBox="1"/>
          <p:nvPr/>
        </p:nvSpPr>
        <p:spPr>
          <a:xfrm>
            <a:off x="6735928" y="4983480"/>
            <a:ext cx="4769968" cy="640080"/>
          </a:xfrm>
          <a:prstGeom prst="rect">
            <a:avLst/>
          </a:prstGeom>
          <a:noFill/>
          <a:ln/>
        </p:spPr>
        <p:txBody>
          <a:bodyPr wrap="square" lIns="0" tIns="0" rIns="0" bIns="0" rtlCol="0" anchor="ctr"/>
          <a:lstStyle/>
          <a:p>
            <a:pPr marL="0" indent="0">
              <a:buNone/>
            </a:pPr>
            <a:r>
              <a:rPr lang="en-US" sz="1300" b="1" dirty="0">
                <a:solidFill>
                  <a:srgbClr val="16202B"/>
                </a:solidFill>
                <a:latin typeface="Arial" pitchFamily="34" charset="0"/>
                <a:ea typeface="Arial" pitchFamily="34" charset="-122"/>
                <a:cs typeface="Arial" pitchFamily="34" charset="-120"/>
              </a:rPr>
              <a:t>Y-axel</a:t>
            </a:r>
            <a:r>
              <a:rPr lang="en-US" sz="1300" dirty="0">
                <a:solidFill>
                  <a:srgbClr val="4A5568"/>
                </a:solidFill>
                <a:latin typeface="Arial" pitchFamily="34" charset="0"/>
                <a:ea typeface="Arial" pitchFamily="34" charset="-122"/>
                <a:cs typeface="Arial" pitchFamily="34" charset="-120"/>
              </a:rPr>
              <a:t>  Unit: milliseconds (ms)</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F1F33"/>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marL="0" indent="0">
              <a:buNone/>
            </a:pPr>
            <a:r>
              <a:rPr lang="en-US" sz="1200" b="1" kern="0" spc="200" dirty="0">
                <a:solidFill>
                  <a:srgbClr val="7C9CFF"/>
                </a:solidFill>
                <a:latin typeface="Arial" pitchFamily="34" charset="0"/>
                <a:ea typeface="Arial" pitchFamily="34" charset="-122"/>
                <a:cs typeface="Arial" pitchFamily="34" charset="-120"/>
              </a:rPr>
              <a:t>DASHBOARD · PANEL 5-7</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marL="0" indent="0">
              <a:buNone/>
            </a:pPr>
            <a:r>
              <a:rPr lang="en-US" sz="3000" b="1" dirty="0">
                <a:solidFill>
                  <a:srgbClr val="F5F7FA"/>
                </a:solidFill>
                <a:latin typeface="Calibri" pitchFamily="34" charset="0"/>
                <a:ea typeface="Calibri" pitchFamily="34" charset="-122"/>
                <a:cs typeface="Calibri" pitchFamily="34" charset="-120"/>
              </a:rPr>
              <a:t>Affärsmått, loggar och traces i samma vy</a:t>
            </a:r>
            <a:endParaRPr lang="en-US" sz="3000" dirty="0"/>
          </a:p>
        </p:txBody>
      </p:sp>
      <p:sp>
        <p:nvSpPr>
          <p:cNvPr id="4" name="Shape 2"/>
          <p:cNvSpPr/>
          <p:nvPr/>
        </p:nvSpPr>
        <p:spPr>
          <a:xfrm>
            <a:off x="548640" y="1554480"/>
            <a:ext cx="3515258" cy="640080"/>
          </a:xfrm>
          <a:prstGeom prst="roundRect">
            <a:avLst>
              <a:gd name="adj" fmla="val 8571"/>
            </a:avLst>
          </a:prstGeom>
          <a:solidFill>
            <a:srgbClr val="3762FF"/>
          </a:solidFill>
          <a:ln w="12700">
            <a:solidFill>
              <a:srgbClr val="3762FF"/>
            </a:solidFill>
            <a:prstDash val="solid"/>
          </a:ln>
        </p:spPr>
      </p:sp>
      <p:sp>
        <p:nvSpPr>
          <p:cNvPr id="5" name="Text 3"/>
          <p:cNvSpPr txBox="1"/>
          <p:nvPr/>
        </p:nvSpPr>
        <p:spPr>
          <a:xfrm>
            <a:off x="640080" y="1554480"/>
            <a:ext cx="3332378" cy="64008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Bar gauge  ·  Nya kunder per stad</a:t>
            </a:r>
            <a:endParaRPr lang="en-US" sz="1400" dirty="0"/>
          </a:p>
        </p:txBody>
      </p:sp>
      <p:sp>
        <p:nvSpPr>
          <p:cNvPr id="6" name="Shape 4"/>
          <p:cNvSpPr/>
          <p:nvPr/>
        </p:nvSpPr>
        <p:spPr>
          <a:xfrm>
            <a:off x="548640" y="2331720"/>
            <a:ext cx="3515258" cy="1737360"/>
          </a:xfrm>
          <a:prstGeom prst="roundRect">
            <a:avLst>
              <a:gd name="adj" fmla="val 3158"/>
            </a:avLst>
          </a:prstGeom>
          <a:solidFill>
            <a:srgbClr val="16294A"/>
          </a:solidFill>
          <a:ln w="12700">
            <a:solidFill>
              <a:srgbClr val="16294A"/>
            </a:solidFill>
            <a:prstDash val="solid"/>
          </a:ln>
        </p:spPr>
      </p:sp>
      <p:sp>
        <p:nvSpPr>
          <p:cNvPr id="7" name="Shape 5"/>
          <p:cNvSpPr/>
          <p:nvPr/>
        </p:nvSpPr>
        <p:spPr>
          <a:xfrm>
            <a:off x="749808" y="2496312"/>
            <a:ext cx="109728" cy="109728"/>
          </a:xfrm>
          <a:prstGeom prst="ellipse">
            <a:avLst/>
          </a:prstGeom>
          <a:solidFill>
            <a:srgbClr val="D64545"/>
          </a:solidFill>
          <a:ln w="12700">
            <a:solidFill>
              <a:srgbClr val="D64545"/>
            </a:solidFill>
            <a:prstDash val="solid"/>
          </a:ln>
        </p:spPr>
      </p:sp>
      <p:sp>
        <p:nvSpPr>
          <p:cNvPr id="8" name="Shape 6"/>
          <p:cNvSpPr/>
          <p:nvPr/>
        </p:nvSpPr>
        <p:spPr>
          <a:xfrm>
            <a:off x="932688" y="2496312"/>
            <a:ext cx="109728" cy="109728"/>
          </a:xfrm>
          <a:prstGeom prst="ellipse">
            <a:avLst/>
          </a:prstGeom>
          <a:solidFill>
            <a:srgbClr val="FFB020"/>
          </a:solidFill>
          <a:ln w="12700">
            <a:solidFill>
              <a:srgbClr val="FFB020"/>
            </a:solidFill>
            <a:prstDash val="solid"/>
          </a:ln>
        </p:spPr>
      </p:sp>
      <p:sp>
        <p:nvSpPr>
          <p:cNvPr id="9" name="Shape 7"/>
          <p:cNvSpPr/>
          <p:nvPr/>
        </p:nvSpPr>
        <p:spPr>
          <a:xfrm>
            <a:off x="1115568" y="2496312"/>
            <a:ext cx="109728" cy="109728"/>
          </a:xfrm>
          <a:prstGeom prst="ellipse">
            <a:avLst/>
          </a:prstGeom>
          <a:solidFill>
            <a:srgbClr val="3CB371"/>
          </a:solidFill>
          <a:ln w="12700">
            <a:solidFill>
              <a:srgbClr val="3CB371"/>
            </a:solidFill>
            <a:prstDash val="solid"/>
          </a:ln>
        </p:spPr>
      </p:sp>
      <p:sp>
        <p:nvSpPr>
          <p:cNvPr id="10" name="Text 8"/>
          <p:cNvSpPr txBox="1"/>
          <p:nvPr/>
        </p:nvSpPr>
        <p:spPr>
          <a:xfrm>
            <a:off x="777240" y="2788920"/>
            <a:ext cx="3058058" cy="1143000"/>
          </a:xfrm>
          <a:prstGeom prst="rect">
            <a:avLst/>
          </a:prstGeom>
          <a:noFill/>
          <a:ln/>
        </p:spPr>
        <p:txBody>
          <a:bodyPr wrap="square" lIns="0" tIns="0" rIns="0" bIns="0" rtlCol="0" anchor="t"/>
          <a:lstStyle/>
          <a:p>
            <a:pPr marL="0" indent="0">
              <a:lnSpc>
                <a:spcPct val="110000"/>
              </a:lnSpc>
              <a:buNone/>
            </a:pPr>
            <a:r>
              <a:rPr lang="en-US" sz="1100" dirty="0">
                <a:solidFill>
                  <a:srgbClr val="DDE3EA"/>
                </a:solidFill>
                <a:latin typeface="Courier New" pitchFamily="34" charset="0"/>
                <a:ea typeface="Courier New" pitchFamily="34" charset="-122"/>
                <a:cs typeface="Courier New" pitchFamily="34" charset="-120"/>
              </a:rPr>
              <a:t>sum by (city) (increase(</a:t>
            </a:r>
            <a:endParaRPr lang="en-US" sz="1100" dirty="0"/>
          </a:p>
          <a:p>
            <a:pPr marL="0" indent="0">
              <a:lnSpc>
                <a:spcPct val="110000"/>
              </a:lnSpc>
              <a:buNone/>
            </a:pPr>
            <a:r>
              <a:rPr lang="en-US" sz="1100" dirty="0">
                <a:solidFill>
                  <a:srgbClr val="DDE3EA"/>
                </a:solidFill>
                <a:latin typeface="Courier New" pitchFamily="34" charset="0"/>
                <a:ea typeface="Courier New" pitchFamily="34" charset="-122"/>
                <a:cs typeface="Courier New" pitchFamily="34" charset="-120"/>
              </a:rPr>
              <a:t> otel_customers_created_total[24h]))</a:t>
            </a:r>
            <a:endParaRPr lang="en-US" sz="1100" dirty="0"/>
          </a:p>
        </p:txBody>
      </p:sp>
      <p:sp>
        <p:nvSpPr>
          <p:cNvPr id="11" name="Shape 9"/>
          <p:cNvSpPr/>
          <p:nvPr/>
        </p:nvSpPr>
        <p:spPr>
          <a:xfrm>
            <a:off x="548640" y="4206240"/>
            <a:ext cx="3515258" cy="914400"/>
          </a:xfrm>
          <a:prstGeom prst="roundRect">
            <a:avLst>
              <a:gd name="adj" fmla="val 6000"/>
            </a:avLst>
          </a:prstGeom>
          <a:solidFill>
            <a:srgbClr val="16294A"/>
          </a:solidFill>
          <a:ln w="12700">
            <a:solidFill>
              <a:srgbClr val="16294A"/>
            </a:solidFill>
            <a:prstDash val="solid"/>
          </a:ln>
        </p:spPr>
      </p:sp>
      <p:sp>
        <p:nvSpPr>
          <p:cNvPr id="12" name="Text 10"/>
          <p:cNvSpPr txBox="1"/>
          <p:nvPr/>
        </p:nvSpPr>
        <p:spPr>
          <a:xfrm>
            <a:off x="749808" y="4407408"/>
            <a:ext cx="3112922" cy="320040"/>
          </a:xfrm>
          <a:prstGeom prst="rect">
            <a:avLst/>
          </a:prstGeom>
          <a:noFill/>
          <a:ln/>
        </p:spPr>
        <p:txBody>
          <a:bodyPr wrap="square" lIns="0" tIns="0" rIns="0" bIns="0" rtlCol="0" anchor="t"/>
          <a:lstStyle/>
          <a:p>
            <a:pPr marL="0" indent="0">
              <a:buNone/>
            </a:pPr>
            <a:r>
              <a:rPr lang="en-US" sz="1300" b="1" dirty="0">
                <a:solidFill>
                  <a:srgbClr val="F5F7FA"/>
                </a:solidFill>
                <a:latin typeface="Calibri" pitchFamily="34" charset="0"/>
                <a:ea typeface="Calibri" pitchFamily="34" charset="-122"/>
                <a:cs typeface="Calibri" pitchFamily="34" charset="-120"/>
              </a:rPr>
              <a:t>Query options → Type: Instant</a:t>
            </a:r>
            <a:endParaRPr lang="en-US" sz="1300" dirty="0"/>
          </a:p>
        </p:txBody>
      </p:sp>
      <p:sp>
        <p:nvSpPr>
          <p:cNvPr id="13" name="Shape 11"/>
          <p:cNvSpPr/>
          <p:nvPr/>
        </p:nvSpPr>
        <p:spPr>
          <a:xfrm>
            <a:off x="4338218" y="1554480"/>
            <a:ext cx="3515258" cy="640080"/>
          </a:xfrm>
          <a:prstGeom prst="roundRect">
            <a:avLst>
              <a:gd name="adj" fmla="val 8571"/>
            </a:avLst>
          </a:prstGeom>
          <a:solidFill>
            <a:srgbClr val="16294A"/>
          </a:solidFill>
          <a:ln w="12700">
            <a:solidFill>
              <a:srgbClr val="16294A"/>
            </a:solidFill>
            <a:prstDash val="solid"/>
          </a:ln>
        </p:spPr>
      </p:sp>
      <p:sp>
        <p:nvSpPr>
          <p:cNvPr id="14" name="Text 12"/>
          <p:cNvSpPr txBox="1"/>
          <p:nvPr/>
        </p:nvSpPr>
        <p:spPr>
          <a:xfrm>
            <a:off x="4429658" y="1554480"/>
            <a:ext cx="3332378" cy="64008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Logs  ·  Loggar</a:t>
            </a:r>
            <a:endParaRPr lang="en-US" sz="1400" dirty="0"/>
          </a:p>
        </p:txBody>
      </p:sp>
      <p:sp>
        <p:nvSpPr>
          <p:cNvPr id="15" name="Shape 13"/>
          <p:cNvSpPr/>
          <p:nvPr/>
        </p:nvSpPr>
        <p:spPr>
          <a:xfrm>
            <a:off x="4338218" y="2331720"/>
            <a:ext cx="3515258" cy="1737360"/>
          </a:xfrm>
          <a:prstGeom prst="roundRect">
            <a:avLst>
              <a:gd name="adj" fmla="val 3158"/>
            </a:avLst>
          </a:prstGeom>
          <a:solidFill>
            <a:srgbClr val="16294A"/>
          </a:solidFill>
          <a:ln w="12700">
            <a:solidFill>
              <a:srgbClr val="16294A"/>
            </a:solidFill>
            <a:prstDash val="solid"/>
          </a:ln>
        </p:spPr>
      </p:sp>
      <p:sp>
        <p:nvSpPr>
          <p:cNvPr id="16" name="Shape 14"/>
          <p:cNvSpPr/>
          <p:nvPr/>
        </p:nvSpPr>
        <p:spPr>
          <a:xfrm>
            <a:off x="4539386" y="2496312"/>
            <a:ext cx="109728" cy="109728"/>
          </a:xfrm>
          <a:prstGeom prst="ellipse">
            <a:avLst/>
          </a:prstGeom>
          <a:solidFill>
            <a:srgbClr val="D64545"/>
          </a:solidFill>
          <a:ln w="12700">
            <a:solidFill>
              <a:srgbClr val="D64545"/>
            </a:solidFill>
            <a:prstDash val="solid"/>
          </a:ln>
        </p:spPr>
      </p:sp>
      <p:sp>
        <p:nvSpPr>
          <p:cNvPr id="17" name="Shape 15"/>
          <p:cNvSpPr/>
          <p:nvPr/>
        </p:nvSpPr>
        <p:spPr>
          <a:xfrm>
            <a:off x="4722266" y="2496312"/>
            <a:ext cx="109728" cy="109728"/>
          </a:xfrm>
          <a:prstGeom prst="ellipse">
            <a:avLst/>
          </a:prstGeom>
          <a:solidFill>
            <a:srgbClr val="FFB020"/>
          </a:solidFill>
          <a:ln w="12700">
            <a:solidFill>
              <a:srgbClr val="FFB020"/>
            </a:solidFill>
            <a:prstDash val="solid"/>
          </a:ln>
        </p:spPr>
      </p:sp>
      <p:sp>
        <p:nvSpPr>
          <p:cNvPr id="18" name="Shape 16"/>
          <p:cNvSpPr/>
          <p:nvPr/>
        </p:nvSpPr>
        <p:spPr>
          <a:xfrm>
            <a:off x="4905146" y="2496312"/>
            <a:ext cx="109728" cy="109728"/>
          </a:xfrm>
          <a:prstGeom prst="ellipse">
            <a:avLst/>
          </a:prstGeom>
          <a:solidFill>
            <a:srgbClr val="3CB371"/>
          </a:solidFill>
          <a:ln w="12700">
            <a:solidFill>
              <a:srgbClr val="3CB371"/>
            </a:solidFill>
            <a:prstDash val="solid"/>
          </a:ln>
        </p:spPr>
      </p:sp>
      <p:sp>
        <p:nvSpPr>
          <p:cNvPr id="19" name="Text 17"/>
          <p:cNvSpPr txBox="1"/>
          <p:nvPr/>
        </p:nvSpPr>
        <p:spPr>
          <a:xfrm>
            <a:off x="4566818" y="2788920"/>
            <a:ext cx="3058058" cy="1143000"/>
          </a:xfrm>
          <a:prstGeom prst="rect">
            <a:avLst/>
          </a:prstGeom>
          <a:noFill/>
          <a:ln/>
        </p:spPr>
        <p:txBody>
          <a:bodyPr wrap="square" lIns="0" tIns="0" rIns="0" bIns="0" rtlCol="0" anchor="t"/>
          <a:lstStyle/>
          <a:p>
            <a:pPr marL="0" indent="0">
              <a:lnSpc>
                <a:spcPct val="110000"/>
              </a:lnSpc>
              <a:buNone/>
            </a:pPr>
            <a:r>
              <a:rPr lang="en-US" sz="1100" dirty="0">
                <a:solidFill>
                  <a:srgbClr val="DDE3EA"/>
                </a:solidFill>
                <a:latin typeface="Courier New" pitchFamily="34" charset="0"/>
                <a:ea typeface="Courier New" pitchFamily="34" charset="-122"/>
                <a:cs typeface="Courier New" pitchFamily="34" charset="-120"/>
              </a:rPr>
              <a:t>{service_name="telemetry-api"}</a:t>
            </a:r>
            <a:endParaRPr lang="en-US" sz="1100" dirty="0"/>
          </a:p>
        </p:txBody>
      </p:sp>
      <p:sp>
        <p:nvSpPr>
          <p:cNvPr id="20" name="Shape 18"/>
          <p:cNvSpPr/>
          <p:nvPr/>
        </p:nvSpPr>
        <p:spPr>
          <a:xfrm>
            <a:off x="4338218" y="4206240"/>
            <a:ext cx="3515258" cy="914400"/>
          </a:xfrm>
          <a:prstGeom prst="roundRect">
            <a:avLst>
              <a:gd name="adj" fmla="val 6000"/>
            </a:avLst>
          </a:prstGeom>
          <a:solidFill>
            <a:srgbClr val="16294A"/>
          </a:solidFill>
          <a:ln w="12700">
            <a:solidFill>
              <a:srgbClr val="16294A"/>
            </a:solidFill>
            <a:prstDash val="solid"/>
          </a:ln>
        </p:spPr>
      </p:sp>
      <p:sp>
        <p:nvSpPr>
          <p:cNvPr id="21" name="Text 19"/>
          <p:cNvSpPr txBox="1"/>
          <p:nvPr/>
        </p:nvSpPr>
        <p:spPr>
          <a:xfrm>
            <a:off x="4539386" y="4407408"/>
            <a:ext cx="3112922" cy="320040"/>
          </a:xfrm>
          <a:prstGeom prst="rect">
            <a:avLst/>
          </a:prstGeom>
          <a:noFill/>
          <a:ln/>
        </p:spPr>
        <p:txBody>
          <a:bodyPr wrap="square" lIns="0" tIns="0" rIns="0" bIns="0" rtlCol="0" anchor="t"/>
          <a:lstStyle/>
          <a:p>
            <a:pPr marL="0" indent="0">
              <a:buNone/>
            </a:pPr>
            <a:r>
              <a:rPr lang="en-US" sz="1300" b="1" dirty="0">
                <a:solidFill>
                  <a:srgbClr val="F5F7FA"/>
                </a:solidFill>
                <a:latin typeface="Calibri" pitchFamily="34" charset="0"/>
                <a:ea typeface="Calibri" pitchFamily="34" charset="-122"/>
                <a:cs typeface="Calibri" pitchFamily="34" charset="-120"/>
              </a:rPr>
              <a:t>Datakälla: Loki</a:t>
            </a:r>
            <a:endParaRPr lang="en-US" sz="1300" dirty="0"/>
          </a:p>
        </p:txBody>
      </p:sp>
      <p:sp>
        <p:nvSpPr>
          <p:cNvPr id="22" name="Shape 20"/>
          <p:cNvSpPr/>
          <p:nvPr/>
        </p:nvSpPr>
        <p:spPr>
          <a:xfrm>
            <a:off x="8127797" y="1554480"/>
            <a:ext cx="3515258" cy="640080"/>
          </a:xfrm>
          <a:prstGeom prst="roundRect">
            <a:avLst>
              <a:gd name="adj" fmla="val 8571"/>
            </a:avLst>
          </a:prstGeom>
          <a:solidFill>
            <a:srgbClr val="16294A"/>
          </a:solidFill>
          <a:ln w="12700">
            <a:solidFill>
              <a:srgbClr val="16294A"/>
            </a:solidFill>
            <a:prstDash val="solid"/>
          </a:ln>
        </p:spPr>
      </p:sp>
      <p:sp>
        <p:nvSpPr>
          <p:cNvPr id="23" name="Text 21"/>
          <p:cNvSpPr txBox="1"/>
          <p:nvPr/>
        </p:nvSpPr>
        <p:spPr>
          <a:xfrm>
            <a:off x="8219237" y="1554480"/>
            <a:ext cx="3332378" cy="64008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Table  ·  Långsamma anrop</a:t>
            </a:r>
            <a:endParaRPr lang="en-US" sz="1400" dirty="0"/>
          </a:p>
        </p:txBody>
      </p:sp>
      <p:sp>
        <p:nvSpPr>
          <p:cNvPr id="24" name="Shape 22"/>
          <p:cNvSpPr/>
          <p:nvPr/>
        </p:nvSpPr>
        <p:spPr>
          <a:xfrm>
            <a:off x="8127797" y="2331720"/>
            <a:ext cx="3515258" cy="1737360"/>
          </a:xfrm>
          <a:prstGeom prst="roundRect">
            <a:avLst>
              <a:gd name="adj" fmla="val 3158"/>
            </a:avLst>
          </a:prstGeom>
          <a:solidFill>
            <a:srgbClr val="16294A"/>
          </a:solidFill>
          <a:ln w="12700">
            <a:solidFill>
              <a:srgbClr val="16294A"/>
            </a:solidFill>
            <a:prstDash val="solid"/>
          </a:ln>
        </p:spPr>
      </p:sp>
      <p:sp>
        <p:nvSpPr>
          <p:cNvPr id="25" name="Shape 23"/>
          <p:cNvSpPr/>
          <p:nvPr/>
        </p:nvSpPr>
        <p:spPr>
          <a:xfrm>
            <a:off x="8328965" y="2496312"/>
            <a:ext cx="109728" cy="109728"/>
          </a:xfrm>
          <a:prstGeom prst="ellipse">
            <a:avLst/>
          </a:prstGeom>
          <a:solidFill>
            <a:srgbClr val="D64545"/>
          </a:solidFill>
          <a:ln w="12700">
            <a:solidFill>
              <a:srgbClr val="D64545"/>
            </a:solidFill>
            <a:prstDash val="solid"/>
          </a:ln>
        </p:spPr>
      </p:sp>
      <p:sp>
        <p:nvSpPr>
          <p:cNvPr id="26" name="Shape 24"/>
          <p:cNvSpPr/>
          <p:nvPr/>
        </p:nvSpPr>
        <p:spPr>
          <a:xfrm>
            <a:off x="8511845" y="2496312"/>
            <a:ext cx="109728" cy="109728"/>
          </a:xfrm>
          <a:prstGeom prst="ellipse">
            <a:avLst/>
          </a:prstGeom>
          <a:solidFill>
            <a:srgbClr val="FFB020"/>
          </a:solidFill>
          <a:ln w="12700">
            <a:solidFill>
              <a:srgbClr val="FFB020"/>
            </a:solidFill>
            <a:prstDash val="solid"/>
          </a:ln>
        </p:spPr>
      </p:sp>
      <p:sp>
        <p:nvSpPr>
          <p:cNvPr id="27" name="Shape 25"/>
          <p:cNvSpPr/>
          <p:nvPr/>
        </p:nvSpPr>
        <p:spPr>
          <a:xfrm>
            <a:off x="8694725" y="2496312"/>
            <a:ext cx="109728" cy="109728"/>
          </a:xfrm>
          <a:prstGeom prst="ellipse">
            <a:avLst/>
          </a:prstGeom>
          <a:solidFill>
            <a:srgbClr val="3CB371"/>
          </a:solidFill>
          <a:ln w="12700">
            <a:solidFill>
              <a:srgbClr val="3CB371"/>
            </a:solidFill>
            <a:prstDash val="solid"/>
          </a:ln>
        </p:spPr>
      </p:sp>
      <p:sp>
        <p:nvSpPr>
          <p:cNvPr id="28" name="Text 26"/>
          <p:cNvSpPr txBox="1"/>
          <p:nvPr/>
        </p:nvSpPr>
        <p:spPr>
          <a:xfrm>
            <a:off x="8356397" y="2788920"/>
            <a:ext cx="3058058" cy="1143000"/>
          </a:xfrm>
          <a:prstGeom prst="rect">
            <a:avLst/>
          </a:prstGeom>
          <a:noFill/>
          <a:ln/>
        </p:spPr>
        <p:txBody>
          <a:bodyPr wrap="square" lIns="0" tIns="0" rIns="0" bIns="0" rtlCol="0" anchor="t"/>
          <a:lstStyle/>
          <a:p>
            <a:pPr marL="0" indent="0">
              <a:lnSpc>
                <a:spcPct val="110000"/>
              </a:lnSpc>
              <a:buNone/>
            </a:pPr>
            <a:r>
              <a:rPr lang="en-US" sz="1100" dirty="0">
                <a:solidFill>
                  <a:srgbClr val="DDE3EA"/>
                </a:solidFill>
                <a:latin typeface="Courier New" pitchFamily="34" charset="0"/>
                <a:ea typeface="Courier New" pitchFamily="34" charset="-122"/>
                <a:cs typeface="Courier New" pitchFamily="34" charset="-120"/>
              </a:rPr>
              <a:t>{ resource.service.name =</a:t>
            </a:r>
            <a:endParaRPr lang="en-US" sz="1100" dirty="0"/>
          </a:p>
          <a:p>
            <a:pPr marL="0" indent="0">
              <a:lnSpc>
                <a:spcPct val="110000"/>
              </a:lnSpc>
              <a:buNone/>
            </a:pPr>
            <a:r>
              <a:rPr lang="en-US" sz="1100" dirty="0">
                <a:solidFill>
                  <a:srgbClr val="DDE3EA"/>
                </a:solidFill>
                <a:latin typeface="Courier New" pitchFamily="34" charset="0"/>
                <a:ea typeface="Courier New" pitchFamily="34" charset="-122"/>
                <a:cs typeface="Courier New" pitchFamily="34" charset="-120"/>
              </a:rPr>
              <a:t> "telemetry-api" &amp;&amp; duration &gt; 500ms }</a:t>
            </a:r>
            <a:endParaRPr lang="en-US" sz="1100" dirty="0"/>
          </a:p>
        </p:txBody>
      </p:sp>
      <p:sp>
        <p:nvSpPr>
          <p:cNvPr id="29" name="Shape 27"/>
          <p:cNvSpPr/>
          <p:nvPr/>
        </p:nvSpPr>
        <p:spPr>
          <a:xfrm>
            <a:off x="8127797" y="4206240"/>
            <a:ext cx="3515258" cy="914400"/>
          </a:xfrm>
          <a:prstGeom prst="roundRect">
            <a:avLst>
              <a:gd name="adj" fmla="val 6000"/>
            </a:avLst>
          </a:prstGeom>
          <a:solidFill>
            <a:srgbClr val="16294A"/>
          </a:solidFill>
          <a:ln w="12700">
            <a:solidFill>
              <a:srgbClr val="16294A"/>
            </a:solidFill>
            <a:prstDash val="solid"/>
          </a:ln>
        </p:spPr>
      </p:sp>
      <p:sp>
        <p:nvSpPr>
          <p:cNvPr id="30" name="Text 28"/>
          <p:cNvSpPr txBox="1"/>
          <p:nvPr/>
        </p:nvSpPr>
        <p:spPr>
          <a:xfrm>
            <a:off x="8328965" y="4407408"/>
            <a:ext cx="3112922" cy="320040"/>
          </a:xfrm>
          <a:prstGeom prst="rect">
            <a:avLst/>
          </a:prstGeom>
          <a:noFill/>
          <a:ln/>
        </p:spPr>
        <p:txBody>
          <a:bodyPr wrap="square" lIns="0" tIns="0" rIns="0" bIns="0" rtlCol="0" anchor="t"/>
          <a:lstStyle/>
          <a:p>
            <a:pPr marL="0" indent="0">
              <a:buNone/>
            </a:pPr>
            <a:r>
              <a:rPr lang="en-US" sz="1300" b="1" dirty="0">
                <a:solidFill>
                  <a:srgbClr val="F5F7FA"/>
                </a:solidFill>
                <a:latin typeface="Calibri" pitchFamily="34" charset="0"/>
                <a:ea typeface="Calibri" pitchFamily="34" charset="-122"/>
                <a:cs typeface="Calibri" pitchFamily="34" charset="-120"/>
              </a:rPr>
              <a:t>Datakälla: Tempo · TraceQL</a:t>
            </a:r>
            <a:endParaRPr lang="en-US" sz="1300" dirty="0"/>
          </a:p>
        </p:txBody>
      </p:sp>
      <p:sp>
        <p:nvSpPr>
          <p:cNvPr id="31" name="Text 29"/>
          <p:cNvSpPr txBox="1"/>
          <p:nvPr/>
        </p:nvSpPr>
        <p:spPr>
          <a:xfrm>
            <a:off x="548640" y="5349240"/>
            <a:ext cx="11094415" cy="457200"/>
          </a:xfrm>
          <a:prstGeom prst="rect">
            <a:avLst/>
          </a:prstGeom>
          <a:noFill/>
          <a:ln/>
        </p:spPr>
        <p:txBody>
          <a:bodyPr wrap="square" lIns="0" tIns="0" rIns="0" bIns="0" rtlCol="0" anchor="t"/>
          <a:lstStyle/>
          <a:p>
            <a:pPr marL="0" indent="0">
              <a:lnSpc>
                <a:spcPct val="120000"/>
              </a:lnSpc>
              <a:buNone/>
            </a:pPr>
            <a:r>
              <a:rPr lang="en-US" sz="1400" dirty="0">
                <a:solidFill>
                  <a:srgbClr val="B9C4D1"/>
                </a:solidFill>
                <a:latin typeface="Arial" pitchFamily="34" charset="0"/>
                <a:ea typeface="Arial" pitchFamily="34" charset="-122"/>
                <a:cs typeface="Arial" pitchFamily="34" charset="-120"/>
              </a:rPr>
              <a:t>En dashboard kan blanda datakällor: varje panel väljer sin egen. Det är så översiktsdashboarden är byggd.</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7F7F4"/>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marL="0" indent="0">
              <a:buNone/>
            </a:pPr>
            <a:r>
              <a:rPr lang="en-US" sz="1200" b="1" kern="0" spc="200" dirty="0">
                <a:solidFill>
                  <a:srgbClr val="3762FF"/>
                </a:solidFill>
                <a:latin typeface="Arial" pitchFamily="34" charset="0"/>
                <a:ea typeface="Arial" pitchFamily="34" charset="-122"/>
                <a:cs typeface="Arial" pitchFamily="34" charset="-120"/>
              </a:rPr>
              <a:t>DASHBOARD · VARIABLER</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marL="0" indent="0">
              <a:buNone/>
            </a:pPr>
            <a:r>
              <a:rPr lang="en-US" sz="3000" b="1" dirty="0">
                <a:solidFill>
                  <a:srgbClr val="16202B"/>
                </a:solidFill>
                <a:latin typeface="Calibri" pitchFamily="34" charset="0"/>
                <a:ea typeface="Calibri" pitchFamily="34" charset="-122"/>
                <a:cs typeface="Calibri" pitchFamily="34" charset="-120"/>
              </a:rPr>
              <a:t>En rullgardin istället för tio dashboards</a:t>
            </a:r>
            <a:endParaRPr lang="en-US" sz="3000" dirty="0"/>
          </a:p>
        </p:txBody>
      </p:sp>
      <p:sp>
        <p:nvSpPr>
          <p:cNvPr id="4" name="Shape 2"/>
          <p:cNvSpPr/>
          <p:nvPr/>
        </p:nvSpPr>
        <p:spPr>
          <a:xfrm>
            <a:off x="548640" y="1600200"/>
            <a:ext cx="7589520" cy="731520"/>
          </a:xfrm>
          <a:prstGeom prst="roundRect">
            <a:avLst>
              <a:gd name="adj" fmla="val 6250"/>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5" name="Text 3"/>
          <p:cNvSpPr txBox="1"/>
          <p:nvPr/>
        </p:nvSpPr>
        <p:spPr>
          <a:xfrm>
            <a:off x="685800" y="1600200"/>
            <a:ext cx="365760" cy="731520"/>
          </a:xfrm>
          <a:prstGeom prst="rect">
            <a:avLst/>
          </a:prstGeom>
          <a:noFill/>
          <a:ln/>
        </p:spPr>
        <p:txBody>
          <a:bodyPr wrap="square" lIns="0" tIns="0" rIns="0" bIns="0" rtlCol="0" anchor="ctr"/>
          <a:lstStyle/>
          <a:p>
            <a:pPr marL="0" indent="0">
              <a:buNone/>
            </a:pPr>
            <a:r>
              <a:rPr lang="en-US" sz="1800" b="1" dirty="0">
                <a:solidFill>
                  <a:srgbClr val="3762FF"/>
                </a:solidFill>
                <a:latin typeface="Calibri" pitchFamily="34" charset="0"/>
                <a:ea typeface="Calibri" pitchFamily="34" charset="-122"/>
                <a:cs typeface="Calibri" pitchFamily="34" charset="-120"/>
              </a:rPr>
              <a:t>1</a:t>
            </a:r>
            <a:endParaRPr lang="en-US" sz="1800" dirty="0"/>
          </a:p>
        </p:txBody>
      </p:sp>
      <p:sp>
        <p:nvSpPr>
          <p:cNvPr id="6" name="Text 4"/>
          <p:cNvSpPr txBox="1"/>
          <p:nvPr/>
        </p:nvSpPr>
        <p:spPr>
          <a:xfrm>
            <a:off x="1097280" y="1600200"/>
            <a:ext cx="6903720" cy="731520"/>
          </a:xfrm>
          <a:prstGeom prst="rect">
            <a:avLst/>
          </a:prstGeom>
          <a:noFill/>
          <a:ln/>
        </p:spPr>
        <p:txBody>
          <a:bodyPr wrap="square" lIns="0" tIns="0" rIns="0" bIns="0" rtlCol="0" anchor="ctr"/>
          <a:lstStyle/>
          <a:p>
            <a:pPr marL="0" indent="0">
              <a:buNone/>
            </a:pPr>
            <a:r>
              <a:rPr lang="en-US" sz="1300" b="1" dirty="0">
                <a:solidFill>
                  <a:srgbClr val="16202B"/>
                </a:solidFill>
                <a:latin typeface="Arial" pitchFamily="34" charset="0"/>
                <a:ea typeface="Arial" pitchFamily="34" charset="-122"/>
                <a:cs typeface="Arial" pitchFamily="34" charset="-120"/>
              </a:rPr>
              <a:t>Dashboard settings → Variables</a:t>
            </a:r>
            <a:r>
              <a:rPr lang="en-US" sz="1300" dirty="0">
                <a:solidFill>
                  <a:srgbClr val="4A5568"/>
                </a:solidFill>
                <a:latin typeface="Arial" pitchFamily="34" charset="0"/>
                <a:ea typeface="Arial" pitchFamily="34" charset="-122"/>
                <a:cs typeface="Arial" pitchFamily="34" charset="-120"/>
              </a:rPr>
              <a:t>  → New variable</a:t>
            </a:r>
            <a:endParaRPr lang="en-US" sz="1300" dirty="0"/>
          </a:p>
        </p:txBody>
      </p:sp>
      <p:sp>
        <p:nvSpPr>
          <p:cNvPr id="7" name="Shape 5"/>
          <p:cNvSpPr/>
          <p:nvPr/>
        </p:nvSpPr>
        <p:spPr>
          <a:xfrm>
            <a:off x="548640" y="2423160"/>
            <a:ext cx="7589520" cy="731520"/>
          </a:xfrm>
          <a:prstGeom prst="roundRect">
            <a:avLst>
              <a:gd name="adj" fmla="val 6250"/>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8" name="Text 6"/>
          <p:cNvSpPr txBox="1"/>
          <p:nvPr/>
        </p:nvSpPr>
        <p:spPr>
          <a:xfrm>
            <a:off x="685800" y="2423160"/>
            <a:ext cx="365760" cy="731520"/>
          </a:xfrm>
          <a:prstGeom prst="rect">
            <a:avLst/>
          </a:prstGeom>
          <a:noFill/>
          <a:ln/>
        </p:spPr>
        <p:txBody>
          <a:bodyPr wrap="square" lIns="0" tIns="0" rIns="0" bIns="0" rtlCol="0" anchor="ctr"/>
          <a:lstStyle/>
          <a:p>
            <a:pPr marL="0" indent="0">
              <a:buNone/>
            </a:pPr>
            <a:r>
              <a:rPr lang="en-US" sz="1800" b="1" dirty="0">
                <a:solidFill>
                  <a:srgbClr val="3762FF"/>
                </a:solidFill>
                <a:latin typeface="Calibri" pitchFamily="34" charset="0"/>
                <a:ea typeface="Calibri" pitchFamily="34" charset="-122"/>
                <a:cs typeface="Calibri" pitchFamily="34" charset="-120"/>
              </a:rPr>
              <a:t>2</a:t>
            </a:r>
            <a:endParaRPr lang="en-US" sz="1800" dirty="0"/>
          </a:p>
        </p:txBody>
      </p:sp>
      <p:sp>
        <p:nvSpPr>
          <p:cNvPr id="9" name="Text 7"/>
          <p:cNvSpPr txBox="1"/>
          <p:nvPr/>
        </p:nvSpPr>
        <p:spPr>
          <a:xfrm>
            <a:off x="1097280" y="2423160"/>
            <a:ext cx="6903720" cy="731520"/>
          </a:xfrm>
          <a:prstGeom prst="rect">
            <a:avLst/>
          </a:prstGeom>
          <a:noFill/>
          <a:ln/>
        </p:spPr>
        <p:txBody>
          <a:bodyPr wrap="square" lIns="0" tIns="0" rIns="0" bIns="0" rtlCol="0" anchor="ctr"/>
          <a:lstStyle/>
          <a:p>
            <a:pPr marL="0" indent="0">
              <a:buNone/>
            </a:pPr>
            <a:r>
              <a:rPr lang="en-US" sz="1300" b="1" dirty="0">
                <a:solidFill>
                  <a:srgbClr val="16202B"/>
                </a:solidFill>
                <a:latin typeface="Arial" pitchFamily="34" charset="0"/>
                <a:ea typeface="Arial" pitchFamily="34" charset="-122"/>
                <a:cs typeface="Arial" pitchFamily="34" charset="-120"/>
              </a:rPr>
              <a:t>Type: Query</a:t>
            </a:r>
            <a:r>
              <a:rPr lang="en-US" sz="1300" dirty="0">
                <a:solidFill>
                  <a:srgbClr val="4A5568"/>
                </a:solidFill>
                <a:latin typeface="Arial" pitchFamily="34" charset="0"/>
                <a:ea typeface="Arial" pitchFamily="34" charset="-122"/>
                <a:cs typeface="Arial" pitchFamily="34" charset="-120"/>
              </a:rPr>
              <a:t>  Name: operation · Data source: Prometheus</a:t>
            </a:r>
            <a:endParaRPr lang="en-US" sz="1300" dirty="0"/>
          </a:p>
        </p:txBody>
      </p:sp>
      <p:sp>
        <p:nvSpPr>
          <p:cNvPr id="10" name="Shape 8"/>
          <p:cNvSpPr/>
          <p:nvPr/>
        </p:nvSpPr>
        <p:spPr>
          <a:xfrm>
            <a:off x="548640" y="3246120"/>
            <a:ext cx="7589520" cy="731520"/>
          </a:xfrm>
          <a:prstGeom prst="roundRect">
            <a:avLst>
              <a:gd name="adj" fmla="val 6250"/>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11" name="Text 9"/>
          <p:cNvSpPr txBox="1"/>
          <p:nvPr/>
        </p:nvSpPr>
        <p:spPr>
          <a:xfrm>
            <a:off x="685800" y="3246120"/>
            <a:ext cx="365760" cy="731520"/>
          </a:xfrm>
          <a:prstGeom prst="rect">
            <a:avLst/>
          </a:prstGeom>
          <a:noFill/>
          <a:ln/>
        </p:spPr>
        <p:txBody>
          <a:bodyPr wrap="square" lIns="0" tIns="0" rIns="0" bIns="0" rtlCol="0" anchor="ctr"/>
          <a:lstStyle/>
          <a:p>
            <a:pPr marL="0" indent="0">
              <a:buNone/>
            </a:pPr>
            <a:r>
              <a:rPr lang="en-US" sz="1800" b="1" dirty="0">
                <a:solidFill>
                  <a:srgbClr val="3762FF"/>
                </a:solidFill>
                <a:latin typeface="Calibri" pitchFamily="34" charset="0"/>
                <a:ea typeface="Calibri" pitchFamily="34" charset="-122"/>
                <a:cs typeface="Calibri" pitchFamily="34" charset="-120"/>
              </a:rPr>
              <a:t>3</a:t>
            </a:r>
            <a:endParaRPr lang="en-US" sz="1800" dirty="0"/>
          </a:p>
        </p:txBody>
      </p:sp>
      <p:sp>
        <p:nvSpPr>
          <p:cNvPr id="12" name="Text 10"/>
          <p:cNvSpPr txBox="1"/>
          <p:nvPr/>
        </p:nvSpPr>
        <p:spPr>
          <a:xfrm>
            <a:off x="1097280" y="3246120"/>
            <a:ext cx="6903720" cy="731520"/>
          </a:xfrm>
          <a:prstGeom prst="rect">
            <a:avLst/>
          </a:prstGeom>
          <a:noFill/>
          <a:ln/>
        </p:spPr>
        <p:txBody>
          <a:bodyPr wrap="square" lIns="0" tIns="0" rIns="0" bIns="0" rtlCol="0" anchor="ctr"/>
          <a:lstStyle/>
          <a:p>
            <a:pPr marL="0" indent="0">
              <a:buNone/>
            </a:pPr>
            <a:r>
              <a:rPr lang="en-US" sz="1300" b="1" dirty="0">
                <a:solidFill>
                  <a:srgbClr val="16202B"/>
                </a:solidFill>
                <a:latin typeface="Arial" pitchFamily="34" charset="0"/>
                <a:ea typeface="Arial" pitchFamily="34" charset="-122"/>
                <a:cs typeface="Arial" pitchFamily="34" charset="-120"/>
              </a:rPr>
              <a:t>Query</a:t>
            </a:r>
            <a:r>
              <a:rPr lang="en-US" sz="1300" dirty="0">
                <a:solidFill>
                  <a:srgbClr val="4A5568"/>
                </a:solidFill>
                <a:latin typeface="Arial" pitchFamily="34" charset="0"/>
                <a:ea typeface="Arial" pitchFamily="34" charset="-122"/>
                <a:cs typeface="Arial" pitchFamily="34" charset="-120"/>
              </a:rPr>
              <a:t>  label_values(otel_customers_requestduration_milliseconds_count, operation)</a:t>
            </a:r>
            <a:endParaRPr lang="en-US" sz="1300" dirty="0"/>
          </a:p>
        </p:txBody>
      </p:sp>
      <p:sp>
        <p:nvSpPr>
          <p:cNvPr id="13" name="Shape 11"/>
          <p:cNvSpPr/>
          <p:nvPr/>
        </p:nvSpPr>
        <p:spPr>
          <a:xfrm>
            <a:off x="548640" y="4069080"/>
            <a:ext cx="7589520" cy="731520"/>
          </a:xfrm>
          <a:prstGeom prst="roundRect">
            <a:avLst>
              <a:gd name="adj" fmla="val 6250"/>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14" name="Text 12"/>
          <p:cNvSpPr txBox="1"/>
          <p:nvPr/>
        </p:nvSpPr>
        <p:spPr>
          <a:xfrm>
            <a:off x="685800" y="4069080"/>
            <a:ext cx="365760" cy="731520"/>
          </a:xfrm>
          <a:prstGeom prst="rect">
            <a:avLst/>
          </a:prstGeom>
          <a:noFill/>
          <a:ln/>
        </p:spPr>
        <p:txBody>
          <a:bodyPr wrap="square" lIns="0" tIns="0" rIns="0" bIns="0" rtlCol="0" anchor="ctr"/>
          <a:lstStyle/>
          <a:p>
            <a:pPr marL="0" indent="0">
              <a:buNone/>
            </a:pPr>
            <a:r>
              <a:rPr lang="en-US" sz="1800" b="1" dirty="0">
                <a:solidFill>
                  <a:srgbClr val="3762FF"/>
                </a:solidFill>
                <a:latin typeface="Calibri" pitchFamily="34" charset="0"/>
                <a:ea typeface="Calibri" pitchFamily="34" charset="-122"/>
                <a:cs typeface="Calibri" pitchFamily="34" charset="-120"/>
              </a:rPr>
              <a:t>4</a:t>
            </a:r>
            <a:endParaRPr lang="en-US" sz="1800" dirty="0"/>
          </a:p>
        </p:txBody>
      </p:sp>
      <p:sp>
        <p:nvSpPr>
          <p:cNvPr id="15" name="Text 13"/>
          <p:cNvSpPr txBox="1"/>
          <p:nvPr/>
        </p:nvSpPr>
        <p:spPr>
          <a:xfrm>
            <a:off x="1097280" y="4069080"/>
            <a:ext cx="6903720" cy="731520"/>
          </a:xfrm>
          <a:prstGeom prst="rect">
            <a:avLst/>
          </a:prstGeom>
          <a:noFill/>
          <a:ln/>
        </p:spPr>
        <p:txBody>
          <a:bodyPr wrap="square" lIns="0" tIns="0" rIns="0" bIns="0" rtlCol="0" anchor="ctr"/>
          <a:lstStyle/>
          <a:p>
            <a:pPr marL="0" indent="0">
              <a:buNone/>
            </a:pPr>
            <a:r>
              <a:rPr lang="en-US" sz="1300" b="1" dirty="0">
                <a:solidFill>
                  <a:srgbClr val="16202B"/>
                </a:solidFill>
                <a:latin typeface="Arial" pitchFamily="34" charset="0"/>
                <a:ea typeface="Arial" pitchFamily="34" charset="-122"/>
                <a:cs typeface="Arial" pitchFamily="34" charset="-120"/>
              </a:rPr>
              <a:t>Selection options</a:t>
            </a:r>
            <a:r>
              <a:rPr lang="en-US" sz="1300" dirty="0">
                <a:solidFill>
                  <a:srgbClr val="4A5568"/>
                </a:solidFill>
                <a:latin typeface="Arial" pitchFamily="34" charset="0"/>
                <a:ea typeface="Arial" pitchFamily="34" charset="-122"/>
                <a:cs typeface="Arial" pitchFamily="34" charset="-120"/>
              </a:rPr>
              <a:t>  Multi-value: på · Include All: på · Custom all value: .*</a:t>
            </a:r>
            <a:endParaRPr lang="en-US" sz="1300" dirty="0"/>
          </a:p>
        </p:txBody>
      </p:sp>
      <p:sp>
        <p:nvSpPr>
          <p:cNvPr id="16" name="Shape 14"/>
          <p:cNvSpPr/>
          <p:nvPr/>
        </p:nvSpPr>
        <p:spPr>
          <a:xfrm>
            <a:off x="548640" y="4892040"/>
            <a:ext cx="7589520" cy="731520"/>
          </a:xfrm>
          <a:prstGeom prst="roundRect">
            <a:avLst>
              <a:gd name="adj" fmla="val 6250"/>
            </a:avLst>
          </a:prstGeom>
          <a:solidFill>
            <a:srgbClr val="3762FF"/>
          </a:solidFill>
          <a:ln w="12700">
            <a:solidFill>
              <a:srgbClr val="3762FF"/>
            </a:solidFill>
            <a:prstDash val="solid"/>
          </a:ln>
        </p:spPr>
      </p:sp>
      <p:sp>
        <p:nvSpPr>
          <p:cNvPr id="17" name="Text 15"/>
          <p:cNvSpPr txBox="1"/>
          <p:nvPr/>
        </p:nvSpPr>
        <p:spPr>
          <a:xfrm>
            <a:off x="685800" y="4892040"/>
            <a:ext cx="365760" cy="73152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8" name="Text 16"/>
          <p:cNvSpPr txBox="1"/>
          <p:nvPr/>
        </p:nvSpPr>
        <p:spPr>
          <a:xfrm>
            <a:off x="1097280" y="4892040"/>
            <a:ext cx="6903720" cy="731520"/>
          </a:xfrm>
          <a:prstGeom prst="rect">
            <a:avLst/>
          </a:prstGeom>
          <a:noFill/>
          <a:ln/>
        </p:spPr>
        <p:txBody>
          <a:bodyPr wrap="square" lIns="0" tIns="0" rIns="0" bIns="0" rtlCol="0" anchor="ctr"/>
          <a:lstStyle/>
          <a:p>
            <a:pPr marL="0" indent="0">
              <a:buNone/>
            </a:pPr>
            <a:r>
              <a:rPr lang="en-US" sz="1300" b="1" dirty="0">
                <a:solidFill>
                  <a:srgbClr val="FFFFFF"/>
                </a:solidFill>
                <a:latin typeface="Arial" pitchFamily="34" charset="0"/>
                <a:ea typeface="Arial" pitchFamily="34" charset="-122"/>
                <a:cs typeface="Arial" pitchFamily="34" charset="-120"/>
              </a:rPr>
              <a:t>Använd i frågan</a:t>
            </a:r>
            <a:r>
              <a:rPr lang="en-US" sz="1300" dirty="0">
                <a:solidFill>
                  <a:srgbClr val="FFFFFF"/>
                </a:solidFill>
                <a:latin typeface="Arial" pitchFamily="34" charset="0"/>
                <a:ea typeface="Arial" pitchFamily="34" charset="-122"/>
                <a:cs typeface="Arial" pitchFamily="34" charset="-120"/>
              </a:rPr>
              <a:t>  {operation=~"$operation"}</a:t>
            </a:r>
            <a:endParaRPr lang="en-US" sz="1300" dirty="0"/>
          </a:p>
        </p:txBody>
      </p:sp>
      <p:sp>
        <p:nvSpPr>
          <p:cNvPr id="19" name="Shape 17"/>
          <p:cNvSpPr/>
          <p:nvPr/>
        </p:nvSpPr>
        <p:spPr>
          <a:xfrm>
            <a:off x="8503920" y="1600200"/>
            <a:ext cx="3139135" cy="1325880"/>
          </a:xfrm>
          <a:prstGeom prst="roundRect">
            <a:avLst>
              <a:gd name="adj" fmla="val 4138"/>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20" name="Text 18"/>
          <p:cNvSpPr txBox="1"/>
          <p:nvPr/>
        </p:nvSpPr>
        <p:spPr>
          <a:xfrm>
            <a:off x="8705088" y="1801368"/>
            <a:ext cx="2736799" cy="320040"/>
          </a:xfrm>
          <a:prstGeom prst="rect">
            <a:avLst/>
          </a:prstGeom>
          <a:noFill/>
          <a:ln/>
        </p:spPr>
        <p:txBody>
          <a:bodyPr wrap="square" lIns="0" tIns="0" rIns="0" bIns="0" rtlCol="0" anchor="t"/>
          <a:lstStyle/>
          <a:p>
            <a:pPr marL="0" indent="0">
              <a:buNone/>
            </a:pPr>
            <a:r>
              <a:rPr lang="en-US" sz="1400" b="1" dirty="0">
                <a:solidFill>
                  <a:srgbClr val="16202B"/>
                </a:solidFill>
                <a:latin typeface="Calibri" pitchFamily="34" charset="0"/>
                <a:ea typeface="Calibri" pitchFamily="34" charset="-122"/>
                <a:cs typeface="Calibri" pitchFamily="34" charset="-120"/>
              </a:rPr>
              <a:t>=~ inte =</a:t>
            </a:r>
            <a:endParaRPr lang="en-US" sz="1400" dirty="0"/>
          </a:p>
        </p:txBody>
      </p:sp>
      <p:sp>
        <p:nvSpPr>
          <p:cNvPr id="21" name="Text 19"/>
          <p:cNvSpPr txBox="1"/>
          <p:nvPr/>
        </p:nvSpPr>
        <p:spPr>
          <a:xfrm>
            <a:off x="8705088" y="2185416"/>
            <a:ext cx="2736799" cy="585216"/>
          </a:xfrm>
          <a:prstGeom prst="rect">
            <a:avLst/>
          </a:prstGeom>
          <a:noFill/>
          <a:ln/>
        </p:spPr>
        <p:txBody>
          <a:bodyPr wrap="square" lIns="0" tIns="0" rIns="0" bIns="0" rtlCol="0" anchor="t"/>
          <a:lstStyle/>
          <a:p>
            <a:pPr marL="0" indent="0">
              <a:lnSpc>
                <a:spcPct val="115000"/>
              </a:lnSpc>
              <a:buNone/>
            </a:pPr>
            <a:r>
              <a:rPr lang="en-US" sz="1200" dirty="0">
                <a:solidFill>
                  <a:srgbClr val="4A5568"/>
                </a:solidFill>
                <a:latin typeface="Arial" pitchFamily="34" charset="0"/>
                <a:ea typeface="Arial" pitchFamily="34" charset="-122"/>
                <a:cs typeface="Arial" pitchFamily="34" charset="-120"/>
              </a:rPr>
              <a:t>Flera val blir ett reguljärt uttryck: (create|update).</a:t>
            </a:r>
            <a:endParaRPr lang="en-US" sz="1200" dirty="0"/>
          </a:p>
        </p:txBody>
      </p:sp>
      <p:sp>
        <p:nvSpPr>
          <p:cNvPr id="22" name="Shape 20"/>
          <p:cNvSpPr/>
          <p:nvPr/>
        </p:nvSpPr>
        <p:spPr>
          <a:xfrm>
            <a:off x="8503920" y="3063240"/>
            <a:ext cx="3139135" cy="1325880"/>
          </a:xfrm>
          <a:prstGeom prst="roundRect">
            <a:avLst>
              <a:gd name="adj" fmla="val 4138"/>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23" name="Text 21"/>
          <p:cNvSpPr txBox="1"/>
          <p:nvPr/>
        </p:nvSpPr>
        <p:spPr>
          <a:xfrm>
            <a:off x="8705088" y="3264408"/>
            <a:ext cx="2736799" cy="320040"/>
          </a:xfrm>
          <a:prstGeom prst="rect">
            <a:avLst/>
          </a:prstGeom>
          <a:noFill/>
          <a:ln/>
        </p:spPr>
        <p:txBody>
          <a:bodyPr wrap="square" lIns="0" tIns="0" rIns="0" bIns="0" rtlCol="0" anchor="t"/>
          <a:lstStyle/>
          <a:p>
            <a:pPr marL="0" indent="0">
              <a:buNone/>
            </a:pPr>
            <a:r>
              <a:rPr lang="en-US" sz="1400" b="1" dirty="0">
                <a:solidFill>
                  <a:srgbClr val="16202B"/>
                </a:solidFill>
                <a:latin typeface="Calibri" pitchFamily="34" charset="0"/>
                <a:ea typeface="Calibri" pitchFamily="34" charset="-122"/>
                <a:cs typeface="Calibri" pitchFamily="34" charset="-120"/>
              </a:rPr>
              <a:t>Inbyggda</a:t>
            </a:r>
            <a:endParaRPr lang="en-US" sz="1400" dirty="0"/>
          </a:p>
        </p:txBody>
      </p:sp>
      <p:sp>
        <p:nvSpPr>
          <p:cNvPr id="24" name="Text 22"/>
          <p:cNvSpPr txBox="1"/>
          <p:nvPr/>
        </p:nvSpPr>
        <p:spPr>
          <a:xfrm>
            <a:off x="8705088" y="3648456"/>
            <a:ext cx="2736799" cy="585216"/>
          </a:xfrm>
          <a:prstGeom prst="rect">
            <a:avLst/>
          </a:prstGeom>
          <a:noFill/>
          <a:ln/>
        </p:spPr>
        <p:txBody>
          <a:bodyPr wrap="square" lIns="0" tIns="0" rIns="0" bIns="0" rtlCol="0" anchor="t"/>
          <a:lstStyle/>
          <a:p>
            <a:pPr marL="0" indent="0">
              <a:lnSpc>
                <a:spcPct val="115000"/>
              </a:lnSpc>
              <a:buNone/>
            </a:pPr>
            <a:r>
              <a:rPr lang="en-US" sz="1200" dirty="0">
                <a:solidFill>
                  <a:srgbClr val="4A5568"/>
                </a:solidFill>
                <a:latin typeface="Arial" pitchFamily="34" charset="0"/>
                <a:ea typeface="Arial" pitchFamily="34" charset="-122"/>
                <a:cs typeface="Arial" pitchFamily="34" charset="-120"/>
              </a:rPr>
              <a:t>$__rate_interval, $__range, $__interval</a:t>
            </a:r>
            <a:endParaRPr lang="en-US" sz="1200" dirty="0"/>
          </a:p>
        </p:txBody>
      </p:sp>
      <p:sp>
        <p:nvSpPr>
          <p:cNvPr id="25" name="Shape 23"/>
          <p:cNvSpPr/>
          <p:nvPr/>
        </p:nvSpPr>
        <p:spPr>
          <a:xfrm>
            <a:off x="8503920" y="4526280"/>
            <a:ext cx="3139135" cy="1325880"/>
          </a:xfrm>
          <a:prstGeom prst="roundRect">
            <a:avLst>
              <a:gd name="adj" fmla="val 4138"/>
            </a:avLst>
          </a:prstGeom>
          <a:solidFill>
            <a:srgbClr val="3762FF"/>
          </a:solidFill>
          <a:ln w="12700">
            <a:solidFill>
              <a:srgbClr val="3762FF"/>
            </a:solidFill>
            <a:prstDash val="solid"/>
          </a:ln>
        </p:spPr>
      </p:sp>
      <p:sp>
        <p:nvSpPr>
          <p:cNvPr id="26" name="Text 24"/>
          <p:cNvSpPr txBox="1"/>
          <p:nvPr/>
        </p:nvSpPr>
        <p:spPr>
          <a:xfrm>
            <a:off x="8705088" y="4727448"/>
            <a:ext cx="2736799" cy="320040"/>
          </a:xfrm>
          <a:prstGeom prst="rect">
            <a:avLst/>
          </a:prstGeom>
          <a:noFill/>
          <a:ln/>
        </p:spPr>
        <p:txBody>
          <a:bodyPr wrap="square" lIns="0" tIns="0" rIns="0" bIns="0" rtlCol="0" anchor="t"/>
          <a:lstStyle/>
          <a:p>
            <a:pPr marL="0" indent="0">
              <a:buNone/>
            </a:pPr>
            <a:r>
              <a:rPr lang="en-US" sz="1400" b="1" dirty="0">
                <a:solidFill>
                  <a:srgbClr val="FFFFFF"/>
                </a:solidFill>
                <a:latin typeface="Calibri" pitchFamily="34" charset="0"/>
                <a:ea typeface="Calibri" pitchFamily="34" charset="-122"/>
                <a:cs typeface="Calibri" pitchFamily="34" charset="-120"/>
              </a:rPr>
              <a:t>Samma idé överallt</a:t>
            </a:r>
            <a:endParaRPr lang="en-US" sz="1400" dirty="0"/>
          </a:p>
        </p:txBody>
      </p:sp>
      <p:sp>
        <p:nvSpPr>
          <p:cNvPr id="27" name="Text 25"/>
          <p:cNvSpPr txBox="1"/>
          <p:nvPr/>
        </p:nvSpPr>
        <p:spPr>
          <a:xfrm>
            <a:off x="8705088" y="5111496"/>
            <a:ext cx="2736799" cy="585216"/>
          </a:xfrm>
          <a:prstGeom prst="rect">
            <a:avLst/>
          </a:prstGeom>
          <a:noFill/>
          <a:ln/>
        </p:spPr>
        <p:txBody>
          <a:bodyPr wrap="square" lIns="0" tIns="0" rIns="0" bIns="0" rtlCol="0" anchor="t"/>
          <a:lstStyle/>
          <a:p>
            <a:pPr marL="0" indent="0">
              <a:lnSpc>
                <a:spcPct val="115000"/>
              </a:lnSpc>
              <a:buNone/>
            </a:pPr>
            <a:r>
              <a:rPr lang="en-US" sz="1200" dirty="0">
                <a:solidFill>
                  <a:srgbClr val="FFFFFF"/>
                </a:solidFill>
                <a:latin typeface="Arial" pitchFamily="34" charset="0"/>
                <a:ea typeface="Arial" pitchFamily="34" charset="-122"/>
                <a:cs typeface="Arial" pitchFamily="34" charset="-120"/>
              </a:rPr>
              <a:t>En variabel $service gör en RED-dashboard för alla tjänster.</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7F7F4"/>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marL="0" indent="0">
              <a:buNone/>
            </a:pPr>
            <a:r>
              <a:rPr lang="en-US" sz="1200" b="1" kern="0" spc="200" dirty="0">
                <a:solidFill>
                  <a:srgbClr val="3762FF"/>
                </a:solidFill>
                <a:latin typeface="Arial" pitchFamily="34" charset="0"/>
                <a:ea typeface="Arial" pitchFamily="34" charset="-122"/>
                <a:cs typeface="Arial" pitchFamily="34" charset="-120"/>
              </a:rPr>
              <a:t>DASHBOARD · SOM KOD</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marL="0" indent="0">
              <a:buNone/>
            </a:pPr>
            <a:r>
              <a:rPr lang="en-US" sz="3000" b="1" dirty="0">
                <a:solidFill>
                  <a:srgbClr val="16202B"/>
                </a:solidFill>
                <a:latin typeface="Calibri" pitchFamily="34" charset="0"/>
                <a:ea typeface="Calibri" pitchFamily="34" charset="-122"/>
                <a:cs typeface="Calibri" pitchFamily="34" charset="-120"/>
              </a:rPr>
              <a:t>Rader, spara - och exportera till klustret</a:t>
            </a:r>
            <a:endParaRPr lang="en-US" sz="3000" dirty="0"/>
          </a:p>
        </p:txBody>
      </p:sp>
      <p:sp>
        <p:nvSpPr>
          <p:cNvPr id="4" name="Shape 2"/>
          <p:cNvSpPr/>
          <p:nvPr/>
        </p:nvSpPr>
        <p:spPr>
          <a:xfrm>
            <a:off x="548640" y="1645920"/>
            <a:ext cx="1962851" cy="1737360"/>
          </a:xfrm>
          <a:prstGeom prst="roundRect">
            <a:avLst>
              <a:gd name="adj" fmla="val 3158"/>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5" name="Text 3"/>
          <p:cNvSpPr txBox="1"/>
          <p:nvPr/>
        </p:nvSpPr>
        <p:spPr>
          <a:xfrm>
            <a:off x="749808" y="1847088"/>
            <a:ext cx="1560515" cy="274320"/>
          </a:xfrm>
          <a:prstGeom prst="rect">
            <a:avLst/>
          </a:prstGeom>
          <a:noFill/>
          <a:ln/>
        </p:spPr>
        <p:txBody>
          <a:bodyPr wrap="square" lIns="0" tIns="0" rIns="0" bIns="0" rtlCol="0" anchor="ctr"/>
          <a:lstStyle/>
          <a:p>
            <a:pPr marL="0" indent="0">
              <a:buNone/>
            </a:pPr>
            <a:r>
              <a:rPr lang="en-US" sz="1100" b="1" kern="0" spc="200" dirty="0">
                <a:solidFill>
                  <a:srgbClr val="3762FF"/>
                </a:solidFill>
                <a:latin typeface="Arial" pitchFamily="34" charset="0"/>
                <a:ea typeface="Arial" pitchFamily="34" charset="-122"/>
                <a:cs typeface="Arial" pitchFamily="34" charset="-120"/>
              </a:rPr>
              <a:t>STEG 1</a:t>
            </a:r>
            <a:endParaRPr lang="en-US" sz="1100" dirty="0"/>
          </a:p>
        </p:txBody>
      </p:sp>
      <p:sp>
        <p:nvSpPr>
          <p:cNvPr id="6" name="Text 4"/>
          <p:cNvSpPr txBox="1"/>
          <p:nvPr/>
        </p:nvSpPr>
        <p:spPr>
          <a:xfrm>
            <a:off x="749808" y="2139696"/>
            <a:ext cx="1560515" cy="320040"/>
          </a:xfrm>
          <a:prstGeom prst="rect">
            <a:avLst/>
          </a:prstGeom>
          <a:noFill/>
          <a:ln/>
        </p:spPr>
        <p:txBody>
          <a:bodyPr wrap="square" lIns="0" tIns="0" rIns="0" bIns="0" rtlCol="0" anchor="t"/>
          <a:lstStyle/>
          <a:p>
            <a:pPr marL="0" indent="0">
              <a:buNone/>
            </a:pPr>
            <a:r>
              <a:rPr lang="en-US" sz="1400" b="1" dirty="0">
                <a:solidFill>
                  <a:srgbClr val="16202B"/>
                </a:solidFill>
                <a:latin typeface="Calibri" pitchFamily="34" charset="0"/>
                <a:ea typeface="Calibri" pitchFamily="34" charset="-122"/>
                <a:cs typeface="Calibri" pitchFamily="34" charset="-120"/>
              </a:rPr>
              <a:t>Add → Row</a:t>
            </a:r>
            <a:endParaRPr lang="en-US" sz="1400" dirty="0"/>
          </a:p>
        </p:txBody>
      </p:sp>
      <p:sp>
        <p:nvSpPr>
          <p:cNvPr id="7" name="Text 5"/>
          <p:cNvSpPr txBox="1"/>
          <p:nvPr/>
        </p:nvSpPr>
        <p:spPr>
          <a:xfrm>
            <a:off x="749808" y="2523744"/>
            <a:ext cx="1560515" cy="704088"/>
          </a:xfrm>
          <a:prstGeom prst="rect">
            <a:avLst/>
          </a:prstGeom>
          <a:noFill/>
          <a:ln/>
        </p:spPr>
        <p:txBody>
          <a:bodyPr wrap="square" lIns="0" tIns="0" rIns="0" bIns="0" rtlCol="0" anchor="t"/>
          <a:lstStyle/>
          <a:p>
            <a:pPr marL="0" indent="0">
              <a:lnSpc>
                <a:spcPct val="115000"/>
              </a:lnSpc>
              <a:buNone/>
            </a:pPr>
            <a:r>
              <a:rPr lang="en-US" sz="1200" dirty="0">
                <a:solidFill>
                  <a:srgbClr val="4A5568"/>
                </a:solidFill>
                <a:latin typeface="Arial" pitchFamily="34" charset="0"/>
                <a:ea typeface="Arial" pitchFamily="34" charset="-122"/>
                <a:cs typeface="Arial" pitchFamily="34" charset="-120"/>
              </a:rPr>
              <a:t>Gruppera: RED, egna metrics, traces</a:t>
            </a:r>
            <a:endParaRPr lang="en-US" sz="1200" dirty="0"/>
          </a:p>
        </p:txBody>
      </p:sp>
      <p:sp>
        <p:nvSpPr>
          <p:cNvPr id="8" name="Shape 6"/>
          <p:cNvSpPr/>
          <p:nvPr/>
        </p:nvSpPr>
        <p:spPr>
          <a:xfrm>
            <a:off x="2538923" y="2514600"/>
            <a:ext cx="265176" cy="0"/>
          </a:xfrm>
          <a:prstGeom prst="line">
            <a:avLst/>
          </a:prstGeom>
          <a:noFill/>
          <a:ln w="19050">
            <a:solidFill>
              <a:srgbClr val="3762FF"/>
            </a:solidFill>
            <a:prstDash val="solid"/>
            <a:tailEnd type="triangle"/>
          </a:ln>
        </p:spPr>
      </p:sp>
      <p:sp>
        <p:nvSpPr>
          <p:cNvPr id="9" name="Shape 7"/>
          <p:cNvSpPr/>
          <p:nvPr/>
        </p:nvSpPr>
        <p:spPr>
          <a:xfrm>
            <a:off x="2831531" y="1645920"/>
            <a:ext cx="1962851" cy="1737360"/>
          </a:xfrm>
          <a:prstGeom prst="roundRect">
            <a:avLst>
              <a:gd name="adj" fmla="val 3158"/>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10" name="Text 8"/>
          <p:cNvSpPr txBox="1"/>
          <p:nvPr/>
        </p:nvSpPr>
        <p:spPr>
          <a:xfrm>
            <a:off x="3032699" y="1847088"/>
            <a:ext cx="1560515" cy="274320"/>
          </a:xfrm>
          <a:prstGeom prst="rect">
            <a:avLst/>
          </a:prstGeom>
          <a:noFill/>
          <a:ln/>
        </p:spPr>
        <p:txBody>
          <a:bodyPr wrap="square" lIns="0" tIns="0" rIns="0" bIns="0" rtlCol="0" anchor="ctr"/>
          <a:lstStyle/>
          <a:p>
            <a:pPr marL="0" indent="0">
              <a:buNone/>
            </a:pPr>
            <a:r>
              <a:rPr lang="en-US" sz="1100" b="1" kern="0" spc="200" dirty="0">
                <a:solidFill>
                  <a:srgbClr val="3762FF"/>
                </a:solidFill>
                <a:latin typeface="Arial" pitchFamily="34" charset="0"/>
                <a:ea typeface="Arial" pitchFamily="34" charset="-122"/>
                <a:cs typeface="Arial" pitchFamily="34" charset="-120"/>
              </a:rPr>
              <a:t>STEG 2</a:t>
            </a:r>
            <a:endParaRPr lang="en-US" sz="1100" dirty="0"/>
          </a:p>
        </p:txBody>
      </p:sp>
      <p:sp>
        <p:nvSpPr>
          <p:cNvPr id="11" name="Text 9"/>
          <p:cNvSpPr txBox="1"/>
          <p:nvPr/>
        </p:nvSpPr>
        <p:spPr>
          <a:xfrm>
            <a:off x="3032699" y="2139696"/>
            <a:ext cx="1560515" cy="320040"/>
          </a:xfrm>
          <a:prstGeom prst="rect">
            <a:avLst/>
          </a:prstGeom>
          <a:noFill/>
          <a:ln/>
        </p:spPr>
        <p:txBody>
          <a:bodyPr wrap="square" lIns="0" tIns="0" rIns="0" bIns="0" rtlCol="0" anchor="t"/>
          <a:lstStyle/>
          <a:p>
            <a:pPr marL="0" indent="0">
              <a:buNone/>
            </a:pPr>
            <a:r>
              <a:rPr lang="en-US" sz="1400" b="1" dirty="0">
                <a:solidFill>
                  <a:srgbClr val="16202B"/>
                </a:solidFill>
                <a:latin typeface="Calibri" pitchFamily="34" charset="0"/>
                <a:ea typeface="Calibri" pitchFamily="34" charset="-122"/>
                <a:cs typeface="Calibri" pitchFamily="34" charset="-120"/>
              </a:rPr>
              <a:t>Save dashboard</a:t>
            </a:r>
            <a:endParaRPr lang="en-US" sz="1400" dirty="0"/>
          </a:p>
        </p:txBody>
      </p:sp>
      <p:sp>
        <p:nvSpPr>
          <p:cNvPr id="12" name="Text 10"/>
          <p:cNvSpPr txBox="1"/>
          <p:nvPr/>
        </p:nvSpPr>
        <p:spPr>
          <a:xfrm>
            <a:off x="3032699" y="2523744"/>
            <a:ext cx="1560515" cy="704088"/>
          </a:xfrm>
          <a:prstGeom prst="rect">
            <a:avLst/>
          </a:prstGeom>
          <a:noFill/>
          <a:ln/>
        </p:spPr>
        <p:txBody>
          <a:bodyPr wrap="square" lIns="0" tIns="0" rIns="0" bIns="0" rtlCol="0" anchor="t"/>
          <a:lstStyle/>
          <a:p>
            <a:pPr marL="0" indent="0">
              <a:lnSpc>
                <a:spcPct val="115000"/>
              </a:lnSpc>
              <a:buNone/>
            </a:pPr>
            <a:r>
              <a:rPr lang="en-US" sz="1200" dirty="0">
                <a:solidFill>
                  <a:srgbClr val="4A5568"/>
                </a:solidFill>
                <a:latin typeface="Arial" pitchFamily="34" charset="0"/>
                <a:ea typeface="Arial" pitchFamily="34" charset="-122"/>
                <a:cs typeface="Arial" pitchFamily="34" charset="-120"/>
              </a:rPr>
              <a:t>Ctrl+S - sparas i Grafana</a:t>
            </a:r>
            <a:endParaRPr lang="en-US" sz="1200" dirty="0"/>
          </a:p>
        </p:txBody>
      </p:sp>
      <p:sp>
        <p:nvSpPr>
          <p:cNvPr id="13" name="Shape 11"/>
          <p:cNvSpPr/>
          <p:nvPr/>
        </p:nvSpPr>
        <p:spPr>
          <a:xfrm>
            <a:off x="4821814" y="2514600"/>
            <a:ext cx="265176" cy="0"/>
          </a:xfrm>
          <a:prstGeom prst="line">
            <a:avLst/>
          </a:prstGeom>
          <a:noFill/>
          <a:ln w="19050">
            <a:solidFill>
              <a:srgbClr val="3762FF"/>
            </a:solidFill>
            <a:prstDash val="solid"/>
            <a:tailEnd type="triangle"/>
          </a:ln>
        </p:spPr>
      </p:sp>
      <p:sp>
        <p:nvSpPr>
          <p:cNvPr id="14" name="Shape 12"/>
          <p:cNvSpPr/>
          <p:nvPr/>
        </p:nvSpPr>
        <p:spPr>
          <a:xfrm>
            <a:off x="5114422" y="1645920"/>
            <a:ext cx="1962851" cy="1737360"/>
          </a:xfrm>
          <a:prstGeom prst="roundRect">
            <a:avLst>
              <a:gd name="adj" fmla="val 3158"/>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15" name="Text 13"/>
          <p:cNvSpPr txBox="1"/>
          <p:nvPr/>
        </p:nvSpPr>
        <p:spPr>
          <a:xfrm>
            <a:off x="5315590" y="1847088"/>
            <a:ext cx="1560515" cy="274320"/>
          </a:xfrm>
          <a:prstGeom prst="rect">
            <a:avLst/>
          </a:prstGeom>
          <a:noFill/>
          <a:ln/>
        </p:spPr>
        <p:txBody>
          <a:bodyPr wrap="square" lIns="0" tIns="0" rIns="0" bIns="0" rtlCol="0" anchor="ctr"/>
          <a:lstStyle/>
          <a:p>
            <a:pPr marL="0" indent="0">
              <a:buNone/>
            </a:pPr>
            <a:r>
              <a:rPr lang="en-US" sz="1100" b="1" kern="0" spc="200" dirty="0">
                <a:solidFill>
                  <a:srgbClr val="3762FF"/>
                </a:solidFill>
                <a:latin typeface="Arial" pitchFamily="34" charset="0"/>
                <a:ea typeface="Arial" pitchFamily="34" charset="-122"/>
                <a:cs typeface="Arial" pitchFamily="34" charset="-120"/>
              </a:rPr>
              <a:t>STEG 3</a:t>
            </a:r>
            <a:endParaRPr lang="en-US" sz="1100" dirty="0"/>
          </a:p>
        </p:txBody>
      </p:sp>
      <p:sp>
        <p:nvSpPr>
          <p:cNvPr id="16" name="Text 14"/>
          <p:cNvSpPr txBox="1"/>
          <p:nvPr/>
        </p:nvSpPr>
        <p:spPr>
          <a:xfrm>
            <a:off x="5315590" y="2139696"/>
            <a:ext cx="1560515" cy="320040"/>
          </a:xfrm>
          <a:prstGeom prst="rect">
            <a:avLst/>
          </a:prstGeom>
          <a:noFill/>
          <a:ln/>
        </p:spPr>
        <p:txBody>
          <a:bodyPr wrap="square" lIns="0" tIns="0" rIns="0" bIns="0" rtlCol="0" anchor="t"/>
          <a:lstStyle/>
          <a:p>
            <a:pPr marL="0" indent="0">
              <a:buNone/>
            </a:pPr>
            <a:r>
              <a:rPr lang="en-US" sz="1400" b="1" dirty="0">
                <a:solidFill>
                  <a:srgbClr val="16202B"/>
                </a:solidFill>
                <a:latin typeface="Calibri" pitchFamily="34" charset="0"/>
                <a:ea typeface="Calibri" pitchFamily="34" charset="-122"/>
                <a:cs typeface="Calibri" pitchFamily="34" charset="-120"/>
              </a:rPr>
              <a:t>Export → JSON</a:t>
            </a:r>
            <a:endParaRPr lang="en-US" sz="1400" dirty="0"/>
          </a:p>
        </p:txBody>
      </p:sp>
      <p:sp>
        <p:nvSpPr>
          <p:cNvPr id="17" name="Text 15"/>
          <p:cNvSpPr txBox="1"/>
          <p:nvPr/>
        </p:nvSpPr>
        <p:spPr>
          <a:xfrm>
            <a:off x="5315590" y="2523744"/>
            <a:ext cx="1560515" cy="704088"/>
          </a:xfrm>
          <a:prstGeom prst="rect">
            <a:avLst/>
          </a:prstGeom>
          <a:noFill/>
          <a:ln/>
        </p:spPr>
        <p:txBody>
          <a:bodyPr wrap="square" lIns="0" tIns="0" rIns="0" bIns="0" rtlCol="0" anchor="t"/>
          <a:lstStyle/>
          <a:p>
            <a:pPr marL="0" indent="0">
              <a:lnSpc>
                <a:spcPct val="115000"/>
              </a:lnSpc>
              <a:buNone/>
            </a:pPr>
            <a:r>
              <a:rPr lang="en-US" sz="1200" dirty="0">
                <a:solidFill>
                  <a:srgbClr val="4A5568"/>
                </a:solidFill>
                <a:latin typeface="Arial" pitchFamily="34" charset="0"/>
                <a:ea typeface="Arial" pitchFamily="34" charset="-122"/>
                <a:cs typeface="Arial" pitchFamily="34" charset="-120"/>
              </a:rPr>
              <a:t>Share → Export → Save to file</a:t>
            </a:r>
            <a:endParaRPr lang="en-US" sz="1200" dirty="0"/>
          </a:p>
        </p:txBody>
      </p:sp>
      <p:sp>
        <p:nvSpPr>
          <p:cNvPr id="18" name="Shape 16"/>
          <p:cNvSpPr/>
          <p:nvPr/>
        </p:nvSpPr>
        <p:spPr>
          <a:xfrm>
            <a:off x="7104705" y="2514600"/>
            <a:ext cx="265176" cy="0"/>
          </a:xfrm>
          <a:prstGeom prst="line">
            <a:avLst/>
          </a:prstGeom>
          <a:noFill/>
          <a:ln w="19050">
            <a:solidFill>
              <a:srgbClr val="3762FF"/>
            </a:solidFill>
            <a:prstDash val="solid"/>
            <a:tailEnd type="triangle"/>
          </a:ln>
        </p:spPr>
      </p:sp>
      <p:sp>
        <p:nvSpPr>
          <p:cNvPr id="19" name="Shape 17"/>
          <p:cNvSpPr/>
          <p:nvPr/>
        </p:nvSpPr>
        <p:spPr>
          <a:xfrm>
            <a:off x="7397313" y="1645920"/>
            <a:ext cx="1962851" cy="1737360"/>
          </a:xfrm>
          <a:prstGeom prst="roundRect">
            <a:avLst>
              <a:gd name="adj" fmla="val 3158"/>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20" name="Text 18"/>
          <p:cNvSpPr txBox="1"/>
          <p:nvPr/>
        </p:nvSpPr>
        <p:spPr>
          <a:xfrm>
            <a:off x="7598481" y="1847088"/>
            <a:ext cx="1560515" cy="274320"/>
          </a:xfrm>
          <a:prstGeom prst="rect">
            <a:avLst/>
          </a:prstGeom>
          <a:noFill/>
          <a:ln/>
        </p:spPr>
        <p:txBody>
          <a:bodyPr wrap="square" lIns="0" tIns="0" rIns="0" bIns="0" rtlCol="0" anchor="ctr"/>
          <a:lstStyle/>
          <a:p>
            <a:pPr marL="0" indent="0">
              <a:buNone/>
            </a:pPr>
            <a:r>
              <a:rPr lang="en-US" sz="1100" b="1" kern="0" spc="200" dirty="0">
                <a:solidFill>
                  <a:srgbClr val="3762FF"/>
                </a:solidFill>
                <a:latin typeface="Arial" pitchFamily="34" charset="0"/>
                <a:ea typeface="Arial" pitchFamily="34" charset="-122"/>
                <a:cs typeface="Arial" pitchFamily="34" charset="-120"/>
              </a:rPr>
              <a:t>STEG 4</a:t>
            </a:r>
            <a:endParaRPr lang="en-US" sz="1100" dirty="0"/>
          </a:p>
        </p:txBody>
      </p:sp>
      <p:sp>
        <p:nvSpPr>
          <p:cNvPr id="21" name="Text 19"/>
          <p:cNvSpPr txBox="1"/>
          <p:nvPr/>
        </p:nvSpPr>
        <p:spPr>
          <a:xfrm>
            <a:off x="7598481" y="2139696"/>
            <a:ext cx="1560515" cy="320040"/>
          </a:xfrm>
          <a:prstGeom prst="rect">
            <a:avLst/>
          </a:prstGeom>
          <a:noFill/>
          <a:ln/>
        </p:spPr>
        <p:txBody>
          <a:bodyPr wrap="square" lIns="0" tIns="0" rIns="0" bIns="0" rtlCol="0" anchor="t"/>
          <a:lstStyle/>
          <a:p>
            <a:pPr marL="0" indent="0">
              <a:buNone/>
            </a:pPr>
            <a:r>
              <a:rPr lang="en-US" sz="1400" b="1" dirty="0">
                <a:solidFill>
                  <a:srgbClr val="16202B"/>
                </a:solidFill>
                <a:latin typeface="Calibri" pitchFamily="34" charset="0"/>
                <a:ea typeface="Calibri" pitchFamily="34" charset="-122"/>
                <a:cs typeface="Calibri" pitchFamily="34" charset="-120"/>
              </a:rPr>
              <a:t>dashboards/</a:t>
            </a:r>
            <a:endParaRPr lang="en-US" sz="1400" dirty="0"/>
          </a:p>
        </p:txBody>
      </p:sp>
      <p:sp>
        <p:nvSpPr>
          <p:cNvPr id="22" name="Text 20"/>
          <p:cNvSpPr txBox="1"/>
          <p:nvPr/>
        </p:nvSpPr>
        <p:spPr>
          <a:xfrm>
            <a:off x="7598481" y="2523744"/>
            <a:ext cx="1560515" cy="704088"/>
          </a:xfrm>
          <a:prstGeom prst="rect">
            <a:avLst/>
          </a:prstGeom>
          <a:noFill/>
          <a:ln/>
        </p:spPr>
        <p:txBody>
          <a:bodyPr wrap="square" lIns="0" tIns="0" rIns="0" bIns="0" rtlCol="0" anchor="t"/>
          <a:lstStyle/>
          <a:p>
            <a:pPr marL="0" indent="0">
              <a:lnSpc>
                <a:spcPct val="115000"/>
              </a:lnSpc>
              <a:buNone/>
            </a:pPr>
            <a:r>
              <a:rPr lang="en-US" sz="1200" dirty="0">
                <a:solidFill>
                  <a:srgbClr val="4A5568"/>
                </a:solidFill>
                <a:latin typeface="Arial" pitchFamily="34" charset="0"/>
                <a:ea typeface="Arial" pitchFamily="34" charset="-122"/>
                <a:cs typeface="Arial" pitchFamily="34" charset="-120"/>
              </a:rPr>
              <a:t>Lägg filen i Telemetry\dashboards</a:t>
            </a:r>
            <a:endParaRPr lang="en-US" sz="1200" dirty="0"/>
          </a:p>
        </p:txBody>
      </p:sp>
      <p:sp>
        <p:nvSpPr>
          <p:cNvPr id="23" name="Shape 21"/>
          <p:cNvSpPr/>
          <p:nvPr/>
        </p:nvSpPr>
        <p:spPr>
          <a:xfrm>
            <a:off x="9387596" y="2514600"/>
            <a:ext cx="265176" cy="0"/>
          </a:xfrm>
          <a:prstGeom prst="line">
            <a:avLst/>
          </a:prstGeom>
          <a:noFill/>
          <a:ln w="19050">
            <a:solidFill>
              <a:srgbClr val="3762FF"/>
            </a:solidFill>
            <a:prstDash val="solid"/>
            <a:tailEnd type="triangle"/>
          </a:ln>
        </p:spPr>
      </p:sp>
      <p:sp>
        <p:nvSpPr>
          <p:cNvPr id="24" name="Shape 22"/>
          <p:cNvSpPr/>
          <p:nvPr/>
        </p:nvSpPr>
        <p:spPr>
          <a:xfrm>
            <a:off x="9680204" y="1645920"/>
            <a:ext cx="1962851" cy="1737360"/>
          </a:xfrm>
          <a:prstGeom prst="roundRect">
            <a:avLst>
              <a:gd name="adj" fmla="val 3158"/>
            </a:avLst>
          </a:prstGeom>
          <a:solidFill>
            <a:srgbClr val="3762FF"/>
          </a:solidFill>
          <a:ln w="12700">
            <a:solidFill>
              <a:srgbClr val="3762FF"/>
            </a:solidFill>
            <a:prstDash val="solid"/>
          </a:ln>
        </p:spPr>
      </p:sp>
      <p:sp>
        <p:nvSpPr>
          <p:cNvPr id="25" name="Text 23"/>
          <p:cNvSpPr txBox="1"/>
          <p:nvPr/>
        </p:nvSpPr>
        <p:spPr>
          <a:xfrm>
            <a:off x="9881372" y="1847088"/>
            <a:ext cx="1560515" cy="274320"/>
          </a:xfrm>
          <a:prstGeom prst="rect">
            <a:avLst/>
          </a:prstGeom>
          <a:noFill/>
          <a:ln/>
        </p:spPr>
        <p:txBody>
          <a:bodyPr wrap="square" lIns="0" tIns="0" rIns="0" bIns="0" rtlCol="0" anchor="ctr"/>
          <a:lstStyle/>
          <a:p>
            <a:pPr marL="0" indent="0">
              <a:buNone/>
            </a:pPr>
            <a:r>
              <a:rPr lang="en-US" sz="1100" b="1" kern="0" spc="200" dirty="0">
                <a:solidFill>
                  <a:srgbClr val="FFFFFF"/>
                </a:solidFill>
                <a:latin typeface="Arial" pitchFamily="34" charset="0"/>
                <a:ea typeface="Arial" pitchFamily="34" charset="-122"/>
                <a:cs typeface="Arial" pitchFamily="34" charset="-120"/>
              </a:rPr>
              <a:t>STEG 5</a:t>
            </a:r>
            <a:endParaRPr lang="en-US" sz="1100" dirty="0"/>
          </a:p>
        </p:txBody>
      </p:sp>
      <p:sp>
        <p:nvSpPr>
          <p:cNvPr id="26" name="Text 24"/>
          <p:cNvSpPr txBox="1"/>
          <p:nvPr/>
        </p:nvSpPr>
        <p:spPr>
          <a:xfrm>
            <a:off x="9881372" y="2139696"/>
            <a:ext cx="1560515" cy="320040"/>
          </a:xfrm>
          <a:prstGeom prst="rect">
            <a:avLst/>
          </a:prstGeom>
          <a:noFill/>
          <a:ln/>
        </p:spPr>
        <p:txBody>
          <a:bodyPr wrap="square" lIns="0" tIns="0" rIns="0" bIns="0" rtlCol="0" anchor="t"/>
          <a:lstStyle/>
          <a:p>
            <a:pPr marL="0" indent="0">
              <a:buNone/>
            </a:pPr>
            <a:r>
              <a:rPr lang="en-US" sz="1400" b="1" dirty="0">
                <a:solidFill>
                  <a:srgbClr val="FFFFFF"/>
                </a:solidFill>
                <a:latin typeface="Calibri" pitchFamily="34" charset="0"/>
                <a:ea typeface="Calibri" pitchFamily="34" charset="-122"/>
                <a:cs typeface="Calibri" pitchFamily="34" charset="-120"/>
              </a:rPr>
              <a:t>Kör skriptet</a:t>
            </a:r>
            <a:endParaRPr lang="en-US" sz="1400" dirty="0"/>
          </a:p>
        </p:txBody>
      </p:sp>
      <p:sp>
        <p:nvSpPr>
          <p:cNvPr id="27" name="Text 25"/>
          <p:cNvSpPr txBox="1"/>
          <p:nvPr/>
        </p:nvSpPr>
        <p:spPr>
          <a:xfrm>
            <a:off x="9881372" y="2523744"/>
            <a:ext cx="1560515" cy="704088"/>
          </a:xfrm>
          <a:prstGeom prst="rect">
            <a:avLst/>
          </a:prstGeom>
          <a:noFill/>
          <a:ln/>
        </p:spPr>
        <p:txBody>
          <a:bodyPr wrap="square" lIns="0" tIns="0" rIns="0" bIns="0" rtlCol="0" anchor="t"/>
          <a:lstStyle/>
          <a:p>
            <a:pPr marL="0" indent="0">
              <a:lnSpc>
                <a:spcPct val="115000"/>
              </a:lnSpc>
              <a:buNone/>
            </a:pPr>
            <a:r>
              <a:rPr lang="en-US" sz="1200" dirty="0">
                <a:solidFill>
                  <a:srgbClr val="FFFFFF"/>
                </a:solidFill>
                <a:latin typeface="Arial" pitchFamily="34" charset="0"/>
                <a:ea typeface="Arial" pitchFamily="34" charset="-122"/>
                <a:cs typeface="Arial" pitchFamily="34" charset="-120"/>
              </a:rPr>
              <a:t>deploy-dashboards.ps1 → ConfigMap → klart</a:t>
            </a:r>
            <a:endParaRPr lang="en-US" sz="1200" dirty="0"/>
          </a:p>
        </p:txBody>
      </p:sp>
      <p:sp>
        <p:nvSpPr>
          <p:cNvPr id="28" name="Shape 26"/>
          <p:cNvSpPr/>
          <p:nvPr/>
        </p:nvSpPr>
        <p:spPr>
          <a:xfrm>
            <a:off x="548640" y="3657600"/>
            <a:ext cx="11094415" cy="2103120"/>
          </a:xfrm>
          <a:prstGeom prst="roundRect">
            <a:avLst>
              <a:gd name="adj" fmla="val 2609"/>
            </a:avLst>
          </a:prstGeom>
          <a:solidFill>
            <a:srgbClr val="0F1F33"/>
          </a:solidFill>
          <a:ln w="12700">
            <a:solidFill>
              <a:srgbClr val="0F1F33"/>
            </a:solidFill>
            <a:prstDash val="solid"/>
          </a:ln>
          <a:effectLst>
            <a:outerShdw blurRad="101600" dist="25400" dir="5400000" algn="bl" rotWithShape="0">
              <a:srgbClr val="000000">
                <a:alpha val="10000"/>
              </a:srgbClr>
            </a:outerShdw>
          </a:effectLst>
        </p:spPr>
      </p:sp>
      <p:sp>
        <p:nvSpPr>
          <p:cNvPr id="29" name="Shape 27"/>
          <p:cNvSpPr/>
          <p:nvPr/>
        </p:nvSpPr>
        <p:spPr>
          <a:xfrm>
            <a:off x="749808" y="3822192"/>
            <a:ext cx="109728" cy="109728"/>
          </a:xfrm>
          <a:prstGeom prst="ellipse">
            <a:avLst/>
          </a:prstGeom>
          <a:solidFill>
            <a:srgbClr val="D64545"/>
          </a:solidFill>
          <a:ln w="12700">
            <a:solidFill>
              <a:srgbClr val="D64545"/>
            </a:solidFill>
            <a:prstDash val="solid"/>
          </a:ln>
        </p:spPr>
      </p:sp>
      <p:sp>
        <p:nvSpPr>
          <p:cNvPr id="30" name="Shape 28"/>
          <p:cNvSpPr/>
          <p:nvPr/>
        </p:nvSpPr>
        <p:spPr>
          <a:xfrm>
            <a:off x="932688" y="3822192"/>
            <a:ext cx="109728" cy="109728"/>
          </a:xfrm>
          <a:prstGeom prst="ellipse">
            <a:avLst/>
          </a:prstGeom>
          <a:solidFill>
            <a:srgbClr val="FFB020"/>
          </a:solidFill>
          <a:ln w="12700">
            <a:solidFill>
              <a:srgbClr val="FFB020"/>
            </a:solidFill>
            <a:prstDash val="solid"/>
          </a:ln>
        </p:spPr>
      </p:sp>
      <p:sp>
        <p:nvSpPr>
          <p:cNvPr id="31" name="Shape 29"/>
          <p:cNvSpPr/>
          <p:nvPr/>
        </p:nvSpPr>
        <p:spPr>
          <a:xfrm>
            <a:off x="1115568" y="3822192"/>
            <a:ext cx="109728" cy="109728"/>
          </a:xfrm>
          <a:prstGeom prst="ellipse">
            <a:avLst/>
          </a:prstGeom>
          <a:solidFill>
            <a:srgbClr val="3CB371"/>
          </a:solidFill>
          <a:ln w="12700">
            <a:solidFill>
              <a:srgbClr val="3CB371"/>
            </a:solidFill>
            <a:prstDash val="solid"/>
          </a:ln>
        </p:spPr>
      </p:sp>
      <p:sp>
        <p:nvSpPr>
          <p:cNvPr id="32" name="Text 30"/>
          <p:cNvSpPr txBox="1"/>
          <p:nvPr/>
        </p:nvSpPr>
        <p:spPr>
          <a:xfrm>
            <a:off x="1371600" y="3749040"/>
            <a:ext cx="10088575" cy="256032"/>
          </a:xfrm>
          <a:prstGeom prst="rect">
            <a:avLst/>
          </a:prstGeom>
          <a:noFill/>
          <a:ln/>
        </p:spPr>
        <p:txBody>
          <a:bodyPr wrap="square" lIns="0" tIns="0" rIns="0" bIns="0" rtlCol="0" anchor="ctr"/>
          <a:lstStyle/>
          <a:p>
            <a:pPr marL="0" indent="0">
              <a:buNone/>
            </a:pPr>
            <a:r>
              <a:rPr lang="en-US" sz="1100" dirty="0">
                <a:solidFill>
                  <a:srgbClr val="B9C4D1"/>
                </a:solidFill>
                <a:latin typeface="Courier New" pitchFamily="34" charset="0"/>
                <a:ea typeface="Courier New" pitchFamily="34" charset="-122"/>
                <a:cs typeface="Courier New" pitchFamily="34" charset="-120"/>
              </a:rPr>
              <a:t>Telemetry/dashboards/telemetryapi.json (utdrag)</a:t>
            </a:r>
            <a:endParaRPr lang="en-US" sz="1100" dirty="0"/>
          </a:p>
        </p:txBody>
      </p:sp>
      <p:sp>
        <p:nvSpPr>
          <p:cNvPr id="33" name="Text 31"/>
          <p:cNvSpPr txBox="1"/>
          <p:nvPr/>
        </p:nvSpPr>
        <p:spPr>
          <a:xfrm>
            <a:off x="777240" y="4114800"/>
            <a:ext cx="10637215" cy="1508760"/>
          </a:xfrm>
          <a:prstGeom prst="rect">
            <a:avLst/>
          </a:prstGeom>
          <a:noFill/>
          <a:ln/>
        </p:spPr>
        <p:txBody>
          <a:bodyPr wrap="square" lIns="0" tIns="0" rIns="0" bIns="0" rtlCol="0" anchor="t"/>
          <a:lstStyle/>
          <a:p>
            <a:pPr marL="0" indent="0">
              <a:lnSpc>
                <a:spcPct val="110000"/>
              </a:lnSpc>
              <a:buNone/>
            </a:pPr>
            <a:r>
              <a:rPr lang="en-US" sz="1200" dirty="0">
                <a:solidFill>
                  <a:srgbClr val="DDE3EA"/>
                </a:solidFill>
                <a:latin typeface="Courier New" pitchFamily="34" charset="0"/>
                <a:ea typeface="Courier New" pitchFamily="34" charset="-122"/>
                <a:cs typeface="Courier New" pitchFamily="34" charset="-120"/>
              </a:rPr>
              <a:t>{</a:t>
            </a:r>
            <a:endParaRPr lang="en-US" sz="1200" dirty="0"/>
          </a:p>
          <a:p>
            <a:pPr marL="0" indent="0">
              <a:lnSpc>
                <a:spcPct val="110000"/>
              </a:lnSpc>
              <a:buNone/>
            </a:pPr>
            <a:r>
              <a:rPr lang="en-US" sz="1200" dirty="0">
                <a:solidFill>
                  <a:srgbClr val="DDE3EA"/>
                </a:solidFill>
                <a:latin typeface="Courier New" pitchFamily="34" charset="0"/>
                <a:ea typeface="Courier New" pitchFamily="34" charset="-122"/>
                <a:cs typeface="Courier New" pitchFamily="34" charset="-120"/>
              </a:rPr>
              <a:t>  "uid": "telemetryapi",           # stabil adress: /d/telemetryapi</a:t>
            </a:r>
            <a:endParaRPr lang="en-US" sz="1200" dirty="0"/>
          </a:p>
          <a:p>
            <a:pPr marL="0" indent="0">
              <a:lnSpc>
                <a:spcPct val="110000"/>
              </a:lnSpc>
              <a:buNone/>
            </a:pPr>
            <a:r>
              <a:rPr lang="en-US" sz="1200" dirty="0">
                <a:solidFill>
                  <a:srgbClr val="DDE3EA"/>
                </a:solidFill>
                <a:latin typeface="Courier New" pitchFamily="34" charset="0"/>
                <a:ea typeface="Courier New" pitchFamily="34" charset="-122"/>
                <a:cs typeface="Courier New" pitchFamily="34" charset="-120"/>
              </a:rPr>
              <a:t>  "title": "TelemetryApi - kunder",</a:t>
            </a:r>
            <a:endParaRPr lang="en-US" sz="1200" dirty="0"/>
          </a:p>
          <a:p>
            <a:pPr marL="0" indent="0">
              <a:lnSpc>
                <a:spcPct val="110000"/>
              </a:lnSpc>
              <a:buNone/>
            </a:pPr>
            <a:r>
              <a:rPr lang="en-US" sz="1200" dirty="0">
                <a:solidFill>
                  <a:srgbClr val="DDE3EA"/>
                </a:solidFill>
                <a:latin typeface="Courier New" pitchFamily="34" charset="0"/>
                <a:ea typeface="Courier New" pitchFamily="34" charset="-122"/>
                <a:cs typeface="Courier New" pitchFamily="34" charset="-120"/>
              </a:rPr>
              <a:t>  "templating": { "list": [ { "name": "operation", … } ] },</a:t>
            </a:r>
            <a:endParaRPr lang="en-US" sz="1200" dirty="0"/>
          </a:p>
          <a:p>
            <a:pPr marL="0" indent="0">
              <a:lnSpc>
                <a:spcPct val="110000"/>
              </a:lnSpc>
              <a:buNone/>
            </a:pPr>
            <a:r>
              <a:rPr lang="en-US" sz="1200" dirty="0">
                <a:solidFill>
                  <a:srgbClr val="DDE3EA"/>
                </a:solidFill>
                <a:latin typeface="Courier New" pitchFamily="34" charset="0"/>
                <a:ea typeface="Courier New" pitchFamily="34" charset="-122"/>
                <a:cs typeface="Courier New" pitchFamily="34" charset="-120"/>
              </a:rPr>
              <a:t>  "panels": [ { "type": "timeseries", "targets": [ { "expr": "…" } ] }, … ]</a:t>
            </a:r>
            <a:endParaRPr lang="en-US" sz="1200" dirty="0"/>
          </a:p>
          <a:p>
            <a:pPr marL="0" indent="0">
              <a:lnSpc>
                <a:spcPct val="110000"/>
              </a:lnSpc>
              <a:buNone/>
            </a:pPr>
            <a:r>
              <a:rPr lang="en-US" sz="1200" dirty="0">
                <a:solidFill>
                  <a:srgbClr val="DDE3EA"/>
                </a:solidFill>
                <a:latin typeface="Courier New" pitchFamily="34" charset="0"/>
                <a:ea typeface="Courier New" pitchFamily="34" charset="-122"/>
                <a:cs typeface="Courier New" pitchFamily="34" charset="-120"/>
              </a:rPr>
              <a:t>}</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7F7F4"/>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marL="0" indent="0">
              <a:buNone/>
            </a:pPr>
            <a:r>
              <a:rPr lang="en-US" sz="1200" b="1" kern="0" spc="200" dirty="0">
                <a:solidFill>
                  <a:srgbClr val="3762FF"/>
                </a:solidFill>
                <a:latin typeface="Arial" pitchFamily="34" charset="0"/>
                <a:ea typeface="Arial" pitchFamily="34" charset="-122"/>
                <a:cs typeface="Arial" pitchFamily="34" charset="-120"/>
              </a:rPr>
              <a:t>DASHBOARD · VISUALISERINGAR</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marL="0" indent="0">
              <a:buNone/>
            </a:pPr>
            <a:r>
              <a:rPr lang="en-US" sz="3000" b="1" dirty="0">
                <a:solidFill>
                  <a:srgbClr val="16202B"/>
                </a:solidFill>
                <a:latin typeface="Calibri" pitchFamily="34" charset="0"/>
                <a:ea typeface="Calibri" pitchFamily="34" charset="-122"/>
                <a:cs typeface="Calibri" pitchFamily="34" charset="-120"/>
              </a:rPr>
              <a:t>Välj visualisering efter frågan</a:t>
            </a:r>
            <a:endParaRPr lang="en-US" sz="30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1672" cy="3657600"/>
        </p:xfrm>
        <a:graphic>
          <a:graphicData uri="http://schemas.openxmlformats.org/drawingml/2006/table">
            <a:tbl>
              <a:tblPr/>
              <a:tblGrid>
                <a:gridCol w="2743200">
                  <a:extLst>
                    <a:ext uri="{9D8B030D-6E8A-4147-A177-3AD203B41FA5}">
                      <a16:colId xmlns:a16="http://schemas.microsoft.com/office/drawing/2014/main" val="20000"/>
                    </a:ext>
                  </a:extLst>
                </a:gridCol>
                <a:gridCol w="4023360">
                  <a:extLst>
                    <a:ext uri="{9D8B030D-6E8A-4147-A177-3AD203B41FA5}">
                      <a16:colId xmlns:a16="http://schemas.microsoft.com/office/drawing/2014/main" val="20001"/>
                    </a:ext>
                  </a:extLst>
                </a:gridCol>
                <a:gridCol w="4325112">
                  <a:extLst>
                    <a:ext uri="{9D8B030D-6E8A-4147-A177-3AD203B41FA5}">
                      <a16:colId xmlns:a16="http://schemas.microsoft.com/office/drawing/2014/main" val="20002"/>
                    </a:ext>
                  </a:extLst>
                </a:gridCol>
              </a:tblGrid>
              <a:tr h="457200">
                <a:tc>
                  <a:txBody>
                    <a:bodyPr/>
                    <a:lstStyle/>
                    <a:p>
                      <a:pPr marL="0" indent="0">
                        <a:buNone/>
                      </a:pPr>
                      <a:r>
                        <a:rPr lang="en-US" sz="1300" b="1" dirty="0">
                          <a:solidFill>
                            <a:srgbClr val="3762FF"/>
                          </a:solidFill>
                          <a:latin typeface="Arial" pitchFamily="34" charset="0"/>
                          <a:ea typeface="Arial" pitchFamily="34" charset="-122"/>
                          <a:cs typeface="Arial" pitchFamily="34" charset="-120"/>
                        </a:rPr>
                        <a:t>Visualisering</a:t>
                      </a:r>
                      <a:endParaRPr lang="en-US" sz="1300" dirty="0">
                        <a:latin typeface="Arial" charset="0"/>
                        <a:ea typeface="Arial" charset="0"/>
                        <a:cs typeface="Arial" charset="0"/>
                      </a:endParaRPr>
                    </a:p>
                  </a:txBody>
                  <a:tcPr marL="73152" marR="73152">
                    <a:lnL w="0" cap="flat" cmpd="sng" algn="ctr">
                      <a:noFill/>
                    </a:lnL>
                    <a:lnR w="0" cap="flat" cmpd="sng" algn="ctr">
                      <a:noFill/>
                    </a:lnR>
                    <a:lnT w="0" cap="flat" cmpd="sng" algn="ctr">
                      <a:noFill/>
                    </a:lnT>
                    <a:lnB w="6350" cap="flat" cmpd="sng" algn="ctr">
                      <a:solidFill>
                        <a:srgbClr val="D9DDE3"/>
                      </a:solidFill>
                      <a:prstDash val="solid"/>
                      <a:round/>
                      <a:headEnd type="none" w="med" len="med"/>
                      <a:tailEnd type="none" w="med" len="med"/>
                    </a:lnB>
                    <a:solidFill>
                      <a:srgbClr val="F7F7F4"/>
                    </a:solidFill>
                  </a:tcPr>
                </a:tc>
                <a:tc>
                  <a:txBody>
                    <a:bodyPr/>
                    <a:lstStyle/>
                    <a:p>
                      <a:pPr marL="0" indent="0">
                        <a:buNone/>
                      </a:pPr>
                      <a:r>
                        <a:rPr lang="en-US" sz="1300" b="1" dirty="0">
                          <a:solidFill>
                            <a:srgbClr val="3762FF"/>
                          </a:solidFill>
                          <a:latin typeface="Arial" pitchFamily="34" charset="0"/>
                          <a:ea typeface="Arial" pitchFamily="34" charset="-122"/>
                          <a:cs typeface="Arial" pitchFamily="34" charset="-120"/>
                        </a:rPr>
                        <a:t>Bäst för</a:t>
                      </a:r>
                      <a:endParaRPr lang="en-US" sz="1300" dirty="0">
                        <a:latin typeface="Arial" charset="0"/>
                        <a:ea typeface="Arial" charset="0"/>
                        <a:cs typeface="Arial" charset="0"/>
                      </a:endParaRPr>
                    </a:p>
                  </a:txBody>
                  <a:tcPr marL="73152" marR="73152">
                    <a:lnL w="0" cap="flat" cmpd="sng" algn="ctr">
                      <a:noFill/>
                    </a:lnL>
                    <a:lnR w="0" cap="flat" cmpd="sng" algn="ctr">
                      <a:noFill/>
                    </a:lnR>
                    <a:lnT w="0" cap="flat" cmpd="sng" algn="ctr">
                      <a:noFill/>
                    </a:lnT>
                    <a:lnB w="6350" cap="flat" cmpd="sng" algn="ctr">
                      <a:solidFill>
                        <a:srgbClr val="D9DDE3"/>
                      </a:solidFill>
                      <a:prstDash val="solid"/>
                      <a:round/>
                      <a:headEnd type="none" w="med" len="med"/>
                      <a:tailEnd type="none" w="med" len="med"/>
                    </a:lnB>
                    <a:solidFill>
                      <a:srgbClr val="F7F7F4"/>
                    </a:solidFill>
                  </a:tcPr>
                </a:tc>
                <a:tc>
                  <a:txBody>
                    <a:bodyPr/>
                    <a:lstStyle/>
                    <a:p>
                      <a:pPr marL="0" indent="0">
                        <a:buNone/>
                      </a:pPr>
                      <a:r>
                        <a:rPr lang="en-US" sz="1300" b="1" dirty="0">
                          <a:solidFill>
                            <a:srgbClr val="3762FF"/>
                          </a:solidFill>
                          <a:latin typeface="Arial" pitchFamily="34" charset="0"/>
                          <a:ea typeface="Arial" pitchFamily="34" charset="-122"/>
                          <a:cs typeface="Arial" pitchFamily="34" charset="-120"/>
                        </a:rPr>
                        <a:t>Exempel ikväll</a:t>
                      </a:r>
                      <a:endParaRPr lang="en-US" sz="1300" dirty="0">
                        <a:latin typeface="Arial" charset="0"/>
                        <a:ea typeface="Arial" charset="0"/>
                        <a:cs typeface="Arial" charset="0"/>
                      </a:endParaRPr>
                    </a:p>
                  </a:txBody>
                  <a:tcPr marL="73152" marR="73152">
                    <a:lnL w="0" cap="flat" cmpd="sng" algn="ctr">
                      <a:noFill/>
                    </a:lnL>
                    <a:lnR w="0" cap="flat" cmpd="sng" algn="ctr">
                      <a:noFill/>
                    </a:lnR>
                    <a:lnT w="0" cap="flat" cmpd="sng" algn="ctr">
                      <a:noFill/>
                    </a:lnT>
                    <a:lnB w="6350" cap="flat" cmpd="sng" algn="ctr">
                      <a:solidFill>
                        <a:srgbClr val="D9DDE3"/>
                      </a:solidFill>
                      <a:prstDash val="solid"/>
                      <a:round/>
                      <a:headEnd type="none" w="med" len="med"/>
                      <a:tailEnd type="none" w="med" len="med"/>
                    </a:lnB>
                    <a:solidFill>
                      <a:srgbClr val="F7F7F4"/>
                    </a:solidFill>
                  </a:tcPr>
                </a:tc>
                <a:extLst>
                  <a:ext uri="{0D108BD9-81ED-4DB2-BD59-A6C34878D82A}">
                    <a16:rowId xmlns:a16="http://schemas.microsoft.com/office/drawing/2014/main" val="10000"/>
                  </a:ext>
                </a:extLst>
              </a:tr>
              <a:tr h="457200">
                <a:tc>
                  <a:txBody>
                    <a:bodyPr/>
                    <a:lstStyle/>
                    <a:p>
                      <a:pPr marL="0" indent="0">
                        <a:buNone/>
                      </a:pPr>
                      <a:r>
                        <a:rPr lang="en-US" sz="1300" dirty="0">
                          <a:solidFill>
                            <a:srgbClr val="16202B"/>
                          </a:solidFill>
                          <a:latin typeface="Arial" pitchFamily="34" charset="0"/>
                          <a:ea typeface="Arial" pitchFamily="34" charset="-122"/>
                          <a:cs typeface="Arial" pitchFamily="34" charset="-120"/>
                        </a:rPr>
                        <a:t>Time series</a:t>
                      </a:r>
                      <a:endParaRPr lang="en-US" sz="1300" dirty="0">
                        <a:latin typeface="Arial" charset="0"/>
                        <a:ea typeface="Arial" charset="0"/>
                        <a:cs typeface="Arial" charset="0"/>
                      </a:endParaRPr>
                    </a:p>
                  </a:txBody>
                  <a:tcPr marL="73152" marR="73152">
                    <a:lnL w="0" cap="flat" cmpd="sng" algn="ctr">
                      <a:noFill/>
                    </a:lnL>
                    <a:lnR w="0" cap="flat" cmpd="sng" algn="ctr">
                      <a:noFill/>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7F7F4"/>
                    </a:solidFill>
                  </a:tcPr>
                </a:tc>
                <a:tc>
                  <a:txBody>
                    <a:bodyPr/>
                    <a:lstStyle/>
                    <a:p>
                      <a:pPr marL="0" indent="0">
                        <a:buNone/>
                      </a:pPr>
                      <a:r>
                        <a:rPr lang="en-US" sz="1300" dirty="0">
                          <a:solidFill>
                            <a:srgbClr val="16202B"/>
                          </a:solidFill>
                          <a:latin typeface="Arial" pitchFamily="34" charset="0"/>
                          <a:ea typeface="Arial" pitchFamily="34" charset="-122"/>
                          <a:cs typeface="Arial" pitchFamily="34" charset="-120"/>
                        </a:rPr>
                        <a:t>Utveckling över tid</a:t>
                      </a:r>
                      <a:endParaRPr lang="en-US" sz="1300" dirty="0">
                        <a:latin typeface="Arial" charset="0"/>
                        <a:ea typeface="Arial" charset="0"/>
                        <a:cs typeface="Arial" charset="0"/>
                      </a:endParaRPr>
                    </a:p>
                  </a:txBody>
                  <a:tcPr marL="73152" marR="73152">
                    <a:lnL w="0" cap="flat" cmpd="sng" algn="ctr">
                      <a:noFill/>
                    </a:lnL>
                    <a:lnR w="0" cap="flat" cmpd="sng" algn="ctr">
                      <a:noFill/>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7F7F4"/>
                    </a:solidFill>
                  </a:tcPr>
                </a:tc>
                <a:tc>
                  <a:txBody>
                    <a:bodyPr/>
                    <a:lstStyle/>
                    <a:p>
                      <a:pPr marL="0" indent="0">
                        <a:buNone/>
                      </a:pPr>
                      <a:r>
                        <a:rPr lang="en-US" sz="1300" dirty="0">
                          <a:solidFill>
                            <a:srgbClr val="16202B"/>
                          </a:solidFill>
                          <a:latin typeface="Arial" pitchFamily="34" charset="0"/>
                          <a:ea typeface="Arial" pitchFamily="34" charset="-122"/>
                          <a:cs typeface="Arial" pitchFamily="34" charset="-120"/>
                        </a:rPr>
                        <a:t>Anrop/s, p95 per operation</a:t>
                      </a:r>
                      <a:endParaRPr lang="en-US" sz="1300" dirty="0">
                        <a:latin typeface="Arial" charset="0"/>
                        <a:ea typeface="Arial" charset="0"/>
                        <a:cs typeface="Arial" charset="0"/>
                      </a:endParaRPr>
                    </a:p>
                  </a:txBody>
                  <a:tcPr marL="73152" marR="73152">
                    <a:lnL w="0" cap="flat" cmpd="sng" algn="ctr">
                      <a:noFill/>
                    </a:lnL>
                    <a:lnR w="0" cap="flat" cmpd="sng" algn="ctr">
                      <a:noFill/>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7F7F4"/>
                    </a:solidFill>
                  </a:tcPr>
                </a:tc>
                <a:extLst>
                  <a:ext uri="{0D108BD9-81ED-4DB2-BD59-A6C34878D82A}">
                    <a16:rowId xmlns:a16="http://schemas.microsoft.com/office/drawing/2014/main" val="10001"/>
                  </a:ext>
                </a:extLst>
              </a:tr>
              <a:tr h="457200">
                <a:tc>
                  <a:txBody>
                    <a:bodyPr/>
                    <a:lstStyle/>
                    <a:p>
                      <a:pPr marL="0" indent="0">
                        <a:buNone/>
                      </a:pPr>
                      <a:r>
                        <a:rPr lang="en-US" sz="1300" dirty="0">
                          <a:solidFill>
                            <a:srgbClr val="16202B"/>
                          </a:solidFill>
                          <a:latin typeface="Arial" pitchFamily="34" charset="0"/>
                          <a:ea typeface="Arial" pitchFamily="34" charset="-122"/>
                          <a:cs typeface="Arial" pitchFamily="34" charset="-120"/>
                        </a:rPr>
                        <a:t>Stat</a:t>
                      </a:r>
                      <a:endParaRPr lang="en-US" sz="1300" dirty="0">
                        <a:latin typeface="Arial" charset="0"/>
                        <a:ea typeface="Arial" charset="0"/>
                        <a:cs typeface="Arial" charset="0"/>
                      </a:endParaRPr>
                    </a:p>
                  </a:txBody>
                  <a:tcPr marL="73152" marR="73152">
                    <a:lnL w="0" cap="flat" cmpd="sng" algn="ctr">
                      <a:noFill/>
                    </a:lnL>
                    <a:lnR w="0" cap="flat" cmpd="sng" algn="ctr">
                      <a:noFill/>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7F7F4"/>
                    </a:solidFill>
                  </a:tcPr>
                </a:tc>
                <a:tc>
                  <a:txBody>
                    <a:bodyPr/>
                    <a:lstStyle/>
                    <a:p>
                      <a:pPr marL="0" indent="0">
                        <a:buNone/>
                      </a:pPr>
                      <a:r>
                        <a:rPr lang="en-US" sz="1300" dirty="0">
                          <a:solidFill>
                            <a:srgbClr val="16202B"/>
                          </a:solidFill>
                          <a:latin typeface="Arial" pitchFamily="34" charset="0"/>
                          <a:ea typeface="Arial" pitchFamily="34" charset="-122"/>
                          <a:cs typeface="Arial" pitchFamily="34" charset="-120"/>
                        </a:rPr>
                        <a:t>En siffra just nu, med färg</a:t>
                      </a:r>
                      <a:endParaRPr lang="en-US" sz="1300" dirty="0">
                        <a:latin typeface="Arial" charset="0"/>
                        <a:ea typeface="Arial" charset="0"/>
                        <a:cs typeface="Arial" charset="0"/>
                      </a:endParaRPr>
                    </a:p>
                  </a:txBody>
                  <a:tcPr marL="73152" marR="73152">
                    <a:lnL w="0" cap="flat" cmpd="sng" algn="ctr">
                      <a:noFill/>
                    </a:lnL>
                    <a:lnR w="0" cap="flat" cmpd="sng" algn="ctr">
                      <a:noFill/>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7F7F4"/>
                    </a:solidFill>
                  </a:tcPr>
                </a:tc>
                <a:tc>
                  <a:txBody>
                    <a:bodyPr/>
                    <a:lstStyle/>
                    <a:p>
                      <a:pPr marL="0" indent="0">
                        <a:buNone/>
                      </a:pPr>
                      <a:r>
                        <a:rPr lang="en-US" sz="1300" dirty="0">
                          <a:solidFill>
                            <a:srgbClr val="16202B"/>
                          </a:solidFill>
                          <a:latin typeface="Arial" pitchFamily="34" charset="0"/>
                          <a:ea typeface="Arial" pitchFamily="34" charset="-122"/>
                          <a:cs typeface="Arial" pitchFamily="34" charset="-120"/>
                        </a:rPr>
                        <a:t>Felandel, kunder i databasen</a:t>
                      </a:r>
                      <a:endParaRPr lang="en-US" sz="1300" dirty="0">
                        <a:latin typeface="Arial" charset="0"/>
                        <a:ea typeface="Arial" charset="0"/>
                        <a:cs typeface="Arial" charset="0"/>
                      </a:endParaRPr>
                    </a:p>
                  </a:txBody>
                  <a:tcPr marL="73152" marR="73152">
                    <a:lnL w="0" cap="flat" cmpd="sng" algn="ctr">
                      <a:noFill/>
                    </a:lnL>
                    <a:lnR w="0" cap="flat" cmpd="sng" algn="ctr">
                      <a:noFill/>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7F7F4"/>
                    </a:solidFill>
                  </a:tcPr>
                </a:tc>
                <a:extLst>
                  <a:ext uri="{0D108BD9-81ED-4DB2-BD59-A6C34878D82A}">
                    <a16:rowId xmlns:a16="http://schemas.microsoft.com/office/drawing/2014/main" val="10002"/>
                  </a:ext>
                </a:extLst>
              </a:tr>
              <a:tr h="457200">
                <a:tc>
                  <a:txBody>
                    <a:bodyPr/>
                    <a:lstStyle/>
                    <a:p>
                      <a:pPr marL="0" indent="0">
                        <a:buNone/>
                      </a:pPr>
                      <a:r>
                        <a:rPr lang="en-US" sz="1300" dirty="0">
                          <a:solidFill>
                            <a:srgbClr val="16202B"/>
                          </a:solidFill>
                          <a:latin typeface="Arial" pitchFamily="34" charset="0"/>
                          <a:ea typeface="Arial" pitchFamily="34" charset="-122"/>
                          <a:cs typeface="Arial" pitchFamily="34" charset="-120"/>
                        </a:rPr>
                        <a:t>Gauge / Bar gauge</a:t>
                      </a:r>
                      <a:endParaRPr lang="en-US" sz="1300" dirty="0">
                        <a:latin typeface="Arial" charset="0"/>
                        <a:ea typeface="Arial" charset="0"/>
                        <a:cs typeface="Arial" charset="0"/>
                      </a:endParaRPr>
                    </a:p>
                  </a:txBody>
                  <a:tcPr marL="73152" marR="73152">
                    <a:lnL w="0" cap="flat" cmpd="sng" algn="ctr">
                      <a:noFill/>
                    </a:lnL>
                    <a:lnR w="0" cap="flat" cmpd="sng" algn="ctr">
                      <a:noFill/>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7F7F4"/>
                    </a:solidFill>
                  </a:tcPr>
                </a:tc>
                <a:tc>
                  <a:txBody>
                    <a:bodyPr/>
                    <a:lstStyle/>
                    <a:p>
                      <a:pPr marL="0" indent="0">
                        <a:buNone/>
                      </a:pPr>
                      <a:r>
                        <a:rPr lang="en-US" sz="1300" dirty="0">
                          <a:solidFill>
                            <a:srgbClr val="16202B"/>
                          </a:solidFill>
                          <a:latin typeface="Arial" pitchFamily="34" charset="0"/>
                          <a:ea typeface="Arial" pitchFamily="34" charset="-122"/>
                          <a:cs typeface="Arial" pitchFamily="34" charset="-120"/>
                        </a:rPr>
                        <a:t>Värde mot max, eller jämförelse</a:t>
                      </a:r>
                      <a:endParaRPr lang="en-US" sz="1300" dirty="0">
                        <a:latin typeface="Arial" charset="0"/>
                        <a:ea typeface="Arial" charset="0"/>
                        <a:cs typeface="Arial" charset="0"/>
                      </a:endParaRPr>
                    </a:p>
                  </a:txBody>
                  <a:tcPr marL="73152" marR="73152">
                    <a:lnL w="0" cap="flat" cmpd="sng" algn="ctr">
                      <a:noFill/>
                    </a:lnL>
                    <a:lnR w="0" cap="flat" cmpd="sng" algn="ctr">
                      <a:noFill/>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7F7F4"/>
                    </a:solidFill>
                  </a:tcPr>
                </a:tc>
                <a:tc>
                  <a:txBody>
                    <a:bodyPr/>
                    <a:lstStyle/>
                    <a:p>
                      <a:pPr marL="0" indent="0">
                        <a:buNone/>
                      </a:pPr>
                      <a:r>
                        <a:rPr lang="en-US" sz="1300" dirty="0">
                          <a:solidFill>
                            <a:srgbClr val="16202B"/>
                          </a:solidFill>
                          <a:latin typeface="Arial" pitchFamily="34" charset="0"/>
                          <a:ea typeface="Arial" pitchFamily="34" charset="-122"/>
                          <a:cs typeface="Arial" pitchFamily="34" charset="-120"/>
                        </a:rPr>
                        <a:t>Nya kunder per stad</a:t>
                      </a:r>
                      <a:endParaRPr lang="en-US" sz="1300" dirty="0">
                        <a:latin typeface="Arial" charset="0"/>
                        <a:ea typeface="Arial" charset="0"/>
                        <a:cs typeface="Arial" charset="0"/>
                      </a:endParaRPr>
                    </a:p>
                  </a:txBody>
                  <a:tcPr marL="73152" marR="73152">
                    <a:lnL w="0" cap="flat" cmpd="sng" algn="ctr">
                      <a:noFill/>
                    </a:lnL>
                    <a:lnR w="0" cap="flat" cmpd="sng" algn="ctr">
                      <a:noFill/>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7F7F4"/>
                    </a:solidFill>
                  </a:tcPr>
                </a:tc>
                <a:extLst>
                  <a:ext uri="{0D108BD9-81ED-4DB2-BD59-A6C34878D82A}">
                    <a16:rowId xmlns:a16="http://schemas.microsoft.com/office/drawing/2014/main" val="10003"/>
                  </a:ext>
                </a:extLst>
              </a:tr>
              <a:tr h="457200">
                <a:tc>
                  <a:txBody>
                    <a:bodyPr/>
                    <a:lstStyle/>
                    <a:p>
                      <a:pPr marL="0" indent="0">
                        <a:buNone/>
                      </a:pPr>
                      <a:r>
                        <a:rPr lang="en-US" sz="1300" dirty="0">
                          <a:solidFill>
                            <a:srgbClr val="16202B"/>
                          </a:solidFill>
                          <a:latin typeface="Arial" pitchFamily="34" charset="0"/>
                          <a:ea typeface="Arial" pitchFamily="34" charset="-122"/>
                          <a:cs typeface="Arial" pitchFamily="34" charset="-120"/>
                        </a:rPr>
                        <a:t>Heatmap</a:t>
                      </a:r>
                      <a:endParaRPr lang="en-US" sz="1300" dirty="0">
                        <a:latin typeface="Arial" charset="0"/>
                        <a:ea typeface="Arial" charset="0"/>
                        <a:cs typeface="Arial" charset="0"/>
                      </a:endParaRPr>
                    </a:p>
                  </a:txBody>
                  <a:tcPr marL="73152" marR="73152">
                    <a:lnL w="0" cap="flat" cmpd="sng" algn="ctr">
                      <a:noFill/>
                    </a:lnL>
                    <a:lnR w="0" cap="flat" cmpd="sng" algn="ctr">
                      <a:noFill/>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7F7F4"/>
                    </a:solidFill>
                  </a:tcPr>
                </a:tc>
                <a:tc>
                  <a:txBody>
                    <a:bodyPr/>
                    <a:lstStyle/>
                    <a:p>
                      <a:pPr marL="0" indent="0">
                        <a:buNone/>
                      </a:pPr>
                      <a:r>
                        <a:rPr lang="en-US" sz="1300" dirty="0">
                          <a:solidFill>
                            <a:srgbClr val="16202B"/>
                          </a:solidFill>
                          <a:latin typeface="Arial" pitchFamily="34" charset="0"/>
                          <a:ea typeface="Arial" pitchFamily="34" charset="-122"/>
                          <a:cs typeface="Arial" pitchFamily="34" charset="-120"/>
                        </a:rPr>
                        <a:t>Fördelning över tid (histogram)</a:t>
                      </a:r>
                      <a:endParaRPr lang="en-US" sz="1300" dirty="0">
                        <a:latin typeface="Arial" charset="0"/>
                        <a:ea typeface="Arial" charset="0"/>
                        <a:cs typeface="Arial" charset="0"/>
                      </a:endParaRPr>
                    </a:p>
                  </a:txBody>
                  <a:tcPr marL="73152" marR="73152">
                    <a:lnL w="0" cap="flat" cmpd="sng" algn="ctr">
                      <a:noFill/>
                    </a:lnL>
                    <a:lnR w="0" cap="flat" cmpd="sng" algn="ctr">
                      <a:noFill/>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7F7F4"/>
                    </a:solidFill>
                  </a:tcPr>
                </a:tc>
                <a:tc>
                  <a:txBody>
                    <a:bodyPr/>
                    <a:lstStyle/>
                    <a:p>
                      <a:pPr marL="0" indent="0">
                        <a:buNone/>
                      </a:pPr>
                      <a:r>
                        <a:rPr lang="en-US" sz="1300" dirty="0">
                          <a:solidFill>
                            <a:srgbClr val="16202B"/>
                          </a:solidFill>
                          <a:latin typeface="Arial" pitchFamily="34" charset="0"/>
                          <a:ea typeface="Arial" pitchFamily="34" charset="-122"/>
                          <a:cs typeface="Arial" pitchFamily="34" charset="-120"/>
                        </a:rPr>
                        <a:t>customers.requestduration</a:t>
                      </a:r>
                      <a:endParaRPr lang="en-US" sz="1300" dirty="0">
                        <a:latin typeface="Arial" charset="0"/>
                        <a:ea typeface="Arial" charset="0"/>
                        <a:cs typeface="Arial" charset="0"/>
                      </a:endParaRPr>
                    </a:p>
                  </a:txBody>
                  <a:tcPr marL="73152" marR="73152">
                    <a:lnL w="0" cap="flat" cmpd="sng" algn="ctr">
                      <a:noFill/>
                    </a:lnL>
                    <a:lnR w="0" cap="flat" cmpd="sng" algn="ctr">
                      <a:noFill/>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7F7F4"/>
                    </a:solidFill>
                  </a:tcPr>
                </a:tc>
                <a:extLst>
                  <a:ext uri="{0D108BD9-81ED-4DB2-BD59-A6C34878D82A}">
                    <a16:rowId xmlns:a16="http://schemas.microsoft.com/office/drawing/2014/main" val="10004"/>
                  </a:ext>
                </a:extLst>
              </a:tr>
              <a:tr h="457200">
                <a:tc>
                  <a:txBody>
                    <a:bodyPr/>
                    <a:lstStyle/>
                    <a:p>
                      <a:pPr marL="0" indent="0">
                        <a:buNone/>
                      </a:pPr>
                      <a:r>
                        <a:rPr lang="en-US" sz="1300" dirty="0">
                          <a:solidFill>
                            <a:srgbClr val="16202B"/>
                          </a:solidFill>
                          <a:latin typeface="Arial" pitchFamily="34" charset="0"/>
                          <a:ea typeface="Arial" pitchFamily="34" charset="-122"/>
                          <a:cs typeface="Arial" pitchFamily="34" charset="-120"/>
                        </a:rPr>
                        <a:t>Table</a:t>
                      </a:r>
                      <a:endParaRPr lang="en-US" sz="1300" dirty="0">
                        <a:latin typeface="Arial" charset="0"/>
                        <a:ea typeface="Arial" charset="0"/>
                        <a:cs typeface="Arial" charset="0"/>
                      </a:endParaRPr>
                    </a:p>
                  </a:txBody>
                  <a:tcPr marL="73152" marR="73152">
                    <a:lnL w="0" cap="flat" cmpd="sng" algn="ctr">
                      <a:noFill/>
                    </a:lnL>
                    <a:lnR w="0" cap="flat" cmpd="sng" algn="ctr">
                      <a:noFill/>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7F7F4"/>
                    </a:solidFill>
                  </a:tcPr>
                </a:tc>
                <a:tc>
                  <a:txBody>
                    <a:bodyPr/>
                    <a:lstStyle/>
                    <a:p>
                      <a:pPr marL="0" indent="0">
                        <a:buNone/>
                      </a:pPr>
                      <a:r>
                        <a:rPr lang="en-US" sz="1300" dirty="0">
                          <a:solidFill>
                            <a:srgbClr val="16202B"/>
                          </a:solidFill>
                          <a:latin typeface="Arial" pitchFamily="34" charset="0"/>
                          <a:ea typeface="Arial" pitchFamily="34" charset="-122"/>
                          <a:cs typeface="Arial" pitchFamily="34" charset="-120"/>
                        </a:rPr>
                        <a:t>Listor, traces från Tempo</a:t>
                      </a:r>
                      <a:endParaRPr lang="en-US" sz="1300" dirty="0">
                        <a:latin typeface="Arial" charset="0"/>
                        <a:ea typeface="Arial" charset="0"/>
                        <a:cs typeface="Arial" charset="0"/>
                      </a:endParaRPr>
                    </a:p>
                  </a:txBody>
                  <a:tcPr marL="73152" marR="73152">
                    <a:lnL w="0" cap="flat" cmpd="sng" algn="ctr">
                      <a:noFill/>
                    </a:lnL>
                    <a:lnR w="0" cap="flat" cmpd="sng" algn="ctr">
                      <a:noFill/>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7F7F4"/>
                    </a:solidFill>
                  </a:tcPr>
                </a:tc>
                <a:tc>
                  <a:txBody>
                    <a:bodyPr/>
                    <a:lstStyle/>
                    <a:p>
                      <a:pPr marL="0" indent="0">
                        <a:buNone/>
                      </a:pPr>
                      <a:r>
                        <a:rPr lang="en-US" sz="1300" dirty="0">
                          <a:solidFill>
                            <a:srgbClr val="16202B"/>
                          </a:solidFill>
                          <a:latin typeface="Arial" pitchFamily="34" charset="0"/>
                          <a:ea typeface="Arial" pitchFamily="34" charset="-122"/>
                          <a:cs typeface="Arial" pitchFamily="34" charset="-120"/>
                        </a:rPr>
                        <a:t>Långsamma anrop</a:t>
                      </a:r>
                      <a:endParaRPr lang="en-US" sz="1300" dirty="0">
                        <a:latin typeface="Arial" charset="0"/>
                        <a:ea typeface="Arial" charset="0"/>
                        <a:cs typeface="Arial" charset="0"/>
                      </a:endParaRPr>
                    </a:p>
                  </a:txBody>
                  <a:tcPr marL="73152" marR="73152">
                    <a:lnL w="0" cap="flat" cmpd="sng" algn="ctr">
                      <a:noFill/>
                    </a:lnL>
                    <a:lnR w="0" cap="flat" cmpd="sng" algn="ctr">
                      <a:noFill/>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7F7F4"/>
                    </a:solidFill>
                  </a:tcPr>
                </a:tc>
                <a:extLst>
                  <a:ext uri="{0D108BD9-81ED-4DB2-BD59-A6C34878D82A}">
                    <a16:rowId xmlns:a16="http://schemas.microsoft.com/office/drawing/2014/main" val="10005"/>
                  </a:ext>
                </a:extLst>
              </a:tr>
              <a:tr h="457200">
                <a:tc>
                  <a:txBody>
                    <a:bodyPr/>
                    <a:lstStyle/>
                    <a:p>
                      <a:pPr marL="0" indent="0">
                        <a:buNone/>
                      </a:pPr>
                      <a:r>
                        <a:rPr lang="en-US" sz="1300" dirty="0">
                          <a:solidFill>
                            <a:srgbClr val="16202B"/>
                          </a:solidFill>
                          <a:latin typeface="Arial" pitchFamily="34" charset="0"/>
                          <a:ea typeface="Arial" pitchFamily="34" charset="-122"/>
                          <a:cs typeface="Arial" pitchFamily="34" charset="-120"/>
                        </a:rPr>
                        <a:t>Logs</a:t>
                      </a:r>
                      <a:endParaRPr lang="en-US" sz="1300" dirty="0">
                        <a:latin typeface="Arial" charset="0"/>
                        <a:ea typeface="Arial" charset="0"/>
                        <a:cs typeface="Arial" charset="0"/>
                      </a:endParaRPr>
                    </a:p>
                  </a:txBody>
                  <a:tcPr marL="73152" marR="73152">
                    <a:lnL w="0" cap="flat" cmpd="sng" algn="ctr">
                      <a:noFill/>
                    </a:lnL>
                    <a:lnR w="0" cap="flat" cmpd="sng" algn="ctr">
                      <a:noFill/>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7F7F4"/>
                    </a:solidFill>
                  </a:tcPr>
                </a:tc>
                <a:tc>
                  <a:txBody>
                    <a:bodyPr/>
                    <a:lstStyle/>
                    <a:p>
                      <a:pPr marL="0" indent="0">
                        <a:buNone/>
                      </a:pPr>
                      <a:r>
                        <a:rPr lang="en-US" sz="1300" dirty="0">
                          <a:solidFill>
                            <a:srgbClr val="16202B"/>
                          </a:solidFill>
                          <a:latin typeface="Arial" pitchFamily="34" charset="0"/>
                          <a:ea typeface="Arial" pitchFamily="34" charset="-122"/>
                          <a:cs typeface="Arial" pitchFamily="34" charset="-120"/>
                        </a:rPr>
                        <a:t>Loggrader från Loki</a:t>
                      </a:r>
                      <a:endParaRPr lang="en-US" sz="1300" dirty="0">
                        <a:latin typeface="Arial" charset="0"/>
                        <a:ea typeface="Arial" charset="0"/>
                        <a:cs typeface="Arial" charset="0"/>
                      </a:endParaRPr>
                    </a:p>
                  </a:txBody>
                  <a:tcPr marL="73152" marR="73152">
                    <a:lnL w="0" cap="flat" cmpd="sng" algn="ctr">
                      <a:noFill/>
                    </a:lnL>
                    <a:lnR w="0" cap="flat" cmpd="sng" algn="ctr">
                      <a:noFill/>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7F7F4"/>
                    </a:solidFill>
                  </a:tcPr>
                </a:tc>
                <a:tc>
                  <a:txBody>
                    <a:bodyPr/>
                    <a:lstStyle/>
                    <a:p>
                      <a:pPr marL="0" indent="0">
                        <a:buNone/>
                      </a:pPr>
                      <a:r>
                        <a:rPr lang="en-US" sz="1300" dirty="0">
                          <a:solidFill>
                            <a:srgbClr val="16202B"/>
                          </a:solidFill>
                          <a:latin typeface="Arial" pitchFamily="34" charset="0"/>
                          <a:ea typeface="Arial" pitchFamily="34" charset="-122"/>
                          <a:cs typeface="Arial" pitchFamily="34" charset="-120"/>
                        </a:rPr>
                        <a:t>Loggar för telemetry-api</a:t>
                      </a:r>
                      <a:endParaRPr lang="en-US" sz="1300" dirty="0">
                        <a:latin typeface="Arial" charset="0"/>
                        <a:ea typeface="Arial" charset="0"/>
                        <a:cs typeface="Arial" charset="0"/>
                      </a:endParaRPr>
                    </a:p>
                  </a:txBody>
                  <a:tcPr marL="73152" marR="73152">
                    <a:lnL w="0" cap="flat" cmpd="sng" algn="ctr">
                      <a:noFill/>
                    </a:lnL>
                    <a:lnR w="0" cap="flat" cmpd="sng" algn="ctr">
                      <a:noFill/>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7F7F4"/>
                    </a:solidFill>
                  </a:tcPr>
                </a:tc>
                <a:extLst>
                  <a:ext uri="{0D108BD9-81ED-4DB2-BD59-A6C34878D82A}">
                    <a16:rowId xmlns:a16="http://schemas.microsoft.com/office/drawing/2014/main" val="10006"/>
                  </a:ext>
                </a:extLst>
              </a:tr>
              <a:tr h="457200">
                <a:tc>
                  <a:txBody>
                    <a:bodyPr/>
                    <a:lstStyle/>
                    <a:p>
                      <a:pPr marL="0" indent="0">
                        <a:buNone/>
                      </a:pPr>
                      <a:r>
                        <a:rPr lang="en-US" sz="1300" dirty="0">
                          <a:solidFill>
                            <a:srgbClr val="16202B"/>
                          </a:solidFill>
                          <a:latin typeface="Arial" pitchFamily="34" charset="0"/>
                          <a:ea typeface="Arial" pitchFamily="34" charset="-122"/>
                          <a:cs typeface="Arial" pitchFamily="34" charset="-120"/>
                        </a:rPr>
                        <a:t>Node graph</a:t>
                      </a:r>
                      <a:endParaRPr lang="en-US" sz="1300" dirty="0">
                        <a:latin typeface="Arial" charset="0"/>
                        <a:ea typeface="Arial" charset="0"/>
                        <a:cs typeface="Arial" charset="0"/>
                      </a:endParaRPr>
                    </a:p>
                  </a:txBody>
                  <a:tcPr marL="73152" marR="73152">
                    <a:lnL w="0" cap="flat" cmpd="sng" algn="ctr">
                      <a:noFill/>
                    </a:lnL>
                    <a:lnR w="0" cap="flat" cmpd="sng" algn="ctr">
                      <a:noFill/>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7F7F4"/>
                    </a:solidFill>
                  </a:tcPr>
                </a:tc>
                <a:tc>
                  <a:txBody>
                    <a:bodyPr/>
                    <a:lstStyle/>
                    <a:p>
                      <a:pPr marL="0" indent="0">
                        <a:buNone/>
                      </a:pPr>
                      <a:r>
                        <a:rPr lang="en-US" sz="1300" dirty="0">
                          <a:solidFill>
                            <a:srgbClr val="16202B"/>
                          </a:solidFill>
                          <a:latin typeface="Arial" pitchFamily="34" charset="0"/>
                          <a:ea typeface="Arial" pitchFamily="34" charset="-122"/>
                          <a:cs typeface="Arial" pitchFamily="34" charset="-120"/>
                        </a:rPr>
                        <a:t>Vem anropar vem</a:t>
                      </a:r>
                      <a:endParaRPr lang="en-US" sz="1300" dirty="0">
                        <a:latin typeface="Arial" charset="0"/>
                        <a:ea typeface="Arial" charset="0"/>
                        <a:cs typeface="Arial" charset="0"/>
                      </a:endParaRPr>
                    </a:p>
                  </a:txBody>
                  <a:tcPr marL="73152" marR="73152">
                    <a:lnL w="0" cap="flat" cmpd="sng" algn="ctr">
                      <a:noFill/>
                    </a:lnL>
                    <a:lnR w="0" cap="flat" cmpd="sng" algn="ctr">
                      <a:noFill/>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7F7F4"/>
                    </a:solidFill>
                  </a:tcPr>
                </a:tc>
                <a:tc>
                  <a:txBody>
                    <a:bodyPr/>
                    <a:lstStyle/>
                    <a:p>
                      <a:pPr marL="0" indent="0">
                        <a:buNone/>
                      </a:pPr>
                      <a:r>
                        <a:rPr lang="en-US" sz="1300" dirty="0">
                          <a:solidFill>
                            <a:srgbClr val="16202B"/>
                          </a:solidFill>
                          <a:latin typeface="Arial" pitchFamily="34" charset="0"/>
                          <a:ea typeface="Arial" pitchFamily="34" charset="-122"/>
                          <a:cs typeface="Arial" pitchFamily="34" charset="-120"/>
                        </a:rPr>
                        <a:t>Service graph från Tempo</a:t>
                      </a:r>
                      <a:endParaRPr lang="en-US" sz="1300" dirty="0">
                        <a:latin typeface="Arial" charset="0"/>
                        <a:ea typeface="Arial" charset="0"/>
                        <a:cs typeface="Arial" charset="0"/>
                      </a:endParaRPr>
                    </a:p>
                  </a:txBody>
                  <a:tcPr marL="73152" marR="73152">
                    <a:lnL w="0" cap="flat" cmpd="sng" algn="ctr">
                      <a:noFill/>
                    </a:lnL>
                    <a:lnR w="0" cap="flat" cmpd="sng" algn="ctr">
                      <a:noFill/>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7F7F4"/>
                    </a:solidFill>
                  </a:tcPr>
                </a:tc>
                <a:extLst>
                  <a:ext uri="{0D108BD9-81ED-4DB2-BD59-A6C34878D82A}">
                    <a16:rowId xmlns:a16="http://schemas.microsoft.com/office/drawing/2014/main" val="10007"/>
                  </a:ext>
                </a:extLst>
              </a:tr>
            </a:tbl>
          </a:graphicData>
        </a:graphic>
      </p:graphicFrame>
      <p:sp>
        <p:nvSpPr>
          <p:cNvPr id="5" name="Text 2"/>
          <p:cNvSpPr txBox="1"/>
          <p:nvPr/>
        </p:nvSpPr>
        <p:spPr>
          <a:xfrm>
            <a:off x="548640" y="5440680"/>
            <a:ext cx="11094415" cy="457200"/>
          </a:xfrm>
          <a:prstGeom prst="rect">
            <a:avLst/>
          </a:prstGeom>
          <a:noFill/>
          <a:ln/>
        </p:spPr>
        <p:txBody>
          <a:bodyPr wrap="square" lIns="0" tIns="0" rIns="0" bIns="0" rtlCol="0" anchor="t"/>
          <a:lstStyle/>
          <a:p>
            <a:pPr marL="0" indent="0">
              <a:lnSpc>
                <a:spcPct val="120000"/>
              </a:lnSpc>
              <a:buNone/>
            </a:pPr>
            <a:r>
              <a:rPr lang="en-US" sz="1400" dirty="0">
                <a:solidFill>
                  <a:srgbClr val="6A7179"/>
                </a:solidFill>
                <a:latin typeface="Arial" pitchFamily="34" charset="0"/>
                <a:ea typeface="Arial" pitchFamily="34" charset="-122"/>
                <a:cs typeface="Arial" pitchFamily="34" charset="-120"/>
              </a:rPr>
              <a:t>Fel visualisering är det vanligaste felet: en räknare i en Stat utan rate visar bara ett stort, meningslöst tal.</a:t>
            </a:r>
            <a:endParaRPr lang="en-US" sz="1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F1F33"/>
        </a:solidFill>
        <a:effectLst/>
      </p:bgPr>
    </p:bg>
    <p:spTree>
      <p:nvGrpSpPr>
        <p:cNvPr id="1" name=""/>
        <p:cNvGrpSpPr/>
        <p:nvPr/>
      </p:nvGrpSpPr>
      <p:grpSpPr>
        <a:xfrm>
          <a:off x="0" y="0"/>
          <a:ext cx="0" cy="0"/>
          <a:chOff x="0" y="0"/>
          <a:chExt cx="0" cy="0"/>
        </a:xfrm>
      </p:grpSpPr>
      <p:sp>
        <p:nvSpPr>
          <p:cNvPr id="2" name="Text 0"/>
          <p:cNvSpPr txBox="1"/>
          <p:nvPr/>
        </p:nvSpPr>
        <p:spPr>
          <a:xfrm>
            <a:off x="502920" y="1188720"/>
            <a:ext cx="4572000" cy="1920240"/>
          </a:xfrm>
          <a:prstGeom prst="rect">
            <a:avLst/>
          </a:prstGeom>
          <a:noFill/>
          <a:ln/>
        </p:spPr>
        <p:txBody>
          <a:bodyPr wrap="square" lIns="0" tIns="0" rIns="0" bIns="0" rtlCol="0" anchor="ctr"/>
          <a:lstStyle/>
          <a:p>
            <a:pPr marL="0" indent="0">
              <a:buNone/>
            </a:pPr>
            <a:r>
              <a:rPr lang="en-US" sz="15000" b="1" dirty="0">
                <a:solidFill>
                  <a:srgbClr val="16294A"/>
                </a:solidFill>
                <a:latin typeface="Calibri" pitchFamily="34" charset="0"/>
                <a:ea typeface="Calibri" pitchFamily="34" charset="-122"/>
                <a:cs typeface="Calibri" pitchFamily="34" charset="-120"/>
              </a:rPr>
              <a:t>05</a:t>
            </a:r>
            <a:endParaRPr lang="en-US" sz="15000" dirty="0"/>
          </a:p>
        </p:txBody>
      </p:sp>
      <p:sp>
        <p:nvSpPr>
          <p:cNvPr id="3" name="Text 1"/>
          <p:cNvSpPr txBox="1"/>
          <p:nvPr/>
        </p:nvSpPr>
        <p:spPr>
          <a:xfrm>
            <a:off x="548640" y="3063240"/>
            <a:ext cx="11094415" cy="822960"/>
          </a:xfrm>
          <a:prstGeom prst="rect">
            <a:avLst/>
          </a:prstGeom>
          <a:noFill/>
          <a:ln/>
        </p:spPr>
        <p:txBody>
          <a:bodyPr wrap="square" lIns="0" tIns="0" rIns="0" bIns="0" rtlCol="0" anchor="ctr"/>
          <a:lstStyle/>
          <a:p>
            <a:pPr marL="0" indent="0">
              <a:buNone/>
            </a:pPr>
            <a:r>
              <a:rPr lang="en-US" sz="5200" b="1" dirty="0">
                <a:solidFill>
                  <a:srgbClr val="F5F7FA"/>
                </a:solidFill>
                <a:latin typeface="Calibri" pitchFamily="34" charset="0"/>
                <a:ea typeface="Calibri" pitchFamily="34" charset="-122"/>
                <a:cs typeface="Calibri" pitchFamily="34" charset="-120"/>
              </a:rPr>
              <a:t>Fler mätpunkter</a:t>
            </a:r>
            <a:endParaRPr lang="en-US" sz="5200" dirty="0"/>
          </a:p>
        </p:txBody>
      </p:sp>
      <p:sp>
        <p:nvSpPr>
          <p:cNvPr id="4" name="Text 2"/>
          <p:cNvSpPr txBox="1"/>
          <p:nvPr/>
        </p:nvSpPr>
        <p:spPr>
          <a:xfrm>
            <a:off x="548640" y="3977640"/>
            <a:ext cx="9144000" cy="457200"/>
          </a:xfrm>
          <a:prstGeom prst="rect">
            <a:avLst/>
          </a:prstGeom>
          <a:noFill/>
          <a:ln/>
        </p:spPr>
        <p:txBody>
          <a:bodyPr wrap="square" lIns="0" tIns="0" rIns="0" bIns="0" rtlCol="0" anchor="t"/>
          <a:lstStyle/>
          <a:p>
            <a:pPr marL="0" indent="0">
              <a:lnSpc>
                <a:spcPct val="120000"/>
              </a:lnSpc>
              <a:buNone/>
            </a:pPr>
            <a:r>
              <a:rPr lang="en-US" sz="1800" dirty="0">
                <a:solidFill>
                  <a:srgbClr val="B9C4D1"/>
                </a:solidFill>
                <a:latin typeface="Arial" pitchFamily="34" charset="0"/>
                <a:ea typeface="Arial" pitchFamily="34" charset="-122"/>
                <a:cs typeface="Arial" pitchFamily="34" charset="-120"/>
              </a:rPr>
              <a:t>Från ett histogram till ett mätbart API</a:t>
            </a:r>
            <a:endParaRPr lang="en-US" sz="1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7F7F4"/>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marL="0" indent="0">
              <a:buNone/>
            </a:pPr>
            <a:r>
              <a:rPr lang="en-US" sz="1200" b="1" kern="0" spc="200" dirty="0">
                <a:solidFill>
                  <a:srgbClr val="3762FF"/>
                </a:solidFill>
                <a:latin typeface="Arial" pitchFamily="34" charset="0"/>
                <a:ea typeface="Arial" pitchFamily="34" charset="-122"/>
                <a:cs typeface="Arial" pitchFamily="34" charset="-120"/>
              </a:rPr>
              <a:t>MÄTPUNKTER · TELEMETRYAPI</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marL="0" indent="0">
              <a:buNone/>
            </a:pPr>
            <a:r>
              <a:rPr lang="en-US" sz="3000" b="1" dirty="0">
                <a:solidFill>
                  <a:srgbClr val="16202B"/>
                </a:solidFill>
                <a:latin typeface="Calibri" pitchFamily="34" charset="0"/>
                <a:ea typeface="Calibri" pitchFamily="34" charset="-122"/>
                <a:cs typeface="Calibri" pitchFamily="34" charset="-120"/>
              </a:rPr>
              <a:t>Ett histogram för alla operationer</a:t>
            </a:r>
            <a:endParaRPr lang="en-US" sz="3000" dirty="0"/>
          </a:p>
        </p:txBody>
      </p:sp>
      <p:sp>
        <p:nvSpPr>
          <p:cNvPr id="4" name="Shape 2"/>
          <p:cNvSpPr/>
          <p:nvPr/>
        </p:nvSpPr>
        <p:spPr>
          <a:xfrm>
            <a:off x="548640" y="1554480"/>
            <a:ext cx="6766560" cy="4297680"/>
          </a:xfrm>
          <a:prstGeom prst="roundRect">
            <a:avLst>
              <a:gd name="adj" fmla="val 1277"/>
            </a:avLst>
          </a:prstGeom>
          <a:solidFill>
            <a:srgbClr val="0F1F33"/>
          </a:solidFill>
          <a:ln w="12700">
            <a:solidFill>
              <a:srgbClr val="0F1F33"/>
            </a:solidFill>
            <a:prstDash val="solid"/>
          </a:ln>
          <a:effectLst>
            <a:outerShdw blurRad="101600" dist="25400" dir="5400000" algn="bl" rotWithShape="0">
              <a:srgbClr val="000000">
                <a:alpha val="10000"/>
              </a:srgbClr>
            </a:outerShdw>
          </a:effectLst>
        </p:spPr>
      </p:sp>
      <p:sp>
        <p:nvSpPr>
          <p:cNvPr id="5" name="Shape 3"/>
          <p:cNvSpPr/>
          <p:nvPr/>
        </p:nvSpPr>
        <p:spPr>
          <a:xfrm>
            <a:off x="749808" y="1719072"/>
            <a:ext cx="109728" cy="109728"/>
          </a:xfrm>
          <a:prstGeom prst="ellipse">
            <a:avLst/>
          </a:prstGeom>
          <a:solidFill>
            <a:srgbClr val="D64545"/>
          </a:solidFill>
          <a:ln w="12700">
            <a:solidFill>
              <a:srgbClr val="D64545"/>
            </a:solidFill>
            <a:prstDash val="solid"/>
          </a:ln>
        </p:spPr>
      </p:sp>
      <p:sp>
        <p:nvSpPr>
          <p:cNvPr id="6" name="Shape 4"/>
          <p:cNvSpPr/>
          <p:nvPr/>
        </p:nvSpPr>
        <p:spPr>
          <a:xfrm>
            <a:off x="932688" y="1719072"/>
            <a:ext cx="109728" cy="109728"/>
          </a:xfrm>
          <a:prstGeom prst="ellipse">
            <a:avLst/>
          </a:prstGeom>
          <a:solidFill>
            <a:srgbClr val="FFB020"/>
          </a:solidFill>
          <a:ln w="12700">
            <a:solidFill>
              <a:srgbClr val="FFB020"/>
            </a:solidFill>
            <a:prstDash val="solid"/>
          </a:ln>
        </p:spPr>
      </p:sp>
      <p:sp>
        <p:nvSpPr>
          <p:cNvPr id="7" name="Shape 5"/>
          <p:cNvSpPr/>
          <p:nvPr/>
        </p:nvSpPr>
        <p:spPr>
          <a:xfrm>
            <a:off x="1115568" y="1719072"/>
            <a:ext cx="109728" cy="109728"/>
          </a:xfrm>
          <a:prstGeom prst="ellipse">
            <a:avLst/>
          </a:prstGeom>
          <a:solidFill>
            <a:srgbClr val="3CB371"/>
          </a:solidFill>
          <a:ln w="12700">
            <a:solidFill>
              <a:srgbClr val="3CB371"/>
            </a:solidFill>
            <a:prstDash val="solid"/>
          </a:ln>
        </p:spPr>
      </p:sp>
      <p:sp>
        <p:nvSpPr>
          <p:cNvPr id="8" name="Text 6"/>
          <p:cNvSpPr txBox="1"/>
          <p:nvPr/>
        </p:nvSpPr>
        <p:spPr>
          <a:xfrm>
            <a:off x="1371600" y="1645920"/>
            <a:ext cx="5760720" cy="256032"/>
          </a:xfrm>
          <a:prstGeom prst="rect">
            <a:avLst/>
          </a:prstGeom>
          <a:noFill/>
          <a:ln/>
        </p:spPr>
        <p:txBody>
          <a:bodyPr wrap="square" lIns="0" tIns="0" rIns="0" bIns="0" rtlCol="0" anchor="ctr"/>
          <a:lstStyle/>
          <a:p>
            <a:pPr marL="0" indent="0">
              <a:buNone/>
            </a:pPr>
            <a:r>
              <a:rPr lang="en-US" sz="1100" dirty="0">
                <a:solidFill>
                  <a:srgbClr val="B9C4D1"/>
                </a:solidFill>
                <a:latin typeface="Courier New" pitchFamily="34" charset="0"/>
                <a:ea typeface="Courier New" pitchFamily="34" charset="-122"/>
                <a:cs typeface="Courier New" pitchFamily="34" charset="-120"/>
              </a:rPr>
              <a:t>TelemetryApi</a:t>
            </a:r>
            <a:endParaRPr lang="en-US" sz="1100" dirty="0"/>
          </a:p>
        </p:txBody>
      </p:sp>
      <p:sp>
        <p:nvSpPr>
          <p:cNvPr id="9" name="Text 7"/>
          <p:cNvSpPr txBox="1"/>
          <p:nvPr/>
        </p:nvSpPr>
        <p:spPr>
          <a:xfrm>
            <a:off x="777240" y="2011680"/>
            <a:ext cx="6309360" cy="3703320"/>
          </a:xfrm>
          <a:prstGeom prst="rect">
            <a:avLst/>
          </a:prstGeom>
          <a:noFill/>
          <a:ln/>
        </p:spPr>
        <p:txBody>
          <a:bodyPr wrap="square" lIns="0" tIns="0" rIns="0" bIns="0" rtlCol="0" anchor="t"/>
          <a:lstStyle/>
          <a:p>
            <a:pPr marL="0" indent="0">
              <a:lnSpc>
                <a:spcPct val="110000"/>
              </a:lnSpc>
              <a:buNone/>
            </a:pPr>
            <a:r>
              <a:rPr lang="en-US" sz="1200" i="1" dirty="0">
                <a:solidFill>
                  <a:srgbClr val="B9C4D1"/>
                </a:solidFill>
                <a:latin typeface="Courier New" pitchFamily="34" charset="0"/>
                <a:ea typeface="Courier New" pitchFamily="34" charset="-122"/>
                <a:cs typeface="Courier New" pitchFamily="34" charset="-120"/>
              </a:rPr>
              <a:t>// CustomerEndpoints.cs</a:t>
            </a:r>
            <a:endParaRPr lang="en-US" sz="1200" dirty="0"/>
          </a:p>
          <a:p>
            <a:pPr marL="0" indent="0">
              <a:lnSpc>
                <a:spcPct val="110000"/>
              </a:lnSpc>
              <a:buNone/>
            </a:pPr>
            <a:r>
              <a:rPr lang="en-US" sz="1200" dirty="0">
                <a:solidFill>
                  <a:srgbClr val="DDE3EA"/>
                </a:solidFill>
                <a:latin typeface="Courier New" pitchFamily="34" charset="0"/>
                <a:ea typeface="Courier New" pitchFamily="34" charset="-122"/>
                <a:cs typeface="Courier New" pitchFamily="34" charset="-120"/>
              </a:rPr>
              <a:t>using var op = telemetry.Measure("update");</a:t>
            </a:r>
            <a:endParaRPr lang="en-US" sz="1200" dirty="0"/>
          </a:p>
          <a:p>
            <a:pPr marL="0" indent="0">
              <a:lnSpc>
                <a:spcPct val="110000"/>
              </a:lnSpc>
              <a:buNone/>
            </a:pPr>
            <a:r>
              <a:rPr lang="en-US" sz="1200" dirty="0">
                <a:solidFill>
                  <a:srgbClr val="DDE3EA"/>
                </a:solidFill>
                <a:latin typeface="Courier New" pitchFamily="34" charset="0"/>
                <a:ea typeface="Courier New" pitchFamily="34" charset="-122"/>
                <a:cs typeface="Courier New" pitchFamily="34" charset="-120"/>
              </a:rPr>
              <a:t>if (customer is null)</a:t>
            </a:r>
            <a:endParaRPr lang="en-US" sz="1200" dirty="0"/>
          </a:p>
          <a:p>
            <a:pPr marL="0" indent="0">
              <a:lnSpc>
                <a:spcPct val="110000"/>
              </a:lnSpc>
              <a:buNone/>
            </a:pPr>
            <a:r>
              <a:rPr lang="en-US" sz="1200" dirty="0">
                <a:solidFill>
                  <a:srgbClr val="DDE3EA"/>
                </a:solidFill>
                <a:latin typeface="Courier New" pitchFamily="34" charset="0"/>
                <a:ea typeface="Courier New" pitchFamily="34" charset="-122"/>
                <a:cs typeface="Courier New" pitchFamily="34" charset="-120"/>
              </a:rPr>
              <a:t>{</a:t>
            </a:r>
            <a:endParaRPr lang="en-US" sz="1200" dirty="0"/>
          </a:p>
          <a:p>
            <a:pPr marL="0" indent="0">
              <a:lnSpc>
                <a:spcPct val="110000"/>
              </a:lnSpc>
              <a:buNone/>
            </a:pPr>
            <a:r>
              <a:rPr lang="en-US" sz="1200" dirty="0">
                <a:solidFill>
                  <a:srgbClr val="DDE3EA"/>
                </a:solidFill>
                <a:latin typeface="Courier New" pitchFamily="34" charset="0"/>
                <a:ea typeface="Courier New" pitchFamily="34" charset="-122"/>
                <a:cs typeface="Courier New" pitchFamily="34" charset="-120"/>
              </a:rPr>
              <a:t>    op.Outcome = "not_found";</a:t>
            </a:r>
            <a:endParaRPr lang="en-US" sz="1200" dirty="0"/>
          </a:p>
          <a:p>
            <a:pPr marL="0" indent="0">
              <a:lnSpc>
                <a:spcPct val="110000"/>
              </a:lnSpc>
              <a:buNone/>
            </a:pPr>
            <a:r>
              <a:rPr lang="en-US" sz="1200" dirty="0">
                <a:solidFill>
                  <a:srgbClr val="DDE3EA"/>
                </a:solidFill>
                <a:latin typeface="Courier New" pitchFamily="34" charset="0"/>
                <a:ea typeface="Courier New" pitchFamily="34" charset="-122"/>
                <a:cs typeface="Courier New" pitchFamily="34" charset="-120"/>
              </a:rPr>
              <a:t>    return TypedResults.NotFound();</a:t>
            </a:r>
            <a:endParaRPr lang="en-US" sz="1200" dirty="0"/>
          </a:p>
          <a:p>
            <a:pPr marL="0" indent="0">
              <a:lnSpc>
                <a:spcPct val="110000"/>
              </a:lnSpc>
              <a:buNone/>
            </a:pPr>
            <a:r>
              <a:rPr lang="en-US" sz="1200" dirty="0">
                <a:solidFill>
                  <a:srgbClr val="DDE3EA"/>
                </a:solidFill>
                <a:latin typeface="Courier New" pitchFamily="34" charset="0"/>
                <a:ea typeface="Courier New" pitchFamily="34" charset="-122"/>
                <a:cs typeface="Courier New" pitchFamily="34" charset="-120"/>
              </a:rPr>
              <a:t>}</a:t>
            </a:r>
            <a:endParaRPr lang="en-US" sz="1200" dirty="0"/>
          </a:p>
          <a:p>
            <a:pPr marL="0" indent="0">
              <a:lnSpc>
                <a:spcPct val="110000"/>
              </a:lnSpc>
              <a:buNone/>
            </a:pPr>
            <a:r>
              <a:rPr lang="en-US" sz="1200" dirty="0">
                <a:solidFill>
                  <a:srgbClr val="DDE3EA"/>
                </a:solidFill>
                <a:latin typeface="Courier New" pitchFamily="34" charset="0"/>
                <a:ea typeface="Courier New" pitchFamily="34" charset="-122"/>
                <a:cs typeface="Courier New" pitchFamily="34" charset="-120"/>
              </a:rPr>
              <a:t> </a:t>
            </a:r>
            <a:endParaRPr lang="en-US" sz="1200" dirty="0"/>
          </a:p>
          <a:p>
            <a:pPr marL="0" indent="0">
              <a:lnSpc>
                <a:spcPct val="110000"/>
              </a:lnSpc>
              <a:buNone/>
            </a:pPr>
            <a:r>
              <a:rPr lang="en-US" sz="1200" i="1" dirty="0">
                <a:solidFill>
                  <a:srgbClr val="B9C4D1"/>
                </a:solidFill>
                <a:latin typeface="Courier New" pitchFamily="34" charset="0"/>
                <a:ea typeface="Courier New" pitchFamily="34" charset="-122"/>
                <a:cs typeface="Courier New" pitchFamily="34" charset="-120"/>
              </a:rPr>
              <a:t>// CustomerTelemetry.Operation.Dispose()</a:t>
            </a:r>
            <a:endParaRPr lang="en-US" sz="1200" dirty="0"/>
          </a:p>
          <a:p>
            <a:pPr marL="0" indent="0">
              <a:lnSpc>
                <a:spcPct val="110000"/>
              </a:lnSpc>
              <a:buNone/>
            </a:pPr>
            <a:r>
              <a:rPr lang="en-US" sz="1200" dirty="0">
                <a:solidFill>
                  <a:srgbClr val="DDE3EA"/>
                </a:solidFill>
                <a:latin typeface="Courier New" pitchFamily="34" charset="0"/>
                <a:ea typeface="Courier New" pitchFamily="34" charset="-122"/>
                <a:cs typeface="Courier New" pitchFamily="34" charset="-120"/>
              </a:rPr>
              <a:t>InProgress.Add(-1, operation);</a:t>
            </a:r>
            <a:endParaRPr lang="en-US" sz="1200" dirty="0"/>
          </a:p>
          <a:p>
            <a:pPr marL="0" indent="0">
              <a:lnSpc>
                <a:spcPct val="110000"/>
              </a:lnSpc>
              <a:buNone/>
            </a:pPr>
            <a:r>
              <a:rPr lang="en-US" sz="1200" dirty="0">
                <a:solidFill>
                  <a:srgbClr val="DDE3EA"/>
                </a:solidFill>
                <a:latin typeface="Courier New" pitchFamily="34" charset="0"/>
                <a:ea typeface="Courier New" pitchFamily="34" charset="-122"/>
                <a:cs typeface="Courier New" pitchFamily="34" charset="-120"/>
              </a:rPr>
              <a:t>RequestDuration.Record(elapsedMs, operation, outcome);</a:t>
            </a:r>
            <a:endParaRPr lang="en-US" sz="1200" dirty="0"/>
          </a:p>
        </p:txBody>
      </p:sp>
      <p:sp>
        <p:nvSpPr>
          <p:cNvPr id="10" name="Shape 8"/>
          <p:cNvSpPr/>
          <p:nvPr/>
        </p:nvSpPr>
        <p:spPr>
          <a:xfrm>
            <a:off x="7680960" y="1554480"/>
            <a:ext cx="3962095" cy="1325880"/>
          </a:xfrm>
          <a:prstGeom prst="roundRect">
            <a:avLst>
              <a:gd name="adj" fmla="val 4138"/>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11" name="Text 9"/>
          <p:cNvSpPr txBox="1"/>
          <p:nvPr/>
        </p:nvSpPr>
        <p:spPr>
          <a:xfrm>
            <a:off x="7882128" y="1755648"/>
            <a:ext cx="3559759" cy="320040"/>
          </a:xfrm>
          <a:prstGeom prst="rect">
            <a:avLst/>
          </a:prstGeom>
          <a:noFill/>
          <a:ln/>
        </p:spPr>
        <p:txBody>
          <a:bodyPr wrap="square" lIns="0" tIns="0" rIns="0" bIns="0" rtlCol="0" anchor="t"/>
          <a:lstStyle/>
          <a:p>
            <a:pPr marL="0" indent="0">
              <a:buNone/>
            </a:pPr>
            <a:r>
              <a:rPr lang="en-US" sz="1400" b="1" dirty="0">
                <a:solidFill>
                  <a:srgbClr val="16202B"/>
                </a:solidFill>
                <a:latin typeface="Calibri" pitchFamily="34" charset="0"/>
                <a:ea typeface="Calibri" pitchFamily="34" charset="-122"/>
                <a:cs typeface="Calibri" pitchFamily="34" charset="-120"/>
              </a:rPr>
              <a:t>using + Dispose</a:t>
            </a:r>
            <a:endParaRPr lang="en-US" sz="1400" dirty="0"/>
          </a:p>
        </p:txBody>
      </p:sp>
      <p:sp>
        <p:nvSpPr>
          <p:cNvPr id="12" name="Text 10"/>
          <p:cNvSpPr txBox="1"/>
          <p:nvPr/>
        </p:nvSpPr>
        <p:spPr>
          <a:xfrm>
            <a:off x="7882128" y="2139696"/>
            <a:ext cx="3559759" cy="585216"/>
          </a:xfrm>
          <a:prstGeom prst="rect">
            <a:avLst/>
          </a:prstGeom>
          <a:noFill/>
          <a:ln/>
        </p:spPr>
        <p:txBody>
          <a:bodyPr wrap="square" lIns="0" tIns="0" rIns="0" bIns="0" rtlCol="0" anchor="t"/>
          <a:lstStyle/>
          <a:p>
            <a:pPr marL="0" indent="0">
              <a:lnSpc>
                <a:spcPct val="115000"/>
              </a:lnSpc>
              <a:buNone/>
            </a:pPr>
            <a:r>
              <a:rPr lang="en-US" sz="1200" dirty="0">
                <a:solidFill>
                  <a:srgbClr val="4A5568"/>
                </a:solidFill>
                <a:latin typeface="Arial" pitchFamily="34" charset="0"/>
                <a:ea typeface="Arial" pitchFamily="34" charset="-122"/>
                <a:cs typeface="Arial" pitchFamily="34" charset="-120"/>
              </a:rPr>
              <a:t>Tiden mäts automatiskt när metoden lämnas.</a:t>
            </a:r>
            <a:endParaRPr lang="en-US" sz="1200" dirty="0"/>
          </a:p>
        </p:txBody>
      </p:sp>
      <p:sp>
        <p:nvSpPr>
          <p:cNvPr id="13" name="Shape 11"/>
          <p:cNvSpPr/>
          <p:nvPr/>
        </p:nvSpPr>
        <p:spPr>
          <a:xfrm>
            <a:off x="7680960" y="3017520"/>
            <a:ext cx="3962095" cy="1325880"/>
          </a:xfrm>
          <a:prstGeom prst="roundRect">
            <a:avLst>
              <a:gd name="adj" fmla="val 4138"/>
            </a:avLst>
          </a:prstGeom>
          <a:solidFill>
            <a:srgbClr val="3762FF"/>
          </a:solidFill>
          <a:ln w="12700">
            <a:solidFill>
              <a:srgbClr val="3762FF"/>
            </a:solidFill>
            <a:prstDash val="solid"/>
          </a:ln>
        </p:spPr>
      </p:sp>
      <p:sp>
        <p:nvSpPr>
          <p:cNvPr id="14" name="Text 12"/>
          <p:cNvSpPr txBox="1"/>
          <p:nvPr/>
        </p:nvSpPr>
        <p:spPr>
          <a:xfrm>
            <a:off x="7882128" y="3218688"/>
            <a:ext cx="3559759" cy="320040"/>
          </a:xfrm>
          <a:prstGeom prst="rect">
            <a:avLst/>
          </a:prstGeom>
          <a:noFill/>
          <a:ln/>
        </p:spPr>
        <p:txBody>
          <a:bodyPr wrap="square" lIns="0" tIns="0" rIns="0" bIns="0" rtlCol="0" anchor="t"/>
          <a:lstStyle/>
          <a:p>
            <a:pPr marL="0" indent="0">
              <a:buNone/>
            </a:pPr>
            <a:r>
              <a:rPr lang="en-US" sz="1400" b="1" dirty="0">
                <a:solidFill>
                  <a:srgbClr val="FFFFFF"/>
                </a:solidFill>
                <a:latin typeface="Calibri" pitchFamily="34" charset="0"/>
                <a:ea typeface="Calibri" pitchFamily="34" charset="-122"/>
                <a:cs typeface="Calibri" pitchFamily="34" charset="-120"/>
              </a:rPr>
              <a:t>Två taggar</a:t>
            </a:r>
            <a:endParaRPr lang="en-US" sz="1400" dirty="0"/>
          </a:p>
        </p:txBody>
      </p:sp>
      <p:sp>
        <p:nvSpPr>
          <p:cNvPr id="15" name="Text 13"/>
          <p:cNvSpPr txBox="1"/>
          <p:nvPr/>
        </p:nvSpPr>
        <p:spPr>
          <a:xfrm>
            <a:off x="7882128" y="3602736"/>
            <a:ext cx="3559759" cy="585216"/>
          </a:xfrm>
          <a:prstGeom prst="rect">
            <a:avLst/>
          </a:prstGeom>
          <a:noFill/>
          <a:ln/>
        </p:spPr>
        <p:txBody>
          <a:bodyPr wrap="square" lIns="0" tIns="0" rIns="0" bIns="0" rtlCol="0" anchor="t"/>
          <a:lstStyle/>
          <a:p>
            <a:pPr marL="0" indent="0">
              <a:lnSpc>
                <a:spcPct val="115000"/>
              </a:lnSpc>
              <a:buNone/>
            </a:pPr>
            <a:r>
              <a:rPr lang="en-US" sz="1200" dirty="0">
                <a:solidFill>
                  <a:srgbClr val="FFFFFF"/>
                </a:solidFill>
                <a:latin typeface="Arial" pitchFamily="34" charset="0"/>
                <a:ea typeface="Arial" pitchFamily="34" charset="-122"/>
                <a:cs typeface="Arial" pitchFamily="34" charset="-120"/>
              </a:rPr>
              <a:t>operation och outcome - delas upp i Grafana.</a:t>
            </a:r>
            <a:endParaRPr lang="en-US" sz="1200" dirty="0"/>
          </a:p>
        </p:txBody>
      </p:sp>
      <p:sp>
        <p:nvSpPr>
          <p:cNvPr id="16" name="Shape 14"/>
          <p:cNvSpPr/>
          <p:nvPr/>
        </p:nvSpPr>
        <p:spPr>
          <a:xfrm>
            <a:off x="7680960" y="4480560"/>
            <a:ext cx="3962095" cy="1371600"/>
          </a:xfrm>
          <a:prstGeom prst="roundRect">
            <a:avLst>
              <a:gd name="adj" fmla="val 4000"/>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17" name="Text 15"/>
          <p:cNvSpPr txBox="1"/>
          <p:nvPr/>
        </p:nvSpPr>
        <p:spPr>
          <a:xfrm>
            <a:off x="7882128" y="4681728"/>
            <a:ext cx="3559759" cy="320040"/>
          </a:xfrm>
          <a:prstGeom prst="rect">
            <a:avLst/>
          </a:prstGeom>
          <a:noFill/>
          <a:ln/>
        </p:spPr>
        <p:txBody>
          <a:bodyPr wrap="square" lIns="0" tIns="0" rIns="0" bIns="0" rtlCol="0" anchor="t"/>
          <a:lstStyle/>
          <a:p>
            <a:pPr marL="0" indent="0">
              <a:buNone/>
            </a:pPr>
            <a:r>
              <a:rPr lang="en-US" sz="1400" b="1" dirty="0">
                <a:solidFill>
                  <a:srgbClr val="16202B"/>
                </a:solidFill>
                <a:latin typeface="Calibri" pitchFamily="34" charset="0"/>
                <a:ea typeface="Calibri" pitchFamily="34" charset="-122"/>
                <a:cs typeface="Calibri" pitchFamily="34" charset="-120"/>
              </a:rPr>
              <a:t>Samma i /demo/slow</a:t>
            </a:r>
            <a:endParaRPr lang="en-US" sz="1400" dirty="0"/>
          </a:p>
        </p:txBody>
      </p:sp>
      <p:sp>
        <p:nvSpPr>
          <p:cNvPr id="18" name="Text 16"/>
          <p:cNvSpPr txBox="1"/>
          <p:nvPr/>
        </p:nvSpPr>
        <p:spPr>
          <a:xfrm>
            <a:off x="7882128" y="5065776"/>
            <a:ext cx="3559759" cy="630936"/>
          </a:xfrm>
          <a:prstGeom prst="rect">
            <a:avLst/>
          </a:prstGeom>
          <a:noFill/>
          <a:ln/>
        </p:spPr>
        <p:txBody>
          <a:bodyPr wrap="square" lIns="0" tIns="0" rIns="0" bIns="0" rtlCol="0" anchor="t"/>
          <a:lstStyle/>
          <a:p>
            <a:pPr marL="0" indent="0">
              <a:lnSpc>
                <a:spcPct val="115000"/>
              </a:lnSpc>
              <a:buNone/>
            </a:pPr>
            <a:r>
              <a:rPr lang="en-US" sz="1200" dirty="0">
                <a:solidFill>
                  <a:srgbClr val="4A5568"/>
                </a:solidFill>
                <a:latin typeface="Arial" pitchFamily="34" charset="0"/>
                <a:ea typeface="Arial" pitchFamily="34" charset="-122"/>
                <a:cs typeface="Arial" pitchFamily="34" charset="-120"/>
              </a:rPr>
              <a:t>Ditt ursprungliga Stopwatch-histogram, nu för alla.</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F1F33"/>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marL="0" indent="0">
              <a:buNone/>
            </a:pPr>
            <a:r>
              <a:rPr lang="en-US" sz="1200" b="1" kern="0" spc="200" dirty="0">
                <a:solidFill>
                  <a:srgbClr val="7C9CFF"/>
                </a:solidFill>
                <a:latin typeface="Arial" pitchFamily="34" charset="0"/>
                <a:ea typeface="Arial" pitchFamily="34" charset="-122"/>
                <a:cs typeface="Arial" pitchFamily="34" charset="-120"/>
              </a:rPr>
              <a:t>MÄTPUNKTER · INSTRUMENTEN</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marL="0" indent="0">
              <a:buNone/>
            </a:pPr>
            <a:r>
              <a:rPr lang="en-US" sz="3000" b="1" dirty="0">
                <a:solidFill>
                  <a:srgbClr val="F5F7FA"/>
                </a:solidFill>
                <a:latin typeface="Calibri" pitchFamily="34" charset="0"/>
                <a:ea typeface="Calibri" pitchFamily="34" charset="-122"/>
                <a:cs typeface="Calibri" pitchFamily="34" charset="-120"/>
              </a:rPr>
              <a:t>Sex egna mätpunkter i TelemetryApi</a:t>
            </a:r>
            <a:endParaRPr lang="en-US" sz="3000" dirty="0"/>
          </a:p>
        </p:txBody>
      </p:sp>
      <p:sp>
        <p:nvSpPr>
          <p:cNvPr id="4" name="Shape 2"/>
          <p:cNvSpPr/>
          <p:nvPr/>
        </p:nvSpPr>
        <p:spPr>
          <a:xfrm>
            <a:off x="548640" y="1600200"/>
            <a:ext cx="3606698" cy="1417320"/>
          </a:xfrm>
          <a:prstGeom prst="roundRect">
            <a:avLst>
              <a:gd name="adj" fmla="val 3871"/>
            </a:avLst>
          </a:prstGeom>
          <a:solidFill>
            <a:srgbClr val="16294A"/>
          </a:solidFill>
          <a:ln w="12700">
            <a:solidFill>
              <a:srgbClr val="16294A"/>
            </a:solidFill>
            <a:prstDash val="solid"/>
          </a:ln>
        </p:spPr>
      </p:sp>
      <p:sp>
        <p:nvSpPr>
          <p:cNvPr id="5" name="Text 3"/>
          <p:cNvSpPr txBox="1"/>
          <p:nvPr/>
        </p:nvSpPr>
        <p:spPr>
          <a:xfrm>
            <a:off x="749808" y="1801368"/>
            <a:ext cx="3204362" cy="320040"/>
          </a:xfrm>
          <a:prstGeom prst="rect">
            <a:avLst/>
          </a:prstGeom>
          <a:noFill/>
          <a:ln/>
        </p:spPr>
        <p:txBody>
          <a:bodyPr wrap="square" lIns="0" tIns="0" rIns="0" bIns="0" rtlCol="0" anchor="t"/>
          <a:lstStyle/>
          <a:p>
            <a:pPr marL="0" indent="0">
              <a:buNone/>
            </a:pPr>
            <a:r>
              <a:rPr lang="en-US" sz="1350" b="1" dirty="0">
                <a:solidFill>
                  <a:srgbClr val="F5F7FA"/>
                </a:solidFill>
                <a:latin typeface="Calibri" pitchFamily="34" charset="0"/>
                <a:ea typeface="Calibri" pitchFamily="34" charset="-122"/>
                <a:cs typeface="Calibri" pitchFamily="34" charset="-120"/>
              </a:rPr>
              <a:t>customers.created</a:t>
            </a:r>
            <a:endParaRPr lang="en-US" sz="1350" dirty="0"/>
          </a:p>
        </p:txBody>
      </p:sp>
      <p:sp>
        <p:nvSpPr>
          <p:cNvPr id="6" name="Text 4"/>
          <p:cNvSpPr txBox="1"/>
          <p:nvPr/>
        </p:nvSpPr>
        <p:spPr>
          <a:xfrm>
            <a:off x="749808" y="2185416"/>
            <a:ext cx="3204362" cy="676656"/>
          </a:xfrm>
          <a:prstGeom prst="rect">
            <a:avLst/>
          </a:prstGeom>
          <a:noFill/>
          <a:ln/>
        </p:spPr>
        <p:txBody>
          <a:bodyPr wrap="square" lIns="0" tIns="0" rIns="0" bIns="0" rtlCol="0" anchor="t"/>
          <a:lstStyle/>
          <a:p>
            <a:pPr marL="0" indent="0">
              <a:lnSpc>
                <a:spcPct val="115000"/>
              </a:lnSpc>
              <a:buNone/>
            </a:pPr>
            <a:r>
              <a:rPr lang="en-US" sz="1300" dirty="0">
                <a:solidFill>
                  <a:srgbClr val="B9C4D1"/>
                </a:solidFill>
                <a:latin typeface="Arial" pitchFamily="34" charset="0"/>
                <a:ea typeface="Arial" pitchFamily="34" charset="-122"/>
                <a:cs typeface="Arial" pitchFamily="34" charset="-120"/>
              </a:rPr>
              <a:t>Counter · tagg city</a:t>
            </a:r>
            <a:endParaRPr lang="en-US" sz="1300" dirty="0"/>
          </a:p>
        </p:txBody>
      </p:sp>
      <p:sp>
        <p:nvSpPr>
          <p:cNvPr id="7" name="Shape 5"/>
          <p:cNvSpPr/>
          <p:nvPr/>
        </p:nvSpPr>
        <p:spPr>
          <a:xfrm>
            <a:off x="4292498" y="1600200"/>
            <a:ext cx="3606698" cy="1417320"/>
          </a:xfrm>
          <a:prstGeom prst="roundRect">
            <a:avLst>
              <a:gd name="adj" fmla="val 3871"/>
            </a:avLst>
          </a:prstGeom>
          <a:solidFill>
            <a:srgbClr val="16294A"/>
          </a:solidFill>
          <a:ln w="12700">
            <a:solidFill>
              <a:srgbClr val="16294A"/>
            </a:solidFill>
            <a:prstDash val="solid"/>
          </a:ln>
        </p:spPr>
      </p:sp>
      <p:sp>
        <p:nvSpPr>
          <p:cNvPr id="8" name="Text 6"/>
          <p:cNvSpPr txBox="1"/>
          <p:nvPr/>
        </p:nvSpPr>
        <p:spPr>
          <a:xfrm>
            <a:off x="4493666" y="1801368"/>
            <a:ext cx="3204362" cy="320040"/>
          </a:xfrm>
          <a:prstGeom prst="rect">
            <a:avLst/>
          </a:prstGeom>
          <a:noFill/>
          <a:ln/>
        </p:spPr>
        <p:txBody>
          <a:bodyPr wrap="square" lIns="0" tIns="0" rIns="0" bIns="0" rtlCol="0" anchor="t"/>
          <a:lstStyle/>
          <a:p>
            <a:pPr marL="0" indent="0">
              <a:buNone/>
            </a:pPr>
            <a:r>
              <a:rPr lang="en-US" sz="1350" b="1" dirty="0">
                <a:solidFill>
                  <a:srgbClr val="F5F7FA"/>
                </a:solidFill>
                <a:latin typeface="Calibri" pitchFamily="34" charset="0"/>
                <a:ea typeface="Calibri" pitchFamily="34" charset="-122"/>
                <a:cs typeface="Calibri" pitchFamily="34" charset="-120"/>
              </a:rPr>
              <a:t>customers.requestduration</a:t>
            </a:r>
            <a:endParaRPr lang="en-US" sz="1350" dirty="0"/>
          </a:p>
        </p:txBody>
      </p:sp>
      <p:sp>
        <p:nvSpPr>
          <p:cNvPr id="9" name="Text 7"/>
          <p:cNvSpPr txBox="1"/>
          <p:nvPr/>
        </p:nvSpPr>
        <p:spPr>
          <a:xfrm>
            <a:off x="4493666" y="2185416"/>
            <a:ext cx="3204362" cy="676656"/>
          </a:xfrm>
          <a:prstGeom prst="rect">
            <a:avLst/>
          </a:prstGeom>
          <a:noFill/>
          <a:ln/>
        </p:spPr>
        <p:txBody>
          <a:bodyPr wrap="square" lIns="0" tIns="0" rIns="0" bIns="0" rtlCol="0" anchor="t"/>
          <a:lstStyle/>
          <a:p>
            <a:pPr marL="0" indent="0">
              <a:lnSpc>
                <a:spcPct val="115000"/>
              </a:lnSpc>
              <a:buNone/>
            </a:pPr>
            <a:r>
              <a:rPr lang="en-US" sz="1300" dirty="0">
                <a:solidFill>
                  <a:srgbClr val="B9C4D1"/>
                </a:solidFill>
                <a:latin typeface="Arial" pitchFamily="34" charset="0"/>
                <a:ea typeface="Arial" pitchFamily="34" charset="-122"/>
                <a:cs typeface="Arial" pitchFamily="34" charset="-120"/>
              </a:rPr>
              <a:t>Histogram · operation, outcome</a:t>
            </a:r>
            <a:endParaRPr lang="en-US" sz="1300" dirty="0"/>
          </a:p>
        </p:txBody>
      </p:sp>
      <p:sp>
        <p:nvSpPr>
          <p:cNvPr id="10" name="Shape 8"/>
          <p:cNvSpPr/>
          <p:nvPr/>
        </p:nvSpPr>
        <p:spPr>
          <a:xfrm>
            <a:off x="8036357" y="1600200"/>
            <a:ext cx="3606698" cy="1417320"/>
          </a:xfrm>
          <a:prstGeom prst="roundRect">
            <a:avLst>
              <a:gd name="adj" fmla="val 3871"/>
            </a:avLst>
          </a:prstGeom>
          <a:solidFill>
            <a:srgbClr val="16294A"/>
          </a:solidFill>
          <a:ln w="12700">
            <a:solidFill>
              <a:srgbClr val="16294A"/>
            </a:solidFill>
            <a:prstDash val="solid"/>
          </a:ln>
        </p:spPr>
      </p:sp>
      <p:sp>
        <p:nvSpPr>
          <p:cNvPr id="11" name="Text 9"/>
          <p:cNvSpPr txBox="1"/>
          <p:nvPr/>
        </p:nvSpPr>
        <p:spPr>
          <a:xfrm>
            <a:off x="8237525" y="1801368"/>
            <a:ext cx="3204362" cy="320040"/>
          </a:xfrm>
          <a:prstGeom prst="rect">
            <a:avLst/>
          </a:prstGeom>
          <a:noFill/>
          <a:ln/>
        </p:spPr>
        <p:txBody>
          <a:bodyPr wrap="square" lIns="0" tIns="0" rIns="0" bIns="0" rtlCol="0" anchor="t"/>
          <a:lstStyle/>
          <a:p>
            <a:pPr marL="0" indent="0">
              <a:buNone/>
            </a:pPr>
            <a:r>
              <a:rPr lang="en-US" sz="1350" b="1" dirty="0">
                <a:solidFill>
                  <a:srgbClr val="F5F7FA"/>
                </a:solidFill>
                <a:latin typeface="Calibri" pitchFamily="34" charset="0"/>
                <a:ea typeface="Calibri" pitchFamily="34" charset="-122"/>
                <a:cs typeface="Calibri" pitchFamily="34" charset="-120"/>
              </a:rPr>
              <a:t>customers.result_count</a:t>
            </a:r>
            <a:endParaRPr lang="en-US" sz="1350" dirty="0"/>
          </a:p>
        </p:txBody>
      </p:sp>
      <p:sp>
        <p:nvSpPr>
          <p:cNvPr id="12" name="Text 10"/>
          <p:cNvSpPr txBox="1"/>
          <p:nvPr/>
        </p:nvSpPr>
        <p:spPr>
          <a:xfrm>
            <a:off x="8237525" y="2185416"/>
            <a:ext cx="3204362" cy="676656"/>
          </a:xfrm>
          <a:prstGeom prst="rect">
            <a:avLst/>
          </a:prstGeom>
          <a:noFill/>
          <a:ln/>
        </p:spPr>
        <p:txBody>
          <a:bodyPr wrap="square" lIns="0" tIns="0" rIns="0" bIns="0" rtlCol="0" anchor="t"/>
          <a:lstStyle/>
          <a:p>
            <a:pPr marL="0" indent="0">
              <a:lnSpc>
                <a:spcPct val="115000"/>
              </a:lnSpc>
              <a:buNone/>
            </a:pPr>
            <a:r>
              <a:rPr lang="en-US" sz="1300" dirty="0">
                <a:solidFill>
                  <a:srgbClr val="B9C4D1"/>
                </a:solidFill>
                <a:latin typeface="Arial" pitchFamily="34" charset="0"/>
                <a:ea typeface="Arial" pitchFamily="34" charset="-122"/>
                <a:cs typeface="Arial" pitchFamily="34" charset="-120"/>
              </a:rPr>
              <a:t>Histogram · träffar per sökning</a:t>
            </a:r>
            <a:endParaRPr lang="en-US" sz="1300" dirty="0"/>
          </a:p>
        </p:txBody>
      </p:sp>
      <p:sp>
        <p:nvSpPr>
          <p:cNvPr id="13" name="Shape 11"/>
          <p:cNvSpPr/>
          <p:nvPr/>
        </p:nvSpPr>
        <p:spPr>
          <a:xfrm>
            <a:off x="548640" y="3200400"/>
            <a:ext cx="3606698" cy="1417320"/>
          </a:xfrm>
          <a:prstGeom prst="roundRect">
            <a:avLst>
              <a:gd name="adj" fmla="val 3871"/>
            </a:avLst>
          </a:prstGeom>
          <a:solidFill>
            <a:srgbClr val="16294A"/>
          </a:solidFill>
          <a:ln w="12700">
            <a:solidFill>
              <a:srgbClr val="16294A"/>
            </a:solidFill>
            <a:prstDash val="solid"/>
          </a:ln>
        </p:spPr>
      </p:sp>
      <p:sp>
        <p:nvSpPr>
          <p:cNvPr id="14" name="Text 12"/>
          <p:cNvSpPr txBox="1"/>
          <p:nvPr/>
        </p:nvSpPr>
        <p:spPr>
          <a:xfrm>
            <a:off x="749808" y="3401568"/>
            <a:ext cx="3204362" cy="320040"/>
          </a:xfrm>
          <a:prstGeom prst="rect">
            <a:avLst/>
          </a:prstGeom>
          <a:noFill/>
          <a:ln/>
        </p:spPr>
        <p:txBody>
          <a:bodyPr wrap="square" lIns="0" tIns="0" rIns="0" bIns="0" rtlCol="0" anchor="t"/>
          <a:lstStyle/>
          <a:p>
            <a:pPr marL="0" indent="0">
              <a:buNone/>
            </a:pPr>
            <a:r>
              <a:rPr lang="en-US" sz="1350" b="1" dirty="0">
                <a:solidFill>
                  <a:srgbClr val="F5F7FA"/>
                </a:solidFill>
                <a:latin typeface="Calibri" pitchFamily="34" charset="0"/>
                <a:ea typeface="Calibri" pitchFamily="34" charset="-122"/>
                <a:cs typeface="Calibri" pitchFamily="34" charset="-120"/>
              </a:rPr>
              <a:t>customers.requests.in_progress</a:t>
            </a:r>
            <a:endParaRPr lang="en-US" sz="1350" dirty="0"/>
          </a:p>
        </p:txBody>
      </p:sp>
      <p:sp>
        <p:nvSpPr>
          <p:cNvPr id="15" name="Text 13"/>
          <p:cNvSpPr txBox="1"/>
          <p:nvPr/>
        </p:nvSpPr>
        <p:spPr>
          <a:xfrm>
            <a:off x="749808" y="3785616"/>
            <a:ext cx="3204362" cy="676656"/>
          </a:xfrm>
          <a:prstGeom prst="rect">
            <a:avLst/>
          </a:prstGeom>
          <a:noFill/>
          <a:ln/>
        </p:spPr>
        <p:txBody>
          <a:bodyPr wrap="square" lIns="0" tIns="0" rIns="0" bIns="0" rtlCol="0" anchor="t"/>
          <a:lstStyle/>
          <a:p>
            <a:pPr marL="0" indent="0">
              <a:lnSpc>
                <a:spcPct val="115000"/>
              </a:lnSpc>
              <a:buNone/>
            </a:pPr>
            <a:r>
              <a:rPr lang="en-US" sz="1300" dirty="0">
                <a:solidFill>
                  <a:srgbClr val="B9C4D1"/>
                </a:solidFill>
                <a:latin typeface="Arial" pitchFamily="34" charset="0"/>
                <a:ea typeface="Arial" pitchFamily="34" charset="-122"/>
                <a:cs typeface="Arial" pitchFamily="34" charset="-120"/>
              </a:rPr>
              <a:t>UpDownCounter · pågående just nu</a:t>
            </a:r>
            <a:endParaRPr lang="en-US" sz="1300" dirty="0"/>
          </a:p>
        </p:txBody>
      </p:sp>
      <p:sp>
        <p:nvSpPr>
          <p:cNvPr id="16" name="Shape 14"/>
          <p:cNvSpPr/>
          <p:nvPr/>
        </p:nvSpPr>
        <p:spPr>
          <a:xfrm>
            <a:off x="4292498" y="3200400"/>
            <a:ext cx="3606698" cy="1417320"/>
          </a:xfrm>
          <a:prstGeom prst="roundRect">
            <a:avLst>
              <a:gd name="adj" fmla="val 3871"/>
            </a:avLst>
          </a:prstGeom>
          <a:solidFill>
            <a:srgbClr val="3762FF"/>
          </a:solidFill>
          <a:ln w="12700">
            <a:solidFill>
              <a:srgbClr val="3762FF"/>
            </a:solidFill>
            <a:prstDash val="solid"/>
          </a:ln>
        </p:spPr>
      </p:sp>
      <p:sp>
        <p:nvSpPr>
          <p:cNvPr id="17" name="Text 15"/>
          <p:cNvSpPr txBox="1"/>
          <p:nvPr/>
        </p:nvSpPr>
        <p:spPr>
          <a:xfrm>
            <a:off x="4493666" y="3401568"/>
            <a:ext cx="3204362" cy="320040"/>
          </a:xfrm>
          <a:prstGeom prst="rect">
            <a:avLst/>
          </a:prstGeom>
          <a:noFill/>
          <a:ln/>
        </p:spPr>
        <p:txBody>
          <a:bodyPr wrap="square" lIns="0" tIns="0" rIns="0" bIns="0" rtlCol="0" anchor="t"/>
          <a:lstStyle/>
          <a:p>
            <a:pPr marL="0" indent="0">
              <a:buNone/>
            </a:pPr>
            <a:r>
              <a:rPr lang="en-US" sz="1350" b="1" dirty="0">
                <a:solidFill>
                  <a:srgbClr val="FFFFFF"/>
                </a:solidFill>
                <a:latin typeface="Calibri" pitchFamily="34" charset="0"/>
                <a:ea typeface="Calibri" pitchFamily="34" charset="-122"/>
                <a:cs typeface="Calibri" pitchFamily="34" charset="-120"/>
              </a:rPr>
              <a:t>customers.count</a:t>
            </a:r>
            <a:endParaRPr lang="en-US" sz="1350" dirty="0"/>
          </a:p>
        </p:txBody>
      </p:sp>
      <p:sp>
        <p:nvSpPr>
          <p:cNvPr id="18" name="Text 16"/>
          <p:cNvSpPr txBox="1"/>
          <p:nvPr/>
        </p:nvSpPr>
        <p:spPr>
          <a:xfrm>
            <a:off x="4493666" y="3785616"/>
            <a:ext cx="3204362" cy="676656"/>
          </a:xfrm>
          <a:prstGeom prst="rect">
            <a:avLst/>
          </a:prstGeom>
          <a:noFill/>
          <a:ln/>
        </p:spPr>
        <p:txBody>
          <a:bodyPr wrap="square" lIns="0" tIns="0" rIns="0" bIns="0" rtlCol="0" anchor="t"/>
          <a:lstStyle/>
          <a:p>
            <a:pPr marL="0" indent="0">
              <a:lnSpc>
                <a:spcPct val="115000"/>
              </a:lnSpc>
              <a:buNone/>
            </a:pPr>
            <a:r>
              <a:rPr lang="en-US" sz="1300" dirty="0">
                <a:solidFill>
                  <a:srgbClr val="FFFFFF"/>
                </a:solidFill>
                <a:latin typeface="Arial" pitchFamily="34" charset="0"/>
                <a:ea typeface="Arial" pitchFamily="34" charset="-122"/>
                <a:cs typeface="Arial" pitchFamily="34" charset="-120"/>
              </a:rPr>
              <a:t>ObservableGauge · kunder i databasen</a:t>
            </a:r>
            <a:endParaRPr lang="en-US" sz="1300" dirty="0"/>
          </a:p>
        </p:txBody>
      </p:sp>
      <p:sp>
        <p:nvSpPr>
          <p:cNvPr id="19" name="Shape 17"/>
          <p:cNvSpPr/>
          <p:nvPr/>
        </p:nvSpPr>
        <p:spPr>
          <a:xfrm>
            <a:off x="8036357" y="3200400"/>
            <a:ext cx="3606698" cy="1417320"/>
          </a:xfrm>
          <a:prstGeom prst="roundRect">
            <a:avLst>
              <a:gd name="adj" fmla="val 3871"/>
            </a:avLst>
          </a:prstGeom>
          <a:solidFill>
            <a:srgbClr val="16294A"/>
          </a:solidFill>
          <a:ln w="12700">
            <a:solidFill>
              <a:srgbClr val="16294A"/>
            </a:solidFill>
            <a:prstDash val="solid"/>
          </a:ln>
        </p:spPr>
      </p:sp>
      <p:sp>
        <p:nvSpPr>
          <p:cNvPr id="20" name="Text 18"/>
          <p:cNvSpPr txBox="1"/>
          <p:nvPr/>
        </p:nvSpPr>
        <p:spPr>
          <a:xfrm>
            <a:off x="8237525" y="3401568"/>
            <a:ext cx="3204362" cy="320040"/>
          </a:xfrm>
          <a:prstGeom prst="rect">
            <a:avLst/>
          </a:prstGeom>
          <a:noFill/>
          <a:ln/>
        </p:spPr>
        <p:txBody>
          <a:bodyPr wrap="square" lIns="0" tIns="0" rIns="0" bIns="0" rtlCol="0" anchor="t"/>
          <a:lstStyle/>
          <a:p>
            <a:pPr marL="0" indent="0">
              <a:buNone/>
            </a:pPr>
            <a:r>
              <a:rPr lang="en-US" sz="1350" b="1" dirty="0">
                <a:solidFill>
                  <a:srgbClr val="F5F7FA"/>
                </a:solidFill>
                <a:latin typeface="Calibri" pitchFamily="34" charset="0"/>
                <a:ea typeface="Calibri" pitchFamily="34" charset="-122"/>
                <a:cs typeface="Calibri" pitchFamily="34" charset="-120"/>
              </a:rPr>
              <a:t>customers.validation_failed</a:t>
            </a:r>
            <a:endParaRPr lang="en-US" sz="1350" dirty="0"/>
          </a:p>
        </p:txBody>
      </p:sp>
      <p:sp>
        <p:nvSpPr>
          <p:cNvPr id="21" name="Text 19"/>
          <p:cNvSpPr txBox="1"/>
          <p:nvPr/>
        </p:nvSpPr>
        <p:spPr>
          <a:xfrm>
            <a:off x="8237525" y="3785616"/>
            <a:ext cx="3204362" cy="676656"/>
          </a:xfrm>
          <a:prstGeom prst="rect">
            <a:avLst/>
          </a:prstGeom>
          <a:noFill/>
          <a:ln/>
        </p:spPr>
        <p:txBody>
          <a:bodyPr wrap="square" lIns="0" tIns="0" rIns="0" bIns="0" rtlCol="0" anchor="t"/>
          <a:lstStyle/>
          <a:p>
            <a:pPr marL="0" indent="0">
              <a:lnSpc>
                <a:spcPct val="115000"/>
              </a:lnSpc>
              <a:buNone/>
            </a:pPr>
            <a:r>
              <a:rPr lang="en-US" sz="1300" dirty="0">
                <a:solidFill>
                  <a:srgbClr val="B9C4D1"/>
                </a:solidFill>
                <a:latin typeface="Arial" pitchFamily="34" charset="0"/>
                <a:ea typeface="Arial" pitchFamily="34" charset="-122"/>
                <a:cs typeface="Arial" pitchFamily="34" charset="-120"/>
              </a:rPr>
              <a:t>Counter · stoppade anrop</a:t>
            </a:r>
            <a:endParaRPr lang="en-US" sz="1300" dirty="0"/>
          </a:p>
        </p:txBody>
      </p:sp>
      <p:sp>
        <p:nvSpPr>
          <p:cNvPr id="22" name="Shape 20"/>
          <p:cNvSpPr/>
          <p:nvPr/>
        </p:nvSpPr>
        <p:spPr>
          <a:xfrm>
            <a:off x="548640" y="4892040"/>
            <a:ext cx="11094415" cy="914400"/>
          </a:xfrm>
          <a:prstGeom prst="roundRect">
            <a:avLst>
              <a:gd name="adj" fmla="val 6000"/>
            </a:avLst>
          </a:prstGeom>
          <a:solidFill>
            <a:srgbClr val="16294A"/>
          </a:solidFill>
          <a:ln w="12700">
            <a:solidFill>
              <a:srgbClr val="16294A"/>
            </a:solidFill>
            <a:prstDash val="solid"/>
          </a:ln>
        </p:spPr>
      </p:sp>
      <p:sp>
        <p:nvSpPr>
          <p:cNvPr id="23" name="Text 21"/>
          <p:cNvSpPr txBox="1"/>
          <p:nvPr/>
        </p:nvSpPr>
        <p:spPr>
          <a:xfrm>
            <a:off x="822960" y="4892040"/>
            <a:ext cx="10545775" cy="914400"/>
          </a:xfrm>
          <a:prstGeom prst="rect">
            <a:avLst/>
          </a:prstGeom>
          <a:noFill/>
          <a:ln/>
        </p:spPr>
        <p:txBody>
          <a:bodyPr wrap="square" lIns="0" tIns="0" rIns="0" bIns="0" rtlCol="0" anchor="ctr"/>
          <a:lstStyle/>
          <a:p>
            <a:pPr marL="0" indent="0">
              <a:buNone/>
            </a:pPr>
            <a:r>
              <a:rPr lang="en-US" sz="1400" b="1" dirty="0">
                <a:solidFill>
                  <a:srgbClr val="F5F7FA"/>
                </a:solidFill>
                <a:latin typeface="Arial" pitchFamily="34" charset="0"/>
                <a:ea typeface="Arial" pitchFamily="34" charset="-122"/>
                <a:cs typeface="Arial" pitchFamily="34" charset="-120"/>
              </a:rPr>
              <a:t>Kardinalitet: </a:t>
            </a:r>
            <a:r>
              <a:rPr lang="en-US" sz="1400" dirty="0">
                <a:solidFill>
                  <a:srgbClr val="B9C4D1"/>
                </a:solidFill>
                <a:latin typeface="Arial" pitchFamily="34" charset="0"/>
                <a:ea typeface="Arial" pitchFamily="34" charset="-122"/>
                <a:cs typeface="Arial" pitchFamily="34" charset="-120"/>
              </a:rPr>
              <a:t>varje unikt taggvärde blir en egen tidsserie. city och operation är få - customer.id skulle bli en serie per kund. Id:n hör hemma i spans, inte i metrics.</a:t>
            </a:r>
            <a:endParaRPr lang="en-US" sz="1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7F7F4"/>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marL="0" indent="0">
              <a:buNone/>
            </a:pPr>
            <a:r>
              <a:rPr lang="en-US" sz="1200" b="1" kern="0" spc="200" dirty="0">
                <a:solidFill>
                  <a:srgbClr val="3762FF"/>
                </a:solidFill>
                <a:latin typeface="Arial" pitchFamily="34" charset="0"/>
                <a:ea typeface="Arial" pitchFamily="34" charset="-122"/>
                <a:cs typeface="Arial" pitchFamily="34" charset="-120"/>
              </a:rPr>
              <a:t>MÄTPUNKTER · EXEMPLARS</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marL="0" indent="0">
              <a:buNone/>
            </a:pPr>
            <a:r>
              <a:rPr lang="en-US" sz="3000" b="1" dirty="0">
                <a:solidFill>
                  <a:srgbClr val="16202B"/>
                </a:solidFill>
                <a:latin typeface="Calibri" pitchFamily="34" charset="0"/>
                <a:ea typeface="Calibri" pitchFamily="34" charset="-122"/>
                <a:cs typeface="Calibri" pitchFamily="34" charset="-120"/>
              </a:rPr>
              <a:t>Tre inställningar för pricken i grafen</a:t>
            </a:r>
            <a:endParaRPr lang="en-US" sz="3000" dirty="0"/>
          </a:p>
        </p:txBody>
      </p:sp>
      <p:sp>
        <p:nvSpPr>
          <p:cNvPr id="4" name="Shape 2"/>
          <p:cNvSpPr/>
          <p:nvPr/>
        </p:nvSpPr>
        <p:spPr>
          <a:xfrm>
            <a:off x="548640" y="1600200"/>
            <a:ext cx="2464994" cy="548640"/>
          </a:xfrm>
          <a:prstGeom prst="roundRect">
            <a:avLst>
              <a:gd name="adj" fmla="val 10000"/>
            </a:avLst>
          </a:prstGeom>
          <a:solidFill>
            <a:srgbClr val="3762FF"/>
          </a:solidFill>
          <a:ln w="12700">
            <a:solidFill>
              <a:srgbClr val="3762FF"/>
            </a:solidFill>
            <a:prstDash val="solid"/>
          </a:ln>
          <a:effectLst>
            <a:outerShdw blurRad="101600" dist="25400" dir="5400000" algn="bl" rotWithShape="0">
              <a:srgbClr val="000000">
                <a:alpha val="10000"/>
              </a:srgbClr>
            </a:outerShdw>
          </a:effectLst>
        </p:spPr>
      </p:sp>
      <p:sp>
        <p:nvSpPr>
          <p:cNvPr id="5" name="Text 3"/>
          <p:cNvSpPr txBox="1"/>
          <p:nvPr/>
        </p:nvSpPr>
        <p:spPr>
          <a:xfrm>
            <a:off x="640080" y="1600200"/>
            <a:ext cx="2282114" cy="54864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Koden</a:t>
            </a:r>
            <a:endParaRPr lang="en-US" sz="1500" dirty="0"/>
          </a:p>
        </p:txBody>
      </p:sp>
      <p:sp>
        <p:nvSpPr>
          <p:cNvPr id="6" name="Shape 4"/>
          <p:cNvSpPr/>
          <p:nvPr/>
        </p:nvSpPr>
        <p:spPr>
          <a:xfrm>
            <a:off x="548640" y="2286000"/>
            <a:ext cx="2464994" cy="1600200"/>
          </a:xfrm>
          <a:prstGeom prst="roundRect">
            <a:avLst>
              <a:gd name="adj" fmla="val 3429"/>
            </a:avLst>
          </a:prstGeom>
          <a:solidFill>
            <a:srgbClr val="0F1F33"/>
          </a:solidFill>
          <a:ln w="12700">
            <a:solidFill>
              <a:srgbClr val="0F1F33"/>
            </a:solidFill>
            <a:prstDash val="solid"/>
          </a:ln>
          <a:effectLst>
            <a:outerShdw blurRad="101600" dist="25400" dir="5400000" algn="bl" rotWithShape="0">
              <a:srgbClr val="000000">
                <a:alpha val="10000"/>
              </a:srgbClr>
            </a:outerShdw>
          </a:effectLst>
        </p:spPr>
      </p:sp>
      <p:sp>
        <p:nvSpPr>
          <p:cNvPr id="7" name="Shape 5"/>
          <p:cNvSpPr/>
          <p:nvPr/>
        </p:nvSpPr>
        <p:spPr>
          <a:xfrm>
            <a:off x="749808" y="2450592"/>
            <a:ext cx="109728" cy="109728"/>
          </a:xfrm>
          <a:prstGeom prst="ellipse">
            <a:avLst/>
          </a:prstGeom>
          <a:solidFill>
            <a:srgbClr val="D64545"/>
          </a:solidFill>
          <a:ln w="12700">
            <a:solidFill>
              <a:srgbClr val="D64545"/>
            </a:solidFill>
            <a:prstDash val="solid"/>
          </a:ln>
        </p:spPr>
      </p:sp>
      <p:sp>
        <p:nvSpPr>
          <p:cNvPr id="8" name="Shape 6"/>
          <p:cNvSpPr/>
          <p:nvPr/>
        </p:nvSpPr>
        <p:spPr>
          <a:xfrm>
            <a:off x="932688" y="2450592"/>
            <a:ext cx="109728" cy="109728"/>
          </a:xfrm>
          <a:prstGeom prst="ellipse">
            <a:avLst/>
          </a:prstGeom>
          <a:solidFill>
            <a:srgbClr val="FFB020"/>
          </a:solidFill>
          <a:ln w="12700">
            <a:solidFill>
              <a:srgbClr val="FFB020"/>
            </a:solidFill>
            <a:prstDash val="solid"/>
          </a:ln>
        </p:spPr>
      </p:sp>
      <p:sp>
        <p:nvSpPr>
          <p:cNvPr id="9" name="Shape 7"/>
          <p:cNvSpPr/>
          <p:nvPr/>
        </p:nvSpPr>
        <p:spPr>
          <a:xfrm>
            <a:off x="1115568" y="2450592"/>
            <a:ext cx="109728" cy="109728"/>
          </a:xfrm>
          <a:prstGeom prst="ellipse">
            <a:avLst/>
          </a:prstGeom>
          <a:solidFill>
            <a:srgbClr val="3CB371"/>
          </a:solidFill>
          <a:ln w="12700">
            <a:solidFill>
              <a:srgbClr val="3CB371"/>
            </a:solidFill>
            <a:prstDash val="solid"/>
          </a:ln>
        </p:spPr>
      </p:sp>
      <p:sp>
        <p:nvSpPr>
          <p:cNvPr id="10" name="Text 8"/>
          <p:cNvSpPr txBox="1"/>
          <p:nvPr/>
        </p:nvSpPr>
        <p:spPr>
          <a:xfrm>
            <a:off x="777240" y="2743200"/>
            <a:ext cx="2007794" cy="1005840"/>
          </a:xfrm>
          <a:prstGeom prst="rect">
            <a:avLst/>
          </a:prstGeom>
          <a:noFill/>
          <a:ln/>
        </p:spPr>
        <p:txBody>
          <a:bodyPr wrap="square" lIns="0" tIns="0" rIns="0" bIns="0" rtlCol="0" anchor="t"/>
          <a:lstStyle/>
          <a:p>
            <a:pPr marL="0" indent="0">
              <a:lnSpc>
                <a:spcPct val="110000"/>
              </a:lnSpc>
              <a:buNone/>
            </a:pPr>
            <a:r>
              <a:rPr lang="en-US" sz="1050" dirty="0">
                <a:solidFill>
                  <a:srgbClr val="DDE3EA"/>
                </a:solidFill>
                <a:latin typeface="Courier New" pitchFamily="34" charset="0"/>
                <a:ea typeface="Courier New" pitchFamily="34" charset="-122"/>
                <a:cs typeface="Courier New" pitchFamily="34" charset="-120"/>
              </a:rPr>
              <a:t>.SetExemplarFilter(</a:t>
            </a:r>
            <a:endParaRPr lang="en-US" sz="1050" dirty="0"/>
          </a:p>
          <a:p>
            <a:pPr marL="0" indent="0">
              <a:lnSpc>
                <a:spcPct val="110000"/>
              </a:lnSpc>
              <a:buNone/>
            </a:pPr>
            <a:r>
              <a:rPr lang="en-US" sz="1050" dirty="0">
                <a:solidFill>
                  <a:srgbClr val="DDE3EA"/>
                </a:solidFill>
                <a:latin typeface="Courier New" pitchFamily="34" charset="0"/>
                <a:ea typeface="Courier New" pitchFamily="34" charset="-122"/>
                <a:cs typeface="Courier New" pitchFamily="34" charset="-120"/>
              </a:rPr>
              <a:t>  ExemplarFilterType</a:t>
            </a:r>
            <a:endParaRPr lang="en-US" sz="1050" dirty="0"/>
          </a:p>
          <a:p>
            <a:pPr marL="0" indent="0">
              <a:lnSpc>
                <a:spcPct val="110000"/>
              </a:lnSpc>
              <a:buNone/>
            </a:pPr>
            <a:r>
              <a:rPr lang="en-US" sz="1050" dirty="0">
                <a:solidFill>
                  <a:srgbClr val="DDE3EA"/>
                </a:solidFill>
                <a:latin typeface="Courier New" pitchFamily="34" charset="0"/>
                <a:ea typeface="Courier New" pitchFamily="34" charset="-122"/>
                <a:cs typeface="Courier New" pitchFamily="34" charset="-120"/>
              </a:rPr>
              <a:t>    .TraceBased)</a:t>
            </a:r>
            <a:endParaRPr lang="en-US" sz="1050" dirty="0"/>
          </a:p>
        </p:txBody>
      </p:sp>
      <p:sp>
        <p:nvSpPr>
          <p:cNvPr id="11" name="Text 9"/>
          <p:cNvSpPr txBox="1"/>
          <p:nvPr/>
        </p:nvSpPr>
        <p:spPr>
          <a:xfrm>
            <a:off x="548640" y="3977640"/>
            <a:ext cx="2464994" cy="365760"/>
          </a:xfrm>
          <a:prstGeom prst="rect">
            <a:avLst/>
          </a:prstGeom>
          <a:noFill/>
          <a:ln/>
        </p:spPr>
        <p:txBody>
          <a:bodyPr wrap="square" lIns="0" tIns="0" rIns="0" bIns="0" rtlCol="0" anchor="t"/>
          <a:lstStyle/>
          <a:p>
            <a:pPr marL="0" indent="0" algn="ctr">
              <a:lnSpc>
                <a:spcPct val="120000"/>
              </a:lnSpc>
              <a:buNone/>
            </a:pPr>
            <a:r>
              <a:rPr lang="en-US" sz="1100" dirty="0">
                <a:solidFill>
                  <a:srgbClr val="4A5568"/>
                </a:solidFill>
                <a:latin typeface="Courier New" pitchFamily="34" charset="0"/>
                <a:ea typeface="Courier New" pitchFamily="34" charset="-122"/>
                <a:cs typeface="Courier New" pitchFamily="34" charset="-120"/>
              </a:rPr>
              <a:t>TelemetryExtensions.cs</a:t>
            </a:r>
            <a:endParaRPr lang="en-US" sz="1100" dirty="0"/>
          </a:p>
        </p:txBody>
      </p:sp>
      <p:sp>
        <p:nvSpPr>
          <p:cNvPr id="12" name="Shape 10"/>
          <p:cNvSpPr/>
          <p:nvPr/>
        </p:nvSpPr>
        <p:spPr>
          <a:xfrm>
            <a:off x="3059354" y="1874520"/>
            <a:ext cx="320040" cy="0"/>
          </a:xfrm>
          <a:prstGeom prst="line">
            <a:avLst/>
          </a:prstGeom>
          <a:noFill/>
          <a:ln w="19050">
            <a:solidFill>
              <a:srgbClr val="3762FF"/>
            </a:solidFill>
            <a:prstDash val="solid"/>
            <a:tailEnd type="triangle"/>
          </a:ln>
        </p:spPr>
      </p:sp>
      <p:sp>
        <p:nvSpPr>
          <p:cNvPr id="13" name="Shape 11"/>
          <p:cNvSpPr/>
          <p:nvPr/>
        </p:nvSpPr>
        <p:spPr>
          <a:xfrm>
            <a:off x="3425114" y="1600200"/>
            <a:ext cx="2464994" cy="548640"/>
          </a:xfrm>
          <a:prstGeom prst="roundRect">
            <a:avLst>
              <a:gd name="adj" fmla="val 10000"/>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14" name="Text 12"/>
          <p:cNvSpPr txBox="1"/>
          <p:nvPr/>
        </p:nvSpPr>
        <p:spPr>
          <a:xfrm>
            <a:off x="3516554" y="1600200"/>
            <a:ext cx="2282114" cy="548640"/>
          </a:xfrm>
          <a:prstGeom prst="rect">
            <a:avLst/>
          </a:prstGeom>
          <a:noFill/>
          <a:ln/>
        </p:spPr>
        <p:txBody>
          <a:bodyPr wrap="square" lIns="0" tIns="0" rIns="0" bIns="0" rtlCol="0" anchor="ctr"/>
          <a:lstStyle/>
          <a:p>
            <a:pPr marL="0" indent="0" algn="ctr">
              <a:buNone/>
            </a:pPr>
            <a:r>
              <a:rPr lang="en-US" sz="1500" b="1" dirty="0">
                <a:solidFill>
                  <a:srgbClr val="16202B"/>
                </a:solidFill>
                <a:latin typeface="Calibri" pitchFamily="34" charset="0"/>
                <a:ea typeface="Calibri" pitchFamily="34" charset="-122"/>
                <a:cs typeface="Calibri" pitchFamily="34" charset="-120"/>
              </a:rPr>
              <a:t>Collectorn</a:t>
            </a:r>
            <a:endParaRPr lang="en-US" sz="1500" dirty="0"/>
          </a:p>
        </p:txBody>
      </p:sp>
      <p:sp>
        <p:nvSpPr>
          <p:cNvPr id="15" name="Shape 13"/>
          <p:cNvSpPr/>
          <p:nvPr/>
        </p:nvSpPr>
        <p:spPr>
          <a:xfrm>
            <a:off x="3425114" y="2286000"/>
            <a:ext cx="2464994" cy="1600200"/>
          </a:xfrm>
          <a:prstGeom prst="roundRect">
            <a:avLst>
              <a:gd name="adj" fmla="val 3429"/>
            </a:avLst>
          </a:prstGeom>
          <a:solidFill>
            <a:srgbClr val="0F1F33"/>
          </a:solidFill>
          <a:ln w="12700">
            <a:solidFill>
              <a:srgbClr val="0F1F33"/>
            </a:solidFill>
            <a:prstDash val="solid"/>
          </a:ln>
          <a:effectLst>
            <a:outerShdw blurRad="101600" dist="25400" dir="5400000" algn="bl" rotWithShape="0">
              <a:srgbClr val="000000">
                <a:alpha val="10000"/>
              </a:srgbClr>
            </a:outerShdw>
          </a:effectLst>
        </p:spPr>
      </p:sp>
      <p:sp>
        <p:nvSpPr>
          <p:cNvPr id="16" name="Shape 14"/>
          <p:cNvSpPr/>
          <p:nvPr/>
        </p:nvSpPr>
        <p:spPr>
          <a:xfrm>
            <a:off x="3626282" y="2450592"/>
            <a:ext cx="109728" cy="109728"/>
          </a:xfrm>
          <a:prstGeom prst="ellipse">
            <a:avLst/>
          </a:prstGeom>
          <a:solidFill>
            <a:srgbClr val="D64545"/>
          </a:solidFill>
          <a:ln w="12700">
            <a:solidFill>
              <a:srgbClr val="D64545"/>
            </a:solidFill>
            <a:prstDash val="solid"/>
          </a:ln>
        </p:spPr>
      </p:sp>
      <p:sp>
        <p:nvSpPr>
          <p:cNvPr id="17" name="Shape 15"/>
          <p:cNvSpPr/>
          <p:nvPr/>
        </p:nvSpPr>
        <p:spPr>
          <a:xfrm>
            <a:off x="3809162" y="2450592"/>
            <a:ext cx="109728" cy="109728"/>
          </a:xfrm>
          <a:prstGeom prst="ellipse">
            <a:avLst/>
          </a:prstGeom>
          <a:solidFill>
            <a:srgbClr val="FFB020"/>
          </a:solidFill>
          <a:ln w="12700">
            <a:solidFill>
              <a:srgbClr val="FFB020"/>
            </a:solidFill>
            <a:prstDash val="solid"/>
          </a:ln>
        </p:spPr>
      </p:sp>
      <p:sp>
        <p:nvSpPr>
          <p:cNvPr id="18" name="Shape 16"/>
          <p:cNvSpPr/>
          <p:nvPr/>
        </p:nvSpPr>
        <p:spPr>
          <a:xfrm>
            <a:off x="3992042" y="2450592"/>
            <a:ext cx="109728" cy="109728"/>
          </a:xfrm>
          <a:prstGeom prst="ellipse">
            <a:avLst/>
          </a:prstGeom>
          <a:solidFill>
            <a:srgbClr val="3CB371"/>
          </a:solidFill>
          <a:ln w="12700">
            <a:solidFill>
              <a:srgbClr val="3CB371"/>
            </a:solidFill>
            <a:prstDash val="solid"/>
          </a:ln>
        </p:spPr>
      </p:sp>
      <p:sp>
        <p:nvSpPr>
          <p:cNvPr id="19" name="Text 17"/>
          <p:cNvSpPr txBox="1"/>
          <p:nvPr/>
        </p:nvSpPr>
        <p:spPr>
          <a:xfrm>
            <a:off x="3653714" y="2743200"/>
            <a:ext cx="2007794" cy="1005840"/>
          </a:xfrm>
          <a:prstGeom prst="rect">
            <a:avLst/>
          </a:prstGeom>
          <a:noFill/>
          <a:ln/>
        </p:spPr>
        <p:txBody>
          <a:bodyPr wrap="square" lIns="0" tIns="0" rIns="0" bIns="0" rtlCol="0" anchor="t"/>
          <a:lstStyle/>
          <a:p>
            <a:pPr marL="0" indent="0">
              <a:lnSpc>
                <a:spcPct val="110000"/>
              </a:lnSpc>
              <a:buNone/>
            </a:pPr>
            <a:r>
              <a:rPr lang="en-US" sz="1050" dirty="0">
                <a:solidFill>
                  <a:srgbClr val="DDE3EA"/>
                </a:solidFill>
                <a:latin typeface="Courier New" pitchFamily="34" charset="0"/>
                <a:ea typeface="Courier New" pitchFamily="34" charset="-122"/>
                <a:cs typeface="Courier New" pitchFamily="34" charset="-120"/>
              </a:rPr>
              <a:t>prometheus:</a:t>
            </a:r>
            <a:endParaRPr lang="en-US" sz="1050" dirty="0"/>
          </a:p>
          <a:p>
            <a:pPr marL="0" indent="0">
              <a:lnSpc>
                <a:spcPct val="110000"/>
              </a:lnSpc>
              <a:buNone/>
            </a:pPr>
            <a:r>
              <a:rPr lang="en-US" sz="1050" dirty="0">
                <a:solidFill>
                  <a:srgbClr val="DDE3EA"/>
                </a:solidFill>
                <a:latin typeface="Courier New" pitchFamily="34" charset="0"/>
                <a:ea typeface="Courier New" pitchFamily="34" charset="-122"/>
                <a:cs typeface="Courier New" pitchFamily="34" charset="-120"/>
              </a:rPr>
              <a:t>  enable_open_metrics: true</a:t>
            </a:r>
            <a:endParaRPr lang="en-US" sz="1050" dirty="0"/>
          </a:p>
        </p:txBody>
      </p:sp>
      <p:sp>
        <p:nvSpPr>
          <p:cNvPr id="20" name="Text 18"/>
          <p:cNvSpPr txBox="1"/>
          <p:nvPr/>
        </p:nvSpPr>
        <p:spPr>
          <a:xfrm>
            <a:off x="3425114" y="3977640"/>
            <a:ext cx="2464994" cy="365760"/>
          </a:xfrm>
          <a:prstGeom prst="rect">
            <a:avLst/>
          </a:prstGeom>
          <a:noFill/>
          <a:ln/>
        </p:spPr>
        <p:txBody>
          <a:bodyPr wrap="square" lIns="0" tIns="0" rIns="0" bIns="0" rtlCol="0" anchor="t"/>
          <a:lstStyle/>
          <a:p>
            <a:pPr marL="0" indent="0" algn="ctr">
              <a:lnSpc>
                <a:spcPct val="120000"/>
              </a:lnSpc>
              <a:buNone/>
            </a:pPr>
            <a:r>
              <a:rPr lang="en-US" sz="1100" dirty="0">
                <a:solidFill>
                  <a:srgbClr val="4A5568"/>
                </a:solidFill>
                <a:latin typeface="Courier New" pitchFamily="34" charset="0"/>
                <a:ea typeface="Courier New" pitchFamily="34" charset="-122"/>
                <a:cs typeface="Courier New" pitchFamily="34" charset="-120"/>
              </a:rPr>
              <a:t>otel-collector.yaml</a:t>
            </a:r>
            <a:endParaRPr lang="en-US" sz="1100" dirty="0"/>
          </a:p>
        </p:txBody>
      </p:sp>
      <p:sp>
        <p:nvSpPr>
          <p:cNvPr id="21" name="Shape 19"/>
          <p:cNvSpPr/>
          <p:nvPr/>
        </p:nvSpPr>
        <p:spPr>
          <a:xfrm>
            <a:off x="5935828" y="1874520"/>
            <a:ext cx="320040" cy="0"/>
          </a:xfrm>
          <a:prstGeom prst="line">
            <a:avLst/>
          </a:prstGeom>
          <a:noFill/>
          <a:ln w="19050">
            <a:solidFill>
              <a:srgbClr val="3762FF"/>
            </a:solidFill>
            <a:prstDash val="solid"/>
            <a:tailEnd type="triangle"/>
          </a:ln>
        </p:spPr>
      </p:sp>
      <p:sp>
        <p:nvSpPr>
          <p:cNvPr id="22" name="Shape 20"/>
          <p:cNvSpPr/>
          <p:nvPr/>
        </p:nvSpPr>
        <p:spPr>
          <a:xfrm>
            <a:off x="6301588" y="1600200"/>
            <a:ext cx="2464994" cy="548640"/>
          </a:xfrm>
          <a:prstGeom prst="roundRect">
            <a:avLst>
              <a:gd name="adj" fmla="val 10000"/>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23" name="Text 21"/>
          <p:cNvSpPr txBox="1"/>
          <p:nvPr/>
        </p:nvSpPr>
        <p:spPr>
          <a:xfrm>
            <a:off x="6393028" y="1600200"/>
            <a:ext cx="2282114" cy="548640"/>
          </a:xfrm>
          <a:prstGeom prst="rect">
            <a:avLst/>
          </a:prstGeom>
          <a:noFill/>
          <a:ln/>
        </p:spPr>
        <p:txBody>
          <a:bodyPr wrap="square" lIns="0" tIns="0" rIns="0" bIns="0" rtlCol="0" anchor="ctr"/>
          <a:lstStyle/>
          <a:p>
            <a:pPr marL="0" indent="0" algn="ctr">
              <a:buNone/>
            </a:pPr>
            <a:r>
              <a:rPr lang="en-US" sz="1500" b="1" dirty="0">
                <a:solidFill>
                  <a:srgbClr val="16202B"/>
                </a:solidFill>
                <a:latin typeface="Calibri" pitchFamily="34" charset="0"/>
                <a:ea typeface="Calibri" pitchFamily="34" charset="-122"/>
                <a:cs typeface="Calibri" pitchFamily="34" charset="-120"/>
              </a:rPr>
              <a:t>Prometheus</a:t>
            </a:r>
            <a:endParaRPr lang="en-US" sz="1500" dirty="0"/>
          </a:p>
        </p:txBody>
      </p:sp>
      <p:sp>
        <p:nvSpPr>
          <p:cNvPr id="24" name="Shape 22"/>
          <p:cNvSpPr/>
          <p:nvPr/>
        </p:nvSpPr>
        <p:spPr>
          <a:xfrm>
            <a:off x="6301588" y="2286000"/>
            <a:ext cx="2464994" cy="1600200"/>
          </a:xfrm>
          <a:prstGeom prst="roundRect">
            <a:avLst>
              <a:gd name="adj" fmla="val 3429"/>
            </a:avLst>
          </a:prstGeom>
          <a:solidFill>
            <a:srgbClr val="0F1F33"/>
          </a:solidFill>
          <a:ln w="12700">
            <a:solidFill>
              <a:srgbClr val="0F1F33"/>
            </a:solidFill>
            <a:prstDash val="solid"/>
          </a:ln>
          <a:effectLst>
            <a:outerShdw blurRad="101600" dist="25400" dir="5400000" algn="bl" rotWithShape="0">
              <a:srgbClr val="000000">
                <a:alpha val="10000"/>
              </a:srgbClr>
            </a:outerShdw>
          </a:effectLst>
        </p:spPr>
      </p:sp>
      <p:sp>
        <p:nvSpPr>
          <p:cNvPr id="25" name="Shape 23"/>
          <p:cNvSpPr/>
          <p:nvPr/>
        </p:nvSpPr>
        <p:spPr>
          <a:xfrm>
            <a:off x="6502756" y="2450592"/>
            <a:ext cx="109728" cy="109728"/>
          </a:xfrm>
          <a:prstGeom prst="ellipse">
            <a:avLst/>
          </a:prstGeom>
          <a:solidFill>
            <a:srgbClr val="D64545"/>
          </a:solidFill>
          <a:ln w="12700">
            <a:solidFill>
              <a:srgbClr val="D64545"/>
            </a:solidFill>
            <a:prstDash val="solid"/>
          </a:ln>
        </p:spPr>
      </p:sp>
      <p:sp>
        <p:nvSpPr>
          <p:cNvPr id="26" name="Shape 24"/>
          <p:cNvSpPr/>
          <p:nvPr/>
        </p:nvSpPr>
        <p:spPr>
          <a:xfrm>
            <a:off x="6685636" y="2450592"/>
            <a:ext cx="109728" cy="109728"/>
          </a:xfrm>
          <a:prstGeom prst="ellipse">
            <a:avLst/>
          </a:prstGeom>
          <a:solidFill>
            <a:srgbClr val="FFB020"/>
          </a:solidFill>
          <a:ln w="12700">
            <a:solidFill>
              <a:srgbClr val="FFB020"/>
            </a:solidFill>
            <a:prstDash val="solid"/>
          </a:ln>
        </p:spPr>
      </p:sp>
      <p:sp>
        <p:nvSpPr>
          <p:cNvPr id="27" name="Shape 25"/>
          <p:cNvSpPr/>
          <p:nvPr/>
        </p:nvSpPr>
        <p:spPr>
          <a:xfrm>
            <a:off x="6868516" y="2450592"/>
            <a:ext cx="109728" cy="109728"/>
          </a:xfrm>
          <a:prstGeom prst="ellipse">
            <a:avLst/>
          </a:prstGeom>
          <a:solidFill>
            <a:srgbClr val="3CB371"/>
          </a:solidFill>
          <a:ln w="12700">
            <a:solidFill>
              <a:srgbClr val="3CB371"/>
            </a:solidFill>
            <a:prstDash val="solid"/>
          </a:ln>
        </p:spPr>
      </p:sp>
      <p:sp>
        <p:nvSpPr>
          <p:cNvPr id="28" name="Text 26"/>
          <p:cNvSpPr txBox="1"/>
          <p:nvPr/>
        </p:nvSpPr>
        <p:spPr>
          <a:xfrm>
            <a:off x="6530188" y="2743200"/>
            <a:ext cx="2007794" cy="1005840"/>
          </a:xfrm>
          <a:prstGeom prst="rect">
            <a:avLst/>
          </a:prstGeom>
          <a:noFill/>
          <a:ln/>
        </p:spPr>
        <p:txBody>
          <a:bodyPr wrap="square" lIns="0" tIns="0" rIns="0" bIns="0" rtlCol="0" anchor="t"/>
          <a:lstStyle/>
          <a:p>
            <a:pPr marL="0" indent="0">
              <a:lnSpc>
                <a:spcPct val="110000"/>
              </a:lnSpc>
              <a:buNone/>
            </a:pPr>
            <a:r>
              <a:rPr lang="en-US" sz="1050" dirty="0">
                <a:solidFill>
                  <a:srgbClr val="DDE3EA"/>
                </a:solidFill>
                <a:latin typeface="Courier New" pitchFamily="34" charset="0"/>
                <a:ea typeface="Courier New" pitchFamily="34" charset="-122"/>
                <a:cs typeface="Courier New" pitchFamily="34" charset="-120"/>
              </a:rPr>
              <a:t>extraFlags:</a:t>
            </a:r>
            <a:endParaRPr lang="en-US" sz="1050" dirty="0"/>
          </a:p>
          <a:p>
            <a:pPr marL="0" indent="0">
              <a:lnSpc>
                <a:spcPct val="110000"/>
              </a:lnSpc>
              <a:buNone/>
            </a:pPr>
            <a:r>
              <a:rPr lang="en-US" sz="1050" dirty="0">
                <a:solidFill>
                  <a:srgbClr val="DDE3EA"/>
                </a:solidFill>
                <a:latin typeface="Courier New" pitchFamily="34" charset="0"/>
                <a:ea typeface="Courier New" pitchFamily="34" charset="-122"/>
                <a:cs typeface="Courier New" pitchFamily="34" charset="-120"/>
              </a:rPr>
              <a:t>  - enable-feature=</a:t>
            </a:r>
            <a:endParaRPr lang="en-US" sz="1050" dirty="0"/>
          </a:p>
          <a:p>
            <a:pPr marL="0" indent="0">
              <a:lnSpc>
                <a:spcPct val="110000"/>
              </a:lnSpc>
              <a:buNone/>
            </a:pPr>
            <a:r>
              <a:rPr lang="en-US" sz="1050" dirty="0">
                <a:solidFill>
                  <a:srgbClr val="DDE3EA"/>
                </a:solidFill>
                <a:latin typeface="Courier New" pitchFamily="34" charset="0"/>
                <a:ea typeface="Courier New" pitchFamily="34" charset="-122"/>
                <a:cs typeface="Courier New" pitchFamily="34" charset="-120"/>
              </a:rPr>
              <a:t>    exemplar-storage</a:t>
            </a:r>
            <a:endParaRPr lang="en-US" sz="1050" dirty="0"/>
          </a:p>
        </p:txBody>
      </p:sp>
      <p:sp>
        <p:nvSpPr>
          <p:cNvPr id="29" name="Text 27"/>
          <p:cNvSpPr txBox="1"/>
          <p:nvPr/>
        </p:nvSpPr>
        <p:spPr>
          <a:xfrm>
            <a:off x="6301588" y="3977640"/>
            <a:ext cx="2464994" cy="365760"/>
          </a:xfrm>
          <a:prstGeom prst="rect">
            <a:avLst/>
          </a:prstGeom>
          <a:noFill/>
          <a:ln/>
        </p:spPr>
        <p:txBody>
          <a:bodyPr wrap="square" lIns="0" tIns="0" rIns="0" bIns="0" rtlCol="0" anchor="t"/>
          <a:lstStyle/>
          <a:p>
            <a:pPr marL="0" indent="0" algn="ctr">
              <a:lnSpc>
                <a:spcPct val="120000"/>
              </a:lnSpc>
              <a:buNone/>
            </a:pPr>
            <a:r>
              <a:rPr lang="en-US" sz="1100" dirty="0">
                <a:solidFill>
                  <a:srgbClr val="4A5568"/>
                </a:solidFill>
                <a:latin typeface="Courier New" pitchFamily="34" charset="0"/>
                <a:ea typeface="Courier New" pitchFamily="34" charset="-122"/>
                <a:cs typeface="Courier New" pitchFamily="34" charset="-120"/>
              </a:rPr>
              <a:t>prometheus-values.yaml</a:t>
            </a:r>
            <a:endParaRPr lang="en-US" sz="1100" dirty="0"/>
          </a:p>
        </p:txBody>
      </p:sp>
      <p:sp>
        <p:nvSpPr>
          <p:cNvPr id="30" name="Shape 28"/>
          <p:cNvSpPr/>
          <p:nvPr/>
        </p:nvSpPr>
        <p:spPr>
          <a:xfrm>
            <a:off x="8812301" y="1874520"/>
            <a:ext cx="320040" cy="0"/>
          </a:xfrm>
          <a:prstGeom prst="line">
            <a:avLst/>
          </a:prstGeom>
          <a:noFill/>
          <a:ln w="19050">
            <a:solidFill>
              <a:srgbClr val="3762FF"/>
            </a:solidFill>
            <a:prstDash val="solid"/>
            <a:tailEnd type="triangle"/>
          </a:ln>
        </p:spPr>
      </p:sp>
      <p:sp>
        <p:nvSpPr>
          <p:cNvPr id="31" name="Shape 29"/>
          <p:cNvSpPr/>
          <p:nvPr/>
        </p:nvSpPr>
        <p:spPr>
          <a:xfrm>
            <a:off x="9178061" y="1600200"/>
            <a:ext cx="2464994" cy="548640"/>
          </a:xfrm>
          <a:prstGeom prst="roundRect">
            <a:avLst>
              <a:gd name="adj" fmla="val 10000"/>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32" name="Text 30"/>
          <p:cNvSpPr txBox="1"/>
          <p:nvPr/>
        </p:nvSpPr>
        <p:spPr>
          <a:xfrm>
            <a:off x="9269501" y="1600200"/>
            <a:ext cx="2282114" cy="548640"/>
          </a:xfrm>
          <a:prstGeom prst="rect">
            <a:avLst/>
          </a:prstGeom>
          <a:noFill/>
          <a:ln/>
        </p:spPr>
        <p:txBody>
          <a:bodyPr wrap="square" lIns="0" tIns="0" rIns="0" bIns="0" rtlCol="0" anchor="ctr"/>
          <a:lstStyle/>
          <a:p>
            <a:pPr marL="0" indent="0" algn="ctr">
              <a:buNone/>
            </a:pPr>
            <a:r>
              <a:rPr lang="en-US" sz="1500" b="1" dirty="0">
                <a:solidFill>
                  <a:srgbClr val="16202B"/>
                </a:solidFill>
                <a:latin typeface="Calibri" pitchFamily="34" charset="0"/>
                <a:ea typeface="Calibri" pitchFamily="34" charset="-122"/>
                <a:cs typeface="Calibri" pitchFamily="34" charset="-120"/>
              </a:rPr>
              <a:t>Grafana</a:t>
            </a:r>
            <a:endParaRPr lang="en-US" sz="1500" dirty="0"/>
          </a:p>
        </p:txBody>
      </p:sp>
      <p:sp>
        <p:nvSpPr>
          <p:cNvPr id="33" name="Shape 31"/>
          <p:cNvSpPr/>
          <p:nvPr/>
        </p:nvSpPr>
        <p:spPr>
          <a:xfrm>
            <a:off x="9178061" y="2286000"/>
            <a:ext cx="2464994" cy="1600200"/>
          </a:xfrm>
          <a:prstGeom prst="roundRect">
            <a:avLst>
              <a:gd name="adj" fmla="val 3429"/>
            </a:avLst>
          </a:prstGeom>
          <a:solidFill>
            <a:srgbClr val="0F1F33"/>
          </a:solidFill>
          <a:ln w="12700">
            <a:solidFill>
              <a:srgbClr val="0F1F33"/>
            </a:solidFill>
            <a:prstDash val="solid"/>
          </a:ln>
          <a:effectLst>
            <a:outerShdw blurRad="101600" dist="25400" dir="5400000" algn="bl" rotWithShape="0">
              <a:srgbClr val="000000">
                <a:alpha val="10000"/>
              </a:srgbClr>
            </a:outerShdw>
          </a:effectLst>
        </p:spPr>
      </p:sp>
      <p:sp>
        <p:nvSpPr>
          <p:cNvPr id="34" name="Shape 32"/>
          <p:cNvSpPr/>
          <p:nvPr/>
        </p:nvSpPr>
        <p:spPr>
          <a:xfrm>
            <a:off x="9379229" y="2450592"/>
            <a:ext cx="109728" cy="109728"/>
          </a:xfrm>
          <a:prstGeom prst="ellipse">
            <a:avLst/>
          </a:prstGeom>
          <a:solidFill>
            <a:srgbClr val="D64545"/>
          </a:solidFill>
          <a:ln w="12700">
            <a:solidFill>
              <a:srgbClr val="D64545"/>
            </a:solidFill>
            <a:prstDash val="solid"/>
          </a:ln>
        </p:spPr>
      </p:sp>
      <p:sp>
        <p:nvSpPr>
          <p:cNvPr id="35" name="Shape 33"/>
          <p:cNvSpPr/>
          <p:nvPr/>
        </p:nvSpPr>
        <p:spPr>
          <a:xfrm>
            <a:off x="9562109" y="2450592"/>
            <a:ext cx="109728" cy="109728"/>
          </a:xfrm>
          <a:prstGeom prst="ellipse">
            <a:avLst/>
          </a:prstGeom>
          <a:solidFill>
            <a:srgbClr val="FFB020"/>
          </a:solidFill>
          <a:ln w="12700">
            <a:solidFill>
              <a:srgbClr val="FFB020"/>
            </a:solidFill>
            <a:prstDash val="solid"/>
          </a:ln>
        </p:spPr>
      </p:sp>
      <p:sp>
        <p:nvSpPr>
          <p:cNvPr id="36" name="Shape 34"/>
          <p:cNvSpPr/>
          <p:nvPr/>
        </p:nvSpPr>
        <p:spPr>
          <a:xfrm>
            <a:off x="9744989" y="2450592"/>
            <a:ext cx="109728" cy="109728"/>
          </a:xfrm>
          <a:prstGeom prst="ellipse">
            <a:avLst/>
          </a:prstGeom>
          <a:solidFill>
            <a:srgbClr val="3CB371"/>
          </a:solidFill>
          <a:ln w="12700">
            <a:solidFill>
              <a:srgbClr val="3CB371"/>
            </a:solidFill>
            <a:prstDash val="solid"/>
          </a:ln>
        </p:spPr>
      </p:sp>
      <p:sp>
        <p:nvSpPr>
          <p:cNvPr id="37" name="Text 35"/>
          <p:cNvSpPr txBox="1"/>
          <p:nvPr/>
        </p:nvSpPr>
        <p:spPr>
          <a:xfrm>
            <a:off x="9406661" y="2743200"/>
            <a:ext cx="2007794" cy="1005840"/>
          </a:xfrm>
          <a:prstGeom prst="rect">
            <a:avLst/>
          </a:prstGeom>
          <a:noFill/>
          <a:ln/>
        </p:spPr>
        <p:txBody>
          <a:bodyPr wrap="square" lIns="0" tIns="0" rIns="0" bIns="0" rtlCol="0" anchor="t"/>
          <a:lstStyle/>
          <a:p>
            <a:pPr marL="0" indent="0">
              <a:lnSpc>
                <a:spcPct val="110000"/>
              </a:lnSpc>
              <a:buNone/>
            </a:pPr>
            <a:r>
              <a:rPr lang="en-US" sz="1050" dirty="0">
                <a:solidFill>
                  <a:srgbClr val="DDE3EA"/>
                </a:solidFill>
                <a:latin typeface="Courier New" pitchFamily="34" charset="0"/>
                <a:ea typeface="Courier New" pitchFamily="34" charset="-122"/>
                <a:cs typeface="Courier New" pitchFamily="34" charset="-120"/>
              </a:rPr>
              <a:t>exemplarTraceId</a:t>
            </a:r>
            <a:endParaRPr lang="en-US" sz="1050" dirty="0"/>
          </a:p>
          <a:p>
            <a:pPr marL="0" indent="0">
              <a:lnSpc>
                <a:spcPct val="110000"/>
              </a:lnSpc>
              <a:buNone/>
            </a:pPr>
            <a:r>
              <a:rPr lang="en-US" sz="1050" dirty="0">
                <a:solidFill>
                  <a:srgbClr val="DDE3EA"/>
                </a:solidFill>
                <a:latin typeface="Courier New" pitchFamily="34" charset="0"/>
                <a:ea typeface="Courier New" pitchFamily="34" charset="-122"/>
                <a:cs typeface="Courier New" pitchFamily="34" charset="-120"/>
              </a:rPr>
              <a:t>  Destinations:</a:t>
            </a:r>
            <a:endParaRPr lang="en-US" sz="1050" dirty="0"/>
          </a:p>
          <a:p>
            <a:pPr marL="0" indent="0">
              <a:lnSpc>
                <a:spcPct val="110000"/>
              </a:lnSpc>
              <a:buNone/>
            </a:pPr>
            <a:r>
              <a:rPr lang="en-US" sz="1050" dirty="0">
                <a:solidFill>
                  <a:srgbClr val="DDE3EA"/>
                </a:solidFill>
                <a:latin typeface="Courier New" pitchFamily="34" charset="0"/>
                <a:ea typeface="Courier New" pitchFamily="34" charset="-122"/>
                <a:cs typeface="Courier New" pitchFamily="34" charset="-120"/>
              </a:rPr>
              <a:t>  - name: trace_id</a:t>
            </a:r>
            <a:endParaRPr lang="en-US" sz="1050" dirty="0"/>
          </a:p>
        </p:txBody>
      </p:sp>
      <p:sp>
        <p:nvSpPr>
          <p:cNvPr id="38" name="Text 36"/>
          <p:cNvSpPr txBox="1"/>
          <p:nvPr/>
        </p:nvSpPr>
        <p:spPr>
          <a:xfrm>
            <a:off x="9178061" y="3977640"/>
            <a:ext cx="2464994" cy="365760"/>
          </a:xfrm>
          <a:prstGeom prst="rect">
            <a:avLst/>
          </a:prstGeom>
          <a:noFill/>
          <a:ln/>
        </p:spPr>
        <p:txBody>
          <a:bodyPr wrap="square" lIns="0" tIns="0" rIns="0" bIns="0" rtlCol="0" anchor="t"/>
          <a:lstStyle/>
          <a:p>
            <a:pPr marL="0" indent="0" algn="ctr">
              <a:lnSpc>
                <a:spcPct val="120000"/>
              </a:lnSpc>
              <a:buNone/>
            </a:pPr>
            <a:r>
              <a:rPr lang="en-US" sz="1100" dirty="0">
                <a:solidFill>
                  <a:srgbClr val="4A5568"/>
                </a:solidFill>
                <a:latin typeface="Courier New" pitchFamily="34" charset="0"/>
                <a:ea typeface="Courier New" pitchFamily="34" charset="-122"/>
                <a:cs typeface="Courier New" pitchFamily="34" charset="-120"/>
              </a:rPr>
              <a:t>grafana-values.yaml</a:t>
            </a:r>
            <a:endParaRPr lang="en-US" sz="1100" dirty="0"/>
          </a:p>
        </p:txBody>
      </p:sp>
      <p:sp>
        <p:nvSpPr>
          <p:cNvPr id="39" name="Shape 37"/>
          <p:cNvSpPr/>
          <p:nvPr/>
        </p:nvSpPr>
        <p:spPr>
          <a:xfrm>
            <a:off x="548640" y="4572000"/>
            <a:ext cx="11094415" cy="1097280"/>
          </a:xfrm>
          <a:prstGeom prst="roundRect">
            <a:avLst>
              <a:gd name="adj" fmla="val 5000"/>
            </a:avLst>
          </a:prstGeom>
          <a:solidFill>
            <a:srgbClr val="E8EDFF"/>
          </a:solidFill>
          <a:ln w="12700">
            <a:solidFill>
              <a:srgbClr val="E8EDFF"/>
            </a:solidFill>
            <a:prstDash val="solid"/>
          </a:ln>
        </p:spPr>
      </p:sp>
      <p:sp>
        <p:nvSpPr>
          <p:cNvPr id="40" name="Text 38"/>
          <p:cNvSpPr txBox="1"/>
          <p:nvPr/>
        </p:nvSpPr>
        <p:spPr>
          <a:xfrm>
            <a:off x="822960" y="4572000"/>
            <a:ext cx="10545775" cy="1097280"/>
          </a:xfrm>
          <a:prstGeom prst="rect">
            <a:avLst/>
          </a:prstGeom>
          <a:noFill/>
          <a:ln/>
        </p:spPr>
        <p:txBody>
          <a:bodyPr wrap="square" lIns="0" tIns="0" rIns="0" bIns="0" rtlCol="0" anchor="ctr"/>
          <a:lstStyle/>
          <a:p>
            <a:pPr marL="0" indent="0">
              <a:buNone/>
            </a:pPr>
            <a:r>
              <a:rPr lang="en-US" sz="1500" b="1" dirty="0">
                <a:solidFill>
                  <a:srgbClr val="16202B"/>
                </a:solidFill>
                <a:latin typeface="Arial" pitchFamily="34" charset="0"/>
                <a:ea typeface="Arial" pitchFamily="34" charset="-122"/>
                <a:cs typeface="Arial" pitchFamily="34" charset="-120"/>
              </a:rPr>
              <a:t>Exemplar = </a:t>
            </a:r>
            <a:r>
              <a:rPr lang="en-US" sz="1500" dirty="0">
                <a:solidFill>
                  <a:srgbClr val="4A5568"/>
                </a:solidFill>
                <a:latin typeface="Arial" pitchFamily="34" charset="0"/>
                <a:ea typeface="Arial" pitchFamily="34" charset="-122"/>
                <a:cs typeface="Arial" pitchFamily="34" charset="-120"/>
              </a:rPr>
              <a:t>ett utvalt mätvärde som bär sitt trace_id. Histogrammet sparar fortfarande bara buckets - men några prickar per tidsintervall pekar på riktiga anrop.</a:t>
            </a:r>
            <a:endParaRPr lang="en-US" sz="15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F1F33"/>
        </a:solidFill>
        <a:effectLst/>
      </p:bgPr>
    </p:bg>
    <p:spTree>
      <p:nvGrpSpPr>
        <p:cNvPr id="1" name=""/>
        <p:cNvGrpSpPr/>
        <p:nvPr/>
      </p:nvGrpSpPr>
      <p:grpSpPr>
        <a:xfrm>
          <a:off x="0" y="0"/>
          <a:ext cx="0" cy="0"/>
          <a:chOff x="0" y="0"/>
          <a:chExt cx="0" cy="0"/>
        </a:xfrm>
      </p:grpSpPr>
      <p:sp>
        <p:nvSpPr>
          <p:cNvPr id="2" name="Text 0"/>
          <p:cNvSpPr txBox="1"/>
          <p:nvPr/>
        </p:nvSpPr>
        <p:spPr>
          <a:xfrm>
            <a:off x="502920" y="1188720"/>
            <a:ext cx="4572000" cy="1920240"/>
          </a:xfrm>
          <a:prstGeom prst="rect">
            <a:avLst/>
          </a:prstGeom>
          <a:noFill/>
          <a:ln/>
        </p:spPr>
        <p:txBody>
          <a:bodyPr wrap="square" lIns="0" tIns="0" rIns="0" bIns="0" rtlCol="0" anchor="ctr"/>
          <a:lstStyle/>
          <a:p>
            <a:pPr marL="0" indent="0">
              <a:buNone/>
            </a:pPr>
            <a:r>
              <a:rPr lang="en-US" sz="15000" b="1" dirty="0">
                <a:solidFill>
                  <a:srgbClr val="16294A"/>
                </a:solidFill>
                <a:latin typeface="Calibri" pitchFamily="34" charset="0"/>
                <a:ea typeface="Calibri" pitchFamily="34" charset="-122"/>
                <a:cs typeface="Calibri" pitchFamily="34" charset="-120"/>
              </a:rPr>
              <a:t>06</a:t>
            </a:r>
            <a:endParaRPr lang="en-US" sz="15000" dirty="0"/>
          </a:p>
        </p:txBody>
      </p:sp>
      <p:sp>
        <p:nvSpPr>
          <p:cNvPr id="3" name="Text 1"/>
          <p:cNvSpPr txBox="1"/>
          <p:nvPr/>
        </p:nvSpPr>
        <p:spPr>
          <a:xfrm>
            <a:off x="548640" y="3063240"/>
            <a:ext cx="11094415" cy="822960"/>
          </a:xfrm>
          <a:prstGeom prst="rect">
            <a:avLst/>
          </a:prstGeom>
          <a:noFill/>
          <a:ln/>
        </p:spPr>
        <p:txBody>
          <a:bodyPr wrap="square" lIns="0" tIns="0" rIns="0" bIns="0" rtlCol="0" anchor="ctr"/>
          <a:lstStyle/>
          <a:p>
            <a:pPr marL="0" indent="0">
              <a:buNone/>
            </a:pPr>
            <a:r>
              <a:rPr lang="en-US" sz="5200" b="1" dirty="0">
                <a:solidFill>
                  <a:srgbClr val="F5F7FA"/>
                </a:solidFill>
                <a:latin typeface="Calibri" pitchFamily="34" charset="0"/>
                <a:ea typeface="Calibri" pitchFamily="34" charset="-122"/>
                <a:cs typeface="Calibri" pitchFamily="34" charset="-120"/>
              </a:rPr>
              <a:t>CQRS i verkligheten</a:t>
            </a:r>
            <a:endParaRPr lang="en-US" sz="5200" dirty="0"/>
          </a:p>
        </p:txBody>
      </p:sp>
      <p:sp>
        <p:nvSpPr>
          <p:cNvPr id="4" name="Text 2"/>
          <p:cNvSpPr txBox="1"/>
          <p:nvPr/>
        </p:nvSpPr>
        <p:spPr>
          <a:xfrm>
            <a:off x="548640" y="3977640"/>
            <a:ext cx="9144000" cy="457200"/>
          </a:xfrm>
          <a:prstGeom prst="rect">
            <a:avLst/>
          </a:prstGeom>
          <a:noFill/>
          <a:ln/>
        </p:spPr>
        <p:txBody>
          <a:bodyPr wrap="square" lIns="0" tIns="0" rIns="0" bIns="0" rtlCol="0" anchor="t"/>
          <a:lstStyle/>
          <a:p>
            <a:pPr marL="0" indent="0">
              <a:lnSpc>
                <a:spcPct val="120000"/>
              </a:lnSpc>
              <a:buNone/>
            </a:pPr>
            <a:r>
              <a:rPr lang="en-US" sz="1800" dirty="0">
                <a:solidFill>
                  <a:srgbClr val="B9C4D1"/>
                </a:solidFill>
                <a:latin typeface="Arial" pitchFamily="34" charset="0"/>
                <a:ea typeface="Arial" pitchFamily="34" charset="-122"/>
                <a:cs typeface="Arial" pitchFamily="34" charset="-120"/>
              </a:rPr>
              <a:t>En trace genom NATS-kön - och eventual consistency i siffror</a:t>
            </a:r>
            <a:endParaRPr lang="en-US" sz="18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F1F33"/>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marL="0" indent="0">
              <a:buNone/>
            </a:pPr>
            <a:r>
              <a:rPr lang="en-US" sz="1200" b="1" kern="0" spc="200" dirty="0">
                <a:solidFill>
                  <a:srgbClr val="7C9CFF"/>
                </a:solidFill>
                <a:latin typeface="Arial" pitchFamily="34" charset="0"/>
                <a:ea typeface="Arial" pitchFamily="34" charset="-122"/>
                <a:cs typeface="Arial" pitchFamily="34" charset="-120"/>
              </a:rPr>
              <a:t>CQRS · EN TRACE</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marL="0" indent="0">
              <a:buNone/>
            </a:pPr>
            <a:r>
              <a:rPr lang="en-US" sz="3000" b="1" dirty="0">
                <a:solidFill>
                  <a:srgbClr val="F5F7FA"/>
                </a:solidFill>
                <a:latin typeface="Calibri" pitchFamily="34" charset="0"/>
                <a:ea typeface="Calibri" pitchFamily="34" charset="-122"/>
                <a:cs typeface="Calibri" pitchFamily="34" charset="-120"/>
              </a:rPr>
              <a:t>POST /api/persons - från klick till databas</a:t>
            </a:r>
            <a:endParaRPr lang="en-US" sz="3000" dirty="0"/>
          </a:p>
        </p:txBody>
      </p:sp>
      <p:sp>
        <p:nvSpPr>
          <p:cNvPr id="4" name="Shape 2"/>
          <p:cNvSpPr/>
          <p:nvPr/>
        </p:nvSpPr>
        <p:spPr>
          <a:xfrm>
            <a:off x="548640" y="1554480"/>
            <a:ext cx="10881360" cy="438912"/>
          </a:xfrm>
          <a:prstGeom prst="roundRect">
            <a:avLst>
              <a:gd name="adj" fmla="val 12500"/>
            </a:avLst>
          </a:prstGeom>
          <a:solidFill>
            <a:srgbClr val="16294A"/>
          </a:solidFill>
          <a:ln w="12700">
            <a:solidFill>
              <a:srgbClr val="16294A"/>
            </a:solidFill>
            <a:prstDash val="solid"/>
          </a:ln>
        </p:spPr>
      </p:sp>
      <p:sp>
        <p:nvSpPr>
          <p:cNvPr id="5" name="Text 3"/>
          <p:cNvSpPr txBox="1"/>
          <p:nvPr/>
        </p:nvSpPr>
        <p:spPr>
          <a:xfrm>
            <a:off x="640080" y="1554480"/>
            <a:ext cx="10698480" cy="438912"/>
          </a:xfrm>
          <a:prstGeom prst="rect">
            <a:avLst/>
          </a:prstGeom>
          <a:noFill/>
          <a:ln/>
        </p:spPr>
        <p:txBody>
          <a:bodyPr wrap="square" lIns="0" tIns="0" rIns="0" bIns="0" rtlCol="0" anchor="ctr"/>
          <a:lstStyle/>
          <a:p>
            <a:pPr marL="0" indent="0" algn="ctr">
              <a:buNone/>
            </a:pPr>
            <a:r>
              <a:rPr lang="en-US" sz="1200" dirty="0">
                <a:solidFill>
                  <a:srgbClr val="F5F7FA"/>
                </a:solidFill>
                <a:latin typeface="Courier New" pitchFamily="34" charset="0"/>
                <a:ea typeface="Courier New" pitchFamily="34" charset="-122"/>
                <a:cs typeface="Courier New" pitchFamily="34" charset="-120"/>
              </a:rPr>
              <a:t>cqrs-client · HTTP POST /api/persons</a:t>
            </a:r>
            <a:endParaRPr lang="en-US" sz="1200" dirty="0"/>
          </a:p>
        </p:txBody>
      </p:sp>
      <p:sp>
        <p:nvSpPr>
          <p:cNvPr id="6" name="Shape 4"/>
          <p:cNvSpPr/>
          <p:nvPr/>
        </p:nvSpPr>
        <p:spPr>
          <a:xfrm>
            <a:off x="868680" y="2103120"/>
            <a:ext cx="10241280" cy="438912"/>
          </a:xfrm>
          <a:prstGeom prst="roundRect">
            <a:avLst>
              <a:gd name="adj" fmla="val 12500"/>
            </a:avLst>
          </a:prstGeom>
          <a:solidFill>
            <a:srgbClr val="16294A"/>
          </a:solidFill>
          <a:ln w="12700">
            <a:solidFill>
              <a:srgbClr val="16294A"/>
            </a:solidFill>
            <a:prstDash val="solid"/>
          </a:ln>
        </p:spPr>
      </p:sp>
      <p:sp>
        <p:nvSpPr>
          <p:cNvPr id="7" name="Text 5"/>
          <p:cNvSpPr txBox="1"/>
          <p:nvPr/>
        </p:nvSpPr>
        <p:spPr>
          <a:xfrm>
            <a:off x="960120" y="2103120"/>
            <a:ext cx="10058400" cy="438912"/>
          </a:xfrm>
          <a:prstGeom prst="rect">
            <a:avLst/>
          </a:prstGeom>
          <a:noFill/>
          <a:ln/>
        </p:spPr>
        <p:txBody>
          <a:bodyPr wrap="square" lIns="0" tIns="0" rIns="0" bIns="0" rtlCol="0" anchor="ctr"/>
          <a:lstStyle/>
          <a:p>
            <a:pPr marL="0" indent="0" algn="ctr">
              <a:buNone/>
            </a:pPr>
            <a:r>
              <a:rPr lang="en-US" sz="1200" dirty="0">
                <a:solidFill>
                  <a:srgbClr val="F5F7FA"/>
                </a:solidFill>
                <a:latin typeface="Courier New" pitchFamily="34" charset="0"/>
                <a:ea typeface="Courier New" pitchFamily="34" charset="-122"/>
                <a:cs typeface="Courier New" pitchFamily="34" charset="-120"/>
              </a:rPr>
              <a:t>cqrs-api · POST /persons → 202</a:t>
            </a:r>
            <a:endParaRPr lang="en-US" sz="1200" dirty="0"/>
          </a:p>
        </p:txBody>
      </p:sp>
      <p:sp>
        <p:nvSpPr>
          <p:cNvPr id="8" name="Shape 6"/>
          <p:cNvSpPr/>
          <p:nvPr/>
        </p:nvSpPr>
        <p:spPr>
          <a:xfrm>
            <a:off x="1188720" y="2651760"/>
            <a:ext cx="2377440" cy="438912"/>
          </a:xfrm>
          <a:prstGeom prst="roundRect">
            <a:avLst>
              <a:gd name="adj" fmla="val 12500"/>
            </a:avLst>
          </a:prstGeom>
          <a:solidFill>
            <a:srgbClr val="3762FF"/>
          </a:solidFill>
          <a:ln w="12700">
            <a:solidFill>
              <a:srgbClr val="3762FF"/>
            </a:solidFill>
            <a:prstDash val="solid"/>
          </a:ln>
        </p:spPr>
      </p:sp>
      <p:sp>
        <p:nvSpPr>
          <p:cNvPr id="9" name="Text 7"/>
          <p:cNvSpPr txBox="1"/>
          <p:nvPr/>
        </p:nvSpPr>
        <p:spPr>
          <a:xfrm>
            <a:off x="1280160" y="2651760"/>
            <a:ext cx="2194560" cy="438912"/>
          </a:xfrm>
          <a:prstGeom prst="rect">
            <a:avLst/>
          </a:prstGeom>
          <a:noFill/>
          <a:ln/>
        </p:spPr>
        <p:txBody>
          <a:bodyPr wrap="square" lIns="0" tIns="0" rIns="0" bIns="0" rtlCol="0" anchor="ctr"/>
          <a:lstStyle/>
          <a:p>
            <a:pPr marL="0" indent="0" algn="ctr">
              <a:buNone/>
            </a:pPr>
            <a:r>
              <a:rPr lang="en-US" sz="1200" dirty="0">
                <a:solidFill>
                  <a:srgbClr val="F5F7FA"/>
                </a:solidFill>
                <a:latin typeface="Courier New" pitchFamily="34" charset="0"/>
                <a:ea typeface="Courier New" pitchFamily="34" charset="-122"/>
                <a:cs typeface="Courier New" pitchFamily="34" charset="-120"/>
              </a:rPr>
              <a:t>persons.cmd.create publish</a:t>
            </a:r>
            <a:endParaRPr lang="en-US" sz="1200" dirty="0"/>
          </a:p>
        </p:txBody>
      </p:sp>
      <p:sp>
        <p:nvSpPr>
          <p:cNvPr id="10" name="Shape 8"/>
          <p:cNvSpPr/>
          <p:nvPr/>
        </p:nvSpPr>
        <p:spPr>
          <a:xfrm>
            <a:off x="3840480" y="3200400"/>
            <a:ext cx="7315200" cy="438912"/>
          </a:xfrm>
          <a:prstGeom prst="roundRect">
            <a:avLst>
              <a:gd name="adj" fmla="val 12500"/>
            </a:avLst>
          </a:prstGeom>
          <a:solidFill>
            <a:srgbClr val="3762FF"/>
          </a:solidFill>
          <a:ln w="12700">
            <a:solidFill>
              <a:srgbClr val="3762FF"/>
            </a:solidFill>
            <a:prstDash val="solid"/>
          </a:ln>
        </p:spPr>
      </p:sp>
      <p:sp>
        <p:nvSpPr>
          <p:cNvPr id="11" name="Text 9"/>
          <p:cNvSpPr txBox="1"/>
          <p:nvPr/>
        </p:nvSpPr>
        <p:spPr>
          <a:xfrm>
            <a:off x="3931920" y="3200400"/>
            <a:ext cx="7132320" cy="438912"/>
          </a:xfrm>
          <a:prstGeom prst="rect">
            <a:avLst/>
          </a:prstGeom>
          <a:noFill/>
          <a:ln/>
        </p:spPr>
        <p:txBody>
          <a:bodyPr wrap="square" lIns="0" tIns="0" rIns="0" bIns="0" rtlCol="0" anchor="ctr"/>
          <a:lstStyle/>
          <a:p>
            <a:pPr marL="0" indent="0" algn="ctr">
              <a:buNone/>
            </a:pPr>
            <a:r>
              <a:rPr lang="en-US" sz="1200" dirty="0">
                <a:solidFill>
                  <a:srgbClr val="F5F7FA"/>
                </a:solidFill>
                <a:latin typeface="Courier New" pitchFamily="34" charset="0"/>
                <a:ea typeface="Courier New" pitchFamily="34" charset="-122"/>
                <a:cs typeface="Courier New" pitchFamily="34" charset="-120"/>
              </a:rPr>
              <a:t>cqrs-worker · persons.cmd.create process</a:t>
            </a:r>
            <a:endParaRPr lang="en-US" sz="1200" dirty="0"/>
          </a:p>
        </p:txBody>
      </p:sp>
      <p:sp>
        <p:nvSpPr>
          <p:cNvPr id="12" name="Shape 10"/>
          <p:cNvSpPr/>
          <p:nvPr/>
        </p:nvSpPr>
        <p:spPr>
          <a:xfrm>
            <a:off x="4206240" y="3749040"/>
            <a:ext cx="2926080" cy="438912"/>
          </a:xfrm>
          <a:prstGeom prst="roundRect">
            <a:avLst>
              <a:gd name="adj" fmla="val 12500"/>
            </a:avLst>
          </a:prstGeom>
          <a:solidFill>
            <a:srgbClr val="16294A"/>
          </a:solidFill>
          <a:ln w="12700">
            <a:solidFill>
              <a:srgbClr val="16294A"/>
            </a:solidFill>
            <a:prstDash val="solid"/>
          </a:ln>
        </p:spPr>
      </p:sp>
      <p:sp>
        <p:nvSpPr>
          <p:cNvPr id="13" name="Text 11"/>
          <p:cNvSpPr txBox="1"/>
          <p:nvPr/>
        </p:nvSpPr>
        <p:spPr>
          <a:xfrm>
            <a:off x="4297680" y="3749040"/>
            <a:ext cx="2743200" cy="438912"/>
          </a:xfrm>
          <a:prstGeom prst="rect">
            <a:avLst/>
          </a:prstGeom>
          <a:noFill/>
          <a:ln/>
        </p:spPr>
        <p:txBody>
          <a:bodyPr wrap="square" lIns="0" tIns="0" rIns="0" bIns="0" rtlCol="0" anchor="ctr"/>
          <a:lstStyle/>
          <a:p>
            <a:pPr marL="0" indent="0" algn="ctr">
              <a:buNone/>
            </a:pPr>
            <a:r>
              <a:rPr lang="en-US" sz="1200" dirty="0">
                <a:solidFill>
                  <a:srgbClr val="F5F7FA"/>
                </a:solidFill>
                <a:latin typeface="Courier New" pitchFamily="34" charset="0"/>
                <a:ea typeface="Courier New" pitchFamily="34" charset="-122"/>
                <a:cs typeface="Courier New" pitchFamily="34" charset="-120"/>
              </a:rPr>
              <a:t>EF Core · SELECT … EXISTS</a:t>
            </a:r>
            <a:endParaRPr lang="en-US" sz="1200" dirty="0"/>
          </a:p>
        </p:txBody>
      </p:sp>
      <p:sp>
        <p:nvSpPr>
          <p:cNvPr id="14" name="Shape 12"/>
          <p:cNvSpPr/>
          <p:nvPr/>
        </p:nvSpPr>
        <p:spPr>
          <a:xfrm>
            <a:off x="7315200" y="4297680"/>
            <a:ext cx="3657600" cy="438912"/>
          </a:xfrm>
          <a:prstGeom prst="roundRect">
            <a:avLst>
              <a:gd name="adj" fmla="val 12500"/>
            </a:avLst>
          </a:prstGeom>
          <a:solidFill>
            <a:srgbClr val="16294A"/>
          </a:solidFill>
          <a:ln w="12700">
            <a:solidFill>
              <a:srgbClr val="16294A"/>
            </a:solidFill>
            <a:prstDash val="solid"/>
          </a:ln>
        </p:spPr>
      </p:sp>
      <p:sp>
        <p:nvSpPr>
          <p:cNvPr id="15" name="Text 13"/>
          <p:cNvSpPr txBox="1"/>
          <p:nvPr/>
        </p:nvSpPr>
        <p:spPr>
          <a:xfrm>
            <a:off x="7406640" y="4297680"/>
            <a:ext cx="3474720" cy="438912"/>
          </a:xfrm>
          <a:prstGeom prst="rect">
            <a:avLst/>
          </a:prstGeom>
          <a:noFill/>
          <a:ln/>
        </p:spPr>
        <p:txBody>
          <a:bodyPr wrap="square" lIns="0" tIns="0" rIns="0" bIns="0" rtlCol="0" anchor="ctr"/>
          <a:lstStyle/>
          <a:p>
            <a:pPr marL="0" indent="0" algn="ctr">
              <a:buNone/>
            </a:pPr>
            <a:r>
              <a:rPr lang="en-US" sz="1200" dirty="0">
                <a:solidFill>
                  <a:srgbClr val="F5F7FA"/>
                </a:solidFill>
                <a:latin typeface="Courier New" pitchFamily="34" charset="0"/>
                <a:ea typeface="Courier New" pitchFamily="34" charset="-122"/>
                <a:cs typeface="Courier New" pitchFamily="34" charset="-120"/>
              </a:rPr>
              <a:t>EF Core · INSERT INTO Persons</a:t>
            </a:r>
            <a:endParaRPr lang="en-US" sz="1200" dirty="0"/>
          </a:p>
        </p:txBody>
      </p:sp>
      <p:sp>
        <p:nvSpPr>
          <p:cNvPr id="16" name="Shape 14"/>
          <p:cNvSpPr/>
          <p:nvPr/>
        </p:nvSpPr>
        <p:spPr>
          <a:xfrm>
            <a:off x="3657600" y="2606040"/>
            <a:ext cx="0" cy="914400"/>
          </a:xfrm>
          <a:prstGeom prst="line">
            <a:avLst/>
          </a:prstGeom>
          <a:noFill/>
          <a:ln w="19050">
            <a:solidFill>
              <a:srgbClr val="FFB020"/>
            </a:solidFill>
            <a:prstDash val="dash"/>
          </a:ln>
        </p:spPr>
      </p:sp>
      <p:sp>
        <p:nvSpPr>
          <p:cNvPr id="17" name="Text 15"/>
          <p:cNvSpPr txBox="1"/>
          <p:nvPr/>
        </p:nvSpPr>
        <p:spPr>
          <a:xfrm>
            <a:off x="1188720" y="3246120"/>
            <a:ext cx="2377440" cy="457200"/>
          </a:xfrm>
          <a:prstGeom prst="rect">
            <a:avLst/>
          </a:prstGeom>
          <a:noFill/>
          <a:ln/>
        </p:spPr>
        <p:txBody>
          <a:bodyPr wrap="square" lIns="0" tIns="0" rIns="0" bIns="0" rtlCol="0" anchor="ctr"/>
          <a:lstStyle/>
          <a:p>
            <a:pPr marL="0" indent="0">
              <a:buNone/>
            </a:pPr>
            <a:r>
              <a:rPr lang="en-US" sz="1000" dirty="0">
                <a:solidFill>
                  <a:srgbClr val="FFB020"/>
                </a:solidFill>
                <a:latin typeface="Arial" pitchFamily="34" charset="0"/>
                <a:ea typeface="Arial" pitchFamily="34" charset="-122"/>
                <a:cs typeface="Arial" pitchFamily="34" charset="-120"/>
              </a:rPr>
              <a:t>NATS JetStream</a:t>
            </a:r>
            <a:endParaRPr lang="en-US" sz="1000" dirty="0"/>
          </a:p>
          <a:p>
            <a:pPr marL="0" indent="0">
              <a:buNone/>
            </a:pPr>
            <a:r>
              <a:rPr lang="en-US" sz="1000" dirty="0">
                <a:solidFill>
                  <a:srgbClr val="FFB020"/>
                </a:solidFill>
                <a:latin typeface="Arial" pitchFamily="34" charset="0"/>
                <a:ea typeface="Arial" pitchFamily="34" charset="-122"/>
                <a:cs typeface="Arial" pitchFamily="34" charset="-120"/>
              </a:rPr>
              <a:t>traceparent i headers</a:t>
            </a:r>
            <a:endParaRPr lang="en-US" sz="1000" dirty="0"/>
          </a:p>
        </p:txBody>
      </p:sp>
      <p:sp>
        <p:nvSpPr>
          <p:cNvPr id="18" name="Shape 16"/>
          <p:cNvSpPr/>
          <p:nvPr/>
        </p:nvSpPr>
        <p:spPr>
          <a:xfrm>
            <a:off x="548640" y="4846320"/>
            <a:ext cx="3606698" cy="1097280"/>
          </a:xfrm>
          <a:prstGeom prst="roundRect">
            <a:avLst>
              <a:gd name="adj" fmla="val 5000"/>
            </a:avLst>
          </a:prstGeom>
          <a:solidFill>
            <a:srgbClr val="16294A"/>
          </a:solidFill>
          <a:ln w="12700">
            <a:solidFill>
              <a:srgbClr val="16294A"/>
            </a:solidFill>
            <a:prstDash val="solid"/>
          </a:ln>
        </p:spPr>
      </p:sp>
      <p:sp>
        <p:nvSpPr>
          <p:cNvPr id="19" name="Text 17"/>
          <p:cNvSpPr txBox="1"/>
          <p:nvPr/>
        </p:nvSpPr>
        <p:spPr>
          <a:xfrm>
            <a:off x="749808" y="5047488"/>
            <a:ext cx="3204362" cy="320040"/>
          </a:xfrm>
          <a:prstGeom prst="rect">
            <a:avLst/>
          </a:prstGeom>
          <a:noFill/>
          <a:ln/>
        </p:spPr>
        <p:txBody>
          <a:bodyPr wrap="square" lIns="0" tIns="0" rIns="0" bIns="0" rtlCol="0" anchor="t"/>
          <a:lstStyle/>
          <a:p>
            <a:pPr marL="0" indent="0">
              <a:buNone/>
            </a:pPr>
            <a:r>
              <a:rPr lang="en-US" sz="1400" b="1" dirty="0">
                <a:solidFill>
                  <a:srgbClr val="F5F7FA"/>
                </a:solidFill>
                <a:latin typeface="Calibri" pitchFamily="34" charset="0"/>
                <a:ea typeface="Calibri" pitchFamily="34" charset="-122"/>
                <a:cs typeface="Calibri" pitchFamily="34" charset="-120"/>
              </a:rPr>
              <a:t>API svarar 202</a:t>
            </a:r>
            <a:endParaRPr lang="en-US" sz="1400" dirty="0"/>
          </a:p>
        </p:txBody>
      </p:sp>
      <p:sp>
        <p:nvSpPr>
          <p:cNvPr id="20" name="Text 18"/>
          <p:cNvSpPr txBox="1"/>
          <p:nvPr/>
        </p:nvSpPr>
        <p:spPr>
          <a:xfrm>
            <a:off x="749808" y="5431536"/>
            <a:ext cx="3204362" cy="356616"/>
          </a:xfrm>
          <a:prstGeom prst="rect">
            <a:avLst/>
          </a:prstGeom>
          <a:noFill/>
          <a:ln/>
        </p:spPr>
        <p:txBody>
          <a:bodyPr wrap="square" lIns="0" tIns="0" rIns="0" bIns="0" rtlCol="0" anchor="t"/>
          <a:lstStyle/>
          <a:p>
            <a:pPr marL="0" indent="0">
              <a:lnSpc>
                <a:spcPct val="115000"/>
              </a:lnSpc>
              <a:buNone/>
            </a:pPr>
            <a:r>
              <a:rPr lang="en-US" sz="1150" dirty="0">
                <a:solidFill>
                  <a:srgbClr val="B9C4D1"/>
                </a:solidFill>
                <a:latin typeface="Arial" pitchFamily="34" charset="0"/>
                <a:ea typeface="Arial" pitchFamily="34" charset="-122"/>
                <a:cs typeface="Arial" pitchFamily="34" charset="-120"/>
              </a:rPr>
              <a:t>Workern fortsätter efteråt - i samma trace.</a:t>
            </a:r>
            <a:endParaRPr lang="en-US" sz="1150" dirty="0"/>
          </a:p>
        </p:txBody>
      </p:sp>
      <p:sp>
        <p:nvSpPr>
          <p:cNvPr id="21" name="Shape 19"/>
          <p:cNvSpPr/>
          <p:nvPr/>
        </p:nvSpPr>
        <p:spPr>
          <a:xfrm>
            <a:off x="4292498" y="4846320"/>
            <a:ext cx="3606698" cy="1097280"/>
          </a:xfrm>
          <a:prstGeom prst="roundRect">
            <a:avLst>
              <a:gd name="adj" fmla="val 5000"/>
            </a:avLst>
          </a:prstGeom>
          <a:solidFill>
            <a:srgbClr val="3762FF"/>
          </a:solidFill>
          <a:ln w="12700">
            <a:solidFill>
              <a:srgbClr val="3762FF"/>
            </a:solidFill>
            <a:prstDash val="solid"/>
          </a:ln>
        </p:spPr>
      </p:sp>
      <p:sp>
        <p:nvSpPr>
          <p:cNvPr id="22" name="Text 20"/>
          <p:cNvSpPr txBox="1"/>
          <p:nvPr/>
        </p:nvSpPr>
        <p:spPr>
          <a:xfrm>
            <a:off x="4493666" y="5047488"/>
            <a:ext cx="3204362" cy="320040"/>
          </a:xfrm>
          <a:prstGeom prst="rect">
            <a:avLst/>
          </a:prstGeom>
          <a:noFill/>
          <a:ln/>
        </p:spPr>
        <p:txBody>
          <a:bodyPr wrap="square" lIns="0" tIns="0" rIns="0" bIns="0" rtlCol="0" anchor="t"/>
          <a:lstStyle/>
          <a:p>
            <a:pPr marL="0" indent="0">
              <a:buNone/>
            </a:pPr>
            <a:r>
              <a:rPr lang="en-US" sz="1400" b="1" dirty="0">
                <a:solidFill>
                  <a:srgbClr val="FFFFFF"/>
                </a:solidFill>
                <a:latin typeface="Calibri" pitchFamily="34" charset="0"/>
                <a:ea typeface="Calibri" pitchFamily="34" charset="-122"/>
                <a:cs typeface="Calibri" pitchFamily="34" charset="-120"/>
              </a:rPr>
              <a:t>Kö-tid</a:t>
            </a:r>
            <a:endParaRPr lang="en-US" sz="1400" dirty="0"/>
          </a:p>
        </p:txBody>
      </p:sp>
      <p:sp>
        <p:nvSpPr>
          <p:cNvPr id="23" name="Text 21"/>
          <p:cNvSpPr txBox="1"/>
          <p:nvPr/>
        </p:nvSpPr>
        <p:spPr>
          <a:xfrm>
            <a:off x="4493666" y="5431536"/>
            <a:ext cx="3204362" cy="356616"/>
          </a:xfrm>
          <a:prstGeom prst="rect">
            <a:avLst/>
          </a:prstGeom>
          <a:noFill/>
          <a:ln/>
        </p:spPr>
        <p:txBody>
          <a:bodyPr wrap="square" lIns="0" tIns="0" rIns="0" bIns="0" rtlCol="0" anchor="t"/>
          <a:lstStyle/>
          <a:p>
            <a:pPr marL="0" indent="0">
              <a:lnSpc>
                <a:spcPct val="115000"/>
              </a:lnSpc>
              <a:buNone/>
            </a:pPr>
            <a:r>
              <a:rPr lang="en-US" sz="1150" dirty="0">
                <a:solidFill>
                  <a:srgbClr val="FFFFFF"/>
                </a:solidFill>
                <a:latin typeface="Arial" pitchFamily="34" charset="0"/>
                <a:ea typeface="Arial" pitchFamily="34" charset="-122"/>
                <a:cs typeface="Arial" pitchFamily="34" charset="-120"/>
              </a:rPr>
              <a:t>Glappet publish → process = eventual consistency.</a:t>
            </a:r>
            <a:endParaRPr lang="en-US" sz="1150" dirty="0"/>
          </a:p>
        </p:txBody>
      </p:sp>
      <p:sp>
        <p:nvSpPr>
          <p:cNvPr id="24" name="Shape 22"/>
          <p:cNvSpPr/>
          <p:nvPr/>
        </p:nvSpPr>
        <p:spPr>
          <a:xfrm>
            <a:off x="8036357" y="4846320"/>
            <a:ext cx="3606698" cy="1097280"/>
          </a:xfrm>
          <a:prstGeom prst="roundRect">
            <a:avLst>
              <a:gd name="adj" fmla="val 5000"/>
            </a:avLst>
          </a:prstGeom>
          <a:solidFill>
            <a:srgbClr val="16294A"/>
          </a:solidFill>
          <a:ln w="12700">
            <a:solidFill>
              <a:srgbClr val="16294A"/>
            </a:solidFill>
            <a:prstDash val="solid"/>
          </a:ln>
        </p:spPr>
      </p:sp>
      <p:sp>
        <p:nvSpPr>
          <p:cNvPr id="25" name="Text 23"/>
          <p:cNvSpPr txBox="1"/>
          <p:nvPr/>
        </p:nvSpPr>
        <p:spPr>
          <a:xfrm>
            <a:off x="8237525" y="5047488"/>
            <a:ext cx="3204362" cy="320040"/>
          </a:xfrm>
          <a:prstGeom prst="rect">
            <a:avLst/>
          </a:prstGeom>
          <a:noFill/>
          <a:ln/>
        </p:spPr>
        <p:txBody>
          <a:bodyPr wrap="square" lIns="0" tIns="0" rIns="0" bIns="0" rtlCol="0" anchor="t"/>
          <a:lstStyle/>
          <a:p>
            <a:pPr marL="0" indent="0">
              <a:buNone/>
            </a:pPr>
            <a:r>
              <a:rPr lang="en-US" sz="1400" b="1" dirty="0">
                <a:solidFill>
                  <a:srgbClr val="F5F7FA"/>
                </a:solidFill>
                <a:latin typeface="Calibri" pitchFamily="34" charset="0"/>
                <a:ea typeface="Calibri" pitchFamily="34" charset="-122"/>
                <a:cs typeface="Calibri" pitchFamily="34" charset="-120"/>
              </a:rPr>
              <a:t>Två processer</a:t>
            </a:r>
            <a:endParaRPr lang="en-US" sz="1400" dirty="0"/>
          </a:p>
        </p:txBody>
      </p:sp>
      <p:sp>
        <p:nvSpPr>
          <p:cNvPr id="26" name="Text 24"/>
          <p:cNvSpPr txBox="1"/>
          <p:nvPr/>
        </p:nvSpPr>
        <p:spPr>
          <a:xfrm>
            <a:off x="8237525" y="5431536"/>
            <a:ext cx="3204362" cy="356616"/>
          </a:xfrm>
          <a:prstGeom prst="rect">
            <a:avLst/>
          </a:prstGeom>
          <a:noFill/>
          <a:ln/>
        </p:spPr>
        <p:txBody>
          <a:bodyPr wrap="square" lIns="0" tIns="0" rIns="0" bIns="0" rtlCol="0" anchor="t"/>
          <a:lstStyle/>
          <a:p>
            <a:pPr marL="0" indent="0">
              <a:lnSpc>
                <a:spcPct val="115000"/>
              </a:lnSpc>
              <a:buNone/>
            </a:pPr>
            <a:r>
              <a:rPr lang="en-US" sz="1150" dirty="0">
                <a:solidFill>
                  <a:srgbClr val="B9C4D1"/>
                </a:solidFill>
                <a:latin typeface="Arial" pitchFamily="34" charset="0"/>
                <a:ea typeface="Arial" pitchFamily="34" charset="-122"/>
                <a:cs typeface="Arial" pitchFamily="34" charset="-120"/>
              </a:rPr>
              <a:t>Två poddar och en kö - ett vattenfall.</a:t>
            </a:r>
            <a:endParaRPr lang="en-US" sz="11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7F7F4"/>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marL="0" indent="0">
              <a:buNone/>
            </a:pPr>
            <a:r>
              <a:rPr lang="en-US" sz="1200" b="1" kern="0" spc="200" dirty="0">
                <a:solidFill>
                  <a:srgbClr val="3762FF"/>
                </a:solidFill>
                <a:latin typeface="Arial" pitchFamily="34" charset="0"/>
                <a:ea typeface="Arial" pitchFamily="34" charset="-122"/>
                <a:cs typeface="Arial" pitchFamily="34" charset="-120"/>
              </a:rPr>
              <a:t>CQRS · KODEN</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marL="0" indent="0">
              <a:buNone/>
            </a:pPr>
            <a:r>
              <a:rPr lang="en-US" sz="3000" b="1" dirty="0">
                <a:solidFill>
                  <a:srgbClr val="16202B"/>
                </a:solidFill>
                <a:latin typeface="Calibri" pitchFamily="34" charset="0"/>
                <a:ea typeface="Calibri" pitchFamily="34" charset="-122"/>
                <a:cs typeface="Calibri" pitchFamily="34" charset="-120"/>
              </a:rPr>
              <a:t>Fyra rader som binder ihop API och worker</a:t>
            </a:r>
            <a:endParaRPr lang="en-US" sz="3000" dirty="0"/>
          </a:p>
        </p:txBody>
      </p:sp>
      <p:sp>
        <p:nvSpPr>
          <p:cNvPr id="4" name="Shape 2"/>
          <p:cNvSpPr/>
          <p:nvPr/>
        </p:nvSpPr>
        <p:spPr>
          <a:xfrm>
            <a:off x="548640" y="1554480"/>
            <a:ext cx="5455768" cy="2926080"/>
          </a:xfrm>
          <a:prstGeom prst="roundRect">
            <a:avLst>
              <a:gd name="adj" fmla="val 1875"/>
            </a:avLst>
          </a:prstGeom>
          <a:solidFill>
            <a:srgbClr val="0F1F33"/>
          </a:solidFill>
          <a:ln w="12700">
            <a:solidFill>
              <a:srgbClr val="0F1F33"/>
            </a:solidFill>
            <a:prstDash val="solid"/>
          </a:ln>
          <a:effectLst>
            <a:outerShdw blurRad="101600" dist="25400" dir="5400000" algn="bl" rotWithShape="0">
              <a:srgbClr val="000000">
                <a:alpha val="10000"/>
              </a:srgbClr>
            </a:outerShdw>
          </a:effectLst>
        </p:spPr>
      </p:sp>
      <p:sp>
        <p:nvSpPr>
          <p:cNvPr id="5" name="Shape 3"/>
          <p:cNvSpPr/>
          <p:nvPr/>
        </p:nvSpPr>
        <p:spPr>
          <a:xfrm>
            <a:off x="749808" y="1719072"/>
            <a:ext cx="109728" cy="109728"/>
          </a:xfrm>
          <a:prstGeom prst="ellipse">
            <a:avLst/>
          </a:prstGeom>
          <a:solidFill>
            <a:srgbClr val="D64545"/>
          </a:solidFill>
          <a:ln w="12700">
            <a:solidFill>
              <a:srgbClr val="D64545"/>
            </a:solidFill>
            <a:prstDash val="solid"/>
          </a:ln>
        </p:spPr>
      </p:sp>
      <p:sp>
        <p:nvSpPr>
          <p:cNvPr id="6" name="Shape 4"/>
          <p:cNvSpPr/>
          <p:nvPr/>
        </p:nvSpPr>
        <p:spPr>
          <a:xfrm>
            <a:off x="932688" y="1719072"/>
            <a:ext cx="109728" cy="109728"/>
          </a:xfrm>
          <a:prstGeom prst="ellipse">
            <a:avLst/>
          </a:prstGeom>
          <a:solidFill>
            <a:srgbClr val="FFB020"/>
          </a:solidFill>
          <a:ln w="12700">
            <a:solidFill>
              <a:srgbClr val="FFB020"/>
            </a:solidFill>
            <a:prstDash val="solid"/>
          </a:ln>
        </p:spPr>
      </p:sp>
      <p:sp>
        <p:nvSpPr>
          <p:cNvPr id="7" name="Shape 5"/>
          <p:cNvSpPr/>
          <p:nvPr/>
        </p:nvSpPr>
        <p:spPr>
          <a:xfrm>
            <a:off x="1115568" y="1719072"/>
            <a:ext cx="109728" cy="109728"/>
          </a:xfrm>
          <a:prstGeom prst="ellipse">
            <a:avLst/>
          </a:prstGeom>
          <a:solidFill>
            <a:srgbClr val="3CB371"/>
          </a:solidFill>
          <a:ln w="12700">
            <a:solidFill>
              <a:srgbClr val="3CB371"/>
            </a:solidFill>
            <a:prstDash val="solid"/>
          </a:ln>
        </p:spPr>
      </p:sp>
      <p:sp>
        <p:nvSpPr>
          <p:cNvPr id="8" name="Text 6"/>
          <p:cNvSpPr txBox="1"/>
          <p:nvPr/>
        </p:nvSpPr>
        <p:spPr>
          <a:xfrm>
            <a:off x="1371600" y="1645920"/>
            <a:ext cx="4449928" cy="256032"/>
          </a:xfrm>
          <a:prstGeom prst="rect">
            <a:avLst/>
          </a:prstGeom>
          <a:noFill/>
          <a:ln/>
        </p:spPr>
        <p:txBody>
          <a:bodyPr wrap="square" lIns="0" tIns="0" rIns="0" bIns="0" rtlCol="0" anchor="ctr"/>
          <a:lstStyle/>
          <a:p>
            <a:pPr marL="0" indent="0">
              <a:buNone/>
            </a:pPr>
            <a:r>
              <a:rPr lang="en-US" sz="1100" dirty="0">
                <a:solidFill>
                  <a:srgbClr val="B9C4D1"/>
                </a:solidFill>
                <a:latin typeface="Courier New" pitchFamily="34" charset="0"/>
                <a:ea typeface="Courier New" pitchFamily="34" charset="-122"/>
                <a:cs typeface="Courier New" pitchFamily="34" charset="-120"/>
              </a:rPr>
              <a:t>CQRSApi</a:t>
            </a:r>
            <a:endParaRPr lang="en-US" sz="1100" dirty="0"/>
          </a:p>
        </p:txBody>
      </p:sp>
      <p:sp>
        <p:nvSpPr>
          <p:cNvPr id="9" name="Text 7"/>
          <p:cNvSpPr txBox="1"/>
          <p:nvPr/>
        </p:nvSpPr>
        <p:spPr>
          <a:xfrm>
            <a:off x="777240" y="2011680"/>
            <a:ext cx="4998568" cy="2331720"/>
          </a:xfrm>
          <a:prstGeom prst="rect">
            <a:avLst/>
          </a:prstGeom>
          <a:noFill/>
          <a:ln/>
        </p:spPr>
        <p:txBody>
          <a:bodyPr wrap="square" lIns="0" tIns="0" rIns="0" bIns="0" rtlCol="0" anchor="t"/>
          <a:lstStyle/>
          <a:p>
            <a:pPr marL="0" indent="0">
              <a:lnSpc>
                <a:spcPct val="110000"/>
              </a:lnSpc>
              <a:buNone/>
            </a:pPr>
            <a:r>
              <a:rPr lang="en-US" sz="1100" i="1" dirty="0">
                <a:solidFill>
                  <a:srgbClr val="B9C4D1"/>
                </a:solidFill>
                <a:latin typeface="Courier New" pitchFamily="34" charset="0"/>
                <a:ea typeface="Courier New" pitchFamily="34" charset="-122"/>
                <a:cs typeface="Courier New" pitchFamily="34" charset="-120"/>
              </a:rPr>
              <a:t>// CQRSApi/Telemetry/TelemetryExtensions.cs</a:t>
            </a:r>
            <a:endParaRPr lang="en-US" sz="1100" dirty="0"/>
          </a:p>
          <a:p>
            <a:pPr marL="0" indent="0">
              <a:lnSpc>
                <a:spcPct val="110000"/>
              </a:lnSpc>
              <a:buNone/>
            </a:pPr>
            <a:r>
              <a:rPr lang="en-US" sz="1100" dirty="0">
                <a:solidFill>
                  <a:srgbClr val="DDE3EA"/>
                </a:solidFill>
                <a:latin typeface="Courier New" pitchFamily="34" charset="0"/>
                <a:ea typeface="Courier New" pitchFamily="34" charset="-122"/>
                <a:cs typeface="Courier New" pitchFamily="34" charset="-120"/>
              </a:rPr>
              <a:t>.WithTracing(t =&gt; t</a:t>
            </a:r>
            <a:endParaRPr lang="en-US" sz="1100" dirty="0"/>
          </a:p>
          <a:p>
            <a:pPr marL="0" indent="0">
              <a:lnSpc>
                <a:spcPct val="110000"/>
              </a:lnSpc>
              <a:buNone/>
            </a:pPr>
            <a:r>
              <a:rPr lang="en-US" sz="1100" dirty="0">
                <a:solidFill>
                  <a:srgbClr val="DDE3EA"/>
                </a:solidFill>
                <a:latin typeface="Courier New" pitchFamily="34" charset="0"/>
                <a:ea typeface="Courier New" pitchFamily="34" charset="-122"/>
                <a:cs typeface="Courier New" pitchFamily="34" charset="-120"/>
              </a:rPr>
              <a:t>    .AddSource("NATS.Net")       // publish + traceparent</a:t>
            </a:r>
            <a:endParaRPr lang="en-US" sz="1100" dirty="0"/>
          </a:p>
          <a:p>
            <a:pPr marL="0" indent="0">
              <a:lnSpc>
                <a:spcPct val="110000"/>
              </a:lnSpc>
              <a:buNone/>
            </a:pPr>
            <a:r>
              <a:rPr lang="en-US" sz="1100" dirty="0">
                <a:solidFill>
                  <a:srgbClr val="DDE3EA"/>
                </a:solidFill>
                <a:latin typeface="Courier New" pitchFamily="34" charset="0"/>
                <a:ea typeface="Courier New" pitchFamily="34" charset="-122"/>
                <a:cs typeface="Courier New" pitchFamily="34" charset="-120"/>
              </a:rPr>
              <a:t>    .AddSource("MySqlConnector") // Dapper-frågorna</a:t>
            </a:r>
            <a:endParaRPr lang="en-US" sz="1100" dirty="0"/>
          </a:p>
          <a:p>
            <a:pPr marL="0" indent="0">
              <a:lnSpc>
                <a:spcPct val="110000"/>
              </a:lnSpc>
              <a:buNone/>
            </a:pPr>
            <a:r>
              <a:rPr lang="en-US" sz="1100" dirty="0">
                <a:solidFill>
                  <a:srgbClr val="DDE3EA"/>
                </a:solidFill>
                <a:latin typeface="Courier New" pitchFamily="34" charset="0"/>
                <a:ea typeface="Courier New" pitchFamily="34" charset="-122"/>
                <a:cs typeface="Courier New" pitchFamily="34" charset="-120"/>
              </a:rPr>
              <a:t>    .AddAspNetCoreInstrumentation())</a:t>
            </a:r>
            <a:endParaRPr lang="en-US" sz="1100" dirty="0"/>
          </a:p>
        </p:txBody>
      </p:sp>
      <p:sp>
        <p:nvSpPr>
          <p:cNvPr id="10" name="Shape 8"/>
          <p:cNvSpPr/>
          <p:nvPr/>
        </p:nvSpPr>
        <p:spPr>
          <a:xfrm>
            <a:off x="6187288" y="1554480"/>
            <a:ext cx="5455768" cy="2926080"/>
          </a:xfrm>
          <a:prstGeom prst="roundRect">
            <a:avLst>
              <a:gd name="adj" fmla="val 1875"/>
            </a:avLst>
          </a:prstGeom>
          <a:solidFill>
            <a:srgbClr val="0F1F33"/>
          </a:solidFill>
          <a:ln w="12700">
            <a:solidFill>
              <a:srgbClr val="0F1F33"/>
            </a:solidFill>
            <a:prstDash val="solid"/>
          </a:ln>
          <a:effectLst>
            <a:outerShdw blurRad="101600" dist="25400" dir="5400000" algn="bl" rotWithShape="0">
              <a:srgbClr val="000000">
                <a:alpha val="10000"/>
              </a:srgbClr>
            </a:outerShdw>
          </a:effectLst>
        </p:spPr>
      </p:sp>
      <p:sp>
        <p:nvSpPr>
          <p:cNvPr id="11" name="Shape 9"/>
          <p:cNvSpPr/>
          <p:nvPr/>
        </p:nvSpPr>
        <p:spPr>
          <a:xfrm>
            <a:off x="6388456" y="1719072"/>
            <a:ext cx="109728" cy="109728"/>
          </a:xfrm>
          <a:prstGeom prst="ellipse">
            <a:avLst/>
          </a:prstGeom>
          <a:solidFill>
            <a:srgbClr val="D64545"/>
          </a:solidFill>
          <a:ln w="12700">
            <a:solidFill>
              <a:srgbClr val="D64545"/>
            </a:solidFill>
            <a:prstDash val="solid"/>
          </a:ln>
        </p:spPr>
      </p:sp>
      <p:sp>
        <p:nvSpPr>
          <p:cNvPr id="12" name="Shape 10"/>
          <p:cNvSpPr/>
          <p:nvPr/>
        </p:nvSpPr>
        <p:spPr>
          <a:xfrm>
            <a:off x="6571336" y="1719072"/>
            <a:ext cx="109728" cy="109728"/>
          </a:xfrm>
          <a:prstGeom prst="ellipse">
            <a:avLst/>
          </a:prstGeom>
          <a:solidFill>
            <a:srgbClr val="FFB020"/>
          </a:solidFill>
          <a:ln w="12700">
            <a:solidFill>
              <a:srgbClr val="FFB020"/>
            </a:solidFill>
            <a:prstDash val="solid"/>
          </a:ln>
        </p:spPr>
      </p:sp>
      <p:sp>
        <p:nvSpPr>
          <p:cNvPr id="13" name="Shape 11"/>
          <p:cNvSpPr/>
          <p:nvPr/>
        </p:nvSpPr>
        <p:spPr>
          <a:xfrm>
            <a:off x="6754216" y="1719072"/>
            <a:ext cx="109728" cy="109728"/>
          </a:xfrm>
          <a:prstGeom prst="ellipse">
            <a:avLst/>
          </a:prstGeom>
          <a:solidFill>
            <a:srgbClr val="3CB371"/>
          </a:solidFill>
          <a:ln w="12700">
            <a:solidFill>
              <a:srgbClr val="3CB371"/>
            </a:solidFill>
            <a:prstDash val="solid"/>
          </a:ln>
        </p:spPr>
      </p:sp>
      <p:sp>
        <p:nvSpPr>
          <p:cNvPr id="14" name="Text 12"/>
          <p:cNvSpPr txBox="1"/>
          <p:nvPr/>
        </p:nvSpPr>
        <p:spPr>
          <a:xfrm>
            <a:off x="7010248" y="1645920"/>
            <a:ext cx="4449928" cy="256032"/>
          </a:xfrm>
          <a:prstGeom prst="rect">
            <a:avLst/>
          </a:prstGeom>
          <a:noFill/>
          <a:ln/>
        </p:spPr>
        <p:txBody>
          <a:bodyPr wrap="square" lIns="0" tIns="0" rIns="0" bIns="0" rtlCol="0" anchor="ctr"/>
          <a:lstStyle/>
          <a:p>
            <a:pPr marL="0" indent="0">
              <a:buNone/>
            </a:pPr>
            <a:r>
              <a:rPr lang="en-US" sz="1100" dirty="0">
                <a:solidFill>
                  <a:srgbClr val="B9C4D1"/>
                </a:solidFill>
                <a:latin typeface="Courier New" pitchFamily="34" charset="0"/>
                <a:ea typeface="Courier New" pitchFamily="34" charset="-122"/>
                <a:cs typeface="Courier New" pitchFamily="34" charset="-120"/>
              </a:rPr>
              <a:t>CQRSWorker</a:t>
            </a:r>
            <a:endParaRPr lang="en-US" sz="1100" dirty="0"/>
          </a:p>
        </p:txBody>
      </p:sp>
      <p:sp>
        <p:nvSpPr>
          <p:cNvPr id="15" name="Text 13"/>
          <p:cNvSpPr txBox="1"/>
          <p:nvPr/>
        </p:nvSpPr>
        <p:spPr>
          <a:xfrm>
            <a:off x="6415888" y="2011680"/>
            <a:ext cx="4998568" cy="2331720"/>
          </a:xfrm>
          <a:prstGeom prst="rect">
            <a:avLst/>
          </a:prstGeom>
          <a:noFill/>
          <a:ln/>
        </p:spPr>
        <p:txBody>
          <a:bodyPr wrap="square" lIns="0" tIns="0" rIns="0" bIns="0" rtlCol="0" anchor="t"/>
          <a:lstStyle/>
          <a:p>
            <a:pPr marL="0" indent="0">
              <a:lnSpc>
                <a:spcPct val="110000"/>
              </a:lnSpc>
              <a:buNone/>
            </a:pPr>
            <a:r>
              <a:rPr lang="en-US" sz="1100" i="1" dirty="0">
                <a:solidFill>
                  <a:srgbClr val="B9C4D1"/>
                </a:solidFill>
                <a:latin typeface="Courier New" pitchFamily="34" charset="0"/>
                <a:ea typeface="Courier New" pitchFamily="34" charset="-122"/>
                <a:cs typeface="Courier New" pitchFamily="34" charset="-120"/>
              </a:rPr>
              <a:t>// CQRSWorker/Worker.cs</a:t>
            </a:r>
            <a:endParaRPr lang="en-US" sz="1100" dirty="0"/>
          </a:p>
          <a:p>
            <a:pPr marL="0" indent="0">
              <a:lnSpc>
                <a:spcPct val="110000"/>
              </a:lnSpc>
              <a:buNone/>
            </a:pPr>
            <a:r>
              <a:rPr lang="en-US" sz="1100" i="1" dirty="0">
                <a:solidFill>
                  <a:srgbClr val="B9C4D1"/>
                </a:solidFill>
                <a:latin typeface="Courier New" pitchFamily="34" charset="0"/>
                <a:ea typeface="Courier New" pitchFamily="34" charset="-122"/>
                <a:cs typeface="Courier New" pitchFamily="34" charset="-120"/>
              </a:rPr>
              <a:t>// Förälder = trace-context från headern traceparent</a:t>
            </a:r>
            <a:endParaRPr lang="en-US" sz="1100" dirty="0"/>
          </a:p>
          <a:p>
            <a:pPr marL="0" indent="0">
              <a:lnSpc>
                <a:spcPct val="110000"/>
              </a:lnSpc>
              <a:buNone/>
            </a:pPr>
            <a:r>
              <a:rPr lang="en-US" sz="1100" dirty="0">
                <a:solidFill>
                  <a:srgbClr val="DDE3EA"/>
                </a:solidFill>
                <a:latin typeface="Courier New" pitchFamily="34" charset="0"/>
                <a:ea typeface="Courier New" pitchFamily="34" charset="-122"/>
                <a:cs typeface="Courier New" pitchFamily="34" charset="-120"/>
              </a:rPr>
              <a:t>using var activity = msg.StartActivity(</a:t>
            </a:r>
            <a:endParaRPr lang="en-US" sz="1100" dirty="0"/>
          </a:p>
          <a:p>
            <a:pPr marL="0" indent="0">
              <a:lnSpc>
                <a:spcPct val="110000"/>
              </a:lnSpc>
              <a:buNone/>
            </a:pPr>
            <a:r>
              <a:rPr lang="en-US" sz="1100" dirty="0">
                <a:solidFill>
                  <a:srgbClr val="DDE3EA"/>
                </a:solidFill>
                <a:latin typeface="Courier New" pitchFamily="34" charset="0"/>
                <a:ea typeface="Courier New" pitchFamily="34" charset="-122"/>
                <a:cs typeface="Courier New" pitchFamily="34" charset="-120"/>
              </a:rPr>
              <a:t>    $"{msg.Subject} process");</a:t>
            </a:r>
            <a:endParaRPr lang="en-US" sz="1100" dirty="0"/>
          </a:p>
          <a:p>
            <a:pPr marL="0" indent="0">
              <a:lnSpc>
                <a:spcPct val="110000"/>
              </a:lnSpc>
              <a:buNone/>
            </a:pPr>
            <a:r>
              <a:rPr lang="en-US" sz="1100" dirty="0">
                <a:solidFill>
                  <a:srgbClr val="DDE3EA"/>
                </a:solidFill>
                <a:latin typeface="Courier New" pitchFamily="34" charset="0"/>
                <a:ea typeface="Courier New" pitchFamily="34" charset="-122"/>
                <a:cs typeface="Courier New" pitchFamily="34" charset="-120"/>
              </a:rPr>
              <a:t>activity?.SetTag("cqrs.command_id", …);</a:t>
            </a:r>
            <a:endParaRPr lang="en-US" sz="1100" dirty="0"/>
          </a:p>
          <a:p>
            <a:pPr marL="0" indent="0">
              <a:lnSpc>
                <a:spcPct val="110000"/>
              </a:lnSpc>
              <a:buNone/>
            </a:pPr>
            <a:r>
              <a:rPr lang="en-US" sz="1100" dirty="0">
                <a:solidFill>
                  <a:srgbClr val="DDE3EA"/>
                </a:solidFill>
                <a:latin typeface="Courier New" pitchFamily="34" charset="0"/>
                <a:ea typeface="Courier New" pitchFamily="34" charset="-122"/>
                <a:cs typeface="Courier New" pitchFamily="34" charset="-120"/>
              </a:rPr>
              <a:t>telemetry.QueueTime.Record(now - command.IssuedAt);</a:t>
            </a:r>
            <a:endParaRPr lang="en-US" sz="1100" dirty="0"/>
          </a:p>
        </p:txBody>
      </p:sp>
      <p:sp>
        <p:nvSpPr>
          <p:cNvPr id="16" name="Shape 14"/>
          <p:cNvSpPr/>
          <p:nvPr/>
        </p:nvSpPr>
        <p:spPr>
          <a:xfrm>
            <a:off x="548640" y="4709160"/>
            <a:ext cx="3606698" cy="1143000"/>
          </a:xfrm>
          <a:prstGeom prst="roundRect">
            <a:avLst>
              <a:gd name="adj" fmla="val 4800"/>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17" name="Text 15"/>
          <p:cNvSpPr txBox="1"/>
          <p:nvPr/>
        </p:nvSpPr>
        <p:spPr>
          <a:xfrm>
            <a:off x="749808" y="4910328"/>
            <a:ext cx="3204362" cy="320040"/>
          </a:xfrm>
          <a:prstGeom prst="rect">
            <a:avLst/>
          </a:prstGeom>
          <a:noFill/>
          <a:ln/>
        </p:spPr>
        <p:txBody>
          <a:bodyPr wrap="square" lIns="0" tIns="0" rIns="0" bIns="0" rtlCol="0" anchor="t"/>
          <a:lstStyle/>
          <a:p>
            <a:pPr marL="0" indent="0">
              <a:buNone/>
            </a:pPr>
            <a:r>
              <a:rPr lang="en-US" sz="1400" b="1" dirty="0">
                <a:solidFill>
                  <a:srgbClr val="16202B"/>
                </a:solidFill>
                <a:latin typeface="Calibri" pitchFamily="34" charset="0"/>
                <a:ea typeface="Calibri" pitchFamily="34" charset="-122"/>
                <a:cs typeface="Calibri" pitchFamily="34" charset="-120"/>
              </a:rPr>
              <a:t>Inga extra paket</a:t>
            </a:r>
            <a:endParaRPr lang="en-US" sz="1400" dirty="0"/>
          </a:p>
        </p:txBody>
      </p:sp>
      <p:sp>
        <p:nvSpPr>
          <p:cNvPr id="18" name="Text 16"/>
          <p:cNvSpPr txBox="1"/>
          <p:nvPr/>
        </p:nvSpPr>
        <p:spPr>
          <a:xfrm>
            <a:off x="749808" y="5294376"/>
            <a:ext cx="3204362" cy="402336"/>
          </a:xfrm>
          <a:prstGeom prst="rect">
            <a:avLst/>
          </a:prstGeom>
          <a:noFill/>
          <a:ln/>
        </p:spPr>
        <p:txBody>
          <a:bodyPr wrap="square" lIns="0" tIns="0" rIns="0" bIns="0" rtlCol="0" anchor="t"/>
          <a:lstStyle/>
          <a:p>
            <a:pPr marL="0" indent="0">
              <a:lnSpc>
                <a:spcPct val="115000"/>
              </a:lnSpc>
              <a:buNone/>
            </a:pPr>
            <a:r>
              <a:rPr lang="en-US" sz="1200" dirty="0">
                <a:solidFill>
                  <a:srgbClr val="4A5568"/>
                </a:solidFill>
                <a:latin typeface="Arial" pitchFamily="34" charset="0"/>
                <a:ea typeface="Arial" pitchFamily="34" charset="-122"/>
                <a:cs typeface="Arial" pitchFamily="34" charset="-120"/>
              </a:rPr>
              <a:t>NATS.Net och MySqlConnector har inbyggd instrumentering - bara AddSource.</a:t>
            </a:r>
            <a:endParaRPr lang="en-US" sz="1200" dirty="0"/>
          </a:p>
        </p:txBody>
      </p:sp>
      <p:sp>
        <p:nvSpPr>
          <p:cNvPr id="19" name="Shape 17"/>
          <p:cNvSpPr/>
          <p:nvPr/>
        </p:nvSpPr>
        <p:spPr>
          <a:xfrm>
            <a:off x="4292498" y="4709160"/>
            <a:ext cx="3606698" cy="1143000"/>
          </a:xfrm>
          <a:prstGeom prst="roundRect">
            <a:avLst>
              <a:gd name="adj" fmla="val 4800"/>
            </a:avLst>
          </a:prstGeom>
          <a:solidFill>
            <a:srgbClr val="3762FF"/>
          </a:solidFill>
          <a:ln w="12700">
            <a:solidFill>
              <a:srgbClr val="3762FF"/>
            </a:solidFill>
            <a:prstDash val="solid"/>
          </a:ln>
        </p:spPr>
      </p:sp>
      <p:sp>
        <p:nvSpPr>
          <p:cNvPr id="20" name="Text 18"/>
          <p:cNvSpPr txBox="1"/>
          <p:nvPr/>
        </p:nvSpPr>
        <p:spPr>
          <a:xfrm>
            <a:off x="4493666" y="4910328"/>
            <a:ext cx="3204362" cy="320040"/>
          </a:xfrm>
          <a:prstGeom prst="rect">
            <a:avLst/>
          </a:prstGeom>
          <a:noFill/>
          <a:ln/>
        </p:spPr>
        <p:txBody>
          <a:bodyPr wrap="square" lIns="0" tIns="0" rIns="0" bIns="0" rtlCol="0" anchor="t"/>
          <a:lstStyle/>
          <a:p>
            <a:pPr marL="0" indent="0">
              <a:buNone/>
            </a:pPr>
            <a:r>
              <a:rPr lang="en-US" sz="1400" b="1" dirty="0">
                <a:solidFill>
                  <a:srgbClr val="FFFFFF"/>
                </a:solidFill>
                <a:latin typeface="Calibri" pitchFamily="34" charset="0"/>
                <a:ea typeface="Calibri" pitchFamily="34" charset="-122"/>
                <a:cs typeface="Calibri" pitchFamily="34" charset="-120"/>
              </a:rPr>
              <a:t>msg.StartActivity</a:t>
            </a:r>
            <a:endParaRPr lang="en-US" sz="1400" dirty="0"/>
          </a:p>
        </p:txBody>
      </p:sp>
      <p:sp>
        <p:nvSpPr>
          <p:cNvPr id="21" name="Text 19"/>
          <p:cNvSpPr txBox="1"/>
          <p:nvPr/>
        </p:nvSpPr>
        <p:spPr>
          <a:xfrm>
            <a:off x="4493666" y="5294376"/>
            <a:ext cx="3204362" cy="402336"/>
          </a:xfrm>
          <a:prstGeom prst="rect">
            <a:avLst/>
          </a:prstGeom>
          <a:noFill/>
          <a:ln/>
        </p:spPr>
        <p:txBody>
          <a:bodyPr wrap="square" lIns="0" tIns="0" rIns="0" bIns="0" rtlCol="0" anchor="t"/>
          <a:lstStyle/>
          <a:p>
            <a:pPr marL="0" indent="0">
              <a:lnSpc>
                <a:spcPct val="115000"/>
              </a:lnSpc>
              <a:buNone/>
            </a:pPr>
            <a:r>
              <a:rPr lang="en-US" sz="1200" dirty="0">
                <a:solidFill>
                  <a:srgbClr val="FFFFFF"/>
                </a:solidFill>
                <a:latin typeface="Arial" pitchFamily="34" charset="0"/>
                <a:ea typeface="Arial" pitchFamily="34" charset="-122"/>
                <a:cs typeface="Arial" pitchFamily="34" charset="-120"/>
              </a:rPr>
              <a:t>NATS-klientens hjälpare: nytt span med förälder från meddelandet.</a:t>
            </a:r>
            <a:endParaRPr lang="en-US" sz="1200" dirty="0"/>
          </a:p>
        </p:txBody>
      </p:sp>
      <p:sp>
        <p:nvSpPr>
          <p:cNvPr id="22" name="Shape 20"/>
          <p:cNvSpPr/>
          <p:nvPr/>
        </p:nvSpPr>
        <p:spPr>
          <a:xfrm>
            <a:off x="8036357" y="4709160"/>
            <a:ext cx="3606698" cy="1143000"/>
          </a:xfrm>
          <a:prstGeom prst="roundRect">
            <a:avLst>
              <a:gd name="adj" fmla="val 4800"/>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23" name="Text 21"/>
          <p:cNvSpPr txBox="1"/>
          <p:nvPr/>
        </p:nvSpPr>
        <p:spPr>
          <a:xfrm>
            <a:off x="8237525" y="4910328"/>
            <a:ext cx="3204362" cy="320040"/>
          </a:xfrm>
          <a:prstGeom prst="rect">
            <a:avLst/>
          </a:prstGeom>
          <a:noFill/>
          <a:ln/>
        </p:spPr>
        <p:txBody>
          <a:bodyPr wrap="square" lIns="0" tIns="0" rIns="0" bIns="0" rtlCol="0" anchor="t"/>
          <a:lstStyle/>
          <a:p>
            <a:pPr marL="0" indent="0">
              <a:buNone/>
            </a:pPr>
            <a:r>
              <a:rPr lang="en-US" sz="1400" b="1" dirty="0">
                <a:solidFill>
                  <a:srgbClr val="16202B"/>
                </a:solidFill>
                <a:latin typeface="Calibri" pitchFamily="34" charset="0"/>
                <a:ea typeface="Calibri" pitchFamily="34" charset="-122"/>
                <a:cs typeface="Calibri" pitchFamily="34" charset="-120"/>
              </a:rPr>
              <a:t>IssuedAt</a:t>
            </a:r>
            <a:endParaRPr lang="en-US" sz="1400" dirty="0"/>
          </a:p>
        </p:txBody>
      </p:sp>
      <p:sp>
        <p:nvSpPr>
          <p:cNvPr id="24" name="Text 22"/>
          <p:cNvSpPr txBox="1"/>
          <p:nvPr/>
        </p:nvSpPr>
        <p:spPr>
          <a:xfrm>
            <a:off x="8237525" y="5294376"/>
            <a:ext cx="3204362" cy="402336"/>
          </a:xfrm>
          <a:prstGeom prst="rect">
            <a:avLst/>
          </a:prstGeom>
          <a:noFill/>
          <a:ln/>
        </p:spPr>
        <p:txBody>
          <a:bodyPr wrap="square" lIns="0" tIns="0" rIns="0" bIns="0" rtlCol="0" anchor="t"/>
          <a:lstStyle/>
          <a:p>
            <a:pPr marL="0" indent="0">
              <a:lnSpc>
                <a:spcPct val="115000"/>
              </a:lnSpc>
              <a:buNone/>
            </a:pPr>
            <a:r>
              <a:rPr lang="en-US" sz="1200" dirty="0">
                <a:solidFill>
                  <a:srgbClr val="4A5568"/>
                </a:solidFill>
                <a:latin typeface="Arial" pitchFamily="34" charset="0"/>
                <a:ea typeface="Arial" pitchFamily="34" charset="-122"/>
                <a:cs typeface="Arial" pitchFamily="34" charset="-120"/>
              </a:rPr>
              <a:t>Fanns redan i kommandot - nu blir det kö-tiden.</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7F7F4"/>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marL="0" indent="0">
              <a:buNone/>
            </a:pPr>
            <a:r>
              <a:rPr lang="en-US" sz="1200" b="1" kern="0" spc="200" dirty="0">
                <a:solidFill>
                  <a:srgbClr val="3762FF"/>
                </a:solidFill>
                <a:latin typeface="Arial" pitchFamily="34" charset="0"/>
                <a:ea typeface="Arial" pitchFamily="34" charset="-122"/>
                <a:cs typeface="Arial" pitchFamily="34" charset="-120"/>
              </a:rPr>
              <a:t>CQRS · EXPERIMENTET</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marL="0" indent="0">
              <a:buNone/>
            </a:pPr>
            <a:r>
              <a:rPr lang="en-US" sz="3000" b="1" dirty="0">
                <a:solidFill>
                  <a:srgbClr val="16202B"/>
                </a:solidFill>
                <a:latin typeface="Calibri" pitchFamily="34" charset="0"/>
                <a:ea typeface="Calibri" pitchFamily="34" charset="-122"/>
                <a:cs typeface="Calibri" pitchFamily="34" charset="-120"/>
              </a:rPr>
              <a:t>Stoppa workern - och se kön växa</a:t>
            </a:r>
            <a:endParaRPr lang="en-US" sz="3000" dirty="0"/>
          </a:p>
        </p:txBody>
      </p:sp>
      <p:sp>
        <p:nvSpPr>
          <p:cNvPr id="4" name="Shape 2"/>
          <p:cNvSpPr/>
          <p:nvPr/>
        </p:nvSpPr>
        <p:spPr>
          <a:xfrm>
            <a:off x="548640" y="1554480"/>
            <a:ext cx="6766560" cy="2834640"/>
          </a:xfrm>
          <a:prstGeom prst="roundRect">
            <a:avLst>
              <a:gd name="adj" fmla="val 1935"/>
            </a:avLst>
          </a:prstGeom>
          <a:solidFill>
            <a:srgbClr val="0F1F33"/>
          </a:solidFill>
          <a:ln w="12700">
            <a:solidFill>
              <a:srgbClr val="0F1F33"/>
            </a:solidFill>
            <a:prstDash val="solid"/>
          </a:ln>
          <a:effectLst>
            <a:outerShdw blurRad="101600" dist="25400" dir="5400000" algn="bl" rotWithShape="0">
              <a:srgbClr val="000000">
                <a:alpha val="10000"/>
              </a:srgbClr>
            </a:outerShdw>
          </a:effectLst>
        </p:spPr>
      </p:sp>
      <p:sp>
        <p:nvSpPr>
          <p:cNvPr id="5" name="Shape 3"/>
          <p:cNvSpPr/>
          <p:nvPr/>
        </p:nvSpPr>
        <p:spPr>
          <a:xfrm>
            <a:off x="749808" y="1719072"/>
            <a:ext cx="109728" cy="109728"/>
          </a:xfrm>
          <a:prstGeom prst="ellipse">
            <a:avLst/>
          </a:prstGeom>
          <a:solidFill>
            <a:srgbClr val="D64545"/>
          </a:solidFill>
          <a:ln w="12700">
            <a:solidFill>
              <a:srgbClr val="D64545"/>
            </a:solidFill>
            <a:prstDash val="solid"/>
          </a:ln>
        </p:spPr>
      </p:sp>
      <p:sp>
        <p:nvSpPr>
          <p:cNvPr id="6" name="Shape 4"/>
          <p:cNvSpPr/>
          <p:nvPr/>
        </p:nvSpPr>
        <p:spPr>
          <a:xfrm>
            <a:off x="932688" y="1719072"/>
            <a:ext cx="109728" cy="109728"/>
          </a:xfrm>
          <a:prstGeom prst="ellipse">
            <a:avLst/>
          </a:prstGeom>
          <a:solidFill>
            <a:srgbClr val="FFB020"/>
          </a:solidFill>
          <a:ln w="12700">
            <a:solidFill>
              <a:srgbClr val="FFB020"/>
            </a:solidFill>
            <a:prstDash val="solid"/>
          </a:ln>
        </p:spPr>
      </p:sp>
      <p:sp>
        <p:nvSpPr>
          <p:cNvPr id="7" name="Shape 5"/>
          <p:cNvSpPr/>
          <p:nvPr/>
        </p:nvSpPr>
        <p:spPr>
          <a:xfrm>
            <a:off x="1115568" y="1719072"/>
            <a:ext cx="109728" cy="109728"/>
          </a:xfrm>
          <a:prstGeom prst="ellipse">
            <a:avLst/>
          </a:prstGeom>
          <a:solidFill>
            <a:srgbClr val="3CB371"/>
          </a:solidFill>
          <a:ln w="12700">
            <a:solidFill>
              <a:srgbClr val="3CB371"/>
            </a:solidFill>
            <a:prstDash val="solid"/>
          </a:ln>
        </p:spPr>
      </p:sp>
      <p:sp>
        <p:nvSpPr>
          <p:cNvPr id="8" name="Text 6"/>
          <p:cNvSpPr txBox="1"/>
          <p:nvPr/>
        </p:nvSpPr>
        <p:spPr>
          <a:xfrm>
            <a:off x="1371600" y="1645920"/>
            <a:ext cx="5760720" cy="256032"/>
          </a:xfrm>
          <a:prstGeom prst="rect">
            <a:avLst/>
          </a:prstGeom>
          <a:noFill/>
          <a:ln/>
        </p:spPr>
        <p:txBody>
          <a:bodyPr wrap="square" lIns="0" tIns="0" rIns="0" bIns="0" rtlCol="0" anchor="ctr"/>
          <a:lstStyle/>
          <a:p>
            <a:pPr marL="0" indent="0">
              <a:buNone/>
            </a:pPr>
            <a:r>
              <a:rPr lang="en-US" sz="1100" dirty="0">
                <a:solidFill>
                  <a:srgbClr val="B9C4D1"/>
                </a:solidFill>
                <a:latin typeface="Courier New" pitchFamily="34" charset="0"/>
                <a:ea typeface="Courier New" pitchFamily="34" charset="-122"/>
                <a:cs typeface="Courier New" pitchFamily="34" charset="-120"/>
              </a:rPr>
              <a:t>powershell + https://grafana.local/d/cqrs</a:t>
            </a:r>
            <a:endParaRPr lang="en-US" sz="1100" dirty="0"/>
          </a:p>
        </p:txBody>
      </p:sp>
      <p:sp>
        <p:nvSpPr>
          <p:cNvPr id="9" name="Text 7"/>
          <p:cNvSpPr txBox="1"/>
          <p:nvPr/>
        </p:nvSpPr>
        <p:spPr>
          <a:xfrm>
            <a:off x="777240" y="2011680"/>
            <a:ext cx="6309360" cy="2240280"/>
          </a:xfrm>
          <a:prstGeom prst="rect">
            <a:avLst/>
          </a:prstGeom>
          <a:noFill/>
          <a:ln/>
        </p:spPr>
        <p:txBody>
          <a:bodyPr wrap="square" lIns="0" tIns="0" rIns="0" bIns="0" rtlCol="0" anchor="t"/>
          <a:lstStyle/>
          <a:p>
            <a:pPr marL="0" indent="0">
              <a:lnSpc>
                <a:spcPct val="110000"/>
              </a:lnSpc>
              <a:buNone/>
            </a:pPr>
            <a:r>
              <a:rPr lang="en-US" sz="1200" i="1" dirty="0">
                <a:solidFill>
                  <a:srgbClr val="B9C4D1"/>
                </a:solidFill>
                <a:latin typeface="Courier New" pitchFamily="34" charset="0"/>
                <a:ea typeface="Courier New" pitchFamily="34" charset="-122"/>
                <a:cs typeface="Courier New" pitchFamily="34" charset="-120"/>
              </a:rPr>
              <a:t># Stoppa workern - API:t tar fortfarande emot (202)</a:t>
            </a:r>
            <a:endParaRPr lang="en-US" sz="1200" dirty="0"/>
          </a:p>
          <a:p>
            <a:pPr marL="0" indent="0">
              <a:lnSpc>
                <a:spcPct val="110000"/>
              </a:lnSpc>
              <a:buNone/>
            </a:pPr>
            <a:r>
              <a:rPr lang="en-US" sz="1200" dirty="0">
                <a:solidFill>
                  <a:srgbClr val="DDE3EA"/>
                </a:solidFill>
                <a:latin typeface="Courier New" pitchFamily="34" charset="0"/>
                <a:ea typeface="Courier New" pitchFamily="34" charset="-122"/>
                <a:cs typeface="Courier New" pitchFamily="34" charset="-120"/>
              </a:rPr>
              <a:t>kubectl scale deploy/cqrs-worker --replicas=0 -n cqrs</a:t>
            </a:r>
            <a:endParaRPr lang="en-US" sz="1200" dirty="0"/>
          </a:p>
          <a:p>
            <a:pPr marL="0" indent="0">
              <a:lnSpc>
                <a:spcPct val="110000"/>
              </a:lnSpc>
              <a:buNone/>
            </a:pPr>
            <a:r>
              <a:rPr lang="en-US" sz="1200" dirty="0">
                <a:solidFill>
                  <a:srgbClr val="DDE3EA"/>
                </a:solidFill>
                <a:latin typeface="Courier New" pitchFamily="34" charset="0"/>
                <a:ea typeface="Courier New" pitchFamily="34" charset="-122"/>
                <a:cs typeface="Courier New" pitchFamily="34" charset="-120"/>
              </a:rPr>
              <a:t> </a:t>
            </a:r>
            <a:endParaRPr lang="en-US" sz="1200" dirty="0"/>
          </a:p>
          <a:p>
            <a:pPr marL="0" indent="0">
              <a:lnSpc>
                <a:spcPct val="110000"/>
              </a:lnSpc>
              <a:buNone/>
            </a:pPr>
            <a:r>
              <a:rPr lang="en-US" sz="1200" i="1" dirty="0">
                <a:solidFill>
                  <a:srgbClr val="B9C4D1"/>
                </a:solidFill>
                <a:latin typeface="Courier New" pitchFamily="34" charset="0"/>
                <a:ea typeface="Courier New" pitchFamily="34" charset="-122"/>
                <a:cs typeface="Courier New" pitchFamily="34" charset="-120"/>
              </a:rPr>
              <a:t># ... skapa några personer i CQRSClient ...</a:t>
            </a:r>
            <a:endParaRPr lang="en-US" sz="1200" dirty="0"/>
          </a:p>
          <a:p>
            <a:pPr marL="0" indent="0">
              <a:lnSpc>
                <a:spcPct val="110000"/>
              </a:lnSpc>
              <a:buNone/>
            </a:pPr>
            <a:r>
              <a:rPr lang="en-US" sz="1200" dirty="0">
                <a:solidFill>
                  <a:srgbClr val="DDE3EA"/>
                </a:solidFill>
                <a:latin typeface="Courier New" pitchFamily="34" charset="0"/>
                <a:ea typeface="Courier New" pitchFamily="34" charset="-122"/>
                <a:cs typeface="Courier New" pitchFamily="34" charset="-120"/>
              </a:rPr>
              <a:t> </a:t>
            </a:r>
            <a:endParaRPr lang="en-US" sz="1200" dirty="0"/>
          </a:p>
          <a:p>
            <a:pPr marL="0" indent="0">
              <a:lnSpc>
                <a:spcPct val="110000"/>
              </a:lnSpc>
              <a:buNone/>
            </a:pPr>
            <a:r>
              <a:rPr lang="en-US" sz="1200" i="1" dirty="0">
                <a:solidFill>
                  <a:srgbClr val="B9C4D1"/>
                </a:solidFill>
                <a:latin typeface="Courier New" pitchFamily="34" charset="0"/>
                <a:ea typeface="Courier New" pitchFamily="34" charset="-122"/>
                <a:cs typeface="Courier New" pitchFamily="34" charset="-120"/>
              </a:rPr>
              <a:t># Starta igen - workern betar av kön</a:t>
            </a:r>
            <a:endParaRPr lang="en-US" sz="1200" dirty="0"/>
          </a:p>
          <a:p>
            <a:pPr marL="0" indent="0">
              <a:lnSpc>
                <a:spcPct val="110000"/>
              </a:lnSpc>
              <a:buNone/>
            </a:pPr>
            <a:r>
              <a:rPr lang="en-US" sz="1200" dirty="0">
                <a:solidFill>
                  <a:srgbClr val="DDE3EA"/>
                </a:solidFill>
                <a:latin typeface="Courier New" pitchFamily="34" charset="0"/>
                <a:ea typeface="Courier New" pitchFamily="34" charset="-122"/>
                <a:cs typeface="Courier New" pitchFamily="34" charset="-120"/>
              </a:rPr>
              <a:t>kubectl scale deploy/cqrs-worker --replicas=1 -n cqrs</a:t>
            </a:r>
            <a:endParaRPr lang="en-US" sz="1200" dirty="0"/>
          </a:p>
        </p:txBody>
      </p:sp>
      <p:sp>
        <p:nvSpPr>
          <p:cNvPr id="10" name="Shape 8"/>
          <p:cNvSpPr/>
          <p:nvPr/>
        </p:nvSpPr>
        <p:spPr>
          <a:xfrm>
            <a:off x="7680960" y="1554480"/>
            <a:ext cx="3962095" cy="1325880"/>
          </a:xfrm>
          <a:prstGeom prst="roundRect">
            <a:avLst>
              <a:gd name="adj" fmla="val 4138"/>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11" name="Text 9"/>
          <p:cNvSpPr txBox="1"/>
          <p:nvPr/>
        </p:nvSpPr>
        <p:spPr>
          <a:xfrm>
            <a:off x="7882128" y="1755648"/>
            <a:ext cx="3559759" cy="320040"/>
          </a:xfrm>
          <a:prstGeom prst="rect">
            <a:avLst/>
          </a:prstGeom>
          <a:noFill/>
          <a:ln/>
        </p:spPr>
        <p:txBody>
          <a:bodyPr wrap="square" lIns="0" tIns="0" rIns="0" bIns="0" rtlCol="0" anchor="t"/>
          <a:lstStyle/>
          <a:p>
            <a:pPr marL="0" indent="0">
              <a:buNone/>
            </a:pPr>
            <a:r>
              <a:rPr lang="en-US" sz="1400" b="1" dirty="0">
                <a:solidFill>
                  <a:srgbClr val="16202B"/>
                </a:solidFill>
                <a:latin typeface="Calibri" pitchFamily="34" charset="0"/>
                <a:ea typeface="Calibri" pitchFamily="34" charset="-122"/>
                <a:cs typeface="Calibri" pitchFamily="34" charset="-120"/>
              </a:rPr>
              <a:t>Publicerat ≠ utfört</a:t>
            </a:r>
            <a:endParaRPr lang="en-US" sz="1400" dirty="0"/>
          </a:p>
        </p:txBody>
      </p:sp>
      <p:sp>
        <p:nvSpPr>
          <p:cNvPr id="12" name="Text 10"/>
          <p:cNvSpPr txBox="1"/>
          <p:nvPr/>
        </p:nvSpPr>
        <p:spPr>
          <a:xfrm>
            <a:off x="7882128" y="2139696"/>
            <a:ext cx="3559759" cy="585216"/>
          </a:xfrm>
          <a:prstGeom prst="rect">
            <a:avLst/>
          </a:prstGeom>
          <a:noFill/>
          <a:ln/>
        </p:spPr>
        <p:txBody>
          <a:bodyPr wrap="square" lIns="0" tIns="0" rIns="0" bIns="0" rtlCol="0" anchor="t"/>
          <a:lstStyle/>
          <a:p>
            <a:pPr marL="0" indent="0">
              <a:lnSpc>
                <a:spcPct val="115000"/>
              </a:lnSpc>
              <a:buNone/>
            </a:pPr>
            <a:r>
              <a:rPr lang="en-US" sz="1200" dirty="0">
                <a:solidFill>
                  <a:srgbClr val="4A5568"/>
                </a:solidFill>
                <a:latin typeface="Arial" pitchFamily="34" charset="0"/>
                <a:ea typeface="Arial" pitchFamily="34" charset="-122"/>
                <a:cs typeface="Arial" pitchFamily="34" charset="-120"/>
              </a:rPr>
              <a:t>Linjerna delar sig medan workern är borta.</a:t>
            </a:r>
            <a:endParaRPr lang="en-US" sz="1200" dirty="0"/>
          </a:p>
        </p:txBody>
      </p:sp>
      <p:sp>
        <p:nvSpPr>
          <p:cNvPr id="13" name="Shape 11"/>
          <p:cNvSpPr/>
          <p:nvPr/>
        </p:nvSpPr>
        <p:spPr>
          <a:xfrm>
            <a:off x="7680960" y="3017520"/>
            <a:ext cx="3962095" cy="1371600"/>
          </a:xfrm>
          <a:prstGeom prst="roundRect">
            <a:avLst>
              <a:gd name="adj" fmla="val 4000"/>
            </a:avLst>
          </a:prstGeom>
          <a:solidFill>
            <a:srgbClr val="3762FF"/>
          </a:solidFill>
          <a:ln w="12700">
            <a:solidFill>
              <a:srgbClr val="3762FF"/>
            </a:solidFill>
            <a:prstDash val="solid"/>
          </a:ln>
        </p:spPr>
      </p:sp>
      <p:sp>
        <p:nvSpPr>
          <p:cNvPr id="14" name="Text 12"/>
          <p:cNvSpPr txBox="1"/>
          <p:nvPr/>
        </p:nvSpPr>
        <p:spPr>
          <a:xfrm>
            <a:off x="7882128" y="3218688"/>
            <a:ext cx="3559759" cy="320040"/>
          </a:xfrm>
          <a:prstGeom prst="rect">
            <a:avLst/>
          </a:prstGeom>
          <a:noFill/>
          <a:ln/>
        </p:spPr>
        <p:txBody>
          <a:bodyPr wrap="square" lIns="0" tIns="0" rIns="0" bIns="0" rtlCol="0" anchor="t"/>
          <a:lstStyle/>
          <a:p>
            <a:pPr marL="0" indent="0">
              <a:buNone/>
            </a:pPr>
            <a:r>
              <a:rPr lang="en-US" sz="1400" b="1" dirty="0">
                <a:solidFill>
                  <a:srgbClr val="FFFFFF"/>
                </a:solidFill>
                <a:latin typeface="Calibri" pitchFamily="34" charset="0"/>
                <a:ea typeface="Calibri" pitchFamily="34" charset="-122"/>
                <a:cs typeface="Calibri" pitchFamily="34" charset="-120"/>
              </a:rPr>
              <a:t>Kö-tid p95</a:t>
            </a:r>
            <a:endParaRPr lang="en-US" sz="1400" dirty="0"/>
          </a:p>
        </p:txBody>
      </p:sp>
      <p:sp>
        <p:nvSpPr>
          <p:cNvPr id="15" name="Text 13"/>
          <p:cNvSpPr txBox="1"/>
          <p:nvPr/>
        </p:nvSpPr>
        <p:spPr>
          <a:xfrm>
            <a:off x="7882128" y="3602736"/>
            <a:ext cx="3559759" cy="630936"/>
          </a:xfrm>
          <a:prstGeom prst="rect">
            <a:avLst/>
          </a:prstGeom>
          <a:noFill/>
          <a:ln/>
        </p:spPr>
        <p:txBody>
          <a:bodyPr wrap="square" lIns="0" tIns="0" rIns="0" bIns="0" rtlCol="0" anchor="t"/>
          <a:lstStyle/>
          <a:p>
            <a:pPr marL="0" indent="0">
              <a:lnSpc>
                <a:spcPct val="115000"/>
              </a:lnSpc>
              <a:buNone/>
            </a:pPr>
            <a:r>
              <a:rPr lang="en-US" sz="1200" dirty="0">
                <a:solidFill>
                  <a:srgbClr val="FFFFFF"/>
                </a:solidFill>
                <a:latin typeface="Arial" pitchFamily="34" charset="0"/>
                <a:ea typeface="Arial" pitchFamily="34" charset="-122"/>
                <a:cs typeface="Arial" pitchFamily="34" charset="-120"/>
              </a:rPr>
              <a:t>Hoppar från millisekunder till minuter.</a:t>
            </a:r>
            <a:endParaRPr lang="en-US" sz="1200" dirty="0"/>
          </a:p>
        </p:txBody>
      </p:sp>
      <p:sp>
        <p:nvSpPr>
          <p:cNvPr id="16" name="Shape 14"/>
          <p:cNvSpPr/>
          <p:nvPr/>
        </p:nvSpPr>
        <p:spPr>
          <a:xfrm>
            <a:off x="548640" y="4617720"/>
            <a:ext cx="11094415" cy="320040"/>
          </a:xfrm>
          <a:prstGeom prst="roundRect">
            <a:avLst>
              <a:gd name="adj" fmla="val 14286"/>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17" name="Text 15"/>
          <p:cNvSpPr txBox="1"/>
          <p:nvPr/>
        </p:nvSpPr>
        <p:spPr>
          <a:xfrm>
            <a:off x="685800" y="4617720"/>
            <a:ext cx="365760" cy="320040"/>
          </a:xfrm>
          <a:prstGeom prst="rect">
            <a:avLst/>
          </a:prstGeom>
          <a:noFill/>
          <a:ln/>
        </p:spPr>
        <p:txBody>
          <a:bodyPr wrap="square" lIns="0" tIns="0" rIns="0" bIns="0" rtlCol="0" anchor="ctr"/>
          <a:lstStyle/>
          <a:p>
            <a:pPr marL="0" indent="0">
              <a:buNone/>
            </a:pPr>
            <a:r>
              <a:rPr lang="en-US" sz="1800" b="1" dirty="0">
                <a:solidFill>
                  <a:srgbClr val="3762FF"/>
                </a:solidFill>
                <a:latin typeface="Calibri" pitchFamily="34" charset="0"/>
                <a:ea typeface="Calibri" pitchFamily="34" charset="-122"/>
                <a:cs typeface="Calibri" pitchFamily="34" charset="-120"/>
              </a:rPr>
              <a:t>1</a:t>
            </a:r>
            <a:endParaRPr lang="en-US" sz="1800" dirty="0"/>
          </a:p>
        </p:txBody>
      </p:sp>
      <p:sp>
        <p:nvSpPr>
          <p:cNvPr id="18" name="Text 16"/>
          <p:cNvSpPr txBox="1"/>
          <p:nvPr/>
        </p:nvSpPr>
        <p:spPr>
          <a:xfrm>
            <a:off x="1097280" y="4617720"/>
            <a:ext cx="10408615" cy="320040"/>
          </a:xfrm>
          <a:prstGeom prst="rect">
            <a:avLst/>
          </a:prstGeom>
          <a:noFill/>
          <a:ln/>
        </p:spPr>
        <p:txBody>
          <a:bodyPr wrap="square" lIns="0" tIns="0" rIns="0" bIns="0" rtlCol="0" anchor="ctr"/>
          <a:lstStyle/>
          <a:p>
            <a:pPr marL="0" indent="0">
              <a:buNone/>
            </a:pPr>
            <a:r>
              <a:rPr lang="en-US" sz="1300" b="1" dirty="0">
                <a:solidFill>
                  <a:srgbClr val="16202B"/>
                </a:solidFill>
                <a:latin typeface="Arial" pitchFamily="34" charset="0"/>
                <a:ea typeface="Arial" pitchFamily="34" charset="-122"/>
                <a:cs typeface="Arial" pitchFamily="34" charset="-120"/>
              </a:rPr>
              <a:t>Öppna dashboarden CQRS - kommandoflödet</a:t>
            </a:r>
            <a:endParaRPr lang="en-US" sz="1300" dirty="0"/>
          </a:p>
        </p:txBody>
      </p:sp>
      <p:sp>
        <p:nvSpPr>
          <p:cNvPr id="19" name="Shape 17"/>
          <p:cNvSpPr/>
          <p:nvPr/>
        </p:nvSpPr>
        <p:spPr>
          <a:xfrm>
            <a:off x="548640" y="5029200"/>
            <a:ext cx="11094415" cy="320040"/>
          </a:xfrm>
          <a:prstGeom prst="roundRect">
            <a:avLst>
              <a:gd name="adj" fmla="val 14286"/>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20" name="Text 18"/>
          <p:cNvSpPr txBox="1"/>
          <p:nvPr/>
        </p:nvSpPr>
        <p:spPr>
          <a:xfrm>
            <a:off x="685800" y="5029200"/>
            <a:ext cx="365760" cy="320040"/>
          </a:xfrm>
          <a:prstGeom prst="rect">
            <a:avLst/>
          </a:prstGeom>
          <a:noFill/>
          <a:ln/>
        </p:spPr>
        <p:txBody>
          <a:bodyPr wrap="square" lIns="0" tIns="0" rIns="0" bIns="0" rtlCol="0" anchor="ctr"/>
          <a:lstStyle/>
          <a:p>
            <a:pPr marL="0" indent="0">
              <a:buNone/>
            </a:pPr>
            <a:r>
              <a:rPr lang="en-US" sz="1800" b="1" dirty="0">
                <a:solidFill>
                  <a:srgbClr val="3762FF"/>
                </a:solidFill>
                <a:latin typeface="Calibri" pitchFamily="34" charset="0"/>
                <a:ea typeface="Calibri" pitchFamily="34" charset="-122"/>
                <a:cs typeface="Calibri" pitchFamily="34" charset="-120"/>
              </a:rPr>
              <a:t>2</a:t>
            </a:r>
            <a:endParaRPr lang="en-US" sz="1800" dirty="0"/>
          </a:p>
        </p:txBody>
      </p:sp>
      <p:sp>
        <p:nvSpPr>
          <p:cNvPr id="21" name="Text 19"/>
          <p:cNvSpPr txBox="1"/>
          <p:nvPr/>
        </p:nvSpPr>
        <p:spPr>
          <a:xfrm>
            <a:off x="1097280" y="5029200"/>
            <a:ext cx="10408615" cy="320040"/>
          </a:xfrm>
          <a:prstGeom prst="rect">
            <a:avLst/>
          </a:prstGeom>
          <a:noFill/>
          <a:ln/>
        </p:spPr>
        <p:txBody>
          <a:bodyPr wrap="square" lIns="0" tIns="0" rIns="0" bIns="0" rtlCol="0" anchor="ctr"/>
          <a:lstStyle/>
          <a:p>
            <a:pPr marL="0" indent="0">
              <a:buNone/>
            </a:pPr>
            <a:r>
              <a:rPr lang="en-US" sz="1300" b="1" dirty="0">
                <a:solidFill>
                  <a:srgbClr val="16202B"/>
                </a:solidFill>
                <a:latin typeface="Arial" pitchFamily="34" charset="0"/>
                <a:ea typeface="Arial" pitchFamily="34" charset="-122"/>
                <a:cs typeface="Arial" pitchFamily="34" charset="-120"/>
              </a:rPr>
              <a:t>Kör experimentet och titta på panelerna</a:t>
            </a:r>
            <a:endParaRPr lang="en-US" sz="1300" dirty="0"/>
          </a:p>
        </p:txBody>
      </p:sp>
      <p:sp>
        <p:nvSpPr>
          <p:cNvPr id="22" name="Shape 20"/>
          <p:cNvSpPr/>
          <p:nvPr/>
        </p:nvSpPr>
        <p:spPr>
          <a:xfrm>
            <a:off x="548640" y="5440680"/>
            <a:ext cx="11094415" cy="320040"/>
          </a:xfrm>
          <a:prstGeom prst="roundRect">
            <a:avLst>
              <a:gd name="adj" fmla="val 14286"/>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23" name="Text 21"/>
          <p:cNvSpPr txBox="1"/>
          <p:nvPr/>
        </p:nvSpPr>
        <p:spPr>
          <a:xfrm>
            <a:off x="685800" y="5440680"/>
            <a:ext cx="365760" cy="320040"/>
          </a:xfrm>
          <a:prstGeom prst="rect">
            <a:avLst/>
          </a:prstGeom>
          <a:noFill/>
          <a:ln/>
        </p:spPr>
        <p:txBody>
          <a:bodyPr wrap="square" lIns="0" tIns="0" rIns="0" bIns="0" rtlCol="0" anchor="ctr"/>
          <a:lstStyle/>
          <a:p>
            <a:pPr marL="0" indent="0">
              <a:buNone/>
            </a:pPr>
            <a:r>
              <a:rPr lang="en-US" sz="1800" b="1" dirty="0">
                <a:solidFill>
                  <a:srgbClr val="3762FF"/>
                </a:solidFill>
                <a:latin typeface="Calibri" pitchFamily="34" charset="0"/>
                <a:ea typeface="Calibri" pitchFamily="34" charset="-122"/>
                <a:cs typeface="Calibri" pitchFamily="34" charset="-120"/>
              </a:rPr>
              <a:t>3</a:t>
            </a:r>
            <a:endParaRPr lang="en-US" sz="1800" dirty="0"/>
          </a:p>
        </p:txBody>
      </p:sp>
      <p:sp>
        <p:nvSpPr>
          <p:cNvPr id="24" name="Text 22"/>
          <p:cNvSpPr txBox="1"/>
          <p:nvPr/>
        </p:nvSpPr>
        <p:spPr>
          <a:xfrm>
            <a:off x="1097280" y="5440680"/>
            <a:ext cx="10408615" cy="320040"/>
          </a:xfrm>
          <a:prstGeom prst="rect">
            <a:avLst/>
          </a:prstGeom>
          <a:noFill/>
          <a:ln/>
        </p:spPr>
        <p:txBody>
          <a:bodyPr wrap="square" lIns="0" tIns="0" rIns="0" bIns="0" rtlCol="0" anchor="ctr"/>
          <a:lstStyle/>
          <a:p>
            <a:pPr marL="0" indent="0">
              <a:buNone/>
            </a:pPr>
            <a:r>
              <a:rPr lang="en-US" sz="1300" b="1" dirty="0">
                <a:solidFill>
                  <a:srgbClr val="16202B"/>
                </a:solidFill>
                <a:latin typeface="Arial" pitchFamily="34" charset="0"/>
                <a:ea typeface="Arial" pitchFamily="34" charset="-122"/>
                <a:cs typeface="Arial" pitchFamily="34" charset="-120"/>
              </a:rPr>
              <a:t>Öppna en trace: lång gul linje = väntan i kön</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F1F33"/>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marL="0" indent="0">
              <a:buNone/>
            </a:pPr>
            <a:r>
              <a:rPr lang="en-US" sz="1200" b="1" kern="0" spc="200" dirty="0">
                <a:solidFill>
                  <a:srgbClr val="7C9CFF"/>
                </a:solidFill>
                <a:latin typeface="Arial" pitchFamily="34" charset="0"/>
                <a:ea typeface="Arial" pitchFamily="34" charset="-122"/>
                <a:cs typeface="Arial" pitchFamily="34" charset="-120"/>
              </a:rPr>
              <a:t>INFÖR ÖVNINGEN</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marL="0" indent="0">
              <a:buNone/>
            </a:pPr>
            <a:r>
              <a:rPr lang="en-US" sz="3000" b="1" dirty="0">
                <a:solidFill>
                  <a:srgbClr val="F5F7FA"/>
                </a:solidFill>
                <a:latin typeface="Calibri" pitchFamily="34" charset="0"/>
                <a:ea typeface="Calibri" pitchFamily="34" charset="-122"/>
                <a:cs typeface="Calibri" pitchFamily="34" charset="-120"/>
              </a:rPr>
              <a:t>Uppdatera stacken och apparna</a:t>
            </a:r>
            <a:endParaRPr lang="en-US" sz="3000" dirty="0"/>
          </a:p>
        </p:txBody>
      </p:sp>
      <p:sp>
        <p:nvSpPr>
          <p:cNvPr id="4" name="Shape 2"/>
          <p:cNvSpPr/>
          <p:nvPr/>
        </p:nvSpPr>
        <p:spPr>
          <a:xfrm>
            <a:off x="548640" y="1554480"/>
            <a:ext cx="7223760" cy="4206240"/>
          </a:xfrm>
          <a:prstGeom prst="roundRect">
            <a:avLst>
              <a:gd name="adj" fmla="val 1304"/>
            </a:avLst>
          </a:prstGeom>
          <a:solidFill>
            <a:srgbClr val="16294A"/>
          </a:solidFill>
          <a:ln w="12700">
            <a:solidFill>
              <a:srgbClr val="16294A"/>
            </a:solidFill>
            <a:prstDash val="solid"/>
          </a:ln>
        </p:spPr>
      </p:sp>
      <p:sp>
        <p:nvSpPr>
          <p:cNvPr id="5" name="Shape 3"/>
          <p:cNvSpPr/>
          <p:nvPr/>
        </p:nvSpPr>
        <p:spPr>
          <a:xfrm>
            <a:off x="749808" y="1719072"/>
            <a:ext cx="109728" cy="109728"/>
          </a:xfrm>
          <a:prstGeom prst="ellipse">
            <a:avLst/>
          </a:prstGeom>
          <a:solidFill>
            <a:srgbClr val="D64545"/>
          </a:solidFill>
          <a:ln w="12700">
            <a:solidFill>
              <a:srgbClr val="D64545"/>
            </a:solidFill>
            <a:prstDash val="solid"/>
          </a:ln>
        </p:spPr>
      </p:sp>
      <p:sp>
        <p:nvSpPr>
          <p:cNvPr id="6" name="Shape 4"/>
          <p:cNvSpPr/>
          <p:nvPr/>
        </p:nvSpPr>
        <p:spPr>
          <a:xfrm>
            <a:off x="932688" y="1719072"/>
            <a:ext cx="109728" cy="109728"/>
          </a:xfrm>
          <a:prstGeom prst="ellipse">
            <a:avLst/>
          </a:prstGeom>
          <a:solidFill>
            <a:srgbClr val="FFB020"/>
          </a:solidFill>
          <a:ln w="12700">
            <a:solidFill>
              <a:srgbClr val="FFB020"/>
            </a:solidFill>
            <a:prstDash val="solid"/>
          </a:ln>
        </p:spPr>
      </p:sp>
      <p:sp>
        <p:nvSpPr>
          <p:cNvPr id="7" name="Shape 5"/>
          <p:cNvSpPr/>
          <p:nvPr/>
        </p:nvSpPr>
        <p:spPr>
          <a:xfrm>
            <a:off x="1115568" y="1719072"/>
            <a:ext cx="109728" cy="109728"/>
          </a:xfrm>
          <a:prstGeom prst="ellipse">
            <a:avLst/>
          </a:prstGeom>
          <a:solidFill>
            <a:srgbClr val="3CB371"/>
          </a:solidFill>
          <a:ln w="12700">
            <a:solidFill>
              <a:srgbClr val="3CB371"/>
            </a:solidFill>
            <a:prstDash val="solid"/>
          </a:ln>
        </p:spPr>
      </p:sp>
      <p:sp>
        <p:nvSpPr>
          <p:cNvPr id="8" name="Text 6"/>
          <p:cNvSpPr txBox="1"/>
          <p:nvPr/>
        </p:nvSpPr>
        <p:spPr>
          <a:xfrm>
            <a:off x="1371600" y="1645920"/>
            <a:ext cx="6217920" cy="256032"/>
          </a:xfrm>
          <a:prstGeom prst="rect">
            <a:avLst/>
          </a:prstGeom>
          <a:noFill/>
          <a:ln/>
        </p:spPr>
        <p:txBody>
          <a:bodyPr wrap="square" lIns="0" tIns="0" rIns="0" bIns="0" rtlCol="0" anchor="ctr"/>
          <a:lstStyle/>
          <a:p>
            <a:pPr marL="0" indent="0">
              <a:buNone/>
            </a:pPr>
            <a:r>
              <a:rPr lang="en-US" sz="1100" dirty="0">
                <a:solidFill>
                  <a:srgbClr val="B9C4D1"/>
                </a:solidFill>
                <a:latin typeface="Courier New" pitchFamily="34" charset="0"/>
                <a:ea typeface="Courier New" pitchFamily="34" charset="-122"/>
                <a:cs typeface="Courier New" pitchFamily="34" charset="-120"/>
              </a:rPr>
              <a:t>powershell</a:t>
            </a:r>
            <a:endParaRPr lang="en-US" sz="1100" dirty="0"/>
          </a:p>
        </p:txBody>
      </p:sp>
      <p:sp>
        <p:nvSpPr>
          <p:cNvPr id="9" name="Text 7"/>
          <p:cNvSpPr txBox="1"/>
          <p:nvPr/>
        </p:nvSpPr>
        <p:spPr>
          <a:xfrm>
            <a:off x="777240" y="2011680"/>
            <a:ext cx="6766560" cy="3611880"/>
          </a:xfrm>
          <a:prstGeom prst="rect">
            <a:avLst/>
          </a:prstGeom>
          <a:noFill/>
          <a:ln/>
        </p:spPr>
        <p:txBody>
          <a:bodyPr wrap="square" lIns="0" tIns="0" rIns="0" bIns="0" rtlCol="0" anchor="t"/>
          <a:lstStyle/>
          <a:p>
            <a:pPr marL="0" indent="0">
              <a:lnSpc>
                <a:spcPct val="110000"/>
              </a:lnSpc>
              <a:buNone/>
            </a:pPr>
            <a:r>
              <a:rPr lang="en-US" sz="1200" dirty="0">
                <a:solidFill>
                  <a:srgbClr val="DDE3EA"/>
                </a:solidFill>
                <a:latin typeface="Courier New" pitchFamily="34" charset="0"/>
                <a:ea typeface="Courier New" pitchFamily="34" charset="-122"/>
                <a:cs typeface="Courier New" pitchFamily="34" charset="-120"/>
              </a:rPr>
              <a:t>cd D:\Kvällskurs\Telemetry</a:t>
            </a:r>
            <a:endParaRPr lang="en-US" sz="1200" dirty="0"/>
          </a:p>
          <a:p>
            <a:pPr marL="0" indent="0">
              <a:lnSpc>
                <a:spcPct val="110000"/>
              </a:lnSpc>
              <a:buNone/>
            </a:pPr>
            <a:r>
              <a:rPr lang="en-US" sz="1200" dirty="0">
                <a:solidFill>
                  <a:srgbClr val="DDE3EA"/>
                </a:solidFill>
                <a:latin typeface="Courier New" pitchFamily="34" charset="0"/>
                <a:ea typeface="Courier New" pitchFamily="34" charset="-122"/>
                <a:cs typeface="Courier New" pitchFamily="34" charset="-120"/>
              </a:rPr>
              <a:t>./deploy-telemetry.ps1     # sidecar, exemplars, OpenMetrics, dashboards</a:t>
            </a:r>
            <a:endParaRPr lang="en-US" sz="1200" dirty="0"/>
          </a:p>
          <a:p>
            <a:pPr marL="0" indent="0">
              <a:lnSpc>
                <a:spcPct val="110000"/>
              </a:lnSpc>
              <a:buNone/>
            </a:pPr>
            <a:r>
              <a:rPr lang="en-US" sz="1200" dirty="0">
                <a:solidFill>
                  <a:srgbClr val="DDE3EA"/>
                </a:solidFill>
                <a:latin typeface="Courier New" pitchFamily="34" charset="0"/>
                <a:ea typeface="Courier New" pitchFamily="34" charset="-122"/>
                <a:cs typeface="Courier New" pitchFamily="34" charset="-120"/>
              </a:rPr>
              <a:t> </a:t>
            </a:r>
            <a:endParaRPr lang="en-US" sz="1200" dirty="0"/>
          </a:p>
          <a:p>
            <a:pPr marL="0" indent="0">
              <a:lnSpc>
                <a:spcPct val="110000"/>
              </a:lnSpc>
              <a:buNone/>
            </a:pPr>
            <a:r>
              <a:rPr lang="en-US" sz="1200" dirty="0">
                <a:solidFill>
                  <a:srgbClr val="DDE3EA"/>
                </a:solidFill>
                <a:latin typeface="Courier New" pitchFamily="34" charset="0"/>
                <a:ea typeface="Courier New" pitchFamily="34" charset="-122"/>
                <a:cs typeface="Courier New" pitchFamily="34" charset="-120"/>
              </a:rPr>
              <a:t>cd ..\TelemetryApi ; ./build.ps1      # fler mätpunkter</a:t>
            </a:r>
            <a:endParaRPr lang="en-US" sz="1200" dirty="0"/>
          </a:p>
          <a:p>
            <a:pPr marL="0" indent="0">
              <a:lnSpc>
                <a:spcPct val="110000"/>
              </a:lnSpc>
              <a:buNone/>
            </a:pPr>
            <a:r>
              <a:rPr lang="en-US" sz="1200" dirty="0">
                <a:solidFill>
                  <a:srgbClr val="DDE3EA"/>
                </a:solidFill>
                <a:latin typeface="Courier New" pitchFamily="34" charset="0"/>
                <a:ea typeface="Courier New" pitchFamily="34" charset="-122"/>
                <a:cs typeface="Courier New" pitchFamily="34" charset="-120"/>
              </a:rPr>
              <a:t>cd ..\CQRS         ; ./build.ps1      # OTel i API + worker</a:t>
            </a:r>
            <a:endParaRPr lang="en-US" sz="1200" dirty="0"/>
          </a:p>
          <a:p>
            <a:pPr marL="0" indent="0">
              <a:lnSpc>
                <a:spcPct val="110000"/>
              </a:lnSpc>
              <a:buNone/>
            </a:pPr>
            <a:r>
              <a:rPr lang="en-US" sz="1200" dirty="0">
                <a:solidFill>
                  <a:srgbClr val="DDE3EA"/>
                </a:solidFill>
                <a:latin typeface="Courier New" pitchFamily="34" charset="0"/>
                <a:ea typeface="Courier New" pitchFamily="34" charset="-122"/>
                <a:cs typeface="Courier New" pitchFamily="34" charset="-120"/>
              </a:rPr>
              <a:t>cd ..\CQRSClient   ; npm install ; ./build.ps1   # Faro</a:t>
            </a:r>
            <a:endParaRPr lang="en-US" sz="1200" dirty="0"/>
          </a:p>
          <a:p>
            <a:pPr marL="0" indent="0">
              <a:lnSpc>
                <a:spcPct val="110000"/>
              </a:lnSpc>
              <a:buNone/>
            </a:pPr>
            <a:r>
              <a:rPr lang="en-US" sz="1200" dirty="0">
                <a:solidFill>
                  <a:srgbClr val="DDE3EA"/>
                </a:solidFill>
                <a:latin typeface="Courier New" pitchFamily="34" charset="0"/>
                <a:ea typeface="Courier New" pitchFamily="34" charset="-122"/>
                <a:cs typeface="Courier New" pitchFamily="34" charset="-120"/>
              </a:rPr>
              <a:t> </a:t>
            </a:r>
            <a:endParaRPr lang="en-US" sz="1200" dirty="0"/>
          </a:p>
          <a:p>
            <a:pPr marL="0" indent="0">
              <a:lnSpc>
                <a:spcPct val="110000"/>
              </a:lnSpc>
              <a:buNone/>
            </a:pPr>
            <a:r>
              <a:rPr lang="en-US" sz="1200" i="1" dirty="0">
                <a:solidFill>
                  <a:srgbClr val="B9C4D1"/>
                </a:solidFill>
                <a:latin typeface="Courier New" pitchFamily="34" charset="0"/>
                <a:ea typeface="Courier New" pitchFamily="34" charset="-122"/>
                <a:cs typeface="Courier New" pitchFamily="34" charset="-120"/>
              </a:rPr>
              <a:t># Grafana → Dashboards → Kvällskurs</a:t>
            </a:r>
            <a:endParaRPr lang="en-US" sz="1200" dirty="0"/>
          </a:p>
          <a:p>
            <a:pPr marL="0" indent="0">
              <a:lnSpc>
                <a:spcPct val="110000"/>
              </a:lnSpc>
              <a:buNone/>
            </a:pPr>
            <a:r>
              <a:rPr lang="en-US" sz="1200" dirty="0">
                <a:solidFill>
                  <a:srgbClr val="DDE3EA"/>
                </a:solidFill>
                <a:latin typeface="Courier New" pitchFamily="34" charset="0"/>
                <a:ea typeface="Courier New" pitchFamily="34" charset="-122"/>
                <a:cs typeface="Courier New" pitchFamily="34" charset="-120"/>
              </a:rPr>
              <a:t>https://grafana.local/d/telemetri-oversikt</a:t>
            </a:r>
            <a:endParaRPr lang="en-US" sz="1200" dirty="0"/>
          </a:p>
        </p:txBody>
      </p:sp>
      <p:sp>
        <p:nvSpPr>
          <p:cNvPr id="10" name="Shape 8"/>
          <p:cNvSpPr/>
          <p:nvPr/>
        </p:nvSpPr>
        <p:spPr>
          <a:xfrm>
            <a:off x="8138160" y="1554480"/>
            <a:ext cx="3504895" cy="1325880"/>
          </a:xfrm>
          <a:prstGeom prst="roundRect">
            <a:avLst>
              <a:gd name="adj" fmla="val 4138"/>
            </a:avLst>
          </a:prstGeom>
          <a:solidFill>
            <a:srgbClr val="16294A"/>
          </a:solidFill>
          <a:ln w="12700">
            <a:solidFill>
              <a:srgbClr val="16294A"/>
            </a:solidFill>
            <a:prstDash val="solid"/>
          </a:ln>
        </p:spPr>
      </p:sp>
      <p:sp>
        <p:nvSpPr>
          <p:cNvPr id="11" name="Text 9"/>
          <p:cNvSpPr txBox="1"/>
          <p:nvPr/>
        </p:nvSpPr>
        <p:spPr>
          <a:xfrm>
            <a:off x="8339328" y="1755648"/>
            <a:ext cx="3102559" cy="320040"/>
          </a:xfrm>
          <a:prstGeom prst="rect">
            <a:avLst/>
          </a:prstGeom>
          <a:noFill/>
          <a:ln/>
        </p:spPr>
        <p:txBody>
          <a:bodyPr wrap="square" lIns="0" tIns="0" rIns="0" bIns="0" rtlCol="0" anchor="t"/>
          <a:lstStyle/>
          <a:p>
            <a:pPr marL="0" indent="0">
              <a:buNone/>
            </a:pPr>
            <a:r>
              <a:rPr lang="en-US" sz="1400" b="1" dirty="0">
                <a:solidFill>
                  <a:srgbClr val="F5F7FA"/>
                </a:solidFill>
                <a:latin typeface="Calibri" pitchFamily="34" charset="0"/>
                <a:ea typeface="Calibri" pitchFamily="34" charset="-122"/>
                <a:cs typeface="Calibri" pitchFamily="34" charset="-120"/>
              </a:rPr>
              <a:t>Ändrade dashboards?</a:t>
            </a:r>
            <a:endParaRPr lang="en-US" sz="1400" dirty="0"/>
          </a:p>
        </p:txBody>
      </p:sp>
      <p:sp>
        <p:nvSpPr>
          <p:cNvPr id="12" name="Text 10"/>
          <p:cNvSpPr txBox="1"/>
          <p:nvPr/>
        </p:nvSpPr>
        <p:spPr>
          <a:xfrm>
            <a:off x="8339328" y="2139696"/>
            <a:ext cx="3102559" cy="585216"/>
          </a:xfrm>
          <a:prstGeom prst="rect">
            <a:avLst/>
          </a:prstGeom>
          <a:noFill/>
          <a:ln/>
        </p:spPr>
        <p:txBody>
          <a:bodyPr wrap="square" lIns="0" tIns="0" rIns="0" bIns="0" rtlCol="0" anchor="t"/>
          <a:lstStyle/>
          <a:p>
            <a:pPr marL="0" indent="0">
              <a:lnSpc>
                <a:spcPct val="115000"/>
              </a:lnSpc>
              <a:buNone/>
            </a:pPr>
            <a:r>
              <a:rPr lang="en-US" sz="1200" dirty="0">
                <a:solidFill>
                  <a:srgbClr val="B9C4D1"/>
                </a:solidFill>
                <a:latin typeface="Arial" pitchFamily="34" charset="0"/>
                <a:ea typeface="Arial" pitchFamily="34" charset="-122"/>
                <a:cs typeface="Arial" pitchFamily="34" charset="-120"/>
              </a:rPr>
              <a:t>Kör bara deploy-dashboards.ps1.</a:t>
            </a:r>
            <a:endParaRPr lang="en-US" sz="1200" dirty="0"/>
          </a:p>
        </p:txBody>
      </p:sp>
      <p:sp>
        <p:nvSpPr>
          <p:cNvPr id="13" name="Shape 11"/>
          <p:cNvSpPr/>
          <p:nvPr/>
        </p:nvSpPr>
        <p:spPr>
          <a:xfrm>
            <a:off x="8138160" y="3017520"/>
            <a:ext cx="3504895" cy="1325880"/>
          </a:xfrm>
          <a:prstGeom prst="roundRect">
            <a:avLst>
              <a:gd name="adj" fmla="val 4138"/>
            </a:avLst>
          </a:prstGeom>
          <a:solidFill>
            <a:srgbClr val="16294A"/>
          </a:solidFill>
          <a:ln w="12700">
            <a:solidFill>
              <a:srgbClr val="16294A"/>
            </a:solidFill>
            <a:prstDash val="solid"/>
          </a:ln>
        </p:spPr>
      </p:sp>
      <p:sp>
        <p:nvSpPr>
          <p:cNvPr id="14" name="Text 12"/>
          <p:cNvSpPr txBox="1"/>
          <p:nvPr/>
        </p:nvSpPr>
        <p:spPr>
          <a:xfrm>
            <a:off x="8339328" y="3218688"/>
            <a:ext cx="3102559" cy="320040"/>
          </a:xfrm>
          <a:prstGeom prst="rect">
            <a:avLst/>
          </a:prstGeom>
          <a:noFill/>
          <a:ln/>
        </p:spPr>
        <p:txBody>
          <a:bodyPr wrap="square" lIns="0" tIns="0" rIns="0" bIns="0" rtlCol="0" anchor="t"/>
          <a:lstStyle/>
          <a:p>
            <a:pPr marL="0" indent="0">
              <a:buNone/>
            </a:pPr>
            <a:r>
              <a:rPr lang="en-US" sz="1400" b="1" dirty="0">
                <a:solidFill>
                  <a:srgbClr val="F5F7FA"/>
                </a:solidFill>
                <a:latin typeface="Calibri" pitchFamily="34" charset="0"/>
                <a:ea typeface="Calibri" pitchFamily="34" charset="-122"/>
                <a:cs typeface="Calibri" pitchFamily="34" charset="-120"/>
              </a:rPr>
              <a:t>10 sekunder</a:t>
            </a:r>
            <a:endParaRPr lang="en-US" sz="1400" dirty="0"/>
          </a:p>
        </p:txBody>
      </p:sp>
      <p:sp>
        <p:nvSpPr>
          <p:cNvPr id="15" name="Text 13"/>
          <p:cNvSpPr txBox="1"/>
          <p:nvPr/>
        </p:nvSpPr>
        <p:spPr>
          <a:xfrm>
            <a:off x="8339328" y="3602736"/>
            <a:ext cx="3102559" cy="585216"/>
          </a:xfrm>
          <a:prstGeom prst="rect">
            <a:avLst/>
          </a:prstGeom>
          <a:noFill/>
          <a:ln/>
        </p:spPr>
        <p:txBody>
          <a:bodyPr wrap="square" lIns="0" tIns="0" rIns="0" bIns="0" rtlCol="0" anchor="t"/>
          <a:lstStyle/>
          <a:p>
            <a:pPr marL="0" indent="0">
              <a:lnSpc>
                <a:spcPct val="115000"/>
              </a:lnSpc>
              <a:buNone/>
            </a:pPr>
            <a:r>
              <a:rPr lang="en-US" sz="1200" dirty="0">
                <a:solidFill>
                  <a:srgbClr val="B9C4D1"/>
                </a:solidFill>
                <a:latin typeface="Arial" pitchFamily="34" charset="0"/>
                <a:ea typeface="Arial" pitchFamily="34" charset="-122"/>
                <a:cs typeface="Arial" pitchFamily="34" charset="-120"/>
              </a:rPr>
              <a:t>Apparna skickar metrics var 10:e s - ha tålamod.</a:t>
            </a:r>
            <a:endParaRPr lang="en-US" sz="1200" dirty="0"/>
          </a:p>
        </p:txBody>
      </p:sp>
      <p:sp>
        <p:nvSpPr>
          <p:cNvPr id="16" name="Shape 14"/>
          <p:cNvSpPr/>
          <p:nvPr/>
        </p:nvSpPr>
        <p:spPr>
          <a:xfrm>
            <a:off x="8138160" y="4480560"/>
            <a:ext cx="3504895" cy="1280160"/>
          </a:xfrm>
          <a:prstGeom prst="roundRect">
            <a:avLst>
              <a:gd name="adj" fmla="val 4286"/>
            </a:avLst>
          </a:prstGeom>
          <a:solidFill>
            <a:srgbClr val="3762FF"/>
          </a:solidFill>
          <a:ln w="12700">
            <a:solidFill>
              <a:srgbClr val="3762FF"/>
            </a:solidFill>
            <a:prstDash val="solid"/>
          </a:ln>
        </p:spPr>
      </p:sp>
      <p:sp>
        <p:nvSpPr>
          <p:cNvPr id="17" name="Text 15"/>
          <p:cNvSpPr txBox="1"/>
          <p:nvPr/>
        </p:nvSpPr>
        <p:spPr>
          <a:xfrm>
            <a:off x="8339328" y="4681728"/>
            <a:ext cx="3102559" cy="320040"/>
          </a:xfrm>
          <a:prstGeom prst="rect">
            <a:avLst/>
          </a:prstGeom>
          <a:noFill/>
          <a:ln/>
        </p:spPr>
        <p:txBody>
          <a:bodyPr wrap="square" lIns="0" tIns="0" rIns="0" bIns="0" rtlCol="0" anchor="t"/>
          <a:lstStyle/>
          <a:p>
            <a:pPr marL="0" indent="0">
              <a:buNone/>
            </a:pPr>
            <a:r>
              <a:rPr lang="en-US" sz="1400" b="1" dirty="0">
                <a:solidFill>
                  <a:srgbClr val="FFFFFF"/>
                </a:solidFill>
                <a:latin typeface="Calibri" pitchFamily="34" charset="0"/>
                <a:ea typeface="Calibri" pitchFamily="34" charset="-122"/>
                <a:cs typeface="Calibri" pitchFamily="34" charset="-120"/>
              </a:rPr>
              <a:t>Ingen data?</a:t>
            </a:r>
            <a:endParaRPr lang="en-US" sz="1400" dirty="0"/>
          </a:p>
        </p:txBody>
      </p:sp>
      <p:sp>
        <p:nvSpPr>
          <p:cNvPr id="18" name="Text 16"/>
          <p:cNvSpPr txBox="1"/>
          <p:nvPr/>
        </p:nvSpPr>
        <p:spPr>
          <a:xfrm>
            <a:off x="8339328" y="5065776"/>
            <a:ext cx="3102559" cy="539496"/>
          </a:xfrm>
          <a:prstGeom prst="rect">
            <a:avLst/>
          </a:prstGeom>
          <a:noFill/>
          <a:ln/>
        </p:spPr>
        <p:txBody>
          <a:bodyPr wrap="square" lIns="0" tIns="0" rIns="0" bIns="0" rtlCol="0" anchor="t"/>
          <a:lstStyle/>
          <a:p>
            <a:pPr marL="0" indent="0">
              <a:lnSpc>
                <a:spcPct val="115000"/>
              </a:lnSpc>
              <a:buNone/>
            </a:pPr>
            <a:r>
              <a:rPr lang="en-US" sz="1200" dirty="0">
                <a:solidFill>
                  <a:srgbClr val="FFFFFF"/>
                </a:solidFill>
                <a:latin typeface="Arial" pitchFamily="34" charset="0"/>
                <a:ea typeface="Arial" pitchFamily="34" charset="-122"/>
                <a:cs typeface="Arial" pitchFamily="34" charset="-120"/>
              </a:rPr>
              <a:t>Targets i Prometheus, sedan collectorns logg.</a:t>
            </a:r>
            <a:endParaRPr lang="en-US" sz="12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7F7F4"/>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marL="0" indent="0">
              <a:buNone/>
            </a:pPr>
            <a:r>
              <a:rPr lang="en-US" sz="1200" b="1" kern="0" spc="200" dirty="0">
                <a:solidFill>
                  <a:srgbClr val="3762FF"/>
                </a:solidFill>
                <a:latin typeface="Arial" pitchFamily="34" charset="0"/>
                <a:ea typeface="Arial" pitchFamily="34" charset="-122"/>
                <a:cs typeface="Arial" pitchFamily="34" charset="-120"/>
              </a:rPr>
              <a:t>SAMMANFATTNING</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marL="0" indent="0">
              <a:buNone/>
            </a:pPr>
            <a:r>
              <a:rPr lang="en-US" sz="3000" b="1" dirty="0">
                <a:solidFill>
                  <a:srgbClr val="16202B"/>
                </a:solidFill>
                <a:latin typeface="Calibri" pitchFamily="34" charset="0"/>
                <a:ea typeface="Calibri" pitchFamily="34" charset="-122"/>
                <a:cs typeface="Calibri" pitchFamily="34" charset="-120"/>
              </a:rPr>
              <a:t>Tio begrepp att ta med sig hem</a:t>
            </a:r>
            <a:endParaRPr lang="en-US" sz="3000" dirty="0"/>
          </a:p>
        </p:txBody>
      </p:sp>
      <p:sp>
        <p:nvSpPr>
          <p:cNvPr id="4" name="Shape 2"/>
          <p:cNvSpPr/>
          <p:nvPr/>
        </p:nvSpPr>
        <p:spPr>
          <a:xfrm>
            <a:off x="548640" y="1600200"/>
            <a:ext cx="2072579" cy="1874520"/>
          </a:xfrm>
          <a:prstGeom prst="roundRect">
            <a:avLst>
              <a:gd name="adj" fmla="val 2927"/>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5" name="Text 3"/>
          <p:cNvSpPr txBox="1"/>
          <p:nvPr/>
        </p:nvSpPr>
        <p:spPr>
          <a:xfrm>
            <a:off x="749808" y="1801368"/>
            <a:ext cx="1670243" cy="320040"/>
          </a:xfrm>
          <a:prstGeom prst="rect">
            <a:avLst/>
          </a:prstGeom>
          <a:noFill/>
          <a:ln/>
        </p:spPr>
        <p:txBody>
          <a:bodyPr wrap="square" lIns="0" tIns="0" rIns="0" bIns="0" rtlCol="0" anchor="t"/>
          <a:lstStyle/>
          <a:p>
            <a:pPr marL="0" indent="0">
              <a:buNone/>
            </a:pPr>
            <a:r>
              <a:rPr lang="en-US" sz="1600" b="1" dirty="0">
                <a:solidFill>
                  <a:srgbClr val="16202B"/>
                </a:solidFill>
                <a:latin typeface="Calibri" pitchFamily="34" charset="0"/>
                <a:ea typeface="Calibri" pitchFamily="34" charset="-122"/>
                <a:cs typeface="Calibri" pitchFamily="34" charset="-120"/>
              </a:rPr>
              <a:t>rate()</a:t>
            </a:r>
            <a:endParaRPr lang="en-US" sz="1600" dirty="0"/>
          </a:p>
        </p:txBody>
      </p:sp>
      <p:sp>
        <p:nvSpPr>
          <p:cNvPr id="6" name="Text 4"/>
          <p:cNvSpPr txBox="1"/>
          <p:nvPr/>
        </p:nvSpPr>
        <p:spPr>
          <a:xfrm>
            <a:off x="749808" y="2185416"/>
            <a:ext cx="1670243" cy="1133856"/>
          </a:xfrm>
          <a:prstGeom prst="rect">
            <a:avLst/>
          </a:prstGeom>
          <a:noFill/>
          <a:ln/>
        </p:spPr>
        <p:txBody>
          <a:bodyPr wrap="square" lIns="0" tIns="0" rIns="0" bIns="0" rtlCol="0" anchor="t"/>
          <a:lstStyle/>
          <a:p>
            <a:pPr marL="0" indent="0">
              <a:lnSpc>
                <a:spcPct val="115000"/>
              </a:lnSpc>
              <a:buNone/>
            </a:pPr>
            <a:r>
              <a:rPr lang="en-US" sz="1300" dirty="0">
                <a:solidFill>
                  <a:srgbClr val="4A5568"/>
                </a:solidFill>
                <a:latin typeface="Arial" pitchFamily="34" charset="0"/>
                <a:ea typeface="Arial" pitchFamily="34" charset="-122"/>
                <a:cs typeface="Arial" pitchFamily="34" charset="-120"/>
              </a:rPr>
              <a:t>Räknare blir hastighet</a:t>
            </a:r>
            <a:endParaRPr lang="en-US" sz="1300" dirty="0"/>
          </a:p>
        </p:txBody>
      </p:sp>
      <p:sp>
        <p:nvSpPr>
          <p:cNvPr id="7" name="Shape 5"/>
          <p:cNvSpPr/>
          <p:nvPr/>
        </p:nvSpPr>
        <p:spPr>
          <a:xfrm>
            <a:off x="2804099" y="1600200"/>
            <a:ext cx="2072579" cy="1874520"/>
          </a:xfrm>
          <a:prstGeom prst="roundRect">
            <a:avLst>
              <a:gd name="adj" fmla="val 2927"/>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8" name="Text 6"/>
          <p:cNvSpPr txBox="1"/>
          <p:nvPr/>
        </p:nvSpPr>
        <p:spPr>
          <a:xfrm>
            <a:off x="3005267" y="1801368"/>
            <a:ext cx="1670243" cy="320040"/>
          </a:xfrm>
          <a:prstGeom prst="rect">
            <a:avLst/>
          </a:prstGeom>
          <a:noFill/>
          <a:ln/>
        </p:spPr>
        <p:txBody>
          <a:bodyPr wrap="square" lIns="0" tIns="0" rIns="0" bIns="0" rtlCol="0" anchor="t"/>
          <a:lstStyle/>
          <a:p>
            <a:pPr marL="0" indent="0">
              <a:buNone/>
            </a:pPr>
            <a:r>
              <a:rPr lang="en-US" sz="1600" b="1" dirty="0">
                <a:solidFill>
                  <a:srgbClr val="16202B"/>
                </a:solidFill>
                <a:latin typeface="Calibri" pitchFamily="34" charset="0"/>
                <a:ea typeface="Calibri" pitchFamily="34" charset="-122"/>
                <a:cs typeface="Calibri" pitchFamily="34" charset="-120"/>
              </a:rPr>
              <a:t>sum by</a:t>
            </a:r>
            <a:endParaRPr lang="en-US" sz="1600" dirty="0"/>
          </a:p>
        </p:txBody>
      </p:sp>
      <p:sp>
        <p:nvSpPr>
          <p:cNvPr id="9" name="Text 7"/>
          <p:cNvSpPr txBox="1"/>
          <p:nvPr/>
        </p:nvSpPr>
        <p:spPr>
          <a:xfrm>
            <a:off x="3005267" y="2185416"/>
            <a:ext cx="1670243" cy="1133856"/>
          </a:xfrm>
          <a:prstGeom prst="rect">
            <a:avLst/>
          </a:prstGeom>
          <a:noFill/>
          <a:ln/>
        </p:spPr>
        <p:txBody>
          <a:bodyPr wrap="square" lIns="0" tIns="0" rIns="0" bIns="0" rtlCol="0" anchor="t"/>
          <a:lstStyle/>
          <a:p>
            <a:pPr marL="0" indent="0">
              <a:lnSpc>
                <a:spcPct val="115000"/>
              </a:lnSpc>
              <a:buNone/>
            </a:pPr>
            <a:r>
              <a:rPr lang="en-US" sz="1300" dirty="0">
                <a:solidFill>
                  <a:srgbClr val="4A5568"/>
                </a:solidFill>
                <a:latin typeface="Arial" pitchFamily="34" charset="0"/>
                <a:ea typeface="Arial" pitchFamily="34" charset="-122"/>
                <a:cs typeface="Arial" pitchFamily="34" charset="-120"/>
              </a:rPr>
              <a:t>Slå ihop serier</a:t>
            </a:r>
            <a:endParaRPr lang="en-US" sz="1300" dirty="0"/>
          </a:p>
        </p:txBody>
      </p:sp>
      <p:sp>
        <p:nvSpPr>
          <p:cNvPr id="10" name="Shape 8"/>
          <p:cNvSpPr/>
          <p:nvPr/>
        </p:nvSpPr>
        <p:spPr>
          <a:xfrm>
            <a:off x="5059558" y="1600200"/>
            <a:ext cx="2072579" cy="1874520"/>
          </a:xfrm>
          <a:prstGeom prst="roundRect">
            <a:avLst>
              <a:gd name="adj" fmla="val 2927"/>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11" name="Text 9"/>
          <p:cNvSpPr txBox="1"/>
          <p:nvPr/>
        </p:nvSpPr>
        <p:spPr>
          <a:xfrm>
            <a:off x="5260726" y="1801368"/>
            <a:ext cx="1670243" cy="320040"/>
          </a:xfrm>
          <a:prstGeom prst="rect">
            <a:avLst/>
          </a:prstGeom>
          <a:noFill/>
          <a:ln/>
        </p:spPr>
        <p:txBody>
          <a:bodyPr wrap="square" lIns="0" tIns="0" rIns="0" bIns="0" rtlCol="0" anchor="t"/>
          <a:lstStyle/>
          <a:p>
            <a:pPr marL="0" indent="0">
              <a:buNone/>
            </a:pPr>
            <a:r>
              <a:rPr lang="en-US" sz="1300" b="1" dirty="0">
                <a:solidFill>
                  <a:srgbClr val="16202B"/>
                </a:solidFill>
                <a:latin typeface="Calibri" pitchFamily="34" charset="0"/>
                <a:ea typeface="Calibri" pitchFamily="34" charset="-122"/>
                <a:cs typeface="Calibri" pitchFamily="34" charset="-120"/>
              </a:rPr>
              <a:t>histogram_quantile</a:t>
            </a:r>
            <a:endParaRPr lang="en-US" sz="1300" dirty="0"/>
          </a:p>
        </p:txBody>
      </p:sp>
      <p:sp>
        <p:nvSpPr>
          <p:cNvPr id="12" name="Text 10"/>
          <p:cNvSpPr txBox="1"/>
          <p:nvPr/>
        </p:nvSpPr>
        <p:spPr>
          <a:xfrm>
            <a:off x="5260726" y="2185416"/>
            <a:ext cx="1670243" cy="1133856"/>
          </a:xfrm>
          <a:prstGeom prst="rect">
            <a:avLst/>
          </a:prstGeom>
          <a:noFill/>
          <a:ln/>
        </p:spPr>
        <p:txBody>
          <a:bodyPr wrap="square" lIns="0" tIns="0" rIns="0" bIns="0" rtlCol="0" anchor="t"/>
          <a:lstStyle/>
          <a:p>
            <a:pPr marL="0" indent="0">
              <a:lnSpc>
                <a:spcPct val="115000"/>
              </a:lnSpc>
              <a:buNone/>
            </a:pPr>
            <a:r>
              <a:rPr lang="en-US" sz="1300" dirty="0">
                <a:solidFill>
                  <a:srgbClr val="4A5568"/>
                </a:solidFill>
                <a:latin typeface="Arial" pitchFamily="34" charset="0"/>
                <a:ea typeface="Arial" pitchFamily="34" charset="-122"/>
                <a:cs typeface="Arial" pitchFamily="34" charset="-120"/>
              </a:rPr>
              <a:t>p95 ur buckets</a:t>
            </a:r>
            <a:endParaRPr lang="en-US" sz="1300" dirty="0"/>
          </a:p>
        </p:txBody>
      </p:sp>
      <p:sp>
        <p:nvSpPr>
          <p:cNvPr id="13" name="Shape 11"/>
          <p:cNvSpPr/>
          <p:nvPr/>
        </p:nvSpPr>
        <p:spPr>
          <a:xfrm>
            <a:off x="7315017" y="1600200"/>
            <a:ext cx="2072579" cy="1874520"/>
          </a:xfrm>
          <a:prstGeom prst="roundRect">
            <a:avLst>
              <a:gd name="adj" fmla="val 2927"/>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14" name="Text 12"/>
          <p:cNvSpPr txBox="1"/>
          <p:nvPr/>
        </p:nvSpPr>
        <p:spPr>
          <a:xfrm>
            <a:off x="7516185" y="1801368"/>
            <a:ext cx="1670243" cy="320040"/>
          </a:xfrm>
          <a:prstGeom prst="rect">
            <a:avLst/>
          </a:prstGeom>
          <a:noFill/>
          <a:ln/>
        </p:spPr>
        <p:txBody>
          <a:bodyPr wrap="square" lIns="0" tIns="0" rIns="0" bIns="0" rtlCol="0" anchor="t"/>
          <a:lstStyle/>
          <a:p>
            <a:pPr marL="0" indent="0">
              <a:buNone/>
            </a:pPr>
            <a:r>
              <a:rPr lang="en-US" sz="1300" b="1" dirty="0">
                <a:solidFill>
                  <a:srgbClr val="16202B"/>
                </a:solidFill>
                <a:latin typeface="Calibri" pitchFamily="34" charset="0"/>
                <a:ea typeface="Calibri" pitchFamily="34" charset="-122"/>
                <a:cs typeface="Calibri" pitchFamily="34" charset="-120"/>
              </a:rPr>
              <a:t>$__rate_interval</a:t>
            </a:r>
            <a:endParaRPr lang="en-US" sz="1300" dirty="0"/>
          </a:p>
        </p:txBody>
      </p:sp>
      <p:sp>
        <p:nvSpPr>
          <p:cNvPr id="15" name="Text 13"/>
          <p:cNvSpPr txBox="1"/>
          <p:nvPr/>
        </p:nvSpPr>
        <p:spPr>
          <a:xfrm>
            <a:off x="7516185" y="2185416"/>
            <a:ext cx="1670243" cy="1133856"/>
          </a:xfrm>
          <a:prstGeom prst="rect">
            <a:avLst/>
          </a:prstGeom>
          <a:noFill/>
          <a:ln/>
        </p:spPr>
        <p:txBody>
          <a:bodyPr wrap="square" lIns="0" tIns="0" rIns="0" bIns="0" rtlCol="0" anchor="t"/>
          <a:lstStyle/>
          <a:p>
            <a:pPr marL="0" indent="0">
              <a:lnSpc>
                <a:spcPct val="115000"/>
              </a:lnSpc>
              <a:buNone/>
            </a:pPr>
            <a:r>
              <a:rPr lang="en-US" sz="1300" dirty="0">
                <a:solidFill>
                  <a:srgbClr val="4A5568"/>
                </a:solidFill>
                <a:latin typeface="Arial" pitchFamily="34" charset="0"/>
                <a:ea typeface="Arial" pitchFamily="34" charset="-122"/>
                <a:cs typeface="Arial" pitchFamily="34" charset="-120"/>
              </a:rPr>
              <a:t>Säkert fönster i Grafana</a:t>
            </a:r>
            <a:endParaRPr lang="en-US" sz="1300" dirty="0"/>
          </a:p>
        </p:txBody>
      </p:sp>
      <p:sp>
        <p:nvSpPr>
          <p:cNvPr id="16" name="Shape 14"/>
          <p:cNvSpPr/>
          <p:nvPr/>
        </p:nvSpPr>
        <p:spPr>
          <a:xfrm>
            <a:off x="9570476" y="1600200"/>
            <a:ext cx="2072579" cy="1874520"/>
          </a:xfrm>
          <a:prstGeom prst="roundRect">
            <a:avLst>
              <a:gd name="adj" fmla="val 2927"/>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17" name="Text 15"/>
          <p:cNvSpPr txBox="1"/>
          <p:nvPr/>
        </p:nvSpPr>
        <p:spPr>
          <a:xfrm>
            <a:off x="9771644" y="1801368"/>
            <a:ext cx="1670243" cy="320040"/>
          </a:xfrm>
          <a:prstGeom prst="rect">
            <a:avLst/>
          </a:prstGeom>
          <a:noFill/>
          <a:ln/>
        </p:spPr>
        <p:txBody>
          <a:bodyPr wrap="square" lIns="0" tIns="0" rIns="0" bIns="0" rtlCol="0" anchor="t"/>
          <a:lstStyle/>
          <a:p>
            <a:pPr marL="0" indent="0">
              <a:buNone/>
            </a:pPr>
            <a:r>
              <a:rPr lang="en-US" sz="1600" b="1" dirty="0">
                <a:solidFill>
                  <a:srgbClr val="16202B"/>
                </a:solidFill>
                <a:latin typeface="Calibri" pitchFamily="34" charset="0"/>
                <a:ea typeface="Calibri" pitchFamily="34" charset="-122"/>
                <a:cs typeface="Calibri" pitchFamily="34" charset="-120"/>
              </a:rPr>
              <a:t>LogQL</a:t>
            </a:r>
            <a:endParaRPr lang="en-US" sz="1600" dirty="0"/>
          </a:p>
        </p:txBody>
      </p:sp>
      <p:sp>
        <p:nvSpPr>
          <p:cNvPr id="18" name="Text 16"/>
          <p:cNvSpPr txBox="1"/>
          <p:nvPr/>
        </p:nvSpPr>
        <p:spPr>
          <a:xfrm>
            <a:off x="9771644" y="2185416"/>
            <a:ext cx="1670243" cy="1133856"/>
          </a:xfrm>
          <a:prstGeom prst="rect">
            <a:avLst/>
          </a:prstGeom>
          <a:noFill/>
          <a:ln/>
        </p:spPr>
        <p:txBody>
          <a:bodyPr wrap="square" lIns="0" tIns="0" rIns="0" bIns="0" rtlCol="0" anchor="t"/>
          <a:lstStyle/>
          <a:p>
            <a:pPr marL="0" indent="0">
              <a:lnSpc>
                <a:spcPct val="115000"/>
              </a:lnSpc>
              <a:buNone/>
            </a:pPr>
            <a:r>
              <a:rPr lang="en-US" sz="1300" dirty="0">
                <a:solidFill>
                  <a:srgbClr val="4A5568"/>
                </a:solidFill>
                <a:latin typeface="Arial" pitchFamily="34" charset="0"/>
                <a:ea typeface="Arial" pitchFamily="34" charset="-122"/>
                <a:cs typeface="Arial" pitchFamily="34" charset="-120"/>
              </a:rPr>
              <a:t>Selector + filter</a:t>
            </a:r>
            <a:endParaRPr lang="en-US" sz="1300" dirty="0"/>
          </a:p>
        </p:txBody>
      </p:sp>
      <p:sp>
        <p:nvSpPr>
          <p:cNvPr id="19" name="Shape 17"/>
          <p:cNvSpPr/>
          <p:nvPr/>
        </p:nvSpPr>
        <p:spPr>
          <a:xfrm>
            <a:off x="548640" y="3703320"/>
            <a:ext cx="2072579" cy="1874520"/>
          </a:xfrm>
          <a:prstGeom prst="roundRect">
            <a:avLst>
              <a:gd name="adj" fmla="val 2927"/>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20" name="Text 18"/>
          <p:cNvSpPr txBox="1"/>
          <p:nvPr/>
        </p:nvSpPr>
        <p:spPr>
          <a:xfrm>
            <a:off x="749808" y="3904488"/>
            <a:ext cx="1670243" cy="320040"/>
          </a:xfrm>
          <a:prstGeom prst="rect">
            <a:avLst/>
          </a:prstGeom>
          <a:noFill/>
          <a:ln/>
        </p:spPr>
        <p:txBody>
          <a:bodyPr wrap="square" lIns="0" tIns="0" rIns="0" bIns="0" rtlCol="0" anchor="t"/>
          <a:lstStyle/>
          <a:p>
            <a:pPr marL="0" indent="0">
              <a:buNone/>
            </a:pPr>
            <a:r>
              <a:rPr lang="en-US" sz="1600" b="1" dirty="0">
                <a:solidFill>
                  <a:srgbClr val="16202B"/>
                </a:solidFill>
                <a:latin typeface="Calibri" pitchFamily="34" charset="0"/>
                <a:ea typeface="Calibri" pitchFamily="34" charset="-122"/>
                <a:cs typeface="Calibri" pitchFamily="34" charset="-120"/>
              </a:rPr>
              <a:t>TraceQL</a:t>
            </a:r>
            <a:endParaRPr lang="en-US" sz="1600" dirty="0"/>
          </a:p>
        </p:txBody>
      </p:sp>
      <p:sp>
        <p:nvSpPr>
          <p:cNvPr id="21" name="Text 19"/>
          <p:cNvSpPr txBox="1"/>
          <p:nvPr/>
        </p:nvSpPr>
        <p:spPr>
          <a:xfrm>
            <a:off x="749808" y="4288536"/>
            <a:ext cx="1670243" cy="1133856"/>
          </a:xfrm>
          <a:prstGeom prst="rect">
            <a:avLst/>
          </a:prstGeom>
          <a:noFill/>
          <a:ln/>
        </p:spPr>
        <p:txBody>
          <a:bodyPr wrap="square" lIns="0" tIns="0" rIns="0" bIns="0" rtlCol="0" anchor="t"/>
          <a:lstStyle/>
          <a:p>
            <a:pPr marL="0" indent="0">
              <a:lnSpc>
                <a:spcPct val="115000"/>
              </a:lnSpc>
              <a:buNone/>
            </a:pPr>
            <a:r>
              <a:rPr lang="en-US" sz="1300" dirty="0">
                <a:solidFill>
                  <a:srgbClr val="4A5568"/>
                </a:solidFill>
                <a:latin typeface="Arial" pitchFamily="34" charset="0"/>
                <a:ea typeface="Arial" pitchFamily="34" charset="-122"/>
                <a:cs typeface="Arial" pitchFamily="34" charset="-120"/>
              </a:rPr>
              <a:t>Sök bland spans</a:t>
            </a:r>
            <a:endParaRPr lang="en-US" sz="1300" dirty="0"/>
          </a:p>
        </p:txBody>
      </p:sp>
      <p:sp>
        <p:nvSpPr>
          <p:cNvPr id="22" name="Shape 20"/>
          <p:cNvSpPr/>
          <p:nvPr/>
        </p:nvSpPr>
        <p:spPr>
          <a:xfrm>
            <a:off x="2804099" y="3703320"/>
            <a:ext cx="2072579" cy="1874520"/>
          </a:xfrm>
          <a:prstGeom prst="roundRect">
            <a:avLst>
              <a:gd name="adj" fmla="val 2927"/>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23" name="Text 21"/>
          <p:cNvSpPr txBox="1"/>
          <p:nvPr/>
        </p:nvSpPr>
        <p:spPr>
          <a:xfrm>
            <a:off x="3005267" y="3904488"/>
            <a:ext cx="1670243" cy="320040"/>
          </a:xfrm>
          <a:prstGeom prst="rect">
            <a:avLst/>
          </a:prstGeom>
          <a:noFill/>
          <a:ln/>
        </p:spPr>
        <p:txBody>
          <a:bodyPr wrap="square" lIns="0" tIns="0" rIns="0" bIns="0" rtlCol="0" anchor="t"/>
          <a:lstStyle/>
          <a:p>
            <a:pPr marL="0" indent="0">
              <a:buNone/>
            </a:pPr>
            <a:r>
              <a:rPr lang="en-US" sz="1600" b="1" dirty="0">
                <a:solidFill>
                  <a:srgbClr val="16202B"/>
                </a:solidFill>
                <a:latin typeface="Calibri" pitchFamily="34" charset="0"/>
                <a:ea typeface="Calibri" pitchFamily="34" charset="-122"/>
                <a:cs typeface="Calibri" pitchFamily="34" charset="-120"/>
              </a:rPr>
              <a:t>RED</a:t>
            </a:r>
            <a:endParaRPr lang="en-US" sz="1600" dirty="0"/>
          </a:p>
        </p:txBody>
      </p:sp>
      <p:sp>
        <p:nvSpPr>
          <p:cNvPr id="24" name="Text 22"/>
          <p:cNvSpPr txBox="1"/>
          <p:nvPr/>
        </p:nvSpPr>
        <p:spPr>
          <a:xfrm>
            <a:off x="3005267" y="4288536"/>
            <a:ext cx="1670243" cy="1133856"/>
          </a:xfrm>
          <a:prstGeom prst="rect">
            <a:avLst/>
          </a:prstGeom>
          <a:noFill/>
          <a:ln/>
        </p:spPr>
        <p:txBody>
          <a:bodyPr wrap="square" lIns="0" tIns="0" rIns="0" bIns="0" rtlCol="0" anchor="t"/>
          <a:lstStyle/>
          <a:p>
            <a:pPr marL="0" indent="0">
              <a:lnSpc>
                <a:spcPct val="115000"/>
              </a:lnSpc>
              <a:buNone/>
            </a:pPr>
            <a:r>
              <a:rPr lang="en-US" sz="1300" dirty="0">
                <a:solidFill>
                  <a:srgbClr val="4A5568"/>
                </a:solidFill>
                <a:latin typeface="Arial" pitchFamily="34" charset="0"/>
                <a:ea typeface="Arial" pitchFamily="34" charset="-122"/>
                <a:cs typeface="Arial" pitchFamily="34" charset="-120"/>
              </a:rPr>
              <a:t>Rate, Errors, Duration</a:t>
            </a:r>
            <a:endParaRPr lang="en-US" sz="1300" dirty="0"/>
          </a:p>
        </p:txBody>
      </p:sp>
      <p:sp>
        <p:nvSpPr>
          <p:cNvPr id="25" name="Shape 23"/>
          <p:cNvSpPr/>
          <p:nvPr/>
        </p:nvSpPr>
        <p:spPr>
          <a:xfrm>
            <a:off x="5059558" y="3703320"/>
            <a:ext cx="2072579" cy="1874520"/>
          </a:xfrm>
          <a:prstGeom prst="roundRect">
            <a:avLst>
              <a:gd name="adj" fmla="val 2927"/>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26" name="Text 24"/>
          <p:cNvSpPr txBox="1"/>
          <p:nvPr/>
        </p:nvSpPr>
        <p:spPr>
          <a:xfrm>
            <a:off x="5260726" y="3904488"/>
            <a:ext cx="1670243" cy="320040"/>
          </a:xfrm>
          <a:prstGeom prst="rect">
            <a:avLst/>
          </a:prstGeom>
          <a:noFill/>
          <a:ln/>
        </p:spPr>
        <p:txBody>
          <a:bodyPr wrap="square" lIns="0" tIns="0" rIns="0" bIns="0" rtlCol="0" anchor="t"/>
          <a:lstStyle/>
          <a:p>
            <a:pPr marL="0" indent="0">
              <a:buNone/>
            </a:pPr>
            <a:r>
              <a:rPr lang="en-US" sz="1600" b="1" dirty="0">
                <a:solidFill>
                  <a:srgbClr val="16202B"/>
                </a:solidFill>
                <a:latin typeface="Calibri" pitchFamily="34" charset="0"/>
                <a:ea typeface="Calibri" pitchFamily="34" charset="-122"/>
                <a:cs typeface="Calibri" pitchFamily="34" charset="-120"/>
              </a:rPr>
              <a:t>Variabel</a:t>
            </a:r>
            <a:endParaRPr lang="en-US" sz="1600" dirty="0"/>
          </a:p>
        </p:txBody>
      </p:sp>
      <p:sp>
        <p:nvSpPr>
          <p:cNvPr id="27" name="Text 25"/>
          <p:cNvSpPr txBox="1"/>
          <p:nvPr/>
        </p:nvSpPr>
        <p:spPr>
          <a:xfrm>
            <a:off x="5260726" y="4288536"/>
            <a:ext cx="1670243" cy="1133856"/>
          </a:xfrm>
          <a:prstGeom prst="rect">
            <a:avLst/>
          </a:prstGeom>
          <a:noFill/>
          <a:ln/>
        </p:spPr>
        <p:txBody>
          <a:bodyPr wrap="square" lIns="0" tIns="0" rIns="0" bIns="0" rtlCol="0" anchor="t"/>
          <a:lstStyle/>
          <a:p>
            <a:pPr marL="0" indent="0">
              <a:lnSpc>
                <a:spcPct val="115000"/>
              </a:lnSpc>
              <a:buNone/>
            </a:pPr>
            <a:r>
              <a:rPr lang="en-US" sz="1300" dirty="0">
                <a:solidFill>
                  <a:srgbClr val="4A5568"/>
                </a:solidFill>
                <a:latin typeface="Arial" pitchFamily="34" charset="0"/>
                <a:ea typeface="Arial" pitchFamily="34" charset="-122"/>
                <a:cs typeface="Arial" pitchFamily="34" charset="-120"/>
              </a:rPr>
              <a:t>En dashboard, många val</a:t>
            </a:r>
            <a:endParaRPr lang="en-US" sz="1300" dirty="0"/>
          </a:p>
        </p:txBody>
      </p:sp>
      <p:sp>
        <p:nvSpPr>
          <p:cNvPr id="28" name="Shape 26"/>
          <p:cNvSpPr/>
          <p:nvPr/>
        </p:nvSpPr>
        <p:spPr>
          <a:xfrm>
            <a:off x="7315017" y="3703320"/>
            <a:ext cx="2072579" cy="1874520"/>
          </a:xfrm>
          <a:prstGeom prst="roundRect">
            <a:avLst>
              <a:gd name="adj" fmla="val 2927"/>
            </a:avLst>
          </a:prstGeom>
          <a:solidFill>
            <a:srgbClr val="FFFFFF"/>
          </a:solidFill>
          <a:ln w="12700">
            <a:solidFill>
              <a:srgbClr val="FFFFFF"/>
            </a:solidFill>
            <a:prstDash val="solid"/>
          </a:ln>
          <a:effectLst>
            <a:outerShdw blurRad="101600" dist="25400" dir="5400000" algn="bl" rotWithShape="0">
              <a:srgbClr val="000000">
                <a:alpha val="10000"/>
              </a:srgbClr>
            </a:outerShdw>
          </a:effectLst>
        </p:spPr>
      </p:sp>
      <p:sp>
        <p:nvSpPr>
          <p:cNvPr id="29" name="Text 27"/>
          <p:cNvSpPr txBox="1"/>
          <p:nvPr/>
        </p:nvSpPr>
        <p:spPr>
          <a:xfrm>
            <a:off x="7516185" y="3904488"/>
            <a:ext cx="1670243" cy="320040"/>
          </a:xfrm>
          <a:prstGeom prst="rect">
            <a:avLst/>
          </a:prstGeom>
          <a:noFill/>
          <a:ln/>
        </p:spPr>
        <p:txBody>
          <a:bodyPr wrap="square" lIns="0" tIns="0" rIns="0" bIns="0" rtlCol="0" anchor="t"/>
          <a:lstStyle/>
          <a:p>
            <a:pPr marL="0" indent="0">
              <a:buNone/>
            </a:pPr>
            <a:r>
              <a:rPr lang="en-US" sz="1600" b="1" dirty="0">
                <a:solidFill>
                  <a:srgbClr val="16202B"/>
                </a:solidFill>
                <a:latin typeface="Calibri" pitchFamily="34" charset="0"/>
                <a:ea typeface="Calibri" pitchFamily="34" charset="-122"/>
                <a:cs typeface="Calibri" pitchFamily="34" charset="-120"/>
              </a:rPr>
              <a:t>Kardinalitet</a:t>
            </a:r>
            <a:endParaRPr lang="en-US" sz="1600" dirty="0"/>
          </a:p>
        </p:txBody>
      </p:sp>
      <p:sp>
        <p:nvSpPr>
          <p:cNvPr id="30" name="Text 28"/>
          <p:cNvSpPr txBox="1"/>
          <p:nvPr/>
        </p:nvSpPr>
        <p:spPr>
          <a:xfrm>
            <a:off x="7516185" y="4288536"/>
            <a:ext cx="1670243" cy="1133856"/>
          </a:xfrm>
          <a:prstGeom prst="rect">
            <a:avLst/>
          </a:prstGeom>
          <a:noFill/>
          <a:ln/>
        </p:spPr>
        <p:txBody>
          <a:bodyPr wrap="square" lIns="0" tIns="0" rIns="0" bIns="0" rtlCol="0" anchor="t"/>
          <a:lstStyle/>
          <a:p>
            <a:pPr marL="0" indent="0">
              <a:lnSpc>
                <a:spcPct val="115000"/>
              </a:lnSpc>
              <a:buNone/>
            </a:pPr>
            <a:r>
              <a:rPr lang="en-US" sz="1300" dirty="0">
                <a:solidFill>
                  <a:srgbClr val="4A5568"/>
                </a:solidFill>
                <a:latin typeface="Arial" pitchFamily="34" charset="0"/>
                <a:ea typeface="Arial" pitchFamily="34" charset="-122"/>
                <a:cs typeface="Arial" pitchFamily="34" charset="-120"/>
              </a:rPr>
              <a:t>Få taggvärden i metrics</a:t>
            </a:r>
            <a:endParaRPr lang="en-US" sz="1300" dirty="0"/>
          </a:p>
        </p:txBody>
      </p:sp>
      <p:sp>
        <p:nvSpPr>
          <p:cNvPr id="31" name="Shape 29"/>
          <p:cNvSpPr/>
          <p:nvPr/>
        </p:nvSpPr>
        <p:spPr>
          <a:xfrm>
            <a:off x="9570476" y="3703320"/>
            <a:ext cx="2072579" cy="1874520"/>
          </a:xfrm>
          <a:prstGeom prst="roundRect">
            <a:avLst>
              <a:gd name="adj" fmla="val 2927"/>
            </a:avLst>
          </a:prstGeom>
          <a:solidFill>
            <a:srgbClr val="3762FF"/>
          </a:solidFill>
          <a:ln w="12700">
            <a:solidFill>
              <a:srgbClr val="3762FF"/>
            </a:solidFill>
            <a:prstDash val="solid"/>
          </a:ln>
        </p:spPr>
      </p:sp>
      <p:sp>
        <p:nvSpPr>
          <p:cNvPr id="32" name="Text 30"/>
          <p:cNvSpPr txBox="1"/>
          <p:nvPr/>
        </p:nvSpPr>
        <p:spPr>
          <a:xfrm>
            <a:off x="9771644" y="3904488"/>
            <a:ext cx="1670243" cy="320040"/>
          </a:xfrm>
          <a:prstGeom prst="rect">
            <a:avLst/>
          </a:prstGeom>
          <a:noFill/>
          <a:ln/>
        </p:spPr>
        <p:txBody>
          <a:bodyPr wrap="square" lIns="0" tIns="0" rIns="0" bIns="0" rtlCol="0" anchor="t"/>
          <a:lstStyle/>
          <a:p>
            <a:pPr marL="0" indent="0">
              <a:buNone/>
            </a:pPr>
            <a:r>
              <a:rPr lang="en-US" sz="1600" b="1" dirty="0">
                <a:solidFill>
                  <a:srgbClr val="FFFFFF"/>
                </a:solidFill>
                <a:latin typeface="Calibri" pitchFamily="34" charset="0"/>
                <a:ea typeface="Calibri" pitchFamily="34" charset="-122"/>
                <a:cs typeface="Calibri" pitchFamily="34" charset="-120"/>
              </a:rPr>
              <a:t>Exemplar</a:t>
            </a:r>
            <a:endParaRPr lang="en-US" sz="1600" dirty="0"/>
          </a:p>
        </p:txBody>
      </p:sp>
      <p:sp>
        <p:nvSpPr>
          <p:cNvPr id="33" name="Text 31"/>
          <p:cNvSpPr txBox="1"/>
          <p:nvPr/>
        </p:nvSpPr>
        <p:spPr>
          <a:xfrm>
            <a:off x="9771644" y="4288536"/>
            <a:ext cx="1670243" cy="1133856"/>
          </a:xfrm>
          <a:prstGeom prst="rect">
            <a:avLst/>
          </a:prstGeom>
          <a:noFill/>
          <a:ln/>
        </p:spPr>
        <p:txBody>
          <a:bodyPr wrap="square" lIns="0" tIns="0" rIns="0" bIns="0" rtlCol="0" anchor="t"/>
          <a:lstStyle/>
          <a:p>
            <a:pPr marL="0" indent="0">
              <a:lnSpc>
                <a:spcPct val="115000"/>
              </a:lnSpc>
              <a:buNone/>
            </a:pPr>
            <a:r>
              <a:rPr lang="en-US" sz="1300" dirty="0">
                <a:solidFill>
                  <a:srgbClr val="FFFFFF"/>
                </a:solidFill>
                <a:latin typeface="Arial" pitchFamily="34" charset="0"/>
                <a:ea typeface="Arial" pitchFamily="34" charset="-122"/>
                <a:cs typeface="Arial" pitchFamily="34" charset="-120"/>
              </a:rPr>
              <a:t>Prick som pekar på en trace</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F1F33"/>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marL="0" indent="0">
              <a:buNone/>
            </a:pPr>
            <a:r>
              <a:rPr lang="en-US" sz="1200" b="1" kern="0" spc="200" dirty="0">
                <a:solidFill>
                  <a:srgbClr val="7C9CFF"/>
                </a:solidFill>
                <a:latin typeface="Arial" pitchFamily="34" charset="0"/>
                <a:ea typeface="Arial" pitchFamily="34" charset="-122"/>
                <a:cs typeface="Arial" pitchFamily="34" charset="-120"/>
              </a:rPr>
              <a:t>VÄGEN FRAMÅT</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marL="0" indent="0">
              <a:buNone/>
            </a:pPr>
            <a:r>
              <a:rPr lang="en-US" sz="3000" b="1" dirty="0">
                <a:solidFill>
                  <a:srgbClr val="F5F7FA"/>
                </a:solidFill>
                <a:latin typeface="Calibri" pitchFamily="34" charset="0"/>
                <a:ea typeface="Calibri" pitchFamily="34" charset="-122"/>
                <a:cs typeface="Calibri" pitchFamily="34" charset="-120"/>
              </a:rPr>
              <a:t>Härifrån bygger vi vidare</a:t>
            </a:r>
            <a:endParaRPr lang="en-US" sz="3000" dirty="0"/>
          </a:p>
        </p:txBody>
      </p:sp>
      <p:sp>
        <p:nvSpPr>
          <p:cNvPr id="4" name="Text 2"/>
          <p:cNvSpPr txBox="1"/>
          <p:nvPr/>
        </p:nvSpPr>
        <p:spPr>
          <a:xfrm>
            <a:off x="548640" y="1417320"/>
            <a:ext cx="11094415" cy="457200"/>
          </a:xfrm>
          <a:prstGeom prst="rect">
            <a:avLst/>
          </a:prstGeom>
          <a:noFill/>
          <a:ln/>
        </p:spPr>
        <p:txBody>
          <a:bodyPr wrap="square" lIns="0" tIns="0" rIns="0" bIns="0" rtlCol="0" anchor="t"/>
          <a:lstStyle/>
          <a:p>
            <a:pPr marL="0" indent="0">
              <a:lnSpc>
                <a:spcPct val="120000"/>
              </a:lnSpc>
              <a:buNone/>
            </a:pPr>
            <a:r>
              <a:rPr lang="en-US" sz="1500" dirty="0">
                <a:solidFill>
                  <a:srgbClr val="B9C4D1"/>
                </a:solidFill>
                <a:latin typeface="Arial" pitchFamily="34" charset="0"/>
                <a:ea typeface="Arial" pitchFamily="34" charset="-122"/>
                <a:cs typeface="Arial" pitchFamily="34" charset="-120"/>
              </a:rPr>
              <a:t>Nu ser ni systemet. Det här ligger framför oss:</a:t>
            </a:r>
            <a:endParaRPr lang="en-US" sz="1500" dirty="0"/>
          </a:p>
        </p:txBody>
      </p:sp>
      <p:sp>
        <p:nvSpPr>
          <p:cNvPr id="5" name="Shape 3"/>
          <p:cNvSpPr/>
          <p:nvPr/>
        </p:nvSpPr>
        <p:spPr>
          <a:xfrm>
            <a:off x="548640" y="2057400"/>
            <a:ext cx="2636444" cy="1645920"/>
          </a:xfrm>
          <a:prstGeom prst="roundRect">
            <a:avLst>
              <a:gd name="adj" fmla="val 3333"/>
            </a:avLst>
          </a:prstGeom>
          <a:solidFill>
            <a:srgbClr val="3762FF"/>
          </a:solidFill>
          <a:ln w="12700">
            <a:solidFill>
              <a:srgbClr val="3762FF"/>
            </a:solidFill>
            <a:prstDash val="solid"/>
          </a:ln>
        </p:spPr>
      </p:sp>
      <p:sp>
        <p:nvSpPr>
          <p:cNvPr id="6" name="Text 4"/>
          <p:cNvSpPr txBox="1"/>
          <p:nvPr/>
        </p:nvSpPr>
        <p:spPr>
          <a:xfrm>
            <a:off x="749808" y="2258568"/>
            <a:ext cx="2234108" cy="320040"/>
          </a:xfrm>
          <a:prstGeom prst="rect">
            <a:avLst/>
          </a:prstGeom>
          <a:noFill/>
          <a:ln/>
        </p:spPr>
        <p:txBody>
          <a:bodyPr wrap="square" lIns="0" tIns="0" rIns="0" bIns="0" rtlCol="0" anchor="t"/>
          <a:lstStyle/>
          <a:p>
            <a:pPr marL="0" indent="0">
              <a:buNone/>
            </a:pPr>
            <a:r>
              <a:rPr lang="en-US" sz="1500" b="1" dirty="0">
                <a:solidFill>
                  <a:srgbClr val="FFFFFF"/>
                </a:solidFill>
                <a:latin typeface="Calibri" pitchFamily="34" charset="0"/>
                <a:ea typeface="Calibri" pitchFamily="34" charset="-122"/>
                <a:cs typeface="Calibri" pitchFamily="34" charset="-120"/>
              </a:rPr>
              <a:t>ConfigMaps</a:t>
            </a:r>
            <a:endParaRPr lang="en-US" sz="1500" dirty="0"/>
          </a:p>
        </p:txBody>
      </p:sp>
      <p:sp>
        <p:nvSpPr>
          <p:cNvPr id="7" name="Text 5"/>
          <p:cNvSpPr txBox="1"/>
          <p:nvPr/>
        </p:nvSpPr>
        <p:spPr>
          <a:xfrm>
            <a:off x="749808" y="2642616"/>
            <a:ext cx="2234108" cy="905256"/>
          </a:xfrm>
          <a:prstGeom prst="rect">
            <a:avLst/>
          </a:prstGeom>
          <a:noFill/>
          <a:ln/>
        </p:spPr>
        <p:txBody>
          <a:bodyPr wrap="square" lIns="0" tIns="0" rIns="0" bIns="0" rtlCol="0" anchor="t"/>
          <a:lstStyle/>
          <a:p>
            <a:pPr marL="0" indent="0">
              <a:lnSpc>
                <a:spcPct val="115000"/>
              </a:lnSpc>
              <a:buNone/>
            </a:pPr>
            <a:r>
              <a:rPr lang="en-US" sz="1300" dirty="0">
                <a:solidFill>
                  <a:srgbClr val="FFFFFF"/>
                </a:solidFill>
                <a:latin typeface="Arial" pitchFamily="34" charset="0"/>
                <a:ea typeface="Arial" pitchFamily="34" charset="-122"/>
                <a:cs typeface="Arial" pitchFamily="34" charset="-120"/>
              </a:rPr>
              <a:t>Konfiguration skild från deploymenten</a:t>
            </a:r>
            <a:endParaRPr lang="en-US" sz="1300" dirty="0"/>
          </a:p>
        </p:txBody>
      </p:sp>
      <p:sp>
        <p:nvSpPr>
          <p:cNvPr id="8" name="Shape 6"/>
          <p:cNvSpPr/>
          <p:nvPr/>
        </p:nvSpPr>
        <p:spPr>
          <a:xfrm>
            <a:off x="3367964" y="2057400"/>
            <a:ext cx="2636444" cy="1645920"/>
          </a:xfrm>
          <a:prstGeom prst="roundRect">
            <a:avLst>
              <a:gd name="adj" fmla="val 3333"/>
            </a:avLst>
          </a:prstGeom>
          <a:solidFill>
            <a:srgbClr val="16294A"/>
          </a:solidFill>
          <a:ln w="12700">
            <a:solidFill>
              <a:srgbClr val="16294A"/>
            </a:solidFill>
            <a:prstDash val="solid"/>
          </a:ln>
        </p:spPr>
      </p:sp>
      <p:sp>
        <p:nvSpPr>
          <p:cNvPr id="9" name="Text 7"/>
          <p:cNvSpPr txBox="1"/>
          <p:nvPr/>
        </p:nvSpPr>
        <p:spPr>
          <a:xfrm>
            <a:off x="3569132" y="2258568"/>
            <a:ext cx="2234108" cy="320040"/>
          </a:xfrm>
          <a:prstGeom prst="rect">
            <a:avLst/>
          </a:prstGeom>
          <a:noFill/>
          <a:ln/>
        </p:spPr>
        <p:txBody>
          <a:bodyPr wrap="square" lIns="0" tIns="0" rIns="0" bIns="0" rtlCol="0" anchor="t"/>
          <a:lstStyle/>
          <a:p>
            <a:pPr marL="0" indent="0">
              <a:buNone/>
            </a:pPr>
            <a:r>
              <a:rPr lang="en-US" sz="1500" b="1" dirty="0">
                <a:solidFill>
                  <a:srgbClr val="F5F7FA"/>
                </a:solidFill>
                <a:latin typeface="Calibri" pitchFamily="34" charset="0"/>
                <a:ea typeface="Calibri" pitchFamily="34" charset="-122"/>
                <a:cs typeface="Calibri" pitchFamily="34" charset="-120"/>
              </a:rPr>
              <a:t>Secrets</a:t>
            </a:r>
            <a:endParaRPr lang="en-US" sz="1500" dirty="0"/>
          </a:p>
        </p:txBody>
      </p:sp>
      <p:sp>
        <p:nvSpPr>
          <p:cNvPr id="10" name="Text 8"/>
          <p:cNvSpPr txBox="1"/>
          <p:nvPr/>
        </p:nvSpPr>
        <p:spPr>
          <a:xfrm>
            <a:off x="3569132" y="2642616"/>
            <a:ext cx="2234108" cy="905256"/>
          </a:xfrm>
          <a:prstGeom prst="rect">
            <a:avLst/>
          </a:prstGeom>
          <a:noFill/>
          <a:ln/>
        </p:spPr>
        <p:txBody>
          <a:bodyPr wrap="square" lIns="0" tIns="0" rIns="0" bIns="0" rtlCol="0" anchor="t"/>
          <a:lstStyle/>
          <a:p>
            <a:pPr marL="0" indent="0">
              <a:lnSpc>
                <a:spcPct val="115000"/>
              </a:lnSpc>
              <a:buNone/>
            </a:pPr>
            <a:r>
              <a:rPr lang="en-US" sz="1300" dirty="0">
                <a:solidFill>
                  <a:srgbClr val="B9C4D1"/>
                </a:solidFill>
                <a:latin typeface="Arial" pitchFamily="34" charset="0"/>
                <a:ea typeface="Arial" pitchFamily="34" charset="-122"/>
                <a:cs typeface="Arial" pitchFamily="34" charset="-120"/>
              </a:rPr>
              <a:t>Lösenord och API-nycklar på riktigt</a:t>
            </a:r>
            <a:endParaRPr lang="en-US" sz="1300" dirty="0"/>
          </a:p>
        </p:txBody>
      </p:sp>
      <p:sp>
        <p:nvSpPr>
          <p:cNvPr id="11" name="Shape 9"/>
          <p:cNvSpPr/>
          <p:nvPr/>
        </p:nvSpPr>
        <p:spPr>
          <a:xfrm>
            <a:off x="6187288" y="2057400"/>
            <a:ext cx="2636444" cy="1645920"/>
          </a:xfrm>
          <a:prstGeom prst="roundRect">
            <a:avLst>
              <a:gd name="adj" fmla="val 3333"/>
            </a:avLst>
          </a:prstGeom>
          <a:solidFill>
            <a:srgbClr val="16294A"/>
          </a:solidFill>
          <a:ln w="12700">
            <a:solidFill>
              <a:srgbClr val="16294A"/>
            </a:solidFill>
            <a:prstDash val="solid"/>
          </a:ln>
        </p:spPr>
      </p:sp>
      <p:sp>
        <p:nvSpPr>
          <p:cNvPr id="12" name="Text 10"/>
          <p:cNvSpPr txBox="1"/>
          <p:nvPr/>
        </p:nvSpPr>
        <p:spPr>
          <a:xfrm>
            <a:off x="6388456" y="2258568"/>
            <a:ext cx="2234108" cy="320040"/>
          </a:xfrm>
          <a:prstGeom prst="rect">
            <a:avLst/>
          </a:prstGeom>
          <a:noFill/>
          <a:ln/>
        </p:spPr>
        <p:txBody>
          <a:bodyPr wrap="square" lIns="0" tIns="0" rIns="0" bIns="0" rtlCol="0" anchor="t"/>
          <a:lstStyle/>
          <a:p>
            <a:pPr marL="0" indent="0">
              <a:buNone/>
            </a:pPr>
            <a:r>
              <a:rPr lang="en-US" sz="1500" b="1" dirty="0">
                <a:solidFill>
                  <a:srgbClr val="F5F7FA"/>
                </a:solidFill>
                <a:latin typeface="Calibri" pitchFamily="34" charset="0"/>
                <a:ea typeface="Calibri" pitchFamily="34" charset="-122"/>
                <a:cs typeface="Calibri" pitchFamily="34" charset="-120"/>
              </a:rPr>
              <a:t>Sealed Secrets</a:t>
            </a:r>
            <a:endParaRPr lang="en-US" sz="1500" dirty="0"/>
          </a:p>
        </p:txBody>
      </p:sp>
      <p:sp>
        <p:nvSpPr>
          <p:cNvPr id="13" name="Text 11"/>
          <p:cNvSpPr txBox="1"/>
          <p:nvPr/>
        </p:nvSpPr>
        <p:spPr>
          <a:xfrm>
            <a:off x="6388456" y="2642616"/>
            <a:ext cx="2234108" cy="905256"/>
          </a:xfrm>
          <a:prstGeom prst="rect">
            <a:avLst/>
          </a:prstGeom>
          <a:noFill/>
          <a:ln/>
        </p:spPr>
        <p:txBody>
          <a:bodyPr wrap="square" lIns="0" tIns="0" rIns="0" bIns="0" rtlCol="0" anchor="t"/>
          <a:lstStyle/>
          <a:p>
            <a:pPr marL="0" indent="0">
              <a:lnSpc>
                <a:spcPct val="115000"/>
              </a:lnSpc>
              <a:buNone/>
            </a:pPr>
            <a:r>
              <a:rPr lang="en-US" sz="1300" dirty="0">
                <a:solidFill>
                  <a:srgbClr val="B9C4D1"/>
                </a:solidFill>
                <a:latin typeface="Arial" pitchFamily="34" charset="0"/>
                <a:ea typeface="Arial" pitchFamily="34" charset="-122"/>
                <a:cs typeface="Arial" pitchFamily="34" charset="-120"/>
              </a:rPr>
              <a:t>Krypterade Secrets som tål Git</a:t>
            </a:r>
            <a:endParaRPr lang="en-US" sz="1300" dirty="0"/>
          </a:p>
        </p:txBody>
      </p:sp>
      <p:sp>
        <p:nvSpPr>
          <p:cNvPr id="14" name="Shape 12"/>
          <p:cNvSpPr/>
          <p:nvPr/>
        </p:nvSpPr>
        <p:spPr>
          <a:xfrm>
            <a:off x="9006611" y="2057400"/>
            <a:ext cx="2636444" cy="1645920"/>
          </a:xfrm>
          <a:prstGeom prst="roundRect">
            <a:avLst>
              <a:gd name="adj" fmla="val 3333"/>
            </a:avLst>
          </a:prstGeom>
          <a:solidFill>
            <a:srgbClr val="16294A"/>
          </a:solidFill>
          <a:ln w="12700">
            <a:solidFill>
              <a:srgbClr val="16294A"/>
            </a:solidFill>
            <a:prstDash val="solid"/>
          </a:ln>
        </p:spPr>
      </p:sp>
      <p:sp>
        <p:nvSpPr>
          <p:cNvPr id="15" name="Text 13"/>
          <p:cNvSpPr txBox="1"/>
          <p:nvPr/>
        </p:nvSpPr>
        <p:spPr>
          <a:xfrm>
            <a:off x="9207779" y="2258568"/>
            <a:ext cx="2234108" cy="320040"/>
          </a:xfrm>
          <a:prstGeom prst="rect">
            <a:avLst/>
          </a:prstGeom>
          <a:noFill/>
          <a:ln/>
        </p:spPr>
        <p:txBody>
          <a:bodyPr wrap="square" lIns="0" tIns="0" rIns="0" bIns="0" rtlCol="0" anchor="t"/>
          <a:lstStyle/>
          <a:p>
            <a:pPr marL="0" indent="0">
              <a:buNone/>
            </a:pPr>
            <a:r>
              <a:rPr lang="en-US" sz="1500" b="1" dirty="0">
                <a:solidFill>
                  <a:srgbClr val="F5F7FA"/>
                </a:solidFill>
                <a:latin typeface="Calibri" pitchFamily="34" charset="0"/>
                <a:ea typeface="Calibri" pitchFamily="34" charset="-122"/>
                <a:cs typeface="Calibri" pitchFamily="34" charset="-120"/>
              </a:rPr>
              <a:t>Larm</a:t>
            </a:r>
            <a:endParaRPr lang="en-US" sz="1500" dirty="0"/>
          </a:p>
        </p:txBody>
      </p:sp>
      <p:sp>
        <p:nvSpPr>
          <p:cNvPr id="16" name="Text 14"/>
          <p:cNvSpPr txBox="1"/>
          <p:nvPr/>
        </p:nvSpPr>
        <p:spPr>
          <a:xfrm>
            <a:off x="9207779" y="2642616"/>
            <a:ext cx="2234108" cy="905256"/>
          </a:xfrm>
          <a:prstGeom prst="rect">
            <a:avLst/>
          </a:prstGeom>
          <a:noFill/>
          <a:ln/>
        </p:spPr>
        <p:txBody>
          <a:bodyPr wrap="square" lIns="0" tIns="0" rIns="0" bIns="0" rtlCol="0" anchor="t"/>
          <a:lstStyle/>
          <a:p>
            <a:pPr marL="0" indent="0">
              <a:lnSpc>
                <a:spcPct val="115000"/>
              </a:lnSpc>
              <a:buNone/>
            </a:pPr>
            <a:r>
              <a:rPr lang="en-US" sz="1300" dirty="0">
                <a:solidFill>
                  <a:srgbClr val="B9C4D1"/>
                </a:solidFill>
                <a:latin typeface="Arial" pitchFamily="34" charset="0"/>
                <a:ea typeface="Arial" pitchFamily="34" charset="-122"/>
                <a:cs typeface="Arial" pitchFamily="34" charset="-120"/>
              </a:rPr>
              <a:t>Grafana alerting på RED-panelerna</a:t>
            </a:r>
            <a:endParaRPr lang="en-US" sz="1300" dirty="0"/>
          </a:p>
        </p:txBody>
      </p:sp>
      <p:sp>
        <p:nvSpPr>
          <p:cNvPr id="17" name="Shape 15"/>
          <p:cNvSpPr/>
          <p:nvPr/>
        </p:nvSpPr>
        <p:spPr>
          <a:xfrm>
            <a:off x="548640" y="3886200"/>
            <a:ext cx="2636444" cy="1645920"/>
          </a:xfrm>
          <a:prstGeom prst="roundRect">
            <a:avLst>
              <a:gd name="adj" fmla="val 3333"/>
            </a:avLst>
          </a:prstGeom>
          <a:solidFill>
            <a:srgbClr val="16294A"/>
          </a:solidFill>
          <a:ln w="12700">
            <a:solidFill>
              <a:srgbClr val="16294A"/>
            </a:solidFill>
            <a:prstDash val="solid"/>
          </a:ln>
        </p:spPr>
      </p:sp>
      <p:sp>
        <p:nvSpPr>
          <p:cNvPr id="18" name="Text 16"/>
          <p:cNvSpPr txBox="1"/>
          <p:nvPr/>
        </p:nvSpPr>
        <p:spPr>
          <a:xfrm>
            <a:off x="749808" y="4087368"/>
            <a:ext cx="2234108" cy="320040"/>
          </a:xfrm>
          <a:prstGeom prst="rect">
            <a:avLst/>
          </a:prstGeom>
          <a:noFill/>
          <a:ln/>
        </p:spPr>
        <p:txBody>
          <a:bodyPr wrap="square" lIns="0" tIns="0" rIns="0" bIns="0" rtlCol="0" anchor="t"/>
          <a:lstStyle/>
          <a:p>
            <a:pPr marL="0" indent="0">
              <a:buNone/>
            </a:pPr>
            <a:r>
              <a:rPr lang="en-US" sz="1500" b="1" dirty="0">
                <a:solidFill>
                  <a:srgbClr val="F5F7FA"/>
                </a:solidFill>
                <a:latin typeface="Calibri" pitchFamily="34" charset="0"/>
                <a:ea typeface="Calibri" pitchFamily="34" charset="-122"/>
                <a:cs typeface="Calibri" pitchFamily="34" charset="-120"/>
              </a:rPr>
              <a:t>Infra-metrics</a:t>
            </a:r>
            <a:endParaRPr lang="en-US" sz="1500" dirty="0"/>
          </a:p>
        </p:txBody>
      </p:sp>
      <p:sp>
        <p:nvSpPr>
          <p:cNvPr id="19" name="Text 17"/>
          <p:cNvSpPr txBox="1"/>
          <p:nvPr/>
        </p:nvSpPr>
        <p:spPr>
          <a:xfrm>
            <a:off x="749808" y="4471416"/>
            <a:ext cx="2234108" cy="905256"/>
          </a:xfrm>
          <a:prstGeom prst="rect">
            <a:avLst/>
          </a:prstGeom>
          <a:noFill/>
          <a:ln/>
        </p:spPr>
        <p:txBody>
          <a:bodyPr wrap="square" lIns="0" tIns="0" rIns="0" bIns="0" rtlCol="0" anchor="t"/>
          <a:lstStyle/>
          <a:p>
            <a:pPr marL="0" indent="0">
              <a:lnSpc>
                <a:spcPct val="115000"/>
              </a:lnSpc>
              <a:buNone/>
            </a:pPr>
            <a:r>
              <a:rPr lang="en-US" sz="1300" dirty="0">
                <a:solidFill>
                  <a:srgbClr val="B9C4D1"/>
                </a:solidFill>
                <a:latin typeface="Arial" pitchFamily="34" charset="0"/>
                <a:ea typeface="Arial" pitchFamily="34" charset="-122"/>
                <a:cs typeface="Arial" pitchFamily="34" charset="-120"/>
              </a:rPr>
              <a:t>MySQL, NATS och Redis på dashboards</a:t>
            </a:r>
            <a:endParaRPr lang="en-US" sz="1300" dirty="0"/>
          </a:p>
        </p:txBody>
      </p:sp>
      <p:sp>
        <p:nvSpPr>
          <p:cNvPr id="20" name="Shape 18"/>
          <p:cNvSpPr/>
          <p:nvPr/>
        </p:nvSpPr>
        <p:spPr>
          <a:xfrm>
            <a:off x="3367964" y="3886200"/>
            <a:ext cx="2636444" cy="1645920"/>
          </a:xfrm>
          <a:prstGeom prst="roundRect">
            <a:avLst>
              <a:gd name="adj" fmla="val 3333"/>
            </a:avLst>
          </a:prstGeom>
          <a:solidFill>
            <a:srgbClr val="16294A"/>
          </a:solidFill>
          <a:ln w="12700">
            <a:solidFill>
              <a:srgbClr val="16294A"/>
            </a:solidFill>
            <a:prstDash val="solid"/>
          </a:ln>
        </p:spPr>
      </p:sp>
      <p:sp>
        <p:nvSpPr>
          <p:cNvPr id="21" name="Text 19"/>
          <p:cNvSpPr txBox="1"/>
          <p:nvPr/>
        </p:nvSpPr>
        <p:spPr>
          <a:xfrm>
            <a:off x="3569132" y="4087368"/>
            <a:ext cx="2234108" cy="320040"/>
          </a:xfrm>
          <a:prstGeom prst="rect">
            <a:avLst/>
          </a:prstGeom>
          <a:noFill/>
          <a:ln/>
        </p:spPr>
        <p:txBody>
          <a:bodyPr wrap="square" lIns="0" tIns="0" rIns="0" bIns="0" rtlCol="0" anchor="t"/>
          <a:lstStyle/>
          <a:p>
            <a:pPr marL="0" indent="0">
              <a:buNone/>
            </a:pPr>
            <a:r>
              <a:rPr lang="en-US" sz="1500" b="1" dirty="0">
                <a:solidFill>
                  <a:srgbClr val="F5F7FA"/>
                </a:solidFill>
                <a:latin typeface="Calibri" pitchFamily="34" charset="0"/>
                <a:ea typeface="Calibri" pitchFamily="34" charset="-122"/>
                <a:cs typeface="Calibri" pitchFamily="34" charset="-120"/>
              </a:rPr>
              <a:t>Sampling</a:t>
            </a:r>
            <a:endParaRPr lang="en-US" sz="1500" dirty="0"/>
          </a:p>
        </p:txBody>
      </p:sp>
      <p:sp>
        <p:nvSpPr>
          <p:cNvPr id="22" name="Text 20"/>
          <p:cNvSpPr txBox="1"/>
          <p:nvPr/>
        </p:nvSpPr>
        <p:spPr>
          <a:xfrm>
            <a:off x="3569132" y="4471416"/>
            <a:ext cx="2234108" cy="905256"/>
          </a:xfrm>
          <a:prstGeom prst="rect">
            <a:avLst/>
          </a:prstGeom>
          <a:noFill/>
          <a:ln/>
        </p:spPr>
        <p:txBody>
          <a:bodyPr wrap="square" lIns="0" tIns="0" rIns="0" bIns="0" rtlCol="0" anchor="t"/>
          <a:lstStyle/>
          <a:p>
            <a:pPr marL="0" indent="0">
              <a:lnSpc>
                <a:spcPct val="115000"/>
              </a:lnSpc>
              <a:buNone/>
            </a:pPr>
            <a:r>
              <a:rPr lang="en-US" sz="1300" dirty="0">
                <a:solidFill>
                  <a:srgbClr val="B9C4D1"/>
                </a:solidFill>
                <a:latin typeface="Arial" pitchFamily="34" charset="0"/>
                <a:ea typeface="Arial" pitchFamily="34" charset="-122"/>
                <a:cs typeface="Arial" pitchFamily="34" charset="-120"/>
              </a:rPr>
              <a:t>Spara inte alla traces i produktion</a:t>
            </a:r>
            <a:endParaRPr lang="en-US" sz="1300" dirty="0"/>
          </a:p>
        </p:txBody>
      </p:sp>
      <p:sp>
        <p:nvSpPr>
          <p:cNvPr id="23" name="Shape 21"/>
          <p:cNvSpPr/>
          <p:nvPr/>
        </p:nvSpPr>
        <p:spPr>
          <a:xfrm>
            <a:off x="6187288" y="3886200"/>
            <a:ext cx="2636444" cy="1645920"/>
          </a:xfrm>
          <a:prstGeom prst="roundRect">
            <a:avLst>
              <a:gd name="adj" fmla="val 3333"/>
            </a:avLst>
          </a:prstGeom>
          <a:solidFill>
            <a:srgbClr val="16294A"/>
          </a:solidFill>
          <a:ln w="12700">
            <a:solidFill>
              <a:srgbClr val="16294A"/>
            </a:solidFill>
            <a:prstDash val="solid"/>
          </a:ln>
        </p:spPr>
      </p:sp>
      <p:sp>
        <p:nvSpPr>
          <p:cNvPr id="24" name="Text 22"/>
          <p:cNvSpPr txBox="1"/>
          <p:nvPr/>
        </p:nvSpPr>
        <p:spPr>
          <a:xfrm>
            <a:off x="6388456" y="4087368"/>
            <a:ext cx="2234108" cy="320040"/>
          </a:xfrm>
          <a:prstGeom prst="rect">
            <a:avLst/>
          </a:prstGeom>
          <a:noFill/>
          <a:ln/>
        </p:spPr>
        <p:txBody>
          <a:bodyPr wrap="square" lIns="0" tIns="0" rIns="0" bIns="0" rtlCol="0" anchor="t"/>
          <a:lstStyle/>
          <a:p>
            <a:pPr marL="0" indent="0">
              <a:buNone/>
            </a:pPr>
            <a:r>
              <a:rPr lang="en-US" sz="1500" b="1" dirty="0">
                <a:solidFill>
                  <a:srgbClr val="F5F7FA"/>
                </a:solidFill>
                <a:latin typeface="Calibri" pitchFamily="34" charset="0"/>
                <a:ea typeface="Calibri" pitchFamily="34" charset="-122"/>
                <a:cs typeface="Calibri" pitchFamily="34" charset="-120"/>
              </a:rPr>
              <a:t>SLO</a:t>
            </a:r>
            <a:endParaRPr lang="en-US" sz="1500" dirty="0"/>
          </a:p>
        </p:txBody>
      </p:sp>
      <p:sp>
        <p:nvSpPr>
          <p:cNvPr id="25" name="Text 23"/>
          <p:cNvSpPr txBox="1"/>
          <p:nvPr/>
        </p:nvSpPr>
        <p:spPr>
          <a:xfrm>
            <a:off x="6388456" y="4471416"/>
            <a:ext cx="2234108" cy="905256"/>
          </a:xfrm>
          <a:prstGeom prst="rect">
            <a:avLst/>
          </a:prstGeom>
          <a:noFill/>
          <a:ln/>
        </p:spPr>
        <p:txBody>
          <a:bodyPr wrap="square" lIns="0" tIns="0" rIns="0" bIns="0" rtlCol="0" anchor="t"/>
          <a:lstStyle/>
          <a:p>
            <a:pPr marL="0" indent="0">
              <a:lnSpc>
                <a:spcPct val="115000"/>
              </a:lnSpc>
              <a:buNone/>
            </a:pPr>
            <a:r>
              <a:rPr lang="en-US" sz="1300" dirty="0">
                <a:solidFill>
                  <a:srgbClr val="B9C4D1"/>
                </a:solidFill>
                <a:latin typeface="Arial" pitchFamily="34" charset="0"/>
                <a:ea typeface="Arial" pitchFamily="34" charset="-122"/>
                <a:cs typeface="Arial" pitchFamily="34" charset="-120"/>
              </a:rPr>
              <a:t>Mål för felandel och svarstid</a:t>
            </a:r>
            <a:endParaRPr lang="en-US" sz="1300" dirty="0"/>
          </a:p>
        </p:txBody>
      </p:sp>
      <p:sp>
        <p:nvSpPr>
          <p:cNvPr id="26" name="Shape 24"/>
          <p:cNvSpPr/>
          <p:nvPr/>
        </p:nvSpPr>
        <p:spPr>
          <a:xfrm>
            <a:off x="9006611" y="3886200"/>
            <a:ext cx="2636444" cy="1645920"/>
          </a:xfrm>
          <a:prstGeom prst="roundRect">
            <a:avLst>
              <a:gd name="adj" fmla="val 3333"/>
            </a:avLst>
          </a:prstGeom>
          <a:solidFill>
            <a:srgbClr val="16294A"/>
          </a:solidFill>
          <a:ln w="12700">
            <a:solidFill>
              <a:srgbClr val="16294A"/>
            </a:solidFill>
            <a:prstDash val="solid"/>
          </a:ln>
        </p:spPr>
      </p:sp>
      <p:sp>
        <p:nvSpPr>
          <p:cNvPr id="27" name="Text 25"/>
          <p:cNvSpPr txBox="1"/>
          <p:nvPr/>
        </p:nvSpPr>
        <p:spPr>
          <a:xfrm>
            <a:off x="9207779" y="4087368"/>
            <a:ext cx="2234108" cy="320040"/>
          </a:xfrm>
          <a:prstGeom prst="rect">
            <a:avLst/>
          </a:prstGeom>
          <a:noFill/>
          <a:ln/>
        </p:spPr>
        <p:txBody>
          <a:bodyPr wrap="square" lIns="0" tIns="0" rIns="0" bIns="0" rtlCol="0" anchor="t"/>
          <a:lstStyle/>
          <a:p>
            <a:pPr marL="0" indent="0">
              <a:buNone/>
            </a:pPr>
            <a:r>
              <a:rPr lang="en-US" sz="1500" b="1" dirty="0">
                <a:solidFill>
                  <a:srgbClr val="F5F7FA"/>
                </a:solidFill>
                <a:latin typeface="Calibri" pitchFamily="34" charset="0"/>
                <a:ea typeface="Calibri" pitchFamily="34" charset="-122"/>
                <a:cs typeface="Calibri" pitchFamily="34" charset="-120"/>
              </a:rPr>
              <a:t>Skalning</a:t>
            </a:r>
            <a:endParaRPr lang="en-US" sz="1500" dirty="0"/>
          </a:p>
        </p:txBody>
      </p:sp>
      <p:sp>
        <p:nvSpPr>
          <p:cNvPr id="28" name="Text 26"/>
          <p:cNvSpPr txBox="1"/>
          <p:nvPr/>
        </p:nvSpPr>
        <p:spPr>
          <a:xfrm>
            <a:off x="9207779" y="4471416"/>
            <a:ext cx="2234108" cy="905256"/>
          </a:xfrm>
          <a:prstGeom prst="rect">
            <a:avLst/>
          </a:prstGeom>
          <a:noFill/>
          <a:ln/>
        </p:spPr>
        <p:txBody>
          <a:bodyPr wrap="square" lIns="0" tIns="0" rIns="0" bIns="0" rtlCol="0" anchor="t"/>
          <a:lstStyle/>
          <a:p>
            <a:pPr marL="0" indent="0">
              <a:lnSpc>
                <a:spcPct val="115000"/>
              </a:lnSpc>
              <a:buNone/>
            </a:pPr>
            <a:r>
              <a:rPr lang="en-US" sz="1300" dirty="0">
                <a:solidFill>
                  <a:srgbClr val="B9C4D1"/>
                </a:solidFill>
                <a:latin typeface="Arial" pitchFamily="34" charset="0"/>
                <a:ea typeface="Arial" pitchFamily="34" charset="-122"/>
                <a:cs typeface="Arial" pitchFamily="34" charset="-120"/>
              </a:rPr>
              <a:t>Fler poddar - och se lasten fördelas</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F1F33"/>
        </a:solidFill>
        <a:effectLst/>
      </p:bgPr>
    </p:bg>
    <p:spTree>
      <p:nvGrpSpPr>
        <p:cNvPr id="1" name=""/>
        <p:cNvGrpSpPr/>
        <p:nvPr/>
      </p:nvGrpSpPr>
      <p:grpSpPr>
        <a:xfrm>
          <a:off x="0" y="0"/>
          <a:ext cx="0" cy="0"/>
          <a:chOff x="0" y="0"/>
          <a:chExt cx="0" cy="0"/>
        </a:xfrm>
      </p:grpSpPr>
      <p:sp>
        <p:nvSpPr>
          <p:cNvPr id="2" name="Text 0"/>
          <p:cNvSpPr txBox="1"/>
          <p:nvPr/>
        </p:nvSpPr>
        <p:spPr>
          <a:xfrm>
            <a:off x="548640" y="1737360"/>
            <a:ext cx="11094415" cy="274320"/>
          </a:xfrm>
          <a:prstGeom prst="rect">
            <a:avLst/>
          </a:prstGeom>
          <a:noFill/>
          <a:ln/>
        </p:spPr>
        <p:txBody>
          <a:bodyPr wrap="square" lIns="0" tIns="0" rIns="0" bIns="0" rtlCol="0" anchor="ctr"/>
          <a:lstStyle/>
          <a:p>
            <a:pPr marL="0" indent="0">
              <a:buNone/>
            </a:pPr>
            <a:r>
              <a:rPr lang="en-US" sz="1200" b="1" kern="0" spc="200" dirty="0">
                <a:solidFill>
                  <a:srgbClr val="7C9CFF"/>
                </a:solidFill>
                <a:latin typeface="Arial" pitchFamily="34" charset="0"/>
                <a:ea typeface="Arial" pitchFamily="34" charset="-122"/>
                <a:cs typeface="Arial" pitchFamily="34" charset="-120"/>
              </a:rPr>
              <a:t>KVÄLL 6 AV 8 - KLAR</a:t>
            </a:r>
            <a:endParaRPr lang="en-US" sz="1200" dirty="0"/>
          </a:p>
        </p:txBody>
      </p:sp>
      <p:sp>
        <p:nvSpPr>
          <p:cNvPr id="3" name="Text 1"/>
          <p:cNvSpPr txBox="1"/>
          <p:nvPr/>
        </p:nvSpPr>
        <p:spPr>
          <a:xfrm>
            <a:off x="548640" y="2103120"/>
            <a:ext cx="11094415" cy="1097280"/>
          </a:xfrm>
          <a:prstGeom prst="rect">
            <a:avLst/>
          </a:prstGeom>
          <a:noFill/>
          <a:ln/>
        </p:spPr>
        <p:txBody>
          <a:bodyPr wrap="square" lIns="0" tIns="0" rIns="0" bIns="0" rtlCol="0" anchor="ctr"/>
          <a:lstStyle/>
          <a:p>
            <a:pPr marL="0" indent="0">
              <a:buNone/>
            </a:pPr>
            <a:r>
              <a:rPr lang="en-US" sz="6000" b="1" dirty="0">
                <a:solidFill>
                  <a:srgbClr val="F5F7FA"/>
                </a:solidFill>
                <a:latin typeface="Calibri" pitchFamily="34" charset="0"/>
                <a:ea typeface="Calibri" pitchFamily="34" charset="-122"/>
                <a:cs typeface="Calibri" pitchFamily="34" charset="-120"/>
              </a:rPr>
              <a:t>Tack! Frågor?</a:t>
            </a:r>
            <a:endParaRPr lang="en-US" sz="6000" dirty="0"/>
          </a:p>
        </p:txBody>
      </p:sp>
      <p:sp>
        <p:nvSpPr>
          <p:cNvPr id="4" name="Text 2"/>
          <p:cNvSpPr txBox="1"/>
          <p:nvPr/>
        </p:nvSpPr>
        <p:spPr>
          <a:xfrm>
            <a:off x="548640" y="3383280"/>
            <a:ext cx="10058400" cy="548640"/>
          </a:xfrm>
          <a:prstGeom prst="rect">
            <a:avLst/>
          </a:prstGeom>
          <a:noFill/>
          <a:ln/>
        </p:spPr>
        <p:txBody>
          <a:bodyPr wrap="square" lIns="0" tIns="0" rIns="0" bIns="0" rtlCol="0" anchor="t"/>
          <a:lstStyle/>
          <a:p>
            <a:pPr marL="0" indent="0">
              <a:lnSpc>
                <a:spcPct val="120000"/>
              </a:lnSpc>
              <a:buNone/>
            </a:pPr>
            <a:r>
              <a:rPr lang="en-US" sz="1800" dirty="0">
                <a:solidFill>
                  <a:srgbClr val="B9C4D1"/>
                </a:solidFill>
                <a:latin typeface="Arial" pitchFamily="34" charset="0"/>
                <a:ea typeface="Arial" pitchFamily="34" charset="-122"/>
                <a:cs typeface="Arial" pitchFamily="34" charset="-120"/>
              </a:rPr>
              <a:t>Från "något är långsamt" till exakt vilket anrop och varför.</a:t>
            </a:r>
            <a:endParaRPr lang="en-US" sz="1800" dirty="0"/>
          </a:p>
        </p:txBody>
      </p:sp>
      <p:sp>
        <p:nvSpPr>
          <p:cNvPr id="5" name="Text 3"/>
          <p:cNvSpPr txBox="1"/>
          <p:nvPr/>
        </p:nvSpPr>
        <p:spPr>
          <a:xfrm>
            <a:off x="548640" y="6172200"/>
            <a:ext cx="6400800" cy="320040"/>
          </a:xfrm>
          <a:prstGeom prst="rect">
            <a:avLst/>
          </a:prstGeom>
          <a:noFill/>
          <a:ln/>
        </p:spPr>
        <p:txBody>
          <a:bodyPr wrap="square" lIns="0" tIns="0" rIns="0" bIns="0" rtlCol="0" anchor="ctr"/>
          <a:lstStyle/>
          <a:p>
            <a:pPr marL="0" indent="0">
              <a:buNone/>
            </a:pPr>
            <a:r>
              <a:rPr lang="en-US" sz="1400" dirty="0">
                <a:solidFill>
                  <a:srgbClr val="B9C4D1"/>
                </a:solidFill>
                <a:latin typeface="Arial" pitchFamily="34" charset="0"/>
                <a:ea typeface="Arial" pitchFamily="34" charset="-122"/>
                <a:cs typeface="Arial" pitchFamily="34" charset="-120"/>
              </a:rPr>
              <a:t>Kubernetes – Telemetri i praktiken · .NET, Frontend &amp; SQL</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5676</TotalTime>
  <Words>6755</Words>
  <Application>Microsoft Office PowerPoint</Application>
  <PresentationFormat>Widescreen</PresentationFormat>
  <Paragraphs>767</Paragraphs>
  <Slides>41</Slides>
  <Notes>41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41</vt:i4>
      </vt:variant>
    </vt:vector>
  </HeadingPairs>
  <TitlesOfParts>
    <vt:vector size="45"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Kubernetes - Telemetri i praktiken</dc:title>
  <dc:subject>PptxGenJS Presentation</dc:subject>
  <dc:creator>PptxGenJS</dc:creator>
  <cp:lastModifiedBy>Lennart Jansson</cp:lastModifiedBy>
  <cp:revision>2</cp:revision>
  <dcterms:created xsi:type="dcterms:W3CDTF">2026-10-08T14:23:15Z</dcterms:created>
  <dcterms:modified xsi:type="dcterms:W3CDTF">2026-10-12T13:11:24Z</dcterms:modified>
</cp:coreProperties>
</file>