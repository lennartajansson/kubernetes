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tillbaka! I tisdags byggde vi ordförrådet: pod, deployment, service, ingress, control plane. Ikväll blir det praktiskt - ni gör exakt samma sak som jag på er egen dator, och när vi går hem har alla ett fungerande kluster. Be alla att ha en terminal (PowerShell eller Windows Terminal) redo och att säga till direkt om något steg inte fungerar - vi väntar in varandra.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snabbt igenom de sex delarna. Första två delarna är kort teori (ca 20 minuter), sedan är resten praktik där alla gör samtidigt. Säg att den som hamnar efter ska räcka upp handen - det är viktigare att alla kommer i mål än att vi håller tidsplanen. Nästa bild visar exakt vad 'i mål' betyder.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definitionen av klart för kvällen. De tre första rutorna är installation, den fjärde - markerad - är beviset: något vi själva har deployat syns i webbläsaren. Fråga: vad tror ni är skillnaden mellan att ha Kubernetes installerat och att ha ett fungerande kluster? Svaret är just att något faktiskt körs och går att nå. Nu backar vi och tittar på vad det är vi installerar.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Första delen: vad är det för Kubernetes vi kör? Poängen att landa: k3s är inte en leksak eller en simulering, det är certifierad Kubernetes. k3d är bara ett smidigt sätt att köra det i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Koppla till förra veckan: alla komponenter vi pratade om - API-server, scheduler, controller manager, kubelet - finns här, fast i en och samma process. Nedersta raden är det som gör k3s bekvämt: ingress-controllern Traefik, en enkel LoadBalancer (ServiceLB) och lagring (local-path) är installerat direkt. Det är därför vi får port 80 och 443 att fungera utan extra arbete ikväll. Nästa bild: en rak jämförelse mot 'riktig' k8s.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raderna uppifrån. Poängtera sista raden, den är viktigast: det som skiljer är paketering och drift, inte API:et. En Deployment-YAML som fungerar i k3s fungerar i AKS och tvärtom. Fråga gruppen: om allt API ser likadant ut, varför kör inte alla k3s i produktion? (Svar: stora organisationer vill ha HA, managed uppgraderingar, molnintegration - det köper man med AKS/EKS/GKE.)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kort men viktig bild: studenterna ska inte känna att de lär sig en 'förenklad' variant. Allt de gör resten av kursen går att ta med till jobbet. Nästa fråga blir: hur får vi k3s att köra på en Windows-laptop? Svaret är k3d.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Rita gärna på tavlan: Windows, ovanpå det WSL2, ovanpå det Docker, och i Docker våra tre containrar. Loadbalancern tar emot trafiken från Windows och skickar den vidare till server-noden där Traefik och våra poddar kör. Registryt är en separat container där vi senare lägger våra egna .NET-images. Vi kör bara en nod ikväll, men k3d kan lika gärna skapa tre servrar och fem agenter - det är bara en rad i config-filen.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tittar vi på verktygen innan vi installerar dem, så att ni vet vad varje verktyg är till för. Fem verktyg - men bara tre av dem använder ni dagligen: kubectl, Helm och k9s.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Poängen med nedre raden: kubectl, Helm och k9s är tre olika gränssnitt mot SAMMA API. De hittar klustret via samma fil, kubeconfig (~/.kube/config), som k3d fyller i åt oss. kubectl är markerat för att det är verktyget ni alltid kan falla tillbaka på - finns det bara ett verktyg på en server är det kubectl. Nästa tre bilder tittar lite närmare på kubectl, Helm och k9s.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mönstret verb-resurs-namn - när man ser det blir kubectl förutsägbart. Kommandona till vänster kommer vi köra själva om en stund. Varna redan nu för context: har man Docker Desktops egna Kubernetes eller ett jobbkluster konfigurerat kan kubectl prata med fel kluster. Fråga: vad tror ni händer om ni kör kubectl delete i fel context? Därför kollar vi alltid get-contexts först.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löser problemet att en riktig app ofta består av tio-femton YAML-filer. Med Helm installerar och avinstallerar man dem som en enhet, och kan uppgradera och rulla tillbaka. Kul detalj: k3s använder själv Helm internt för att installera Traefik - det ser vi när vi listar poddarna senare. Kommandona längst ner kör vi i steg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k9s är det verktyg de flesta fastnar för. Det gör inget kubectl inte kan, men det gör det mycket snabbare att få överblick. Markerat: l för loggar - det är den ni kommer använda mest när något inte startar. Varna för Ctrl+D - k9s frågar först, men det är lätt att trycka fel. Nu har vi gått igenom verktygen, dags att samla ihop nedladdningslänkarna.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bilden är referensen de kan gå tillbaka till - dela gärna ut presentationen efteråt. Vi installerar allt via winget ikväll eftersom det är snabbast och ger samma resultat för alla. Den som föredrar Chocolatey eller manuell nedladdning får göra det, men då kan jag inte lova att sökvägarna blir likadana. Nu börjar installationen.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börjar den gemensamma övningen. Be alla öppna PowerShell (Windows Terminal). En del steg kräver administratörsrättigheter - kör terminalen som administratör för säkerhets skull. Vänta in alla efter varje steg.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Kontrollera detta innan vi går vidare - det är här de flesta problem uppstår. Portarna är markerade eftersom det är den vanligaste fällan: har man en lokal MySQL installerad ligger den på 3306, och IIS eller Skype kan ta port 80. Då misslyckas klustret att starta. Testa med: netstat -ano | findstr ":3306". Kolla WSL med: wsl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Installationen tar några minuter och kan kräva utloggning eller omstart. Medan den laddar ner: förklara att Docker Desktop kör en liten Linux-VM i WSL2, och att alla containrar körs där. Kontrollera att alla har Kubernetes AV i Docker Desktop - annars skapas en context 'docker-desktop' som kubectl kan råka prata med. Vänta in alla tills hello-world fungerar.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rader, en per verktyg. Den vanligaste frågan här blir 'k3d is not recognized' - det beror nästan alltid på att terminalen startades innan installationen och inte har fått den nya PATH:en. Stäng och öppna en ny. Kontrollera sedan att alla fyra versionskommandon fungerar hos alla innan vi går vidare.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Mapparna måste finnas innan klustret skapas, annars kan volymmonteringen misslyckas eller skapas med fel rättigheter. Dela ut k3d-install.yaml nu (Teams, USB, Git - vad som passar). Poängtera att klustret beskrivs i en fil - precis som med Kubernetes-YAML är det deklarativt, och alla får exakt samma kluster.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kommer kvällens huvudmoment. Först förstår vi config-filen - två bilder - sedan en bild om portarna och därefter skapar vi klustret.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Känn igen strukturen från förra veckan: apiVersion och kind överst, precis som ett Kubernetes-objekt - men det här är k3d:s egen filtyp. Fokusera på image: vi låser versionen så att alla kör samma Kubernetes (v1.36.3). Observera att image-taggen har bindestreck (-k3s1) medan k3s själv skriver versionen med plus. servers: 1 betyder en nod som är både control plane och worker - det räcker gott på en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delen är förkortad på bilden - visa gärna hela filen i editorn parallellt. Portarna 3306, 4222/8222 och 6379 är förberedda för MySQL, NATS och Redis som vi installerar senare i kursen. Den markerade rutan är den som gör att kubectl, Helm och k9s fungerar direkt efteråt, utan att ni behöver konfigurera något - k3d sköter kubeconfig. Nästa bild visar hur portarna hänger ihop.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raderna. Första raden är den vi testar ikväll: http://något.localhost i webbläsaren går till port 80, in i loadbalancern, till Traefik som läser Ingress-reglerna och skickar vidare till rätt pod. Precis det vi pratade om i teorin förra veckan, nu på riktigt. Sista raden: från Windows heter registryt localhost:5000, inifrån klustret heter det registry:5000 - samma registry, två namn.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 kommandot på storskärm samtidigt som alla andra. Läs upp INFO-raderna när de dyker upp och peka på motsvarande ruta i flödet. Om någon får 'port is already allocated' - hoppa till felsökningsbilden: det är nästan alltid en lokal MySQL eller IIS. Om det tar timeout första gången: kör k3d cluster delete home och sedan create igen - imagen är då redan nedladdad.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kontroller: rätt context, noden är Ready, systempoddarna är Running. Lägg märke till helm-install-traefik med status Completed - det är ett Job som k3s använt för att installera Traefik med Helm, precis som vi snart gör själva. Det kan ta en minut innan alla poddar är Running; kör kommandot igen. När alla har Ready på noden: grattis, ni har ett Kubernetes-kluster!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Klustret är uppe. Nu gör vi det levande: vi tittar på det i k9s, deployar något själva, installerar något med Helm och kontrollerar att registryt fungerar.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 dem fem minuter att klicka runt själva. Fråga på uppgift 4: vilken service har typen LoadBalancer och vilken extern IP har den? Svar: traefik, och det är ServiceLB som ger den en adress - det är därför port 80 fungerar. Uppmana alla att ha k9s öppet i ett sidofönster när vi deployar i nästa steg.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kvällens höjdpunkt: tisdagens tre begrepp - Deployment, Service, Ingress - skapade på riktigt. Titta i k9s när deploymenten skapas, podden dyker upp. Chrome och Edge löser alla *.localhost-namn till 127.0.0.1 automatiskt, så vi behöver inte röra hosts-filen. Backticken ` är PowerShells radbrytning. Fallback om ingress strular: kubectl port-forward deploy/hello 8080:80 -n test och öppna http://localhost:8080. Nästa gång gör vi samma sak med YAML-filer istället för kommandon.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Jämför med förra steget: där skapade vi tre objekt med tre kommandon, här skapar Helm allt åt oss från en chart. Be dem hitta podinfo i k9s och öppna loggarna medan de laddar om sidan i webbläsaren. port-forward är markerat eftersom det är ett ovärderligt felsökningsverktyg: man kommer åt en tjänst utan Ingress. Avsluta med Ctrl+C.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registry, två adresser: localhost:5000 från Windows, registry:5000 inifrån klustret. Om podden hamnar i ImagePullBackOff: kör kubectl describe pod regtest -n test och läs Events - det talar om vilket namn som inte gick att nå. Det här steget är grunden för nästa tillfälle, så det är värt att få det grönt hos 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Poängtera att ett k3d-kluster är billigt: går något sönder kan man radera och skapa om på en minut med samma config-fil - det är styrkan med att beskriva klustret i en fil. stop/start är bra att kunna för att spara batteri och minne. Städa gärna bort namespace test nu, eller låt det ligga kvar och experimentera hemma. Nästa bild: de vanligaste felen.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bilden är mest ett uppslagsverk - ha den uppe när någon kör fast. Den överlägset vanligaste är port is already allocated, nästan alltid en lokal MySQL på 3306. Antingen stoppar man tjänsten (services.msc) eller tar bort raden för 3306 i config-filen tills vidare. Generellt råd: läs felmeddelandet noga - k3d och kubectl är oftast väldigt tydliga med vad som gick 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 som snabb muntlig quiz: peka på en ruta och låt någon förklara med egna ord. Den markerade rutan är kvällens viktigaste idé: klustret är beskrivet i en fil, precis som appar i Kubernetes beskrivs i YAML. Går något sönder raderar ni och skapar om - samma resultat varje gång. Det är samma deklarativa tänk som förra veckan, nu tillämpat på själva klustret.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kopplingen mellan config-filen och resten av kursen: portarna vi öppnade ikväll är redan förberedda för MySQL, Redis och NATS. Registryt är där våra egna images ska ligga. Nästa gång tar vi SimpleApi - en liten .NET-app - bygger en image, pushar den till registryt och deployar den med riktiga YAML-filer. Be alla se till att klustret fungerar hemma innan dess.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Bra avslutande fråga: när ni öppnade http://hello.localhost - vilka steg passerade anropet, från webbläsaren till nginx-podden? (Windows port 80 → k3d-loadbalancern → Traefik → Ingress → Service → Pod.) Kan de svara på det har de förstått både kvällens praktik och förra veckans teori. Påminn: stäng gärna av klustret med k3d cluster stop home när ni inte använder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docker.com/products/docker-desktop/" TargetMode="External"/><Relationship Id="rId2" Type="http://schemas.openxmlformats.org/officeDocument/2006/relationships/hyperlink" Target="https://k3d.io" TargetMode="External"/><Relationship Id="rId3" Type="http://schemas.openxmlformats.org/officeDocument/2006/relationships/hyperlink" Target="https://kubernetes.io/docs/tasks/tools/" TargetMode="External"/><Relationship Id="rId4" Type="http://schemas.openxmlformats.org/officeDocument/2006/relationships/hyperlink" Target="https://helm.sh/docs/intro/install/" TargetMode="External"/><Relationship Id="rId5" Type="http://schemas.openxmlformats.org/officeDocument/2006/relationships/hyperlink" Target="https://k9scli.io" TargetMode="External"/><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KUBERNETES-KURS · KVÄLL 2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6600" b="1" dirty="0">
                <a:solidFill>
                  <a:srgbClr val="F5F7FA"/>
                </a:solidFill>
                <a:latin typeface="Calibri" pitchFamily="34" charset="0"/>
                <a:ea typeface="Calibri" pitchFamily="34" charset="-122"/>
                <a:cs typeface="Calibri" pitchFamily="34" charset="-120"/>
              </a:rPr>
              <a:t>Ett eget kluster</a:t>
            </a:r>
            <a:endParaRPr lang="en-US" sz="6600" dirty="0"/>
          </a:p>
        </p:txBody>
      </p:sp>
      <p:sp>
        <p:nvSpPr>
          <p:cNvPr id="4" name="Text 2"/>
          <p:cNvSpPr txBox="1"/>
          <p:nvPr/>
        </p:nvSpPr>
        <p:spPr>
          <a:xfrm>
            <a:off x="548640" y="2514600"/>
            <a:ext cx="8686800" cy="914400"/>
          </a:xfrm>
          <a:prstGeom prst="rect">
            <a:avLst/>
          </a:prstGeom>
          <a:noFill/>
          <a:ln/>
        </p:spPr>
        <p:txBody>
          <a:bodyPr wrap="square" lIns="0" tIns="0" rIns="0" bIns="0" rtlCol="0" anchor="t"/>
          <a:lstStyle/>
          <a:p>
            <a:pPr indent="0" marL="0">
              <a:lnSpc>
                <a:spcPct val="130000"/>
              </a:lnSpc>
              <a:buNone/>
            </a:pPr>
            <a:r>
              <a:rPr lang="en-US" sz="2000" dirty="0">
                <a:solidFill>
                  <a:srgbClr val="B9C4D1"/>
                </a:solidFill>
                <a:latin typeface="Arial" pitchFamily="34" charset="0"/>
                <a:ea typeface="Arial" pitchFamily="34" charset="-122"/>
                <a:cs typeface="Arial" pitchFamily="34" charset="-120"/>
              </a:rPr>
              <a:t>k3s i Docker med k3d – vi installerar verktygen och bygger ett fungerande Kubernetes-kluster tillsammans, steg för steg</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algn="r" indent="0" marL="0">
              <a:buNone/>
            </a:pPr>
            <a:r>
              <a:rPr lang="en-US" sz="1400" b="1" dirty="0">
                <a:solidFill>
                  <a:srgbClr val="7C9CFF"/>
                </a:solidFill>
                <a:latin typeface="Arial" pitchFamily="34" charset="0"/>
                <a:ea typeface="Arial" pitchFamily="34" charset="-122"/>
                <a:cs typeface="Arial" pitchFamily="34" charset="-120"/>
              </a:rPr>
              <a:t>Del 2 av 8 · gemensam övning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AGENDA · KVÄLL 2</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1. k3s &amp; k3d</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Vad är k3s jämfört med en fullskalig k8s - och hur k3d kör det i Docker</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2. Verktygslådan</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Docker Desktop, kubectl, Helm och k9s - vad gör vilket verktyg?</a:t>
            </a:r>
            <a:endParaRPr lang="en-US" sz="1300" dirty="0"/>
          </a:p>
        </p:txBody>
      </p:sp>
      <p:sp>
        <p:nvSpPr>
          <p:cNvPr id="10" name="Shape 8"/>
          <p:cNvSpPr/>
          <p:nvPr/>
        </p:nvSpPr>
        <p:spPr>
          <a:xfrm>
            <a:off x="804672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3. Installation</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Förutsättningar, Docker Desktop och CLI-verktygen via winget</a:t>
            </a:r>
            <a:endParaRPr lang="en-US" sz="1300" dirty="0"/>
          </a:p>
        </p:txBody>
      </p:sp>
      <p:sp>
        <p:nvSpPr>
          <p:cNvPr id="13" name="Shape 11"/>
          <p:cNvSpPr/>
          <p:nvPr/>
        </p:nvSpPr>
        <p:spPr>
          <a:xfrm>
            <a:off x="54864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4. Klustret</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Vi går igenom k3d-install.yaml och skapar klustret "home"</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5. Utforska &amp; testa</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k9s, en första deployment, en Helm-chart och vårt registry</a:t>
            </a:r>
            <a:endParaRPr lang="en-US" sz="1300" dirty="0"/>
          </a:p>
        </p:txBody>
      </p:sp>
      <p:sp>
        <p:nvSpPr>
          <p:cNvPr id="19" name="Shape 17"/>
          <p:cNvSpPr/>
          <p:nvPr/>
        </p:nvSpPr>
        <p:spPr>
          <a:xfrm>
            <a:off x="804672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824788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6. Felsökning</a:t>
            </a:r>
            <a:endParaRPr lang="en-US" sz="1600" dirty="0"/>
          </a:p>
        </p:txBody>
      </p:sp>
      <p:sp>
        <p:nvSpPr>
          <p:cNvPr id="21" name="Text 19"/>
          <p:cNvSpPr txBox="1"/>
          <p:nvPr/>
        </p:nvSpPr>
        <p:spPr>
          <a:xfrm>
            <a:off x="824788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Vanliga fel, och hur ni startar, stoppar och bygger om klustret</a:t>
            </a:r>
            <a:endParaRPr lang="en-US" sz="1300" dirty="0"/>
          </a:p>
        </p:txBody>
      </p:sp>
      <p:sp>
        <p:nvSpPr>
          <p:cNvPr id="22" name="Text 20"/>
          <p:cNvSpPr txBox="1"/>
          <p:nvPr/>
        </p:nvSpPr>
        <p:spPr>
          <a:xfrm>
            <a:off x="548640" y="5440680"/>
            <a:ext cx="11094415" cy="548640"/>
          </a:xfrm>
          <a:prstGeom prst="rect">
            <a:avLst/>
          </a:prstGeom>
          <a:noFill/>
          <a:ln/>
        </p:spPr>
        <p:txBody>
          <a:bodyPr wrap="square" lIns="0" tIns="0" rIns="0" bIns="0" rtlCol="0" anchor="t"/>
          <a:lstStyle/>
          <a:p>
            <a:pPr indent="0" marL="0">
              <a:lnSpc>
                <a:spcPct val="120000"/>
              </a:lnSpc>
              <a:buNone/>
            </a:pPr>
            <a:r>
              <a:rPr lang="en-US" sz="1400" dirty="0">
                <a:solidFill>
                  <a:srgbClr val="4A5568"/>
                </a:solidFill>
                <a:latin typeface="Arial" pitchFamily="34" charset="0"/>
                <a:ea typeface="Arial" pitchFamily="34" charset="-122"/>
                <a:cs typeface="Arial" pitchFamily="34" charset="-120"/>
              </a:rPr>
              <a:t>Hela kvällen är en gemensam övning: ni gör samma sak som jag, på er egen dator. Målet är ett fungerande kluster när vi går 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MÅLBILD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När ni går hem ikväll har ni…</a:t>
            </a:r>
            <a:endParaRPr lang="en-US" sz="3000" dirty="0"/>
          </a:p>
        </p:txBody>
      </p:sp>
      <p:sp>
        <p:nvSpPr>
          <p:cNvPr id="4" name="Shape 2"/>
          <p:cNvSpPr/>
          <p:nvPr/>
        </p:nvSpPr>
        <p:spPr>
          <a:xfrm>
            <a:off x="548640" y="1737360"/>
            <a:ext cx="2651760" cy="2103120"/>
          </a:xfrm>
          <a:prstGeom prst="roundRect">
            <a:avLst>
              <a:gd name="adj" fmla="val 2609"/>
            </a:avLst>
          </a:prstGeom>
          <a:solidFill>
            <a:srgbClr val="16294A"/>
          </a:solidFill>
          <a:ln w="12700">
            <a:solidFill>
              <a:srgbClr val="16294A"/>
            </a:solidFill>
            <a:prstDash val="solid"/>
          </a:ln>
        </p:spPr>
      </p:sp>
      <p:sp>
        <p:nvSpPr>
          <p:cNvPr id="5" name="Text 3"/>
          <p:cNvSpPr txBox="1"/>
          <p:nvPr/>
        </p:nvSpPr>
        <p:spPr>
          <a:xfrm>
            <a:off x="749808"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Docker Desktop</a:t>
            </a:r>
            <a:endParaRPr lang="en-US" sz="1600" dirty="0"/>
          </a:p>
        </p:txBody>
      </p:sp>
      <p:sp>
        <p:nvSpPr>
          <p:cNvPr id="7" name="Text 5"/>
          <p:cNvSpPr txBox="1"/>
          <p:nvPr/>
        </p:nvSpPr>
        <p:spPr>
          <a:xfrm>
            <a:off x="749808"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installerat och igång med WSL2 som motor</a:t>
            </a:r>
            <a:endParaRPr lang="en-US" sz="1300" dirty="0"/>
          </a:p>
        </p:txBody>
      </p:sp>
      <p:sp>
        <p:nvSpPr>
          <p:cNvPr id="8" name="Shape 6"/>
          <p:cNvSpPr/>
          <p:nvPr/>
        </p:nvSpPr>
        <p:spPr>
          <a:xfrm>
            <a:off x="3362249" y="1737360"/>
            <a:ext cx="2651760" cy="2103120"/>
          </a:xfrm>
          <a:prstGeom prst="roundRect">
            <a:avLst>
              <a:gd name="adj" fmla="val 2609"/>
            </a:avLst>
          </a:prstGeom>
          <a:solidFill>
            <a:srgbClr val="16294A"/>
          </a:solidFill>
          <a:ln w="12700">
            <a:solidFill>
              <a:srgbClr val="16294A"/>
            </a:solidFill>
            <a:prstDash val="solid"/>
          </a:ln>
        </p:spPr>
      </p:sp>
      <p:sp>
        <p:nvSpPr>
          <p:cNvPr id="9" name="Text 7"/>
          <p:cNvSpPr txBox="1"/>
          <p:nvPr/>
        </p:nvSpPr>
        <p:spPr>
          <a:xfrm>
            <a:off x="3563417"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Fyra CLI-verktyg</a:t>
            </a:r>
            <a:endParaRPr lang="en-US" sz="1600" dirty="0"/>
          </a:p>
        </p:txBody>
      </p:sp>
      <p:sp>
        <p:nvSpPr>
          <p:cNvPr id="11" name="Text 9"/>
          <p:cNvSpPr txBox="1"/>
          <p:nvPr/>
        </p:nvSpPr>
        <p:spPr>
          <a:xfrm>
            <a:off x="3563417"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k3d, kubectl, Helm och k9s - alla på PATH</a:t>
            </a:r>
            <a:endParaRPr lang="en-US" sz="1300" dirty="0"/>
          </a:p>
        </p:txBody>
      </p:sp>
      <p:sp>
        <p:nvSpPr>
          <p:cNvPr id="12" name="Shape 10"/>
          <p:cNvSpPr/>
          <p:nvPr/>
        </p:nvSpPr>
        <p:spPr>
          <a:xfrm>
            <a:off x="6175858" y="1737360"/>
            <a:ext cx="2651760" cy="2103120"/>
          </a:xfrm>
          <a:prstGeom prst="roundRect">
            <a:avLst>
              <a:gd name="adj" fmla="val 2609"/>
            </a:avLst>
          </a:prstGeom>
          <a:solidFill>
            <a:srgbClr val="16294A"/>
          </a:solidFill>
          <a:ln w="12700">
            <a:solidFill>
              <a:srgbClr val="16294A"/>
            </a:solidFill>
            <a:prstDash val="solid"/>
          </a:ln>
        </p:spPr>
      </p:sp>
      <p:sp>
        <p:nvSpPr>
          <p:cNvPr id="13" name="Text 11"/>
          <p:cNvSpPr txBox="1"/>
          <p:nvPr/>
        </p:nvSpPr>
        <p:spPr>
          <a:xfrm>
            <a:off x="6377026"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Klustret "home"</a:t>
            </a:r>
            <a:endParaRPr lang="en-US" sz="1600" dirty="0"/>
          </a:p>
        </p:txBody>
      </p:sp>
      <p:sp>
        <p:nvSpPr>
          <p:cNvPr id="15" name="Text 13"/>
          <p:cNvSpPr txBox="1"/>
          <p:nvPr/>
        </p:nvSpPr>
        <p:spPr>
          <a:xfrm>
            <a:off x="6377026"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en k3s-nod, loadbalancer och eget registry i Docker</a:t>
            </a:r>
            <a:endParaRPr lang="en-US" sz="1300" dirty="0"/>
          </a:p>
        </p:txBody>
      </p:sp>
      <p:sp>
        <p:nvSpPr>
          <p:cNvPr id="16" name="Shape 14"/>
          <p:cNvSpPr/>
          <p:nvPr/>
        </p:nvSpPr>
        <p:spPr>
          <a:xfrm>
            <a:off x="8989466" y="1737360"/>
            <a:ext cx="2651760" cy="2103120"/>
          </a:xfrm>
          <a:prstGeom prst="roundRect">
            <a:avLst>
              <a:gd name="adj" fmla="val 2609"/>
            </a:avLst>
          </a:prstGeom>
          <a:solidFill>
            <a:srgbClr val="3762FF"/>
          </a:solidFill>
          <a:ln w="12700">
            <a:solidFill>
              <a:srgbClr val="3762FF"/>
            </a:solidFill>
            <a:prstDash val="solid"/>
          </a:ln>
        </p:spPr>
      </p:sp>
      <p:sp>
        <p:nvSpPr>
          <p:cNvPr id="17" name="Text 15"/>
          <p:cNvSpPr txBox="1"/>
          <p:nvPr/>
        </p:nvSpPr>
        <p:spPr>
          <a:xfrm>
            <a:off x="9190634" y="1938528"/>
            <a:ext cx="2249424"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231136"/>
            <a:ext cx="2249424"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Något som körs</a:t>
            </a:r>
            <a:endParaRPr lang="en-US" sz="1600" dirty="0"/>
          </a:p>
        </p:txBody>
      </p:sp>
      <p:sp>
        <p:nvSpPr>
          <p:cNvPr id="19" name="Text 17"/>
          <p:cNvSpPr txBox="1"/>
          <p:nvPr/>
        </p:nvSpPr>
        <p:spPr>
          <a:xfrm>
            <a:off x="9190634"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en egen deployment och en Helm-chart, nåbara i webbläsaren</a:t>
            </a:r>
            <a:endParaRPr lang="en-US" sz="1300" dirty="0"/>
          </a:p>
        </p:txBody>
      </p:sp>
      <p:sp>
        <p:nvSpPr>
          <p:cNvPr id="20" name="Text 18"/>
          <p:cNvSpPr txBox="1"/>
          <p:nvPr/>
        </p:nvSpPr>
        <p:spPr>
          <a:xfrm>
            <a:off x="548640" y="4297680"/>
            <a:ext cx="10058400" cy="548640"/>
          </a:xfrm>
          <a:prstGeom prst="rect">
            <a:avLst/>
          </a:prstGeom>
          <a:noFill/>
          <a:ln/>
        </p:spPr>
        <p:txBody>
          <a:bodyPr wrap="square" lIns="0" tIns="0" rIns="0" bIns="0" rtlCol="0" anchor="t"/>
          <a:lstStyle/>
          <a:p>
            <a:pPr indent="0" marL="0">
              <a:lnSpc>
                <a:spcPct val="120000"/>
              </a:lnSpc>
              <a:buNone/>
            </a:pPr>
            <a:r>
              <a:rPr lang="en-US" sz="1600" dirty="0">
                <a:solidFill>
                  <a:srgbClr val="B9C4D1"/>
                </a:solidFill>
                <a:latin typeface="Arial" pitchFamily="34" charset="0"/>
                <a:ea typeface="Arial" pitchFamily="34" charset="-122"/>
                <a:cs typeface="Arial" pitchFamily="34" charset="-120"/>
              </a:rPr>
              <a:t>Samma kluster använder vi resten av kursen - för .NET-API:t, Angular, MySQL, Redis, NATS och monitorering.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k3s &amp; k3d</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Riktig Kubernetes - i ett format som ryms på er laptop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K3S &amp; K3D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Vad är k3s?</a:t>
            </a:r>
            <a:endParaRPr lang="en-US" sz="3000" dirty="0"/>
          </a:p>
        </p:txBody>
      </p:sp>
      <p:sp>
        <p:nvSpPr>
          <p:cNvPr id="4" name="Text 2"/>
          <p:cNvSpPr txBox="1"/>
          <p:nvPr/>
        </p:nvSpPr>
        <p:spPr>
          <a:xfrm>
            <a:off x="548640" y="1600200"/>
            <a:ext cx="4937760" cy="2011680"/>
          </a:xfrm>
          <a:prstGeom prst="rect">
            <a:avLst/>
          </a:prstGeom>
          <a:noFill/>
          <a:ln/>
        </p:spPr>
        <p:txBody>
          <a:bodyPr wrap="square" lIns="0" tIns="0" rIns="0" bIns="0" rtlCol="0" anchor="t"/>
          <a:lstStyle/>
          <a:p>
            <a:pPr indent="0" marL="0">
              <a:lnSpc>
                <a:spcPct val="120000"/>
              </a:lnSpc>
              <a:buNone/>
            </a:pPr>
            <a:r>
              <a:rPr lang="en-US" sz="1500" dirty="0">
                <a:solidFill>
                  <a:srgbClr val="4A5568"/>
                </a:solidFill>
                <a:latin typeface="Arial" pitchFamily="34" charset="0"/>
                <a:ea typeface="Arial" pitchFamily="34" charset="-122"/>
                <a:cs typeface="Arial" pitchFamily="34" charset="-120"/>
              </a:rPr>
              <a:t>k3s är en lättviktig, CNCF-certifierad Kubernetes-distribution från Rancher (SUSE). Hela control plane och worker-delen är packad i EN binär på under 100 MB, och det mesta ni behöver följer med från start.</a:t>
            </a:r>
            <a:endParaRPr lang="en-US" sz="1500" dirty="0"/>
          </a:p>
        </p:txBody>
      </p:sp>
      <p:sp>
        <p:nvSpPr>
          <p:cNvPr id="5" name="Text 3"/>
          <p:cNvSpPr txBox="1"/>
          <p:nvPr/>
        </p:nvSpPr>
        <p:spPr>
          <a:xfrm>
            <a:off x="548640" y="3520440"/>
            <a:ext cx="4937760" cy="914400"/>
          </a:xfrm>
          <a:prstGeom prst="rect">
            <a:avLst/>
          </a:prstGeom>
          <a:noFill/>
          <a:ln/>
        </p:spPr>
        <p:txBody>
          <a:bodyPr wrap="square" lIns="0" tIns="0" rIns="0" bIns="0" rtlCol="0" anchor="t"/>
          <a:lstStyle/>
          <a:p>
            <a:pPr indent="0" marL="0">
              <a:lnSpc>
                <a:spcPct val="120000"/>
              </a:lnSpc>
              <a:buNone/>
            </a:pPr>
            <a:r>
              <a:rPr lang="en-US" sz="1500" dirty="0">
                <a:solidFill>
                  <a:srgbClr val="4A5568"/>
                </a:solidFill>
                <a:latin typeface="Arial" pitchFamily="34" charset="0"/>
                <a:ea typeface="Arial" pitchFamily="34" charset="-122"/>
                <a:cs typeface="Arial" pitchFamily="34" charset="-120"/>
              </a:rPr>
              <a:t>Byggt för edge, IoT, CI och utvecklarmaskiner - men används också i produktion på mindre kluster.</a:t>
            </a:r>
            <a:endParaRPr lang="en-US" sz="1500" dirty="0"/>
          </a:p>
        </p:txBody>
      </p:sp>
      <p:sp>
        <p:nvSpPr>
          <p:cNvPr id="6" name="Shape 4"/>
          <p:cNvSpPr/>
          <p:nvPr/>
        </p:nvSpPr>
        <p:spPr>
          <a:xfrm>
            <a:off x="6035040" y="1600200"/>
            <a:ext cx="5605272" cy="4114800"/>
          </a:xfrm>
          <a:prstGeom prst="roundRect">
            <a:avLst>
              <a:gd name="adj" fmla="val 1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6263640" y="1783080"/>
            <a:ext cx="36576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EN BINÄR: k3s</a:t>
            </a:r>
            <a:endParaRPr lang="en-US" sz="1100" dirty="0"/>
          </a:p>
        </p:txBody>
      </p:sp>
      <p:sp>
        <p:nvSpPr>
          <p:cNvPr id="8" name="Shape 6"/>
          <p:cNvSpPr/>
          <p:nvPr/>
        </p:nvSpPr>
        <p:spPr>
          <a:xfrm>
            <a:off x="6263640" y="2194560"/>
            <a:ext cx="1624584" cy="566928"/>
          </a:xfrm>
          <a:prstGeom prst="roundRect">
            <a:avLst>
              <a:gd name="adj" fmla="val 9677"/>
            </a:avLst>
          </a:prstGeom>
          <a:solidFill>
            <a:srgbClr val="F7F7F4"/>
          </a:solidFill>
          <a:ln w="12700">
            <a:solidFill>
              <a:srgbClr val="F7F7F4"/>
            </a:solidFill>
            <a:prstDash val="solid"/>
          </a:ln>
        </p:spPr>
      </p:sp>
      <p:sp>
        <p:nvSpPr>
          <p:cNvPr id="9" name="Text 7"/>
          <p:cNvSpPr txBox="1"/>
          <p:nvPr/>
        </p:nvSpPr>
        <p:spPr>
          <a:xfrm>
            <a:off x="6355080" y="219456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API-server</a:t>
            </a:r>
            <a:endParaRPr lang="en-US" sz="1300" dirty="0"/>
          </a:p>
        </p:txBody>
      </p:sp>
      <p:sp>
        <p:nvSpPr>
          <p:cNvPr id="10" name="Shape 8"/>
          <p:cNvSpPr/>
          <p:nvPr/>
        </p:nvSpPr>
        <p:spPr>
          <a:xfrm>
            <a:off x="8025384" y="2194560"/>
            <a:ext cx="1624584" cy="566928"/>
          </a:xfrm>
          <a:prstGeom prst="roundRect">
            <a:avLst>
              <a:gd name="adj" fmla="val 9677"/>
            </a:avLst>
          </a:prstGeom>
          <a:solidFill>
            <a:srgbClr val="F7F7F4"/>
          </a:solidFill>
          <a:ln w="12700">
            <a:solidFill>
              <a:srgbClr val="F7F7F4"/>
            </a:solidFill>
            <a:prstDash val="solid"/>
          </a:ln>
        </p:spPr>
      </p:sp>
      <p:sp>
        <p:nvSpPr>
          <p:cNvPr id="11" name="Text 9"/>
          <p:cNvSpPr txBox="1"/>
          <p:nvPr/>
        </p:nvSpPr>
        <p:spPr>
          <a:xfrm>
            <a:off x="8116824" y="219456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Scheduler</a:t>
            </a:r>
            <a:endParaRPr lang="en-US" sz="1300" dirty="0"/>
          </a:p>
        </p:txBody>
      </p:sp>
      <p:sp>
        <p:nvSpPr>
          <p:cNvPr id="12" name="Shape 10"/>
          <p:cNvSpPr/>
          <p:nvPr/>
        </p:nvSpPr>
        <p:spPr>
          <a:xfrm>
            <a:off x="9787128" y="2194560"/>
            <a:ext cx="1624584" cy="566928"/>
          </a:xfrm>
          <a:prstGeom prst="roundRect">
            <a:avLst>
              <a:gd name="adj" fmla="val 9677"/>
            </a:avLst>
          </a:prstGeom>
          <a:solidFill>
            <a:srgbClr val="F7F7F4"/>
          </a:solidFill>
          <a:ln w="12700">
            <a:solidFill>
              <a:srgbClr val="F7F7F4"/>
            </a:solidFill>
            <a:prstDash val="solid"/>
          </a:ln>
        </p:spPr>
      </p:sp>
      <p:sp>
        <p:nvSpPr>
          <p:cNvPr id="13" name="Text 11"/>
          <p:cNvSpPr txBox="1"/>
          <p:nvPr/>
        </p:nvSpPr>
        <p:spPr>
          <a:xfrm>
            <a:off x="9878568" y="219456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Controller mgr</a:t>
            </a:r>
            <a:endParaRPr lang="en-US" sz="1300" dirty="0"/>
          </a:p>
        </p:txBody>
      </p:sp>
      <p:sp>
        <p:nvSpPr>
          <p:cNvPr id="14" name="Shape 12"/>
          <p:cNvSpPr/>
          <p:nvPr/>
        </p:nvSpPr>
        <p:spPr>
          <a:xfrm>
            <a:off x="6263640" y="2926080"/>
            <a:ext cx="1624584" cy="566928"/>
          </a:xfrm>
          <a:prstGeom prst="roundRect">
            <a:avLst>
              <a:gd name="adj" fmla="val 9677"/>
            </a:avLst>
          </a:prstGeom>
          <a:solidFill>
            <a:srgbClr val="F7F7F4"/>
          </a:solidFill>
          <a:ln w="12700">
            <a:solidFill>
              <a:srgbClr val="F7F7F4"/>
            </a:solidFill>
            <a:prstDash val="solid"/>
          </a:ln>
        </p:spPr>
      </p:sp>
      <p:sp>
        <p:nvSpPr>
          <p:cNvPr id="15" name="Text 13"/>
          <p:cNvSpPr txBox="1"/>
          <p:nvPr/>
        </p:nvSpPr>
        <p:spPr>
          <a:xfrm>
            <a:off x="6355080" y="292608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kubelet</a:t>
            </a:r>
            <a:endParaRPr lang="en-US" sz="1300" dirty="0"/>
          </a:p>
        </p:txBody>
      </p:sp>
      <p:sp>
        <p:nvSpPr>
          <p:cNvPr id="16" name="Shape 14"/>
          <p:cNvSpPr/>
          <p:nvPr/>
        </p:nvSpPr>
        <p:spPr>
          <a:xfrm>
            <a:off x="8025384" y="2926080"/>
            <a:ext cx="1624584" cy="566928"/>
          </a:xfrm>
          <a:prstGeom prst="roundRect">
            <a:avLst>
              <a:gd name="adj" fmla="val 9677"/>
            </a:avLst>
          </a:prstGeom>
          <a:solidFill>
            <a:srgbClr val="F7F7F4"/>
          </a:solidFill>
          <a:ln w="12700">
            <a:solidFill>
              <a:srgbClr val="F7F7F4"/>
            </a:solidFill>
            <a:prstDash val="solid"/>
          </a:ln>
        </p:spPr>
      </p:sp>
      <p:sp>
        <p:nvSpPr>
          <p:cNvPr id="17" name="Text 15"/>
          <p:cNvSpPr txBox="1"/>
          <p:nvPr/>
        </p:nvSpPr>
        <p:spPr>
          <a:xfrm>
            <a:off x="8116824" y="292608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kube-proxy</a:t>
            </a:r>
            <a:endParaRPr lang="en-US" sz="1300" dirty="0"/>
          </a:p>
        </p:txBody>
      </p:sp>
      <p:sp>
        <p:nvSpPr>
          <p:cNvPr id="18" name="Shape 16"/>
          <p:cNvSpPr/>
          <p:nvPr/>
        </p:nvSpPr>
        <p:spPr>
          <a:xfrm>
            <a:off x="9787128" y="2926080"/>
            <a:ext cx="1624584" cy="566928"/>
          </a:xfrm>
          <a:prstGeom prst="roundRect">
            <a:avLst>
              <a:gd name="adj" fmla="val 9677"/>
            </a:avLst>
          </a:prstGeom>
          <a:solidFill>
            <a:srgbClr val="F7F7F4"/>
          </a:solidFill>
          <a:ln w="12700">
            <a:solidFill>
              <a:srgbClr val="F7F7F4"/>
            </a:solidFill>
            <a:prstDash val="solid"/>
          </a:ln>
        </p:spPr>
      </p:sp>
      <p:sp>
        <p:nvSpPr>
          <p:cNvPr id="19" name="Text 17"/>
          <p:cNvSpPr txBox="1"/>
          <p:nvPr/>
        </p:nvSpPr>
        <p:spPr>
          <a:xfrm>
            <a:off x="9878568" y="292608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containerd</a:t>
            </a:r>
            <a:endParaRPr lang="en-US" sz="1300" dirty="0"/>
          </a:p>
        </p:txBody>
      </p:sp>
      <p:sp>
        <p:nvSpPr>
          <p:cNvPr id="20" name="Shape 18"/>
          <p:cNvSpPr/>
          <p:nvPr/>
        </p:nvSpPr>
        <p:spPr>
          <a:xfrm>
            <a:off x="6263640" y="3657600"/>
            <a:ext cx="1624584" cy="566928"/>
          </a:xfrm>
          <a:prstGeom prst="roundRect">
            <a:avLst>
              <a:gd name="adj" fmla="val 9677"/>
            </a:avLst>
          </a:prstGeom>
          <a:solidFill>
            <a:srgbClr val="F7F7F4"/>
          </a:solidFill>
          <a:ln w="12700">
            <a:solidFill>
              <a:srgbClr val="F7F7F4"/>
            </a:solidFill>
            <a:prstDash val="solid"/>
          </a:ln>
        </p:spPr>
      </p:sp>
      <p:sp>
        <p:nvSpPr>
          <p:cNvPr id="21" name="Text 19"/>
          <p:cNvSpPr txBox="1"/>
          <p:nvPr/>
        </p:nvSpPr>
        <p:spPr>
          <a:xfrm>
            <a:off x="6355080" y="365760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SQLite / etcd</a:t>
            </a:r>
            <a:endParaRPr lang="en-US" sz="1300" dirty="0"/>
          </a:p>
        </p:txBody>
      </p:sp>
      <p:sp>
        <p:nvSpPr>
          <p:cNvPr id="22" name="Shape 20"/>
          <p:cNvSpPr/>
          <p:nvPr/>
        </p:nvSpPr>
        <p:spPr>
          <a:xfrm>
            <a:off x="8025384" y="3657600"/>
            <a:ext cx="1624584" cy="566928"/>
          </a:xfrm>
          <a:prstGeom prst="roundRect">
            <a:avLst>
              <a:gd name="adj" fmla="val 9677"/>
            </a:avLst>
          </a:prstGeom>
          <a:solidFill>
            <a:srgbClr val="F7F7F4"/>
          </a:solidFill>
          <a:ln w="12700">
            <a:solidFill>
              <a:srgbClr val="F7F7F4"/>
            </a:solidFill>
            <a:prstDash val="solid"/>
          </a:ln>
        </p:spPr>
      </p:sp>
      <p:sp>
        <p:nvSpPr>
          <p:cNvPr id="23" name="Text 21"/>
          <p:cNvSpPr txBox="1"/>
          <p:nvPr/>
        </p:nvSpPr>
        <p:spPr>
          <a:xfrm>
            <a:off x="8116824" y="365760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Flannel (CNI)</a:t>
            </a:r>
            <a:endParaRPr lang="en-US" sz="1300" dirty="0"/>
          </a:p>
        </p:txBody>
      </p:sp>
      <p:sp>
        <p:nvSpPr>
          <p:cNvPr id="24" name="Shape 22"/>
          <p:cNvSpPr/>
          <p:nvPr/>
        </p:nvSpPr>
        <p:spPr>
          <a:xfrm>
            <a:off x="9787128" y="3657600"/>
            <a:ext cx="1624584" cy="566928"/>
          </a:xfrm>
          <a:prstGeom prst="roundRect">
            <a:avLst>
              <a:gd name="adj" fmla="val 9677"/>
            </a:avLst>
          </a:prstGeom>
          <a:solidFill>
            <a:srgbClr val="F7F7F4"/>
          </a:solidFill>
          <a:ln w="12700">
            <a:solidFill>
              <a:srgbClr val="F7F7F4"/>
            </a:solidFill>
            <a:prstDash val="solid"/>
          </a:ln>
        </p:spPr>
      </p:sp>
      <p:sp>
        <p:nvSpPr>
          <p:cNvPr id="25" name="Text 23"/>
          <p:cNvSpPr txBox="1"/>
          <p:nvPr/>
        </p:nvSpPr>
        <p:spPr>
          <a:xfrm>
            <a:off x="9878568" y="365760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CoreDNS</a:t>
            </a:r>
            <a:endParaRPr lang="en-US" sz="1300" dirty="0"/>
          </a:p>
        </p:txBody>
      </p:sp>
      <p:sp>
        <p:nvSpPr>
          <p:cNvPr id="26" name="Shape 24"/>
          <p:cNvSpPr/>
          <p:nvPr/>
        </p:nvSpPr>
        <p:spPr>
          <a:xfrm>
            <a:off x="6263640" y="4389120"/>
            <a:ext cx="1624584" cy="566928"/>
          </a:xfrm>
          <a:prstGeom prst="roundRect">
            <a:avLst>
              <a:gd name="adj" fmla="val 9677"/>
            </a:avLst>
          </a:prstGeom>
          <a:solidFill>
            <a:srgbClr val="E8EDFF"/>
          </a:solidFill>
          <a:ln w="12700">
            <a:solidFill>
              <a:srgbClr val="E8EDFF"/>
            </a:solidFill>
            <a:prstDash val="solid"/>
          </a:ln>
        </p:spPr>
      </p:sp>
      <p:sp>
        <p:nvSpPr>
          <p:cNvPr id="27" name="Text 25"/>
          <p:cNvSpPr txBox="1"/>
          <p:nvPr/>
        </p:nvSpPr>
        <p:spPr>
          <a:xfrm>
            <a:off x="6355080" y="438912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Traefik ingress</a:t>
            </a:r>
            <a:endParaRPr lang="en-US" sz="1300" dirty="0"/>
          </a:p>
        </p:txBody>
      </p:sp>
      <p:sp>
        <p:nvSpPr>
          <p:cNvPr id="28" name="Shape 26"/>
          <p:cNvSpPr/>
          <p:nvPr/>
        </p:nvSpPr>
        <p:spPr>
          <a:xfrm>
            <a:off x="8025384" y="4389120"/>
            <a:ext cx="1624584" cy="566928"/>
          </a:xfrm>
          <a:prstGeom prst="roundRect">
            <a:avLst>
              <a:gd name="adj" fmla="val 9677"/>
            </a:avLst>
          </a:prstGeom>
          <a:solidFill>
            <a:srgbClr val="E8EDFF"/>
          </a:solidFill>
          <a:ln w="12700">
            <a:solidFill>
              <a:srgbClr val="E8EDFF"/>
            </a:solidFill>
            <a:prstDash val="solid"/>
          </a:ln>
        </p:spPr>
      </p:sp>
      <p:sp>
        <p:nvSpPr>
          <p:cNvPr id="29" name="Text 27"/>
          <p:cNvSpPr txBox="1"/>
          <p:nvPr/>
        </p:nvSpPr>
        <p:spPr>
          <a:xfrm>
            <a:off x="8116824" y="438912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ServiceLB</a:t>
            </a:r>
            <a:endParaRPr lang="en-US" sz="1300" dirty="0"/>
          </a:p>
        </p:txBody>
      </p:sp>
      <p:sp>
        <p:nvSpPr>
          <p:cNvPr id="30" name="Shape 28"/>
          <p:cNvSpPr/>
          <p:nvPr/>
        </p:nvSpPr>
        <p:spPr>
          <a:xfrm>
            <a:off x="9787128" y="4389120"/>
            <a:ext cx="1624584" cy="566928"/>
          </a:xfrm>
          <a:prstGeom prst="roundRect">
            <a:avLst>
              <a:gd name="adj" fmla="val 9677"/>
            </a:avLst>
          </a:prstGeom>
          <a:solidFill>
            <a:srgbClr val="E8EDFF"/>
          </a:solidFill>
          <a:ln w="12700">
            <a:solidFill>
              <a:srgbClr val="E8EDFF"/>
            </a:solidFill>
            <a:prstDash val="solid"/>
          </a:ln>
        </p:spPr>
      </p:sp>
      <p:sp>
        <p:nvSpPr>
          <p:cNvPr id="31" name="Text 29"/>
          <p:cNvSpPr txBox="1"/>
          <p:nvPr/>
        </p:nvSpPr>
        <p:spPr>
          <a:xfrm>
            <a:off x="9878568" y="4389120"/>
            <a:ext cx="1441704" cy="566928"/>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Local-path storage</a:t>
            </a:r>
            <a:endParaRPr lang="en-US" sz="1300" dirty="0"/>
          </a:p>
        </p:txBody>
      </p:sp>
      <p:sp>
        <p:nvSpPr>
          <p:cNvPr id="32" name="Text 30"/>
          <p:cNvSpPr txBox="1"/>
          <p:nvPr/>
        </p:nvSpPr>
        <p:spPr>
          <a:xfrm>
            <a:off x="6263640" y="5166360"/>
            <a:ext cx="5148072" cy="45720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Nedersta raden följer med "batterierna inkluderade" - i en vanlig k8s väljer och installerar ni dem själva.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K3S &amp; K3D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k3s jämfört med en fullskalig k8s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651760"/>
                <a:gridCol w="3840480"/>
                <a:gridCol w="4599432"/>
              </a:tblGrid>
              <a:tr h="530352">
                <a:tc>
                  <a:txBody>
                    <a:bodyPr/>
                    <a:lstStyle/>
                    <a:p>
                      <a:pPr indent="0" marL="0">
                        <a:buNone/>
                      </a:pP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indent="0" marL="0">
                        <a:buNone/>
                      </a:pPr>
                      <a:r>
                        <a:rPr lang="en-US" sz="1500" b="1" dirty="0">
                          <a:solidFill>
                            <a:srgbClr val="16202B"/>
                          </a:solidFill>
                          <a:latin typeface="Calibri" pitchFamily="34" charset="0"/>
                          <a:ea typeface="Calibri" pitchFamily="34" charset="-122"/>
                          <a:cs typeface="Calibri" pitchFamily="34" charset="-120"/>
                        </a:rPr>
                        <a:t>k3s</a:t>
                      </a: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indent="0" marL="0">
                        <a:buNone/>
                      </a:pPr>
                      <a:r>
                        <a:rPr lang="en-US" sz="1500" b="1" dirty="0">
                          <a:solidFill>
                            <a:srgbClr val="16202B"/>
                          </a:solidFill>
                          <a:latin typeface="Calibri" pitchFamily="34" charset="0"/>
                          <a:ea typeface="Calibri" pitchFamily="34" charset="-122"/>
                          <a:cs typeface="Calibri" pitchFamily="34" charset="-120"/>
                        </a:rPr>
                        <a:t>Fullskalig k8s (kubeadm, AKS, EKS, GKE)</a:t>
                      </a: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Paketering</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En binär, &lt; 100 MB</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Många separata komponenter och processer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Datalager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SQLite (en nod) eller inbäddad etcd</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etcd-kluster, ofta på egna maskiner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Minimikrav</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~512 MB RAM, 1 CPU</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Flera GB RAM per nod, gärna flera noder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Ingress / LB / lagring</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Traefik, ServiceLB, local-path medföljer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Väljs och installeras separat (eller av molnleverantören)</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Installation</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Ett kommando, klart på under en minut</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Timmar att sätta upp - eller en managed tjänst</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30352">
                <a:tc>
                  <a:txBody>
                    <a:bodyPr/>
                    <a:lstStyle/>
                    <a:p>
                      <a:pPr indent="0" marL="0">
                        <a:buNone/>
                      </a:pPr>
                      <a:r>
                        <a:rPr lang="en-US" sz="1300" b="1" dirty="0">
                          <a:solidFill>
                            <a:srgbClr val="16202B"/>
                          </a:solidFill>
                          <a:latin typeface="Arial" pitchFamily="34" charset="0"/>
                          <a:ea typeface="Arial" pitchFamily="34" charset="-122"/>
                          <a:cs typeface="Arial" pitchFamily="34" charset="-120"/>
                        </a:rPr>
                        <a:t>API, kubectl, YAML</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b="1" dirty="0">
                          <a:solidFill>
                            <a:srgbClr val="16202B"/>
                          </a:solidFill>
                          <a:latin typeface="Arial" pitchFamily="34" charset="0"/>
                          <a:ea typeface="Arial" pitchFamily="34" charset="-122"/>
                          <a:cs typeface="Arial" pitchFamily="34" charset="-120"/>
                        </a:rPr>
                        <a:t>Identiskt - CNCF-certifierat</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b="1" dirty="0">
                          <a:solidFill>
                            <a:srgbClr val="16202B"/>
                          </a:solidFill>
                          <a:latin typeface="Arial" pitchFamily="34" charset="0"/>
                          <a:ea typeface="Arial" pitchFamily="34" charset="-122"/>
                          <a:cs typeface="Arial" pitchFamily="34" charset="-120"/>
                        </a:rPr>
                        <a:t>Identiskt</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K3S &amp; K3D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Det ni lär er här gäller överallt</a:t>
            </a:r>
            <a:endParaRPr lang="en-US" sz="3000" dirty="0"/>
          </a:p>
        </p:txBody>
      </p:sp>
      <p:sp>
        <p:nvSpPr>
          <p:cNvPr id="4" name="Shape 2"/>
          <p:cNvSpPr/>
          <p:nvPr/>
        </p:nvSpPr>
        <p:spPr>
          <a:xfrm>
            <a:off x="548640" y="1737360"/>
            <a:ext cx="3593592" cy="1828800"/>
          </a:xfrm>
          <a:prstGeom prst="roundRect">
            <a:avLst>
              <a:gd name="adj" fmla="val 3000"/>
            </a:avLst>
          </a:prstGeom>
          <a:solidFill>
            <a:srgbClr val="16294A"/>
          </a:solidFill>
          <a:ln w="12700">
            <a:solidFill>
              <a:srgbClr val="16294A"/>
            </a:solidFill>
            <a:prstDash val="solid"/>
          </a:ln>
        </p:spPr>
      </p:sp>
      <p:sp>
        <p:nvSpPr>
          <p:cNvPr id="5" name="Text 3"/>
          <p:cNvSpPr txBox="1"/>
          <p:nvPr/>
        </p:nvSpPr>
        <p:spPr>
          <a:xfrm>
            <a:off x="749808" y="1938528"/>
            <a:ext cx="3191256"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Samma kubectl</a:t>
            </a:r>
            <a:endParaRPr lang="en-US" sz="1600" dirty="0"/>
          </a:p>
        </p:txBody>
      </p:sp>
      <p:sp>
        <p:nvSpPr>
          <p:cNvPr id="6" name="Text 4"/>
          <p:cNvSpPr txBox="1"/>
          <p:nvPr/>
        </p:nvSpPr>
        <p:spPr>
          <a:xfrm>
            <a:off x="749808" y="232257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Kommandona ni kör ikväll är exakt desamma mot ett AKS-kluster i Azure.</a:t>
            </a:r>
            <a:endParaRPr lang="en-US" sz="1300" dirty="0"/>
          </a:p>
        </p:txBody>
      </p:sp>
      <p:sp>
        <p:nvSpPr>
          <p:cNvPr id="7" name="Shape 5"/>
          <p:cNvSpPr/>
          <p:nvPr/>
        </p:nvSpPr>
        <p:spPr>
          <a:xfrm>
            <a:off x="4297680" y="1737360"/>
            <a:ext cx="3593592" cy="1828800"/>
          </a:xfrm>
          <a:prstGeom prst="roundRect">
            <a:avLst>
              <a:gd name="adj" fmla="val 3000"/>
            </a:avLst>
          </a:prstGeom>
          <a:solidFill>
            <a:srgbClr val="16294A"/>
          </a:solidFill>
          <a:ln w="12700">
            <a:solidFill>
              <a:srgbClr val="16294A"/>
            </a:solidFill>
            <a:prstDash val="solid"/>
          </a:ln>
        </p:spPr>
      </p:sp>
      <p:sp>
        <p:nvSpPr>
          <p:cNvPr id="8" name="Text 6"/>
          <p:cNvSpPr txBox="1"/>
          <p:nvPr/>
        </p:nvSpPr>
        <p:spPr>
          <a:xfrm>
            <a:off x="4498848" y="1938528"/>
            <a:ext cx="3191256"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Samma YAML</a:t>
            </a:r>
            <a:endParaRPr lang="en-US" sz="1600" dirty="0"/>
          </a:p>
        </p:txBody>
      </p:sp>
      <p:sp>
        <p:nvSpPr>
          <p:cNvPr id="9" name="Text 7"/>
          <p:cNvSpPr txBox="1"/>
          <p:nvPr/>
        </p:nvSpPr>
        <p:spPr>
          <a:xfrm>
            <a:off x="4498848" y="232257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Deployments, Services och Ingress flyttar ni rakt av mellan kluster.</a:t>
            </a:r>
            <a:endParaRPr lang="en-US" sz="1300" dirty="0"/>
          </a:p>
        </p:txBody>
      </p:sp>
      <p:sp>
        <p:nvSpPr>
          <p:cNvPr id="10" name="Shape 8"/>
          <p:cNvSpPr/>
          <p:nvPr/>
        </p:nvSpPr>
        <p:spPr>
          <a:xfrm>
            <a:off x="8046720" y="1737360"/>
            <a:ext cx="3593592" cy="1828800"/>
          </a:xfrm>
          <a:prstGeom prst="roundRect">
            <a:avLst>
              <a:gd name="adj" fmla="val 3000"/>
            </a:avLst>
          </a:prstGeom>
          <a:solidFill>
            <a:srgbClr val="16294A"/>
          </a:solidFill>
          <a:ln w="12700">
            <a:solidFill>
              <a:srgbClr val="16294A"/>
            </a:solidFill>
            <a:prstDash val="solid"/>
          </a:ln>
        </p:spPr>
      </p:sp>
      <p:sp>
        <p:nvSpPr>
          <p:cNvPr id="11" name="Text 9"/>
          <p:cNvSpPr txBox="1"/>
          <p:nvPr/>
        </p:nvSpPr>
        <p:spPr>
          <a:xfrm>
            <a:off x="8247888" y="1938528"/>
            <a:ext cx="3191256"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Samma Helm</a:t>
            </a:r>
            <a:endParaRPr lang="en-US" sz="1600" dirty="0"/>
          </a:p>
        </p:txBody>
      </p:sp>
      <p:sp>
        <p:nvSpPr>
          <p:cNvPr id="12" name="Text 10"/>
          <p:cNvSpPr txBox="1"/>
          <p:nvPr/>
        </p:nvSpPr>
        <p:spPr>
          <a:xfrm>
            <a:off x="8247888" y="2322576"/>
            <a:ext cx="3191256" cy="10881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Charts installeras på samma sätt oavsett var klustret kör.</a:t>
            </a:r>
            <a:endParaRPr lang="en-US" sz="1300" dirty="0"/>
          </a:p>
        </p:txBody>
      </p:sp>
      <p:sp>
        <p:nvSpPr>
          <p:cNvPr id="13" name="Shape 11"/>
          <p:cNvSpPr/>
          <p:nvPr/>
        </p:nvSpPr>
        <p:spPr>
          <a:xfrm>
            <a:off x="548640" y="3977640"/>
            <a:ext cx="11094415" cy="1097280"/>
          </a:xfrm>
          <a:prstGeom prst="roundRect">
            <a:avLst>
              <a:gd name="adj" fmla="val 5000"/>
            </a:avLst>
          </a:prstGeom>
          <a:solidFill>
            <a:srgbClr val="3762FF"/>
          </a:solidFill>
          <a:ln w="12700">
            <a:solidFill>
              <a:srgbClr val="3762FF"/>
            </a:solidFill>
            <a:prstDash val="solid"/>
          </a:ln>
        </p:spPr>
      </p:sp>
      <p:sp>
        <p:nvSpPr>
          <p:cNvPr id="14" name="Text 12"/>
          <p:cNvSpPr txBox="1"/>
          <p:nvPr/>
        </p:nvSpPr>
        <p:spPr>
          <a:xfrm>
            <a:off x="822960" y="3977640"/>
            <a:ext cx="10545775" cy="10972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k3s är certifierad Kubernetes. Skillnaden ligger i hur det installeras och drivs - inte i hur ni använder det.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K3S &amp; K3D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k3d: k3s i Docker-containrar</a:t>
            </a:r>
            <a:endParaRPr lang="en-US" sz="3000" dirty="0"/>
          </a:p>
        </p:txBody>
      </p:sp>
      <p:sp>
        <p:nvSpPr>
          <p:cNvPr id="4" name="Text 2"/>
          <p:cNvSpPr txBox="1"/>
          <p:nvPr/>
        </p:nvSpPr>
        <p:spPr>
          <a:xfrm>
            <a:off x="548640" y="1508760"/>
            <a:ext cx="11094415" cy="731520"/>
          </a:xfrm>
          <a:prstGeom prst="rect">
            <a:avLst/>
          </a:prstGeom>
          <a:noFill/>
          <a:ln/>
        </p:spPr>
        <p:txBody>
          <a:bodyPr wrap="square" lIns="0" tIns="0" rIns="0" bIns="0" rtlCol="0" anchor="t"/>
          <a:lstStyle/>
          <a:p>
            <a:pPr indent="0" marL="0">
              <a:lnSpc>
                <a:spcPct val="120000"/>
              </a:lnSpc>
              <a:buNone/>
            </a:pPr>
            <a:r>
              <a:rPr lang="en-US" sz="1500" dirty="0">
                <a:solidFill>
                  <a:srgbClr val="4A5568"/>
                </a:solidFill>
                <a:latin typeface="Arial" pitchFamily="34" charset="0"/>
                <a:ea typeface="Arial" pitchFamily="34" charset="-122"/>
                <a:cs typeface="Arial" pitchFamily="34" charset="-120"/>
              </a:rPr>
              <a:t>k3s är byggt för Linux. k3d startar varje k3s-nod som en Docker-container - så med Docker Desktop får ni ett helt kluster på Windows, som skapas och raderas med ett kommando.</a:t>
            </a:r>
            <a:endParaRPr lang="en-US" sz="1500" dirty="0"/>
          </a:p>
        </p:txBody>
      </p:sp>
      <p:sp>
        <p:nvSpPr>
          <p:cNvPr id="5" name="Shape 3"/>
          <p:cNvSpPr/>
          <p:nvPr/>
        </p:nvSpPr>
        <p:spPr>
          <a:xfrm>
            <a:off x="548640" y="2423160"/>
            <a:ext cx="11094415" cy="2743200"/>
          </a:xfrm>
          <a:prstGeom prst="roundRect">
            <a:avLst>
              <a:gd name="adj" fmla="val 2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777240" y="2560320"/>
            <a:ext cx="8229600"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DOCKER DESKTOP (WSL2) · nätverk k3d-home, 172.29.0.0/16</a:t>
            </a:r>
            <a:endParaRPr lang="en-US" sz="1100" dirty="0"/>
          </a:p>
        </p:txBody>
      </p:sp>
      <p:sp>
        <p:nvSpPr>
          <p:cNvPr id="7" name="Shape 5"/>
          <p:cNvSpPr/>
          <p:nvPr/>
        </p:nvSpPr>
        <p:spPr>
          <a:xfrm>
            <a:off x="777240" y="3017520"/>
            <a:ext cx="3362858" cy="1371600"/>
          </a:xfrm>
          <a:prstGeom prst="roundRect">
            <a:avLst>
              <a:gd name="adj" fmla="val 4000"/>
            </a:avLst>
          </a:prstGeom>
          <a:solidFill>
            <a:srgbClr val="F7F7F4"/>
          </a:solidFill>
          <a:ln w="12700">
            <a:solidFill>
              <a:srgbClr val="F7F7F4"/>
            </a:solidFill>
            <a:prstDash val="solid"/>
          </a:ln>
        </p:spPr>
      </p:sp>
      <p:sp>
        <p:nvSpPr>
          <p:cNvPr id="8" name="Text 6"/>
          <p:cNvSpPr txBox="1"/>
          <p:nvPr/>
        </p:nvSpPr>
        <p:spPr>
          <a:xfrm>
            <a:off x="960120" y="3154680"/>
            <a:ext cx="2997098" cy="320040"/>
          </a:xfrm>
          <a:prstGeom prst="rect">
            <a:avLst/>
          </a:prstGeom>
          <a:noFill/>
          <a:ln/>
        </p:spPr>
        <p:txBody>
          <a:bodyPr wrap="square" lIns="0" tIns="0" rIns="0" bIns="0" rtlCol="0" anchor="ctr"/>
          <a:lstStyle/>
          <a:p>
            <a:pPr indent="0" marL="0">
              <a:buNone/>
            </a:pPr>
            <a:r>
              <a:rPr lang="en-US" sz="1400" b="1" dirty="0">
                <a:solidFill>
                  <a:srgbClr val="16202B"/>
                </a:solidFill>
                <a:latin typeface="Courier New" pitchFamily="34" charset="0"/>
                <a:ea typeface="Courier New" pitchFamily="34" charset="-122"/>
                <a:cs typeface="Courier New" pitchFamily="34" charset="-120"/>
              </a:rPr>
              <a:t>k3d-home-serverlb</a:t>
            </a:r>
            <a:endParaRPr lang="en-US" sz="1400" dirty="0"/>
          </a:p>
        </p:txBody>
      </p:sp>
      <p:sp>
        <p:nvSpPr>
          <p:cNvPr id="9" name="Text 7"/>
          <p:cNvSpPr txBox="1"/>
          <p:nvPr/>
        </p:nvSpPr>
        <p:spPr>
          <a:xfrm>
            <a:off x="960120" y="3566160"/>
            <a:ext cx="2997098" cy="731520"/>
          </a:xfrm>
          <a:prstGeom prst="rect">
            <a:avLst/>
          </a:prstGeom>
          <a:noFill/>
          <a:ln/>
        </p:spPr>
        <p:txBody>
          <a:bodyPr wrap="square" lIns="0" tIns="0" rIns="0" bIns="0" rtlCol="0" anchor="t"/>
          <a:lstStyle/>
          <a:p>
            <a:pPr indent="0" marL="0">
              <a:buNone/>
            </a:pPr>
            <a:r>
              <a:rPr lang="en-US" sz="1300" dirty="0">
                <a:solidFill>
                  <a:srgbClr val="4A5568"/>
                </a:solidFill>
                <a:latin typeface="Arial" pitchFamily="34" charset="0"/>
                <a:ea typeface="Arial" pitchFamily="34" charset="-122"/>
                <a:cs typeface="Arial" pitchFamily="34" charset="-120"/>
              </a:rPr>
              <a:t>Loadbalancer (nginx)</a:t>
            </a:r>
            <a:endParaRPr lang="en-US" sz="1300" dirty="0"/>
          </a:p>
          <a:p>
            <a:pPr indent="0" marL="0">
              <a:buNone/>
            </a:pPr>
            <a:r>
              <a:rPr lang="en-US" sz="1300" dirty="0">
                <a:solidFill>
                  <a:srgbClr val="4A5568"/>
                </a:solidFill>
                <a:latin typeface="Arial" pitchFamily="34" charset="0"/>
                <a:ea typeface="Arial" pitchFamily="34" charset="-122"/>
                <a:cs typeface="Arial" pitchFamily="34" charset="-120"/>
              </a:rPr>
              <a:t>Port 80 · 443 · 6443</a:t>
            </a:r>
            <a:endParaRPr lang="en-US" sz="1300" dirty="0"/>
          </a:p>
        </p:txBody>
      </p:sp>
      <p:sp>
        <p:nvSpPr>
          <p:cNvPr id="10" name="Shape 8"/>
          <p:cNvSpPr/>
          <p:nvPr/>
        </p:nvSpPr>
        <p:spPr>
          <a:xfrm>
            <a:off x="4414418" y="3017520"/>
            <a:ext cx="3362858" cy="1371600"/>
          </a:xfrm>
          <a:prstGeom prst="roundRect">
            <a:avLst>
              <a:gd name="adj" fmla="val 4000"/>
            </a:avLst>
          </a:prstGeom>
          <a:solidFill>
            <a:srgbClr val="0F1F33"/>
          </a:solidFill>
          <a:ln w="12700">
            <a:solidFill>
              <a:srgbClr val="0F1F33"/>
            </a:solidFill>
            <a:prstDash val="solid"/>
          </a:ln>
        </p:spPr>
      </p:sp>
      <p:sp>
        <p:nvSpPr>
          <p:cNvPr id="11" name="Text 9"/>
          <p:cNvSpPr txBox="1"/>
          <p:nvPr/>
        </p:nvSpPr>
        <p:spPr>
          <a:xfrm>
            <a:off x="4597298" y="3154680"/>
            <a:ext cx="2997098" cy="320040"/>
          </a:xfrm>
          <a:prstGeom prst="rect">
            <a:avLst/>
          </a:prstGeom>
          <a:noFill/>
          <a:ln/>
        </p:spPr>
        <p:txBody>
          <a:bodyPr wrap="square" lIns="0" tIns="0" rIns="0" bIns="0" rtlCol="0" anchor="ctr"/>
          <a:lstStyle/>
          <a:p>
            <a:pPr indent="0" marL="0">
              <a:buNone/>
            </a:pPr>
            <a:r>
              <a:rPr lang="en-US" sz="1400" b="1" dirty="0">
                <a:solidFill>
                  <a:srgbClr val="F5F7FA"/>
                </a:solidFill>
                <a:latin typeface="Courier New" pitchFamily="34" charset="0"/>
                <a:ea typeface="Courier New" pitchFamily="34" charset="-122"/>
                <a:cs typeface="Courier New" pitchFamily="34" charset="-120"/>
              </a:rPr>
              <a:t>k3d-home-server-0</a:t>
            </a:r>
            <a:endParaRPr lang="en-US" sz="1400" dirty="0"/>
          </a:p>
        </p:txBody>
      </p:sp>
      <p:sp>
        <p:nvSpPr>
          <p:cNvPr id="12" name="Text 10"/>
          <p:cNvSpPr txBox="1"/>
          <p:nvPr/>
        </p:nvSpPr>
        <p:spPr>
          <a:xfrm>
            <a:off x="4597298" y="3566160"/>
            <a:ext cx="2997098" cy="731520"/>
          </a:xfrm>
          <a:prstGeom prst="rect">
            <a:avLst/>
          </a:prstGeom>
          <a:noFill/>
          <a:ln/>
        </p:spPr>
        <p:txBody>
          <a:bodyPr wrap="square" lIns="0" tIns="0" rIns="0" bIns="0" rtlCol="0" anchor="t"/>
          <a:lstStyle/>
          <a:p>
            <a:pPr indent="0" marL="0">
              <a:buNone/>
            </a:pPr>
            <a:r>
              <a:rPr lang="en-US" sz="1300" dirty="0">
                <a:solidFill>
                  <a:srgbClr val="B9C4D1"/>
                </a:solidFill>
                <a:latin typeface="Arial" pitchFamily="34" charset="0"/>
                <a:ea typeface="Arial" pitchFamily="34" charset="-122"/>
                <a:cs typeface="Arial" pitchFamily="34" charset="-120"/>
              </a:rPr>
              <a:t>k3s: control plane + worker</a:t>
            </a:r>
            <a:endParaRPr lang="en-US" sz="1300" dirty="0"/>
          </a:p>
          <a:p>
            <a:pPr indent="0" marL="0">
              <a:buNone/>
            </a:pPr>
            <a:r>
              <a:rPr lang="en-US" sz="1300" dirty="0">
                <a:solidFill>
                  <a:srgbClr val="B9C4D1"/>
                </a:solidFill>
                <a:latin typeface="Arial" pitchFamily="34" charset="0"/>
                <a:ea typeface="Arial" pitchFamily="34" charset="-122"/>
                <a:cs typeface="Arial" pitchFamily="34" charset="-120"/>
              </a:rPr>
              <a:t>Här körs era poddar</a:t>
            </a:r>
            <a:endParaRPr lang="en-US" sz="1300" dirty="0"/>
          </a:p>
        </p:txBody>
      </p:sp>
      <p:sp>
        <p:nvSpPr>
          <p:cNvPr id="13" name="Shape 11"/>
          <p:cNvSpPr/>
          <p:nvPr/>
        </p:nvSpPr>
        <p:spPr>
          <a:xfrm>
            <a:off x="8051597" y="3017520"/>
            <a:ext cx="3362858" cy="1371600"/>
          </a:xfrm>
          <a:prstGeom prst="roundRect">
            <a:avLst>
              <a:gd name="adj" fmla="val 4000"/>
            </a:avLst>
          </a:prstGeom>
          <a:solidFill>
            <a:srgbClr val="F7F7F4"/>
          </a:solidFill>
          <a:ln w="12700">
            <a:solidFill>
              <a:srgbClr val="F7F7F4"/>
            </a:solidFill>
            <a:prstDash val="solid"/>
          </a:ln>
        </p:spPr>
      </p:sp>
      <p:sp>
        <p:nvSpPr>
          <p:cNvPr id="14" name="Text 12"/>
          <p:cNvSpPr txBox="1"/>
          <p:nvPr/>
        </p:nvSpPr>
        <p:spPr>
          <a:xfrm>
            <a:off x="8234477" y="3154680"/>
            <a:ext cx="2997098" cy="320040"/>
          </a:xfrm>
          <a:prstGeom prst="rect">
            <a:avLst/>
          </a:prstGeom>
          <a:noFill/>
          <a:ln/>
        </p:spPr>
        <p:txBody>
          <a:bodyPr wrap="square" lIns="0" tIns="0" rIns="0" bIns="0" rtlCol="0" anchor="ctr"/>
          <a:lstStyle/>
          <a:p>
            <a:pPr indent="0" marL="0">
              <a:buNone/>
            </a:pPr>
            <a:r>
              <a:rPr lang="en-US" sz="1400" b="1" dirty="0">
                <a:solidFill>
                  <a:srgbClr val="16202B"/>
                </a:solidFill>
                <a:latin typeface="Courier New" pitchFamily="34" charset="0"/>
                <a:ea typeface="Courier New" pitchFamily="34" charset="-122"/>
                <a:cs typeface="Courier New" pitchFamily="34" charset="-120"/>
              </a:rPr>
              <a:t>registry</a:t>
            </a:r>
            <a:endParaRPr lang="en-US" sz="1400" dirty="0"/>
          </a:p>
        </p:txBody>
      </p:sp>
      <p:sp>
        <p:nvSpPr>
          <p:cNvPr id="15" name="Text 13"/>
          <p:cNvSpPr txBox="1"/>
          <p:nvPr/>
        </p:nvSpPr>
        <p:spPr>
          <a:xfrm>
            <a:off x="8234477" y="3566160"/>
            <a:ext cx="2997098" cy="731520"/>
          </a:xfrm>
          <a:prstGeom prst="rect">
            <a:avLst/>
          </a:prstGeom>
          <a:noFill/>
          <a:ln/>
        </p:spPr>
        <p:txBody>
          <a:bodyPr wrap="square" lIns="0" tIns="0" rIns="0" bIns="0" rtlCol="0" anchor="t"/>
          <a:lstStyle/>
          <a:p>
            <a:pPr indent="0" marL="0">
              <a:buNone/>
            </a:pPr>
            <a:r>
              <a:rPr lang="en-US" sz="1300" dirty="0">
                <a:solidFill>
                  <a:srgbClr val="4A5568"/>
                </a:solidFill>
                <a:latin typeface="Arial" pitchFamily="34" charset="0"/>
                <a:ea typeface="Arial" pitchFamily="34" charset="-122"/>
                <a:cs typeface="Arial" pitchFamily="34" charset="-120"/>
              </a:rPr>
              <a:t>Docker-registry</a:t>
            </a:r>
            <a:endParaRPr lang="en-US" sz="1300" dirty="0"/>
          </a:p>
          <a:p>
            <a:pPr indent="0" marL="0">
              <a:buNone/>
            </a:pPr>
            <a:r>
              <a:rPr lang="en-US" sz="1300" dirty="0">
                <a:solidFill>
                  <a:srgbClr val="4A5568"/>
                </a:solidFill>
                <a:latin typeface="Arial" pitchFamily="34" charset="0"/>
                <a:ea typeface="Arial" pitchFamily="34" charset="-122"/>
                <a:cs typeface="Arial" pitchFamily="34" charset="-120"/>
              </a:rPr>
              <a:t>Port 5000</a:t>
            </a:r>
            <a:endParaRPr lang="en-US" sz="1300" dirty="0"/>
          </a:p>
        </p:txBody>
      </p:sp>
      <p:sp>
        <p:nvSpPr>
          <p:cNvPr id="16" name="Shape 14"/>
          <p:cNvSpPr/>
          <p:nvPr/>
        </p:nvSpPr>
        <p:spPr>
          <a:xfrm>
            <a:off x="4158386" y="3703320"/>
            <a:ext cx="237744" cy="0"/>
          </a:xfrm>
          <a:prstGeom prst="line">
            <a:avLst/>
          </a:prstGeom>
          <a:noFill/>
          <a:ln w="19050">
            <a:solidFill>
              <a:srgbClr val="3762FF"/>
            </a:solidFill>
            <a:prstDash val="solid"/>
            <a:tailEnd type="triangle"/>
          </a:ln>
        </p:spPr>
      </p:sp>
      <p:sp>
        <p:nvSpPr>
          <p:cNvPr id="17" name="Text 15"/>
          <p:cNvSpPr txBox="1"/>
          <p:nvPr/>
        </p:nvSpPr>
        <p:spPr>
          <a:xfrm>
            <a:off x="777240" y="4572000"/>
            <a:ext cx="10637215" cy="365760"/>
          </a:xfrm>
          <a:prstGeom prst="rect">
            <a:avLst/>
          </a:prstGeom>
          <a:noFill/>
          <a:ln/>
        </p:spPr>
        <p:txBody>
          <a:bodyPr wrap="square" lIns="0" tIns="0" rIns="0" bIns="0" rtlCol="0" anchor="ctr"/>
          <a:lstStyle/>
          <a:p>
            <a:pPr indent="0" marL="0">
              <a:buNone/>
            </a:pPr>
            <a:r>
              <a:rPr lang="en-US" sz="1300" dirty="0">
                <a:solidFill>
                  <a:srgbClr val="4A5568"/>
                </a:solidFill>
                <a:latin typeface="Arial" pitchFamily="34" charset="0"/>
                <a:ea typeface="Arial" pitchFamily="34" charset="-122"/>
                <a:cs typeface="Arial" pitchFamily="34" charset="-120"/>
              </a:rPr>
              <a:t>Varje ruta = en container. Kör docker ps efter att klustret skapats så ser ni dem.</a:t>
            </a:r>
            <a:endParaRPr lang="en-US" sz="1300" dirty="0"/>
          </a:p>
        </p:txBody>
      </p:sp>
      <p:sp>
        <p:nvSpPr>
          <p:cNvPr id="18" name="Text 16"/>
          <p:cNvSpPr txBox="1"/>
          <p:nvPr/>
        </p:nvSpPr>
        <p:spPr>
          <a:xfrm>
            <a:off x="548640" y="5440680"/>
            <a:ext cx="11094415" cy="457200"/>
          </a:xfrm>
          <a:prstGeom prst="rect">
            <a:avLst/>
          </a:prstGeom>
          <a:noFill/>
          <a:ln/>
        </p:spPr>
        <p:txBody>
          <a:bodyPr wrap="square" lIns="0" tIns="0" rIns="0" bIns="0" rtlCol="0" anchor="t"/>
          <a:lstStyle/>
          <a:p>
            <a:pPr indent="0" marL="0">
              <a:lnSpc>
                <a:spcPct val="120000"/>
              </a:lnSpc>
              <a:buNone/>
            </a:pPr>
            <a:r>
              <a:rPr lang="en-US" sz="1300" dirty="0">
                <a:solidFill>
                  <a:srgbClr val="6A7179"/>
                </a:solidFill>
                <a:latin typeface="Arial" pitchFamily="34" charset="0"/>
                <a:ea typeface="Arial" pitchFamily="34" charset="-122"/>
                <a:cs typeface="Arial" pitchFamily="34" charset="-120"/>
              </a:rPr>
              <a:t>Alternativ ni kan stöta på: kind, minikube och Docker Desktops inbyggda Kubernetes - samma idé, olika avvägningar.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Verktygslådan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Docker Desktop, k3d, kubectl, Helm och k9s - vem gör vad?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VERKTYGSLÅDAN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Fem verktyg, fem roller</a:t>
            </a:r>
            <a:endParaRPr lang="en-US" sz="3000" dirty="0"/>
          </a:p>
        </p:txBody>
      </p:sp>
      <p:sp>
        <p:nvSpPr>
          <p:cNvPr id="4" name="Shape 2"/>
          <p:cNvSpPr/>
          <p:nvPr/>
        </p:nvSpPr>
        <p:spPr>
          <a:xfrm>
            <a:off x="548640" y="1691640"/>
            <a:ext cx="2072579" cy="237744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9280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PLATTFORM</a:t>
            </a:r>
            <a:endParaRPr lang="en-US" sz="1100" dirty="0"/>
          </a:p>
        </p:txBody>
      </p:sp>
      <p:sp>
        <p:nvSpPr>
          <p:cNvPr id="6" name="Text 4"/>
          <p:cNvSpPr txBox="1"/>
          <p:nvPr/>
        </p:nvSpPr>
        <p:spPr>
          <a:xfrm>
            <a:off x="749808" y="2185416"/>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Docker Desktop</a:t>
            </a:r>
            <a:endParaRPr lang="en-US" sz="1600" dirty="0"/>
          </a:p>
        </p:txBody>
      </p:sp>
      <p:sp>
        <p:nvSpPr>
          <p:cNvPr id="7" name="Text 5"/>
          <p:cNvSpPr txBox="1"/>
          <p:nvPr/>
        </p:nvSpPr>
        <p:spPr>
          <a:xfrm>
            <a:off x="749808" y="2569464"/>
            <a:ext cx="1670243" cy="1344168"/>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Kör containrar på Windows via WSL2. Grunden allt annat står på.</a:t>
            </a:r>
            <a:endParaRPr lang="en-US" sz="1300" dirty="0"/>
          </a:p>
        </p:txBody>
      </p:sp>
      <p:sp>
        <p:nvSpPr>
          <p:cNvPr id="8" name="Shape 6"/>
          <p:cNvSpPr/>
          <p:nvPr/>
        </p:nvSpPr>
        <p:spPr>
          <a:xfrm>
            <a:off x="2804099" y="1691640"/>
            <a:ext cx="2072579" cy="237744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3005267" y="189280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KLUSTER</a:t>
            </a:r>
            <a:endParaRPr lang="en-US" sz="1100" dirty="0"/>
          </a:p>
        </p:txBody>
      </p:sp>
      <p:sp>
        <p:nvSpPr>
          <p:cNvPr id="10" name="Text 8"/>
          <p:cNvSpPr txBox="1"/>
          <p:nvPr/>
        </p:nvSpPr>
        <p:spPr>
          <a:xfrm>
            <a:off x="3005267" y="2185416"/>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k3d</a:t>
            </a:r>
            <a:endParaRPr lang="en-US" sz="1600" dirty="0"/>
          </a:p>
        </p:txBody>
      </p:sp>
      <p:sp>
        <p:nvSpPr>
          <p:cNvPr id="11" name="Text 9"/>
          <p:cNvSpPr txBox="1"/>
          <p:nvPr/>
        </p:nvSpPr>
        <p:spPr>
          <a:xfrm>
            <a:off x="3005267" y="2569464"/>
            <a:ext cx="1670243" cy="1344168"/>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Skapar, startar, stoppar och raderar k3s-kluster i Docker.</a:t>
            </a:r>
            <a:endParaRPr lang="en-US" sz="1300" dirty="0"/>
          </a:p>
        </p:txBody>
      </p:sp>
      <p:sp>
        <p:nvSpPr>
          <p:cNvPr id="12" name="Shape 10"/>
          <p:cNvSpPr/>
          <p:nvPr/>
        </p:nvSpPr>
        <p:spPr>
          <a:xfrm>
            <a:off x="5059558" y="1691640"/>
            <a:ext cx="2072579" cy="2377440"/>
          </a:xfrm>
          <a:prstGeom prst="roundRect">
            <a:avLst>
              <a:gd name="adj" fmla="val 2647"/>
            </a:avLst>
          </a:prstGeom>
          <a:solidFill>
            <a:srgbClr val="3762FF"/>
          </a:solidFill>
          <a:ln w="12700">
            <a:solidFill>
              <a:srgbClr val="3762FF"/>
            </a:solidFill>
            <a:prstDash val="solid"/>
          </a:ln>
        </p:spPr>
      </p:sp>
      <p:sp>
        <p:nvSpPr>
          <p:cNvPr id="13" name="Text 11"/>
          <p:cNvSpPr txBox="1"/>
          <p:nvPr/>
        </p:nvSpPr>
        <p:spPr>
          <a:xfrm>
            <a:off x="5260726" y="1892808"/>
            <a:ext cx="1670243"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DAGLIGEN</a:t>
            </a:r>
            <a:endParaRPr lang="en-US" sz="1100" dirty="0"/>
          </a:p>
        </p:txBody>
      </p:sp>
      <p:sp>
        <p:nvSpPr>
          <p:cNvPr id="14" name="Text 12"/>
          <p:cNvSpPr txBox="1"/>
          <p:nvPr/>
        </p:nvSpPr>
        <p:spPr>
          <a:xfrm>
            <a:off x="5260726" y="2185416"/>
            <a:ext cx="1670243"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kubectl</a:t>
            </a:r>
            <a:endParaRPr lang="en-US" sz="1600" dirty="0"/>
          </a:p>
        </p:txBody>
      </p:sp>
      <p:sp>
        <p:nvSpPr>
          <p:cNvPr id="15" name="Text 13"/>
          <p:cNvSpPr txBox="1"/>
          <p:nvPr/>
        </p:nvSpPr>
        <p:spPr>
          <a:xfrm>
            <a:off x="5260726" y="2569464"/>
            <a:ext cx="1670243" cy="1344168"/>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Den officiella klienten mot Kubernetes API. Används till allt.</a:t>
            </a:r>
            <a:endParaRPr lang="en-US" sz="1300" dirty="0"/>
          </a:p>
        </p:txBody>
      </p:sp>
      <p:sp>
        <p:nvSpPr>
          <p:cNvPr id="16" name="Shape 14"/>
          <p:cNvSpPr/>
          <p:nvPr/>
        </p:nvSpPr>
        <p:spPr>
          <a:xfrm>
            <a:off x="7315017" y="1691640"/>
            <a:ext cx="2072579" cy="237744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516185" y="189280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DAGLIGEN</a:t>
            </a:r>
            <a:endParaRPr lang="en-US" sz="1100" dirty="0"/>
          </a:p>
        </p:txBody>
      </p:sp>
      <p:sp>
        <p:nvSpPr>
          <p:cNvPr id="18" name="Text 16"/>
          <p:cNvSpPr txBox="1"/>
          <p:nvPr/>
        </p:nvSpPr>
        <p:spPr>
          <a:xfrm>
            <a:off x="7516185" y="2185416"/>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Helm</a:t>
            </a:r>
            <a:endParaRPr lang="en-US" sz="1600" dirty="0"/>
          </a:p>
        </p:txBody>
      </p:sp>
      <p:sp>
        <p:nvSpPr>
          <p:cNvPr id="19" name="Text 17"/>
          <p:cNvSpPr txBox="1"/>
          <p:nvPr/>
        </p:nvSpPr>
        <p:spPr>
          <a:xfrm>
            <a:off x="7516185" y="2569464"/>
            <a:ext cx="1670243" cy="1344168"/>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Pakethanterare: installerar färdiga appar (charts) i klustret.</a:t>
            </a:r>
            <a:endParaRPr lang="en-US" sz="1300" dirty="0"/>
          </a:p>
        </p:txBody>
      </p:sp>
      <p:sp>
        <p:nvSpPr>
          <p:cNvPr id="20" name="Shape 18"/>
          <p:cNvSpPr/>
          <p:nvPr/>
        </p:nvSpPr>
        <p:spPr>
          <a:xfrm>
            <a:off x="9570476" y="1691640"/>
            <a:ext cx="2072579" cy="2377440"/>
          </a:xfrm>
          <a:prstGeom prst="roundRect">
            <a:avLst>
              <a:gd name="adj" fmla="val 264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9771644" y="1892808"/>
            <a:ext cx="1670243" cy="274320"/>
          </a:xfrm>
          <a:prstGeom prst="rect">
            <a:avLst/>
          </a:prstGeom>
          <a:noFill/>
          <a:ln/>
        </p:spPr>
        <p:txBody>
          <a:bodyPr wrap="square" lIns="0" tIns="0" rIns="0" bIns="0" rtlCol="0" anchor="ctr"/>
          <a:lstStyle/>
          <a:p>
            <a:pPr indent="0" marL="0">
              <a:buNone/>
            </a:pPr>
            <a:r>
              <a:rPr lang="en-US" sz="1100" b="1" spc="200" kern="0" dirty="0">
                <a:solidFill>
                  <a:srgbClr val="3762FF"/>
                </a:solidFill>
                <a:latin typeface="Arial" pitchFamily="34" charset="0"/>
                <a:ea typeface="Arial" pitchFamily="34" charset="-122"/>
                <a:cs typeface="Arial" pitchFamily="34" charset="-120"/>
              </a:rPr>
              <a:t>DAGLIGEN</a:t>
            </a:r>
            <a:endParaRPr lang="en-US" sz="1100" dirty="0"/>
          </a:p>
        </p:txBody>
      </p:sp>
      <p:sp>
        <p:nvSpPr>
          <p:cNvPr id="22" name="Text 20"/>
          <p:cNvSpPr txBox="1"/>
          <p:nvPr/>
        </p:nvSpPr>
        <p:spPr>
          <a:xfrm>
            <a:off x="9771644" y="2185416"/>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k9s</a:t>
            </a:r>
            <a:endParaRPr lang="en-US" sz="1600" dirty="0"/>
          </a:p>
        </p:txBody>
      </p:sp>
      <p:sp>
        <p:nvSpPr>
          <p:cNvPr id="23" name="Text 21"/>
          <p:cNvSpPr txBox="1"/>
          <p:nvPr/>
        </p:nvSpPr>
        <p:spPr>
          <a:xfrm>
            <a:off x="9771644" y="2569464"/>
            <a:ext cx="1670243" cy="1344168"/>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Terminal-UI för att se och styra klustret i realtid.</a:t>
            </a:r>
            <a:endParaRPr lang="en-US" sz="1300" dirty="0"/>
          </a:p>
        </p:txBody>
      </p:sp>
      <p:sp>
        <p:nvSpPr>
          <p:cNvPr id="24" name="Shape 22"/>
          <p:cNvSpPr/>
          <p:nvPr/>
        </p:nvSpPr>
        <p:spPr>
          <a:xfrm>
            <a:off x="548640" y="4572000"/>
            <a:ext cx="2377440" cy="685800"/>
          </a:xfrm>
          <a:prstGeom prst="roundRect">
            <a:avLst>
              <a:gd name="adj" fmla="val 8000"/>
            </a:avLst>
          </a:prstGeom>
          <a:solidFill>
            <a:srgbClr val="E8EDFF"/>
          </a:solidFill>
          <a:ln w="12700">
            <a:solidFill>
              <a:srgbClr val="E8EDFF"/>
            </a:solidFill>
            <a:prstDash val="solid"/>
          </a:ln>
        </p:spPr>
      </p:sp>
      <p:sp>
        <p:nvSpPr>
          <p:cNvPr id="25" name="Text 23"/>
          <p:cNvSpPr txBox="1"/>
          <p:nvPr/>
        </p:nvSpPr>
        <p:spPr>
          <a:xfrm>
            <a:off x="640080" y="4572000"/>
            <a:ext cx="2194560" cy="68580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Ni, i terminalen</a:t>
            </a:r>
            <a:endParaRPr lang="en-US" sz="1400" dirty="0"/>
          </a:p>
        </p:txBody>
      </p:sp>
      <p:sp>
        <p:nvSpPr>
          <p:cNvPr id="26" name="Shape 24"/>
          <p:cNvSpPr/>
          <p:nvPr/>
        </p:nvSpPr>
        <p:spPr>
          <a:xfrm>
            <a:off x="2971800" y="4914900"/>
            <a:ext cx="640080" cy="0"/>
          </a:xfrm>
          <a:prstGeom prst="line">
            <a:avLst/>
          </a:prstGeom>
          <a:noFill/>
          <a:ln w="19050">
            <a:solidFill>
              <a:srgbClr val="3762FF"/>
            </a:solidFill>
            <a:prstDash val="solid"/>
            <a:tailEnd type="triangle"/>
          </a:ln>
        </p:spPr>
      </p:sp>
      <p:sp>
        <p:nvSpPr>
          <p:cNvPr id="27" name="Shape 25"/>
          <p:cNvSpPr/>
          <p:nvPr/>
        </p:nvSpPr>
        <p:spPr>
          <a:xfrm>
            <a:off x="3657600" y="4572000"/>
            <a:ext cx="3017520" cy="6858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8" name="Text 26"/>
          <p:cNvSpPr txBox="1"/>
          <p:nvPr/>
        </p:nvSpPr>
        <p:spPr>
          <a:xfrm>
            <a:off x="3749040" y="4572000"/>
            <a:ext cx="2834640" cy="68580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kubectl · Helm · k9s</a:t>
            </a:r>
            <a:endParaRPr lang="en-US" sz="1400" dirty="0"/>
          </a:p>
        </p:txBody>
      </p:sp>
      <p:sp>
        <p:nvSpPr>
          <p:cNvPr id="29" name="Shape 27"/>
          <p:cNvSpPr/>
          <p:nvPr/>
        </p:nvSpPr>
        <p:spPr>
          <a:xfrm>
            <a:off x="6720840" y="4914900"/>
            <a:ext cx="640080" cy="0"/>
          </a:xfrm>
          <a:prstGeom prst="line">
            <a:avLst/>
          </a:prstGeom>
          <a:noFill/>
          <a:ln w="19050">
            <a:solidFill>
              <a:srgbClr val="3762FF"/>
            </a:solidFill>
            <a:prstDash val="solid"/>
            <a:tailEnd type="triangle"/>
          </a:ln>
        </p:spPr>
      </p:sp>
      <p:sp>
        <p:nvSpPr>
          <p:cNvPr id="30" name="Shape 28"/>
          <p:cNvSpPr/>
          <p:nvPr/>
        </p:nvSpPr>
        <p:spPr>
          <a:xfrm>
            <a:off x="7406640" y="4572000"/>
            <a:ext cx="2194560" cy="685800"/>
          </a:xfrm>
          <a:prstGeom prst="roundRect">
            <a:avLst>
              <a:gd name="adj" fmla="val 8000"/>
            </a:avLst>
          </a:prstGeom>
          <a:solidFill>
            <a:srgbClr val="0F1F33"/>
          </a:solidFill>
          <a:ln w="12700">
            <a:solidFill>
              <a:srgbClr val="0F1F33"/>
            </a:solidFill>
            <a:prstDash val="solid"/>
          </a:ln>
        </p:spPr>
      </p:sp>
      <p:sp>
        <p:nvSpPr>
          <p:cNvPr id="31" name="Text 29"/>
          <p:cNvSpPr txBox="1"/>
          <p:nvPr/>
        </p:nvSpPr>
        <p:spPr>
          <a:xfrm>
            <a:off x="7498080" y="4572000"/>
            <a:ext cx="2011680" cy="685800"/>
          </a:xfrm>
          <a:prstGeom prst="rect">
            <a:avLst/>
          </a:prstGeom>
          <a:noFill/>
          <a:ln/>
        </p:spPr>
        <p:txBody>
          <a:bodyPr wrap="square" lIns="0" tIns="0" rIns="0" bIns="0" rtlCol="0" anchor="ctr"/>
          <a:lstStyle/>
          <a:p>
            <a:pPr algn="ctr" indent="0" marL="0">
              <a:buNone/>
            </a:pPr>
            <a:r>
              <a:rPr lang="en-US" sz="1400" b="1" dirty="0">
                <a:solidFill>
                  <a:srgbClr val="F5F7FA"/>
                </a:solidFill>
                <a:latin typeface="Calibri" pitchFamily="34" charset="0"/>
                <a:ea typeface="Calibri" pitchFamily="34" charset="-122"/>
                <a:cs typeface="Calibri" pitchFamily="34" charset="-120"/>
              </a:rPr>
              <a:t>Kubernetes API</a:t>
            </a:r>
            <a:endParaRPr lang="en-US" sz="1400" dirty="0"/>
          </a:p>
        </p:txBody>
      </p:sp>
      <p:sp>
        <p:nvSpPr>
          <p:cNvPr id="32" name="Text 30"/>
          <p:cNvSpPr txBox="1"/>
          <p:nvPr/>
        </p:nvSpPr>
        <p:spPr>
          <a:xfrm>
            <a:off x="9784080" y="4572000"/>
            <a:ext cx="1828800" cy="68580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Alla tre pratar med samma API via samma kubeconfig.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VERKTYGSLÅDAN · KUBECTL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kubectl: klienten mot API:et</a:t>
            </a:r>
            <a:endParaRPr lang="en-US" sz="3000" dirty="0"/>
          </a:p>
        </p:txBody>
      </p:sp>
      <p:sp>
        <p:nvSpPr>
          <p:cNvPr id="4" name="Shape 2"/>
          <p:cNvSpPr/>
          <p:nvPr/>
        </p:nvSpPr>
        <p:spPr>
          <a:xfrm>
            <a:off x="548640" y="1600200"/>
            <a:ext cx="6583680" cy="4206240"/>
          </a:xfrm>
          <a:prstGeom prst="roundRect">
            <a:avLst>
              <a:gd name="adj" fmla="val 1304"/>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6479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6479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6479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91640"/>
            <a:ext cx="55778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57400"/>
            <a:ext cx="6126480" cy="3611880"/>
          </a:xfrm>
          <a:prstGeom prst="rect">
            <a:avLst/>
          </a:prstGeom>
          <a:noFill/>
          <a:ln/>
        </p:spPr>
        <p:txBody>
          <a:bodyPr wrap="square" lIns="0" tIns="0" rIns="0" bIns="0" rtlCol="0" anchor="t"/>
          <a:lstStyle/>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Vilket kluster pratar jag med?</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config get-contexts</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config use-context k3d-home</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Titta</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nodes</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-A</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describe pod &lt;namn&gt; -n &lt;ns&gt;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logs &lt;pod&gt; -n &lt;ns&gt; -f</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Ändra</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apply -f deployment.yaml</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delete -f deployment.yaml</a:t>
            </a:r>
            <a:endParaRPr lang="en-US" sz="1300" dirty="0"/>
          </a:p>
        </p:txBody>
      </p:sp>
      <p:sp>
        <p:nvSpPr>
          <p:cNvPr id="10" name="Shape 8"/>
          <p:cNvSpPr/>
          <p:nvPr/>
        </p:nvSpPr>
        <p:spPr>
          <a:xfrm>
            <a:off x="7498080" y="1600200"/>
            <a:ext cx="4144975" cy="12801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699248" y="1801368"/>
            <a:ext cx="374263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Mönstret</a:t>
            </a:r>
            <a:endParaRPr lang="en-US" sz="1600" dirty="0"/>
          </a:p>
        </p:txBody>
      </p:sp>
      <p:sp>
        <p:nvSpPr>
          <p:cNvPr id="12" name="Text 10"/>
          <p:cNvSpPr txBox="1"/>
          <p:nvPr/>
        </p:nvSpPr>
        <p:spPr>
          <a:xfrm>
            <a:off x="7699248" y="2185416"/>
            <a:ext cx="3742639" cy="5394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kubectl &lt;verb&gt; &lt;resurstyp&gt; [namn] [-n namespace]</a:t>
            </a:r>
            <a:endParaRPr lang="en-US" sz="1300" dirty="0"/>
          </a:p>
        </p:txBody>
      </p:sp>
      <p:sp>
        <p:nvSpPr>
          <p:cNvPr id="13" name="Shape 11"/>
          <p:cNvSpPr/>
          <p:nvPr/>
        </p:nvSpPr>
        <p:spPr>
          <a:xfrm>
            <a:off x="7498080" y="3063240"/>
            <a:ext cx="4144975" cy="12801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699248" y="3264408"/>
            <a:ext cx="374263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-A / -n</a:t>
            </a:r>
            <a:endParaRPr lang="en-US" sz="1600" dirty="0"/>
          </a:p>
        </p:txBody>
      </p:sp>
      <p:sp>
        <p:nvSpPr>
          <p:cNvPr id="15" name="Text 13"/>
          <p:cNvSpPr txBox="1"/>
          <p:nvPr/>
        </p:nvSpPr>
        <p:spPr>
          <a:xfrm>
            <a:off x="7699248" y="3648456"/>
            <a:ext cx="3742639" cy="5394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 = alla namespaces. -n väljer ett. Utan flagga gäller namespace "default".</a:t>
            </a:r>
            <a:endParaRPr lang="en-US" sz="1300" dirty="0"/>
          </a:p>
        </p:txBody>
      </p:sp>
      <p:sp>
        <p:nvSpPr>
          <p:cNvPr id="16" name="Shape 14"/>
          <p:cNvSpPr/>
          <p:nvPr/>
        </p:nvSpPr>
        <p:spPr>
          <a:xfrm>
            <a:off x="7498080" y="4526280"/>
            <a:ext cx="4144975" cy="12801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699248" y="4727448"/>
            <a:ext cx="374263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Context</a:t>
            </a:r>
            <a:endParaRPr lang="en-US" sz="1600" dirty="0"/>
          </a:p>
        </p:txBody>
      </p:sp>
      <p:sp>
        <p:nvSpPr>
          <p:cNvPr id="18" name="Text 16"/>
          <p:cNvSpPr txBox="1"/>
          <p:nvPr/>
        </p:nvSpPr>
        <p:spPr>
          <a:xfrm>
            <a:off x="7699248" y="5111496"/>
            <a:ext cx="3742639" cy="5394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Talar om vilket kluster kommandot går till. k3d skapar context "k3d-home".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VERKTYGSLÅDAN · HELM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Helm: pakethanteraren för Kubernetes</a:t>
            </a:r>
            <a:endParaRPr lang="en-US" sz="3000" dirty="0"/>
          </a:p>
        </p:txBody>
      </p:sp>
      <p:sp>
        <p:nvSpPr>
          <p:cNvPr id="4" name="Text 2"/>
          <p:cNvSpPr txBox="1"/>
          <p:nvPr/>
        </p:nvSpPr>
        <p:spPr>
          <a:xfrm>
            <a:off x="548640" y="1508760"/>
            <a:ext cx="11094415" cy="731520"/>
          </a:xfrm>
          <a:prstGeom prst="rect">
            <a:avLst/>
          </a:prstGeom>
          <a:noFill/>
          <a:ln/>
        </p:spPr>
        <p:txBody>
          <a:bodyPr wrap="square" lIns="0" tIns="0" rIns="0" bIns="0" rtlCol="0" anchor="t"/>
          <a:lstStyle/>
          <a:p>
            <a:pPr indent="0" marL="0">
              <a:lnSpc>
                <a:spcPct val="120000"/>
              </a:lnSpc>
              <a:buNone/>
            </a:pPr>
            <a:r>
              <a:rPr lang="en-US" sz="1500" dirty="0">
                <a:solidFill>
                  <a:srgbClr val="4A5568"/>
                </a:solidFill>
                <a:latin typeface="Arial" pitchFamily="34" charset="0"/>
                <a:ea typeface="Arial" pitchFamily="34" charset="-122"/>
                <a:cs typeface="Arial" pitchFamily="34" charset="-120"/>
              </a:rPr>
              <a:t>Tänk NuGet eller npm - fast för hela applikationer i klustret. En chart är ett paket med YAML-mallar och standardvärden, som ni anpassar med egna värden.</a:t>
            </a:r>
            <a:endParaRPr lang="en-US" sz="1500" dirty="0"/>
          </a:p>
        </p:txBody>
      </p:sp>
      <p:sp>
        <p:nvSpPr>
          <p:cNvPr id="5" name="Shape 3"/>
          <p:cNvSpPr/>
          <p:nvPr/>
        </p:nvSpPr>
        <p:spPr>
          <a:xfrm>
            <a:off x="548640" y="2423160"/>
            <a:ext cx="3017520" cy="1417320"/>
          </a:xfrm>
          <a:prstGeom prst="roundRect">
            <a:avLst>
              <a:gd name="adj" fmla="val 3871"/>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749808" y="2624328"/>
            <a:ext cx="2615184"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Repository</a:t>
            </a:r>
            <a:endParaRPr lang="en-US" sz="1600" dirty="0"/>
          </a:p>
        </p:txBody>
      </p:sp>
      <p:sp>
        <p:nvSpPr>
          <p:cNvPr id="7" name="Text 5"/>
          <p:cNvSpPr txBox="1"/>
          <p:nvPr/>
        </p:nvSpPr>
        <p:spPr>
          <a:xfrm>
            <a:off x="749808" y="3008376"/>
            <a:ext cx="2615184" cy="6766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Var charts publiceras</a:t>
            </a:r>
            <a:endParaRPr lang="en-US" sz="1300" dirty="0"/>
          </a:p>
          <a:p>
            <a:pPr indent="0" marL="0">
              <a:lnSpc>
                <a:spcPct val="115000"/>
              </a:lnSpc>
              <a:buNone/>
            </a:pPr>
            <a:r>
              <a:rPr lang="en-US" sz="1300" dirty="0">
                <a:solidFill>
                  <a:srgbClr val="4A5568"/>
                </a:solidFill>
                <a:latin typeface="Arial" pitchFamily="34" charset="0"/>
                <a:ea typeface="Arial" pitchFamily="34" charset="-122"/>
                <a:cs typeface="Arial" pitchFamily="34" charset="-120"/>
              </a:rPr>
              <a:t>helm repo add</a:t>
            </a:r>
            <a:endParaRPr lang="en-US" sz="1300" dirty="0"/>
          </a:p>
        </p:txBody>
      </p:sp>
      <p:sp>
        <p:nvSpPr>
          <p:cNvPr id="8" name="Shape 6"/>
          <p:cNvSpPr/>
          <p:nvPr/>
        </p:nvSpPr>
        <p:spPr>
          <a:xfrm>
            <a:off x="3657600" y="3127248"/>
            <a:ext cx="475488" cy="0"/>
          </a:xfrm>
          <a:prstGeom prst="line">
            <a:avLst/>
          </a:prstGeom>
          <a:noFill/>
          <a:ln w="19050">
            <a:solidFill>
              <a:srgbClr val="3762FF"/>
            </a:solidFill>
            <a:prstDash val="solid"/>
            <a:tailEnd type="triangle"/>
          </a:ln>
        </p:spPr>
      </p:sp>
      <p:sp>
        <p:nvSpPr>
          <p:cNvPr id="9" name="Shape 7"/>
          <p:cNvSpPr/>
          <p:nvPr/>
        </p:nvSpPr>
        <p:spPr>
          <a:xfrm>
            <a:off x="4224528" y="2423160"/>
            <a:ext cx="3017520" cy="1417320"/>
          </a:xfrm>
          <a:prstGeom prst="roundRect">
            <a:avLst>
              <a:gd name="adj" fmla="val 3871"/>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0" name="Text 8"/>
          <p:cNvSpPr txBox="1"/>
          <p:nvPr/>
        </p:nvSpPr>
        <p:spPr>
          <a:xfrm>
            <a:off x="4425696" y="2624328"/>
            <a:ext cx="2615184"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Chart</a:t>
            </a:r>
            <a:endParaRPr lang="en-US" sz="1600" dirty="0"/>
          </a:p>
        </p:txBody>
      </p:sp>
      <p:sp>
        <p:nvSpPr>
          <p:cNvPr id="11" name="Text 9"/>
          <p:cNvSpPr txBox="1"/>
          <p:nvPr/>
        </p:nvSpPr>
        <p:spPr>
          <a:xfrm>
            <a:off x="4425696" y="3008376"/>
            <a:ext cx="2615184" cy="6766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Paketet: mallar + values.yaml</a:t>
            </a:r>
            <a:endParaRPr lang="en-US" sz="1300" dirty="0"/>
          </a:p>
        </p:txBody>
      </p:sp>
      <p:sp>
        <p:nvSpPr>
          <p:cNvPr id="12" name="Shape 10"/>
          <p:cNvSpPr/>
          <p:nvPr/>
        </p:nvSpPr>
        <p:spPr>
          <a:xfrm>
            <a:off x="7333488" y="3127248"/>
            <a:ext cx="475488" cy="0"/>
          </a:xfrm>
          <a:prstGeom prst="line">
            <a:avLst/>
          </a:prstGeom>
          <a:noFill/>
          <a:ln w="19050">
            <a:solidFill>
              <a:srgbClr val="3762FF"/>
            </a:solidFill>
            <a:prstDash val="solid"/>
            <a:tailEnd type="triangle"/>
          </a:ln>
        </p:spPr>
      </p:sp>
      <p:sp>
        <p:nvSpPr>
          <p:cNvPr id="13" name="Shape 11"/>
          <p:cNvSpPr/>
          <p:nvPr/>
        </p:nvSpPr>
        <p:spPr>
          <a:xfrm>
            <a:off x="7900416" y="2423160"/>
            <a:ext cx="3017520" cy="1417320"/>
          </a:xfrm>
          <a:prstGeom prst="roundRect">
            <a:avLst>
              <a:gd name="adj" fmla="val 3871"/>
            </a:avLst>
          </a:prstGeom>
          <a:solidFill>
            <a:srgbClr val="3762FF"/>
          </a:solidFill>
          <a:ln w="12700">
            <a:solidFill>
              <a:srgbClr val="3762FF"/>
            </a:solidFill>
            <a:prstDash val="solid"/>
          </a:ln>
        </p:spPr>
      </p:sp>
      <p:sp>
        <p:nvSpPr>
          <p:cNvPr id="14" name="Text 12"/>
          <p:cNvSpPr txBox="1"/>
          <p:nvPr/>
        </p:nvSpPr>
        <p:spPr>
          <a:xfrm>
            <a:off x="8101584" y="2624328"/>
            <a:ext cx="2615184"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Release</a:t>
            </a:r>
            <a:endParaRPr lang="en-US" sz="1600" dirty="0"/>
          </a:p>
        </p:txBody>
      </p:sp>
      <p:sp>
        <p:nvSpPr>
          <p:cNvPr id="15" name="Text 13"/>
          <p:cNvSpPr txBox="1"/>
          <p:nvPr/>
        </p:nvSpPr>
        <p:spPr>
          <a:xfrm>
            <a:off x="8101584" y="3008376"/>
            <a:ext cx="2615184" cy="6766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En installerad instans i klustret</a:t>
            </a:r>
            <a:endParaRPr lang="en-US" sz="1300" dirty="0"/>
          </a:p>
          <a:p>
            <a:pPr indent="0" marL="0">
              <a:lnSpc>
                <a:spcPct val="115000"/>
              </a:lnSpc>
              <a:buNone/>
            </a:pPr>
            <a:r>
              <a:rPr lang="en-US" sz="1300" dirty="0">
                <a:solidFill>
                  <a:srgbClr val="FFFFFF"/>
                </a:solidFill>
                <a:latin typeface="Arial" pitchFamily="34" charset="0"/>
                <a:ea typeface="Arial" pitchFamily="34" charset="-122"/>
                <a:cs typeface="Arial" pitchFamily="34" charset="-120"/>
              </a:rPr>
              <a:t>helm install</a:t>
            </a:r>
            <a:endParaRPr lang="en-US" sz="1300" dirty="0"/>
          </a:p>
        </p:txBody>
      </p:sp>
      <p:sp>
        <p:nvSpPr>
          <p:cNvPr id="16" name="Shape 14"/>
          <p:cNvSpPr/>
          <p:nvPr/>
        </p:nvSpPr>
        <p:spPr>
          <a:xfrm>
            <a:off x="548640" y="4160520"/>
            <a:ext cx="11094415" cy="1783080"/>
          </a:xfrm>
          <a:prstGeom prst="roundRect">
            <a:avLst>
              <a:gd name="adj" fmla="val 3077"/>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749808" y="4325112"/>
            <a:ext cx="109728" cy="109728"/>
          </a:xfrm>
          <a:prstGeom prst="ellipse">
            <a:avLst/>
          </a:prstGeom>
          <a:solidFill>
            <a:srgbClr val="D64545"/>
          </a:solidFill>
          <a:ln w="12700">
            <a:solidFill>
              <a:srgbClr val="D64545"/>
            </a:solidFill>
            <a:prstDash val="solid"/>
          </a:ln>
        </p:spPr>
      </p:sp>
      <p:sp>
        <p:nvSpPr>
          <p:cNvPr id="18" name="Shape 16"/>
          <p:cNvSpPr/>
          <p:nvPr/>
        </p:nvSpPr>
        <p:spPr>
          <a:xfrm>
            <a:off x="932688" y="4325112"/>
            <a:ext cx="109728" cy="109728"/>
          </a:xfrm>
          <a:prstGeom prst="ellipse">
            <a:avLst/>
          </a:prstGeom>
          <a:solidFill>
            <a:srgbClr val="FFB020"/>
          </a:solidFill>
          <a:ln w="12700">
            <a:solidFill>
              <a:srgbClr val="FFB020"/>
            </a:solidFill>
            <a:prstDash val="solid"/>
          </a:ln>
        </p:spPr>
      </p:sp>
      <p:sp>
        <p:nvSpPr>
          <p:cNvPr id="19" name="Shape 17"/>
          <p:cNvSpPr/>
          <p:nvPr/>
        </p:nvSpPr>
        <p:spPr>
          <a:xfrm>
            <a:off x="1115568" y="4325112"/>
            <a:ext cx="109728" cy="109728"/>
          </a:xfrm>
          <a:prstGeom prst="ellipse">
            <a:avLst/>
          </a:prstGeom>
          <a:solidFill>
            <a:srgbClr val="3CB371"/>
          </a:solidFill>
          <a:ln w="12700">
            <a:solidFill>
              <a:srgbClr val="3CB371"/>
            </a:solidFill>
            <a:prstDash val="solid"/>
          </a:ln>
        </p:spPr>
      </p:sp>
      <p:sp>
        <p:nvSpPr>
          <p:cNvPr id="20" name="Text 18"/>
          <p:cNvSpPr txBox="1"/>
          <p:nvPr/>
        </p:nvSpPr>
        <p:spPr>
          <a:xfrm>
            <a:off x="1371600" y="4251960"/>
            <a:ext cx="10088575"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21" name="Text 19"/>
          <p:cNvSpPr txBox="1"/>
          <p:nvPr/>
        </p:nvSpPr>
        <p:spPr>
          <a:xfrm>
            <a:off x="777240" y="4617720"/>
            <a:ext cx="10637215" cy="118872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helm repo add podinfo https://stefanprodan.github.io/podinfo</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helm install podinfo podinfo/podinfo -n test      # installera en release</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helm list -A                                      # vilka releaser finns?</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helm uninstall podinfo -n test                    # ta bort allt chartet skapade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VERKTYGSLÅDAN · K9S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k9s: klustret i realtid, i terminalen</a:t>
            </a:r>
            <a:endParaRPr lang="en-US" sz="3000" dirty="0"/>
          </a:p>
        </p:txBody>
      </p:sp>
      <p:sp>
        <p:nvSpPr>
          <p:cNvPr id="4" name="Text 2"/>
          <p:cNvSpPr txBox="1"/>
          <p:nvPr/>
        </p:nvSpPr>
        <p:spPr>
          <a:xfrm>
            <a:off x="548640" y="1463040"/>
            <a:ext cx="11094415" cy="457200"/>
          </a:xfrm>
          <a:prstGeom prst="rect">
            <a:avLst/>
          </a:prstGeom>
          <a:noFill/>
          <a:ln/>
        </p:spPr>
        <p:txBody>
          <a:bodyPr wrap="square" lIns="0" tIns="0" rIns="0" bIns="0" rtlCol="0" anchor="t"/>
          <a:lstStyle/>
          <a:p>
            <a:pPr indent="0" marL="0">
              <a:lnSpc>
                <a:spcPct val="120000"/>
              </a:lnSpc>
              <a:buNone/>
            </a:pPr>
            <a:r>
              <a:rPr lang="en-US" sz="1500" dirty="0">
                <a:solidFill>
                  <a:srgbClr val="B9C4D1"/>
                </a:solidFill>
                <a:latin typeface="Arial" pitchFamily="34" charset="0"/>
                <a:ea typeface="Arial" pitchFamily="34" charset="-122"/>
                <a:cs typeface="Arial" pitchFamily="34" charset="-120"/>
              </a:rPr>
              <a:t>Starta med k9s. Allt uppdateras live - perfekt för att se poddar starta, krascha och starta om.</a:t>
            </a:r>
            <a:endParaRPr lang="en-US" sz="1500" dirty="0"/>
          </a:p>
        </p:txBody>
      </p:sp>
      <p:sp>
        <p:nvSpPr>
          <p:cNvPr id="5" name="Shape 3"/>
          <p:cNvSpPr/>
          <p:nvPr/>
        </p:nvSpPr>
        <p:spPr>
          <a:xfrm>
            <a:off x="548640" y="2240280"/>
            <a:ext cx="2636444" cy="914400"/>
          </a:xfrm>
          <a:prstGeom prst="roundRect">
            <a:avLst>
              <a:gd name="adj" fmla="val 6000"/>
            </a:avLst>
          </a:prstGeom>
          <a:solidFill>
            <a:srgbClr val="16294A"/>
          </a:solidFill>
          <a:ln w="12700">
            <a:solidFill>
              <a:srgbClr val="16294A"/>
            </a:solidFill>
            <a:prstDash val="solid"/>
          </a:ln>
        </p:spPr>
      </p:sp>
      <p:sp>
        <p:nvSpPr>
          <p:cNvPr id="6" name="Text 4"/>
          <p:cNvSpPr txBox="1"/>
          <p:nvPr/>
        </p:nvSpPr>
        <p:spPr>
          <a:xfrm>
            <a:off x="749808" y="235000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:pod</a:t>
            </a:r>
            <a:endParaRPr lang="en-US" sz="1800" dirty="0"/>
          </a:p>
        </p:txBody>
      </p:sp>
      <p:sp>
        <p:nvSpPr>
          <p:cNvPr id="7" name="Text 5"/>
          <p:cNvSpPr txBox="1"/>
          <p:nvPr/>
        </p:nvSpPr>
        <p:spPr>
          <a:xfrm>
            <a:off x="749808" y="274320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Visa poddar</a:t>
            </a:r>
            <a:endParaRPr lang="en-US" sz="1300" dirty="0"/>
          </a:p>
        </p:txBody>
      </p:sp>
      <p:sp>
        <p:nvSpPr>
          <p:cNvPr id="8" name="Shape 6"/>
          <p:cNvSpPr/>
          <p:nvPr/>
        </p:nvSpPr>
        <p:spPr>
          <a:xfrm>
            <a:off x="3367964" y="2240280"/>
            <a:ext cx="2636444" cy="914400"/>
          </a:xfrm>
          <a:prstGeom prst="roundRect">
            <a:avLst>
              <a:gd name="adj" fmla="val 6000"/>
            </a:avLst>
          </a:prstGeom>
          <a:solidFill>
            <a:srgbClr val="16294A"/>
          </a:solidFill>
          <a:ln w="12700">
            <a:solidFill>
              <a:srgbClr val="16294A"/>
            </a:solidFill>
            <a:prstDash val="solid"/>
          </a:ln>
        </p:spPr>
      </p:sp>
      <p:sp>
        <p:nvSpPr>
          <p:cNvPr id="9" name="Text 7"/>
          <p:cNvSpPr txBox="1"/>
          <p:nvPr/>
        </p:nvSpPr>
        <p:spPr>
          <a:xfrm>
            <a:off x="3569132" y="235000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:deploy</a:t>
            </a:r>
            <a:endParaRPr lang="en-US" sz="1800" dirty="0"/>
          </a:p>
        </p:txBody>
      </p:sp>
      <p:sp>
        <p:nvSpPr>
          <p:cNvPr id="10" name="Text 8"/>
          <p:cNvSpPr txBox="1"/>
          <p:nvPr/>
        </p:nvSpPr>
        <p:spPr>
          <a:xfrm>
            <a:off x="3569132" y="274320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Visa deployments</a:t>
            </a:r>
            <a:endParaRPr lang="en-US" sz="1300" dirty="0"/>
          </a:p>
        </p:txBody>
      </p:sp>
      <p:sp>
        <p:nvSpPr>
          <p:cNvPr id="11" name="Shape 9"/>
          <p:cNvSpPr/>
          <p:nvPr/>
        </p:nvSpPr>
        <p:spPr>
          <a:xfrm>
            <a:off x="6187288" y="2240280"/>
            <a:ext cx="2636444" cy="914400"/>
          </a:xfrm>
          <a:prstGeom prst="roundRect">
            <a:avLst>
              <a:gd name="adj" fmla="val 6000"/>
            </a:avLst>
          </a:prstGeom>
          <a:solidFill>
            <a:srgbClr val="16294A"/>
          </a:solidFill>
          <a:ln w="12700">
            <a:solidFill>
              <a:srgbClr val="16294A"/>
            </a:solidFill>
            <a:prstDash val="solid"/>
          </a:ln>
        </p:spPr>
      </p:sp>
      <p:sp>
        <p:nvSpPr>
          <p:cNvPr id="12" name="Text 10"/>
          <p:cNvSpPr txBox="1"/>
          <p:nvPr/>
        </p:nvSpPr>
        <p:spPr>
          <a:xfrm>
            <a:off x="6388456" y="235000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:svc</a:t>
            </a:r>
            <a:endParaRPr lang="en-US" sz="1800" dirty="0"/>
          </a:p>
        </p:txBody>
      </p:sp>
      <p:sp>
        <p:nvSpPr>
          <p:cNvPr id="13" name="Text 11"/>
          <p:cNvSpPr txBox="1"/>
          <p:nvPr/>
        </p:nvSpPr>
        <p:spPr>
          <a:xfrm>
            <a:off x="6388456" y="274320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Visa services</a:t>
            </a:r>
            <a:endParaRPr lang="en-US" sz="1300" dirty="0"/>
          </a:p>
        </p:txBody>
      </p:sp>
      <p:sp>
        <p:nvSpPr>
          <p:cNvPr id="14" name="Shape 12"/>
          <p:cNvSpPr/>
          <p:nvPr/>
        </p:nvSpPr>
        <p:spPr>
          <a:xfrm>
            <a:off x="9006611" y="2240280"/>
            <a:ext cx="2636444" cy="914400"/>
          </a:xfrm>
          <a:prstGeom prst="roundRect">
            <a:avLst>
              <a:gd name="adj" fmla="val 6000"/>
            </a:avLst>
          </a:prstGeom>
          <a:solidFill>
            <a:srgbClr val="16294A"/>
          </a:solidFill>
          <a:ln w="12700">
            <a:solidFill>
              <a:srgbClr val="16294A"/>
            </a:solidFill>
            <a:prstDash val="solid"/>
          </a:ln>
        </p:spPr>
      </p:sp>
      <p:sp>
        <p:nvSpPr>
          <p:cNvPr id="15" name="Text 13"/>
          <p:cNvSpPr txBox="1"/>
          <p:nvPr/>
        </p:nvSpPr>
        <p:spPr>
          <a:xfrm>
            <a:off x="9207779" y="235000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:ns</a:t>
            </a:r>
            <a:endParaRPr lang="en-US" sz="1800" dirty="0"/>
          </a:p>
        </p:txBody>
      </p:sp>
      <p:sp>
        <p:nvSpPr>
          <p:cNvPr id="16" name="Text 14"/>
          <p:cNvSpPr txBox="1"/>
          <p:nvPr/>
        </p:nvSpPr>
        <p:spPr>
          <a:xfrm>
            <a:off x="9207779" y="274320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Byt namespace</a:t>
            </a:r>
            <a:endParaRPr lang="en-US" sz="1300" dirty="0"/>
          </a:p>
        </p:txBody>
      </p:sp>
      <p:sp>
        <p:nvSpPr>
          <p:cNvPr id="17" name="Shape 15"/>
          <p:cNvSpPr/>
          <p:nvPr/>
        </p:nvSpPr>
        <p:spPr>
          <a:xfrm>
            <a:off x="548640" y="3337560"/>
            <a:ext cx="2636444" cy="914400"/>
          </a:xfrm>
          <a:prstGeom prst="roundRect">
            <a:avLst>
              <a:gd name="adj" fmla="val 6000"/>
            </a:avLst>
          </a:prstGeom>
          <a:solidFill>
            <a:srgbClr val="16294A"/>
          </a:solidFill>
          <a:ln w="12700">
            <a:solidFill>
              <a:srgbClr val="16294A"/>
            </a:solidFill>
            <a:prstDash val="solid"/>
          </a:ln>
        </p:spPr>
      </p:sp>
      <p:sp>
        <p:nvSpPr>
          <p:cNvPr id="18" name="Text 16"/>
          <p:cNvSpPr txBox="1"/>
          <p:nvPr/>
        </p:nvSpPr>
        <p:spPr>
          <a:xfrm>
            <a:off x="749808" y="344728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0</a:t>
            </a:r>
            <a:endParaRPr lang="en-US" sz="1800" dirty="0"/>
          </a:p>
        </p:txBody>
      </p:sp>
      <p:sp>
        <p:nvSpPr>
          <p:cNvPr id="19" name="Text 17"/>
          <p:cNvSpPr txBox="1"/>
          <p:nvPr/>
        </p:nvSpPr>
        <p:spPr>
          <a:xfrm>
            <a:off x="749808" y="384048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Alla namespaces</a:t>
            </a:r>
            <a:endParaRPr lang="en-US" sz="1300" dirty="0"/>
          </a:p>
        </p:txBody>
      </p:sp>
      <p:sp>
        <p:nvSpPr>
          <p:cNvPr id="20" name="Shape 18"/>
          <p:cNvSpPr/>
          <p:nvPr/>
        </p:nvSpPr>
        <p:spPr>
          <a:xfrm>
            <a:off x="3367964" y="3337560"/>
            <a:ext cx="2636444" cy="914400"/>
          </a:xfrm>
          <a:prstGeom prst="roundRect">
            <a:avLst>
              <a:gd name="adj" fmla="val 6000"/>
            </a:avLst>
          </a:prstGeom>
          <a:solidFill>
            <a:srgbClr val="16294A"/>
          </a:solidFill>
          <a:ln w="12700">
            <a:solidFill>
              <a:srgbClr val="16294A"/>
            </a:solidFill>
            <a:prstDash val="solid"/>
          </a:ln>
        </p:spPr>
      </p:sp>
      <p:sp>
        <p:nvSpPr>
          <p:cNvPr id="21" name="Text 19"/>
          <p:cNvSpPr txBox="1"/>
          <p:nvPr/>
        </p:nvSpPr>
        <p:spPr>
          <a:xfrm>
            <a:off x="3569132" y="344728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Enter</a:t>
            </a:r>
            <a:endParaRPr lang="en-US" sz="1800" dirty="0"/>
          </a:p>
        </p:txBody>
      </p:sp>
      <p:sp>
        <p:nvSpPr>
          <p:cNvPr id="22" name="Text 20"/>
          <p:cNvSpPr txBox="1"/>
          <p:nvPr/>
        </p:nvSpPr>
        <p:spPr>
          <a:xfrm>
            <a:off x="3569132" y="384048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Gå in i resursen</a:t>
            </a:r>
            <a:endParaRPr lang="en-US" sz="1300" dirty="0"/>
          </a:p>
        </p:txBody>
      </p:sp>
      <p:sp>
        <p:nvSpPr>
          <p:cNvPr id="23" name="Shape 21"/>
          <p:cNvSpPr/>
          <p:nvPr/>
        </p:nvSpPr>
        <p:spPr>
          <a:xfrm>
            <a:off x="6187288" y="3337560"/>
            <a:ext cx="2636444" cy="914400"/>
          </a:xfrm>
          <a:prstGeom prst="roundRect">
            <a:avLst>
              <a:gd name="adj" fmla="val 6000"/>
            </a:avLst>
          </a:prstGeom>
          <a:solidFill>
            <a:srgbClr val="16294A"/>
          </a:solidFill>
          <a:ln w="12700">
            <a:solidFill>
              <a:srgbClr val="16294A"/>
            </a:solidFill>
            <a:prstDash val="solid"/>
          </a:ln>
        </p:spPr>
      </p:sp>
      <p:sp>
        <p:nvSpPr>
          <p:cNvPr id="24" name="Text 22"/>
          <p:cNvSpPr txBox="1"/>
          <p:nvPr/>
        </p:nvSpPr>
        <p:spPr>
          <a:xfrm>
            <a:off x="6388456" y="344728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d</a:t>
            </a:r>
            <a:endParaRPr lang="en-US" sz="1800" dirty="0"/>
          </a:p>
        </p:txBody>
      </p:sp>
      <p:sp>
        <p:nvSpPr>
          <p:cNvPr id="25" name="Text 23"/>
          <p:cNvSpPr txBox="1"/>
          <p:nvPr/>
        </p:nvSpPr>
        <p:spPr>
          <a:xfrm>
            <a:off x="6388456" y="384048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Describe</a:t>
            </a:r>
            <a:endParaRPr lang="en-US" sz="1300" dirty="0"/>
          </a:p>
        </p:txBody>
      </p:sp>
      <p:sp>
        <p:nvSpPr>
          <p:cNvPr id="26" name="Shape 24"/>
          <p:cNvSpPr/>
          <p:nvPr/>
        </p:nvSpPr>
        <p:spPr>
          <a:xfrm>
            <a:off x="9006611" y="3337560"/>
            <a:ext cx="2636444" cy="914400"/>
          </a:xfrm>
          <a:prstGeom prst="roundRect">
            <a:avLst>
              <a:gd name="adj" fmla="val 6000"/>
            </a:avLst>
          </a:prstGeom>
          <a:solidFill>
            <a:srgbClr val="3762FF"/>
          </a:solidFill>
          <a:ln w="12700">
            <a:solidFill>
              <a:srgbClr val="3762FF"/>
            </a:solidFill>
            <a:prstDash val="solid"/>
          </a:ln>
        </p:spPr>
      </p:sp>
      <p:sp>
        <p:nvSpPr>
          <p:cNvPr id="27" name="Text 25"/>
          <p:cNvSpPr txBox="1"/>
          <p:nvPr/>
        </p:nvSpPr>
        <p:spPr>
          <a:xfrm>
            <a:off x="9207779" y="3447288"/>
            <a:ext cx="2234108" cy="36576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l</a:t>
            </a:r>
            <a:endParaRPr lang="en-US" sz="1800" dirty="0"/>
          </a:p>
        </p:txBody>
      </p:sp>
      <p:sp>
        <p:nvSpPr>
          <p:cNvPr id="28" name="Text 26"/>
          <p:cNvSpPr txBox="1"/>
          <p:nvPr/>
        </p:nvSpPr>
        <p:spPr>
          <a:xfrm>
            <a:off x="9207779" y="3840480"/>
            <a:ext cx="2234108" cy="3200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Loggar</a:t>
            </a:r>
            <a:endParaRPr lang="en-US" sz="1300" dirty="0"/>
          </a:p>
        </p:txBody>
      </p:sp>
      <p:sp>
        <p:nvSpPr>
          <p:cNvPr id="29" name="Shape 27"/>
          <p:cNvSpPr/>
          <p:nvPr/>
        </p:nvSpPr>
        <p:spPr>
          <a:xfrm>
            <a:off x="548640" y="4434840"/>
            <a:ext cx="2636444" cy="914400"/>
          </a:xfrm>
          <a:prstGeom prst="roundRect">
            <a:avLst>
              <a:gd name="adj" fmla="val 6000"/>
            </a:avLst>
          </a:prstGeom>
          <a:solidFill>
            <a:srgbClr val="16294A"/>
          </a:solidFill>
          <a:ln w="12700">
            <a:solidFill>
              <a:srgbClr val="16294A"/>
            </a:solidFill>
            <a:prstDash val="solid"/>
          </a:ln>
        </p:spPr>
      </p:sp>
      <p:sp>
        <p:nvSpPr>
          <p:cNvPr id="30" name="Text 28"/>
          <p:cNvSpPr txBox="1"/>
          <p:nvPr/>
        </p:nvSpPr>
        <p:spPr>
          <a:xfrm>
            <a:off x="749808" y="454456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s</a:t>
            </a:r>
            <a:endParaRPr lang="en-US" sz="1800" dirty="0"/>
          </a:p>
        </p:txBody>
      </p:sp>
      <p:sp>
        <p:nvSpPr>
          <p:cNvPr id="31" name="Text 29"/>
          <p:cNvSpPr txBox="1"/>
          <p:nvPr/>
        </p:nvSpPr>
        <p:spPr>
          <a:xfrm>
            <a:off x="749808" y="493776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Shell i containern</a:t>
            </a:r>
            <a:endParaRPr lang="en-US" sz="1300" dirty="0"/>
          </a:p>
        </p:txBody>
      </p:sp>
      <p:sp>
        <p:nvSpPr>
          <p:cNvPr id="32" name="Shape 30"/>
          <p:cNvSpPr/>
          <p:nvPr/>
        </p:nvSpPr>
        <p:spPr>
          <a:xfrm>
            <a:off x="3367964" y="4434840"/>
            <a:ext cx="2636444" cy="914400"/>
          </a:xfrm>
          <a:prstGeom prst="roundRect">
            <a:avLst>
              <a:gd name="adj" fmla="val 6000"/>
            </a:avLst>
          </a:prstGeom>
          <a:solidFill>
            <a:srgbClr val="16294A"/>
          </a:solidFill>
          <a:ln w="12700">
            <a:solidFill>
              <a:srgbClr val="16294A"/>
            </a:solidFill>
            <a:prstDash val="solid"/>
          </a:ln>
        </p:spPr>
      </p:sp>
      <p:sp>
        <p:nvSpPr>
          <p:cNvPr id="33" name="Text 31"/>
          <p:cNvSpPr txBox="1"/>
          <p:nvPr/>
        </p:nvSpPr>
        <p:spPr>
          <a:xfrm>
            <a:off x="3569132" y="454456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Ctrl+D</a:t>
            </a:r>
            <a:endParaRPr lang="en-US" sz="1800" dirty="0"/>
          </a:p>
        </p:txBody>
      </p:sp>
      <p:sp>
        <p:nvSpPr>
          <p:cNvPr id="34" name="Text 32"/>
          <p:cNvSpPr txBox="1"/>
          <p:nvPr/>
        </p:nvSpPr>
        <p:spPr>
          <a:xfrm>
            <a:off x="3569132" y="493776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Radera resurs</a:t>
            </a:r>
            <a:endParaRPr lang="en-US" sz="1300" dirty="0"/>
          </a:p>
        </p:txBody>
      </p:sp>
      <p:sp>
        <p:nvSpPr>
          <p:cNvPr id="35" name="Shape 33"/>
          <p:cNvSpPr/>
          <p:nvPr/>
        </p:nvSpPr>
        <p:spPr>
          <a:xfrm>
            <a:off x="6187288" y="4434840"/>
            <a:ext cx="2636444" cy="914400"/>
          </a:xfrm>
          <a:prstGeom prst="roundRect">
            <a:avLst>
              <a:gd name="adj" fmla="val 6000"/>
            </a:avLst>
          </a:prstGeom>
          <a:solidFill>
            <a:srgbClr val="16294A"/>
          </a:solidFill>
          <a:ln w="12700">
            <a:solidFill>
              <a:srgbClr val="16294A"/>
            </a:solidFill>
            <a:prstDash val="solid"/>
          </a:ln>
        </p:spPr>
      </p:sp>
      <p:sp>
        <p:nvSpPr>
          <p:cNvPr id="36" name="Text 34"/>
          <p:cNvSpPr txBox="1"/>
          <p:nvPr/>
        </p:nvSpPr>
        <p:spPr>
          <a:xfrm>
            <a:off x="6388456" y="454456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Esc</a:t>
            </a:r>
            <a:endParaRPr lang="en-US" sz="1800" dirty="0"/>
          </a:p>
        </p:txBody>
      </p:sp>
      <p:sp>
        <p:nvSpPr>
          <p:cNvPr id="37" name="Text 35"/>
          <p:cNvSpPr txBox="1"/>
          <p:nvPr/>
        </p:nvSpPr>
        <p:spPr>
          <a:xfrm>
            <a:off x="6388456" y="493776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Tillbaka</a:t>
            </a:r>
            <a:endParaRPr lang="en-US" sz="1300" dirty="0"/>
          </a:p>
        </p:txBody>
      </p:sp>
      <p:sp>
        <p:nvSpPr>
          <p:cNvPr id="38" name="Shape 36"/>
          <p:cNvSpPr/>
          <p:nvPr/>
        </p:nvSpPr>
        <p:spPr>
          <a:xfrm>
            <a:off x="9006611" y="4434840"/>
            <a:ext cx="2636444" cy="914400"/>
          </a:xfrm>
          <a:prstGeom prst="roundRect">
            <a:avLst>
              <a:gd name="adj" fmla="val 6000"/>
            </a:avLst>
          </a:prstGeom>
          <a:solidFill>
            <a:srgbClr val="16294A"/>
          </a:solidFill>
          <a:ln w="12700">
            <a:solidFill>
              <a:srgbClr val="16294A"/>
            </a:solidFill>
            <a:prstDash val="solid"/>
          </a:ln>
        </p:spPr>
      </p:sp>
      <p:sp>
        <p:nvSpPr>
          <p:cNvPr id="39" name="Text 37"/>
          <p:cNvSpPr txBox="1"/>
          <p:nvPr/>
        </p:nvSpPr>
        <p:spPr>
          <a:xfrm>
            <a:off x="9207779" y="4544568"/>
            <a:ext cx="2234108" cy="365760"/>
          </a:xfrm>
          <a:prstGeom prst="rect">
            <a:avLst/>
          </a:prstGeom>
          <a:noFill/>
          <a:ln/>
        </p:spPr>
        <p:txBody>
          <a:bodyPr wrap="square" lIns="0" tIns="0" rIns="0" bIns="0" rtlCol="0" anchor="ctr"/>
          <a:lstStyle/>
          <a:p>
            <a:pPr indent="0" marL="0">
              <a:buNone/>
            </a:pPr>
            <a:r>
              <a:rPr lang="en-US" sz="1800" b="1" dirty="0">
                <a:solidFill>
                  <a:srgbClr val="7C9CFF"/>
                </a:solidFill>
                <a:latin typeface="Courier New" pitchFamily="34" charset="0"/>
                <a:ea typeface="Courier New" pitchFamily="34" charset="-122"/>
                <a:cs typeface="Courier New" pitchFamily="34" charset="-120"/>
              </a:rPr>
              <a:t>?  /  :q</a:t>
            </a:r>
            <a:endParaRPr lang="en-US" sz="1800" dirty="0"/>
          </a:p>
        </p:txBody>
      </p:sp>
      <p:sp>
        <p:nvSpPr>
          <p:cNvPr id="40" name="Text 38"/>
          <p:cNvSpPr txBox="1"/>
          <p:nvPr/>
        </p:nvSpPr>
        <p:spPr>
          <a:xfrm>
            <a:off x="9207779" y="4937760"/>
            <a:ext cx="2234108" cy="320040"/>
          </a:xfrm>
          <a:prstGeom prst="rect">
            <a:avLst/>
          </a:prstGeom>
          <a:noFill/>
          <a:ln/>
        </p:spPr>
        <p:txBody>
          <a:bodyPr wrap="square" lIns="0" tIns="0" rIns="0" bIns="0" rtlCol="0" anchor="ctr"/>
          <a:lstStyle/>
          <a:p>
            <a:pPr indent="0" marL="0">
              <a:buNone/>
            </a:pPr>
            <a:r>
              <a:rPr lang="en-US" sz="1300" dirty="0">
                <a:solidFill>
                  <a:srgbClr val="B9C4D1"/>
                </a:solidFill>
                <a:latin typeface="Arial" pitchFamily="34" charset="0"/>
                <a:ea typeface="Arial" pitchFamily="34" charset="-122"/>
                <a:cs typeface="Arial" pitchFamily="34" charset="-120"/>
              </a:rPr>
              <a:t>Hjälp / avsluta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VERKTYGSLÅDAN · NEDLADDNING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Nedladdningslänkar</a:t>
            </a:r>
            <a:endParaRPr lang="en-US" sz="3000" dirty="0"/>
          </a:p>
        </p:txBody>
      </p:sp>
      <p:sp>
        <p:nvSpPr>
          <p:cNvPr id="4" name="Shape 2"/>
          <p:cNvSpPr/>
          <p:nvPr/>
        </p:nvSpPr>
        <p:spPr>
          <a:xfrm>
            <a:off x="548640" y="1554480"/>
            <a:ext cx="11094415" cy="713232"/>
          </a:xfrm>
          <a:prstGeom prst="roundRect">
            <a:avLst>
              <a:gd name="adj" fmla="val 7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77240" y="1554480"/>
            <a:ext cx="2011680" cy="713232"/>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Docker Desktop</a:t>
            </a:r>
            <a:endParaRPr lang="en-US" sz="1700" dirty="0"/>
          </a:p>
        </p:txBody>
      </p:sp>
      <p:sp>
        <p:nvSpPr>
          <p:cNvPr id="6" name="Text 4">
            <a:hlinkClick r:id="rId1" tooltip=""/>
          </p:cNvPr>
          <p:cNvSpPr txBox="1"/>
          <p:nvPr/>
        </p:nvSpPr>
        <p:spPr>
          <a:xfrm>
            <a:off x="2788920" y="1554480"/>
            <a:ext cx="4480560" cy="713232"/>
          </a:xfrm>
          <a:prstGeom prst="rect">
            <a:avLst/>
          </a:prstGeom>
          <a:noFill/>
          <a:ln/>
        </p:spPr>
        <p:txBody>
          <a:bodyPr wrap="square" lIns="0" tIns="0" rIns="0" bIns="0" rtlCol="0" anchor="ctr"/>
          <a:lstStyle/>
          <a:p>
            <a:pPr indent="0" marL="0">
              <a:buNone/>
            </a:pPr>
            <a:r>
              <a:rPr lang="en-US" sz="1300" u="sng" dirty="0">
                <a:solidFill>
                  <a:srgbClr val="3762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https://www.docker.com/products/docker-desktop/</a:t>
            </a:r>
            <a:endParaRPr lang="en-US" sz="1300" dirty="0"/>
          </a:p>
        </p:txBody>
      </p:sp>
      <p:sp>
        <p:nvSpPr>
          <p:cNvPr id="7" name="Text 5"/>
          <p:cNvSpPr txBox="1"/>
          <p:nvPr/>
        </p:nvSpPr>
        <p:spPr>
          <a:xfrm>
            <a:off x="7269480" y="1554480"/>
            <a:ext cx="4206240" cy="713232"/>
          </a:xfrm>
          <a:prstGeom prst="rect">
            <a:avLst/>
          </a:prstGeom>
          <a:noFill/>
          <a:ln/>
        </p:spPr>
        <p:txBody>
          <a:bodyPr wrap="square" lIns="0" tIns="0" rIns="0" bIns="0" rtlCol="0" anchor="ctr"/>
          <a:lstStyle/>
          <a:p>
            <a:pPr indent="0" marL="0">
              <a:buNone/>
            </a:pPr>
            <a:r>
              <a:rPr lang="en-US" sz="1200" dirty="0">
                <a:solidFill>
                  <a:srgbClr val="16202B"/>
                </a:solidFill>
                <a:latin typeface="Courier New" pitchFamily="34" charset="0"/>
                <a:ea typeface="Courier New" pitchFamily="34" charset="-122"/>
                <a:cs typeface="Courier New" pitchFamily="34" charset="-120"/>
              </a:rPr>
              <a:t>winget install -e --id Docker.DockerDesktop</a:t>
            </a:r>
            <a:endParaRPr lang="en-US" sz="1200" dirty="0"/>
          </a:p>
        </p:txBody>
      </p:sp>
      <p:sp>
        <p:nvSpPr>
          <p:cNvPr id="8" name="Shape 6"/>
          <p:cNvSpPr/>
          <p:nvPr/>
        </p:nvSpPr>
        <p:spPr>
          <a:xfrm>
            <a:off x="548640" y="2404872"/>
            <a:ext cx="11094415" cy="713232"/>
          </a:xfrm>
          <a:prstGeom prst="roundRect">
            <a:avLst>
              <a:gd name="adj" fmla="val 7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777240" y="2404872"/>
            <a:ext cx="2011680" cy="713232"/>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k3d</a:t>
            </a:r>
            <a:endParaRPr lang="en-US" sz="1700" dirty="0"/>
          </a:p>
        </p:txBody>
      </p:sp>
      <p:sp>
        <p:nvSpPr>
          <p:cNvPr id="10" name="Text 8">
            <a:hlinkClick r:id="rId2" tooltip=""/>
          </p:cNvPr>
          <p:cNvSpPr txBox="1"/>
          <p:nvPr/>
        </p:nvSpPr>
        <p:spPr>
          <a:xfrm>
            <a:off x="2788920" y="2404872"/>
            <a:ext cx="4480560" cy="713232"/>
          </a:xfrm>
          <a:prstGeom prst="rect">
            <a:avLst/>
          </a:prstGeom>
          <a:noFill/>
          <a:ln/>
        </p:spPr>
        <p:txBody>
          <a:bodyPr wrap="square" lIns="0" tIns="0" rIns="0" bIns="0" rtlCol="0" anchor="ctr"/>
          <a:lstStyle/>
          <a:p>
            <a:pPr indent="0" marL="0">
              <a:buNone/>
            </a:pPr>
            <a:r>
              <a:rPr lang="en-US" sz="1300" u="sng" dirty="0">
                <a:solidFill>
                  <a:srgbClr val="3762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https://k3d.io</a:t>
            </a:r>
            <a:endParaRPr lang="en-US" sz="1300" dirty="0"/>
          </a:p>
        </p:txBody>
      </p:sp>
      <p:sp>
        <p:nvSpPr>
          <p:cNvPr id="11" name="Text 9"/>
          <p:cNvSpPr txBox="1"/>
          <p:nvPr/>
        </p:nvSpPr>
        <p:spPr>
          <a:xfrm>
            <a:off x="7269480" y="2404872"/>
            <a:ext cx="4206240" cy="713232"/>
          </a:xfrm>
          <a:prstGeom prst="rect">
            <a:avLst/>
          </a:prstGeom>
          <a:noFill/>
          <a:ln/>
        </p:spPr>
        <p:txBody>
          <a:bodyPr wrap="square" lIns="0" tIns="0" rIns="0" bIns="0" rtlCol="0" anchor="ctr"/>
          <a:lstStyle/>
          <a:p>
            <a:pPr indent="0" marL="0">
              <a:buNone/>
            </a:pPr>
            <a:r>
              <a:rPr lang="en-US" sz="1200" dirty="0">
                <a:solidFill>
                  <a:srgbClr val="16202B"/>
                </a:solidFill>
                <a:latin typeface="Courier New" pitchFamily="34" charset="0"/>
                <a:ea typeface="Courier New" pitchFamily="34" charset="-122"/>
                <a:cs typeface="Courier New" pitchFamily="34" charset="-120"/>
              </a:rPr>
              <a:t>winget install -e --id k3d.k3d</a:t>
            </a:r>
            <a:endParaRPr lang="en-US" sz="1200" dirty="0"/>
          </a:p>
        </p:txBody>
      </p:sp>
      <p:sp>
        <p:nvSpPr>
          <p:cNvPr id="12" name="Shape 10"/>
          <p:cNvSpPr/>
          <p:nvPr/>
        </p:nvSpPr>
        <p:spPr>
          <a:xfrm>
            <a:off x="548640" y="3255264"/>
            <a:ext cx="11094415" cy="713232"/>
          </a:xfrm>
          <a:prstGeom prst="roundRect">
            <a:avLst>
              <a:gd name="adj" fmla="val 7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777240" y="3255264"/>
            <a:ext cx="2011680" cy="713232"/>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kubectl</a:t>
            </a:r>
            <a:endParaRPr lang="en-US" sz="1700" dirty="0"/>
          </a:p>
        </p:txBody>
      </p:sp>
      <p:sp>
        <p:nvSpPr>
          <p:cNvPr id="14" name="Text 12">
            <a:hlinkClick r:id="rId3" tooltip=""/>
          </p:cNvPr>
          <p:cNvSpPr txBox="1"/>
          <p:nvPr/>
        </p:nvSpPr>
        <p:spPr>
          <a:xfrm>
            <a:off x="2788920" y="3255264"/>
            <a:ext cx="4480560" cy="713232"/>
          </a:xfrm>
          <a:prstGeom prst="rect">
            <a:avLst/>
          </a:prstGeom>
          <a:noFill/>
          <a:ln/>
        </p:spPr>
        <p:txBody>
          <a:bodyPr wrap="square" lIns="0" tIns="0" rIns="0" bIns="0" rtlCol="0" anchor="ctr"/>
          <a:lstStyle/>
          <a:p>
            <a:pPr indent="0" marL="0">
              <a:buNone/>
            </a:pPr>
            <a:r>
              <a:rPr lang="en-US" sz="1300" u="sng" dirty="0">
                <a:solidFill>
                  <a:srgbClr val="3762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https://kubernetes.io/docs/tasks/tools/</a:t>
            </a:r>
            <a:endParaRPr lang="en-US" sz="1300" dirty="0"/>
          </a:p>
        </p:txBody>
      </p:sp>
      <p:sp>
        <p:nvSpPr>
          <p:cNvPr id="15" name="Text 13"/>
          <p:cNvSpPr txBox="1"/>
          <p:nvPr/>
        </p:nvSpPr>
        <p:spPr>
          <a:xfrm>
            <a:off x="7269480" y="3255264"/>
            <a:ext cx="4206240" cy="713232"/>
          </a:xfrm>
          <a:prstGeom prst="rect">
            <a:avLst/>
          </a:prstGeom>
          <a:noFill/>
          <a:ln/>
        </p:spPr>
        <p:txBody>
          <a:bodyPr wrap="square" lIns="0" tIns="0" rIns="0" bIns="0" rtlCol="0" anchor="ctr"/>
          <a:lstStyle/>
          <a:p>
            <a:pPr indent="0" marL="0">
              <a:buNone/>
            </a:pPr>
            <a:r>
              <a:rPr lang="en-US" sz="1200" dirty="0">
                <a:solidFill>
                  <a:srgbClr val="16202B"/>
                </a:solidFill>
                <a:latin typeface="Courier New" pitchFamily="34" charset="0"/>
                <a:ea typeface="Courier New" pitchFamily="34" charset="-122"/>
                <a:cs typeface="Courier New" pitchFamily="34" charset="-120"/>
              </a:rPr>
              <a:t>winget install -e --id Kubernetes.kubectl</a:t>
            </a:r>
            <a:endParaRPr lang="en-US" sz="1200" dirty="0"/>
          </a:p>
        </p:txBody>
      </p:sp>
      <p:sp>
        <p:nvSpPr>
          <p:cNvPr id="16" name="Shape 14"/>
          <p:cNvSpPr/>
          <p:nvPr/>
        </p:nvSpPr>
        <p:spPr>
          <a:xfrm>
            <a:off x="548640" y="4105656"/>
            <a:ext cx="11094415" cy="713232"/>
          </a:xfrm>
          <a:prstGeom prst="roundRect">
            <a:avLst>
              <a:gd name="adj" fmla="val 7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77240" y="4105656"/>
            <a:ext cx="2011680" cy="713232"/>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Helm</a:t>
            </a:r>
            <a:endParaRPr lang="en-US" sz="1700" dirty="0"/>
          </a:p>
        </p:txBody>
      </p:sp>
      <p:sp>
        <p:nvSpPr>
          <p:cNvPr id="18" name="Text 16">
            <a:hlinkClick r:id="rId4" tooltip=""/>
          </p:cNvPr>
          <p:cNvSpPr txBox="1"/>
          <p:nvPr/>
        </p:nvSpPr>
        <p:spPr>
          <a:xfrm>
            <a:off x="2788920" y="4105656"/>
            <a:ext cx="4480560" cy="713232"/>
          </a:xfrm>
          <a:prstGeom prst="rect">
            <a:avLst/>
          </a:prstGeom>
          <a:noFill/>
          <a:ln/>
        </p:spPr>
        <p:txBody>
          <a:bodyPr wrap="square" lIns="0" tIns="0" rIns="0" bIns="0" rtlCol="0" anchor="ctr"/>
          <a:lstStyle/>
          <a:p>
            <a:pPr indent="0" marL="0">
              <a:buNone/>
            </a:pPr>
            <a:r>
              <a:rPr lang="en-US" sz="1300" u="sng" dirty="0">
                <a:solidFill>
                  <a:srgbClr val="3762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https://helm.sh/docs/intro/install/</a:t>
            </a:r>
            <a:endParaRPr lang="en-US" sz="1300" dirty="0"/>
          </a:p>
        </p:txBody>
      </p:sp>
      <p:sp>
        <p:nvSpPr>
          <p:cNvPr id="19" name="Text 17"/>
          <p:cNvSpPr txBox="1"/>
          <p:nvPr/>
        </p:nvSpPr>
        <p:spPr>
          <a:xfrm>
            <a:off x="7269480" y="4105656"/>
            <a:ext cx="4206240" cy="713232"/>
          </a:xfrm>
          <a:prstGeom prst="rect">
            <a:avLst/>
          </a:prstGeom>
          <a:noFill/>
          <a:ln/>
        </p:spPr>
        <p:txBody>
          <a:bodyPr wrap="square" lIns="0" tIns="0" rIns="0" bIns="0" rtlCol="0" anchor="ctr"/>
          <a:lstStyle/>
          <a:p>
            <a:pPr indent="0" marL="0">
              <a:buNone/>
            </a:pPr>
            <a:r>
              <a:rPr lang="en-US" sz="1200" dirty="0">
                <a:solidFill>
                  <a:srgbClr val="16202B"/>
                </a:solidFill>
                <a:latin typeface="Courier New" pitchFamily="34" charset="0"/>
                <a:ea typeface="Courier New" pitchFamily="34" charset="-122"/>
                <a:cs typeface="Courier New" pitchFamily="34" charset="-120"/>
              </a:rPr>
              <a:t>winget install -e --id Helm.Helm</a:t>
            </a:r>
            <a:endParaRPr lang="en-US" sz="1200" dirty="0"/>
          </a:p>
        </p:txBody>
      </p:sp>
      <p:sp>
        <p:nvSpPr>
          <p:cNvPr id="20" name="Shape 18"/>
          <p:cNvSpPr/>
          <p:nvPr/>
        </p:nvSpPr>
        <p:spPr>
          <a:xfrm>
            <a:off x="548640" y="4956048"/>
            <a:ext cx="11094415" cy="713232"/>
          </a:xfrm>
          <a:prstGeom prst="roundRect">
            <a:avLst>
              <a:gd name="adj" fmla="val 7692"/>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777240" y="4956048"/>
            <a:ext cx="2011680" cy="713232"/>
          </a:xfrm>
          <a:prstGeom prst="rect">
            <a:avLst/>
          </a:prstGeom>
          <a:noFill/>
          <a:ln/>
        </p:spPr>
        <p:txBody>
          <a:bodyPr wrap="square" lIns="0" tIns="0" rIns="0" bIns="0" rtlCol="0" anchor="ctr"/>
          <a:lstStyle/>
          <a:p>
            <a:pPr indent="0" marL="0">
              <a:buNone/>
            </a:pPr>
            <a:r>
              <a:rPr lang="en-US" sz="1700" b="1" dirty="0">
                <a:solidFill>
                  <a:srgbClr val="16202B"/>
                </a:solidFill>
                <a:latin typeface="Calibri" pitchFamily="34" charset="0"/>
                <a:ea typeface="Calibri" pitchFamily="34" charset="-122"/>
                <a:cs typeface="Calibri" pitchFamily="34" charset="-120"/>
              </a:rPr>
              <a:t>k9s</a:t>
            </a:r>
            <a:endParaRPr lang="en-US" sz="1700" dirty="0"/>
          </a:p>
        </p:txBody>
      </p:sp>
      <p:sp>
        <p:nvSpPr>
          <p:cNvPr id="22" name="Text 20">
            <a:hlinkClick r:id="rId5" tooltip=""/>
          </p:cNvPr>
          <p:cNvSpPr txBox="1"/>
          <p:nvPr/>
        </p:nvSpPr>
        <p:spPr>
          <a:xfrm>
            <a:off x="2788920" y="4956048"/>
            <a:ext cx="4480560" cy="713232"/>
          </a:xfrm>
          <a:prstGeom prst="rect">
            <a:avLst/>
          </a:prstGeom>
          <a:noFill/>
          <a:ln/>
        </p:spPr>
        <p:txBody>
          <a:bodyPr wrap="square" lIns="0" tIns="0" rIns="0" bIns="0" rtlCol="0" anchor="ctr"/>
          <a:lstStyle/>
          <a:p>
            <a:pPr indent="0" marL="0">
              <a:buNone/>
            </a:pPr>
            <a:r>
              <a:rPr lang="en-US" sz="1300" u="sng" dirty="0">
                <a:solidFill>
                  <a:srgbClr val="3762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https://k9scli.io</a:t>
            </a:r>
            <a:endParaRPr lang="en-US" sz="1300" dirty="0"/>
          </a:p>
        </p:txBody>
      </p:sp>
      <p:sp>
        <p:nvSpPr>
          <p:cNvPr id="23" name="Text 21"/>
          <p:cNvSpPr txBox="1"/>
          <p:nvPr/>
        </p:nvSpPr>
        <p:spPr>
          <a:xfrm>
            <a:off x="7269480" y="4956048"/>
            <a:ext cx="4206240" cy="713232"/>
          </a:xfrm>
          <a:prstGeom prst="rect">
            <a:avLst/>
          </a:prstGeom>
          <a:noFill/>
          <a:ln/>
        </p:spPr>
        <p:txBody>
          <a:bodyPr wrap="square" lIns="0" tIns="0" rIns="0" bIns="0" rtlCol="0" anchor="ctr"/>
          <a:lstStyle/>
          <a:p>
            <a:pPr indent="0" marL="0">
              <a:buNone/>
            </a:pPr>
            <a:r>
              <a:rPr lang="en-US" sz="1200" dirty="0">
                <a:solidFill>
                  <a:srgbClr val="16202B"/>
                </a:solidFill>
                <a:latin typeface="Courier New" pitchFamily="34" charset="0"/>
                <a:ea typeface="Courier New" pitchFamily="34" charset="-122"/>
                <a:cs typeface="Courier New" pitchFamily="34" charset="-120"/>
              </a:rPr>
              <a:t>winget install -e --id Derailed.k9s</a:t>
            </a:r>
            <a:endParaRPr lang="en-US" sz="1200" dirty="0"/>
          </a:p>
        </p:txBody>
      </p:sp>
      <p:sp>
        <p:nvSpPr>
          <p:cNvPr id="24" name="Text 22"/>
          <p:cNvSpPr txBox="1"/>
          <p:nvPr/>
        </p:nvSpPr>
        <p:spPr>
          <a:xfrm>
            <a:off x="548640" y="5897880"/>
            <a:ext cx="11094415" cy="548640"/>
          </a:xfrm>
          <a:prstGeom prst="rect">
            <a:avLst/>
          </a:prstGeom>
          <a:noFill/>
          <a:ln/>
        </p:spPr>
        <p:txBody>
          <a:bodyPr wrap="square" lIns="0" tIns="0" rIns="0" bIns="0" rtlCol="0" anchor="t"/>
          <a:lstStyle/>
          <a:p>
            <a:pPr indent="0" marL="0">
              <a:lnSpc>
                <a:spcPct val="120000"/>
              </a:lnSpc>
              <a:buNone/>
            </a:pPr>
            <a:r>
              <a:rPr lang="en-US" sz="1200" dirty="0">
                <a:solidFill>
                  <a:srgbClr val="6A7179"/>
                </a:solidFill>
                <a:latin typeface="Arial" pitchFamily="34" charset="0"/>
                <a:ea typeface="Arial" pitchFamily="34" charset="-122"/>
                <a:cs typeface="Arial" pitchFamily="34" charset="-120"/>
              </a:rPr>
              <a:t>winget finns inbyggt i Windows 10/11. Alternativ: choco install k3d kubernetes-cli kubernetes-helm k9s. Docker Desktop har även en egen kubectl - det gör inget att ha två.</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Installation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Från tom Windows-maskin till fungerande verktyg - vi gör det tillsammans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INSTALLATION · STEG 0</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Förutsättningar</a:t>
            </a:r>
            <a:endParaRPr lang="en-US" sz="3000" dirty="0"/>
          </a:p>
        </p:txBody>
      </p:sp>
      <p:sp>
        <p:nvSpPr>
          <p:cNvPr id="4" name="Shape 2"/>
          <p:cNvSpPr/>
          <p:nvPr/>
        </p:nvSpPr>
        <p:spPr>
          <a:xfrm>
            <a:off x="548640" y="1600200"/>
            <a:ext cx="3593592"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013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Windows 10/11, 64-bit</a:t>
            </a:r>
            <a:endParaRPr lang="en-US" sz="1600" dirty="0"/>
          </a:p>
        </p:txBody>
      </p:sp>
      <p:sp>
        <p:nvSpPr>
          <p:cNvPr id="6" name="Text 4"/>
          <p:cNvSpPr txBox="1"/>
          <p:nvPr/>
        </p:nvSpPr>
        <p:spPr>
          <a:xfrm>
            <a:off x="749808" y="218541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Med winget (App Installer). Testa: winget --version</a:t>
            </a:r>
            <a:endParaRPr lang="en-US" sz="1300" dirty="0"/>
          </a:p>
        </p:txBody>
      </p:sp>
      <p:sp>
        <p:nvSpPr>
          <p:cNvPr id="7" name="Shape 5"/>
          <p:cNvSpPr/>
          <p:nvPr/>
        </p:nvSpPr>
        <p:spPr>
          <a:xfrm>
            <a:off x="4297680" y="1600200"/>
            <a:ext cx="3593592"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8848" y="18013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WSL2</a:t>
            </a:r>
            <a:endParaRPr lang="en-US" sz="1600" dirty="0"/>
          </a:p>
        </p:txBody>
      </p:sp>
      <p:sp>
        <p:nvSpPr>
          <p:cNvPr id="9" name="Text 7"/>
          <p:cNvSpPr txBox="1"/>
          <p:nvPr/>
        </p:nvSpPr>
        <p:spPr>
          <a:xfrm>
            <a:off x="4498848" y="218541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Installera med wsl --install i en admin-terminal, starta om datorn.</a:t>
            </a:r>
            <a:endParaRPr lang="en-US" sz="1300" dirty="0"/>
          </a:p>
        </p:txBody>
      </p:sp>
      <p:sp>
        <p:nvSpPr>
          <p:cNvPr id="10" name="Shape 8"/>
          <p:cNvSpPr/>
          <p:nvPr/>
        </p:nvSpPr>
        <p:spPr>
          <a:xfrm>
            <a:off x="8046720" y="1600200"/>
            <a:ext cx="3593592"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247888" y="18013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Virtualisering på</a:t>
            </a:r>
            <a:endParaRPr lang="en-US" sz="1600" dirty="0"/>
          </a:p>
        </p:txBody>
      </p:sp>
      <p:sp>
        <p:nvSpPr>
          <p:cNvPr id="12" name="Text 10"/>
          <p:cNvSpPr txBox="1"/>
          <p:nvPr/>
        </p:nvSpPr>
        <p:spPr>
          <a:xfrm>
            <a:off x="8247888" y="218541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Aktiverat i BIOS/UEFI. Syns i Aktivitetshanteraren → Prestanda → CPU.</a:t>
            </a:r>
            <a:endParaRPr lang="en-US" sz="1300" dirty="0"/>
          </a:p>
        </p:txBody>
      </p:sp>
      <p:sp>
        <p:nvSpPr>
          <p:cNvPr id="13" name="Shape 11"/>
          <p:cNvSpPr/>
          <p:nvPr/>
        </p:nvSpPr>
        <p:spPr>
          <a:xfrm>
            <a:off x="548640" y="3520440"/>
            <a:ext cx="3593592"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49808" y="372160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8 GB RAM eller mer</a:t>
            </a:r>
            <a:endParaRPr lang="en-US" sz="1600" dirty="0"/>
          </a:p>
        </p:txBody>
      </p:sp>
      <p:sp>
        <p:nvSpPr>
          <p:cNvPr id="15" name="Text 13"/>
          <p:cNvSpPr txBox="1"/>
          <p:nvPr/>
        </p:nvSpPr>
        <p:spPr>
          <a:xfrm>
            <a:off x="749808" y="410565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Docker Desktop + klustret tar 2-4 GB i vila.</a:t>
            </a:r>
            <a:endParaRPr lang="en-US" sz="1300" dirty="0"/>
          </a:p>
        </p:txBody>
      </p:sp>
      <p:sp>
        <p:nvSpPr>
          <p:cNvPr id="16" name="Shape 14"/>
          <p:cNvSpPr/>
          <p:nvPr/>
        </p:nvSpPr>
        <p:spPr>
          <a:xfrm>
            <a:off x="4297680" y="3520440"/>
            <a:ext cx="3593592" cy="1691640"/>
          </a:xfrm>
          <a:prstGeom prst="roundRect">
            <a:avLst>
              <a:gd name="adj" fmla="val 3243"/>
            </a:avLst>
          </a:prstGeom>
          <a:solidFill>
            <a:srgbClr val="3762FF"/>
          </a:solidFill>
          <a:ln w="12700">
            <a:solidFill>
              <a:srgbClr val="3762FF"/>
            </a:solidFill>
            <a:prstDash val="solid"/>
          </a:ln>
        </p:spPr>
      </p:sp>
      <p:sp>
        <p:nvSpPr>
          <p:cNvPr id="17" name="Text 15"/>
          <p:cNvSpPr txBox="1"/>
          <p:nvPr/>
        </p:nvSpPr>
        <p:spPr>
          <a:xfrm>
            <a:off x="4498848" y="3721608"/>
            <a:ext cx="3191256"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Lediga portar</a:t>
            </a:r>
            <a:endParaRPr lang="en-US" sz="1600" dirty="0"/>
          </a:p>
        </p:txBody>
      </p:sp>
      <p:sp>
        <p:nvSpPr>
          <p:cNvPr id="18" name="Text 16"/>
          <p:cNvSpPr txBox="1"/>
          <p:nvPr/>
        </p:nvSpPr>
        <p:spPr>
          <a:xfrm>
            <a:off x="4498848" y="410565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80, 443, 5000, 6443, 3306, 4222, 8222 och 6379 får inte vara upptagna.</a:t>
            </a:r>
            <a:endParaRPr lang="en-US" sz="1300" dirty="0"/>
          </a:p>
        </p:txBody>
      </p:sp>
      <p:sp>
        <p:nvSpPr>
          <p:cNvPr id="19" name="Shape 17"/>
          <p:cNvSpPr/>
          <p:nvPr/>
        </p:nvSpPr>
        <p:spPr>
          <a:xfrm>
            <a:off x="8046720" y="3520440"/>
            <a:ext cx="3593592"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8247888" y="372160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Admin-rättigheter</a:t>
            </a:r>
            <a:endParaRPr lang="en-US" sz="1600" dirty="0"/>
          </a:p>
        </p:txBody>
      </p:sp>
      <p:sp>
        <p:nvSpPr>
          <p:cNvPr id="21" name="Text 19"/>
          <p:cNvSpPr txBox="1"/>
          <p:nvPr/>
        </p:nvSpPr>
        <p:spPr>
          <a:xfrm>
            <a:off x="8247888" y="4105656"/>
            <a:ext cx="3191256"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Krävs för installation av Docker Desktop och WSL2.</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INSTALLATION · STEG 1</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Installera Docker Desktop</a:t>
            </a:r>
            <a:endParaRPr lang="en-US" sz="3000" dirty="0"/>
          </a:p>
        </p:txBody>
      </p:sp>
      <p:sp>
        <p:nvSpPr>
          <p:cNvPr id="4" name="Shape 2"/>
          <p:cNvSpPr/>
          <p:nvPr/>
        </p:nvSpPr>
        <p:spPr>
          <a:xfrm>
            <a:off x="548640" y="1600200"/>
            <a:ext cx="6035040" cy="2926080"/>
          </a:xfrm>
          <a:prstGeom prst="roundRect">
            <a:avLst>
              <a:gd name="adj" fmla="val 187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6479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6479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6479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91640"/>
            <a:ext cx="502920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57400"/>
            <a:ext cx="5577840" cy="233172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-e --id Docker.DockerDesktop</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Starta Docker Desktop, vänta på</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"Engine running". Sedan: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docker version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docker run --rm hello-world</a:t>
            </a:r>
            <a:endParaRPr lang="en-US" sz="1300" dirty="0"/>
          </a:p>
        </p:txBody>
      </p:sp>
      <p:sp>
        <p:nvSpPr>
          <p:cNvPr id="10" name="Shape 8"/>
          <p:cNvSpPr/>
          <p:nvPr/>
        </p:nvSpPr>
        <p:spPr>
          <a:xfrm>
            <a:off x="6949440" y="1600200"/>
            <a:ext cx="4693615" cy="132588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150608" y="1801368"/>
            <a:ext cx="429127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Use the WSL 2 based engine</a:t>
            </a:r>
            <a:endParaRPr lang="en-US" sz="1600" dirty="0"/>
          </a:p>
        </p:txBody>
      </p:sp>
      <p:sp>
        <p:nvSpPr>
          <p:cNvPr id="12" name="Text 10"/>
          <p:cNvSpPr txBox="1"/>
          <p:nvPr/>
        </p:nvSpPr>
        <p:spPr>
          <a:xfrm>
            <a:off x="7150608" y="2185416"/>
            <a:ext cx="4291279" cy="5852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Settings → General. Ska vara ikryssad (standard).</a:t>
            </a:r>
            <a:endParaRPr lang="en-US" sz="1300" dirty="0"/>
          </a:p>
        </p:txBody>
      </p:sp>
      <p:sp>
        <p:nvSpPr>
          <p:cNvPr id="13" name="Shape 11"/>
          <p:cNvSpPr/>
          <p:nvPr/>
        </p:nvSpPr>
        <p:spPr>
          <a:xfrm>
            <a:off x="6949440" y="3108960"/>
            <a:ext cx="4693615" cy="1417320"/>
          </a:xfrm>
          <a:prstGeom prst="roundRect">
            <a:avLst>
              <a:gd name="adj" fmla="val 3871"/>
            </a:avLst>
          </a:prstGeom>
          <a:solidFill>
            <a:srgbClr val="3762FF"/>
          </a:solidFill>
          <a:ln w="12700">
            <a:solidFill>
              <a:srgbClr val="3762FF"/>
            </a:solidFill>
            <a:prstDash val="solid"/>
          </a:ln>
        </p:spPr>
      </p:sp>
      <p:sp>
        <p:nvSpPr>
          <p:cNvPr id="14" name="Text 12"/>
          <p:cNvSpPr txBox="1"/>
          <p:nvPr/>
        </p:nvSpPr>
        <p:spPr>
          <a:xfrm>
            <a:off x="7150608" y="3310128"/>
            <a:ext cx="4291279"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Kubernetes i Docker Desktop: AV</a:t>
            </a:r>
            <a:endParaRPr lang="en-US" sz="1600" dirty="0"/>
          </a:p>
        </p:txBody>
      </p:sp>
      <p:sp>
        <p:nvSpPr>
          <p:cNvPr id="15" name="Text 13"/>
          <p:cNvSpPr txBox="1"/>
          <p:nvPr/>
        </p:nvSpPr>
        <p:spPr>
          <a:xfrm>
            <a:off x="7150608" y="3694176"/>
            <a:ext cx="4291279" cy="6766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Settings → Kubernetes. Vi kör k3d istället - två kluster samtidigt ger bara förvirring.</a:t>
            </a:r>
            <a:endParaRPr lang="en-US" sz="1300" dirty="0"/>
          </a:p>
        </p:txBody>
      </p:sp>
      <p:sp>
        <p:nvSpPr>
          <p:cNvPr id="16" name="Shape 14"/>
          <p:cNvSpPr/>
          <p:nvPr/>
        </p:nvSpPr>
        <p:spPr>
          <a:xfrm>
            <a:off x="548640" y="4892040"/>
            <a:ext cx="11094415" cy="914400"/>
          </a:xfrm>
          <a:prstGeom prst="roundRect">
            <a:avLst>
              <a:gd name="adj" fmla="val 6000"/>
            </a:avLst>
          </a:prstGeom>
          <a:solidFill>
            <a:srgbClr val="E8EDFF"/>
          </a:solidFill>
          <a:ln w="12700">
            <a:solidFill>
              <a:srgbClr val="E8EDFF"/>
            </a:solidFill>
            <a:prstDash val="solid"/>
          </a:ln>
        </p:spPr>
      </p:sp>
      <p:sp>
        <p:nvSpPr>
          <p:cNvPr id="17" name="Text 15"/>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500" b="1" dirty="0">
                <a:solidFill>
                  <a:srgbClr val="16202B"/>
                </a:solidFill>
                <a:latin typeface="Arial" pitchFamily="34" charset="0"/>
                <a:ea typeface="Arial" pitchFamily="34" charset="-122"/>
                <a:cs typeface="Arial" pitchFamily="34" charset="-120"/>
              </a:rPr>
              <a:t>Klart när: </a:t>
            </a:r>
            <a:pPr indent="0" marL="0">
              <a:buNone/>
            </a:pPr>
            <a:r>
              <a:rPr lang="en-US" sz="1500" dirty="0">
                <a:solidFill>
                  <a:srgbClr val="4A5568"/>
                </a:solidFill>
                <a:latin typeface="Arial" pitchFamily="34" charset="0"/>
                <a:ea typeface="Arial" pitchFamily="34" charset="-122"/>
                <a:cs typeface="Arial" pitchFamily="34" charset="-120"/>
              </a:rPr>
              <a:t>docker run hello-world skriver "Hello from Docker!". Då kan Docker hämta images och köra containrar.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INSTALLATION · STEG 2</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Installera CLI-verktygen</a:t>
            </a:r>
            <a:endParaRPr lang="en-US" sz="3000" dirty="0"/>
          </a:p>
        </p:txBody>
      </p:sp>
      <p:sp>
        <p:nvSpPr>
          <p:cNvPr id="4" name="Shape 2"/>
          <p:cNvSpPr/>
          <p:nvPr/>
        </p:nvSpPr>
        <p:spPr>
          <a:xfrm>
            <a:off x="548640" y="1600200"/>
            <a:ext cx="6035040" cy="3017520"/>
          </a:xfrm>
          <a:prstGeom prst="roundRect">
            <a:avLst>
              <a:gd name="adj" fmla="val 1818"/>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6479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6479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6479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91640"/>
            <a:ext cx="502920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57400"/>
            <a:ext cx="5577840" cy="242316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-e --id k3d.k3d</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-e --id Kubernetes.kubectl</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-e --id Helm.Helm</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-e --id Derailed.k9s</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Stäng terminalen, öppna en ny</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(så att PATH uppdateras)</a:t>
            </a:r>
            <a:endParaRPr lang="en-US" sz="1300" dirty="0"/>
          </a:p>
        </p:txBody>
      </p:sp>
      <p:sp>
        <p:nvSpPr>
          <p:cNvPr id="10" name="Shape 8"/>
          <p:cNvSpPr/>
          <p:nvPr/>
        </p:nvSpPr>
        <p:spPr>
          <a:xfrm>
            <a:off x="6766560" y="1600200"/>
            <a:ext cx="4876495" cy="3017520"/>
          </a:xfrm>
          <a:prstGeom prst="roundRect">
            <a:avLst>
              <a:gd name="adj" fmla="val 1818"/>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6967728" y="1764792"/>
            <a:ext cx="109728" cy="109728"/>
          </a:xfrm>
          <a:prstGeom prst="ellipse">
            <a:avLst/>
          </a:prstGeom>
          <a:solidFill>
            <a:srgbClr val="D64545"/>
          </a:solidFill>
          <a:ln w="12700">
            <a:solidFill>
              <a:srgbClr val="D64545"/>
            </a:solidFill>
            <a:prstDash val="solid"/>
          </a:ln>
        </p:spPr>
      </p:sp>
      <p:sp>
        <p:nvSpPr>
          <p:cNvPr id="12" name="Shape 10"/>
          <p:cNvSpPr/>
          <p:nvPr/>
        </p:nvSpPr>
        <p:spPr>
          <a:xfrm>
            <a:off x="7150608" y="1764792"/>
            <a:ext cx="109728" cy="109728"/>
          </a:xfrm>
          <a:prstGeom prst="ellipse">
            <a:avLst/>
          </a:prstGeom>
          <a:solidFill>
            <a:srgbClr val="FFB020"/>
          </a:solidFill>
          <a:ln w="12700">
            <a:solidFill>
              <a:srgbClr val="FFB020"/>
            </a:solidFill>
            <a:prstDash val="solid"/>
          </a:ln>
        </p:spPr>
      </p:sp>
      <p:sp>
        <p:nvSpPr>
          <p:cNvPr id="13" name="Shape 11"/>
          <p:cNvSpPr/>
          <p:nvPr/>
        </p:nvSpPr>
        <p:spPr>
          <a:xfrm>
            <a:off x="7333488" y="1764792"/>
            <a:ext cx="109728" cy="109728"/>
          </a:xfrm>
          <a:prstGeom prst="ellipse">
            <a:avLst/>
          </a:prstGeom>
          <a:solidFill>
            <a:srgbClr val="3CB371"/>
          </a:solidFill>
          <a:ln w="12700">
            <a:solidFill>
              <a:srgbClr val="3CB371"/>
            </a:solidFill>
            <a:prstDash val="solid"/>
          </a:ln>
        </p:spPr>
      </p:sp>
      <p:sp>
        <p:nvSpPr>
          <p:cNvPr id="14" name="Text 12"/>
          <p:cNvSpPr txBox="1"/>
          <p:nvPr/>
        </p:nvSpPr>
        <p:spPr>
          <a:xfrm>
            <a:off x="7589520" y="1691640"/>
            <a:ext cx="3870655"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verifiera</a:t>
            </a:r>
            <a:endParaRPr lang="en-US" sz="1100" dirty="0"/>
          </a:p>
        </p:txBody>
      </p:sp>
      <p:sp>
        <p:nvSpPr>
          <p:cNvPr id="15" name="Text 13"/>
          <p:cNvSpPr txBox="1"/>
          <p:nvPr/>
        </p:nvSpPr>
        <p:spPr>
          <a:xfrm>
            <a:off x="6995160" y="2057400"/>
            <a:ext cx="4419295" cy="242316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k3d version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version --client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helm version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k9s version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Alla fyra ska svara med</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ett versionsnummer</a:t>
            </a:r>
            <a:endParaRPr lang="en-US" sz="1300" dirty="0"/>
          </a:p>
        </p:txBody>
      </p:sp>
      <p:sp>
        <p:nvSpPr>
          <p:cNvPr id="16" name="Shape 14"/>
          <p:cNvSpPr/>
          <p:nvPr/>
        </p:nvSpPr>
        <p:spPr>
          <a:xfrm>
            <a:off x="6601968" y="3108960"/>
            <a:ext cx="146304" cy="0"/>
          </a:xfrm>
          <a:prstGeom prst="line">
            <a:avLst/>
          </a:prstGeom>
          <a:noFill/>
          <a:ln w="19050">
            <a:solidFill>
              <a:srgbClr val="3762FF"/>
            </a:solidFill>
            <a:prstDash val="solid"/>
            <a:tailEnd type="triangle"/>
          </a:ln>
        </p:spPr>
      </p:sp>
      <p:sp>
        <p:nvSpPr>
          <p:cNvPr id="17" name="Shape 15"/>
          <p:cNvSpPr/>
          <p:nvPr/>
        </p:nvSpPr>
        <p:spPr>
          <a:xfrm>
            <a:off x="548640" y="4937760"/>
            <a:ext cx="11094415" cy="914400"/>
          </a:xfrm>
          <a:prstGeom prst="roundRect">
            <a:avLst>
              <a:gd name="adj" fmla="val 6000"/>
            </a:avLst>
          </a:prstGeom>
          <a:solidFill>
            <a:srgbClr val="E8EDFF"/>
          </a:solidFill>
          <a:ln w="12700">
            <a:solidFill>
              <a:srgbClr val="E8EDFF"/>
            </a:solidFill>
            <a:prstDash val="solid"/>
          </a:ln>
        </p:spPr>
      </p:sp>
      <p:sp>
        <p:nvSpPr>
          <p:cNvPr id="18" name="Text 16"/>
          <p:cNvSpPr txBox="1"/>
          <p:nvPr/>
        </p:nvSpPr>
        <p:spPr>
          <a:xfrm>
            <a:off x="822960" y="4937760"/>
            <a:ext cx="10545775" cy="914400"/>
          </a:xfrm>
          <a:prstGeom prst="rect">
            <a:avLst/>
          </a:prstGeom>
          <a:noFill/>
          <a:ln/>
        </p:spPr>
        <p:txBody>
          <a:bodyPr wrap="square" lIns="0" tIns="0" rIns="0" bIns="0" rtlCol="0" anchor="ctr"/>
          <a:lstStyle/>
          <a:p>
            <a:pPr indent="0" marL="0">
              <a:buNone/>
            </a:pPr>
            <a:r>
              <a:rPr lang="en-US" sz="1500" b="1" dirty="0">
                <a:solidFill>
                  <a:srgbClr val="16202B"/>
                </a:solidFill>
                <a:latin typeface="Arial" pitchFamily="34" charset="0"/>
                <a:ea typeface="Arial" pitchFamily="34" charset="-122"/>
                <a:cs typeface="Arial" pitchFamily="34" charset="-120"/>
              </a:rPr>
              <a:t>Klart när: </a:t>
            </a:r>
            <a:pPr indent="0" marL="0">
              <a:buNone/>
            </a:pPr>
            <a:r>
              <a:rPr lang="en-US" sz="1500" dirty="0">
                <a:solidFill>
                  <a:srgbClr val="4A5568"/>
                </a:solidFill>
                <a:latin typeface="Arial" pitchFamily="34" charset="0"/>
                <a:ea typeface="Arial" pitchFamily="34" charset="-122"/>
                <a:cs typeface="Arial" pitchFamily="34" charset="-120"/>
              </a:rPr>
              <a:t>alla fyra versionskommandon svarar. "is not recognized" = öppna en ny terminal.</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INSTALLATION · STEG 3</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Förbered mappar och config-fil</a:t>
            </a:r>
            <a:endParaRPr lang="en-US" sz="3000" dirty="0"/>
          </a:p>
        </p:txBody>
      </p:sp>
      <p:sp>
        <p:nvSpPr>
          <p:cNvPr id="4" name="Shape 2"/>
          <p:cNvSpPr/>
          <p:nvPr/>
        </p:nvSpPr>
        <p:spPr>
          <a:xfrm>
            <a:off x="548640" y="1600200"/>
            <a:ext cx="6766560" cy="2743200"/>
          </a:xfrm>
          <a:prstGeom prst="roundRect">
            <a:avLst>
              <a:gd name="adj" fmla="val 2000"/>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6479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6479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6479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91640"/>
            <a:ext cx="57607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57400"/>
            <a:ext cx="6309360" cy="2148840"/>
          </a:xfrm>
          <a:prstGeom prst="rect">
            <a:avLst/>
          </a:prstGeom>
          <a:noFill/>
          <a:ln/>
        </p:spPr>
        <p:txBody>
          <a:bodyPr wrap="square" lIns="0" tIns="0" rIns="0" bIns="0" rtlCol="0" anchor="t"/>
          <a:lstStyle/>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Delad lagring för klustret och registryt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mkdir C:\data\shared\k8s</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mkdir C:\data\shared\registry</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i="1" dirty="0">
                <a:solidFill>
                  <a:srgbClr val="B9C4D1"/>
                </a:solidFill>
                <a:latin typeface="Courier New" pitchFamily="34" charset="0"/>
                <a:ea typeface="Courier New" pitchFamily="34" charset="-122"/>
                <a:cs typeface="Courier New" pitchFamily="34" charset="-120"/>
              </a:rPr>
              <a:t># Arbetsmapp för config-filen</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mkdir C:\k3d ; cd C:\k3d</a:t>
            </a:r>
            <a:endParaRPr lang="en-US" sz="1300" dirty="0"/>
          </a:p>
        </p:txBody>
      </p:sp>
      <p:sp>
        <p:nvSpPr>
          <p:cNvPr id="10" name="Shape 8"/>
          <p:cNvSpPr/>
          <p:nvPr/>
        </p:nvSpPr>
        <p:spPr>
          <a:xfrm>
            <a:off x="7680960" y="1600200"/>
            <a:ext cx="3962095" cy="12801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882128" y="1801368"/>
            <a:ext cx="355975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C:\data\shared\k8s</a:t>
            </a:r>
            <a:endParaRPr lang="en-US" sz="1600" dirty="0"/>
          </a:p>
        </p:txBody>
      </p:sp>
      <p:sp>
        <p:nvSpPr>
          <p:cNvPr id="12" name="Text 10"/>
          <p:cNvSpPr txBox="1"/>
          <p:nvPr/>
        </p:nvSpPr>
        <p:spPr>
          <a:xfrm>
            <a:off x="7882128" y="2185416"/>
            <a:ext cx="3559759" cy="5394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Monteras i noden som /data/shared/k8s. Här hamnar data från PVC:er.</a:t>
            </a:r>
            <a:endParaRPr lang="en-US" sz="1300" dirty="0"/>
          </a:p>
        </p:txBody>
      </p:sp>
      <p:sp>
        <p:nvSpPr>
          <p:cNvPr id="13" name="Shape 11"/>
          <p:cNvSpPr/>
          <p:nvPr/>
        </p:nvSpPr>
        <p:spPr>
          <a:xfrm>
            <a:off x="7680960" y="3063240"/>
            <a:ext cx="3962095" cy="128016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882128" y="3264408"/>
            <a:ext cx="355975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C:\data\shared\registry</a:t>
            </a:r>
            <a:endParaRPr lang="en-US" sz="1600" dirty="0"/>
          </a:p>
        </p:txBody>
      </p:sp>
      <p:sp>
        <p:nvSpPr>
          <p:cNvPr id="15" name="Text 13"/>
          <p:cNvSpPr txBox="1"/>
          <p:nvPr/>
        </p:nvSpPr>
        <p:spPr>
          <a:xfrm>
            <a:off x="7882128" y="3648456"/>
            <a:ext cx="3559759" cy="53949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Registryts images överlever att klustret raderas.</a:t>
            </a:r>
            <a:endParaRPr lang="en-US" sz="1300" dirty="0"/>
          </a:p>
        </p:txBody>
      </p:sp>
      <p:sp>
        <p:nvSpPr>
          <p:cNvPr id="16" name="Shape 14"/>
          <p:cNvSpPr/>
          <p:nvPr/>
        </p:nvSpPr>
        <p:spPr>
          <a:xfrm>
            <a:off x="548640" y="4709160"/>
            <a:ext cx="11094415" cy="1005840"/>
          </a:xfrm>
          <a:prstGeom prst="roundRect">
            <a:avLst>
              <a:gd name="adj" fmla="val 5455"/>
            </a:avLst>
          </a:prstGeom>
          <a:solidFill>
            <a:srgbClr val="3762FF"/>
          </a:solidFill>
          <a:ln w="12700">
            <a:solidFill>
              <a:srgbClr val="3762FF"/>
            </a:solidFill>
            <a:prstDash val="solid"/>
          </a:ln>
        </p:spPr>
      </p:sp>
      <p:sp>
        <p:nvSpPr>
          <p:cNvPr id="17" name="Text 15"/>
          <p:cNvSpPr txBox="1"/>
          <p:nvPr/>
        </p:nvSpPr>
        <p:spPr>
          <a:xfrm>
            <a:off x="822960" y="4709160"/>
            <a:ext cx="10545775" cy="10058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Kopiera k3d-install.yaml till C:\k3d</a:t>
            </a:r>
            <a:pPr indent="0" marL="0">
              <a:buNone/>
            </a:pPr>
            <a:r>
              <a:rPr lang="en-US" sz="1400" dirty="0">
                <a:solidFill>
                  <a:srgbClr val="FFFFFF"/>
                </a:solidFill>
                <a:latin typeface="Arial" pitchFamily="34" charset="0"/>
                <a:ea typeface="Arial" pitchFamily="34" charset="-122"/>
                <a:cs typeface="Arial" pitchFamily="34" charset="-120"/>
              </a:rPr>
              <a:t>  - filen delas ut av läraren. Den beskriver hela klustret, och vi går igenom den rad för rad härnäst.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Klustret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Vi läser k3d-install.yaml och skapar klustret "home"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KLUSTRET · CONFIG DEL 1</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k3d-install.yaml: klustrets grund</a:t>
            </a:r>
            <a:endParaRPr lang="en-US" sz="3000" dirty="0"/>
          </a:p>
        </p:txBody>
      </p:sp>
      <p:sp>
        <p:nvSpPr>
          <p:cNvPr id="4" name="Shape 2"/>
          <p:cNvSpPr/>
          <p:nvPr/>
        </p:nvSpPr>
        <p:spPr>
          <a:xfrm>
            <a:off x="548640" y="1554480"/>
            <a:ext cx="6309360" cy="4572000"/>
          </a:xfrm>
          <a:prstGeom prst="roundRect">
            <a:avLst>
              <a:gd name="adj" fmla="val 1200"/>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3035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k3d-install.yaml</a:t>
            </a:r>
            <a:endParaRPr lang="en-US" sz="1100" dirty="0"/>
          </a:p>
        </p:txBody>
      </p:sp>
      <p:sp>
        <p:nvSpPr>
          <p:cNvPr id="9" name="Text 7"/>
          <p:cNvSpPr txBox="1"/>
          <p:nvPr/>
        </p:nvSpPr>
        <p:spPr>
          <a:xfrm>
            <a:off x="777240" y="2011680"/>
            <a:ext cx="5852160" cy="397764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apiVersion:</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k3d.io/v1alpha5</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kind:</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Simple</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metadata:</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name:</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home</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image:</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rancher/k3s:v1.36.3-k3s1</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servers: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1</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kubeAPI:</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hostIP:</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"127.0.0.1"</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hostPort: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"6443"</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subnet: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"172.29.0.0/16"</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volumes: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volume:</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C:\data\shared\k8s:/data/shared/k8s</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nodeFilters: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[server:0, agent:*]</a:t>
            </a:r>
            <a:endParaRPr lang="en-US" sz="1200" dirty="0"/>
          </a:p>
        </p:txBody>
      </p:sp>
      <p:sp>
        <p:nvSpPr>
          <p:cNvPr id="10" name="Shape 8"/>
          <p:cNvSpPr/>
          <p:nvPr/>
        </p:nvSpPr>
        <p:spPr>
          <a:xfrm>
            <a:off x="7178040" y="1554480"/>
            <a:ext cx="4465015" cy="804672"/>
          </a:xfrm>
          <a:prstGeom prst="roundRect">
            <a:avLst>
              <a:gd name="adj" fmla="val 681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379208" y="17556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name: home</a:t>
            </a:r>
            <a:endParaRPr lang="en-US" sz="1400" dirty="0"/>
          </a:p>
        </p:txBody>
      </p:sp>
      <p:sp>
        <p:nvSpPr>
          <p:cNvPr id="12" name="Text 10"/>
          <p:cNvSpPr txBox="1"/>
          <p:nvPr/>
        </p:nvSpPr>
        <p:spPr>
          <a:xfrm>
            <a:off x="7379208" y="1984248"/>
            <a:ext cx="4062679"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Klustrets namn. Ger context "k3d-home" i kubeconfig.</a:t>
            </a:r>
            <a:endParaRPr lang="en-US" sz="1200" dirty="0"/>
          </a:p>
        </p:txBody>
      </p:sp>
      <p:sp>
        <p:nvSpPr>
          <p:cNvPr id="13" name="Shape 11"/>
          <p:cNvSpPr/>
          <p:nvPr/>
        </p:nvSpPr>
        <p:spPr>
          <a:xfrm>
            <a:off x="7178040" y="2468880"/>
            <a:ext cx="4465015" cy="804672"/>
          </a:xfrm>
          <a:prstGeom prst="roundRect">
            <a:avLst>
              <a:gd name="adj" fmla="val 681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379208" y="26700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image</a:t>
            </a:r>
            <a:endParaRPr lang="en-US" sz="1400" dirty="0"/>
          </a:p>
        </p:txBody>
      </p:sp>
      <p:sp>
        <p:nvSpPr>
          <p:cNvPr id="15" name="Text 13"/>
          <p:cNvSpPr txBox="1"/>
          <p:nvPr/>
        </p:nvSpPr>
        <p:spPr>
          <a:xfrm>
            <a:off x="7379208" y="2898648"/>
            <a:ext cx="4062679"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Låst k3s-version - alla får exakt samma Kubernetes.</a:t>
            </a:r>
            <a:endParaRPr lang="en-US" sz="1200" dirty="0"/>
          </a:p>
        </p:txBody>
      </p:sp>
      <p:sp>
        <p:nvSpPr>
          <p:cNvPr id="16" name="Shape 14"/>
          <p:cNvSpPr/>
          <p:nvPr/>
        </p:nvSpPr>
        <p:spPr>
          <a:xfrm>
            <a:off x="7178040" y="3383280"/>
            <a:ext cx="4465015" cy="804672"/>
          </a:xfrm>
          <a:prstGeom prst="roundRect">
            <a:avLst>
              <a:gd name="adj" fmla="val 681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379208" y="35844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servers / kubeAPI</a:t>
            </a:r>
            <a:endParaRPr lang="en-US" sz="1400" dirty="0"/>
          </a:p>
        </p:txBody>
      </p:sp>
      <p:sp>
        <p:nvSpPr>
          <p:cNvPr id="18" name="Text 16"/>
          <p:cNvSpPr txBox="1"/>
          <p:nvPr/>
        </p:nvSpPr>
        <p:spPr>
          <a:xfrm>
            <a:off x="7379208" y="3813048"/>
            <a:ext cx="4062679"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En nod. API:et nås på 127.0.0.1:6443 från Windows.</a:t>
            </a:r>
            <a:endParaRPr lang="en-US" sz="1200" dirty="0"/>
          </a:p>
        </p:txBody>
      </p:sp>
      <p:sp>
        <p:nvSpPr>
          <p:cNvPr id="19" name="Shape 17"/>
          <p:cNvSpPr/>
          <p:nvPr/>
        </p:nvSpPr>
        <p:spPr>
          <a:xfrm>
            <a:off x="7178040" y="4297680"/>
            <a:ext cx="4465015" cy="804672"/>
          </a:xfrm>
          <a:prstGeom prst="roundRect">
            <a:avLst>
              <a:gd name="adj" fmla="val 681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7379208" y="44988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subnet</a:t>
            </a:r>
            <a:endParaRPr lang="en-US" sz="1400" dirty="0"/>
          </a:p>
        </p:txBody>
      </p:sp>
      <p:sp>
        <p:nvSpPr>
          <p:cNvPr id="21" name="Text 19"/>
          <p:cNvSpPr txBox="1"/>
          <p:nvPr/>
        </p:nvSpPr>
        <p:spPr>
          <a:xfrm>
            <a:off x="7379208" y="4727448"/>
            <a:ext cx="4062679"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Eget Docker-nät, krockar inte med WSL2:s interna nät.</a:t>
            </a:r>
            <a:endParaRPr lang="en-US" sz="1200" dirty="0"/>
          </a:p>
        </p:txBody>
      </p:sp>
      <p:sp>
        <p:nvSpPr>
          <p:cNvPr id="22" name="Shape 20"/>
          <p:cNvSpPr/>
          <p:nvPr/>
        </p:nvSpPr>
        <p:spPr>
          <a:xfrm>
            <a:off x="7178040" y="5212080"/>
            <a:ext cx="4465015" cy="804672"/>
          </a:xfrm>
          <a:prstGeom prst="roundRect">
            <a:avLst>
              <a:gd name="adj" fmla="val 681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3" name="Text 21"/>
          <p:cNvSpPr txBox="1"/>
          <p:nvPr/>
        </p:nvSpPr>
        <p:spPr>
          <a:xfrm>
            <a:off x="7379208" y="54132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volumes</a:t>
            </a:r>
            <a:endParaRPr lang="en-US" sz="1400" dirty="0"/>
          </a:p>
        </p:txBody>
      </p:sp>
      <p:sp>
        <p:nvSpPr>
          <p:cNvPr id="24" name="Text 22"/>
          <p:cNvSpPr txBox="1"/>
          <p:nvPr/>
        </p:nvSpPr>
        <p:spPr>
          <a:xfrm>
            <a:off x="7379208" y="5641848"/>
            <a:ext cx="4062679" cy="320040"/>
          </a:xfrm>
          <a:prstGeom prst="rect">
            <a:avLst/>
          </a:prstGeom>
          <a:noFill/>
          <a:ln/>
        </p:spPr>
        <p:txBody>
          <a:bodyPr wrap="square" lIns="0" tIns="0" rIns="0" bIns="0" rtlCol="0" anchor="ctr"/>
          <a:lstStyle/>
          <a:p>
            <a:pPr indent="0" marL="0">
              <a:buNone/>
            </a:pPr>
            <a:r>
              <a:rPr lang="en-US" sz="1200" dirty="0">
                <a:solidFill>
                  <a:srgbClr val="4A5568"/>
                </a:solidFill>
                <a:latin typeface="Arial" pitchFamily="34" charset="0"/>
                <a:ea typeface="Arial" pitchFamily="34" charset="-122"/>
                <a:cs typeface="Arial" pitchFamily="34" charset="-120"/>
              </a:rPr>
              <a:t>Mappar Windows-mappen in i noden.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KLUSTRET · CONFIG DEL 2</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Portar, registry och k3s-flaggor</a:t>
            </a:r>
            <a:endParaRPr lang="en-US" sz="3000" dirty="0"/>
          </a:p>
        </p:txBody>
      </p:sp>
      <p:sp>
        <p:nvSpPr>
          <p:cNvPr id="4" name="Shape 2"/>
          <p:cNvSpPr/>
          <p:nvPr/>
        </p:nvSpPr>
        <p:spPr>
          <a:xfrm>
            <a:off x="548640" y="1554480"/>
            <a:ext cx="6309360" cy="4572000"/>
          </a:xfrm>
          <a:prstGeom prst="roundRect">
            <a:avLst>
              <a:gd name="adj" fmla="val 1200"/>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3035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k3d-install.yaml (förkortad)</a:t>
            </a:r>
            <a:endParaRPr lang="en-US" sz="1100" dirty="0"/>
          </a:p>
        </p:txBody>
      </p:sp>
      <p:sp>
        <p:nvSpPr>
          <p:cNvPr id="9" name="Text 7"/>
          <p:cNvSpPr txBox="1"/>
          <p:nvPr/>
        </p:nvSpPr>
        <p:spPr>
          <a:xfrm>
            <a:off x="777240" y="2011680"/>
            <a:ext cx="5852160" cy="397764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ports: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port: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80:80        # + 443 → loadbalancer</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port: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3306:3306    # + 4222, 8222, 6379</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nodeFilters: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[server:0]</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registries: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create:</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name:</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registry</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hostPort: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"5000"</a:t>
            </a:r>
            <a:endParaRPr lang="en-US" sz="1200" dirty="0"/>
          </a:p>
          <a:p>
            <a:pPr indent="0" marL="0">
              <a:lnSpc>
                <a:spcPct val="110000"/>
              </a:lnSpc>
              <a:buNone/>
            </a:pP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options: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k3d:</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 wait: true, timeout: "60s"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k3s: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extraArgs:</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arg:</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"--default-local-storage-path=..."</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kubeconfig:</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updateDefaultKubeconfig:</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true</a:t>
            </a:r>
            <a:endParaRPr lang="en-US" sz="1200" dirty="0"/>
          </a:p>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rgbClr val="7C9CFF"/>
                </a:solidFill>
                <a:latin typeface="Courier New" pitchFamily="34" charset="0"/>
                <a:ea typeface="Courier New" pitchFamily="34" charset="-122"/>
                <a:cs typeface="Courier New" pitchFamily="34" charset="-120"/>
              </a:rPr>
              <a:t>switchCurrentContext:</a:t>
            </a:r>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 true</a:t>
            </a:r>
            <a:endParaRPr lang="en-US" sz="1200" dirty="0"/>
          </a:p>
        </p:txBody>
      </p:sp>
      <p:sp>
        <p:nvSpPr>
          <p:cNvPr id="10" name="Shape 8"/>
          <p:cNvSpPr/>
          <p:nvPr/>
        </p:nvSpPr>
        <p:spPr>
          <a:xfrm>
            <a:off x="7178040" y="1554480"/>
            <a:ext cx="4465015" cy="1024128"/>
          </a:xfrm>
          <a:prstGeom prst="roundRect">
            <a:avLst>
              <a:gd name="adj" fmla="val 53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379208" y="1755648"/>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ports</a:t>
            </a:r>
            <a:endParaRPr lang="en-US" sz="1400" dirty="0"/>
          </a:p>
        </p:txBody>
      </p:sp>
      <p:sp>
        <p:nvSpPr>
          <p:cNvPr id="12" name="Text 10"/>
          <p:cNvSpPr txBox="1"/>
          <p:nvPr/>
        </p:nvSpPr>
        <p:spPr>
          <a:xfrm>
            <a:off x="7379208" y="2011680"/>
            <a:ext cx="4062679" cy="50292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Windows-portar som vidarebefordras in i klustret. Mer på nästa bild.</a:t>
            </a:r>
            <a:endParaRPr lang="en-US" sz="1200" dirty="0"/>
          </a:p>
        </p:txBody>
      </p:sp>
      <p:sp>
        <p:nvSpPr>
          <p:cNvPr id="13" name="Shape 11"/>
          <p:cNvSpPr/>
          <p:nvPr/>
        </p:nvSpPr>
        <p:spPr>
          <a:xfrm>
            <a:off x="7178040" y="2715768"/>
            <a:ext cx="4465015" cy="1024128"/>
          </a:xfrm>
          <a:prstGeom prst="roundRect">
            <a:avLst>
              <a:gd name="adj" fmla="val 53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379208" y="2916936"/>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registries.create</a:t>
            </a:r>
            <a:endParaRPr lang="en-US" sz="1400" dirty="0"/>
          </a:p>
        </p:txBody>
      </p:sp>
      <p:sp>
        <p:nvSpPr>
          <p:cNvPr id="15" name="Text 13"/>
          <p:cNvSpPr txBox="1"/>
          <p:nvPr/>
        </p:nvSpPr>
        <p:spPr>
          <a:xfrm>
            <a:off x="7379208" y="3172968"/>
            <a:ext cx="4062679" cy="50292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Startar ett eget Docker-registry bredvid klustret.</a:t>
            </a:r>
            <a:endParaRPr lang="en-US" sz="1200" dirty="0"/>
          </a:p>
        </p:txBody>
      </p:sp>
      <p:sp>
        <p:nvSpPr>
          <p:cNvPr id="16" name="Shape 14"/>
          <p:cNvSpPr/>
          <p:nvPr/>
        </p:nvSpPr>
        <p:spPr>
          <a:xfrm>
            <a:off x="7178040" y="3877056"/>
            <a:ext cx="4465015" cy="1024128"/>
          </a:xfrm>
          <a:prstGeom prst="roundRect">
            <a:avLst>
              <a:gd name="adj" fmla="val 53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7379208" y="4078224"/>
            <a:ext cx="406267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extraArgs</a:t>
            </a:r>
            <a:endParaRPr lang="en-US" sz="1400" dirty="0"/>
          </a:p>
        </p:txBody>
      </p:sp>
      <p:sp>
        <p:nvSpPr>
          <p:cNvPr id="18" name="Text 16"/>
          <p:cNvSpPr txBox="1"/>
          <p:nvPr/>
        </p:nvSpPr>
        <p:spPr>
          <a:xfrm>
            <a:off x="7379208" y="4334256"/>
            <a:ext cx="4062679" cy="502920"/>
          </a:xfrm>
          <a:prstGeom prst="rect">
            <a:avLst/>
          </a:prstGeom>
          <a:noFill/>
          <a:ln/>
        </p:spPr>
        <p:txBody>
          <a:bodyPr wrap="square" lIns="0" tIns="0" rIns="0" bIns="0" rtlCol="0" anchor="t"/>
          <a:lstStyle/>
          <a:p>
            <a:pPr indent="0" marL="0">
              <a:buNone/>
            </a:pPr>
            <a:r>
              <a:rPr lang="en-US" sz="1200" dirty="0">
                <a:solidFill>
                  <a:srgbClr val="4A5568"/>
                </a:solidFill>
                <a:latin typeface="Arial" pitchFamily="34" charset="0"/>
                <a:ea typeface="Arial" pitchFamily="34" charset="-122"/>
                <a:cs typeface="Arial" pitchFamily="34" charset="-120"/>
              </a:rPr>
              <a:t>Lokal lagring hamnar i /data/shared/k8s - dvs. i er Windows-mapp.</a:t>
            </a:r>
            <a:endParaRPr lang="en-US" sz="1200" dirty="0"/>
          </a:p>
        </p:txBody>
      </p:sp>
      <p:sp>
        <p:nvSpPr>
          <p:cNvPr id="19" name="Shape 17"/>
          <p:cNvSpPr/>
          <p:nvPr/>
        </p:nvSpPr>
        <p:spPr>
          <a:xfrm>
            <a:off x="7178040" y="5038344"/>
            <a:ext cx="4465015" cy="1024128"/>
          </a:xfrm>
          <a:prstGeom prst="roundRect">
            <a:avLst>
              <a:gd name="adj" fmla="val 5357"/>
            </a:avLst>
          </a:prstGeom>
          <a:solidFill>
            <a:srgbClr val="3762FF"/>
          </a:solidFill>
          <a:ln w="12700">
            <a:solidFill>
              <a:srgbClr val="3762FF"/>
            </a:solidFill>
            <a:prstDash val="solid"/>
          </a:ln>
        </p:spPr>
      </p:sp>
      <p:sp>
        <p:nvSpPr>
          <p:cNvPr id="20" name="Text 18"/>
          <p:cNvSpPr txBox="1"/>
          <p:nvPr/>
        </p:nvSpPr>
        <p:spPr>
          <a:xfrm>
            <a:off x="7379208" y="5239512"/>
            <a:ext cx="406267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kubeconfig</a:t>
            </a:r>
            <a:endParaRPr lang="en-US" sz="1400" dirty="0"/>
          </a:p>
        </p:txBody>
      </p:sp>
      <p:sp>
        <p:nvSpPr>
          <p:cNvPr id="21" name="Text 19"/>
          <p:cNvSpPr txBox="1"/>
          <p:nvPr/>
        </p:nvSpPr>
        <p:spPr>
          <a:xfrm>
            <a:off x="7379208" y="5495544"/>
            <a:ext cx="4062679" cy="50292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k3d skriver in klustret i ~/.kube/config och byter context åt 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KLUSTRET · NÄTVERK</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Hur trafiken hittar in</a:t>
            </a:r>
            <a:endParaRPr lang="en-US" sz="3000" dirty="0"/>
          </a:p>
        </p:txBody>
      </p:sp>
      <p:sp>
        <p:nvSpPr>
          <p:cNvPr id="4" name="Text 2"/>
          <p:cNvSpPr txBox="1"/>
          <p:nvPr/>
        </p:nvSpPr>
        <p:spPr>
          <a:xfrm>
            <a:off x="548640" y="1463040"/>
            <a:ext cx="2743200"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WINDOWS (localhost)</a:t>
            </a:r>
            <a:endParaRPr lang="en-US" sz="1100" dirty="0"/>
          </a:p>
        </p:txBody>
      </p:sp>
      <p:sp>
        <p:nvSpPr>
          <p:cNvPr id="5" name="Text 3"/>
          <p:cNvSpPr txBox="1"/>
          <p:nvPr/>
        </p:nvSpPr>
        <p:spPr>
          <a:xfrm>
            <a:off x="4206240" y="1463040"/>
            <a:ext cx="3291840"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DOCKER-CONTAINER</a:t>
            </a:r>
            <a:endParaRPr lang="en-US" sz="1100" dirty="0"/>
          </a:p>
        </p:txBody>
      </p:sp>
      <p:sp>
        <p:nvSpPr>
          <p:cNvPr id="6" name="Text 4"/>
          <p:cNvSpPr txBox="1"/>
          <p:nvPr/>
        </p:nvSpPr>
        <p:spPr>
          <a:xfrm>
            <a:off x="8412480" y="1463040"/>
            <a:ext cx="3230575"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INUTI KLUSTRET</a:t>
            </a:r>
            <a:endParaRPr lang="en-US" sz="1100" dirty="0"/>
          </a:p>
        </p:txBody>
      </p:sp>
      <p:sp>
        <p:nvSpPr>
          <p:cNvPr id="7" name="Shape 5"/>
          <p:cNvSpPr/>
          <p:nvPr/>
        </p:nvSpPr>
        <p:spPr>
          <a:xfrm>
            <a:off x="548640" y="1874520"/>
            <a:ext cx="2743200" cy="777240"/>
          </a:xfrm>
          <a:prstGeom prst="roundRect">
            <a:avLst>
              <a:gd name="adj" fmla="val 7059"/>
            </a:avLst>
          </a:prstGeom>
          <a:solidFill>
            <a:srgbClr val="16294A"/>
          </a:solidFill>
          <a:ln w="12700">
            <a:solidFill>
              <a:srgbClr val="16294A"/>
            </a:solidFill>
            <a:prstDash val="solid"/>
          </a:ln>
        </p:spPr>
      </p:sp>
      <p:sp>
        <p:nvSpPr>
          <p:cNvPr id="8" name="Text 6"/>
          <p:cNvSpPr txBox="1"/>
          <p:nvPr/>
        </p:nvSpPr>
        <p:spPr>
          <a:xfrm>
            <a:off x="640080" y="1874520"/>
            <a:ext cx="256032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:80  ·  :443</a:t>
            </a:r>
            <a:endParaRPr lang="en-US" sz="1300" dirty="0"/>
          </a:p>
        </p:txBody>
      </p:sp>
      <p:sp>
        <p:nvSpPr>
          <p:cNvPr id="9" name="Shape 7"/>
          <p:cNvSpPr/>
          <p:nvPr/>
        </p:nvSpPr>
        <p:spPr>
          <a:xfrm>
            <a:off x="3364992" y="2263140"/>
            <a:ext cx="768096" cy="0"/>
          </a:xfrm>
          <a:prstGeom prst="line">
            <a:avLst/>
          </a:prstGeom>
          <a:noFill/>
          <a:ln w="19050">
            <a:solidFill>
              <a:srgbClr val="7C9CFF"/>
            </a:solidFill>
            <a:prstDash val="solid"/>
            <a:tailEnd type="triangle"/>
          </a:ln>
        </p:spPr>
      </p:sp>
      <p:sp>
        <p:nvSpPr>
          <p:cNvPr id="10" name="Shape 8"/>
          <p:cNvSpPr/>
          <p:nvPr/>
        </p:nvSpPr>
        <p:spPr>
          <a:xfrm>
            <a:off x="4206240" y="1874520"/>
            <a:ext cx="3291840" cy="777240"/>
          </a:xfrm>
          <a:prstGeom prst="roundRect">
            <a:avLst>
              <a:gd name="adj" fmla="val 7059"/>
            </a:avLst>
          </a:prstGeom>
          <a:solidFill>
            <a:srgbClr val="3762FF"/>
          </a:solidFill>
          <a:ln w="12700">
            <a:solidFill>
              <a:srgbClr val="3762FF"/>
            </a:solidFill>
            <a:prstDash val="solid"/>
          </a:ln>
        </p:spPr>
      </p:sp>
      <p:sp>
        <p:nvSpPr>
          <p:cNvPr id="11" name="Text 9"/>
          <p:cNvSpPr txBox="1"/>
          <p:nvPr/>
        </p:nvSpPr>
        <p:spPr>
          <a:xfrm>
            <a:off x="4297680" y="1874520"/>
            <a:ext cx="310896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k3d-home-serverlb</a:t>
            </a:r>
            <a:endParaRPr lang="en-US" sz="1300" dirty="0"/>
          </a:p>
        </p:txBody>
      </p:sp>
      <p:sp>
        <p:nvSpPr>
          <p:cNvPr id="12" name="Shape 10"/>
          <p:cNvSpPr/>
          <p:nvPr/>
        </p:nvSpPr>
        <p:spPr>
          <a:xfrm>
            <a:off x="7571232" y="2263140"/>
            <a:ext cx="768096" cy="0"/>
          </a:xfrm>
          <a:prstGeom prst="line">
            <a:avLst/>
          </a:prstGeom>
          <a:noFill/>
          <a:ln w="19050">
            <a:solidFill>
              <a:srgbClr val="7C9CFF"/>
            </a:solidFill>
            <a:prstDash val="solid"/>
            <a:tailEnd type="triangle"/>
          </a:ln>
        </p:spPr>
      </p:sp>
      <p:sp>
        <p:nvSpPr>
          <p:cNvPr id="13" name="Text 11"/>
          <p:cNvSpPr txBox="1"/>
          <p:nvPr/>
        </p:nvSpPr>
        <p:spPr>
          <a:xfrm>
            <a:off x="8412480" y="1874520"/>
            <a:ext cx="3230575" cy="7772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Traefik → Ingress → era poddar</a:t>
            </a:r>
            <a:endParaRPr lang="en-US" sz="1400" dirty="0"/>
          </a:p>
        </p:txBody>
      </p:sp>
      <p:sp>
        <p:nvSpPr>
          <p:cNvPr id="14" name="Shape 12"/>
          <p:cNvSpPr/>
          <p:nvPr/>
        </p:nvSpPr>
        <p:spPr>
          <a:xfrm>
            <a:off x="548640" y="2862072"/>
            <a:ext cx="2743200" cy="777240"/>
          </a:xfrm>
          <a:prstGeom prst="roundRect">
            <a:avLst>
              <a:gd name="adj" fmla="val 7059"/>
            </a:avLst>
          </a:prstGeom>
          <a:solidFill>
            <a:srgbClr val="16294A"/>
          </a:solidFill>
          <a:ln w="12700">
            <a:solidFill>
              <a:srgbClr val="16294A"/>
            </a:solidFill>
            <a:prstDash val="solid"/>
          </a:ln>
        </p:spPr>
      </p:sp>
      <p:sp>
        <p:nvSpPr>
          <p:cNvPr id="15" name="Text 13"/>
          <p:cNvSpPr txBox="1"/>
          <p:nvPr/>
        </p:nvSpPr>
        <p:spPr>
          <a:xfrm>
            <a:off x="640080" y="2862072"/>
            <a:ext cx="256032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:6443</a:t>
            </a:r>
            <a:endParaRPr lang="en-US" sz="1300" dirty="0"/>
          </a:p>
        </p:txBody>
      </p:sp>
      <p:sp>
        <p:nvSpPr>
          <p:cNvPr id="16" name="Shape 14"/>
          <p:cNvSpPr/>
          <p:nvPr/>
        </p:nvSpPr>
        <p:spPr>
          <a:xfrm>
            <a:off x="3364992" y="3250692"/>
            <a:ext cx="768096" cy="0"/>
          </a:xfrm>
          <a:prstGeom prst="line">
            <a:avLst/>
          </a:prstGeom>
          <a:noFill/>
          <a:ln w="19050">
            <a:solidFill>
              <a:srgbClr val="7C9CFF"/>
            </a:solidFill>
            <a:prstDash val="solid"/>
            <a:tailEnd type="triangle"/>
          </a:ln>
        </p:spPr>
      </p:sp>
      <p:sp>
        <p:nvSpPr>
          <p:cNvPr id="17" name="Shape 15"/>
          <p:cNvSpPr/>
          <p:nvPr/>
        </p:nvSpPr>
        <p:spPr>
          <a:xfrm>
            <a:off x="4206240" y="2862072"/>
            <a:ext cx="3291840" cy="777240"/>
          </a:xfrm>
          <a:prstGeom prst="roundRect">
            <a:avLst>
              <a:gd name="adj" fmla="val 7059"/>
            </a:avLst>
          </a:prstGeom>
          <a:solidFill>
            <a:srgbClr val="16294A"/>
          </a:solidFill>
          <a:ln w="12700">
            <a:solidFill>
              <a:srgbClr val="16294A"/>
            </a:solidFill>
            <a:prstDash val="solid"/>
          </a:ln>
        </p:spPr>
      </p:sp>
      <p:sp>
        <p:nvSpPr>
          <p:cNvPr id="18" name="Text 16"/>
          <p:cNvSpPr txBox="1"/>
          <p:nvPr/>
        </p:nvSpPr>
        <p:spPr>
          <a:xfrm>
            <a:off x="4297680" y="2862072"/>
            <a:ext cx="310896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k3d-home-serverlb</a:t>
            </a:r>
            <a:endParaRPr lang="en-US" sz="1300" dirty="0"/>
          </a:p>
        </p:txBody>
      </p:sp>
      <p:sp>
        <p:nvSpPr>
          <p:cNvPr id="19" name="Shape 17"/>
          <p:cNvSpPr/>
          <p:nvPr/>
        </p:nvSpPr>
        <p:spPr>
          <a:xfrm>
            <a:off x="7571232" y="3250692"/>
            <a:ext cx="768096" cy="0"/>
          </a:xfrm>
          <a:prstGeom prst="line">
            <a:avLst/>
          </a:prstGeom>
          <a:noFill/>
          <a:ln w="19050">
            <a:solidFill>
              <a:srgbClr val="7C9CFF"/>
            </a:solidFill>
            <a:prstDash val="solid"/>
            <a:tailEnd type="triangle"/>
          </a:ln>
        </p:spPr>
      </p:sp>
      <p:sp>
        <p:nvSpPr>
          <p:cNvPr id="20" name="Text 18"/>
          <p:cNvSpPr txBox="1"/>
          <p:nvPr/>
        </p:nvSpPr>
        <p:spPr>
          <a:xfrm>
            <a:off x="8412480" y="2862072"/>
            <a:ext cx="3230575" cy="7772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Kubernetes API (kubectl, Helm, k9s)</a:t>
            </a:r>
            <a:endParaRPr lang="en-US" sz="1400" dirty="0"/>
          </a:p>
        </p:txBody>
      </p:sp>
      <p:sp>
        <p:nvSpPr>
          <p:cNvPr id="21" name="Shape 19"/>
          <p:cNvSpPr/>
          <p:nvPr/>
        </p:nvSpPr>
        <p:spPr>
          <a:xfrm>
            <a:off x="548640" y="3849624"/>
            <a:ext cx="2743200" cy="777240"/>
          </a:xfrm>
          <a:prstGeom prst="roundRect">
            <a:avLst>
              <a:gd name="adj" fmla="val 7059"/>
            </a:avLst>
          </a:prstGeom>
          <a:solidFill>
            <a:srgbClr val="16294A"/>
          </a:solidFill>
          <a:ln w="12700">
            <a:solidFill>
              <a:srgbClr val="16294A"/>
            </a:solidFill>
            <a:prstDash val="solid"/>
          </a:ln>
        </p:spPr>
      </p:sp>
      <p:sp>
        <p:nvSpPr>
          <p:cNvPr id="22" name="Text 20"/>
          <p:cNvSpPr txBox="1"/>
          <p:nvPr/>
        </p:nvSpPr>
        <p:spPr>
          <a:xfrm>
            <a:off x="640080" y="3849624"/>
            <a:ext cx="256032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:3306 · :4222 · :8222 · :6379</a:t>
            </a:r>
            <a:endParaRPr lang="en-US" sz="1300" dirty="0"/>
          </a:p>
        </p:txBody>
      </p:sp>
      <p:sp>
        <p:nvSpPr>
          <p:cNvPr id="23" name="Shape 21"/>
          <p:cNvSpPr/>
          <p:nvPr/>
        </p:nvSpPr>
        <p:spPr>
          <a:xfrm>
            <a:off x="3364992" y="4238244"/>
            <a:ext cx="768096" cy="0"/>
          </a:xfrm>
          <a:prstGeom prst="line">
            <a:avLst/>
          </a:prstGeom>
          <a:noFill/>
          <a:ln w="19050">
            <a:solidFill>
              <a:srgbClr val="7C9CFF"/>
            </a:solidFill>
            <a:prstDash val="solid"/>
            <a:tailEnd type="triangle"/>
          </a:ln>
        </p:spPr>
      </p:sp>
      <p:sp>
        <p:nvSpPr>
          <p:cNvPr id="24" name="Shape 22"/>
          <p:cNvSpPr/>
          <p:nvPr/>
        </p:nvSpPr>
        <p:spPr>
          <a:xfrm>
            <a:off x="4206240" y="3849624"/>
            <a:ext cx="3291840" cy="777240"/>
          </a:xfrm>
          <a:prstGeom prst="roundRect">
            <a:avLst>
              <a:gd name="adj" fmla="val 7059"/>
            </a:avLst>
          </a:prstGeom>
          <a:solidFill>
            <a:srgbClr val="16294A"/>
          </a:solidFill>
          <a:ln w="12700">
            <a:solidFill>
              <a:srgbClr val="16294A"/>
            </a:solidFill>
            <a:prstDash val="solid"/>
          </a:ln>
        </p:spPr>
      </p:sp>
      <p:sp>
        <p:nvSpPr>
          <p:cNvPr id="25" name="Text 23"/>
          <p:cNvSpPr txBox="1"/>
          <p:nvPr/>
        </p:nvSpPr>
        <p:spPr>
          <a:xfrm>
            <a:off x="4297680" y="3849624"/>
            <a:ext cx="310896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k3d-home-server-0</a:t>
            </a:r>
            <a:endParaRPr lang="en-US" sz="1300" dirty="0"/>
          </a:p>
        </p:txBody>
      </p:sp>
      <p:sp>
        <p:nvSpPr>
          <p:cNvPr id="26" name="Shape 24"/>
          <p:cNvSpPr/>
          <p:nvPr/>
        </p:nvSpPr>
        <p:spPr>
          <a:xfrm>
            <a:off x="7571232" y="4238244"/>
            <a:ext cx="768096" cy="0"/>
          </a:xfrm>
          <a:prstGeom prst="line">
            <a:avLst/>
          </a:prstGeom>
          <a:noFill/>
          <a:ln w="19050">
            <a:solidFill>
              <a:srgbClr val="7C9CFF"/>
            </a:solidFill>
            <a:prstDash val="solid"/>
            <a:tailEnd type="triangle"/>
          </a:ln>
        </p:spPr>
      </p:sp>
      <p:sp>
        <p:nvSpPr>
          <p:cNvPr id="27" name="Text 25"/>
          <p:cNvSpPr txBox="1"/>
          <p:nvPr/>
        </p:nvSpPr>
        <p:spPr>
          <a:xfrm>
            <a:off x="8412480" y="3849624"/>
            <a:ext cx="3230575" cy="7772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ServiceLB → MySQL, NATS, Redis (senare)</a:t>
            </a:r>
            <a:endParaRPr lang="en-US" sz="1400" dirty="0"/>
          </a:p>
        </p:txBody>
      </p:sp>
      <p:sp>
        <p:nvSpPr>
          <p:cNvPr id="28" name="Shape 26"/>
          <p:cNvSpPr/>
          <p:nvPr/>
        </p:nvSpPr>
        <p:spPr>
          <a:xfrm>
            <a:off x="548640" y="4837176"/>
            <a:ext cx="2743200" cy="777240"/>
          </a:xfrm>
          <a:prstGeom prst="roundRect">
            <a:avLst>
              <a:gd name="adj" fmla="val 7059"/>
            </a:avLst>
          </a:prstGeom>
          <a:solidFill>
            <a:srgbClr val="16294A"/>
          </a:solidFill>
          <a:ln w="12700">
            <a:solidFill>
              <a:srgbClr val="16294A"/>
            </a:solidFill>
            <a:prstDash val="solid"/>
          </a:ln>
        </p:spPr>
      </p:sp>
      <p:sp>
        <p:nvSpPr>
          <p:cNvPr id="29" name="Text 27"/>
          <p:cNvSpPr txBox="1"/>
          <p:nvPr/>
        </p:nvSpPr>
        <p:spPr>
          <a:xfrm>
            <a:off x="640080" y="4837176"/>
            <a:ext cx="256032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:5000</a:t>
            </a:r>
            <a:endParaRPr lang="en-US" sz="1300" dirty="0"/>
          </a:p>
        </p:txBody>
      </p:sp>
      <p:sp>
        <p:nvSpPr>
          <p:cNvPr id="30" name="Shape 28"/>
          <p:cNvSpPr/>
          <p:nvPr/>
        </p:nvSpPr>
        <p:spPr>
          <a:xfrm>
            <a:off x="3364992" y="5225796"/>
            <a:ext cx="768096" cy="0"/>
          </a:xfrm>
          <a:prstGeom prst="line">
            <a:avLst/>
          </a:prstGeom>
          <a:noFill/>
          <a:ln w="19050">
            <a:solidFill>
              <a:srgbClr val="7C9CFF"/>
            </a:solidFill>
            <a:prstDash val="solid"/>
            <a:tailEnd type="triangle"/>
          </a:ln>
        </p:spPr>
      </p:sp>
      <p:sp>
        <p:nvSpPr>
          <p:cNvPr id="31" name="Shape 29"/>
          <p:cNvSpPr/>
          <p:nvPr/>
        </p:nvSpPr>
        <p:spPr>
          <a:xfrm>
            <a:off x="4206240" y="4837176"/>
            <a:ext cx="3291840" cy="777240"/>
          </a:xfrm>
          <a:prstGeom prst="roundRect">
            <a:avLst>
              <a:gd name="adj" fmla="val 7059"/>
            </a:avLst>
          </a:prstGeom>
          <a:solidFill>
            <a:srgbClr val="16294A"/>
          </a:solidFill>
          <a:ln w="12700">
            <a:solidFill>
              <a:srgbClr val="16294A"/>
            </a:solidFill>
            <a:prstDash val="solid"/>
          </a:ln>
        </p:spPr>
      </p:sp>
      <p:sp>
        <p:nvSpPr>
          <p:cNvPr id="32" name="Text 30"/>
          <p:cNvSpPr txBox="1"/>
          <p:nvPr/>
        </p:nvSpPr>
        <p:spPr>
          <a:xfrm>
            <a:off x="4297680" y="4837176"/>
            <a:ext cx="3108960" cy="777240"/>
          </a:xfrm>
          <a:prstGeom prst="rect">
            <a:avLst/>
          </a:prstGeom>
          <a:noFill/>
          <a:ln/>
        </p:spPr>
        <p:txBody>
          <a:bodyPr wrap="square" lIns="0" tIns="0" rIns="0" bIns="0" rtlCol="0" anchor="ctr"/>
          <a:lstStyle/>
          <a:p>
            <a:pPr algn="ctr" indent="0" marL="0">
              <a:buNone/>
            </a:pPr>
            <a:r>
              <a:rPr lang="en-US" sz="1300" b="1" dirty="0">
                <a:solidFill>
                  <a:srgbClr val="F5F7FA"/>
                </a:solidFill>
                <a:latin typeface="Courier New" pitchFamily="34" charset="0"/>
                <a:ea typeface="Courier New" pitchFamily="34" charset="-122"/>
                <a:cs typeface="Courier New" pitchFamily="34" charset="-120"/>
              </a:rPr>
              <a:t>registry</a:t>
            </a:r>
            <a:endParaRPr lang="en-US" sz="1300" dirty="0"/>
          </a:p>
        </p:txBody>
      </p:sp>
      <p:sp>
        <p:nvSpPr>
          <p:cNvPr id="33" name="Shape 31"/>
          <p:cNvSpPr/>
          <p:nvPr/>
        </p:nvSpPr>
        <p:spPr>
          <a:xfrm>
            <a:off x="7571232" y="5225796"/>
            <a:ext cx="768096" cy="0"/>
          </a:xfrm>
          <a:prstGeom prst="line">
            <a:avLst/>
          </a:prstGeom>
          <a:noFill/>
          <a:ln w="19050">
            <a:solidFill>
              <a:srgbClr val="7C9CFF"/>
            </a:solidFill>
            <a:prstDash val="solid"/>
            <a:tailEnd type="triangle"/>
          </a:ln>
        </p:spPr>
      </p:sp>
      <p:sp>
        <p:nvSpPr>
          <p:cNvPr id="34" name="Text 32"/>
          <p:cNvSpPr txBox="1"/>
          <p:nvPr/>
        </p:nvSpPr>
        <p:spPr>
          <a:xfrm>
            <a:off x="8412480" y="4837176"/>
            <a:ext cx="3230575" cy="7772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Era egna images (registry:5000)</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KLUSTRET · STEG 4</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Skapa klustret</a:t>
            </a:r>
            <a:endParaRPr lang="en-US" sz="3000" dirty="0"/>
          </a:p>
        </p:txBody>
      </p:sp>
      <p:sp>
        <p:nvSpPr>
          <p:cNvPr id="4" name="Shape 2"/>
          <p:cNvSpPr/>
          <p:nvPr/>
        </p:nvSpPr>
        <p:spPr>
          <a:xfrm>
            <a:off x="548640" y="1554480"/>
            <a:ext cx="11094415" cy="1188720"/>
          </a:xfrm>
          <a:prstGeom prst="roundRect">
            <a:avLst>
              <a:gd name="adj" fmla="val 461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10637215" cy="594360"/>
          </a:xfrm>
          <a:prstGeom prst="rect">
            <a:avLst/>
          </a:prstGeom>
          <a:noFill/>
          <a:ln/>
        </p:spPr>
        <p:txBody>
          <a:bodyPr wrap="square" lIns="0" tIns="0" rIns="0" bIns="0" rtlCol="0" anchor="t"/>
          <a:lstStyle/>
          <a:p>
            <a:pPr indent="0" marL="0">
              <a:lnSpc>
                <a:spcPct val="110000"/>
              </a:lnSpc>
              <a:buNone/>
            </a:pPr>
            <a:r>
              <a:rPr lang="en-US" sz="1500" dirty="0">
                <a:solidFill>
                  <a:srgbClr val="DDE3EA"/>
                </a:solidFill>
                <a:latin typeface="Courier New" pitchFamily="34" charset="0"/>
                <a:ea typeface="Courier New" pitchFamily="34" charset="-122"/>
                <a:cs typeface="Courier New" pitchFamily="34" charset="-120"/>
              </a:rPr>
              <a:t>cd C:\k3d</a:t>
            </a:r>
            <a:endParaRPr lang="en-US" sz="1500" dirty="0"/>
          </a:p>
          <a:p>
            <a:pPr indent="0" marL="0">
              <a:lnSpc>
                <a:spcPct val="110000"/>
              </a:lnSpc>
              <a:buNone/>
            </a:pPr>
            <a:r>
              <a:rPr lang="en-US" sz="1500" dirty="0">
                <a:solidFill>
                  <a:srgbClr val="DDE3EA"/>
                </a:solidFill>
                <a:latin typeface="Courier New" pitchFamily="34" charset="0"/>
                <a:ea typeface="Courier New" pitchFamily="34" charset="-122"/>
                <a:cs typeface="Courier New" pitchFamily="34" charset="-120"/>
              </a:rPr>
              <a:t>k3d cluster create --config k3d-install.yaml</a:t>
            </a:r>
            <a:endParaRPr lang="en-US" sz="1500" dirty="0"/>
          </a:p>
        </p:txBody>
      </p:sp>
      <p:sp>
        <p:nvSpPr>
          <p:cNvPr id="10" name="Shape 8"/>
          <p:cNvSpPr/>
          <p:nvPr/>
        </p:nvSpPr>
        <p:spPr>
          <a:xfrm>
            <a:off x="548640" y="3154680"/>
            <a:ext cx="1889699"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640080" y="3154680"/>
            <a:ext cx="1706819"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Nätverk</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k3d-home</a:t>
            </a:r>
            <a:endParaRPr lang="en-US" sz="1400" dirty="0"/>
          </a:p>
        </p:txBody>
      </p:sp>
      <p:sp>
        <p:nvSpPr>
          <p:cNvPr id="12" name="Shape 10"/>
          <p:cNvSpPr/>
          <p:nvPr/>
        </p:nvSpPr>
        <p:spPr>
          <a:xfrm>
            <a:off x="2484059" y="3657600"/>
            <a:ext cx="320040" cy="0"/>
          </a:xfrm>
          <a:prstGeom prst="line">
            <a:avLst/>
          </a:prstGeom>
          <a:noFill/>
          <a:ln w="19050">
            <a:solidFill>
              <a:srgbClr val="3762FF"/>
            </a:solidFill>
            <a:prstDash val="solid"/>
            <a:tailEnd type="triangle"/>
          </a:ln>
        </p:spPr>
      </p:sp>
      <p:sp>
        <p:nvSpPr>
          <p:cNvPr id="13" name="Shape 11"/>
          <p:cNvSpPr/>
          <p:nvPr/>
        </p:nvSpPr>
        <p:spPr>
          <a:xfrm>
            <a:off x="2849819" y="3154680"/>
            <a:ext cx="1889699"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2941259" y="3154680"/>
            <a:ext cx="1706819"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Registry</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registry:5000</a:t>
            </a:r>
            <a:endParaRPr lang="en-US" sz="1400" dirty="0"/>
          </a:p>
        </p:txBody>
      </p:sp>
      <p:sp>
        <p:nvSpPr>
          <p:cNvPr id="15" name="Shape 13"/>
          <p:cNvSpPr/>
          <p:nvPr/>
        </p:nvSpPr>
        <p:spPr>
          <a:xfrm>
            <a:off x="4785238" y="3657600"/>
            <a:ext cx="320040" cy="0"/>
          </a:xfrm>
          <a:prstGeom prst="line">
            <a:avLst/>
          </a:prstGeom>
          <a:noFill/>
          <a:ln w="19050">
            <a:solidFill>
              <a:srgbClr val="3762FF"/>
            </a:solidFill>
            <a:prstDash val="solid"/>
            <a:tailEnd type="triangle"/>
          </a:ln>
        </p:spPr>
      </p:sp>
      <p:sp>
        <p:nvSpPr>
          <p:cNvPr id="16" name="Shape 14"/>
          <p:cNvSpPr/>
          <p:nvPr/>
        </p:nvSpPr>
        <p:spPr>
          <a:xfrm>
            <a:off x="5150998" y="3154680"/>
            <a:ext cx="1889699"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5242438" y="3154680"/>
            <a:ext cx="1706819"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Server-nod</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k3s startar</a:t>
            </a:r>
            <a:endParaRPr lang="en-US" sz="1400" dirty="0"/>
          </a:p>
        </p:txBody>
      </p:sp>
      <p:sp>
        <p:nvSpPr>
          <p:cNvPr id="18" name="Shape 16"/>
          <p:cNvSpPr/>
          <p:nvPr/>
        </p:nvSpPr>
        <p:spPr>
          <a:xfrm>
            <a:off x="7086417" y="3657600"/>
            <a:ext cx="320040" cy="0"/>
          </a:xfrm>
          <a:prstGeom prst="line">
            <a:avLst/>
          </a:prstGeom>
          <a:noFill/>
          <a:ln w="19050">
            <a:solidFill>
              <a:srgbClr val="3762FF"/>
            </a:solidFill>
            <a:prstDash val="solid"/>
            <a:tailEnd type="triangle"/>
          </a:ln>
        </p:spPr>
      </p:sp>
      <p:sp>
        <p:nvSpPr>
          <p:cNvPr id="19" name="Shape 17"/>
          <p:cNvSpPr/>
          <p:nvPr/>
        </p:nvSpPr>
        <p:spPr>
          <a:xfrm>
            <a:off x="7452177" y="3154680"/>
            <a:ext cx="1889699" cy="100584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7543617" y="3154680"/>
            <a:ext cx="1706819" cy="100584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Loadbalancer</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serverlb</a:t>
            </a:r>
            <a:endParaRPr lang="en-US" sz="1400" dirty="0"/>
          </a:p>
        </p:txBody>
      </p:sp>
      <p:sp>
        <p:nvSpPr>
          <p:cNvPr id="21" name="Shape 19"/>
          <p:cNvSpPr/>
          <p:nvPr/>
        </p:nvSpPr>
        <p:spPr>
          <a:xfrm>
            <a:off x="9387596" y="3657600"/>
            <a:ext cx="320040" cy="0"/>
          </a:xfrm>
          <a:prstGeom prst="line">
            <a:avLst/>
          </a:prstGeom>
          <a:noFill/>
          <a:ln w="19050">
            <a:solidFill>
              <a:srgbClr val="3762FF"/>
            </a:solidFill>
            <a:prstDash val="solid"/>
            <a:tailEnd type="triangle"/>
          </a:ln>
        </p:spPr>
      </p:sp>
      <p:sp>
        <p:nvSpPr>
          <p:cNvPr id="22" name="Shape 20"/>
          <p:cNvSpPr/>
          <p:nvPr/>
        </p:nvSpPr>
        <p:spPr>
          <a:xfrm>
            <a:off x="9753356" y="3154680"/>
            <a:ext cx="1889699" cy="1005840"/>
          </a:xfrm>
          <a:prstGeom prst="roundRect">
            <a:avLst>
              <a:gd name="adj" fmla="val 5455"/>
            </a:avLst>
          </a:prstGeom>
          <a:solidFill>
            <a:srgbClr val="3762FF"/>
          </a:solidFill>
          <a:ln w="12700">
            <a:solidFill>
              <a:srgbClr val="3762FF"/>
            </a:solidFill>
            <a:prstDash val="solid"/>
          </a:ln>
        </p:spPr>
      </p:sp>
      <p:sp>
        <p:nvSpPr>
          <p:cNvPr id="23" name="Text 21"/>
          <p:cNvSpPr txBox="1"/>
          <p:nvPr/>
        </p:nvSpPr>
        <p:spPr>
          <a:xfrm>
            <a:off x="9844796" y="3154680"/>
            <a:ext cx="1706819"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kubeconfig</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k3d-home</a:t>
            </a:r>
            <a:endParaRPr lang="en-US" sz="1400" dirty="0"/>
          </a:p>
        </p:txBody>
      </p:sp>
      <p:sp>
        <p:nvSpPr>
          <p:cNvPr id="24" name="Text 22"/>
          <p:cNvSpPr txBox="1"/>
          <p:nvPr/>
        </p:nvSpPr>
        <p:spPr>
          <a:xfrm>
            <a:off x="548640" y="4434840"/>
            <a:ext cx="11094415" cy="457200"/>
          </a:xfrm>
          <a:prstGeom prst="rect">
            <a:avLst/>
          </a:prstGeom>
          <a:noFill/>
          <a:ln/>
        </p:spPr>
        <p:txBody>
          <a:bodyPr wrap="square" lIns="0" tIns="0" rIns="0" bIns="0" rtlCol="0" anchor="t"/>
          <a:lstStyle/>
          <a:p>
            <a:pPr indent="0" marL="0">
              <a:lnSpc>
                <a:spcPct val="120000"/>
              </a:lnSpc>
              <a:buNone/>
            </a:pPr>
            <a:r>
              <a:rPr lang="en-US" sz="1400" dirty="0">
                <a:solidFill>
                  <a:srgbClr val="4A5568"/>
                </a:solidFill>
                <a:latin typeface="Arial" pitchFamily="34" charset="0"/>
                <a:ea typeface="Arial" pitchFamily="34" charset="-122"/>
                <a:cs typeface="Arial" pitchFamily="34" charset="-120"/>
              </a:rPr>
              <a:t>Det här gör k3d åt er, i ordning. Första gången laddas k3s-imagen ner (~70 MB), så det kan ta en stund.</a:t>
            </a:r>
            <a:endParaRPr lang="en-US" sz="1400" dirty="0"/>
          </a:p>
        </p:txBody>
      </p:sp>
      <p:sp>
        <p:nvSpPr>
          <p:cNvPr id="25" name="Shape 23"/>
          <p:cNvSpPr/>
          <p:nvPr/>
        </p:nvSpPr>
        <p:spPr>
          <a:xfrm>
            <a:off x="548640" y="5074920"/>
            <a:ext cx="11094415" cy="777240"/>
          </a:xfrm>
          <a:prstGeom prst="roundRect">
            <a:avLst>
              <a:gd name="adj" fmla="val 7059"/>
            </a:avLst>
          </a:prstGeom>
          <a:solidFill>
            <a:srgbClr val="E8EDFF"/>
          </a:solidFill>
          <a:ln w="12700">
            <a:solidFill>
              <a:srgbClr val="E8EDFF"/>
            </a:solidFill>
            <a:prstDash val="solid"/>
          </a:ln>
        </p:spPr>
      </p:sp>
      <p:sp>
        <p:nvSpPr>
          <p:cNvPr id="26" name="Text 24"/>
          <p:cNvSpPr txBox="1"/>
          <p:nvPr/>
        </p:nvSpPr>
        <p:spPr>
          <a:xfrm>
            <a:off x="822960" y="5074920"/>
            <a:ext cx="10545775" cy="777240"/>
          </a:xfrm>
          <a:prstGeom prst="rect">
            <a:avLst/>
          </a:prstGeom>
          <a:noFill/>
          <a:ln/>
        </p:spPr>
        <p:txBody>
          <a:bodyPr wrap="square" lIns="0" tIns="0" rIns="0" bIns="0" rtlCol="0" anchor="ctr"/>
          <a:lstStyle/>
          <a:p>
            <a:pPr indent="0" marL="0">
              <a:buNone/>
            </a:pPr>
            <a:r>
              <a:rPr lang="en-US" sz="1500" b="1" dirty="0">
                <a:solidFill>
                  <a:srgbClr val="16202B"/>
                </a:solidFill>
                <a:latin typeface="Arial" pitchFamily="34" charset="0"/>
                <a:ea typeface="Arial" pitchFamily="34" charset="-122"/>
                <a:cs typeface="Arial" pitchFamily="34" charset="-120"/>
              </a:rPr>
              <a:t>Klart när: </a:t>
            </a:r>
            <a:pPr indent="0" marL="0">
              <a:buNone/>
            </a:pPr>
            <a:r>
              <a:rPr lang="en-US" sz="1500" dirty="0">
                <a:solidFill>
                  <a:srgbClr val="16202B"/>
                </a:solidFill>
                <a:latin typeface="Courier New" pitchFamily="34" charset="0"/>
                <a:ea typeface="Courier New" pitchFamily="34" charset="-122"/>
                <a:cs typeface="Courier New" pitchFamily="34" charset="-120"/>
              </a:rPr>
              <a:t>INFO[...] Cluster 'home' created successfully!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KLUSTRET · STEG 5</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Verifiera att klustret lever</a:t>
            </a:r>
            <a:endParaRPr lang="en-US" sz="3000" dirty="0"/>
          </a:p>
        </p:txBody>
      </p:sp>
      <p:sp>
        <p:nvSpPr>
          <p:cNvPr id="4" name="Shape 2"/>
          <p:cNvSpPr/>
          <p:nvPr/>
        </p:nvSpPr>
        <p:spPr>
          <a:xfrm>
            <a:off x="548640" y="1554480"/>
            <a:ext cx="11094415"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10637215" cy="374904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config current-context</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 k3d-home</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nodes</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NAME                STATUS   ROLES                  VERSION</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k3d-home-server-0   Ready    control-plane,master   v1.36.3+k3s1</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-A</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 coredns, local-path-provisioner, metrics-server, traefik, svclb-traefik ... Running</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 helm-install-traefik ... Completed</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docker ps --format "{{.Names}}"</a:t>
            </a:r>
            <a:endParaRPr lang="en-US" sz="1300" dirty="0"/>
          </a:p>
          <a:p>
            <a:pPr indent="0" marL="0">
              <a:lnSpc>
                <a:spcPct val="110000"/>
              </a:lnSpc>
              <a:buNone/>
            </a:pPr>
            <a:r>
              <a:rPr lang="en-US" sz="1300" dirty="0">
                <a:solidFill>
                  <a:srgbClr val="B9C4D1"/>
                </a:solidFill>
                <a:latin typeface="Courier New" pitchFamily="34" charset="0"/>
                <a:ea typeface="Courier New" pitchFamily="34" charset="-122"/>
                <a:cs typeface="Courier New" pitchFamily="34" charset="-120"/>
              </a:rPr>
              <a:t>→ k3d-home-serverlb   k3d-home-server-0   registry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Utforska &amp; testa</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k9s, en första deployment, en Helm-chart och vårt registry</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UTFORSKA · STEG 6</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Öppna klustret i k9s</a:t>
            </a:r>
            <a:endParaRPr lang="en-US" sz="3000" dirty="0"/>
          </a:p>
        </p:txBody>
      </p:sp>
      <p:sp>
        <p:nvSpPr>
          <p:cNvPr id="4" name="Shape 2"/>
          <p:cNvSpPr/>
          <p:nvPr/>
        </p:nvSpPr>
        <p:spPr>
          <a:xfrm>
            <a:off x="548640" y="1600200"/>
            <a:ext cx="3840480" cy="1188720"/>
          </a:xfrm>
          <a:prstGeom prst="roundRect">
            <a:avLst>
              <a:gd name="adj" fmla="val 4615"/>
            </a:avLst>
          </a:prstGeom>
          <a:solidFill>
            <a:srgbClr val="16294A"/>
          </a:solidFill>
          <a:ln w="12700">
            <a:solidFill>
              <a:srgbClr val="16294A"/>
            </a:solidFill>
            <a:prstDash val="solid"/>
          </a:ln>
        </p:spPr>
      </p:sp>
      <p:sp>
        <p:nvSpPr>
          <p:cNvPr id="5" name="Shape 3"/>
          <p:cNvSpPr/>
          <p:nvPr/>
        </p:nvSpPr>
        <p:spPr>
          <a:xfrm>
            <a:off x="749808" y="176479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6479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6479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91640"/>
            <a:ext cx="28346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57400"/>
            <a:ext cx="3383280" cy="594360"/>
          </a:xfrm>
          <a:prstGeom prst="rect">
            <a:avLst/>
          </a:prstGeom>
          <a:noFill/>
          <a:ln/>
        </p:spPr>
        <p:txBody>
          <a:bodyPr wrap="square" lIns="0" tIns="0" rIns="0" bIns="0" rtlCol="0" anchor="t"/>
          <a:lstStyle/>
          <a:p>
            <a:pPr indent="0" marL="0">
              <a:lnSpc>
                <a:spcPct val="110000"/>
              </a:lnSpc>
              <a:buNone/>
            </a:pPr>
            <a:r>
              <a:rPr lang="en-US" sz="1800" dirty="0">
                <a:solidFill>
                  <a:srgbClr val="DDE3EA"/>
                </a:solidFill>
                <a:latin typeface="Courier New" pitchFamily="34" charset="0"/>
                <a:ea typeface="Courier New" pitchFamily="34" charset="-122"/>
                <a:cs typeface="Courier New" pitchFamily="34" charset="-120"/>
              </a:rPr>
              <a:t>k9s</a:t>
            </a:r>
            <a:endParaRPr lang="en-US" sz="1800" dirty="0"/>
          </a:p>
        </p:txBody>
      </p:sp>
      <p:sp>
        <p:nvSpPr>
          <p:cNvPr id="10" name="Shape 8"/>
          <p:cNvSpPr/>
          <p:nvPr/>
        </p:nvSpPr>
        <p:spPr>
          <a:xfrm>
            <a:off x="4754880" y="1600200"/>
            <a:ext cx="3346704" cy="1645920"/>
          </a:xfrm>
          <a:prstGeom prst="roundRect">
            <a:avLst>
              <a:gd name="adj" fmla="val 3333"/>
            </a:avLst>
          </a:prstGeom>
          <a:solidFill>
            <a:srgbClr val="16294A"/>
          </a:solidFill>
          <a:ln w="12700">
            <a:solidFill>
              <a:srgbClr val="16294A"/>
            </a:solidFill>
            <a:prstDash val="solid"/>
          </a:ln>
        </p:spPr>
      </p:sp>
      <p:sp>
        <p:nvSpPr>
          <p:cNvPr id="11" name="Text 9"/>
          <p:cNvSpPr txBox="1"/>
          <p:nvPr/>
        </p:nvSpPr>
        <p:spPr>
          <a:xfrm>
            <a:off x="4956048" y="1801368"/>
            <a:ext cx="2944368"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UPPGIFT 1</a:t>
            </a:r>
            <a:endParaRPr lang="en-US" sz="1100" dirty="0"/>
          </a:p>
        </p:txBody>
      </p:sp>
      <p:sp>
        <p:nvSpPr>
          <p:cNvPr id="12" name="Text 10"/>
          <p:cNvSpPr txBox="1"/>
          <p:nvPr/>
        </p:nvSpPr>
        <p:spPr>
          <a:xfrm>
            <a:off x="4956048" y="2093976"/>
            <a:ext cx="294436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Tryck 0</a:t>
            </a:r>
            <a:endParaRPr lang="en-US" sz="1600" dirty="0"/>
          </a:p>
        </p:txBody>
      </p:sp>
      <p:sp>
        <p:nvSpPr>
          <p:cNvPr id="13" name="Text 11"/>
          <p:cNvSpPr txBox="1"/>
          <p:nvPr/>
        </p:nvSpPr>
        <p:spPr>
          <a:xfrm>
            <a:off x="4956048" y="2478024"/>
            <a:ext cx="2944368" cy="6126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Visa poddar i alla namespaces. Hitta traefik och coredns.</a:t>
            </a:r>
            <a:endParaRPr lang="en-US" sz="1300" dirty="0"/>
          </a:p>
        </p:txBody>
      </p:sp>
      <p:sp>
        <p:nvSpPr>
          <p:cNvPr id="14" name="Shape 12"/>
          <p:cNvSpPr/>
          <p:nvPr/>
        </p:nvSpPr>
        <p:spPr>
          <a:xfrm>
            <a:off x="8284464" y="1600200"/>
            <a:ext cx="3346704" cy="1645920"/>
          </a:xfrm>
          <a:prstGeom prst="roundRect">
            <a:avLst>
              <a:gd name="adj" fmla="val 3333"/>
            </a:avLst>
          </a:prstGeom>
          <a:solidFill>
            <a:srgbClr val="16294A"/>
          </a:solidFill>
          <a:ln w="12700">
            <a:solidFill>
              <a:srgbClr val="16294A"/>
            </a:solidFill>
            <a:prstDash val="solid"/>
          </a:ln>
        </p:spPr>
      </p:sp>
      <p:sp>
        <p:nvSpPr>
          <p:cNvPr id="15" name="Text 13"/>
          <p:cNvSpPr txBox="1"/>
          <p:nvPr/>
        </p:nvSpPr>
        <p:spPr>
          <a:xfrm>
            <a:off x="8485632" y="1801368"/>
            <a:ext cx="2944368"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UPPGIFT 2</a:t>
            </a:r>
            <a:endParaRPr lang="en-US" sz="1100" dirty="0"/>
          </a:p>
        </p:txBody>
      </p:sp>
      <p:sp>
        <p:nvSpPr>
          <p:cNvPr id="16" name="Text 14"/>
          <p:cNvSpPr txBox="1"/>
          <p:nvPr/>
        </p:nvSpPr>
        <p:spPr>
          <a:xfrm>
            <a:off x="8485632" y="2093976"/>
            <a:ext cx="294436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Pil + d</a:t>
            </a:r>
            <a:endParaRPr lang="en-US" sz="1600" dirty="0"/>
          </a:p>
        </p:txBody>
      </p:sp>
      <p:sp>
        <p:nvSpPr>
          <p:cNvPr id="17" name="Text 15"/>
          <p:cNvSpPr txBox="1"/>
          <p:nvPr/>
        </p:nvSpPr>
        <p:spPr>
          <a:xfrm>
            <a:off x="8485632" y="2478024"/>
            <a:ext cx="2944368" cy="6126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Describe på traefik-podden. Se events längst ner.</a:t>
            </a:r>
            <a:endParaRPr lang="en-US" sz="1300" dirty="0"/>
          </a:p>
        </p:txBody>
      </p:sp>
      <p:sp>
        <p:nvSpPr>
          <p:cNvPr id="18" name="Shape 16"/>
          <p:cNvSpPr/>
          <p:nvPr/>
        </p:nvSpPr>
        <p:spPr>
          <a:xfrm>
            <a:off x="4754880" y="3429000"/>
            <a:ext cx="3346704" cy="1645920"/>
          </a:xfrm>
          <a:prstGeom prst="roundRect">
            <a:avLst>
              <a:gd name="adj" fmla="val 3333"/>
            </a:avLst>
          </a:prstGeom>
          <a:solidFill>
            <a:srgbClr val="16294A"/>
          </a:solidFill>
          <a:ln w="12700">
            <a:solidFill>
              <a:srgbClr val="16294A"/>
            </a:solidFill>
            <a:prstDash val="solid"/>
          </a:ln>
        </p:spPr>
      </p:sp>
      <p:sp>
        <p:nvSpPr>
          <p:cNvPr id="19" name="Text 17"/>
          <p:cNvSpPr txBox="1"/>
          <p:nvPr/>
        </p:nvSpPr>
        <p:spPr>
          <a:xfrm>
            <a:off x="4956048" y="3630168"/>
            <a:ext cx="2944368"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UPPGIFT 3</a:t>
            </a:r>
            <a:endParaRPr lang="en-US" sz="1100" dirty="0"/>
          </a:p>
        </p:txBody>
      </p:sp>
      <p:sp>
        <p:nvSpPr>
          <p:cNvPr id="20" name="Text 18"/>
          <p:cNvSpPr txBox="1"/>
          <p:nvPr/>
        </p:nvSpPr>
        <p:spPr>
          <a:xfrm>
            <a:off x="4956048" y="3922776"/>
            <a:ext cx="294436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l</a:t>
            </a:r>
            <a:endParaRPr lang="en-US" sz="1600" dirty="0"/>
          </a:p>
        </p:txBody>
      </p:sp>
      <p:sp>
        <p:nvSpPr>
          <p:cNvPr id="21" name="Text 19"/>
          <p:cNvSpPr txBox="1"/>
          <p:nvPr/>
        </p:nvSpPr>
        <p:spPr>
          <a:xfrm>
            <a:off x="4956048" y="4306824"/>
            <a:ext cx="2944368" cy="6126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Läs loggarna. Esc för att gå tillbaka.</a:t>
            </a:r>
            <a:endParaRPr lang="en-US" sz="1300" dirty="0"/>
          </a:p>
        </p:txBody>
      </p:sp>
      <p:sp>
        <p:nvSpPr>
          <p:cNvPr id="22" name="Shape 20"/>
          <p:cNvSpPr/>
          <p:nvPr/>
        </p:nvSpPr>
        <p:spPr>
          <a:xfrm>
            <a:off x="8284464" y="3429000"/>
            <a:ext cx="3346704" cy="1645920"/>
          </a:xfrm>
          <a:prstGeom prst="roundRect">
            <a:avLst>
              <a:gd name="adj" fmla="val 3333"/>
            </a:avLst>
          </a:prstGeom>
          <a:solidFill>
            <a:srgbClr val="16294A"/>
          </a:solidFill>
          <a:ln w="12700">
            <a:solidFill>
              <a:srgbClr val="16294A"/>
            </a:solidFill>
            <a:prstDash val="solid"/>
          </a:ln>
        </p:spPr>
      </p:sp>
      <p:sp>
        <p:nvSpPr>
          <p:cNvPr id="23" name="Text 21"/>
          <p:cNvSpPr txBox="1"/>
          <p:nvPr/>
        </p:nvSpPr>
        <p:spPr>
          <a:xfrm>
            <a:off x="8485632" y="3630168"/>
            <a:ext cx="2944368"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UPPGIFT 4</a:t>
            </a:r>
            <a:endParaRPr lang="en-US" sz="1100" dirty="0"/>
          </a:p>
        </p:txBody>
      </p:sp>
      <p:sp>
        <p:nvSpPr>
          <p:cNvPr id="24" name="Text 22"/>
          <p:cNvSpPr txBox="1"/>
          <p:nvPr/>
        </p:nvSpPr>
        <p:spPr>
          <a:xfrm>
            <a:off x="8485632" y="3922776"/>
            <a:ext cx="294436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:svc</a:t>
            </a:r>
            <a:endParaRPr lang="en-US" sz="1600" dirty="0"/>
          </a:p>
        </p:txBody>
      </p:sp>
      <p:sp>
        <p:nvSpPr>
          <p:cNvPr id="25" name="Text 23"/>
          <p:cNvSpPr txBox="1"/>
          <p:nvPr/>
        </p:nvSpPr>
        <p:spPr>
          <a:xfrm>
            <a:off x="8485632" y="4306824"/>
            <a:ext cx="2944368" cy="6126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Titta på services. Vilken har typen LoadBalancer?</a:t>
            </a:r>
            <a:endParaRPr lang="en-US" sz="1300" dirty="0"/>
          </a:p>
        </p:txBody>
      </p:sp>
      <p:sp>
        <p:nvSpPr>
          <p:cNvPr id="26" name="Text 24"/>
          <p:cNvSpPr txBox="1"/>
          <p:nvPr/>
        </p:nvSpPr>
        <p:spPr>
          <a:xfrm>
            <a:off x="548640" y="3108960"/>
            <a:ext cx="3840480" cy="1371600"/>
          </a:xfrm>
          <a:prstGeom prst="rect">
            <a:avLst/>
          </a:prstGeom>
          <a:noFill/>
          <a:ln/>
        </p:spPr>
        <p:txBody>
          <a:bodyPr wrap="square" lIns="0" tIns="0" rIns="0" bIns="0" rtlCol="0" anchor="t"/>
          <a:lstStyle/>
          <a:p>
            <a:pPr indent="0" marL="0">
              <a:lnSpc>
                <a:spcPct val="120000"/>
              </a:lnSpc>
              <a:buNone/>
            </a:pPr>
            <a:r>
              <a:rPr lang="en-US" sz="1500" dirty="0">
                <a:solidFill>
                  <a:srgbClr val="B9C4D1"/>
                </a:solidFill>
                <a:latin typeface="Arial" pitchFamily="34" charset="0"/>
                <a:ea typeface="Arial" pitchFamily="34" charset="-122"/>
                <a:cs typeface="Arial" pitchFamily="34" charset="-120"/>
              </a:rPr>
              <a:t>Låt k9s vara öppet i ett eget terminalfönster resten av kvällen - då ser ni allt vi gör hända live.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UTFORSKA · STEG 7</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Er första deployment - hela vägen ut</a:t>
            </a:r>
            <a:endParaRPr lang="en-US" sz="3000" dirty="0"/>
          </a:p>
        </p:txBody>
      </p:sp>
      <p:sp>
        <p:nvSpPr>
          <p:cNvPr id="4" name="Shape 2"/>
          <p:cNvSpPr/>
          <p:nvPr/>
        </p:nvSpPr>
        <p:spPr>
          <a:xfrm>
            <a:off x="548640" y="1554480"/>
            <a:ext cx="7589520" cy="3749040"/>
          </a:xfrm>
          <a:prstGeom prst="roundRect">
            <a:avLst>
              <a:gd name="adj" fmla="val 14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58368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132320" cy="3154680"/>
          </a:xfrm>
          <a:prstGeom prst="rect">
            <a:avLst/>
          </a:prstGeom>
          <a:noFill/>
          <a:ln/>
        </p:spPr>
        <p:txBody>
          <a:bodyPr wrap="square" lIns="0" tIns="0" rIns="0" bIns="0" rtlCol="0" anchor="t"/>
          <a:lstStyle/>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create namespace test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create deployment hello --image=nginx:alpine -n test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expose deployment hello --port=80 -n test</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create ingress hello -n test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--class=traefik `</a:t>
            </a:r>
            <a:endParaRPr lang="en-US" sz="1300" dirty="0"/>
          </a:p>
          <a:p>
            <a:pPr indent="0" marL="0">
              <a:lnSpc>
                <a:spcPct val="110000"/>
              </a:lnSpc>
              <a:buNone/>
            </a:pPr>
            <a:r>
              <a:rPr lang="en-US" sz="1300" dirty="0">
                <a:solidFill>
                  <a:srgbClr val="DDE3EA"/>
                </a:solidFill>
                <a:latin typeface="Courier New" pitchFamily="34" charset="0"/>
                <a:ea typeface="Courier New" pitchFamily="34" charset="-122"/>
                <a:cs typeface="Courier New" pitchFamily="34" charset="-120"/>
              </a:rPr>
              <a:t>  --rule="hello.localhost/*=hello:80"</a:t>
            </a:r>
            <a:endParaRPr lang="en-US" sz="1300" dirty="0"/>
          </a:p>
        </p:txBody>
      </p:sp>
      <p:sp>
        <p:nvSpPr>
          <p:cNvPr id="10" name="Shape 8"/>
          <p:cNvSpPr/>
          <p:nvPr/>
        </p:nvSpPr>
        <p:spPr>
          <a:xfrm>
            <a:off x="8458200" y="1554480"/>
            <a:ext cx="3184855" cy="777240"/>
          </a:xfrm>
          <a:prstGeom prst="roundRect">
            <a:avLst>
              <a:gd name="adj" fmla="val 705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549640" y="1554480"/>
            <a:ext cx="3001975" cy="77724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Deployment</a:t>
            </a:r>
            <a:endParaRPr lang="en-US" sz="1600" dirty="0"/>
          </a:p>
        </p:txBody>
      </p:sp>
      <p:sp>
        <p:nvSpPr>
          <p:cNvPr id="12" name="Shape 10"/>
          <p:cNvSpPr/>
          <p:nvPr/>
        </p:nvSpPr>
        <p:spPr>
          <a:xfrm>
            <a:off x="10050628" y="2359152"/>
            <a:ext cx="0" cy="310896"/>
          </a:xfrm>
          <a:prstGeom prst="line">
            <a:avLst/>
          </a:prstGeom>
          <a:noFill/>
          <a:ln w="19050">
            <a:solidFill>
              <a:srgbClr val="3762FF"/>
            </a:solidFill>
            <a:prstDash val="solid"/>
            <a:tailEnd type="triangle"/>
          </a:ln>
        </p:spPr>
      </p:sp>
      <p:sp>
        <p:nvSpPr>
          <p:cNvPr id="13" name="Shape 11"/>
          <p:cNvSpPr/>
          <p:nvPr/>
        </p:nvSpPr>
        <p:spPr>
          <a:xfrm>
            <a:off x="8458200" y="2697480"/>
            <a:ext cx="3184855" cy="777240"/>
          </a:xfrm>
          <a:prstGeom prst="roundRect">
            <a:avLst>
              <a:gd name="adj" fmla="val 705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549640" y="2697480"/>
            <a:ext cx="3001975" cy="77724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Service</a:t>
            </a:r>
            <a:endParaRPr lang="en-US" sz="1600" dirty="0"/>
          </a:p>
        </p:txBody>
      </p:sp>
      <p:sp>
        <p:nvSpPr>
          <p:cNvPr id="15" name="Shape 13"/>
          <p:cNvSpPr/>
          <p:nvPr/>
        </p:nvSpPr>
        <p:spPr>
          <a:xfrm>
            <a:off x="10050628" y="3502152"/>
            <a:ext cx="0" cy="310896"/>
          </a:xfrm>
          <a:prstGeom prst="line">
            <a:avLst/>
          </a:prstGeom>
          <a:noFill/>
          <a:ln w="19050">
            <a:solidFill>
              <a:srgbClr val="3762FF"/>
            </a:solidFill>
            <a:prstDash val="solid"/>
            <a:tailEnd type="triangle"/>
          </a:ln>
        </p:spPr>
      </p:sp>
      <p:sp>
        <p:nvSpPr>
          <p:cNvPr id="16" name="Shape 14"/>
          <p:cNvSpPr/>
          <p:nvPr/>
        </p:nvSpPr>
        <p:spPr>
          <a:xfrm>
            <a:off x="8458200" y="3840480"/>
            <a:ext cx="3184855" cy="777240"/>
          </a:xfrm>
          <a:prstGeom prst="roundRect">
            <a:avLst>
              <a:gd name="adj" fmla="val 705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549640" y="3840480"/>
            <a:ext cx="3001975" cy="777240"/>
          </a:xfrm>
          <a:prstGeom prst="rect">
            <a:avLst/>
          </a:prstGeom>
          <a:noFill/>
          <a:ln/>
        </p:spPr>
        <p:txBody>
          <a:bodyPr wrap="square" lIns="0" tIns="0" rIns="0" bIns="0" rtlCol="0" anchor="ctr"/>
          <a:lstStyle/>
          <a:p>
            <a:pPr algn="ctr" indent="0" marL="0">
              <a:buNone/>
            </a:pPr>
            <a:r>
              <a:rPr lang="en-US" sz="1600" b="1" dirty="0">
                <a:solidFill>
                  <a:srgbClr val="16202B"/>
                </a:solidFill>
                <a:latin typeface="Calibri" pitchFamily="34" charset="0"/>
                <a:ea typeface="Calibri" pitchFamily="34" charset="-122"/>
                <a:cs typeface="Calibri" pitchFamily="34" charset="-120"/>
              </a:rPr>
              <a:t>Ingress</a:t>
            </a:r>
            <a:endParaRPr lang="en-US" sz="1600" dirty="0"/>
          </a:p>
        </p:txBody>
      </p:sp>
      <p:sp>
        <p:nvSpPr>
          <p:cNvPr id="18" name="Shape 16"/>
          <p:cNvSpPr/>
          <p:nvPr/>
        </p:nvSpPr>
        <p:spPr>
          <a:xfrm>
            <a:off x="8458200" y="4754880"/>
            <a:ext cx="3184855" cy="548640"/>
          </a:xfrm>
          <a:prstGeom prst="roundRect">
            <a:avLst>
              <a:gd name="adj" fmla="val 10000"/>
            </a:avLst>
          </a:prstGeom>
          <a:solidFill>
            <a:srgbClr val="E8EDFF"/>
          </a:solidFill>
          <a:ln w="12700">
            <a:solidFill>
              <a:srgbClr val="E8EDFF"/>
            </a:solidFill>
            <a:prstDash val="solid"/>
          </a:ln>
        </p:spPr>
      </p:sp>
      <p:sp>
        <p:nvSpPr>
          <p:cNvPr id="19" name="Text 17"/>
          <p:cNvSpPr txBox="1"/>
          <p:nvPr/>
        </p:nvSpPr>
        <p:spPr>
          <a:xfrm>
            <a:off x="8458200" y="4754880"/>
            <a:ext cx="3184855" cy="548640"/>
          </a:xfrm>
          <a:prstGeom prst="rect">
            <a:avLst/>
          </a:prstGeom>
          <a:noFill/>
          <a:ln/>
        </p:spPr>
        <p:txBody>
          <a:bodyPr wrap="square" lIns="0" tIns="0" rIns="0" bIns="0" rtlCol="0" anchor="ctr"/>
          <a:lstStyle/>
          <a:p>
            <a:pPr algn="ctr" indent="0" marL="0">
              <a:buNone/>
            </a:pPr>
            <a:r>
              <a:rPr lang="en-US" sz="1200" dirty="0">
                <a:solidFill>
                  <a:srgbClr val="4A5568"/>
                </a:solidFill>
                <a:latin typeface="Arial" pitchFamily="34" charset="0"/>
                <a:ea typeface="Arial" pitchFamily="34" charset="-122"/>
                <a:cs typeface="Arial" pitchFamily="34" charset="-120"/>
              </a:rPr>
              <a:t>Samma kedja som i tisdags</a:t>
            </a:r>
            <a:endParaRPr lang="en-US" sz="1200" dirty="0"/>
          </a:p>
        </p:txBody>
      </p:sp>
      <p:sp>
        <p:nvSpPr>
          <p:cNvPr id="20" name="Shape 18"/>
          <p:cNvSpPr/>
          <p:nvPr/>
        </p:nvSpPr>
        <p:spPr>
          <a:xfrm>
            <a:off x="548640" y="5532120"/>
            <a:ext cx="11094415" cy="685800"/>
          </a:xfrm>
          <a:prstGeom prst="roundRect">
            <a:avLst>
              <a:gd name="adj" fmla="val 8000"/>
            </a:avLst>
          </a:prstGeom>
          <a:solidFill>
            <a:srgbClr val="3762FF"/>
          </a:solidFill>
          <a:ln w="12700">
            <a:solidFill>
              <a:srgbClr val="3762FF"/>
            </a:solidFill>
            <a:prstDash val="solid"/>
          </a:ln>
        </p:spPr>
      </p:sp>
      <p:sp>
        <p:nvSpPr>
          <p:cNvPr id="21" name="Text 19"/>
          <p:cNvSpPr txBox="1"/>
          <p:nvPr/>
        </p:nvSpPr>
        <p:spPr>
          <a:xfrm>
            <a:off x="822960" y="5532120"/>
            <a:ext cx="10545775" cy="6858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Öppna http://hello.localhost </a:t>
            </a:r>
            <a:pPr indent="0" marL="0">
              <a:buNone/>
            </a:pPr>
            <a:r>
              <a:rPr lang="en-US" sz="1600" dirty="0">
                <a:solidFill>
                  <a:srgbClr val="FFFFFF"/>
                </a:solidFill>
                <a:latin typeface="Arial" pitchFamily="34" charset="0"/>
                <a:ea typeface="Arial" pitchFamily="34" charset="-122"/>
                <a:cs typeface="Arial" pitchFamily="34" charset="-120"/>
              </a:rPr>
              <a:t> i Chrome eller Edge → "Welcome to nginx!"</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UTFORSKA · STEG 8</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Installera en app med Helm</a:t>
            </a:r>
            <a:endParaRPr lang="en-US" sz="3000" dirty="0"/>
          </a:p>
        </p:txBody>
      </p:sp>
      <p:sp>
        <p:nvSpPr>
          <p:cNvPr id="4" name="Shape 2"/>
          <p:cNvSpPr/>
          <p:nvPr/>
        </p:nvSpPr>
        <p:spPr>
          <a:xfrm>
            <a:off x="548640" y="1554480"/>
            <a:ext cx="7132320" cy="3931920"/>
          </a:xfrm>
          <a:prstGeom prst="roundRect">
            <a:avLst>
              <a:gd name="adj" fmla="val 139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12648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675120" cy="3337560"/>
          </a:xfrm>
          <a:prstGeom prst="rect">
            <a:avLst/>
          </a:prstGeom>
          <a:noFill/>
          <a:ln/>
        </p:spPr>
        <p:txBody>
          <a:bodyPr wrap="square" lIns="0" tIns="0" rIns="0" bIns="0" rtlCol="0" anchor="t"/>
          <a:lstStyle/>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helm repo add podinfo https://stefanprodan.github.io/podinfo</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helm repo update</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helm install podinfo podinfo/podinfo -n test</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helm list -n test</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kubectl port-forward svc/podinfo 9898:9898 -n test</a:t>
            </a:r>
            <a:endParaRPr lang="en-US" sz="1250" dirty="0"/>
          </a:p>
          <a:p>
            <a:pPr indent="0" marL="0">
              <a:lnSpc>
                <a:spcPct val="110000"/>
              </a:lnSpc>
              <a:buNone/>
            </a:pPr>
            <a:r>
              <a:rPr lang="en-US" sz="1250" i="1" dirty="0">
                <a:solidFill>
                  <a:srgbClr val="B9C4D1"/>
                </a:solidFill>
                <a:latin typeface="Courier New" pitchFamily="34" charset="0"/>
                <a:ea typeface="Courier New" pitchFamily="34" charset="-122"/>
                <a:cs typeface="Courier New" pitchFamily="34" charset="-120"/>
              </a:rPr>
              <a:t># → öppna http://localhost:9898</a:t>
            </a:r>
            <a:endParaRPr lang="en-US" sz="1250" dirty="0"/>
          </a:p>
        </p:txBody>
      </p:sp>
      <p:sp>
        <p:nvSpPr>
          <p:cNvPr id="10" name="Shape 8"/>
          <p:cNvSpPr/>
          <p:nvPr/>
        </p:nvSpPr>
        <p:spPr>
          <a:xfrm>
            <a:off x="8001000" y="1554480"/>
            <a:ext cx="3642055" cy="1188720"/>
          </a:xfrm>
          <a:prstGeom prst="roundRect">
            <a:avLst>
              <a:gd name="adj" fmla="val 461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202168" y="1755648"/>
            <a:ext cx="323971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podinfo</a:t>
            </a:r>
            <a:endParaRPr lang="en-US" sz="1600" dirty="0"/>
          </a:p>
        </p:txBody>
      </p:sp>
      <p:sp>
        <p:nvSpPr>
          <p:cNvPr id="12" name="Text 10"/>
          <p:cNvSpPr txBox="1"/>
          <p:nvPr/>
        </p:nvSpPr>
        <p:spPr>
          <a:xfrm>
            <a:off x="8202168" y="2139696"/>
            <a:ext cx="3239719" cy="4480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En liten demo-webbapp som ofta används för att testa kluster.</a:t>
            </a:r>
            <a:endParaRPr lang="en-US" sz="1300" dirty="0"/>
          </a:p>
        </p:txBody>
      </p:sp>
      <p:sp>
        <p:nvSpPr>
          <p:cNvPr id="13" name="Shape 11"/>
          <p:cNvSpPr/>
          <p:nvPr/>
        </p:nvSpPr>
        <p:spPr>
          <a:xfrm>
            <a:off x="8001000" y="2926080"/>
            <a:ext cx="3642055" cy="1188720"/>
          </a:xfrm>
          <a:prstGeom prst="roundRect">
            <a:avLst>
              <a:gd name="adj" fmla="val 461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202168" y="3127248"/>
            <a:ext cx="323971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Vad skapades?</a:t>
            </a:r>
            <a:endParaRPr lang="en-US" sz="1600" dirty="0"/>
          </a:p>
        </p:txBody>
      </p:sp>
      <p:sp>
        <p:nvSpPr>
          <p:cNvPr id="15" name="Text 13"/>
          <p:cNvSpPr txBox="1"/>
          <p:nvPr/>
        </p:nvSpPr>
        <p:spPr>
          <a:xfrm>
            <a:off x="8202168" y="3511296"/>
            <a:ext cx="3239719" cy="4480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Kolla i k9s: en Deployment, en Service och poddar - från ett kommando.</a:t>
            </a:r>
            <a:endParaRPr lang="en-US" sz="1300" dirty="0"/>
          </a:p>
        </p:txBody>
      </p:sp>
      <p:sp>
        <p:nvSpPr>
          <p:cNvPr id="16" name="Shape 14"/>
          <p:cNvSpPr/>
          <p:nvPr/>
        </p:nvSpPr>
        <p:spPr>
          <a:xfrm>
            <a:off x="8001000" y="4297680"/>
            <a:ext cx="3642055" cy="1188720"/>
          </a:xfrm>
          <a:prstGeom prst="roundRect">
            <a:avLst>
              <a:gd name="adj" fmla="val 4615"/>
            </a:avLst>
          </a:prstGeom>
          <a:solidFill>
            <a:srgbClr val="3762FF"/>
          </a:solidFill>
          <a:ln w="12700">
            <a:solidFill>
              <a:srgbClr val="3762FF"/>
            </a:solidFill>
            <a:prstDash val="solid"/>
          </a:ln>
        </p:spPr>
      </p:sp>
      <p:sp>
        <p:nvSpPr>
          <p:cNvPr id="17" name="Text 15"/>
          <p:cNvSpPr txBox="1"/>
          <p:nvPr/>
        </p:nvSpPr>
        <p:spPr>
          <a:xfrm>
            <a:off x="8202168" y="4498848"/>
            <a:ext cx="3239719"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port-forward</a:t>
            </a:r>
            <a:endParaRPr lang="en-US" sz="1600" dirty="0"/>
          </a:p>
        </p:txBody>
      </p:sp>
      <p:sp>
        <p:nvSpPr>
          <p:cNvPr id="18" name="Text 16"/>
          <p:cNvSpPr txBox="1"/>
          <p:nvPr/>
        </p:nvSpPr>
        <p:spPr>
          <a:xfrm>
            <a:off x="8202168" y="4882896"/>
            <a:ext cx="3239719" cy="4480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Tunnlar en port från er dator direkt till en service. Ctrl+C avslutar.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UTFORSKA · STEG 9</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Kontrollera registryt - inför nästa gång</a:t>
            </a:r>
            <a:endParaRPr lang="en-US" sz="3000" dirty="0"/>
          </a:p>
        </p:txBody>
      </p:sp>
      <p:sp>
        <p:nvSpPr>
          <p:cNvPr id="4" name="Shape 2"/>
          <p:cNvSpPr/>
          <p:nvPr/>
        </p:nvSpPr>
        <p:spPr>
          <a:xfrm>
            <a:off x="548640" y="1554480"/>
            <a:ext cx="7223760" cy="3657600"/>
          </a:xfrm>
          <a:prstGeom prst="roundRect">
            <a:avLst>
              <a:gd name="adj" fmla="val 1500"/>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766560" cy="3063240"/>
          </a:xfrm>
          <a:prstGeom prst="rect">
            <a:avLst/>
          </a:prstGeom>
          <a:noFill/>
          <a:ln/>
        </p:spPr>
        <p:txBody>
          <a:bodyPr wrap="square" lIns="0" tIns="0" rIns="0" bIns="0" rtlCol="0" anchor="t"/>
          <a:lstStyle/>
          <a:p>
            <a:pPr indent="0" marL="0">
              <a:lnSpc>
                <a:spcPct val="110000"/>
              </a:lnSpc>
              <a:buNone/>
            </a:pPr>
            <a:r>
              <a:rPr lang="en-US" sz="1250" i="1" dirty="0">
                <a:solidFill>
                  <a:srgbClr val="B9C4D1"/>
                </a:solidFill>
                <a:latin typeface="Courier New" pitchFamily="34" charset="0"/>
                <a:ea typeface="Courier New" pitchFamily="34" charset="-122"/>
                <a:cs typeface="Courier New" pitchFamily="34" charset="-120"/>
              </a:rPr>
              <a:t># Från Windows: localhost:5000</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docker pull nginx:alpine</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docker tag nginx:alpine localhost:5000/nginx:test</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docker push localhost:5000/nginx:test</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indent="0" marL="0">
              <a:lnSpc>
                <a:spcPct val="110000"/>
              </a:lnSpc>
              <a:buNone/>
            </a:pPr>
            <a:r>
              <a:rPr lang="en-US" sz="1250" i="1" dirty="0">
                <a:solidFill>
                  <a:srgbClr val="B9C4D1"/>
                </a:solidFill>
                <a:latin typeface="Courier New" pitchFamily="34" charset="0"/>
                <a:ea typeface="Courier New" pitchFamily="34" charset="-122"/>
                <a:cs typeface="Courier New" pitchFamily="34" charset="-120"/>
              </a:rPr>
              <a:t># Inifrån klustret: registry:5000</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kubectl run regtest -n test `</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  --image=registry:5000/nginx:test</a:t>
            </a:r>
            <a:endParaRPr lang="en-US" sz="1250" dirty="0"/>
          </a:p>
          <a:p>
            <a:pPr indent="0" marL="0">
              <a:lnSpc>
                <a:spcPct val="110000"/>
              </a:lnSpc>
              <a:buNone/>
            </a:pPr>
            <a:r>
              <a:rPr lang="en-US" sz="1250" dirty="0">
                <a:solidFill>
                  <a:srgbClr val="DDE3EA"/>
                </a:solidFill>
                <a:latin typeface="Courier New" pitchFamily="34" charset="0"/>
                <a:ea typeface="Courier New" pitchFamily="34" charset="-122"/>
                <a:cs typeface="Courier New" pitchFamily="34" charset="-120"/>
              </a:rPr>
              <a:t>kubectl get pod regtest -n test</a:t>
            </a:r>
            <a:endParaRPr lang="en-US" sz="1250" dirty="0"/>
          </a:p>
        </p:txBody>
      </p:sp>
      <p:sp>
        <p:nvSpPr>
          <p:cNvPr id="10" name="Shape 8"/>
          <p:cNvSpPr/>
          <p:nvPr/>
        </p:nvSpPr>
        <p:spPr>
          <a:xfrm>
            <a:off x="8092440" y="1554480"/>
            <a:ext cx="3550615" cy="1691640"/>
          </a:xfrm>
          <a:prstGeom prst="roundRect">
            <a:avLst>
              <a:gd name="adj" fmla="val 3243"/>
            </a:avLst>
          </a:prstGeom>
          <a:solidFill>
            <a:srgbClr val="16294A"/>
          </a:solidFill>
          <a:ln w="12700">
            <a:solidFill>
              <a:srgbClr val="16294A"/>
            </a:solidFill>
            <a:prstDash val="solid"/>
          </a:ln>
        </p:spPr>
      </p:sp>
      <p:sp>
        <p:nvSpPr>
          <p:cNvPr id="11" name="Text 9"/>
          <p:cNvSpPr txBox="1"/>
          <p:nvPr/>
        </p:nvSpPr>
        <p:spPr>
          <a:xfrm>
            <a:off x="8293608" y="1755648"/>
            <a:ext cx="3148279"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Varför?</a:t>
            </a:r>
            <a:endParaRPr lang="en-US" sz="1600" dirty="0"/>
          </a:p>
        </p:txBody>
      </p:sp>
      <p:sp>
        <p:nvSpPr>
          <p:cNvPr id="12" name="Text 10"/>
          <p:cNvSpPr txBox="1"/>
          <p:nvPr/>
        </p:nvSpPr>
        <p:spPr>
          <a:xfrm>
            <a:off x="8293608" y="2139696"/>
            <a:ext cx="3148279" cy="95097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Nästa gång bygger vi en egen .NET-image, pushar den hit och kör den i klustret.</a:t>
            </a:r>
            <a:endParaRPr lang="en-US" sz="1300" dirty="0"/>
          </a:p>
        </p:txBody>
      </p:sp>
      <p:sp>
        <p:nvSpPr>
          <p:cNvPr id="13" name="Shape 11"/>
          <p:cNvSpPr/>
          <p:nvPr/>
        </p:nvSpPr>
        <p:spPr>
          <a:xfrm>
            <a:off x="8092440" y="3520440"/>
            <a:ext cx="3550615" cy="1691640"/>
          </a:xfrm>
          <a:prstGeom prst="roundRect">
            <a:avLst>
              <a:gd name="adj" fmla="val 3243"/>
            </a:avLst>
          </a:prstGeom>
          <a:solidFill>
            <a:srgbClr val="3762FF"/>
          </a:solidFill>
          <a:ln w="12700">
            <a:solidFill>
              <a:srgbClr val="3762FF"/>
            </a:solidFill>
            <a:prstDash val="solid"/>
          </a:ln>
        </p:spPr>
      </p:sp>
      <p:sp>
        <p:nvSpPr>
          <p:cNvPr id="14" name="Text 12"/>
          <p:cNvSpPr txBox="1"/>
          <p:nvPr/>
        </p:nvSpPr>
        <p:spPr>
          <a:xfrm>
            <a:off x="8293608" y="3721608"/>
            <a:ext cx="3148279"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Klart när</a:t>
            </a:r>
            <a:endParaRPr lang="en-US" sz="1600" dirty="0"/>
          </a:p>
        </p:txBody>
      </p:sp>
      <p:sp>
        <p:nvSpPr>
          <p:cNvPr id="15" name="Text 13"/>
          <p:cNvSpPr txBox="1"/>
          <p:nvPr/>
        </p:nvSpPr>
        <p:spPr>
          <a:xfrm>
            <a:off x="8293608" y="4105656"/>
            <a:ext cx="3148279" cy="9509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regtest har status Running - klustret kan hämta images från vårt eget registry.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FELSÖKNING · LIVSCYKEL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Starta, stoppa och bygga om klustret</a:t>
            </a:r>
            <a:endParaRPr lang="en-US" sz="3000" dirty="0"/>
          </a:p>
        </p:txBody>
      </p:sp>
      <p:sp>
        <p:nvSpPr>
          <p:cNvPr id="4" name="Shape 2"/>
          <p:cNvSpPr/>
          <p:nvPr/>
        </p:nvSpPr>
        <p:spPr>
          <a:xfrm>
            <a:off x="548640" y="1600200"/>
            <a:ext cx="5410048" cy="1371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77240" y="1828800"/>
            <a:ext cx="4952848" cy="411480"/>
          </a:xfrm>
          <a:prstGeom prst="rect">
            <a:avLst/>
          </a:prstGeom>
          <a:noFill/>
          <a:ln/>
        </p:spPr>
        <p:txBody>
          <a:bodyPr wrap="square" lIns="0" tIns="0" rIns="0" bIns="0" rtlCol="0" anchor="ctr"/>
          <a:lstStyle/>
          <a:p>
            <a:pPr indent="0" marL="0">
              <a:buNone/>
            </a:pPr>
            <a:r>
              <a:rPr lang="en-US" sz="1700" b="1" dirty="0">
                <a:solidFill>
                  <a:srgbClr val="16202B"/>
                </a:solidFill>
                <a:latin typeface="Courier New" pitchFamily="34" charset="0"/>
                <a:ea typeface="Courier New" pitchFamily="34" charset="-122"/>
                <a:cs typeface="Courier New" pitchFamily="34" charset="-120"/>
              </a:rPr>
              <a:t>k3d cluster list</a:t>
            </a:r>
            <a:endParaRPr lang="en-US" sz="1700" dirty="0"/>
          </a:p>
        </p:txBody>
      </p:sp>
      <p:sp>
        <p:nvSpPr>
          <p:cNvPr id="6" name="Text 4"/>
          <p:cNvSpPr txBox="1"/>
          <p:nvPr/>
        </p:nvSpPr>
        <p:spPr>
          <a:xfrm>
            <a:off x="777240" y="2331720"/>
            <a:ext cx="4952848" cy="45720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Vilka kluster finns och körs?</a:t>
            </a:r>
            <a:endParaRPr lang="en-US" sz="1400" dirty="0"/>
          </a:p>
        </p:txBody>
      </p:sp>
      <p:sp>
        <p:nvSpPr>
          <p:cNvPr id="7" name="Shape 5"/>
          <p:cNvSpPr/>
          <p:nvPr/>
        </p:nvSpPr>
        <p:spPr>
          <a:xfrm>
            <a:off x="6233008" y="1600200"/>
            <a:ext cx="5410048" cy="1371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6461608" y="1828800"/>
            <a:ext cx="4952848" cy="411480"/>
          </a:xfrm>
          <a:prstGeom prst="rect">
            <a:avLst/>
          </a:prstGeom>
          <a:noFill/>
          <a:ln/>
        </p:spPr>
        <p:txBody>
          <a:bodyPr wrap="square" lIns="0" tIns="0" rIns="0" bIns="0" rtlCol="0" anchor="ctr"/>
          <a:lstStyle/>
          <a:p>
            <a:pPr indent="0" marL="0">
              <a:buNone/>
            </a:pPr>
            <a:r>
              <a:rPr lang="en-US" sz="1700" b="1" dirty="0">
                <a:solidFill>
                  <a:srgbClr val="16202B"/>
                </a:solidFill>
                <a:latin typeface="Courier New" pitchFamily="34" charset="0"/>
                <a:ea typeface="Courier New" pitchFamily="34" charset="-122"/>
                <a:cs typeface="Courier New" pitchFamily="34" charset="-120"/>
              </a:rPr>
              <a:t>k3d cluster stop home</a:t>
            </a:r>
            <a:endParaRPr lang="en-US" sz="1700" dirty="0"/>
          </a:p>
        </p:txBody>
      </p:sp>
      <p:sp>
        <p:nvSpPr>
          <p:cNvPr id="9" name="Text 7"/>
          <p:cNvSpPr txBox="1"/>
          <p:nvPr/>
        </p:nvSpPr>
        <p:spPr>
          <a:xfrm>
            <a:off x="6461608" y="2331720"/>
            <a:ext cx="4952848" cy="45720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Pausar containrarna. Frigör minne när ni inte jobbar.</a:t>
            </a:r>
            <a:endParaRPr lang="en-US" sz="1400" dirty="0"/>
          </a:p>
        </p:txBody>
      </p:sp>
      <p:sp>
        <p:nvSpPr>
          <p:cNvPr id="10" name="Shape 8"/>
          <p:cNvSpPr/>
          <p:nvPr/>
        </p:nvSpPr>
        <p:spPr>
          <a:xfrm>
            <a:off x="548640" y="3200400"/>
            <a:ext cx="5410048" cy="1371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77240" y="3429000"/>
            <a:ext cx="4952848" cy="411480"/>
          </a:xfrm>
          <a:prstGeom prst="rect">
            <a:avLst/>
          </a:prstGeom>
          <a:noFill/>
          <a:ln/>
        </p:spPr>
        <p:txBody>
          <a:bodyPr wrap="square" lIns="0" tIns="0" rIns="0" bIns="0" rtlCol="0" anchor="ctr"/>
          <a:lstStyle/>
          <a:p>
            <a:pPr indent="0" marL="0">
              <a:buNone/>
            </a:pPr>
            <a:r>
              <a:rPr lang="en-US" sz="1700" b="1" dirty="0">
                <a:solidFill>
                  <a:srgbClr val="16202B"/>
                </a:solidFill>
                <a:latin typeface="Courier New" pitchFamily="34" charset="0"/>
                <a:ea typeface="Courier New" pitchFamily="34" charset="-122"/>
                <a:cs typeface="Courier New" pitchFamily="34" charset="-120"/>
              </a:rPr>
              <a:t>k3d cluster start home</a:t>
            </a:r>
            <a:endParaRPr lang="en-US" sz="1700" dirty="0"/>
          </a:p>
        </p:txBody>
      </p:sp>
      <p:sp>
        <p:nvSpPr>
          <p:cNvPr id="12" name="Text 10"/>
          <p:cNvSpPr txBox="1"/>
          <p:nvPr/>
        </p:nvSpPr>
        <p:spPr>
          <a:xfrm>
            <a:off x="777240" y="3931920"/>
            <a:ext cx="4952848" cy="457200"/>
          </a:xfrm>
          <a:prstGeom prst="rect">
            <a:avLst/>
          </a:prstGeom>
          <a:noFill/>
          <a:ln/>
        </p:spPr>
        <p:txBody>
          <a:bodyPr wrap="square" lIns="0" tIns="0" rIns="0" bIns="0" rtlCol="0" anchor="ctr"/>
          <a:lstStyle/>
          <a:p>
            <a:pPr indent="0" marL="0">
              <a:buNone/>
            </a:pPr>
            <a:r>
              <a:rPr lang="en-US" sz="1400" dirty="0">
                <a:solidFill>
                  <a:srgbClr val="4A5568"/>
                </a:solidFill>
                <a:latin typeface="Arial" pitchFamily="34" charset="0"/>
                <a:ea typeface="Arial" pitchFamily="34" charset="-122"/>
                <a:cs typeface="Arial" pitchFamily="34" charset="-120"/>
              </a:rPr>
              <a:t>Startar igen - allt ni deployat finns kvar.</a:t>
            </a:r>
            <a:endParaRPr lang="en-US" sz="1400" dirty="0"/>
          </a:p>
        </p:txBody>
      </p:sp>
      <p:sp>
        <p:nvSpPr>
          <p:cNvPr id="13" name="Shape 11"/>
          <p:cNvSpPr/>
          <p:nvPr/>
        </p:nvSpPr>
        <p:spPr>
          <a:xfrm>
            <a:off x="6233008" y="3200400"/>
            <a:ext cx="5410048" cy="1371600"/>
          </a:xfrm>
          <a:prstGeom prst="roundRect">
            <a:avLst>
              <a:gd name="adj" fmla="val 4000"/>
            </a:avLst>
          </a:prstGeom>
          <a:solidFill>
            <a:srgbClr val="3762FF"/>
          </a:solidFill>
          <a:ln w="12700">
            <a:solidFill>
              <a:srgbClr val="3762FF"/>
            </a:solidFill>
            <a:prstDash val="solid"/>
          </a:ln>
        </p:spPr>
      </p:sp>
      <p:sp>
        <p:nvSpPr>
          <p:cNvPr id="14" name="Text 12"/>
          <p:cNvSpPr txBox="1"/>
          <p:nvPr/>
        </p:nvSpPr>
        <p:spPr>
          <a:xfrm>
            <a:off x="6461608" y="3429000"/>
            <a:ext cx="4952848" cy="41148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k3d cluster delete home</a:t>
            </a:r>
            <a:endParaRPr lang="en-US" sz="1700" dirty="0"/>
          </a:p>
        </p:txBody>
      </p:sp>
      <p:sp>
        <p:nvSpPr>
          <p:cNvPr id="15" name="Text 13"/>
          <p:cNvSpPr txBox="1"/>
          <p:nvPr/>
        </p:nvSpPr>
        <p:spPr>
          <a:xfrm>
            <a:off x="6461608" y="3931920"/>
            <a:ext cx="4952848"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Raderar klustret. Mapparna i C:\data\shared finns kvar.</a:t>
            </a:r>
            <a:endParaRPr lang="en-US" sz="1400" dirty="0"/>
          </a:p>
        </p:txBody>
      </p:sp>
      <p:sp>
        <p:nvSpPr>
          <p:cNvPr id="16" name="Shape 14"/>
          <p:cNvSpPr/>
          <p:nvPr/>
        </p:nvSpPr>
        <p:spPr>
          <a:xfrm>
            <a:off x="548640" y="4937760"/>
            <a:ext cx="11094415" cy="1005840"/>
          </a:xfrm>
          <a:prstGeom prst="roundRect">
            <a:avLst>
              <a:gd name="adj" fmla="val 545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749808" y="5102352"/>
            <a:ext cx="109728" cy="109728"/>
          </a:xfrm>
          <a:prstGeom prst="ellipse">
            <a:avLst/>
          </a:prstGeom>
          <a:solidFill>
            <a:srgbClr val="D64545"/>
          </a:solidFill>
          <a:ln w="12700">
            <a:solidFill>
              <a:srgbClr val="D64545"/>
            </a:solidFill>
            <a:prstDash val="solid"/>
          </a:ln>
        </p:spPr>
      </p:sp>
      <p:sp>
        <p:nvSpPr>
          <p:cNvPr id="18" name="Shape 16"/>
          <p:cNvSpPr/>
          <p:nvPr/>
        </p:nvSpPr>
        <p:spPr>
          <a:xfrm>
            <a:off x="932688" y="5102352"/>
            <a:ext cx="109728" cy="109728"/>
          </a:xfrm>
          <a:prstGeom prst="ellipse">
            <a:avLst/>
          </a:prstGeom>
          <a:solidFill>
            <a:srgbClr val="FFB020"/>
          </a:solidFill>
          <a:ln w="12700">
            <a:solidFill>
              <a:srgbClr val="FFB020"/>
            </a:solidFill>
            <a:prstDash val="solid"/>
          </a:ln>
        </p:spPr>
      </p:sp>
      <p:sp>
        <p:nvSpPr>
          <p:cNvPr id="19" name="Shape 17"/>
          <p:cNvSpPr/>
          <p:nvPr/>
        </p:nvSpPr>
        <p:spPr>
          <a:xfrm>
            <a:off x="1115568" y="5102352"/>
            <a:ext cx="109728" cy="109728"/>
          </a:xfrm>
          <a:prstGeom prst="ellipse">
            <a:avLst/>
          </a:prstGeom>
          <a:solidFill>
            <a:srgbClr val="3CB371"/>
          </a:solidFill>
          <a:ln w="12700">
            <a:solidFill>
              <a:srgbClr val="3CB371"/>
            </a:solidFill>
            <a:prstDash val="solid"/>
          </a:ln>
        </p:spPr>
      </p:sp>
      <p:sp>
        <p:nvSpPr>
          <p:cNvPr id="20" name="Text 18"/>
          <p:cNvSpPr txBox="1"/>
          <p:nvPr/>
        </p:nvSpPr>
        <p:spPr>
          <a:xfrm>
            <a:off x="1371600" y="5029200"/>
            <a:ext cx="10088575"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21" name="Text 19"/>
          <p:cNvSpPr txBox="1"/>
          <p:nvPr/>
        </p:nvSpPr>
        <p:spPr>
          <a:xfrm>
            <a:off x="777240" y="5394960"/>
            <a:ext cx="10637215" cy="411480"/>
          </a:xfrm>
          <a:prstGeom prst="rect">
            <a:avLst/>
          </a:prstGeom>
          <a:noFill/>
          <a:ln/>
        </p:spPr>
        <p:txBody>
          <a:bodyPr wrap="square" lIns="0" tIns="0" rIns="0" bIns="0" rtlCol="0" anchor="t"/>
          <a:lstStyle/>
          <a:p>
            <a:pPr indent="0" marL="0">
              <a:lnSpc>
                <a:spcPct val="110000"/>
              </a:lnSpc>
              <a:buNone/>
            </a:pPr>
            <a:r>
              <a:rPr lang="en-US" sz="1400" dirty="0">
                <a:solidFill>
                  <a:srgbClr val="DDE3EA"/>
                </a:solidFill>
                <a:latin typeface="Courier New" pitchFamily="34" charset="0"/>
                <a:ea typeface="Courier New" pitchFamily="34" charset="-122"/>
                <a:cs typeface="Courier New" pitchFamily="34" charset="-120"/>
              </a:rPr>
              <a:t>kubectl delete namespace test    # städa bort kvällens testobjekt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FELSÖKNING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Vanliga fel och vad ni gör åt dem</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474720"/>
                <a:gridCol w="3566160"/>
                <a:gridCol w="4050792"/>
              </a:tblGrid>
              <a:tr h="566928">
                <a:tc>
                  <a:txBody>
                    <a:bodyPr/>
                    <a:lstStyle/>
                    <a:p>
                      <a:pPr indent="0" marL="0">
                        <a:buNone/>
                      </a:pPr>
                      <a:r>
                        <a:rPr lang="en-US" sz="1500" b="1" dirty="0">
                          <a:solidFill>
                            <a:srgbClr val="16202B"/>
                          </a:solidFill>
                          <a:latin typeface="Calibri" pitchFamily="34" charset="0"/>
                          <a:ea typeface="Calibri" pitchFamily="34" charset="-122"/>
                          <a:cs typeface="Calibri" pitchFamily="34" charset="-120"/>
                        </a:rPr>
                        <a:t>Symptom</a:t>
                      </a: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indent="0" marL="0">
                        <a:buNone/>
                      </a:pPr>
                      <a:r>
                        <a:rPr lang="en-US" sz="1500" b="1" dirty="0">
                          <a:solidFill>
                            <a:srgbClr val="16202B"/>
                          </a:solidFill>
                          <a:latin typeface="Calibri" pitchFamily="34" charset="0"/>
                          <a:ea typeface="Calibri" pitchFamily="34" charset="-122"/>
                          <a:cs typeface="Calibri" pitchFamily="34" charset="-120"/>
                        </a:rPr>
                        <a:t>Orsak</a:t>
                      </a: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indent="0" marL="0">
                        <a:buNone/>
                      </a:pPr>
                      <a:r>
                        <a:rPr lang="en-US" sz="1500" b="1" dirty="0">
                          <a:solidFill>
                            <a:srgbClr val="16202B"/>
                          </a:solidFill>
                          <a:latin typeface="Calibri" pitchFamily="34" charset="0"/>
                          <a:ea typeface="Calibri" pitchFamily="34" charset="-122"/>
                          <a:cs typeface="Calibri" pitchFamily="34" charset="-120"/>
                        </a:rPr>
                        <a:t>Åtgärd</a:t>
                      </a:r>
                      <a:endParaRPr lang="en-US" sz="1500" dirty="0">
                        <a:latin typeface="Calibri" charset="0"/>
                        <a:ea typeface="Calibri" charset="0"/>
                        <a:cs typeface="Calibri"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Cannot connect to the Docker daemon</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Docker Desktop körs inte</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Starta Docker Desktop, vänta på "Engine running"</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port is already allocated</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En lokal tjänst använder porten (MySQL, IIS …)</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netstat -ano | findstr ":3306" - stoppa tjänsten</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'k3d' is not recognized</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Terminalen har gammal PATH</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Stäng och öppna en ny terminal</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kubectl visar fel kluster</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Fel context aktiv</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kubectl config use-context k3d-home</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Timeout vid cluster create</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Första nedladdningen tar tid</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k3d cluster delete home - kör create igen</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566928">
                <a:tc>
                  <a:txBody>
                    <a:bodyPr/>
                    <a:lstStyle/>
                    <a:p>
                      <a:pPr indent="0" marL="0">
                        <a:buNone/>
                      </a:pPr>
                      <a:r>
                        <a:rPr lang="en-US" sz="1300" b="1" dirty="0">
                          <a:solidFill>
                            <a:srgbClr val="16202B"/>
                          </a:solidFill>
                          <a:latin typeface="Arial" pitchFamily="34" charset="0"/>
                          <a:ea typeface="Arial" pitchFamily="34" charset="-122"/>
                          <a:cs typeface="Arial" pitchFamily="34" charset="-120"/>
                        </a:rPr>
                        <a:t>Pod i ImagePullBackOff</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Fel image-namn eller registry</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indent="0" marL="0">
                        <a:buNone/>
                      </a:pPr>
                      <a:r>
                        <a:rPr lang="en-US" sz="1300" dirty="0">
                          <a:solidFill>
                            <a:srgbClr val="4A5568"/>
                          </a:solidFill>
                          <a:latin typeface="Arial" pitchFamily="34" charset="0"/>
                          <a:ea typeface="Arial" pitchFamily="34" charset="-122"/>
                          <a:cs typeface="Arial" pitchFamily="34" charset="-120"/>
                        </a:rPr>
                        <a:t>kubectl describe pod … - läs Events</a:t>
                      </a:r>
                      <a:endParaRPr lang="en-US" sz="1300" dirty="0">
                        <a:latin typeface="Arial" charset="0"/>
                        <a:ea typeface="Arial" charset="0"/>
                        <a:cs typeface="Arial" charset="0"/>
                      </a:endParaRPr>
                    </a:p>
                  </a:txBody>
                  <a:tcPr marL="109728" marR="109728"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Tio begrepp att ta med sig hem</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k3s</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Lättviktig, certifierad Kubernetes</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k3d</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Kör k3s-noder som Docker-containrar</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Docker Desktop</a:t>
            </a:r>
            <a:endParaRPr lang="en-US" sz="16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Kör containrar på Windows via WSL2</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kubectl</a:t>
            </a:r>
            <a:endParaRPr lang="en-US" sz="16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Klienten mot Kubernetes API</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kubeconfig</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Filen som säger var klustret finns</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Context</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Vilket kluster kommandona går till</a:t>
            </a:r>
            <a:endParaRPr lang="en-US" sz="1300" dirty="0"/>
          </a:p>
        </p:txBody>
      </p:sp>
      <p:sp>
        <p:nvSpPr>
          <p:cNvPr id="22" name="Shape 20"/>
          <p:cNvSpPr/>
          <p:nvPr/>
        </p:nvSpPr>
        <p:spPr>
          <a:xfrm>
            <a:off x="2804099"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Helm</a:t>
            </a:r>
            <a:endParaRPr lang="en-US" sz="16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Pakethanterare - chart blir release</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k9s</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Terminal-UI för klustret i realtid</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Traefik</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Ingress-controllern som tar emot port 80</a:t>
            </a:r>
            <a:endParaRPr lang="en-US" sz="1300" dirty="0"/>
          </a:p>
        </p:txBody>
      </p:sp>
      <p:sp>
        <p:nvSpPr>
          <p:cNvPr id="31" name="Shape 29"/>
          <p:cNvSpPr/>
          <p:nvPr/>
        </p:nvSpPr>
        <p:spPr>
          <a:xfrm>
            <a:off x="9570476" y="3703320"/>
            <a:ext cx="2072579" cy="1874520"/>
          </a:xfrm>
          <a:prstGeom prst="roundRect">
            <a:avLst>
              <a:gd name="adj" fmla="val 2927"/>
            </a:avLst>
          </a:prstGeom>
          <a:solidFill>
            <a:srgbClr val="3762FF"/>
          </a:solidFill>
          <a:ln w="12700">
            <a:solidFill>
              <a:srgbClr val="3762FF"/>
            </a:solidFill>
            <a:prstDash val="solid"/>
          </a:ln>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Klustret som fil</a:t>
            </a:r>
            <a:endParaRPr lang="en-US" sz="16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Samma config = samma kluster, varje gång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Kväll 3-8: nu har vi en plattform</a:t>
            </a:r>
            <a:endParaRPr lang="en-US" sz="30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indent="0" marL="0">
              <a:lnSpc>
                <a:spcPct val="120000"/>
              </a:lnSpc>
              <a:buNone/>
            </a:pPr>
            <a:r>
              <a:rPr lang="en-US" sz="1500" dirty="0">
                <a:solidFill>
                  <a:srgbClr val="B9C4D1"/>
                </a:solidFill>
                <a:latin typeface="Arial" pitchFamily="34" charset="0"/>
                <a:ea typeface="Arial" pitchFamily="34" charset="-122"/>
                <a:cs typeface="Arial" pitchFamily="34" charset="-120"/>
              </a:rPr>
              <a:t>Klustret "home" är vår gemensamma plattform resten av kursen. Härifrån bygger vi vidare med er egen kod:</a:t>
            </a:r>
            <a:endParaRPr lang="en-US" sz="1500" dirty="0"/>
          </a:p>
        </p:txBody>
      </p:sp>
      <p:sp>
        <p:nvSpPr>
          <p:cNvPr id="5" name="Shape 3"/>
          <p:cNvSpPr/>
          <p:nvPr/>
        </p:nvSpPr>
        <p:spPr>
          <a:xfrm>
            <a:off x="548640" y="2103120"/>
            <a:ext cx="2636444" cy="1600200"/>
          </a:xfrm>
          <a:prstGeom prst="roundRect">
            <a:avLst>
              <a:gd name="adj" fmla="val 3429"/>
            </a:avLst>
          </a:prstGeom>
          <a:solidFill>
            <a:srgbClr val="16294A"/>
          </a:solidFill>
          <a:ln w="12700">
            <a:solidFill>
              <a:srgbClr val="16294A"/>
            </a:solidFill>
            <a:prstDash val="solid"/>
          </a:ln>
        </p:spPr>
      </p:sp>
      <p:sp>
        <p:nvSpPr>
          <p:cNvPr id="6" name="Text 4"/>
          <p:cNvSpPr txBox="1"/>
          <p:nvPr/>
        </p:nvSpPr>
        <p:spPr>
          <a:xfrm>
            <a:off x="749808" y="23042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.NET API</a:t>
            </a:r>
            <a:endParaRPr lang="en-US" sz="1600" dirty="0"/>
          </a:p>
        </p:txBody>
      </p:sp>
      <p:sp>
        <p:nvSpPr>
          <p:cNvPr id="7" name="Text 5"/>
          <p:cNvSpPr txBox="1"/>
          <p:nvPr/>
        </p:nvSpPr>
        <p:spPr>
          <a:xfrm>
            <a:off x="749808" y="26883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Egen image → registry → Deployment</a:t>
            </a:r>
            <a:endParaRPr lang="en-US" sz="1300" dirty="0"/>
          </a:p>
        </p:txBody>
      </p:sp>
      <p:sp>
        <p:nvSpPr>
          <p:cNvPr id="8" name="Shape 6"/>
          <p:cNvSpPr/>
          <p:nvPr/>
        </p:nvSpPr>
        <p:spPr>
          <a:xfrm>
            <a:off x="3367964" y="2103120"/>
            <a:ext cx="2636444" cy="1600200"/>
          </a:xfrm>
          <a:prstGeom prst="roundRect">
            <a:avLst>
              <a:gd name="adj" fmla="val 3429"/>
            </a:avLst>
          </a:prstGeom>
          <a:solidFill>
            <a:srgbClr val="16294A"/>
          </a:solidFill>
          <a:ln w="12700">
            <a:solidFill>
              <a:srgbClr val="16294A"/>
            </a:solidFill>
            <a:prstDash val="solid"/>
          </a:ln>
        </p:spPr>
      </p:sp>
      <p:sp>
        <p:nvSpPr>
          <p:cNvPr id="9" name="Text 7"/>
          <p:cNvSpPr txBox="1"/>
          <p:nvPr/>
        </p:nvSpPr>
        <p:spPr>
          <a:xfrm>
            <a:off x="3569132" y="23042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Angular-frontend</a:t>
            </a:r>
            <a:endParaRPr lang="en-US" sz="1600" dirty="0"/>
          </a:p>
        </p:txBody>
      </p:sp>
      <p:sp>
        <p:nvSpPr>
          <p:cNvPr id="10" name="Text 8"/>
          <p:cNvSpPr txBox="1"/>
          <p:nvPr/>
        </p:nvSpPr>
        <p:spPr>
          <a:xfrm>
            <a:off x="3569132" y="26883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Bakom Traefik-ingressen</a:t>
            </a:r>
            <a:endParaRPr lang="en-US" sz="1300" dirty="0"/>
          </a:p>
        </p:txBody>
      </p:sp>
      <p:sp>
        <p:nvSpPr>
          <p:cNvPr id="11" name="Shape 9"/>
          <p:cNvSpPr/>
          <p:nvPr/>
        </p:nvSpPr>
        <p:spPr>
          <a:xfrm>
            <a:off x="6187288" y="2103120"/>
            <a:ext cx="2636444" cy="1600200"/>
          </a:xfrm>
          <a:prstGeom prst="roundRect">
            <a:avLst>
              <a:gd name="adj" fmla="val 3429"/>
            </a:avLst>
          </a:prstGeom>
          <a:solidFill>
            <a:srgbClr val="16294A"/>
          </a:solidFill>
          <a:ln w="12700">
            <a:solidFill>
              <a:srgbClr val="16294A"/>
            </a:solidFill>
            <a:prstDash val="solid"/>
          </a:ln>
        </p:spPr>
      </p:sp>
      <p:sp>
        <p:nvSpPr>
          <p:cNvPr id="12" name="Text 10"/>
          <p:cNvSpPr txBox="1"/>
          <p:nvPr/>
        </p:nvSpPr>
        <p:spPr>
          <a:xfrm>
            <a:off x="6388456" y="23042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BackgroundService</a:t>
            </a:r>
            <a:endParaRPr lang="en-US" sz="1600" dirty="0"/>
          </a:p>
        </p:txBody>
      </p:sp>
      <p:sp>
        <p:nvSpPr>
          <p:cNvPr id="13" name="Text 11"/>
          <p:cNvSpPr txBox="1"/>
          <p:nvPr/>
        </p:nvSpPr>
        <p:spPr>
          <a:xfrm>
            <a:off x="6388456" y="26883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Arbetare i klustret</a:t>
            </a:r>
            <a:endParaRPr lang="en-US" sz="1300" dirty="0"/>
          </a:p>
        </p:txBody>
      </p:sp>
      <p:sp>
        <p:nvSpPr>
          <p:cNvPr id="14" name="Shape 12"/>
          <p:cNvSpPr/>
          <p:nvPr/>
        </p:nvSpPr>
        <p:spPr>
          <a:xfrm>
            <a:off x="9006611" y="2103120"/>
            <a:ext cx="2636444" cy="1600200"/>
          </a:xfrm>
          <a:prstGeom prst="roundRect">
            <a:avLst>
              <a:gd name="adj" fmla="val 3429"/>
            </a:avLst>
          </a:prstGeom>
          <a:solidFill>
            <a:srgbClr val="16294A"/>
          </a:solidFill>
          <a:ln w="12700">
            <a:solidFill>
              <a:srgbClr val="16294A"/>
            </a:solidFill>
            <a:prstDash val="solid"/>
          </a:ln>
        </p:spPr>
      </p:sp>
      <p:sp>
        <p:nvSpPr>
          <p:cNvPr id="15" name="Text 13"/>
          <p:cNvSpPr txBox="1"/>
          <p:nvPr/>
        </p:nvSpPr>
        <p:spPr>
          <a:xfrm>
            <a:off x="9207779" y="23042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MySQL</a:t>
            </a:r>
            <a:endParaRPr lang="en-US" sz="1600" dirty="0"/>
          </a:p>
        </p:txBody>
      </p:sp>
      <p:sp>
        <p:nvSpPr>
          <p:cNvPr id="16" name="Text 14"/>
          <p:cNvSpPr txBox="1"/>
          <p:nvPr/>
        </p:nvSpPr>
        <p:spPr>
          <a:xfrm>
            <a:off x="9207779" y="26883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Port 3306 är redan förberedd</a:t>
            </a:r>
            <a:endParaRPr lang="en-US" sz="1300" dirty="0"/>
          </a:p>
        </p:txBody>
      </p:sp>
      <p:sp>
        <p:nvSpPr>
          <p:cNvPr id="17" name="Shape 15"/>
          <p:cNvSpPr/>
          <p:nvPr/>
        </p:nvSpPr>
        <p:spPr>
          <a:xfrm>
            <a:off x="548640" y="3931920"/>
            <a:ext cx="2636444" cy="1600200"/>
          </a:xfrm>
          <a:prstGeom prst="roundRect">
            <a:avLst>
              <a:gd name="adj" fmla="val 3429"/>
            </a:avLst>
          </a:prstGeom>
          <a:solidFill>
            <a:srgbClr val="16294A"/>
          </a:solidFill>
          <a:ln w="12700">
            <a:solidFill>
              <a:srgbClr val="16294A"/>
            </a:solidFill>
            <a:prstDash val="solid"/>
          </a:ln>
        </p:spPr>
      </p:sp>
      <p:sp>
        <p:nvSpPr>
          <p:cNvPr id="18" name="Text 16"/>
          <p:cNvSpPr txBox="1"/>
          <p:nvPr/>
        </p:nvSpPr>
        <p:spPr>
          <a:xfrm>
            <a:off x="749808" y="41330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Redis</a:t>
            </a:r>
            <a:endParaRPr lang="en-US" sz="1600" dirty="0"/>
          </a:p>
        </p:txBody>
      </p:sp>
      <p:sp>
        <p:nvSpPr>
          <p:cNvPr id="19" name="Text 17"/>
          <p:cNvSpPr txBox="1"/>
          <p:nvPr/>
        </p:nvSpPr>
        <p:spPr>
          <a:xfrm>
            <a:off x="749808" y="45171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Port 6379 är redan förberedd</a:t>
            </a:r>
            <a:endParaRPr lang="en-US" sz="1300" dirty="0"/>
          </a:p>
        </p:txBody>
      </p:sp>
      <p:sp>
        <p:nvSpPr>
          <p:cNvPr id="20" name="Shape 18"/>
          <p:cNvSpPr/>
          <p:nvPr/>
        </p:nvSpPr>
        <p:spPr>
          <a:xfrm>
            <a:off x="3367964" y="3931920"/>
            <a:ext cx="2636444" cy="1600200"/>
          </a:xfrm>
          <a:prstGeom prst="roundRect">
            <a:avLst>
              <a:gd name="adj" fmla="val 3429"/>
            </a:avLst>
          </a:prstGeom>
          <a:solidFill>
            <a:srgbClr val="16294A"/>
          </a:solidFill>
          <a:ln w="12700">
            <a:solidFill>
              <a:srgbClr val="16294A"/>
            </a:solidFill>
            <a:prstDash val="solid"/>
          </a:ln>
        </p:spPr>
      </p:sp>
      <p:sp>
        <p:nvSpPr>
          <p:cNvPr id="21" name="Text 19"/>
          <p:cNvSpPr txBox="1"/>
          <p:nvPr/>
        </p:nvSpPr>
        <p:spPr>
          <a:xfrm>
            <a:off x="3569132" y="41330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NATS</a:t>
            </a:r>
            <a:endParaRPr lang="en-US" sz="1600" dirty="0"/>
          </a:p>
        </p:txBody>
      </p:sp>
      <p:sp>
        <p:nvSpPr>
          <p:cNvPr id="22" name="Text 20"/>
          <p:cNvSpPr txBox="1"/>
          <p:nvPr/>
        </p:nvSpPr>
        <p:spPr>
          <a:xfrm>
            <a:off x="3569132" y="45171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Port 4222 / 8222 förberedda</a:t>
            </a:r>
            <a:endParaRPr lang="en-US" sz="1300" dirty="0"/>
          </a:p>
        </p:txBody>
      </p:sp>
      <p:sp>
        <p:nvSpPr>
          <p:cNvPr id="23" name="Shape 21"/>
          <p:cNvSpPr/>
          <p:nvPr/>
        </p:nvSpPr>
        <p:spPr>
          <a:xfrm>
            <a:off x="6187288" y="3931920"/>
            <a:ext cx="2636444" cy="1600200"/>
          </a:xfrm>
          <a:prstGeom prst="roundRect">
            <a:avLst>
              <a:gd name="adj" fmla="val 3429"/>
            </a:avLst>
          </a:prstGeom>
          <a:solidFill>
            <a:srgbClr val="16294A"/>
          </a:solidFill>
          <a:ln w="12700">
            <a:solidFill>
              <a:srgbClr val="16294A"/>
            </a:solidFill>
            <a:prstDash val="solid"/>
          </a:ln>
        </p:spPr>
      </p:sp>
      <p:sp>
        <p:nvSpPr>
          <p:cNvPr id="24" name="Text 22"/>
          <p:cNvSpPr txBox="1"/>
          <p:nvPr/>
        </p:nvSpPr>
        <p:spPr>
          <a:xfrm>
            <a:off x="6388456" y="4133088"/>
            <a:ext cx="2234108"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Monitorering</a:t>
            </a:r>
            <a:endParaRPr lang="en-US" sz="1600" dirty="0"/>
          </a:p>
        </p:txBody>
      </p:sp>
      <p:sp>
        <p:nvSpPr>
          <p:cNvPr id="25" name="Text 23"/>
          <p:cNvSpPr txBox="1"/>
          <p:nvPr/>
        </p:nvSpPr>
        <p:spPr>
          <a:xfrm>
            <a:off x="6388456" y="45171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Prometheus · Tempo · Loki · Grafana</a:t>
            </a:r>
            <a:endParaRPr lang="en-US" sz="1300" dirty="0"/>
          </a:p>
        </p:txBody>
      </p:sp>
      <p:sp>
        <p:nvSpPr>
          <p:cNvPr id="26" name="Shape 24"/>
          <p:cNvSpPr/>
          <p:nvPr/>
        </p:nvSpPr>
        <p:spPr>
          <a:xfrm>
            <a:off x="9006611" y="3931920"/>
            <a:ext cx="2636444" cy="1600200"/>
          </a:xfrm>
          <a:prstGeom prst="roundRect">
            <a:avLst>
              <a:gd name="adj" fmla="val 3429"/>
            </a:avLst>
          </a:prstGeom>
          <a:solidFill>
            <a:srgbClr val="3762FF"/>
          </a:solidFill>
          <a:ln w="12700">
            <a:solidFill>
              <a:srgbClr val="3762FF"/>
            </a:solidFill>
            <a:prstDash val="solid"/>
          </a:ln>
        </p:spPr>
      </p:sp>
      <p:sp>
        <p:nvSpPr>
          <p:cNvPr id="27" name="Text 25"/>
          <p:cNvSpPr txBox="1"/>
          <p:nvPr/>
        </p:nvSpPr>
        <p:spPr>
          <a:xfrm>
            <a:off x="9207779" y="4133088"/>
            <a:ext cx="223410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Nästa gång</a:t>
            </a:r>
            <a:endParaRPr lang="en-US" sz="1600" dirty="0"/>
          </a:p>
        </p:txBody>
      </p:sp>
      <p:sp>
        <p:nvSpPr>
          <p:cNvPr id="28" name="Text 26"/>
          <p:cNvSpPr txBox="1"/>
          <p:nvPr/>
        </p:nvSpPr>
        <p:spPr>
          <a:xfrm>
            <a:off x="9207779" y="4517136"/>
            <a:ext cx="2234108" cy="85953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SimpleApi i klustret, med YAML</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KVÄLL 2 AV 8 -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383280"/>
            <a:ext cx="10058400" cy="54864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Nästa gång: vi bygger en .NET-image, pushar den till registryt och deployar den med YAML.</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Kubernetes – Eget kluster med k3d · .NET, Frontend &amp; 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Eget kluster med k3d</dc:title>
  <dc:subject>PptxGenJS Presentation</dc:subject>
  <dc:creator>PptxGenJS</dc:creator>
  <cp:lastModifiedBy>PptxGenJS</cp:lastModifiedBy>
  <cp:revision>1</cp:revision>
  <dcterms:created xsi:type="dcterms:W3CDTF">2026-09-24T15:09:24Z</dcterms:created>
  <dcterms:modified xsi:type="dcterms:W3CDTF">2026-09-24T15:09:24Z</dcterms:modified>
</cp:coreProperties>
</file>