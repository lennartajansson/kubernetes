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Välkomna! Kort inledning: ikväll bygger vi den teoretiska grunden - varför Kubernetes finns, vem som byggde det och hur ett kluster är uppbyggt. Inget praktiskt kommandoradsarbete ikväll - det kommer i de sju tillfällena som följer, där vi jobbar med .NET, Angular, MySQL, Redis, NATS och monitorering. Ikväll handlar allt om att ni ska förstå VARFÖR Kubernetes ser ut som det gör, så att allt praktiskt vi gör senare faller på plats.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Gå snabbt igenom de sex delarna. Säg tydligt: ikväll bygger vi ordförråd och en mental modell. Vi skriver inget kubectl-kommando själva, men allt vi säger ikväll kommer de känna igen när vi väl sitter framför klustret om två veckor.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Måla upp en igenkännbar bild: en .NET-app som allt sitter ihop i, körande på en enda server eller ett litet gäng identiska servrar bakom en load balancer. Fråga gruppen: känns det igen? De flesta skolprojekt och många verkliga system ser ut precis så här. Det är inte dumt - det är ofta rätt startpunkt. Men det har en baksida, vilket vi går in på 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Definiera ordet monolit konkret. Poängen är inte att monoliter är dåliga - många framgångsrika system är monoliter, och för små team är det ofta rätt val. Poängen är bara att förstå formen, för det är den formen som ger de problem vi tittar på på nästa bild.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Fyra konkreta smärtpunkter. Be gärna gruppen komma på egna exempel från praktik eller skolprojekt - de flesta har varit med om minst en av dessa. Detta är exakt de problem som gjorde att branschen började dela upp system i mindre, självständiga tjänster.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Rita upp samma app, nu uppdelad. Poängtera: detta löser precis de fyra problemen från förra bilden. Men - och det är vändningen på nästa bild - det löser dem genom att byta ut ETT stort problem mot MÅNGA mindre, operativa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Detta är kärnan i varför Kubernetes finns. Mikrotjänster löser kopplingsproblemet men skapar ett driftsproblem: plötsligt har vi tiotals eller hundratals processer att hålla reda på istället för en. Att göra det manuellt, med skript och SSH till servrar, håller inte i längden. Vi behöver något som gör det här automatiskt.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Detta är den tekniska förutsättningen. Containrar (Docker) gjorde det billigt och snabbt att paketera en enskild tjänst och köra den isolerat, utan att dra med sig ett helt gästoperativsystem som en VM gör. Det gjorde det praktiskt möjligt att köra hundratals små processer på samma maskiner. Men Docker i sig hanterar bara EN maskin - det löser inte vem startar om, vem skalar, vem hittar vem över ett helt kluster av maskiner. Det är precis det tomrummet Kubernetes fyller.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Kort historisk notering - Docker är inte huvudpersonen ikväll men en nödvändig pusselbit. 2013 blev det plötsligt enkelt att bygga en image och köra den var som helst. Men Docker i sig är bara ett verktyg för EN maskin - det bestämmer inte VILKEN maskin en container ska köras på, startar inte om den vid krasch över ett kluster, och vet inte hur tjänster hittar varandra mellan flera maskiner. Det är nästa lucka.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Låt talet sjunka in en stund. Detta är precis det gap Kubernetes (och orkestrerare i allmänhet) föddes för att fylla: automatisera det som blir omöjligt att göra manuellt när antalet rörliga delar växer. Nästa bild listar konkret vad en sådan orkestrerare måste kunna göra.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Detta är i praktiken jobbeskrivningen för Kubernetes. Håll den här listan i huvudet - hela resten av kvällen handlar om VILKA delar av Kubernetes som löser vilken av de här sex sakerna. Nu vet vi vad vi letar efter. Dags att titta på var det kom ifrån.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Kort paus-markör innan vi byter spår. Säg: nu vet vi VARFÖR ett sånt här verktyg behövs. Nästa fråga är var det kom ifrån - och det är faktiskt en ganska rolig historia.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Borg är egentligen huvudpersonen i den här historien - Google hade i tysthet löst orkestreringsproblemet redan runt 2003-2004, internt, i stor skala. Men Borg var proprietär och byggd i C++ mot Googles egen infrastruktur. Joe Beda, Brendan Burns och Craig McLuckie tog lärdomarna från Borg (och ett syskonprojekt, Omega) och byggde en öppen, portabel variant i Go - det som blev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Gå igenom tidslinjen punkt för punkt. Betona att Kubernetes inte uppfanns på en helg - det var över tio års operativ erfarenhet från Borg som kondenserades till projektet. Det är därför det kändes så genomtänkt redan från version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rolig detalj som fastnar hos studenterna. Rorsman/pilot är en fin metafor - Kubernetes styr era containrar dit de ska, håller kursen även när saker går fel. K8s är bara en numronym, precis som i18n för internationalization. Loggans faktiska utseende (en ratt) visar vi inte här - det är Kubernetes eget varumärke - men beskriv den gärna muntligt.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Ett av de största open source-projekten som finns, punkt slut. Det betyder gott om dokumentation, community och jobbmöjligheter för er som lär er det. Nu när vi vet varför det finns och var det kom ifrån - dags att öppna motorhuven och titta på hur ett kluster faktiskt är uppbyggt.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till kärnan av kvällen - hur ett Kubernetes-kluster faktiskt är uppbyggt. Detta är avsnittet vi lägger mest tid på, för det här är kartan alla kommande tillfällen kommer utgå från.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Introducera ordet nod - det är bara Kubernetes ord för en maskin i klustret, fysisk eller virtuell. Ett kluster har alltid minst en control plane-nod och normalt flera worker-noder. Nästa bild zoomar in på precis den här bilden i mer detalj.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Detta är kartan för hela kvällen. Control plane (masternoden) fattar besluten - den kör INTE era applikationer, den styr klustret. Worker-noderna (agentnoderna) är de maskiner som faktiskt kör era poddar. Ett produktionskluster har oftast tre control plane-noder för redundans, men konceptuellt räcker det att tänka en hjärna, flera armar. De kommande bilderna zoomar in på varje 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Viktig missuppfattning att räta ut: control plane är inte en stor server som kör allt. Den kör en handfull egna processer (som vi tittar på nästa bild) vars enda jobb är att STYRA klustret - inte köra er kod. Er kod körs på worker-noderna.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Dessa fyra samarbetar så här: NI (via kubectl) pratar med apiserver. Apiserver sparar önskat tillstånd i etcd. Scheduler ser en ny, oplacerad pod och väljer en nod åt den. Controller manager håller koll på att antalet poddar, etc, stämmer mot vad som är sagt - och rättar till det annars. Vi zoomar in på apiserver och etcd på nästa bild, för de två är extra viktiga att förstå.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Detta är den enskilt viktigaste mentala modellen för hela kursen. Kubernetes API är deklarativt, inte imperativt. Ni skriver inte starta container X på maskin Y. Ni skriver jag vill ha 3 repliker och en controller (en oändlig loop i controller manager) ser kontinuerligt till att verkligheten matchar det. Krashar en pod - controllern märker det inom sekunder och skapar en ny. Det är precis det som kallas self-healing.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Enkel tumregel: control plane BESTÄMMER, worker-noder KÖR. Varje worker-nod behöver en container-runtime installerad (t.ex. containerd) för att faktiskt kunna starta containrar. Nästa bild går igenom de tre processerna som körs på varje worker-nod.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kubelet är den viktigaste av de tre att komma ihåg - den är agenten som gör noden till en agentnod. Den pollar/prenumererar på API-servern, ber container-runtimen starta podden, och rapporterar sedan löpande tillbaka hur det går. Kube-proxy är den som gör att Service-objektet faktiskt fungerar rent nätverksmässigt.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zoomar vi in ännu mer - från noder till det som faktiskt körs PÅ noderna. Det här är objekten ni kommer skriva YAML för, om och om igen, i de kommande tillfällena.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Podden är objektet ni kommer att göra mest med under kursen. Den absolut vanligaste formen är en pod med EN container - men Kubernetes tillåter flera, för de fall där två processer verkligen hör ihop och behöver dela nätverk (samma localhost) och filsystem. Nästa bild går igenom varför den designen finns.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mönstret med flera containrar i en pod kallas sidecar-mönstret. Var tydlig med att det INTE är standard - de allra flesta poddar har en container. Men det är viktigt att förstå VARFÖR abstraktionen Pod finns överhuvudtaget istället för att Kubernetes bara jobbade direkt med containrar.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Detta är avsiktligt och centralt. Om era poddar var permanenta skulle self-healing vara svårt - ni skulle behöva laga en trasig pod istället för att bara kasta den och skapa en ny, vilket är mycket enklare att göra tillförlitligt. Konsekvensen är dock att ni ALDRIG kan lita på en pods IP-adress. Det löser vi med Service, som vi kommer till i nätverksdelen. Men innan dess - vem håller koll på ATT det finns rätt antal poddar? Det är Deployment, nästa bild.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Koppla direkt tillbaka till önskat tillstånd-bilden. Deployment är det konkreta objektet ni skriver i YAML som uttrycker det önskade tillståndet för era poddar. Den hanterar också rolling updates: byter ni till en ny version bytas poddarna ut gradvis, inte alla på en gång. Det här är ett objekt vi kommer skriva riktig YAML för i tillfälle 2, så det räcker att förstå principen ikväll.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Poängtera skillnaden mot noder: en nod är fysisk indelning (vilken maskin), ett namespace är logisk indelning (vilket rum i klustret). Man kan ge olika namespace olika resursgränser (kvoter) och olika behörigheter (RBAC), och namn behöver bara vara unika INOM ett namespace. Vanligt mönster: ett namespace per miljö (dev/test/prod) eller per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vet nu att poddar är flyktiga och får nya IP-adresser hela tiden. Frågan blir: hur pratar man då med dem på ett tillförlitligt sätt? Det är precis det Service och Ingress löser.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Låt frågan hänga i luften en stund: om jag inte kan lita på en pods IP, hur ska min frontend hitta min backend? Svaret är objektet Service, som vi går igenom nu - en stabil brevlåda framför en grupp poddar som kan komma och gå.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 använder etiketter (labels) för att veta vilka poddar den pekar på - en selector som säger alla poddar med etiketten app=api hör till mig. kube-proxy är den som gör att detta faktiskt fungerar rent nätverksmässigt på varje nod. Detta är fortfarande INTERN trafik i klustret - nästa bilder visar hur trafik utifrån kommer in via Ingress.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ClusterIP räcker gott och väl för det mesta. NodePort är bra att känna till men används sällan i produktion. LoadBalancer är vanligast i molnmiljöer (AKS, EKS, GKE). Men den vanligaste vägen in för webbtrafik i praktiken är faktiskt Ingress, som vi tittar på 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Ingress är det vanligaste sättet webbtrafik kommer in i ett kluster på i praktiken. Fördelen: man behöver bara EN extern ingångspunkt (och ett SSL-certifikat) som sedan routar baserat på domän och sökväg till rätt Service inuti klustret. Det är precis det mönstret vi kommer bygga när vi kör Angular-frontend och .NET-API i samma kluster senare i kursen.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Detta är sammanfattningen av hela nätverksavsnittet i en enda bild - spara gärna extra tid här och låt studenterna själva försöka återberätta kedjan innan ni går vidare. Klienten pratar aldrig direkt med en pod. Den går via Ingress (som avgör VILKEN tjänst) och Service (som avgör VILKEN pod just nu, och lastbalanserar). Detta mönster är precis det ni kommer bygga när Angular-frontend anropar .NET-API senare i kursen.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Sista begreppsdelen innan vi sammanfattar. Nu vet vi VAD som finns i ett kluster - nu tittar vi på HUR man faktiskt talar om för klustret vad man vill 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kubectl har ingen egen makt - det är bara en klient, precis som Postman eller en webbläsare. Allt som faktiskt HÄNDER görs av API-servern och de andra control plane-komponenterna. Det är också därför verktyg som Lens, Rancher, eller er egen CI/CD-pipeline alla fungerar - de pratar samma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Koppla tillbaka till önskat tillstånd-bilden. Manifestet ÄR det önskade tillståndet, i textform. Fördelen med deklarativt är att det är idempotent: kör ni apply på samma fil tio gånger händer bara det som behövs för att nå det tillståndet. Det gör det naturligt att spara manifesten i Git (GitOps) - något vi kommer röra vid mer i senare tillfällen.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Gå igenom filen rad för rad, koppla varje del till de fyra begreppen till höger. Poängtera mönstret: apiVersion + kind + metadata + spec är samma struktur för VARJE Kubernetes-objekt. Känner man igen den här formen känner man igen 90% av all Kubernetes-YAML man kommer stöta på i kursen.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Detta knyter ihop hela kvällen i ett flöde: ni skriver en YAML-fil (önskat tillstånd), kör kubectl apply, som skickar den till API-servern, som sparar den i etcd. Sedan tar controller manager, scheduler och kubelet vid - helt automatiskt. Detta är exakt vad ni kommer göra i praktiken, gång på gång, från och med nästa tillfälle.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Gå igenom rutorna som en snabb muntlig quiz - be studenterna förklara varje begrepp med egna ord innan ni säger definitionen. Om de kan koppla ihop dessa tio ord till en sammanhängande historia har kvällens mål uppnåtts. Sista rutan, önskat tillstånd, är den viktigaste - allt annat är detaljer kring den idén.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 en snabb överblick utan att lova en exakt ordning tillfälle för tillfälle - säg att ni landar i detaljerna vid varje enskilt tillfälle, men att allt bygger vidare på ordförrådet från ikväll: Pod, Deployment, Service, Ingress, Namespace och deklarativ YAML dyker upp om och om igen. Monitorering med Prometheus, Tempo, Loki och Grafana kommer mot slutet, när vi faktiskt har något att mäta.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Öppna för frågor. Bra avslutande fråga till gruppen: Om jag deployar min .NET-app till Kubernetes ikväll, vilka Kubernetes-objekt behöver jag skapa, och i vilken ordning skulle trafiken flöda fram till podden? Det är ett bra sätt att se om helhetsbilden satt sig innan ni går vidare till nästa tillfälle.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822960"/>
            <a:ext cx="11094415" cy="292608"/>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KUBERNETES-KURS · KVÄLL 1 AV 8</a:t>
            </a:r>
            <a:endParaRPr lang="en-US" sz="1200" dirty="0"/>
          </a:p>
        </p:txBody>
      </p:sp>
      <p:sp>
        <p:nvSpPr>
          <p:cNvPr id="3" name="Text 1"/>
          <p:cNvSpPr txBox="1"/>
          <p:nvPr/>
        </p:nvSpPr>
        <p:spPr>
          <a:xfrm>
            <a:off x="548640" y="1234440"/>
            <a:ext cx="9144000" cy="1645920"/>
          </a:xfrm>
          <a:prstGeom prst="rect">
            <a:avLst/>
          </a:prstGeom>
          <a:noFill/>
          <a:ln/>
        </p:spPr>
        <p:txBody>
          <a:bodyPr wrap="square" lIns="0" tIns="0" rIns="0" bIns="0" rtlCol="0" anchor="ctr"/>
          <a:lstStyle/>
          <a:p>
            <a:pPr indent="0" marL="0">
              <a:buNone/>
            </a:pPr>
            <a:r>
              <a:rPr lang="en-US" sz="7200" b="1" dirty="0">
                <a:solidFill>
                  <a:srgbClr val="F5F7FA"/>
                </a:solidFill>
                <a:latin typeface="Calibri" pitchFamily="34" charset="0"/>
                <a:ea typeface="Calibri" pitchFamily="34" charset="-122"/>
                <a:cs typeface="Calibri" pitchFamily="34" charset="-120"/>
              </a:rPr>
              <a:t>Kubernetes</a:t>
            </a:r>
            <a:endParaRPr lang="en-US" sz="7200" dirty="0"/>
          </a:p>
        </p:txBody>
      </p:sp>
      <p:sp>
        <p:nvSpPr>
          <p:cNvPr id="4" name="Text 2"/>
          <p:cNvSpPr txBox="1"/>
          <p:nvPr/>
        </p:nvSpPr>
        <p:spPr>
          <a:xfrm>
            <a:off x="548640" y="2880360"/>
            <a:ext cx="8686800" cy="914400"/>
          </a:xfrm>
          <a:prstGeom prst="rect">
            <a:avLst/>
          </a:prstGeom>
          <a:noFill/>
          <a:ln/>
        </p:spPr>
        <p:txBody>
          <a:bodyPr wrap="square" lIns="0" tIns="0" rIns="0" bIns="0" rtlCol="0" anchor="ctr"/>
          <a:lstStyle/>
          <a:p>
            <a:pPr indent="0" marL="0">
              <a:lnSpc>
                <a:spcPct val="130000"/>
              </a:lnSpc>
              <a:buNone/>
            </a:pPr>
            <a:r>
              <a:rPr lang="en-US" sz="2000" dirty="0">
                <a:solidFill>
                  <a:srgbClr val="B9C4D1"/>
                </a:solidFill>
                <a:latin typeface="Arial" pitchFamily="34" charset="0"/>
                <a:ea typeface="Arial" pitchFamily="34" charset="-122"/>
                <a:cs typeface="Arial" pitchFamily="34" charset="-120"/>
              </a:rPr>
              <a:t>Grunderna – varför det finns, vem som byggde det och hur klustret hänger ihop</a:t>
            </a:r>
            <a:endParaRPr lang="en-US" sz="2000" dirty="0"/>
          </a:p>
        </p:txBody>
      </p:sp>
      <p:sp>
        <p:nvSpPr>
          <p:cNvPr id="5" name="Text 3"/>
          <p:cNvSpPr txBox="1"/>
          <p:nvPr/>
        </p:nvSpPr>
        <p:spPr>
          <a:xfrm>
            <a:off x="548640" y="6126480"/>
            <a:ext cx="6400800" cy="36576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.NET · Frontend · SQL — Yrkeshögskola</a:t>
            </a:r>
            <a:endParaRPr lang="en-US" sz="1400" dirty="0"/>
          </a:p>
        </p:txBody>
      </p:sp>
      <p:sp>
        <p:nvSpPr>
          <p:cNvPr id="6" name="Text 4"/>
          <p:cNvSpPr txBox="1"/>
          <p:nvPr/>
        </p:nvSpPr>
        <p:spPr>
          <a:xfrm>
            <a:off x="7772400" y="6126480"/>
            <a:ext cx="3867912" cy="365760"/>
          </a:xfrm>
          <a:prstGeom prst="rect">
            <a:avLst/>
          </a:prstGeom>
          <a:noFill/>
          <a:ln/>
        </p:spPr>
        <p:txBody>
          <a:bodyPr wrap="square" lIns="0" tIns="0" rIns="0" bIns="0" rtlCol="0" anchor="ctr"/>
          <a:lstStyle/>
          <a:p>
            <a:pPr algn="r" indent="0" marL="0">
              <a:buNone/>
            </a:pPr>
            <a:r>
              <a:rPr lang="en-US" sz="1400" b="1" dirty="0">
                <a:solidFill>
                  <a:srgbClr val="7C9CFF"/>
                </a:solidFill>
                <a:latin typeface="Arial" pitchFamily="34" charset="0"/>
                <a:ea typeface="Arial" pitchFamily="34" charset="-122"/>
                <a:cs typeface="Arial" pitchFamily="34" charset="-120"/>
              </a:rPr>
              <a:t>Del 1 av 8 · rent teoretisk grund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AGENDA · KVÄLL 1</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Så här bygger vi upp kvällen</a:t>
            </a:r>
            <a:endParaRPr lang="en-US" sz="3000" dirty="0"/>
          </a:p>
        </p:txBody>
      </p:sp>
      <p:sp>
        <p:nvSpPr>
          <p:cNvPr id="4" name="Shape 2"/>
          <p:cNvSpPr/>
          <p:nvPr/>
        </p:nvSpPr>
        <p:spPr>
          <a:xfrm>
            <a:off x="548640" y="1691640"/>
            <a:ext cx="3551834" cy="1879092"/>
          </a:xfrm>
          <a:prstGeom prst="roundRect">
            <a:avLst>
              <a:gd name="adj" fmla="val 4866"/>
            </a:avLst>
          </a:prstGeom>
          <a:solidFill>
            <a:srgbClr val="FFFFFF"/>
          </a:solidFill>
          <a:ln w="12700">
            <a:solidFill>
              <a:srgbClr val="E4E7EC"/>
            </a:solidFill>
            <a:prstDash val="solid"/>
          </a:ln>
        </p:spPr>
      </p:sp>
      <p:sp>
        <p:nvSpPr>
          <p:cNvPr id="5" name="Text 3"/>
          <p:cNvSpPr txBox="1"/>
          <p:nvPr/>
        </p:nvSpPr>
        <p:spPr>
          <a:xfrm>
            <a:off x="749808" y="1874520"/>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1. Bakgrunden</a:t>
            </a:r>
            <a:endParaRPr lang="en-US" sz="1550" dirty="0"/>
          </a:p>
        </p:txBody>
      </p:sp>
      <p:sp>
        <p:nvSpPr>
          <p:cNvPr id="6" name="Text 4"/>
          <p:cNvSpPr txBox="1"/>
          <p:nvPr/>
        </p:nvSpPr>
        <p:spPr>
          <a:xfrm>
            <a:off x="749808" y="2386584"/>
            <a:ext cx="3149498" cy="10195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Monoliter, mikrotjänster och varför vi behöver en orkestrerare</a:t>
            </a:r>
            <a:endParaRPr lang="en-US" sz="1150" dirty="0"/>
          </a:p>
        </p:txBody>
      </p:sp>
      <p:sp>
        <p:nvSpPr>
          <p:cNvPr id="7" name="Shape 5"/>
          <p:cNvSpPr/>
          <p:nvPr/>
        </p:nvSpPr>
        <p:spPr>
          <a:xfrm>
            <a:off x="4319930" y="1691640"/>
            <a:ext cx="3551834" cy="1879092"/>
          </a:xfrm>
          <a:prstGeom prst="roundRect">
            <a:avLst>
              <a:gd name="adj" fmla="val 4866"/>
            </a:avLst>
          </a:prstGeom>
          <a:solidFill>
            <a:srgbClr val="FFFFFF"/>
          </a:solidFill>
          <a:ln w="12700">
            <a:solidFill>
              <a:srgbClr val="E4E7EC"/>
            </a:solidFill>
            <a:prstDash val="solid"/>
          </a:ln>
        </p:spPr>
      </p:sp>
      <p:sp>
        <p:nvSpPr>
          <p:cNvPr id="8" name="Text 6"/>
          <p:cNvSpPr txBox="1"/>
          <p:nvPr/>
        </p:nvSpPr>
        <p:spPr>
          <a:xfrm>
            <a:off x="4521098" y="1874520"/>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2. Historik</a:t>
            </a:r>
            <a:endParaRPr lang="en-US" sz="1550" dirty="0"/>
          </a:p>
        </p:txBody>
      </p:sp>
      <p:sp>
        <p:nvSpPr>
          <p:cNvPr id="9" name="Text 7"/>
          <p:cNvSpPr txBox="1"/>
          <p:nvPr/>
        </p:nvSpPr>
        <p:spPr>
          <a:xfrm>
            <a:off x="4521098" y="2386584"/>
            <a:ext cx="3149498" cy="10195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Google, Borg och vägen till dagens Kubernetes</a:t>
            </a:r>
            <a:endParaRPr lang="en-US" sz="1150" dirty="0"/>
          </a:p>
        </p:txBody>
      </p:sp>
      <p:sp>
        <p:nvSpPr>
          <p:cNvPr id="10" name="Shape 8"/>
          <p:cNvSpPr/>
          <p:nvPr/>
        </p:nvSpPr>
        <p:spPr>
          <a:xfrm>
            <a:off x="8091221" y="1691640"/>
            <a:ext cx="3551834" cy="1879092"/>
          </a:xfrm>
          <a:prstGeom prst="roundRect">
            <a:avLst>
              <a:gd name="adj" fmla="val 4866"/>
            </a:avLst>
          </a:prstGeom>
          <a:solidFill>
            <a:srgbClr val="FFFFFF"/>
          </a:solidFill>
          <a:ln w="12700">
            <a:solidFill>
              <a:srgbClr val="E4E7EC"/>
            </a:solidFill>
            <a:prstDash val="solid"/>
          </a:ln>
        </p:spPr>
      </p:sp>
      <p:sp>
        <p:nvSpPr>
          <p:cNvPr id="11" name="Text 9"/>
          <p:cNvSpPr txBox="1"/>
          <p:nvPr/>
        </p:nvSpPr>
        <p:spPr>
          <a:xfrm>
            <a:off x="8292389" y="1874520"/>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3. Arkitektur</a:t>
            </a:r>
            <a:endParaRPr lang="en-US" sz="1550" dirty="0"/>
          </a:p>
        </p:txBody>
      </p:sp>
      <p:sp>
        <p:nvSpPr>
          <p:cNvPr id="12" name="Text 10"/>
          <p:cNvSpPr txBox="1"/>
          <p:nvPr/>
        </p:nvSpPr>
        <p:spPr>
          <a:xfrm>
            <a:off x="8292389" y="2386584"/>
            <a:ext cx="3149498" cy="10195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Control plane och worker-noder - klustrets anatomi</a:t>
            </a:r>
            <a:endParaRPr lang="en-US" sz="1150" dirty="0"/>
          </a:p>
        </p:txBody>
      </p:sp>
      <p:sp>
        <p:nvSpPr>
          <p:cNvPr id="13" name="Shape 11"/>
          <p:cNvSpPr/>
          <p:nvPr/>
        </p:nvSpPr>
        <p:spPr>
          <a:xfrm>
            <a:off x="548640" y="3790188"/>
            <a:ext cx="3551834" cy="1879092"/>
          </a:xfrm>
          <a:prstGeom prst="roundRect">
            <a:avLst>
              <a:gd name="adj" fmla="val 4866"/>
            </a:avLst>
          </a:prstGeom>
          <a:solidFill>
            <a:srgbClr val="FFFFFF"/>
          </a:solidFill>
          <a:ln w="12700">
            <a:solidFill>
              <a:srgbClr val="E4E7EC"/>
            </a:solidFill>
            <a:prstDash val="solid"/>
          </a:ln>
        </p:spPr>
      </p:sp>
      <p:sp>
        <p:nvSpPr>
          <p:cNvPr id="14" name="Text 12"/>
          <p:cNvSpPr txBox="1"/>
          <p:nvPr/>
        </p:nvSpPr>
        <p:spPr>
          <a:xfrm>
            <a:off x="749808" y="3973068"/>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4. Poddar &amp; Namespace</a:t>
            </a:r>
            <a:endParaRPr lang="en-US" sz="1550" dirty="0"/>
          </a:p>
        </p:txBody>
      </p:sp>
      <p:sp>
        <p:nvSpPr>
          <p:cNvPr id="15" name="Text 13"/>
          <p:cNvSpPr txBox="1"/>
          <p:nvPr/>
        </p:nvSpPr>
        <p:spPr>
          <a:xfrm>
            <a:off x="749808" y="4485132"/>
            <a:ext cx="3149498" cy="10195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Den minsta byggstenen och hur klustret delas upp</a:t>
            </a:r>
            <a:endParaRPr lang="en-US" sz="1150" dirty="0"/>
          </a:p>
        </p:txBody>
      </p:sp>
      <p:sp>
        <p:nvSpPr>
          <p:cNvPr id="16" name="Shape 14"/>
          <p:cNvSpPr/>
          <p:nvPr/>
        </p:nvSpPr>
        <p:spPr>
          <a:xfrm>
            <a:off x="4319930" y="3790188"/>
            <a:ext cx="3551834" cy="1879092"/>
          </a:xfrm>
          <a:prstGeom prst="roundRect">
            <a:avLst>
              <a:gd name="adj" fmla="val 4866"/>
            </a:avLst>
          </a:prstGeom>
          <a:solidFill>
            <a:srgbClr val="FFFFFF"/>
          </a:solidFill>
          <a:ln w="12700">
            <a:solidFill>
              <a:srgbClr val="E4E7EC"/>
            </a:solidFill>
            <a:prstDash val="solid"/>
          </a:ln>
        </p:spPr>
      </p:sp>
      <p:sp>
        <p:nvSpPr>
          <p:cNvPr id="17" name="Text 15"/>
          <p:cNvSpPr txBox="1"/>
          <p:nvPr/>
        </p:nvSpPr>
        <p:spPr>
          <a:xfrm>
            <a:off x="4521098" y="3973068"/>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5. Nätverk</a:t>
            </a:r>
            <a:endParaRPr lang="en-US" sz="1550" dirty="0"/>
          </a:p>
        </p:txBody>
      </p:sp>
      <p:sp>
        <p:nvSpPr>
          <p:cNvPr id="18" name="Text 16"/>
          <p:cNvSpPr txBox="1"/>
          <p:nvPr/>
        </p:nvSpPr>
        <p:spPr>
          <a:xfrm>
            <a:off x="4521098" y="4485132"/>
            <a:ext cx="3149498" cy="10195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Service och Ingress - hur trafik hittar rätt</a:t>
            </a:r>
            <a:endParaRPr lang="en-US" sz="1150" dirty="0"/>
          </a:p>
        </p:txBody>
      </p:sp>
      <p:sp>
        <p:nvSpPr>
          <p:cNvPr id="19" name="Shape 17"/>
          <p:cNvSpPr/>
          <p:nvPr/>
        </p:nvSpPr>
        <p:spPr>
          <a:xfrm>
            <a:off x="8091221" y="3790188"/>
            <a:ext cx="3551834" cy="1879092"/>
          </a:xfrm>
          <a:prstGeom prst="roundRect">
            <a:avLst>
              <a:gd name="adj" fmla="val 4866"/>
            </a:avLst>
          </a:prstGeom>
          <a:solidFill>
            <a:srgbClr val="FFFFFF"/>
          </a:solidFill>
          <a:ln w="12700">
            <a:solidFill>
              <a:srgbClr val="E4E7EC"/>
            </a:solidFill>
            <a:prstDash val="solid"/>
          </a:ln>
        </p:spPr>
      </p:sp>
      <p:sp>
        <p:nvSpPr>
          <p:cNvPr id="20" name="Text 18"/>
          <p:cNvSpPr txBox="1"/>
          <p:nvPr/>
        </p:nvSpPr>
        <p:spPr>
          <a:xfrm>
            <a:off x="8292389" y="3973068"/>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6. Prata med klustret</a:t>
            </a:r>
            <a:endParaRPr lang="en-US" sz="1550" dirty="0"/>
          </a:p>
        </p:txBody>
      </p:sp>
      <p:sp>
        <p:nvSpPr>
          <p:cNvPr id="21" name="Text 19"/>
          <p:cNvSpPr txBox="1"/>
          <p:nvPr/>
        </p:nvSpPr>
        <p:spPr>
          <a:xfrm>
            <a:off x="8292389" y="4485132"/>
            <a:ext cx="3149498" cy="10195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kubectl, API:et och deklarativ konfiguration</a:t>
            </a:r>
            <a:endParaRPr lang="en-US" sz="1150" dirty="0"/>
          </a:p>
        </p:txBody>
      </p:sp>
      <p:sp>
        <p:nvSpPr>
          <p:cNvPr id="22" name="Text 20"/>
          <p:cNvSpPr txBox="1"/>
          <p:nvPr/>
        </p:nvSpPr>
        <p:spPr>
          <a:xfrm>
            <a:off x="548640" y="5989320"/>
            <a:ext cx="11094415" cy="457200"/>
          </a:xfrm>
          <a:prstGeom prst="rect">
            <a:avLst/>
          </a:prstGeom>
          <a:noFill/>
          <a:ln/>
        </p:spPr>
        <p:txBody>
          <a:bodyPr wrap="square" lIns="0" tIns="0" rIns="0" bIns="0" rtlCol="0" anchor="t"/>
          <a:lstStyle/>
          <a:p>
            <a:pPr indent="0" marL="0">
              <a:lnSpc>
                <a:spcPct val="130000"/>
              </a:lnSpc>
              <a:buNone/>
            </a:pPr>
            <a:r>
              <a:rPr lang="en-US" sz="1200" dirty="0">
                <a:solidFill>
                  <a:srgbClr val="6A7179"/>
                </a:solidFill>
                <a:latin typeface="Arial" pitchFamily="34" charset="0"/>
                <a:ea typeface="Arial" pitchFamily="34" charset="-122"/>
                <a:cs typeface="Arial" pitchFamily="34" charset="-120"/>
              </a:rPr>
              <a:t>Ikväll är helt teoretiskt. Praktik med .NET, Angular, MySQL, Redis, NATS och monitorering kommer i tillfälle 2-8.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640080"/>
            <a:ext cx="11094415" cy="292608"/>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SÅ HÄR BÖRJAR DET OFTA</a:t>
            </a:r>
            <a:endParaRPr lang="en-US" sz="1200" dirty="0"/>
          </a:p>
        </p:txBody>
      </p:sp>
      <p:sp>
        <p:nvSpPr>
          <p:cNvPr id="3" name="Text 1"/>
          <p:cNvSpPr txBox="1"/>
          <p:nvPr/>
        </p:nvSpPr>
        <p:spPr>
          <a:xfrm>
            <a:off x="548640" y="1143000"/>
            <a:ext cx="10789920" cy="1554480"/>
          </a:xfrm>
          <a:prstGeom prst="rect">
            <a:avLst/>
          </a:prstGeom>
          <a:noFill/>
          <a:ln/>
        </p:spPr>
        <p:txBody>
          <a:bodyPr wrap="square" lIns="0" tIns="0" rIns="0" bIns="0" rtlCol="0" anchor="ctr"/>
          <a:lstStyle/>
          <a:p>
            <a:pPr indent="0" marL="0">
              <a:lnSpc>
                <a:spcPct val="115000"/>
              </a:lnSpc>
              <a:buNone/>
            </a:pPr>
            <a:r>
              <a:rPr lang="en-US" sz="3400" b="1" dirty="0">
                <a:solidFill>
                  <a:srgbClr val="F5F7FA"/>
                </a:solidFill>
                <a:latin typeface="Calibri" pitchFamily="34" charset="0"/>
                <a:ea typeface="Calibri" pitchFamily="34" charset="-122"/>
                <a:cs typeface="Calibri" pitchFamily="34" charset="-120"/>
              </a:rPr>
              <a:t>En .NET-app. En server. En release på en fredag eftermiddag.</a:t>
            </a:r>
            <a:endParaRPr lang="en-US" sz="3400" dirty="0"/>
          </a:p>
        </p:txBody>
      </p:sp>
      <p:sp>
        <p:nvSpPr>
          <p:cNvPr id="4" name="Text 2"/>
          <p:cNvSpPr txBox="1"/>
          <p:nvPr/>
        </p:nvSpPr>
        <p:spPr>
          <a:xfrm>
            <a:off x="548640" y="3291840"/>
            <a:ext cx="3515258" cy="2377440"/>
          </a:xfrm>
          <a:prstGeom prst="rect">
            <a:avLst/>
          </a:prstGeom>
          <a:noFill/>
          <a:ln/>
        </p:spPr>
        <p:txBody>
          <a:bodyPr wrap="square" lIns="0" tIns="0" rIns="0" bIns="0" rtlCol="0" anchor="t"/>
          <a:lstStyle/>
          <a:p>
            <a:pPr indent="0" marL="0">
              <a:lnSpc>
                <a:spcPct val="135000"/>
              </a:lnSpc>
              <a:buNone/>
            </a:pPr>
            <a:r>
              <a:rPr lang="en-US" sz="1450" dirty="0">
                <a:solidFill>
                  <a:srgbClr val="B9C4D1"/>
                </a:solidFill>
                <a:latin typeface="Arial" pitchFamily="34" charset="0"/>
                <a:ea typeface="Arial" pitchFamily="34" charset="-122"/>
                <a:cs typeface="Arial" pitchFamily="34" charset="-120"/>
              </a:rPr>
              <a:t>Hela appen ligger på en server. Går releasen fel, ligger allt nere - inte bara den lilla delen ni ändrade.</a:t>
            </a:r>
            <a:endParaRPr lang="en-US" sz="1450" dirty="0"/>
          </a:p>
        </p:txBody>
      </p:sp>
      <p:sp>
        <p:nvSpPr>
          <p:cNvPr id="5" name="Text 3"/>
          <p:cNvSpPr txBox="1"/>
          <p:nvPr/>
        </p:nvSpPr>
        <p:spPr>
          <a:xfrm>
            <a:off x="4338218" y="3291840"/>
            <a:ext cx="3515258" cy="2377440"/>
          </a:xfrm>
          <a:prstGeom prst="rect">
            <a:avLst/>
          </a:prstGeom>
          <a:noFill/>
          <a:ln/>
        </p:spPr>
        <p:txBody>
          <a:bodyPr wrap="square" lIns="0" tIns="0" rIns="0" bIns="0" rtlCol="0" anchor="t"/>
          <a:lstStyle/>
          <a:p>
            <a:pPr indent="0" marL="0">
              <a:lnSpc>
                <a:spcPct val="135000"/>
              </a:lnSpc>
              <a:buNone/>
            </a:pPr>
            <a:r>
              <a:rPr lang="en-US" sz="1450" dirty="0">
                <a:solidFill>
                  <a:srgbClr val="B9C4D1"/>
                </a:solidFill>
                <a:latin typeface="Arial" pitchFamily="34" charset="0"/>
                <a:ea typeface="Arial" pitchFamily="34" charset="-122"/>
                <a:cs typeface="Arial" pitchFamily="34" charset="-120"/>
              </a:rPr>
              <a:t>Får ni fler användare får servern skalas upp - hela appen, även de delar som inte behöver det.</a:t>
            </a:r>
            <a:endParaRPr lang="en-US" sz="1450" dirty="0"/>
          </a:p>
        </p:txBody>
      </p:sp>
      <p:sp>
        <p:nvSpPr>
          <p:cNvPr id="6" name="Text 4"/>
          <p:cNvSpPr txBox="1"/>
          <p:nvPr/>
        </p:nvSpPr>
        <p:spPr>
          <a:xfrm>
            <a:off x="8127797" y="3291840"/>
            <a:ext cx="3515258" cy="2377440"/>
          </a:xfrm>
          <a:prstGeom prst="rect">
            <a:avLst/>
          </a:prstGeom>
          <a:noFill/>
          <a:ln/>
        </p:spPr>
        <p:txBody>
          <a:bodyPr wrap="square" lIns="0" tIns="0" rIns="0" bIns="0" rtlCol="0" anchor="t"/>
          <a:lstStyle/>
          <a:p>
            <a:pPr indent="0" marL="0">
              <a:lnSpc>
                <a:spcPct val="135000"/>
              </a:lnSpc>
              <a:buNone/>
            </a:pPr>
            <a:r>
              <a:rPr lang="en-US" sz="1450" dirty="0">
                <a:solidFill>
                  <a:srgbClr val="B9C4D1"/>
                </a:solidFill>
                <a:latin typeface="Arial" pitchFamily="34" charset="0"/>
                <a:ea typeface="Arial" pitchFamily="34" charset="-122"/>
                <a:cs typeface="Arial" pitchFamily="34" charset="-120"/>
              </a:rPr>
              <a:t>En minnesläcka i en enda modul kan dra ner hela systemet med sig.</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BAKGRUND</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Vad är en monolit?</a:t>
            </a:r>
            <a:endParaRPr lang="en-US" sz="3000" dirty="0"/>
          </a:p>
        </p:txBody>
      </p:sp>
      <p:sp>
        <p:nvSpPr>
          <p:cNvPr id="4" name="Text 2"/>
          <p:cNvSpPr txBox="1"/>
          <p:nvPr/>
        </p:nvSpPr>
        <p:spPr>
          <a:xfrm>
            <a:off x="548640" y="1828800"/>
            <a:ext cx="5120640" cy="2743200"/>
          </a:xfrm>
          <a:prstGeom prst="rect">
            <a:avLst/>
          </a:prstGeom>
          <a:noFill/>
          <a:ln/>
        </p:spPr>
        <p:txBody>
          <a:bodyPr wrap="square" lIns="0" tIns="0" rIns="0" bIns="0" rtlCol="0" anchor="t"/>
          <a:lstStyle/>
          <a:p>
            <a:pPr indent="0" marL="0">
              <a:lnSpc>
                <a:spcPct val="130000"/>
              </a:lnSpc>
              <a:buNone/>
            </a:pPr>
            <a:r>
              <a:rPr lang="en-US" sz="1500" dirty="0">
                <a:solidFill>
                  <a:srgbClr val="4A5568"/>
                </a:solidFill>
                <a:latin typeface="Arial" pitchFamily="34" charset="0"/>
                <a:ea typeface="Arial" pitchFamily="34" charset="-122"/>
                <a:cs typeface="Arial" pitchFamily="34" charset="-120"/>
              </a:rPr>
              <a:t>En monolit är en applikation byggd och paketerad som EN enhet. Gränssnitt, affärslogik och datalager sitter i samma kodbas, byggs till samma paket och deployas tillsammans - varje gång, allihop.</a:t>
            </a:r>
            <a:endParaRPr lang="en-US" sz="1500" dirty="0"/>
          </a:p>
        </p:txBody>
      </p:sp>
      <p:sp>
        <p:nvSpPr>
          <p:cNvPr id="5" name="Shape 3"/>
          <p:cNvSpPr/>
          <p:nvPr/>
        </p:nvSpPr>
        <p:spPr>
          <a:xfrm>
            <a:off x="6126480" y="1783080"/>
            <a:ext cx="5513832" cy="3657600"/>
          </a:xfrm>
          <a:prstGeom prst="roundRect">
            <a:avLst>
              <a:gd name="adj" fmla="val 2500"/>
            </a:avLst>
          </a:prstGeom>
          <a:solidFill>
            <a:srgbClr val="FFFFFF"/>
          </a:solidFill>
          <a:ln w="25400">
            <a:solidFill>
              <a:srgbClr val="16202B"/>
            </a:solidFill>
            <a:prstDash val="solid"/>
          </a:ln>
        </p:spPr>
      </p:sp>
      <p:sp>
        <p:nvSpPr>
          <p:cNvPr id="6" name="Text 4"/>
          <p:cNvSpPr txBox="1"/>
          <p:nvPr/>
        </p:nvSpPr>
        <p:spPr>
          <a:xfrm>
            <a:off x="6355080" y="2011680"/>
            <a:ext cx="5029200" cy="274320"/>
          </a:xfrm>
          <a:prstGeom prst="rect">
            <a:avLst/>
          </a:prstGeom>
          <a:noFill/>
          <a:ln/>
        </p:spPr>
        <p:txBody>
          <a:bodyPr wrap="square" lIns="0" tIns="0" rIns="0" bIns="0" rtlCol="0" anchor="ctr"/>
          <a:lstStyle/>
          <a:p>
            <a:pPr indent="0" marL="0">
              <a:buNone/>
            </a:pPr>
            <a:r>
              <a:rPr lang="en-US" sz="1100" b="1" dirty="0">
                <a:solidFill>
                  <a:srgbClr val="6A7179"/>
                </a:solidFill>
                <a:latin typeface="Arial" pitchFamily="34" charset="0"/>
                <a:ea typeface="Arial" pitchFamily="34" charset="-122"/>
                <a:cs typeface="Arial" pitchFamily="34" charset="-120"/>
              </a:rPr>
              <a:t>ETT ENDA DEPLOYBART PAKET</a:t>
            </a:r>
            <a:endParaRPr lang="en-US" sz="1100" dirty="0"/>
          </a:p>
        </p:txBody>
      </p:sp>
      <p:sp>
        <p:nvSpPr>
          <p:cNvPr id="7" name="Shape 5"/>
          <p:cNvSpPr/>
          <p:nvPr/>
        </p:nvSpPr>
        <p:spPr>
          <a:xfrm>
            <a:off x="6355080" y="2423160"/>
            <a:ext cx="5029200" cy="731520"/>
          </a:xfrm>
          <a:prstGeom prst="roundRect">
            <a:avLst>
              <a:gd name="adj" fmla="val 12500"/>
            </a:avLst>
          </a:prstGeom>
          <a:solidFill>
            <a:srgbClr val="E8EDFF"/>
          </a:solidFill>
          <a:ln/>
        </p:spPr>
      </p:sp>
      <p:sp>
        <p:nvSpPr>
          <p:cNvPr id="8" name="Text 6"/>
          <p:cNvSpPr txBox="1"/>
          <p:nvPr/>
        </p:nvSpPr>
        <p:spPr>
          <a:xfrm>
            <a:off x="6583680" y="2423160"/>
            <a:ext cx="4572000" cy="731520"/>
          </a:xfrm>
          <a:prstGeom prst="rect">
            <a:avLst/>
          </a:prstGeom>
          <a:noFill/>
          <a:ln/>
        </p:spPr>
        <p:txBody>
          <a:bodyPr wrap="square" lIns="0" tIns="0" rIns="0" bIns="0" rtlCol="0" anchor="ctr"/>
          <a:lstStyle/>
          <a:p>
            <a:pPr indent="0" marL="0">
              <a:buNone/>
            </a:pPr>
            <a:r>
              <a:rPr lang="en-US" sz="1600" b="1" dirty="0">
                <a:solidFill>
                  <a:srgbClr val="16202B"/>
                </a:solidFill>
                <a:latin typeface="Calibri" pitchFamily="34" charset="0"/>
                <a:ea typeface="Calibri" pitchFamily="34" charset="-122"/>
                <a:cs typeface="Calibri" pitchFamily="34" charset="-120"/>
              </a:rPr>
              <a:t>UI / Web</a:t>
            </a:r>
            <a:endParaRPr lang="en-US" sz="1600" dirty="0"/>
          </a:p>
        </p:txBody>
      </p:sp>
      <p:sp>
        <p:nvSpPr>
          <p:cNvPr id="9" name="Shape 7"/>
          <p:cNvSpPr/>
          <p:nvPr/>
        </p:nvSpPr>
        <p:spPr>
          <a:xfrm>
            <a:off x="6355080" y="3337560"/>
            <a:ext cx="5029200" cy="731520"/>
          </a:xfrm>
          <a:prstGeom prst="roundRect">
            <a:avLst>
              <a:gd name="adj" fmla="val 12500"/>
            </a:avLst>
          </a:prstGeom>
          <a:solidFill>
            <a:srgbClr val="E8EDFF"/>
          </a:solidFill>
          <a:ln/>
        </p:spPr>
      </p:sp>
      <p:sp>
        <p:nvSpPr>
          <p:cNvPr id="10" name="Text 8"/>
          <p:cNvSpPr txBox="1"/>
          <p:nvPr/>
        </p:nvSpPr>
        <p:spPr>
          <a:xfrm>
            <a:off x="6583680" y="3337560"/>
            <a:ext cx="4572000" cy="731520"/>
          </a:xfrm>
          <a:prstGeom prst="rect">
            <a:avLst/>
          </a:prstGeom>
          <a:noFill/>
          <a:ln/>
        </p:spPr>
        <p:txBody>
          <a:bodyPr wrap="square" lIns="0" tIns="0" rIns="0" bIns="0" rtlCol="0" anchor="ctr"/>
          <a:lstStyle/>
          <a:p>
            <a:pPr indent="0" marL="0">
              <a:buNone/>
            </a:pPr>
            <a:r>
              <a:rPr lang="en-US" sz="1600" b="1" dirty="0">
                <a:solidFill>
                  <a:srgbClr val="16202B"/>
                </a:solidFill>
                <a:latin typeface="Calibri" pitchFamily="34" charset="0"/>
                <a:ea typeface="Calibri" pitchFamily="34" charset="-122"/>
                <a:cs typeface="Calibri" pitchFamily="34" charset="-120"/>
              </a:rPr>
              <a:t>Affärslogik</a:t>
            </a:r>
            <a:endParaRPr lang="en-US" sz="1600" dirty="0"/>
          </a:p>
        </p:txBody>
      </p:sp>
      <p:sp>
        <p:nvSpPr>
          <p:cNvPr id="11" name="Shape 9"/>
          <p:cNvSpPr/>
          <p:nvPr/>
        </p:nvSpPr>
        <p:spPr>
          <a:xfrm>
            <a:off x="6355080" y="4251960"/>
            <a:ext cx="5029200" cy="731520"/>
          </a:xfrm>
          <a:prstGeom prst="roundRect">
            <a:avLst>
              <a:gd name="adj" fmla="val 12500"/>
            </a:avLst>
          </a:prstGeom>
          <a:solidFill>
            <a:srgbClr val="E8EDFF"/>
          </a:solidFill>
          <a:ln/>
        </p:spPr>
      </p:sp>
      <p:sp>
        <p:nvSpPr>
          <p:cNvPr id="12" name="Text 10"/>
          <p:cNvSpPr txBox="1"/>
          <p:nvPr/>
        </p:nvSpPr>
        <p:spPr>
          <a:xfrm>
            <a:off x="6583680" y="4251960"/>
            <a:ext cx="4572000" cy="731520"/>
          </a:xfrm>
          <a:prstGeom prst="rect">
            <a:avLst/>
          </a:prstGeom>
          <a:noFill/>
          <a:ln/>
        </p:spPr>
        <p:txBody>
          <a:bodyPr wrap="square" lIns="0" tIns="0" rIns="0" bIns="0" rtlCol="0" anchor="ctr"/>
          <a:lstStyle/>
          <a:p>
            <a:pPr indent="0" marL="0">
              <a:buNone/>
            </a:pPr>
            <a:r>
              <a:rPr lang="en-US" sz="1600" b="1" dirty="0">
                <a:solidFill>
                  <a:srgbClr val="16202B"/>
                </a:solidFill>
                <a:latin typeface="Calibri" pitchFamily="34" charset="0"/>
                <a:ea typeface="Calibri" pitchFamily="34" charset="-122"/>
                <a:cs typeface="Calibri" pitchFamily="34" charset="-120"/>
              </a:rPr>
              <a:t>Datalager</a:t>
            </a:r>
            <a:endParaRPr lang="en-US" sz="1600" dirty="0"/>
          </a:p>
        </p:txBody>
      </p:sp>
      <p:sp>
        <p:nvSpPr>
          <p:cNvPr id="13" name="Text 11"/>
          <p:cNvSpPr txBox="1"/>
          <p:nvPr/>
        </p:nvSpPr>
        <p:spPr>
          <a:xfrm>
            <a:off x="548640" y="6035040"/>
            <a:ext cx="11094415" cy="365760"/>
          </a:xfrm>
          <a:prstGeom prst="rect">
            <a:avLst/>
          </a:prstGeom>
          <a:noFill/>
          <a:ln/>
        </p:spPr>
        <p:txBody>
          <a:bodyPr wrap="square" lIns="0" tIns="0" rIns="0" bIns="0" rtlCol="0" anchor="t"/>
          <a:lstStyle/>
          <a:p>
            <a:pPr indent="0" marL="0">
              <a:lnSpc>
                <a:spcPct val="130000"/>
              </a:lnSpc>
              <a:buNone/>
            </a:pPr>
            <a:r>
              <a:rPr lang="en-US" sz="1200" dirty="0">
                <a:solidFill>
                  <a:srgbClr val="6A7179"/>
                </a:solidFill>
                <a:latin typeface="Arial" pitchFamily="34" charset="0"/>
                <a:ea typeface="Arial" pitchFamily="34" charset="-122"/>
                <a:cs typeface="Arial" pitchFamily="34" charset="-120"/>
              </a:rPr>
              <a:t>Exempel: en klassisk ASP.NET-lösning med allt i en .sln, deployad som ett IIS-paket.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D64545"/>
                </a:solidFill>
                <a:latin typeface="Arial" pitchFamily="34" charset="0"/>
                <a:ea typeface="Arial" pitchFamily="34" charset="-122"/>
                <a:cs typeface="Arial" pitchFamily="34" charset="-120"/>
              </a:rPr>
              <a:t>BAKGRUND</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Monolitens baksida</a:t>
            </a:r>
            <a:endParaRPr lang="en-US" sz="3000" dirty="0"/>
          </a:p>
        </p:txBody>
      </p:sp>
      <p:sp>
        <p:nvSpPr>
          <p:cNvPr id="4" name="Shape 2"/>
          <p:cNvSpPr/>
          <p:nvPr/>
        </p:nvSpPr>
        <p:spPr>
          <a:xfrm>
            <a:off x="548640" y="1737360"/>
            <a:ext cx="5437480" cy="1993392"/>
          </a:xfrm>
          <a:prstGeom prst="roundRect">
            <a:avLst>
              <a:gd name="adj" fmla="val 4587"/>
            </a:avLst>
          </a:prstGeom>
          <a:solidFill>
            <a:srgbClr val="FFFFFF"/>
          </a:solidFill>
          <a:ln w="12700">
            <a:solidFill>
              <a:srgbClr val="E4E7EC"/>
            </a:solidFill>
            <a:prstDash val="solid"/>
          </a:ln>
        </p:spPr>
      </p:sp>
      <p:sp>
        <p:nvSpPr>
          <p:cNvPr id="5" name="Text 3"/>
          <p:cNvSpPr txBox="1"/>
          <p:nvPr/>
        </p:nvSpPr>
        <p:spPr>
          <a:xfrm>
            <a:off x="749808" y="1920240"/>
            <a:ext cx="5035144"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Allt eller inget</a:t>
            </a:r>
            <a:endParaRPr lang="en-US" sz="1550" dirty="0"/>
          </a:p>
        </p:txBody>
      </p:sp>
      <p:sp>
        <p:nvSpPr>
          <p:cNvPr id="6" name="Text 4"/>
          <p:cNvSpPr txBox="1"/>
          <p:nvPr/>
        </p:nvSpPr>
        <p:spPr>
          <a:xfrm>
            <a:off x="749808" y="2432304"/>
            <a:ext cx="5035144" cy="11338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En bugg i en liten modul kan få hela applikationen att krascha eller behöva startas om.</a:t>
            </a:r>
            <a:endParaRPr lang="en-US" sz="1150" dirty="0"/>
          </a:p>
        </p:txBody>
      </p:sp>
      <p:sp>
        <p:nvSpPr>
          <p:cNvPr id="7" name="Shape 5"/>
          <p:cNvSpPr/>
          <p:nvPr/>
        </p:nvSpPr>
        <p:spPr>
          <a:xfrm>
            <a:off x="6205576" y="1737360"/>
            <a:ext cx="5437480" cy="1993392"/>
          </a:xfrm>
          <a:prstGeom prst="roundRect">
            <a:avLst>
              <a:gd name="adj" fmla="val 4587"/>
            </a:avLst>
          </a:prstGeom>
          <a:solidFill>
            <a:srgbClr val="FFFFFF"/>
          </a:solidFill>
          <a:ln w="12700">
            <a:solidFill>
              <a:srgbClr val="E4E7EC"/>
            </a:solidFill>
            <a:prstDash val="solid"/>
          </a:ln>
        </p:spPr>
      </p:sp>
      <p:sp>
        <p:nvSpPr>
          <p:cNvPr id="8" name="Text 6"/>
          <p:cNvSpPr txBox="1"/>
          <p:nvPr/>
        </p:nvSpPr>
        <p:spPr>
          <a:xfrm>
            <a:off x="6406744" y="1920240"/>
            <a:ext cx="5035144"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Trubbig skalning</a:t>
            </a:r>
            <a:endParaRPr lang="en-US" sz="1550" dirty="0"/>
          </a:p>
        </p:txBody>
      </p:sp>
      <p:sp>
        <p:nvSpPr>
          <p:cNvPr id="9" name="Text 7"/>
          <p:cNvSpPr txBox="1"/>
          <p:nvPr/>
        </p:nvSpPr>
        <p:spPr>
          <a:xfrm>
            <a:off x="6406744" y="2432304"/>
            <a:ext cx="5035144" cy="11338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Behöver bara betaltjänsten mer kraft? Tyvärr - ni får skala HELA appen ändå.</a:t>
            </a:r>
            <a:endParaRPr lang="en-US" sz="1150" dirty="0"/>
          </a:p>
        </p:txBody>
      </p:sp>
      <p:sp>
        <p:nvSpPr>
          <p:cNvPr id="10" name="Shape 8"/>
          <p:cNvSpPr/>
          <p:nvPr/>
        </p:nvSpPr>
        <p:spPr>
          <a:xfrm>
            <a:off x="548640" y="3950208"/>
            <a:ext cx="5437480" cy="1993392"/>
          </a:xfrm>
          <a:prstGeom prst="roundRect">
            <a:avLst>
              <a:gd name="adj" fmla="val 4587"/>
            </a:avLst>
          </a:prstGeom>
          <a:solidFill>
            <a:srgbClr val="FFFFFF"/>
          </a:solidFill>
          <a:ln w="12700">
            <a:solidFill>
              <a:srgbClr val="E4E7EC"/>
            </a:solidFill>
            <a:prstDash val="solid"/>
          </a:ln>
        </p:spPr>
      </p:sp>
      <p:sp>
        <p:nvSpPr>
          <p:cNvPr id="11" name="Text 9"/>
          <p:cNvSpPr txBox="1"/>
          <p:nvPr/>
        </p:nvSpPr>
        <p:spPr>
          <a:xfrm>
            <a:off x="749808" y="4133088"/>
            <a:ext cx="5035144"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Läskiga releaser</a:t>
            </a:r>
            <a:endParaRPr lang="en-US" sz="1550" dirty="0"/>
          </a:p>
        </p:txBody>
      </p:sp>
      <p:sp>
        <p:nvSpPr>
          <p:cNvPr id="12" name="Text 10"/>
          <p:cNvSpPr txBox="1"/>
          <p:nvPr/>
        </p:nvSpPr>
        <p:spPr>
          <a:xfrm>
            <a:off x="749808" y="4645152"/>
            <a:ext cx="5035144" cy="11338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Stora, sällsynta deploys av allt på en gång - hög risk varje gång ni trycker på knappen.</a:t>
            </a:r>
            <a:endParaRPr lang="en-US" sz="1150" dirty="0"/>
          </a:p>
        </p:txBody>
      </p:sp>
      <p:sp>
        <p:nvSpPr>
          <p:cNvPr id="13" name="Shape 11"/>
          <p:cNvSpPr/>
          <p:nvPr/>
        </p:nvSpPr>
        <p:spPr>
          <a:xfrm>
            <a:off x="6205576" y="3950208"/>
            <a:ext cx="5437480" cy="1993392"/>
          </a:xfrm>
          <a:prstGeom prst="roundRect">
            <a:avLst>
              <a:gd name="adj" fmla="val 4587"/>
            </a:avLst>
          </a:prstGeom>
          <a:solidFill>
            <a:srgbClr val="FFFFFF"/>
          </a:solidFill>
          <a:ln w="12700">
            <a:solidFill>
              <a:srgbClr val="E4E7EC"/>
            </a:solidFill>
            <a:prstDash val="solid"/>
          </a:ln>
        </p:spPr>
      </p:sp>
      <p:sp>
        <p:nvSpPr>
          <p:cNvPr id="14" name="Text 12"/>
          <p:cNvSpPr txBox="1"/>
          <p:nvPr/>
        </p:nvSpPr>
        <p:spPr>
          <a:xfrm>
            <a:off x="6406744" y="4133088"/>
            <a:ext cx="5035144"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Trångt för flera team</a:t>
            </a:r>
            <a:endParaRPr lang="en-US" sz="1550" dirty="0"/>
          </a:p>
        </p:txBody>
      </p:sp>
      <p:sp>
        <p:nvSpPr>
          <p:cNvPr id="15" name="Text 13"/>
          <p:cNvSpPr txBox="1"/>
          <p:nvPr/>
        </p:nvSpPr>
        <p:spPr>
          <a:xfrm>
            <a:off x="6406744" y="4645152"/>
            <a:ext cx="5035144" cy="11338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Alla jobbar i samma kodbas och stör varandra ju fler utvecklare som tillkommer.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BAKGRUND</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Lösningen: dela upp i mindre tjänster</a:t>
            </a:r>
            <a:endParaRPr lang="en-US" sz="3000" dirty="0"/>
          </a:p>
        </p:txBody>
      </p:sp>
      <p:sp>
        <p:nvSpPr>
          <p:cNvPr id="4" name="Text 2"/>
          <p:cNvSpPr txBox="1"/>
          <p:nvPr/>
        </p:nvSpPr>
        <p:spPr>
          <a:xfrm>
            <a:off x="548640" y="1600200"/>
            <a:ext cx="11094415" cy="457200"/>
          </a:xfrm>
          <a:prstGeom prst="rect">
            <a:avLst/>
          </a:prstGeom>
          <a:noFill/>
          <a:ln/>
        </p:spPr>
        <p:txBody>
          <a:bodyPr wrap="square" lIns="0" tIns="0" rIns="0" bIns="0" rtlCol="0" anchor="t"/>
          <a:lstStyle/>
          <a:p>
            <a:pPr indent="0" marL="0">
              <a:lnSpc>
                <a:spcPct val="130000"/>
              </a:lnSpc>
              <a:buNone/>
            </a:pPr>
            <a:r>
              <a:rPr lang="en-US" sz="1450" dirty="0">
                <a:solidFill>
                  <a:srgbClr val="4A5568"/>
                </a:solidFill>
                <a:latin typeface="Arial" pitchFamily="34" charset="0"/>
                <a:ea typeface="Arial" pitchFamily="34" charset="-122"/>
                <a:cs typeface="Arial" pitchFamily="34" charset="-120"/>
              </a:rPr>
              <a:t>Varje del av systemet blir sin egen, självständiga tjänst - med egen kodbas, egen deploy och egen skalning.</a:t>
            </a:r>
            <a:endParaRPr lang="en-US" sz="1450" dirty="0"/>
          </a:p>
        </p:txBody>
      </p:sp>
      <p:sp>
        <p:nvSpPr>
          <p:cNvPr id="5" name="Shape 3"/>
          <p:cNvSpPr/>
          <p:nvPr/>
        </p:nvSpPr>
        <p:spPr>
          <a:xfrm>
            <a:off x="548640" y="2286000"/>
            <a:ext cx="2609012" cy="2011680"/>
          </a:xfrm>
          <a:prstGeom prst="roundRect">
            <a:avLst>
              <a:gd name="adj" fmla="val 4545"/>
            </a:avLst>
          </a:prstGeom>
          <a:solidFill>
            <a:srgbClr val="FFFFFF"/>
          </a:solidFill>
          <a:ln w="12700">
            <a:solidFill>
              <a:srgbClr val="E4E7EC"/>
            </a:solidFill>
            <a:prstDash val="solid"/>
          </a:ln>
        </p:spPr>
      </p:sp>
      <p:sp>
        <p:nvSpPr>
          <p:cNvPr id="6" name="Text 4"/>
          <p:cNvSpPr txBox="1"/>
          <p:nvPr/>
        </p:nvSpPr>
        <p:spPr>
          <a:xfrm>
            <a:off x="749808" y="2468880"/>
            <a:ext cx="2206676"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UI-tjänst</a:t>
            </a:r>
            <a:endParaRPr lang="en-US" sz="1550" dirty="0"/>
          </a:p>
        </p:txBody>
      </p:sp>
      <p:sp>
        <p:nvSpPr>
          <p:cNvPr id="7" name="Shape 5"/>
          <p:cNvSpPr/>
          <p:nvPr/>
        </p:nvSpPr>
        <p:spPr>
          <a:xfrm>
            <a:off x="3377108" y="2286000"/>
            <a:ext cx="2609012" cy="2011680"/>
          </a:xfrm>
          <a:prstGeom prst="roundRect">
            <a:avLst>
              <a:gd name="adj" fmla="val 4545"/>
            </a:avLst>
          </a:prstGeom>
          <a:solidFill>
            <a:srgbClr val="FFFFFF"/>
          </a:solidFill>
          <a:ln w="12700">
            <a:solidFill>
              <a:srgbClr val="E4E7EC"/>
            </a:solidFill>
            <a:prstDash val="solid"/>
          </a:ln>
        </p:spPr>
      </p:sp>
      <p:sp>
        <p:nvSpPr>
          <p:cNvPr id="8" name="Text 6"/>
          <p:cNvSpPr txBox="1"/>
          <p:nvPr/>
        </p:nvSpPr>
        <p:spPr>
          <a:xfrm>
            <a:off x="3578276" y="2468880"/>
            <a:ext cx="2206676"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Order-tjänst</a:t>
            </a:r>
            <a:endParaRPr lang="en-US" sz="1550" dirty="0"/>
          </a:p>
        </p:txBody>
      </p:sp>
      <p:sp>
        <p:nvSpPr>
          <p:cNvPr id="9" name="Shape 7"/>
          <p:cNvSpPr/>
          <p:nvPr/>
        </p:nvSpPr>
        <p:spPr>
          <a:xfrm>
            <a:off x="6205576" y="2286000"/>
            <a:ext cx="2609012" cy="2011680"/>
          </a:xfrm>
          <a:prstGeom prst="roundRect">
            <a:avLst>
              <a:gd name="adj" fmla="val 4545"/>
            </a:avLst>
          </a:prstGeom>
          <a:solidFill>
            <a:srgbClr val="FFFFFF"/>
          </a:solidFill>
          <a:ln w="12700">
            <a:solidFill>
              <a:srgbClr val="E4E7EC"/>
            </a:solidFill>
            <a:prstDash val="solid"/>
          </a:ln>
        </p:spPr>
      </p:sp>
      <p:sp>
        <p:nvSpPr>
          <p:cNvPr id="10" name="Text 8"/>
          <p:cNvSpPr txBox="1"/>
          <p:nvPr/>
        </p:nvSpPr>
        <p:spPr>
          <a:xfrm>
            <a:off x="6406744" y="2468880"/>
            <a:ext cx="2206676"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Betal-tjänst</a:t>
            </a:r>
            <a:endParaRPr lang="en-US" sz="1550" dirty="0"/>
          </a:p>
        </p:txBody>
      </p:sp>
      <p:sp>
        <p:nvSpPr>
          <p:cNvPr id="11" name="Shape 9"/>
          <p:cNvSpPr/>
          <p:nvPr/>
        </p:nvSpPr>
        <p:spPr>
          <a:xfrm>
            <a:off x="9034043" y="2286000"/>
            <a:ext cx="2609012" cy="2011680"/>
          </a:xfrm>
          <a:prstGeom prst="roundRect">
            <a:avLst>
              <a:gd name="adj" fmla="val 4545"/>
            </a:avLst>
          </a:prstGeom>
          <a:solidFill>
            <a:srgbClr val="FFFFFF"/>
          </a:solidFill>
          <a:ln w="12700">
            <a:solidFill>
              <a:srgbClr val="E4E7EC"/>
            </a:solidFill>
            <a:prstDash val="solid"/>
          </a:ln>
        </p:spPr>
      </p:sp>
      <p:sp>
        <p:nvSpPr>
          <p:cNvPr id="12" name="Text 10"/>
          <p:cNvSpPr txBox="1"/>
          <p:nvPr/>
        </p:nvSpPr>
        <p:spPr>
          <a:xfrm>
            <a:off x="9235211" y="2468880"/>
            <a:ext cx="2206676"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Lager-tjänst</a:t>
            </a:r>
            <a:endParaRPr lang="en-US" sz="1550" dirty="0"/>
          </a:p>
        </p:txBody>
      </p:sp>
      <p:sp>
        <p:nvSpPr>
          <p:cNvPr id="13" name="Text 11"/>
          <p:cNvSpPr txBox="1"/>
          <p:nvPr/>
        </p:nvSpPr>
        <p:spPr>
          <a:xfrm>
            <a:off x="548640" y="4572000"/>
            <a:ext cx="11094415" cy="457200"/>
          </a:xfrm>
          <a:prstGeom prst="rect">
            <a:avLst/>
          </a:prstGeom>
          <a:noFill/>
          <a:ln/>
        </p:spPr>
        <p:txBody>
          <a:bodyPr wrap="square" lIns="0" tIns="0" rIns="0" bIns="0" rtlCol="0" anchor="t"/>
          <a:lstStyle/>
          <a:p>
            <a:pPr indent="0" marL="0">
              <a:lnSpc>
                <a:spcPct val="130000"/>
              </a:lnSpc>
              <a:buNone/>
            </a:pPr>
            <a:r>
              <a:rPr lang="en-US" sz="1400" dirty="0">
                <a:solidFill>
                  <a:srgbClr val="4A5568"/>
                </a:solidFill>
                <a:latin typeface="Arial" pitchFamily="34" charset="0"/>
                <a:ea typeface="Arial" pitchFamily="34" charset="-122"/>
                <a:cs typeface="Arial" pitchFamily="34" charset="-120"/>
              </a:rPr>
              <a:t>Kraschar betal-tjänsten kan resten leva vidare. Behöver order-tjänsten mer kraft skalar ni bara den.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731520"/>
            <a:ext cx="11094415" cy="292608"/>
          </a:xfrm>
          <a:prstGeom prst="rect">
            <a:avLst/>
          </a:prstGeom>
          <a:noFill/>
          <a:ln/>
        </p:spPr>
        <p:txBody>
          <a:bodyPr wrap="square" lIns="0" tIns="0" rIns="0" bIns="0" rtlCol="0" anchor="ctr"/>
          <a:lstStyle/>
          <a:p>
            <a:pPr indent="0" marL="0">
              <a:buNone/>
            </a:pPr>
            <a:r>
              <a:rPr lang="en-US" sz="1200" b="1" spc="200" kern="0" dirty="0">
                <a:solidFill>
                  <a:srgbClr val="FFB020"/>
                </a:solidFill>
                <a:latin typeface="Arial" pitchFamily="34" charset="0"/>
                <a:ea typeface="Arial" pitchFamily="34" charset="-122"/>
                <a:cs typeface="Arial" pitchFamily="34" charset="-120"/>
              </a:rPr>
              <a:t>MEN...</a:t>
            </a:r>
            <a:endParaRPr lang="en-US" sz="1200" dirty="0"/>
          </a:p>
        </p:txBody>
      </p:sp>
      <p:sp>
        <p:nvSpPr>
          <p:cNvPr id="3" name="Text 1"/>
          <p:cNvSpPr txBox="1"/>
          <p:nvPr/>
        </p:nvSpPr>
        <p:spPr>
          <a:xfrm>
            <a:off x="548640" y="1188720"/>
            <a:ext cx="10515600" cy="1280160"/>
          </a:xfrm>
          <a:prstGeom prst="rect">
            <a:avLst/>
          </a:prstGeom>
          <a:noFill/>
          <a:ln/>
        </p:spPr>
        <p:txBody>
          <a:bodyPr wrap="square" lIns="0" tIns="0" rIns="0" bIns="0" rtlCol="0" anchor="ctr"/>
          <a:lstStyle/>
          <a:p>
            <a:pPr indent="0" marL="0">
              <a:lnSpc>
                <a:spcPct val="115000"/>
              </a:lnSpc>
              <a:buNone/>
            </a:pPr>
            <a:r>
              <a:rPr lang="en-US" sz="3200" b="1" dirty="0">
                <a:solidFill>
                  <a:srgbClr val="F5F7FA"/>
                </a:solidFill>
                <a:latin typeface="Calibri" pitchFamily="34" charset="0"/>
                <a:ea typeface="Calibri" pitchFamily="34" charset="-122"/>
                <a:cs typeface="Calibri" pitchFamily="34" charset="-120"/>
              </a:rPr>
              <a:t>Nu har vi ett nytt problem: drift i stor skala</a:t>
            </a:r>
            <a:endParaRPr lang="en-US" sz="3200" dirty="0"/>
          </a:p>
        </p:txBody>
      </p:sp>
      <p:sp>
        <p:nvSpPr>
          <p:cNvPr id="4" name="Text 2"/>
          <p:cNvSpPr txBox="1"/>
          <p:nvPr/>
        </p:nvSpPr>
        <p:spPr>
          <a:xfrm>
            <a:off x="548640" y="2834640"/>
            <a:ext cx="10515600" cy="594360"/>
          </a:xfrm>
          <a:prstGeom prst="rect">
            <a:avLst/>
          </a:prstGeom>
          <a:noFill/>
          <a:ln/>
        </p:spPr>
        <p:txBody>
          <a:bodyPr wrap="square" lIns="0" tIns="0" rIns="0" bIns="0" rtlCol="0" anchor="ctr"/>
          <a:lstStyle/>
          <a:p>
            <a:pPr indent="0" marL="0">
              <a:buNone/>
            </a:pPr>
            <a:r>
              <a:rPr lang="en-US" sz="1700" dirty="0">
                <a:solidFill>
                  <a:srgbClr val="B9C4D1"/>
                </a:solidFill>
                <a:latin typeface="Arial" pitchFamily="34" charset="0"/>
                <a:ea typeface="Arial" pitchFamily="34" charset="-122"/>
                <a:cs typeface="Arial" pitchFamily="34" charset="-120"/>
              </a:rPr>
              <a:t>→ Många processer som ska startas, stoppas och övervakas dygnet runt</a:t>
            </a:r>
            <a:endParaRPr lang="en-US" sz="1700" dirty="0"/>
          </a:p>
        </p:txBody>
      </p:sp>
      <p:sp>
        <p:nvSpPr>
          <p:cNvPr id="5" name="Text 3"/>
          <p:cNvSpPr txBox="1"/>
          <p:nvPr/>
        </p:nvSpPr>
        <p:spPr>
          <a:xfrm>
            <a:off x="548640" y="3520440"/>
            <a:ext cx="10515600" cy="594360"/>
          </a:xfrm>
          <a:prstGeom prst="rect">
            <a:avLst/>
          </a:prstGeom>
          <a:noFill/>
          <a:ln/>
        </p:spPr>
        <p:txBody>
          <a:bodyPr wrap="square" lIns="0" tIns="0" rIns="0" bIns="0" rtlCol="0" anchor="ctr"/>
          <a:lstStyle/>
          <a:p>
            <a:pPr indent="0" marL="0">
              <a:buNone/>
            </a:pPr>
            <a:r>
              <a:rPr lang="en-US" sz="1700" dirty="0">
                <a:solidFill>
                  <a:srgbClr val="B9C4D1"/>
                </a:solidFill>
                <a:latin typeface="Arial" pitchFamily="34" charset="0"/>
                <a:ea typeface="Arial" pitchFamily="34" charset="-122"/>
                <a:cs typeface="Arial" pitchFamily="34" charset="-120"/>
              </a:rPr>
              <a:t>→ Tjänsterna måste hitta varandra över nätverket, hela tiden</a:t>
            </a:r>
            <a:endParaRPr lang="en-US" sz="1700" dirty="0"/>
          </a:p>
        </p:txBody>
      </p:sp>
      <p:sp>
        <p:nvSpPr>
          <p:cNvPr id="6" name="Text 4"/>
          <p:cNvSpPr txBox="1"/>
          <p:nvPr/>
        </p:nvSpPr>
        <p:spPr>
          <a:xfrm>
            <a:off x="548640" y="4206240"/>
            <a:ext cx="10515600" cy="594360"/>
          </a:xfrm>
          <a:prstGeom prst="rect">
            <a:avLst/>
          </a:prstGeom>
          <a:noFill/>
          <a:ln/>
        </p:spPr>
        <p:txBody>
          <a:bodyPr wrap="square" lIns="0" tIns="0" rIns="0" bIns="0" rtlCol="0" anchor="ctr"/>
          <a:lstStyle/>
          <a:p>
            <a:pPr indent="0" marL="0">
              <a:buNone/>
            </a:pPr>
            <a:r>
              <a:rPr lang="en-US" sz="1700" dirty="0">
                <a:solidFill>
                  <a:srgbClr val="B9C4D1"/>
                </a:solidFill>
                <a:latin typeface="Arial" pitchFamily="34" charset="0"/>
                <a:ea typeface="Arial" pitchFamily="34" charset="-122"/>
                <a:cs typeface="Arial" pitchFamily="34" charset="-120"/>
              </a:rPr>
              <a:t>→ Kraschar en instans mitt i natten - vem startar om den?</a:t>
            </a:r>
            <a:endParaRPr lang="en-US" sz="1700" dirty="0"/>
          </a:p>
        </p:txBody>
      </p:sp>
      <p:sp>
        <p:nvSpPr>
          <p:cNvPr id="7" name="Text 5"/>
          <p:cNvSpPr txBox="1"/>
          <p:nvPr/>
        </p:nvSpPr>
        <p:spPr>
          <a:xfrm>
            <a:off x="548640" y="4892040"/>
            <a:ext cx="10515600" cy="594360"/>
          </a:xfrm>
          <a:prstGeom prst="rect">
            <a:avLst/>
          </a:prstGeom>
          <a:noFill/>
          <a:ln/>
        </p:spPr>
        <p:txBody>
          <a:bodyPr wrap="square" lIns="0" tIns="0" rIns="0" bIns="0" rtlCol="0" anchor="ctr"/>
          <a:lstStyle/>
          <a:p>
            <a:pPr indent="0" marL="0">
              <a:buNone/>
            </a:pPr>
            <a:r>
              <a:rPr lang="en-US" sz="1700" dirty="0">
                <a:solidFill>
                  <a:srgbClr val="B9C4D1"/>
                </a:solidFill>
                <a:latin typeface="Arial" pitchFamily="34" charset="0"/>
                <a:ea typeface="Arial" pitchFamily="34" charset="-122"/>
                <a:cs typeface="Arial" pitchFamily="34" charset="-120"/>
              </a:rPr>
              <a:t>→ Att skala en enskild tjänst för hand blir snabbt stressigt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BAKGRUND · ETT TEKNIKSPRÅNG PÅ VÄGEN</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Virtuella maskiner vs containrar</a:t>
            </a:r>
            <a:endParaRPr lang="en-US" sz="2700" dirty="0"/>
          </a:p>
        </p:txBody>
      </p:sp>
      <p:sp>
        <p:nvSpPr>
          <p:cNvPr id="4" name="Shape 2"/>
          <p:cNvSpPr/>
          <p:nvPr/>
        </p:nvSpPr>
        <p:spPr>
          <a:xfrm>
            <a:off x="548640" y="1783080"/>
            <a:ext cx="5318608" cy="4069080"/>
          </a:xfrm>
          <a:prstGeom prst="roundRect">
            <a:avLst>
              <a:gd name="adj" fmla="val 2247"/>
            </a:avLst>
          </a:prstGeom>
          <a:solidFill>
            <a:srgbClr val="FFFFFF"/>
          </a:solidFill>
          <a:ln w="12700">
            <a:solidFill>
              <a:srgbClr val="E4E7EC"/>
            </a:solidFill>
            <a:prstDash val="solid"/>
          </a:ln>
        </p:spPr>
      </p:sp>
      <p:sp>
        <p:nvSpPr>
          <p:cNvPr id="5" name="Text 3"/>
          <p:cNvSpPr txBox="1"/>
          <p:nvPr/>
        </p:nvSpPr>
        <p:spPr>
          <a:xfrm>
            <a:off x="777240" y="1920240"/>
            <a:ext cx="4861408" cy="365760"/>
          </a:xfrm>
          <a:prstGeom prst="rect">
            <a:avLst/>
          </a:prstGeom>
          <a:noFill/>
          <a:ln/>
        </p:spPr>
        <p:txBody>
          <a:bodyPr wrap="square" lIns="0" tIns="0" rIns="0" bIns="0" rtlCol="0" anchor="ctr"/>
          <a:lstStyle/>
          <a:p>
            <a:pPr indent="0" marL="0">
              <a:buNone/>
            </a:pPr>
            <a:r>
              <a:rPr lang="en-US" sz="1700" b="1" dirty="0">
                <a:solidFill>
                  <a:srgbClr val="16202B"/>
                </a:solidFill>
                <a:latin typeface="Calibri" pitchFamily="34" charset="0"/>
                <a:ea typeface="Calibri" pitchFamily="34" charset="-122"/>
                <a:cs typeface="Calibri" pitchFamily="34" charset="-120"/>
              </a:rPr>
              <a:t>Virtuella maskiner</a:t>
            </a:r>
            <a:endParaRPr lang="en-US" sz="1700" dirty="0"/>
          </a:p>
        </p:txBody>
      </p:sp>
      <p:sp>
        <p:nvSpPr>
          <p:cNvPr id="6" name="Shape 4"/>
          <p:cNvSpPr/>
          <p:nvPr/>
        </p:nvSpPr>
        <p:spPr>
          <a:xfrm>
            <a:off x="777240" y="2423160"/>
            <a:ext cx="1559509" cy="548640"/>
          </a:xfrm>
          <a:prstGeom prst="roundRect">
            <a:avLst>
              <a:gd name="adj" fmla="val 16667"/>
            </a:avLst>
          </a:prstGeom>
          <a:solidFill>
            <a:srgbClr val="E8EDFF"/>
          </a:solidFill>
          <a:ln/>
        </p:spPr>
      </p:sp>
      <p:sp>
        <p:nvSpPr>
          <p:cNvPr id="7" name="Text 5"/>
          <p:cNvSpPr txBox="1"/>
          <p:nvPr/>
        </p:nvSpPr>
        <p:spPr>
          <a:xfrm>
            <a:off x="777240" y="2423160"/>
            <a:ext cx="1559509" cy="54864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App + Gäst-OS</a:t>
            </a:r>
            <a:endParaRPr lang="en-US" sz="1100" dirty="0"/>
          </a:p>
        </p:txBody>
      </p:sp>
      <p:sp>
        <p:nvSpPr>
          <p:cNvPr id="8" name="Shape 6"/>
          <p:cNvSpPr/>
          <p:nvPr/>
        </p:nvSpPr>
        <p:spPr>
          <a:xfrm>
            <a:off x="2428189" y="2423160"/>
            <a:ext cx="1559509" cy="548640"/>
          </a:xfrm>
          <a:prstGeom prst="roundRect">
            <a:avLst>
              <a:gd name="adj" fmla="val 16667"/>
            </a:avLst>
          </a:prstGeom>
          <a:solidFill>
            <a:srgbClr val="E8EDFF"/>
          </a:solidFill>
          <a:ln/>
        </p:spPr>
      </p:sp>
      <p:sp>
        <p:nvSpPr>
          <p:cNvPr id="9" name="Text 7"/>
          <p:cNvSpPr txBox="1"/>
          <p:nvPr/>
        </p:nvSpPr>
        <p:spPr>
          <a:xfrm>
            <a:off x="2428189" y="2423160"/>
            <a:ext cx="1559509" cy="54864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App + Gäst-OS</a:t>
            </a:r>
            <a:endParaRPr lang="en-US" sz="1100" dirty="0"/>
          </a:p>
        </p:txBody>
      </p:sp>
      <p:sp>
        <p:nvSpPr>
          <p:cNvPr id="10" name="Shape 8"/>
          <p:cNvSpPr/>
          <p:nvPr/>
        </p:nvSpPr>
        <p:spPr>
          <a:xfrm>
            <a:off x="4079138" y="2423160"/>
            <a:ext cx="1559509" cy="548640"/>
          </a:xfrm>
          <a:prstGeom prst="roundRect">
            <a:avLst>
              <a:gd name="adj" fmla="val 16667"/>
            </a:avLst>
          </a:prstGeom>
          <a:solidFill>
            <a:srgbClr val="E8EDFF"/>
          </a:solidFill>
          <a:ln/>
        </p:spPr>
      </p:sp>
      <p:sp>
        <p:nvSpPr>
          <p:cNvPr id="11" name="Text 9"/>
          <p:cNvSpPr txBox="1"/>
          <p:nvPr/>
        </p:nvSpPr>
        <p:spPr>
          <a:xfrm>
            <a:off x="4079138" y="2423160"/>
            <a:ext cx="1559509" cy="54864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App + Gäst-OS</a:t>
            </a:r>
            <a:endParaRPr lang="en-US" sz="1100" dirty="0"/>
          </a:p>
        </p:txBody>
      </p:sp>
      <p:sp>
        <p:nvSpPr>
          <p:cNvPr id="12" name="Shape 10"/>
          <p:cNvSpPr/>
          <p:nvPr/>
        </p:nvSpPr>
        <p:spPr>
          <a:xfrm>
            <a:off x="777240" y="3154680"/>
            <a:ext cx="4861408" cy="502920"/>
          </a:xfrm>
          <a:prstGeom prst="roundRect">
            <a:avLst>
              <a:gd name="adj" fmla="val 18182"/>
            </a:avLst>
          </a:prstGeom>
          <a:solidFill>
            <a:srgbClr val="16202B"/>
          </a:solidFill>
          <a:ln/>
        </p:spPr>
      </p:sp>
      <p:sp>
        <p:nvSpPr>
          <p:cNvPr id="13" name="Text 11"/>
          <p:cNvSpPr txBox="1"/>
          <p:nvPr/>
        </p:nvSpPr>
        <p:spPr>
          <a:xfrm>
            <a:off x="777240" y="3154680"/>
            <a:ext cx="4861408" cy="502920"/>
          </a:xfrm>
          <a:prstGeom prst="rect">
            <a:avLst/>
          </a:prstGeom>
          <a:noFill/>
          <a:ln/>
        </p:spPr>
        <p:txBody>
          <a:bodyPr wrap="square" lIns="0" tIns="0" rIns="0" bIns="0" rtlCol="0" anchor="ctr"/>
          <a:lstStyle/>
          <a:p>
            <a:pPr algn="ctr" indent="0" marL="0">
              <a:buNone/>
            </a:pPr>
            <a:r>
              <a:rPr lang="en-US" sz="1200" b="1" dirty="0">
                <a:solidFill>
                  <a:srgbClr val="F5F7FA"/>
                </a:solidFill>
                <a:latin typeface="Arial" pitchFamily="34" charset="0"/>
                <a:ea typeface="Arial" pitchFamily="34" charset="-122"/>
                <a:cs typeface="Arial" pitchFamily="34" charset="-120"/>
              </a:rPr>
              <a:t>Hypervisor</a:t>
            </a:r>
            <a:endParaRPr lang="en-US" sz="1200" dirty="0"/>
          </a:p>
        </p:txBody>
      </p:sp>
      <p:sp>
        <p:nvSpPr>
          <p:cNvPr id="14" name="Shape 12"/>
          <p:cNvSpPr/>
          <p:nvPr/>
        </p:nvSpPr>
        <p:spPr>
          <a:xfrm>
            <a:off x="777240" y="3794760"/>
            <a:ext cx="4861408" cy="502920"/>
          </a:xfrm>
          <a:prstGeom prst="roundRect">
            <a:avLst>
              <a:gd name="adj" fmla="val 18182"/>
            </a:avLst>
          </a:prstGeom>
          <a:solidFill>
            <a:srgbClr val="6A7179"/>
          </a:solidFill>
          <a:ln/>
        </p:spPr>
      </p:sp>
      <p:sp>
        <p:nvSpPr>
          <p:cNvPr id="15" name="Text 13"/>
          <p:cNvSpPr txBox="1"/>
          <p:nvPr/>
        </p:nvSpPr>
        <p:spPr>
          <a:xfrm>
            <a:off x="777240" y="3794760"/>
            <a:ext cx="4861408" cy="502920"/>
          </a:xfrm>
          <a:prstGeom prst="rect">
            <a:avLst/>
          </a:prstGeom>
          <a:noFill/>
          <a:ln/>
        </p:spPr>
        <p:txBody>
          <a:bodyPr wrap="square" lIns="0" tIns="0" rIns="0" bIns="0" rtlCol="0" anchor="ctr"/>
          <a:lstStyle/>
          <a:p>
            <a:pPr algn="ctr" indent="0" marL="0">
              <a:buNone/>
            </a:pPr>
            <a:r>
              <a:rPr lang="en-US" sz="1200" b="1" dirty="0">
                <a:solidFill>
                  <a:srgbClr val="F5F7FA"/>
                </a:solidFill>
                <a:latin typeface="Arial" pitchFamily="34" charset="0"/>
                <a:ea typeface="Arial" pitchFamily="34" charset="-122"/>
                <a:cs typeface="Arial" pitchFamily="34" charset="-120"/>
              </a:rPr>
              <a:t>Värd-OS + hårdvara</a:t>
            </a:r>
            <a:endParaRPr lang="en-US" sz="1200" dirty="0"/>
          </a:p>
        </p:txBody>
      </p:sp>
      <p:sp>
        <p:nvSpPr>
          <p:cNvPr id="16" name="Text 14"/>
          <p:cNvSpPr txBox="1"/>
          <p:nvPr/>
        </p:nvSpPr>
        <p:spPr>
          <a:xfrm>
            <a:off x="777240" y="4480560"/>
            <a:ext cx="4861408" cy="1188720"/>
          </a:xfrm>
          <a:prstGeom prst="rect">
            <a:avLst/>
          </a:prstGeom>
          <a:noFill/>
          <a:ln/>
        </p:spPr>
        <p:txBody>
          <a:bodyPr wrap="square" lIns="0" tIns="0" rIns="0" bIns="0" rtlCol="0" anchor="t"/>
          <a:lstStyle/>
          <a:p>
            <a:pPr indent="0" marL="0">
              <a:lnSpc>
                <a:spcPct val="130000"/>
              </a:lnSpc>
              <a:buNone/>
            </a:pPr>
            <a:r>
              <a:rPr lang="en-US" sz="1150" dirty="0">
                <a:solidFill>
                  <a:srgbClr val="4A5568"/>
                </a:solidFill>
                <a:latin typeface="Arial" pitchFamily="34" charset="0"/>
                <a:ea typeface="Arial" pitchFamily="34" charset="-122"/>
                <a:cs typeface="Arial" pitchFamily="34" charset="-120"/>
              </a:rPr>
              <a:t>Varje låda kör ett helt eget operativsystem. Tungt, långsamt att starta.</a:t>
            </a:r>
            <a:endParaRPr lang="en-US" sz="1150" dirty="0"/>
          </a:p>
        </p:txBody>
      </p:sp>
      <p:sp>
        <p:nvSpPr>
          <p:cNvPr id="17" name="Shape 15"/>
          <p:cNvSpPr/>
          <p:nvPr/>
        </p:nvSpPr>
        <p:spPr>
          <a:xfrm>
            <a:off x="6324448" y="1783080"/>
            <a:ext cx="5318608" cy="4069080"/>
          </a:xfrm>
          <a:prstGeom prst="roundRect">
            <a:avLst>
              <a:gd name="adj" fmla="val 2247"/>
            </a:avLst>
          </a:prstGeom>
          <a:solidFill>
            <a:srgbClr val="FFFFFF"/>
          </a:solidFill>
          <a:ln w="12700">
            <a:solidFill>
              <a:srgbClr val="E4E7EC"/>
            </a:solidFill>
            <a:prstDash val="solid"/>
          </a:ln>
        </p:spPr>
      </p:sp>
      <p:sp>
        <p:nvSpPr>
          <p:cNvPr id="18" name="Text 16"/>
          <p:cNvSpPr txBox="1"/>
          <p:nvPr/>
        </p:nvSpPr>
        <p:spPr>
          <a:xfrm>
            <a:off x="6553048" y="1920240"/>
            <a:ext cx="4861408" cy="365760"/>
          </a:xfrm>
          <a:prstGeom prst="rect">
            <a:avLst/>
          </a:prstGeom>
          <a:noFill/>
          <a:ln/>
        </p:spPr>
        <p:txBody>
          <a:bodyPr wrap="square" lIns="0" tIns="0" rIns="0" bIns="0" rtlCol="0" anchor="ctr"/>
          <a:lstStyle/>
          <a:p>
            <a:pPr indent="0" marL="0">
              <a:buNone/>
            </a:pPr>
            <a:r>
              <a:rPr lang="en-US" sz="1700" b="1" dirty="0">
                <a:solidFill>
                  <a:srgbClr val="16202B"/>
                </a:solidFill>
                <a:latin typeface="Calibri" pitchFamily="34" charset="0"/>
                <a:ea typeface="Calibri" pitchFamily="34" charset="-122"/>
                <a:cs typeface="Calibri" pitchFamily="34" charset="-120"/>
              </a:rPr>
              <a:t>Containrar</a:t>
            </a:r>
            <a:endParaRPr lang="en-US" sz="1700" dirty="0"/>
          </a:p>
        </p:txBody>
      </p:sp>
      <p:sp>
        <p:nvSpPr>
          <p:cNvPr id="19" name="Shape 17"/>
          <p:cNvSpPr/>
          <p:nvPr/>
        </p:nvSpPr>
        <p:spPr>
          <a:xfrm>
            <a:off x="6553048" y="2423160"/>
            <a:ext cx="1559509" cy="548640"/>
          </a:xfrm>
          <a:prstGeom prst="roundRect">
            <a:avLst>
              <a:gd name="adj" fmla="val 16667"/>
            </a:avLst>
          </a:prstGeom>
          <a:solidFill>
            <a:srgbClr val="E8EDFF"/>
          </a:solidFill>
          <a:ln/>
        </p:spPr>
      </p:sp>
      <p:sp>
        <p:nvSpPr>
          <p:cNvPr id="20" name="Text 18"/>
          <p:cNvSpPr txBox="1"/>
          <p:nvPr/>
        </p:nvSpPr>
        <p:spPr>
          <a:xfrm>
            <a:off x="6553048" y="2423160"/>
            <a:ext cx="1559509" cy="54864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App</a:t>
            </a:r>
            <a:endParaRPr lang="en-US" sz="1100" dirty="0"/>
          </a:p>
        </p:txBody>
      </p:sp>
      <p:sp>
        <p:nvSpPr>
          <p:cNvPr id="21" name="Shape 19"/>
          <p:cNvSpPr/>
          <p:nvPr/>
        </p:nvSpPr>
        <p:spPr>
          <a:xfrm>
            <a:off x="8203997" y="2423160"/>
            <a:ext cx="1559509" cy="548640"/>
          </a:xfrm>
          <a:prstGeom prst="roundRect">
            <a:avLst>
              <a:gd name="adj" fmla="val 16667"/>
            </a:avLst>
          </a:prstGeom>
          <a:solidFill>
            <a:srgbClr val="E8EDFF"/>
          </a:solidFill>
          <a:ln/>
        </p:spPr>
      </p:sp>
      <p:sp>
        <p:nvSpPr>
          <p:cNvPr id="22" name="Text 20"/>
          <p:cNvSpPr txBox="1"/>
          <p:nvPr/>
        </p:nvSpPr>
        <p:spPr>
          <a:xfrm>
            <a:off x="8203997" y="2423160"/>
            <a:ext cx="1559509" cy="54864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App</a:t>
            </a:r>
            <a:endParaRPr lang="en-US" sz="1100" dirty="0"/>
          </a:p>
        </p:txBody>
      </p:sp>
      <p:sp>
        <p:nvSpPr>
          <p:cNvPr id="23" name="Shape 21"/>
          <p:cNvSpPr/>
          <p:nvPr/>
        </p:nvSpPr>
        <p:spPr>
          <a:xfrm>
            <a:off x="9854946" y="2423160"/>
            <a:ext cx="1559509" cy="548640"/>
          </a:xfrm>
          <a:prstGeom prst="roundRect">
            <a:avLst>
              <a:gd name="adj" fmla="val 16667"/>
            </a:avLst>
          </a:prstGeom>
          <a:solidFill>
            <a:srgbClr val="E8EDFF"/>
          </a:solidFill>
          <a:ln/>
        </p:spPr>
      </p:sp>
      <p:sp>
        <p:nvSpPr>
          <p:cNvPr id="24" name="Text 22"/>
          <p:cNvSpPr txBox="1"/>
          <p:nvPr/>
        </p:nvSpPr>
        <p:spPr>
          <a:xfrm>
            <a:off x="9854946" y="2423160"/>
            <a:ext cx="1559509" cy="54864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App</a:t>
            </a:r>
            <a:endParaRPr lang="en-US" sz="1100" dirty="0"/>
          </a:p>
        </p:txBody>
      </p:sp>
      <p:sp>
        <p:nvSpPr>
          <p:cNvPr id="25" name="Shape 23"/>
          <p:cNvSpPr/>
          <p:nvPr/>
        </p:nvSpPr>
        <p:spPr>
          <a:xfrm>
            <a:off x="6553048" y="3154680"/>
            <a:ext cx="4861408" cy="502920"/>
          </a:xfrm>
          <a:prstGeom prst="roundRect">
            <a:avLst>
              <a:gd name="adj" fmla="val 18182"/>
            </a:avLst>
          </a:prstGeom>
          <a:solidFill>
            <a:srgbClr val="3762FF"/>
          </a:solidFill>
          <a:ln/>
        </p:spPr>
      </p:sp>
      <p:sp>
        <p:nvSpPr>
          <p:cNvPr id="26" name="Text 24"/>
          <p:cNvSpPr txBox="1"/>
          <p:nvPr/>
        </p:nvSpPr>
        <p:spPr>
          <a:xfrm>
            <a:off x="6553048" y="3154680"/>
            <a:ext cx="4861408" cy="502920"/>
          </a:xfrm>
          <a:prstGeom prst="rect">
            <a:avLst/>
          </a:prstGeom>
          <a:noFill/>
          <a:ln/>
        </p:spPr>
        <p:txBody>
          <a:bodyPr wrap="square" lIns="0" tIns="0" rIns="0" bIns="0" rtlCol="0" anchor="ctr"/>
          <a:lstStyle/>
          <a:p>
            <a:pPr algn="ctr" indent="0" marL="0">
              <a:buNone/>
            </a:pPr>
            <a:r>
              <a:rPr lang="en-US" sz="1200" b="1" dirty="0">
                <a:solidFill>
                  <a:srgbClr val="F5F7FA"/>
                </a:solidFill>
                <a:latin typeface="Arial" pitchFamily="34" charset="0"/>
                <a:ea typeface="Arial" pitchFamily="34" charset="-122"/>
                <a:cs typeface="Arial" pitchFamily="34" charset="-120"/>
              </a:rPr>
              <a:t>Container-runtime (t.ex. containerd)</a:t>
            </a:r>
            <a:endParaRPr lang="en-US" sz="1200" dirty="0"/>
          </a:p>
        </p:txBody>
      </p:sp>
      <p:sp>
        <p:nvSpPr>
          <p:cNvPr id="27" name="Shape 25"/>
          <p:cNvSpPr/>
          <p:nvPr/>
        </p:nvSpPr>
        <p:spPr>
          <a:xfrm>
            <a:off x="6553048" y="3794760"/>
            <a:ext cx="4861408" cy="502920"/>
          </a:xfrm>
          <a:prstGeom prst="roundRect">
            <a:avLst>
              <a:gd name="adj" fmla="val 18182"/>
            </a:avLst>
          </a:prstGeom>
          <a:solidFill>
            <a:srgbClr val="6A7179"/>
          </a:solidFill>
          <a:ln/>
        </p:spPr>
      </p:sp>
      <p:sp>
        <p:nvSpPr>
          <p:cNvPr id="28" name="Text 26"/>
          <p:cNvSpPr txBox="1"/>
          <p:nvPr/>
        </p:nvSpPr>
        <p:spPr>
          <a:xfrm>
            <a:off x="6553048" y="3794760"/>
            <a:ext cx="4861408" cy="502920"/>
          </a:xfrm>
          <a:prstGeom prst="rect">
            <a:avLst/>
          </a:prstGeom>
          <a:noFill/>
          <a:ln/>
        </p:spPr>
        <p:txBody>
          <a:bodyPr wrap="square" lIns="0" tIns="0" rIns="0" bIns="0" rtlCol="0" anchor="ctr"/>
          <a:lstStyle/>
          <a:p>
            <a:pPr algn="ctr" indent="0" marL="0">
              <a:buNone/>
            </a:pPr>
            <a:r>
              <a:rPr lang="en-US" sz="1200" b="1" dirty="0">
                <a:solidFill>
                  <a:srgbClr val="F5F7FA"/>
                </a:solidFill>
                <a:latin typeface="Arial" pitchFamily="34" charset="0"/>
                <a:ea typeface="Arial" pitchFamily="34" charset="-122"/>
                <a:cs typeface="Arial" pitchFamily="34" charset="-120"/>
              </a:rPr>
              <a:t>Värd-OS + hårdvara</a:t>
            </a:r>
            <a:endParaRPr lang="en-US" sz="1200" dirty="0"/>
          </a:p>
        </p:txBody>
      </p:sp>
      <p:sp>
        <p:nvSpPr>
          <p:cNvPr id="29" name="Text 27"/>
          <p:cNvSpPr txBox="1"/>
          <p:nvPr/>
        </p:nvSpPr>
        <p:spPr>
          <a:xfrm>
            <a:off x="6553048" y="4480560"/>
            <a:ext cx="4861408" cy="1188720"/>
          </a:xfrm>
          <a:prstGeom prst="rect">
            <a:avLst/>
          </a:prstGeom>
          <a:noFill/>
          <a:ln/>
        </p:spPr>
        <p:txBody>
          <a:bodyPr wrap="square" lIns="0" tIns="0" rIns="0" bIns="0" rtlCol="0" anchor="t"/>
          <a:lstStyle/>
          <a:p>
            <a:pPr indent="0" marL="0">
              <a:lnSpc>
                <a:spcPct val="130000"/>
              </a:lnSpc>
              <a:buNone/>
            </a:pPr>
            <a:r>
              <a:rPr lang="en-US" sz="1150" dirty="0">
                <a:solidFill>
                  <a:srgbClr val="4A5568"/>
                </a:solidFill>
                <a:latin typeface="Arial" pitchFamily="34" charset="0"/>
                <a:ea typeface="Arial" pitchFamily="34" charset="-122"/>
                <a:cs typeface="Arial" pitchFamily="34" charset="-120"/>
              </a:rPr>
              <a:t>Alla delar samma OS-kärna. Lätt, startar på millisekunder.</a:t>
            </a:r>
            <a:endParaRPr lang="en-US" sz="1150" dirty="0"/>
          </a:p>
        </p:txBody>
      </p:sp>
      <p:sp>
        <p:nvSpPr>
          <p:cNvPr id="30" name="Text 28"/>
          <p:cNvSpPr txBox="1"/>
          <p:nvPr/>
        </p:nvSpPr>
        <p:spPr>
          <a:xfrm>
            <a:off x="548640" y="6080760"/>
            <a:ext cx="11094415" cy="365760"/>
          </a:xfrm>
          <a:prstGeom prst="rect">
            <a:avLst/>
          </a:prstGeom>
          <a:noFill/>
          <a:ln/>
        </p:spPr>
        <p:txBody>
          <a:bodyPr wrap="square" lIns="0" tIns="0" rIns="0" bIns="0" rtlCol="0" anchor="t"/>
          <a:lstStyle/>
          <a:p>
            <a:pPr indent="0" marL="0">
              <a:lnSpc>
                <a:spcPct val="130000"/>
              </a:lnSpc>
              <a:buNone/>
            </a:pPr>
            <a:r>
              <a:rPr lang="en-US" sz="1200" dirty="0">
                <a:solidFill>
                  <a:srgbClr val="6A7179"/>
                </a:solidFill>
                <a:latin typeface="Arial" pitchFamily="34" charset="0"/>
                <a:ea typeface="Arial" pitchFamily="34" charset="-122"/>
                <a:cs typeface="Arial" pitchFamily="34" charset="-120"/>
              </a:rPr>
              <a:t>Docker gjorde 2013 containrar enkla att paketera och köra överallt - grunden allt annat bygger på.</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BAKGRUND</a:t>
            </a:r>
            <a:endParaRPr lang="en-US" sz="1200" dirty="0"/>
          </a:p>
        </p:txBody>
      </p:sp>
      <p:sp>
        <p:nvSpPr>
          <p:cNvPr id="3" name="Text 1"/>
          <p:cNvSpPr txBox="1"/>
          <p:nvPr/>
        </p:nvSpPr>
        <p:spPr>
          <a:xfrm>
            <a:off x="548640" y="2103120"/>
            <a:ext cx="3657600" cy="1645920"/>
          </a:xfrm>
          <a:prstGeom prst="rect">
            <a:avLst/>
          </a:prstGeom>
          <a:noFill/>
          <a:ln/>
        </p:spPr>
        <p:txBody>
          <a:bodyPr wrap="square" lIns="0" tIns="0" rIns="0" bIns="0" rtlCol="0" anchor="ctr"/>
          <a:lstStyle/>
          <a:p>
            <a:pPr indent="0" marL="0">
              <a:buNone/>
            </a:pPr>
            <a:r>
              <a:rPr lang="en-US" sz="9000" b="1" dirty="0">
                <a:solidFill>
                  <a:srgbClr val="3762FF"/>
                </a:solidFill>
                <a:latin typeface="Calibri" pitchFamily="34" charset="0"/>
                <a:ea typeface="Calibri" pitchFamily="34" charset="-122"/>
                <a:cs typeface="Calibri" pitchFamily="34" charset="-120"/>
              </a:rPr>
              <a:t>2013</a:t>
            </a:r>
            <a:endParaRPr lang="en-US" sz="9000" dirty="0"/>
          </a:p>
        </p:txBody>
      </p:sp>
      <p:sp>
        <p:nvSpPr>
          <p:cNvPr id="4" name="Text 2"/>
          <p:cNvSpPr txBox="1"/>
          <p:nvPr/>
        </p:nvSpPr>
        <p:spPr>
          <a:xfrm>
            <a:off x="4572000" y="2148840"/>
            <a:ext cx="6675120" cy="731520"/>
          </a:xfrm>
          <a:prstGeom prst="rect">
            <a:avLst/>
          </a:prstGeom>
          <a:noFill/>
          <a:ln/>
        </p:spPr>
        <p:txBody>
          <a:bodyPr wrap="square" lIns="0" tIns="0" rIns="0" bIns="0" rtlCol="0" anchor="ctr"/>
          <a:lstStyle/>
          <a:p>
            <a:pPr indent="0" marL="0">
              <a:buNone/>
            </a:pPr>
            <a:r>
              <a:rPr lang="en-US" sz="2600" b="1" dirty="0">
                <a:solidFill>
                  <a:srgbClr val="16202B"/>
                </a:solidFill>
                <a:latin typeface="Calibri" pitchFamily="34" charset="0"/>
                <a:ea typeface="Calibri" pitchFamily="34" charset="-122"/>
                <a:cs typeface="Calibri" pitchFamily="34" charset="-120"/>
              </a:rPr>
              <a:t>Docker gör containrar mainstream</a:t>
            </a:r>
            <a:endParaRPr lang="en-US" sz="2600" dirty="0"/>
          </a:p>
        </p:txBody>
      </p:sp>
      <p:sp>
        <p:nvSpPr>
          <p:cNvPr id="5" name="Text 3"/>
          <p:cNvSpPr txBox="1"/>
          <p:nvPr/>
        </p:nvSpPr>
        <p:spPr>
          <a:xfrm>
            <a:off x="4572000" y="2880360"/>
            <a:ext cx="6675120" cy="1371600"/>
          </a:xfrm>
          <a:prstGeom prst="rect">
            <a:avLst/>
          </a:prstGeom>
          <a:noFill/>
          <a:ln/>
        </p:spPr>
        <p:txBody>
          <a:bodyPr wrap="square" lIns="0" tIns="0" rIns="0" bIns="0" rtlCol="0" anchor="t"/>
          <a:lstStyle/>
          <a:p>
            <a:pPr indent="0" marL="0">
              <a:lnSpc>
                <a:spcPct val="130000"/>
              </a:lnSpc>
              <a:buNone/>
            </a:pPr>
            <a:r>
              <a:rPr lang="en-US" sz="1500" dirty="0">
                <a:solidFill>
                  <a:srgbClr val="4A5568"/>
                </a:solidFill>
                <a:latin typeface="Arial" pitchFamily="34" charset="0"/>
                <a:ea typeface="Arial" pitchFamily="34" charset="-122"/>
                <a:cs typeface="Arial" pitchFamily="34" charset="-120"/>
              </a:rPr>
              <a:t>Docker gjorde det enkelt att paketera en app med allt den behöver och köra samma paket överallt - din maskin, testservern, produktion.</a:t>
            </a:r>
            <a:endParaRPr lang="en-US" sz="1500" dirty="0"/>
          </a:p>
        </p:txBody>
      </p:sp>
      <p:sp>
        <p:nvSpPr>
          <p:cNvPr id="6" name="Text 4"/>
          <p:cNvSpPr txBox="1"/>
          <p:nvPr/>
        </p:nvSpPr>
        <p:spPr>
          <a:xfrm>
            <a:off x="548640" y="5852160"/>
            <a:ext cx="11094415" cy="548640"/>
          </a:xfrm>
          <a:prstGeom prst="rect">
            <a:avLst/>
          </a:prstGeom>
          <a:noFill/>
          <a:ln/>
        </p:spPr>
        <p:txBody>
          <a:bodyPr wrap="square" lIns="0" tIns="0" rIns="0" bIns="0" rtlCol="0" anchor="t"/>
          <a:lstStyle/>
          <a:p>
            <a:pPr indent="0" marL="0">
              <a:lnSpc>
                <a:spcPct val="130000"/>
              </a:lnSpc>
              <a:buNone/>
            </a:pPr>
            <a:r>
              <a:rPr lang="en-US" sz="1300" dirty="0">
                <a:solidFill>
                  <a:srgbClr val="6A7179"/>
                </a:solidFill>
                <a:latin typeface="Arial" pitchFamily="34" charset="0"/>
                <a:ea typeface="Arial" pitchFamily="34" charset="-122"/>
                <a:cs typeface="Arial" pitchFamily="34" charset="-120"/>
              </a:rPr>
              <a:t>Men Docker hanterar containrar på EN maskin. Det säger inget om hundratals containrar över ett helt kluster.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731520"/>
            <a:ext cx="11094415" cy="292608"/>
          </a:xfrm>
          <a:prstGeom prst="rect">
            <a:avLst/>
          </a:prstGeom>
          <a:noFill/>
          <a:ln/>
        </p:spPr>
        <p:txBody>
          <a:bodyPr wrap="square" lIns="0" tIns="0" rIns="0" bIns="0" rtlCol="0" anchor="ctr"/>
          <a:lstStyle/>
          <a:p>
            <a:pPr indent="0" marL="0">
              <a:buNone/>
            </a:pPr>
            <a:r>
              <a:rPr lang="en-US" sz="1200" b="1" spc="200" kern="0" dirty="0">
                <a:solidFill>
                  <a:srgbClr val="FFB020"/>
                </a:solidFill>
                <a:latin typeface="Arial" pitchFamily="34" charset="0"/>
                <a:ea typeface="Arial" pitchFamily="34" charset="-122"/>
                <a:cs typeface="Arial" pitchFamily="34" charset="-120"/>
              </a:rPr>
              <a:t>BAKGRUND</a:t>
            </a:r>
            <a:endParaRPr lang="en-US" sz="1200" dirty="0"/>
          </a:p>
        </p:txBody>
      </p:sp>
      <p:sp>
        <p:nvSpPr>
          <p:cNvPr id="3" name="Text 1"/>
          <p:cNvSpPr txBox="1"/>
          <p:nvPr/>
        </p:nvSpPr>
        <p:spPr>
          <a:xfrm>
            <a:off x="548640" y="1188720"/>
            <a:ext cx="10515600" cy="1188720"/>
          </a:xfrm>
          <a:prstGeom prst="rect">
            <a:avLst/>
          </a:prstGeom>
          <a:noFill/>
          <a:ln/>
        </p:spPr>
        <p:txBody>
          <a:bodyPr wrap="square" lIns="0" tIns="0" rIns="0" bIns="0" rtlCol="0" anchor="ctr"/>
          <a:lstStyle/>
          <a:p>
            <a:pPr indent="0" marL="0">
              <a:lnSpc>
                <a:spcPct val="115000"/>
              </a:lnSpc>
              <a:buNone/>
            </a:pPr>
            <a:r>
              <a:rPr lang="en-US" sz="3200" b="1" dirty="0">
                <a:solidFill>
                  <a:srgbClr val="F5F7FA"/>
                </a:solidFill>
                <a:latin typeface="Calibri" pitchFamily="34" charset="0"/>
                <a:ea typeface="Calibri" pitchFamily="34" charset="-122"/>
                <a:cs typeface="Calibri" pitchFamily="34" charset="-120"/>
              </a:rPr>
              <a:t>Vem sköter hundratals containrar, för hand?</a:t>
            </a:r>
            <a:endParaRPr lang="en-US" sz="3200" dirty="0"/>
          </a:p>
        </p:txBody>
      </p:sp>
      <p:sp>
        <p:nvSpPr>
          <p:cNvPr id="4" name="Shape 2"/>
          <p:cNvSpPr/>
          <p:nvPr/>
        </p:nvSpPr>
        <p:spPr>
          <a:xfrm>
            <a:off x="548640" y="2743200"/>
            <a:ext cx="10332720" cy="1188720"/>
          </a:xfrm>
          <a:prstGeom prst="roundRect">
            <a:avLst>
              <a:gd name="adj" fmla="val 7692"/>
            </a:avLst>
          </a:prstGeom>
          <a:solidFill>
            <a:srgbClr val="16294A"/>
          </a:solidFill>
          <a:ln/>
        </p:spPr>
      </p:sp>
      <p:sp>
        <p:nvSpPr>
          <p:cNvPr id="5" name="Text 3"/>
          <p:cNvSpPr txBox="1"/>
          <p:nvPr/>
        </p:nvSpPr>
        <p:spPr>
          <a:xfrm>
            <a:off x="822960" y="2743200"/>
            <a:ext cx="9784080" cy="1188720"/>
          </a:xfrm>
          <a:prstGeom prst="rect">
            <a:avLst/>
          </a:prstGeom>
          <a:noFill/>
          <a:ln/>
        </p:spPr>
        <p:txBody>
          <a:bodyPr wrap="square" lIns="0" tIns="0" rIns="0" bIns="0" rtlCol="0" anchor="ctr"/>
          <a:lstStyle/>
          <a:p>
            <a:pPr indent="0" marL="0">
              <a:buNone/>
            </a:pPr>
            <a:r>
              <a:rPr lang="en-US" sz="2100" b="1" dirty="0">
                <a:solidFill>
                  <a:srgbClr val="F5F7FA"/>
                </a:solidFill>
                <a:latin typeface="Courier New" pitchFamily="34" charset="0"/>
                <a:ea typeface="Courier New" pitchFamily="34" charset="-122"/>
                <a:cs typeface="Courier New" pitchFamily="34" charset="-120"/>
              </a:rPr>
              <a:t>40 tjänster   </a:t>
            </a:r>
            <a:pPr indent="0" marL="0">
              <a:buNone/>
            </a:pPr>
            <a:r>
              <a:rPr lang="en-US" sz="2100" dirty="0">
                <a:solidFill>
                  <a:srgbClr val="7C9CFF"/>
                </a:solidFill>
                <a:latin typeface="Courier New" pitchFamily="34" charset="0"/>
                <a:ea typeface="Courier New" pitchFamily="34" charset="-122"/>
                <a:cs typeface="Courier New" pitchFamily="34" charset="-120"/>
              </a:rPr>
              <a:t>×   </a:t>
            </a:r>
            <a:pPr indent="0" marL="0">
              <a:buNone/>
            </a:pPr>
            <a:r>
              <a:rPr lang="en-US" sz="2100" b="1" dirty="0">
                <a:solidFill>
                  <a:srgbClr val="F5F7FA"/>
                </a:solidFill>
                <a:latin typeface="Courier New" pitchFamily="34" charset="0"/>
                <a:ea typeface="Courier New" pitchFamily="34" charset="-122"/>
                <a:cs typeface="Courier New" pitchFamily="34" charset="-120"/>
              </a:rPr>
              <a:t>3 instanser   </a:t>
            </a:r>
            <a:pPr indent="0" marL="0">
              <a:buNone/>
            </a:pPr>
            <a:r>
              <a:rPr lang="en-US" sz="2100" dirty="0">
                <a:solidFill>
                  <a:srgbClr val="7C9CFF"/>
                </a:solidFill>
                <a:latin typeface="Courier New" pitchFamily="34" charset="0"/>
                <a:ea typeface="Courier New" pitchFamily="34" charset="-122"/>
                <a:cs typeface="Courier New" pitchFamily="34" charset="-120"/>
              </a:rPr>
              <a:t>×   </a:t>
            </a:r>
            <a:pPr indent="0" marL="0">
              <a:buNone/>
            </a:pPr>
            <a:r>
              <a:rPr lang="en-US" sz="2100" b="1" dirty="0">
                <a:solidFill>
                  <a:srgbClr val="F5F7FA"/>
                </a:solidFill>
                <a:latin typeface="Courier New" pitchFamily="34" charset="0"/>
                <a:ea typeface="Courier New" pitchFamily="34" charset="-122"/>
                <a:cs typeface="Courier New" pitchFamily="34" charset="-120"/>
              </a:rPr>
              <a:t>10 maskiner   </a:t>
            </a:r>
            <a:pPr indent="0" marL="0">
              <a:buNone/>
            </a:pPr>
            <a:r>
              <a:rPr lang="en-US" sz="2100" dirty="0">
                <a:solidFill>
                  <a:srgbClr val="7C9CFF"/>
                </a:solidFill>
                <a:latin typeface="Courier New" pitchFamily="34" charset="0"/>
                <a:ea typeface="Courier New" pitchFamily="34" charset="-122"/>
                <a:cs typeface="Courier New" pitchFamily="34" charset="-120"/>
              </a:rPr>
              <a:t>=   </a:t>
            </a:r>
            <a:pPr indent="0" marL="0">
              <a:buNone/>
            </a:pPr>
            <a:r>
              <a:rPr lang="en-US" sz="2100" b="1" dirty="0">
                <a:solidFill>
                  <a:srgbClr val="FFB020"/>
                </a:solidFill>
                <a:latin typeface="Courier New" pitchFamily="34" charset="0"/>
                <a:ea typeface="Courier New" pitchFamily="34" charset="-122"/>
                <a:cs typeface="Courier New" pitchFamily="34" charset="-120"/>
              </a:rPr>
              <a:t>kaos, manuellt</a:t>
            </a:r>
            <a:endParaRPr lang="en-US" sz="2100" dirty="0"/>
          </a:p>
        </p:txBody>
      </p:sp>
      <p:sp>
        <p:nvSpPr>
          <p:cNvPr id="6" name="Text 4"/>
          <p:cNvSpPr txBox="1"/>
          <p:nvPr/>
        </p:nvSpPr>
        <p:spPr>
          <a:xfrm>
            <a:off x="548640" y="4297680"/>
            <a:ext cx="9144000" cy="548640"/>
          </a:xfrm>
          <a:prstGeom prst="rect">
            <a:avLst/>
          </a:prstGeom>
          <a:noFill/>
          <a:ln/>
        </p:spPr>
        <p:txBody>
          <a:bodyPr wrap="square" lIns="0" tIns="0" rIns="0" bIns="0" rtlCol="0" anchor="t"/>
          <a:lstStyle/>
          <a:p>
            <a:pPr indent="0" marL="0">
              <a:lnSpc>
                <a:spcPct val="130000"/>
              </a:lnSpc>
              <a:buNone/>
            </a:pPr>
            <a:r>
              <a:rPr lang="en-US" sz="1500" dirty="0">
                <a:solidFill>
                  <a:srgbClr val="B9C4D1"/>
                </a:solidFill>
                <a:latin typeface="Arial" pitchFamily="34" charset="0"/>
                <a:ea typeface="Arial" pitchFamily="34" charset="-122"/>
                <a:cs typeface="Arial" pitchFamily="34" charset="-120"/>
              </a:rPr>
              <a:t>Ingen driftsavdelning orkar SSH:a in och starta om processer för hand, dygnet runt, i den skalan.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BAKGRUND</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Vad en orkestrerare måste klara</a:t>
            </a:r>
            <a:endParaRPr lang="en-US" sz="2700" dirty="0"/>
          </a:p>
        </p:txBody>
      </p:sp>
      <p:sp>
        <p:nvSpPr>
          <p:cNvPr id="4" name="Shape 2"/>
          <p:cNvSpPr/>
          <p:nvPr/>
        </p:nvSpPr>
        <p:spPr>
          <a:xfrm>
            <a:off x="548640" y="1737360"/>
            <a:ext cx="3551834" cy="1993392"/>
          </a:xfrm>
          <a:prstGeom prst="roundRect">
            <a:avLst>
              <a:gd name="adj" fmla="val 4587"/>
            </a:avLst>
          </a:prstGeom>
          <a:solidFill>
            <a:srgbClr val="FFFFFF"/>
          </a:solidFill>
          <a:ln w="12700">
            <a:solidFill>
              <a:srgbClr val="E4E7EC"/>
            </a:solidFill>
            <a:prstDash val="solid"/>
          </a:ln>
        </p:spPr>
      </p:sp>
      <p:sp>
        <p:nvSpPr>
          <p:cNvPr id="5" name="Text 3"/>
          <p:cNvSpPr txBox="1"/>
          <p:nvPr/>
        </p:nvSpPr>
        <p:spPr>
          <a:xfrm>
            <a:off x="749808" y="1920240"/>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Schemaläggning</a:t>
            </a:r>
            <a:endParaRPr lang="en-US" sz="1550" dirty="0"/>
          </a:p>
        </p:txBody>
      </p:sp>
      <p:sp>
        <p:nvSpPr>
          <p:cNvPr id="6" name="Text 4"/>
          <p:cNvSpPr txBox="1"/>
          <p:nvPr/>
        </p:nvSpPr>
        <p:spPr>
          <a:xfrm>
            <a:off x="749808" y="2432304"/>
            <a:ext cx="3149498" cy="11338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Placera varje container på en maskin som har plats</a:t>
            </a:r>
            <a:endParaRPr lang="en-US" sz="1150" dirty="0"/>
          </a:p>
        </p:txBody>
      </p:sp>
      <p:sp>
        <p:nvSpPr>
          <p:cNvPr id="7" name="Shape 5"/>
          <p:cNvSpPr/>
          <p:nvPr/>
        </p:nvSpPr>
        <p:spPr>
          <a:xfrm>
            <a:off x="4319930" y="1737360"/>
            <a:ext cx="3551834" cy="1993392"/>
          </a:xfrm>
          <a:prstGeom prst="roundRect">
            <a:avLst>
              <a:gd name="adj" fmla="val 4587"/>
            </a:avLst>
          </a:prstGeom>
          <a:solidFill>
            <a:srgbClr val="FFFFFF"/>
          </a:solidFill>
          <a:ln w="12700">
            <a:solidFill>
              <a:srgbClr val="E4E7EC"/>
            </a:solidFill>
            <a:prstDash val="solid"/>
          </a:ln>
        </p:spPr>
      </p:sp>
      <p:sp>
        <p:nvSpPr>
          <p:cNvPr id="8" name="Text 6"/>
          <p:cNvSpPr txBox="1"/>
          <p:nvPr/>
        </p:nvSpPr>
        <p:spPr>
          <a:xfrm>
            <a:off x="4521098" y="1920240"/>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Self-healing</a:t>
            </a:r>
            <a:endParaRPr lang="en-US" sz="1550" dirty="0"/>
          </a:p>
        </p:txBody>
      </p:sp>
      <p:sp>
        <p:nvSpPr>
          <p:cNvPr id="9" name="Text 7"/>
          <p:cNvSpPr txBox="1"/>
          <p:nvPr/>
        </p:nvSpPr>
        <p:spPr>
          <a:xfrm>
            <a:off x="4521098" y="2432304"/>
            <a:ext cx="3149498" cy="11338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Starta om det som kraschar - utan att någon människa griper in</a:t>
            </a:r>
            <a:endParaRPr lang="en-US" sz="1150" dirty="0"/>
          </a:p>
        </p:txBody>
      </p:sp>
      <p:sp>
        <p:nvSpPr>
          <p:cNvPr id="10" name="Shape 8"/>
          <p:cNvSpPr/>
          <p:nvPr/>
        </p:nvSpPr>
        <p:spPr>
          <a:xfrm>
            <a:off x="8091221" y="1737360"/>
            <a:ext cx="3551834" cy="1993392"/>
          </a:xfrm>
          <a:prstGeom prst="roundRect">
            <a:avLst>
              <a:gd name="adj" fmla="val 4587"/>
            </a:avLst>
          </a:prstGeom>
          <a:solidFill>
            <a:srgbClr val="FFFFFF"/>
          </a:solidFill>
          <a:ln w="12700">
            <a:solidFill>
              <a:srgbClr val="E4E7EC"/>
            </a:solidFill>
            <a:prstDash val="solid"/>
          </a:ln>
        </p:spPr>
      </p:sp>
      <p:sp>
        <p:nvSpPr>
          <p:cNvPr id="11" name="Text 9"/>
          <p:cNvSpPr txBox="1"/>
          <p:nvPr/>
        </p:nvSpPr>
        <p:spPr>
          <a:xfrm>
            <a:off x="8292389" y="1920240"/>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Skalning</a:t>
            </a:r>
            <a:endParaRPr lang="en-US" sz="1550" dirty="0"/>
          </a:p>
        </p:txBody>
      </p:sp>
      <p:sp>
        <p:nvSpPr>
          <p:cNvPr id="12" name="Text 10"/>
          <p:cNvSpPr txBox="1"/>
          <p:nvPr/>
        </p:nvSpPr>
        <p:spPr>
          <a:xfrm>
            <a:off x="8292389" y="2432304"/>
            <a:ext cx="3149498" cy="11338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Fler eller färre instanser beroende på belastning</a:t>
            </a:r>
            <a:endParaRPr lang="en-US" sz="1150" dirty="0"/>
          </a:p>
        </p:txBody>
      </p:sp>
      <p:sp>
        <p:nvSpPr>
          <p:cNvPr id="13" name="Shape 11"/>
          <p:cNvSpPr/>
          <p:nvPr/>
        </p:nvSpPr>
        <p:spPr>
          <a:xfrm>
            <a:off x="548640" y="3950208"/>
            <a:ext cx="3551834" cy="1993392"/>
          </a:xfrm>
          <a:prstGeom prst="roundRect">
            <a:avLst>
              <a:gd name="adj" fmla="val 4587"/>
            </a:avLst>
          </a:prstGeom>
          <a:solidFill>
            <a:srgbClr val="FFFFFF"/>
          </a:solidFill>
          <a:ln w="12700">
            <a:solidFill>
              <a:srgbClr val="E4E7EC"/>
            </a:solidFill>
            <a:prstDash val="solid"/>
          </a:ln>
        </p:spPr>
      </p:sp>
      <p:sp>
        <p:nvSpPr>
          <p:cNvPr id="14" name="Text 12"/>
          <p:cNvSpPr txBox="1"/>
          <p:nvPr/>
        </p:nvSpPr>
        <p:spPr>
          <a:xfrm>
            <a:off x="749808" y="4133088"/>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Nätverk &amp; upptäckt</a:t>
            </a:r>
            <a:endParaRPr lang="en-US" sz="1550" dirty="0"/>
          </a:p>
        </p:txBody>
      </p:sp>
      <p:sp>
        <p:nvSpPr>
          <p:cNvPr id="15" name="Text 13"/>
          <p:cNvSpPr txBox="1"/>
          <p:nvPr/>
        </p:nvSpPr>
        <p:spPr>
          <a:xfrm>
            <a:off x="749808" y="4645152"/>
            <a:ext cx="3149498" cy="11338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Tjänster ska hitta varandra, även när de flyttar runt</a:t>
            </a:r>
            <a:endParaRPr lang="en-US" sz="1150" dirty="0"/>
          </a:p>
        </p:txBody>
      </p:sp>
      <p:sp>
        <p:nvSpPr>
          <p:cNvPr id="16" name="Shape 14"/>
          <p:cNvSpPr/>
          <p:nvPr/>
        </p:nvSpPr>
        <p:spPr>
          <a:xfrm>
            <a:off x="4319930" y="3950208"/>
            <a:ext cx="3551834" cy="1993392"/>
          </a:xfrm>
          <a:prstGeom prst="roundRect">
            <a:avLst>
              <a:gd name="adj" fmla="val 4587"/>
            </a:avLst>
          </a:prstGeom>
          <a:solidFill>
            <a:srgbClr val="FFFFFF"/>
          </a:solidFill>
          <a:ln w="12700">
            <a:solidFill>
              <a:srgbClr val="E4E7EC"/>
            </a:solidFill>
            <a:prstDash val="solid"/>
          </a:ln>
        </p:spPr>
      </p:sp>
      <p:sp>
        <p:nvSpPr>
          <p:cNvPr id="17" name="Text 15"/>
          <p:cNvSpPr txBox="1"/>
          <p:nvPr/>
        </p:nvSpPr>
        <p:spPr>
          <a:xfrm>
            <a:off x="4521098" y="4133088"/>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Konfiguration</a:t>
            </a:r>
            <a:endParaRPr lang="en-US" sz="1550" dirty="0"/>
          </a:p>
        </p:txBody>
      </p:sp>
      <p:sp>
        <p:nvSpPr>
          <p:cNvPr id="18" name="Text 16"/>
          <p:cNvSpPr txBox="1"/>
          <p:nvPr/>
        </p:nvSpPr>
        <p:spPr>
          <a:xfrm>
            <a:off x="4521098" y="4645152"/>
            <a:ext cx="3149498" cy="11338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Hemligheter och miljöinställningar, hanterade centralt</a:t>
            </a:r>
            <a:endParaRPr lang="en-US" sz="1150" dirty="0"/>
          </a:p>
        </p:txBody>
      </p:sp>
      <p:sp>
        <p:nvSpPr>
          <p:cNvPr id="19" name="Shape 17"/>
          <p:cNvSpPr/>
          <p:nvPr/>
        </p:nvSpPr>
        <p:spPr>
          <a:xfrm>
            <a:off x="8091221" y="3950208"/>
            <a:ext cx="3551834" cy="1993392"/>
          </a:xfrm>
          <a:prstGeom prst="roundRect">
            <a:avLst>
              <a:gd name="adj" fmla="val 4587"/>
            </a:avLst>
          </a:prstGeom>
          <a:solidFill>
            <a:srgbClr val="FFFFFF"/>
          </a:solidFill>
          <a:ln w="12700">
            <a:solidFill>
              <a:srgbClr val="E4E7EC"/>
            </a:solidFill>
            <a:prstDash val="solid"/>
          </a:ln>
        </p:spPr>
      </p:sp>
      <p:sp>
        <p:nvSpPr>
          <p:cNvPr id="20" name="Text 18"/>
          <p:cNvSpPr txBox="1"/>
          <p:nvPr/>
        </p:nvSpPr>
        <p:spPr>
          <a:xfrm>
            <a:off x="8292389" y="4133088"/>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Utrullning</a:t>
            </a:r>
            <a:endParaRPr lang="en-US" sz="1550" dirty="0"/>
          </a:p>
        </p:txBody>
      </p:sp>
      <p:sp>
        <p:nvSpPr>
          <p:cNvPr id="21" name="Text 19"/>
          <p:cNvSpPr txBox="1"/>
          <p:nvPr/>
        </p:nvSpPr>
        <p:spPr>
          <a:xfrm>
            <a:off x="8292389" y="4645152"/>
            <a:ext cx="3149498" cy="1133856"/>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Uppdatera till ny version utan avbrott för användarna</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914400"/>
            <a:ext cx="4572000" cy="23774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02</a:t>
            </a:r>
            <a:endParaRPr lang="en-US" sz="15000" dirty="0"/>
          </a:p>
        </p:txBody>
      </p:sp>
      <p:sp>
        <p:nvSpPr>
          <p:cNvPr id="3" name="Text 1"/>
          <p:cNvSpPr txBox="1"/>
          <p:nvPr/>
        </p:nvSpPr>
        <p:spPr>
          <a:xfrm>
            <a:off x="548640" y="3200400"/>
            <a:ext cx="9144000" cy="100584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Historik</a:t>
            </a:r>
            <a:endParaRPr lang="en-US" sz="5200" dirty="0"/>
          </a:p>
        </p:txBody>
      </p:sp>
      <p:sp>
        <p:nvSpPr>
          <p:cNvPr id="4" name="Text 2"/>
          <p:cNvSpPr txBox="1"/>
          <p:nvPr/>
        </p:nvSpPr>
        <p:spPr>
          <a:xfrm>
            <a:off x="548640" y="4206240"/>
            <a:ext cx="8229600" cy="548640"/>
          </a:xfrm>
          <a:prstGeom prst="rect">
            <a:avLst/>
          </a:prstGeom>
          <a:noFill/>
          <a:ln/>
        </p:spPr>
        <p:txBody>
          <a:bodyPr wrap="square" lIns="0" tIns="0" rIns="0" bIns="0" rtlCol="0" anchor="ctr"/>
          <a:lstStyle/>
          <a:p>
            <a:pPr indent="0" marL="0">
              <a:buNone/>
            </a:pPr>
            <a:r>
              <a:rPr lang="en-US" sz="1800" dirty="0">
                <a:solidFill>
                  <a:srgbClr val="B9C4D1"/>
                </a:solidFill>
                <a:latin typeface="Arial" pitchFamily="34" charset="0"/>
                <a:ea typeface="Arial" pitchFamily="34" charset="-122"/>
                <a:cs typeface="Arial" pitchFamily="34" charset="-120"/>
              </a:rPr>
              <a:t>Google, Borg och vägen fram till dagens Kubernetes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HISTORIK</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Vem skapade Kubernetes?</a:t>
            </a:r>
            <a:endParaRPr lang="en-US" sz="2700" dirty="0"/>
          </a:p>
        </p:txBody>
      </p:sp>
      <p:sp>
        <p:nvSpPr>
          <p:cNvPr id="4" name="Text 2"/>
          <p:cNvSpPr txBox="1"/>
          <p:nvPr/>
        </p:nvSpPr>
        <p:spPr>
          <a:xfrm>
            <a:off x="548640" y="1783080"/>
            <a:ext cx="5577840" cy="4206240"/>
          </a:xfrm>
          <a:prstGeom prst="rect">
            <a:avLst/>
          </a:prstGeom>
          <a:noFill/>
          <a:ln/>
        </p:spPr>
        <p:txBody>
          <a:bodyPr wrap="square" lIns="0" tIns="0" rIns="0" bIns="0" rtlCol="0" anchor="t"/>
          <a:lstStyle/>
          <a:p>
            <a:pPr indent="0" marL="0">
              <a:lnSpc>
                <a:spcPct val="130000"/>
              </a:lnSpc>
              <a:buNone/>
            </a:pPr>
            <a:r>
              <a:rPr lang="en-US" sz="1450" dirty="0">
                <a:solidFill>
                  <a:srgbClr val="4A5568"/>
                </a:solidFill>
                <a:latin typeface="Arial" pitchFamily="34" charset="0"/>
                <a:ea typeface="Arial" pitchFamily="34" charset="-122"/>
                <a:cs typeface="Arial" pitchFamily="34" charset="-120"/>
              </a:rPr>
              <a:t>Google körde sina egna interna tjänster - sök, Gmail, med mera - på ett hemligt internt system som hette Borg, i över tio års tid. Borg schemalade miljontals containrar över Googles datacenter, varje dag.</a:t>
            </a:r>
            <a:endParaRPr lang="en-US" sz="1450" dirty="0"/>
          </a:p>
          <a:p>
            <a:pPr indent="0" marL="0">
              <a:lnSpc>
                <a:spcPct val="130000"/>
              </a:lnSpc>
              <a:buNone/>
            </a:pPr>
            <a:endParaRPr lang="en-US" sz="1450" dirty="0"/>
          </a:p>
          <a:p>
            <a:pPr indent="0" marL="0">
              <a:lnSpc>
                <a:spcPct val="130000"/>
              </a:lnSpc>
              <a:buNone/>
            </a:pPr>
            <a:r>
              <a:rPr lang="en-US" sz="1450" dirty="0">
                <a:solidFill>
                  <a:srgbClr val="4A5568"/>
                </a:solidFill>
                <a:latin typeface="Arial" pitchFamily="34" charset="0"/>
                <a:ea typeface="Arial" pitchFamily="34" charset="-122"/>
                <a:cs typeface="Arial" pitchFamily="34" charset="-120"/>
              </a:rPr>
              <a:t>2014 tog tre Google-ingenjörer idéerna från Borg och byggde om dem som ett öppet, fristående projekt - i Go istället för C++.</a:t>
            </a:r>
            <a:endParaRPr lang="en-US" sz="1450" dirty="0"/>
          </a:p>
        </p:txBody>
      </p:sp>
      <p:sp>
        <p:nvSpPr>
          <p:cNvPr id="5" name="Shape 3"/>
          <p:cNvSpPr/>
          <p:nvPr/>
        </p:nvSpPr>
        <p:spPr>
          <a:xfrm>
            <a:off x="6492240" y="1828800"/>
            <a:ext cx="685800" cy="685800"/>
          </a:xfrm>
          <a:prstGeom prst="ellipse">
            <a:avLst/>
          </a:prstGeom>
          <a:solidFill>
            <a:srgbClr val="3762FF"/>
          </a:solidFill>
          <a:ln/>
        </p:spPr>
      </p:sp>
      <p:sp>
        <p:nvSpPr>
          <p:cNvPr id="6" name="Text 4"/>
          <p:cNvSpPr txBox="1"/>
          <p:nvPr/>
        </p:nvSpPr>
        <p:spPr>
          <a:xfrm>
            <a:off x="6492240" y="1828800"/>
            <a:ext cx="685800" cy="685800"/>
          </a:xfrm>
          <a:prstGeom prst="rect">
            <a:avLst/>
          </a:prstGeom>
          <a:noFill/>
          <a:ln/>
        </p:spPr>
        <p:txBody>
          <a:bodyPr wrap="square" lIns="0" tIns="0" rIns="0" bIns="0" rtlCol="0" anchor="ctr"/>
          <a:lstStyle/>
          <a:p>
            <a:pPr algn="ctr" indent="0" marL="0">
              <a:buNone/>
            </a:pPr>
            <a:r>
              <a:rPr lang="en-US" sz="1800" b="1" dirty="0">
                <a:solidFill>
                  <a:srgbClr val="F5F7FA"/>
                </a:solidFill>
                <a:latin typeface="Calibri" pitchFamily="34" charset="0"/>
                <a:ea typeface="Calibri" pitchFamily="34" charset="-122"/>
                <a:cs typeface="Calibri" pitchFamily="34" charset="-120"/>
              </a:rPr>
              <a:t>JB</a:t>
            </a:r>
            <a:endParaRPr lang="en-US" sz="1800" dirty="0"/>
          </a:p>
        </p:txBody>
      </p:sp>
      <p:sp>
        <p:nvSpPr>
          <p:cNvPr id="7" name="Shape 5"/>
          <p:cNvSpPr/>
          <p:nvPr/>
        </p:nvSpPr>
        <p:spPr>
          <a:xfrm>
            <a:off x="7315200" y="1901952"/>
            <a:ext cx="4325112" cy="548640"/>
          </a:xfrm>
          <a:prstGeom prst="roundRect">
            <a:avLst>
              <a:gd name="adj" fmla="val 16667"/>
            </a:avLst>
          </a:prstGeom>
          <a:solidFill>
            <a:srgbClr val="FFFFFF"/>
          </a:solidFill>
          <a:ln w="12700">
            <a:solidFill>
              <a:srgbClr val="E4E7EC"/>
            </a:solidFill>
            <a:prstDash val="solid"/>
          </a:ln>
        </p:spPr>
      </p:sp>
      <p:sp>
        <p:nvSpPr>
          <p:cNvPr id="8" name="Text 6"/>
          <p:cNvSpPr txBox="1"/>
          <p:nvPr/>
        </p:nvSpPr>
        <p:spPr>
          <a:xfrm>
            <a:off x="7543800" y="1901952"/>
            <a:ext cx="3931920" cy="548640"/>
          </a:xfrm>
          <a:prstGeom prst="rect">
            <a:avLst/>
          </a:prstGeom>
          <a:noFill/>
          <a:ln/>
        </p:spPr>
        <p:txBody>
          <a:bodyPr wrap="square" lIns="0" tIns="0" rIns="0" bIns="0" rtlCol="0" anchor="ctr"/>
          <a:lstStyle/>
          <a:p>
            <a:pPr indent="0" marL="0">
              <a:buNone/>
            </a:pPr>
            <a:r>
              <a:rPr lang="en-US" sz="1600" b="1" dirty="0">
                <a:solidFill>
                  <a:srgbClr val="16202B"/>
                </a:solidFill>
                <a:latin typeface="Calibri" pitchFamily="34" charset="0"/>
                <a:ea typeface="Calibri" pitchFamily="34" charset="-122"/>
                <a:cs typeface="Calibri" pitchFamily="34" charset="-120"/>
              </a:rPr>
              <a:t>Joe Beda</a:t>
            </a:r>
            <a:endParaRPr lang="en-US" sz="1600" dirty="0"/>
          </a:p>
        </p:txBody>
      </p:sp>
      <p:sp>
        <p:nvSpPr>
          <p:cNvPr id="9" name="Shape 7"/>
          <p:cNvSpPr/>
          <p:nvPr/>
        </p:nvSpPr>
        <p:spPr>
          <a:xfrm>
            <a:off x="6492240" y="2788920"/>
            <a:ext cx="685800" cy="685800"/>
          </a:xfrm>
          <a:prstGeom prst="ellipse">
            <a:avLst/>
          </a:prstGeom>
          <a:solidFill>
            <a:srgbClr val="3762FF"/>
          </a:solidFill>
          <a:ln/>
        </p:spPr>
      </p:sp>
      <p:sp>
        <p:nvSpPr>
          <p:cNvPr id="10" name="Text 8"/>
          <p:cNvSpPr txBox="1"/>
          <p:nvPr/>
        </p:nvSpPr>
        <p:spPr>
          <a:xfrm>
            <a:off x="6492240" y="2788920"/>
            <a:ext cx="685800" cy="685800"/>
          </a:xfrm>
          <a:prstGeom prst="rect">
            <a:avLst/>
          </a:prstGeom>
          <a:noFill/>
          <a:ln/>
        </p:spPr>
        <p:txBody>
          <a:bodyPr wrap="square" lIns="0" tIns="0" rIns="0" bIns="0" rtlCol="0" anchor="ctr"/>
          <a:lstStyle/>
          <a:p>
            <a:pPr algn="ctr" indent="0" marL="0">
              <a:buNone/>
            </a:pPr>
            <a:r>
              <a:rPr lang="en-US" sz="1800" b="1" dirty="0">
                <a:solidFill>
                  <a:srgbClr val="F5F7FA"/>
                </a:solidFill>
                <a:latin typeface="Calibri" pitchFamily="34" charset="0"/>
                <a:ea typeface="Calibri" pitchFamily="34" charset="-122"/>
                <a:cs typeface="Calibri" pitchFamily="34" charset="-120"/>
              </a:rPr>
              <a:t>BB</a:t>
            </a:r>
            <a:endParaRPr lang="en-US" sz="1800" dirty="0"/>
          </a:p>
        </p:txBody>
      </p:sp>
      <p:sp>
        <p:nvSpPr>
          <p:cNvPr id="11" name="Shape 9"/>
          <p:cNvSpPr/>
          <p:nvPr/>
        </p:nvSpPr>
        <p:spPr>
          <a:xfrm>
            <a:off x="7315200" y="2862072"/>
            <a:ext cx="4325112" cy="548640"/>
          </a:xfrm>
          <a:prstGeom prst="roundRect">
            <a:avLst>
              <a:gd name="adj" fmla="val 16667"/>
            </a:avLst>
          </a:prstGeom>
          <a:solidFill>
            <a:srgbClr val="FFFFFF"/>
          </a:solidFill>
          <a:ln w="12700">
            <a:solidFill>
              <a:srgbClr val="E4E7EC"/>
            </a:solidFill>
            <a:prstDash val="solid"/>
          </a:ln>
        </p:spPr>
      </p:sp>
      <p:sp>
        <p:nvSpPr>
          <p:cNvPr id="12" name="Text 10"/>
          <p:cNvSpPr txBox="1"/>
          <p:nvPr/>
        </p:nvSpPr>
        <p:spPr>
          <a:xfrm>
            <a:off x="7543800" y="2862072"/>
            <a:ext cx="3931920" cy="548640"/>
          </a:xfrm>
          <a:prstGeom prst="rect">
            <a:avLst/>
          </a:prstGeom>
          <a:noFill/>
          <a:ln/>
        </p:spPr>
        <p:txBody>
          <a:bodyPr wrap="square" lIns="0" tIns="0" rIns="0" bIns="0" rtlCol="0" anchor="ctr"/>
          <a:lstStyle/>
          <a:p>
            <a:pPr indent="0" marL="0">
              <a:buNone/>
            </a:pPr>
            <a:r>
              <a:rPr lang="en-US" sz="1600" b="1" dirty="0">
                <a:solidFill>
                  <a:srgbClr val="16202B"/>
                </a:solidFill>
                <a:latin typeface="Calibri" pitchFamily="34" charset="0"/>
                <a:ea typeface="Calibri" pitchFamily="34" charset="-122"/>
                <a:cs typeface="Calibri" pitchFamily="34" charset="-120"/>
              </a:rPr>
              <a:t>Brendan Burns</a:t>
            </a:r>
            <a:endParaRPr lang="en-US" sz="1600" dirty="0"/>
          </a:p>
        </p:txBody>
      </p:sp>
      <p:sp>
        <p:nvSpPr>
          <p:cNvPr id="13" name="Shape 11"/>
          <p:cNvSpPr/>
          <p:nvPr/>
        </p:nvSpPr>
        <p:spPr>
          <a:xfrm>
            <a:off x="6492240" y="3749040"/>
            <a:ext cx="685800" cy="685800"/>
          </a:xfrm>
          <a:prstGeom prst="ellipse">
            <a:avLst/>
          </a:prstGeom>
          <a:solidFill>
            <a:srgbClr val="3762FF"/>
          </a:solidFill>
          <a:ln/>
        </p:spPr>
      </p:sp>
      <p:sp>
        <p:nvSpPr>
          <p:cNvPr id="14" name="Text 12"/>
          <p:cNvSpPr txBox="1"/>
          <p:nvPr/>
        </p:nvSpPr>
        <p:spPr>
          <a:xfrm>
            <a:off x="6492240" y="3749040"/>
            <a:ext cx="685800" cy="685800"/>
          </a:xfrm>
          <a:prstGeom prst="rect">
            <a:avLst/>
          </a:prstGeom>
          <a:noFill/>
          <a:ln/>
        </p:spPr>
        <p:txBody>
          <a:bodyPr wrap="square" lIns="0" tIns="0" rIns="0" bIns="0" rtlCol="0" anchor="ctr"/>
          <a:lstStyle/>
          <a:p>
            <a:pPr algn="ctr" indent="0" marL="0">
              <a:buNone/>
            </a:pPr>
            <a:r>
              <a:rPr lang="en-US" sz="1800" b="1" dirty="0">
                <a:solidFill>
                  <a:srgbClr val="F5F7FA"/>
                </a:solidFill>
                <a:latin typeface="Calibri" pitchFamily="34" charset="0"/>
                <a:ea typeface="Calibri" pitchFamily="34" charset="-122"/>
                <a:cs typeface="Calibri" pitchFamily="34" charset="-120"/>
              </a:rPr>
              <a:t>CM</a:t>
            </a:r>
            <a:endParaRPr lang="en-US" sz="1800" dirty="0"/>
          </a:p>
        </p:txBody>
      </p:sp>
      <p:sp>
        <p:nvSpPr>
          <p:cNvPr id="15" name="Shape 13"/>
          <p:cNvSpPr/>
          <p:nvPr/>
        </p:nvSpPr>
        <p:spPr>
          <a:xfrm>
            <a:off x="7315200" y="3822192"/>
            <a:ext cx="4325112" cy="548640"/>
          </a:xfrm>
          <a:prstGeom prst="roundRect">
            <a:avLst>
              <a:gd name="adj" fmla="val 16667"/>
            </a:avLst>
          </a:prstGeom>
          <a:solidFill>
            <a:srgbClr val="FFFFFF"/>
          </a:solidFill>
          <a:ln w="12700">
            <a:solidFill>
              <a:srgbClr val="E4E7EC"/>
            </a:solidFill>
            <a:prstDash val="solid"/>
          </a:ln>
        </p:spPr>
      </p:sp>
      <p:sp>
        <p:nvSpPr>
          <p:cNvPr id="16" name="Text 14"/>
          <p:cNvSpPr txBox="1"/>
          <p:nvPr/>
        </p:nvSpPr>
        <p:spPr>
          <a:xfrm>
            <a:off x="7543800" y="3822192"/>
            <a:ext cx="3931920" cy="548640"/>
          </a:xfrm>
          <a:prstGeom prst="rect">
            <a:avLst/>
          </a:prstGeom>
          <a:noFill/>
          <a:ln/>
        </p:spPr>
        <p:txBody>
          <a:bodyPr wrap="square" lIns="0" tIns="0" rIns="0" bIns="0" rtlCol="0" anchor="ctr"/>
          <a:lstStyle/>
          <a:p>
            <a:pPr indent="0" marL="0">
              <a:buNone/>
            </a:pPr>
            <a:r>
              <a:rPr lang="en-US" sz="1600" b="1" dirty="0">
                <a:solidFill>
                  <a:srgbClr val="16202B"/>
                </a:solidFill>
                <a:latin typeface="Calibri" pitchFamily="34" charset="0"/>
                <a:ea typeface="Calibri" pitchFamily="34" charset="-122"/>
                <a:cs typeface="Calibri" pitchFamily="34" charset="-120"/>
              </a:rPr>
              <a:t>Craig McLuckie</a:t>
            </a:r>
            <a:endParaRPr lang="en-US" sz="1600" dirty="0"/>
          </a:p>
        </p:txBody>
      </p:sp>
      <p:sp>
        <p:nvSpPr>
          <p:cNvPr id="17" name="Text 15"/>
          <p:cNvSpPr txBox="1"/>
          <p:nvPr/>
        </p:nvSpPr>
        <p:spPr>
          <a:xfrm>
            <a:off x="6492240" y="4846320"/>
            <a:ext cx="5148072" cy="548640"/>
          </a:xfrm>
          <a:prstGeom prst="rect">
            <a:avLst/>
          </a:prstGeom>
          <a:noFill/>
          <a:ln/>
        </p:spPr>
        <p:txBody>
          <a:bodyPr wrap="square" lIns="0" tIns="0" rIns="0" bIns="0" rtlCol="0" anchor="t"/>
          <a:lstStyle/>
          <a:p>
            <a:pPr indent="0" marL="0">
              <a:lnSpc>
                <a:spcPct val="130000"/>
              </a:lnSpc>
              <a:buNone/>
            </a:pPr>
            <a:r>
              <a:rPr lang="en-US" sz="1150" dirty="0">
                <a:solidFill>
                  <a:srgbClr val="6A7179"/>
                </a:solidFill>
                <a:latin typeface="Arial" pitchFamily="34" charset="0"/>
                <a:ea typeface="Arial" pitchFamily="34" charset="-122"/>
                <a:cs typeface="Arial" pitchFamily="34" charset="-120"/>
              </a:rPr>
              <a:t>Alla tre på Google, med fler bidragsgivare från Google, Red Hat och CoreOS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HISTORIK</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Från Borg till dagens Kubernetes</a:t>
            </a:r>
            <a:endParaRPr lang="en-US" sz="2700" dirty="0"/>
          </a:p>
        </p:txBody>
      </p:sp>
      <p:sp>
        <p:nvSpPr>
          <p:cNvPr id="4" name="Shape 2"/>
          <p:cNvSpPr/>
          <p:nvPr/>
        </p:nvSpPr>
        <p:spPr>
          <a:xfrm>
            <a:off x="1832572" y="2258568"/>
            <a:ext cx="8526551" cy="0"/>
          </a:xfrm>
          <a:prstGeom prst="line">
            <a:avLst/>
          </a:prstGeom>
          <a:noFill/>
          <a:ln w="31750">
            <a:solidFill>
              <a:srgbClr val="3762FF"/>
            </a:solidFill>
            <a:prstDash val="solid"/>
          </a:ln>
        </p:spPr>
      </p:sp>
      <p:sp>
        <p:nvSpPr>
          <p:cNvPr id="5" name="Shape 3"/>
          <p:cNvSpPr/>
          <p:nvPr/>
        </p:nvSpPr>
        <p:spPr>
          <a:xfrm>
            <a:off x="1722844" y="2148840"/>
            <a:ext cx="219456" cy="219456"/>
          </a:xfrm>
          <a:prstGeom prst="ellipse">
            <a:avLst/>
          </a:prstGeom>
          <a:solidFill>
            <a:srgbClr val="3762FF"/>
          </a:solidFill>
          <a:ln/>
        </p:spPr>
      </p:sp>
      <p:sp>
        <p:nvSpPr>
          <p:cNvPr id="6" name="Text 4"/>
          <p:cNvSpPr txBox="1"/>
          <p:nvPr/>
        </p:nvSpPr>
        <p:spPr>
          <a:xfrm>
            <a:off x="548640" y="2606040"/>
            <a:ext cx="2567864" cy="457200"/>
          </a:xfrm>
          <a:prstGeom prst="rect">
            <a:avLst/>
          </a:prstGeom>
          <a:noFill/>
          <a:ln/>
        </p:spPr>
        <p:txBody>
          <a:bodyPr wrap="square" lIns="0" tIns="0" rIns="0" bIns="0" rtlCol="0" anchor="ctr"/>
          <a:lstStyle/>
          <a:p>
            <a:pPr algn="ctr" indent="0" marL="0">
              <a:buNone/>
            </a:pPr>
            <a:r>
              <a:rPr lang="en-US" sz="2000" b="1" dirty="0">
                <a:solidFill>
                  <a:srgbClr val="16202B"/>
                </a:solidFill>
                <a:latin typeface="Calibri" pitchFamily="34" charset="0"/>
                <a:ea typeface="Calibri" pitchFamily="34" charset="-122"/>
                <a:cs typeface="Calibri" pitchFamily="34" charset="-120"/>
              </a:rPr>
              <a:t>~2003</a:t>
            </a:r>
            <a:endParaRPr lang="en-US" sz="2000" dirty="0"/>
          </a:p>
        </p:txBody>
      </p:sp>
      <p:sp>
        <p:nvSpPr>
          <p:cNvPr id="7" name="Text 5"/>
          <p:cNvSpPr txBox="1"/>
          <p:nvPr/>
        </p:nvSpPr>
        <p:spPr>
          <a:xfrm>
            <a:off x="548640" y="3108960"/>
            <a:ext cx="2567864" cy="1371600"/>
          </a:xfrm>
          <a:prstGeom prst="rect">
            <a:avLst/>
          </a:prstGeom>
          <a:noFill/>
          <a:ln/>
        </p:spPr>
        <p:txBody>
          <a:bodyPr wrap="square" lIns="0" tIns="0" rIns="0" bIns="0" rtlCol="0" anchor="t"/>
          <a:lstStyle/>
          <a:p>
            <a:pPr algn="ctr" indent="0" marL="0">
              <a:lnSpc>
                <a:spcPct val="125000"/>
              </a:lnSpc>
              <a:buNone/>
            </a:pPr>
            <a:r>
              <a:rPr lang="en-US" sz="1200" dirty="0">
                <a:solidFill>
                  <a:srgbClr val="4A5568"/>
                </a:solidFill>
                <a:latin typeface="Arial" pitchFamily="34" charset="0"/>
                <a:ea typeface="Arial" pitchFamily="34" charset="-122"/>
                <a:cs typeface="Arial" pitchFamily="34" charset="-120"/>
              </a:rPr>
              <a:t>Google bygger Borg internt för att driva sina egna tjänster</a:t>
            </a:r>
            <a:endParaRPr lang="en-US" sz="1200" dirty="0"/>
          </a:p>
        </p:txBody>
      </p:sp>
      <p:sp>
        <p:nvSpPr>
          <p:cNvPr id="8" name="Shape 6"/>
          <p:cNvSpPr/>
          <p:nvPr/>
        </p:nvSpPr>
        <p:spPr>
          <a:xfrm>
            <a:off x="4565028" y="2148840"/>
            <a:ext cx="219456" cy="219456"/>
          </a:xfrm>
          <a:prstGeom prst="ellipse">
            <a:avLst/>
          </a:prstGeom>
          <a:solidFill>
            <a:srgbClr val="3762FF"/>
          </a:solidFill>
          <a:ln/>
        </p:spPr>
      </p:sp>
      <p:sp>
        <p:nvSpPr>
          <p:cNvPr id="9" name="Text 7"/>
          <p:cNvSpPr txBox="1"/>
          <p:nvPr/>
        </p:nvSpPr>
        <p:spPr>
          <a:xfrm>
            <a:off x="3390824" y="2606040"/>
            <a:ext cx="2567864" cy="457200"/>
          </a:xfrm>
          <a:prstGeom prst="rect">
            <a:avLst/>
          </a:prstGeom>
          <a:noFill/>
          <a:ln/>
        </p:spPr>
        <p:txBody>
          <a:bodyPr wrap="square" lIns="0" tIns="0" rIns="0" bIns="0" rtlCol="0" anchor="ctr"/>
          <a:lstStyle/>
          <a:p>
            <a:pPr algn="ctr" indent="0" marL="0">
              <a:buNone/>
            </a:pPr>
            <a:r>
              <a:rPr lang="en-US" sz="2000" b="1" dirty="0">
                <a:solidFill>
                  <a:srgbClr val="16202B"/>
                </a:solidFill>
                <a:latin typeface="Calibri" pitchFamily="34" charset="0"/>
                <a:ea typeface="Calibri" pitchFamily="34" charset="-122"/>
                <a:cs typeface="Calibri" pitchFamily="34" charset="-120"/>
              </a:rPr>
              <a:t>Juni 2014</a:t>
            </a:r>
            <a:endParaRPr lang="en-US" sz="2000" dirty="0"/>
          </a:p>
        </p:txBody>
      </p:sp>
      <p:sp>
        <p:nvSpPr>
          <p:cNvPr id="10" name="Text 8"/>
          <p:cNvSpPr txBox="1"/>
          <p:nvPr/>
        </p:nvSpPr>
        <p:spPr>
          <a:xfrm>
            <a:off x="3390824" y="3108960"/>
            <a:ext cx="2567864" cy="1371600"/>
          </a:xfrm>
          <a:prstGeom prst="rect">
            <a:avLst/>
          </a:prstGeom>
          <a:noFill/>
          <a:ln/>
        </p:spPr>
        <p:txBody>
          <a:bodyPr wrap="square" lIns="0" tIns="0" rIns="0" bIns="0" rtlCol="0" anchor="t"/>
          <a:lstStyle/>
          <a:p>
            <a:pPr algn="ctr" indent="0" marL="0">
              <a:lnSpc>
                <a:spcPct val="125000"/>
              </a:lnSpc>
              <a:buNone/>
            </a:pPr>
            <a:r>
              <a:rPr lang="en-US" sz="1200" dirty="0">
                <a:solidFill>
                  <a:srgbClr val="4A5568"/>
                </a:solidFill>
                <a:latin typeface="Arial" pitchFamily="34" charset="0"/>
                <a:ea typeface="Arial" pitchFamily="34" charset="-122"/>
                <a:cs typeface="Arial" pitchFamily="34" charset="-120"/>
              </a:rPr>
              <a:t>Kubernetes öppenkällkodas av Google, inspirerat av Borg</a:t>
            </a:r>
            <a:endParaRPr lang="en-US" sz="1200" dirty="0"/>
          </a:p>
        </p:txBody>
      </p:sp>
      <p:sp>
        <p:nvSpPr>
          <p:cNvPr id="11" name="Shape 9"/>
          <p:cNvSpPr/>
          <p:nvPr/>
        </p:nvSpPr>
        <p:spPr>
          <a:xfrm>
            <a:off x="7407212" y="2148840"/>
            <a:ext cx="219456" cy="219456"/>
          </a:xfrm>
          <a:prstGeom prst="ellipse">
            <a:avLst/>
          </a:prstGeom>
          <a:solidFill>
            <a:srgbClr val="3762FF"/>
          </a:solidFill>
          <a:ln/>
        </p:spPr>
      </p:sp>
      <p:sp>
        <p:nvSpPr>
          <p:cNvPr id="12" name="Text 10"/>
          <p:cNvSpPr txBox="1"/>
          <p:nvPr/>
        </p:nvSpPr>
        <p:spPr>
          <a:xfrm>
            <a:off x="6233008" y="2606040"/>
            <a:ext cx="2567864" cy="457200"/>
          </a:xfrm>
          <a:prstGeom prst="rect">
            <a:avLst/>
          </a:prstGeom>
          <a:noFill/>
          <a:ln/>
        </p:spPr>
        <p:txBody>
          <a:bodyPr wrap="square" lIns="0" tIns="0" rIns="0" bIns="0" rtlCol="0" anchor="ctr"/>
          <a:lstStyle/>
          <a:p>
            <a:pPr algn="ctr" indent="0" marL="0">
              <a:buNone/>
            </a:pPr>
            <a:r>
              <a:rPr lang="en-US" sz="2000" b="1" dirty="0">
                <a:solidFill>
                  <a:srgbClr val="16202B"/>
                </a:solidFill>
                <a:latin typeface="Calibri" pitchFamily="34" charset="0"/>
                <a:ea typeface="Calibri" pitchFamily="34" charset="-122"/>
                <a:cs typeface="Calibri" pitchFamily="34" charset="-120"/>
              </a:rPr>
              <a:t>Juli 2015</a:t>
            </a:r>
            <a:endParaRPr lang="en-US" sz="2000" dirty="0"/>
          </a:p>
        </p:txBody>
      </p:sp>
      <p:sp>
        <p:nvSpPr>
          <p:cNvPr id="13" name="Text 11"/>
          <p:cNvSpPr txBox="1"/>
          <p:nvPr/>
        </p:nvSpPr>
        <p:spPr>
          <a:xfrm>
            <a:off x="6233008" y="3108960"/>
            <a:ext cx="2567864" cy="1371600"/>
          </a:xfrm>
          <a:prstGeom prst="rect">
            <a:avLst/>
          </a:prstGeom>
          <a:noFill/>
          <a:ln/>
        </p:spPr>
        <p:txBody>
          <a:bodyPr wrap="square" lIns="0" tIns="0" rIns="0" bIns="0" rtlCol="0" anchor="t"/>
          <a:lstStyle/>
          <a:p>
            <a:pPr algn="ctr" indent="0" marL="0">
              <a:lnSpc>
                <a:spcPct val="125000"/>
              </a:lnSpc>
              <a:buNone/>
            </a:pPr>
            <a:r>
              <a:rPr lang="en-US" sz="1200" dirty="0">
                <a:solidFill>
                  <a:srgbClr val="4A5568"/>
                </a:solidFill>
                <a:latin typeface="Arial" pitchFamily="34" charset="0"/>
                <a:ea typeface="Arial" pitchFamily="34" charset="-122"/>
                <a:cs typeface="Arial" pitchFamily="34" charset="-120"/>
              </a:rPr>
              <a:t>v1.0 släpps och doneras till nystartade CNCF</a:t>
            </a:r>
            <a:endParaRPr lang="en-US" sz="1200" dirty="0"/>
          </a:p>
        </p:txBody>
      </p:sp>
      <p:sp>
        <p:nvSpPr>
          <p:cNvPr id="14" name="Shape 12"/>
          <p:cNvSpPr/>
          <p:nvPr/>
        </p:nvSpPr>
        <p:spPr>
          <a:xfrm>
            <a:off x="10249395" y="2148840"/>
            <a:ext cx="219456" cy="219456"/>
          </a:xfrm>
          <a:prstGeom prst="ellipse">
            <a:avLst/>
          </a:prstGeom>
          <a:solidFill>
            <a:srgbClr val="FFB020"/>
          </a:solidFill>
          <a:ln/>
        </p:spPr>
      </p:sp>
      <p:sp>
        <p:nvSpPr>
          <p:cNvPr id="15" name="Text 13"/>
          <p:cNvSpPr txBox="1"/>
          <p:nvPr/>
        </p:nvSpPr>
        <p:spPr>
          <a:xfrm>
            <a:off x="9075191" y="2606040"/>
            <a:ext cx="2567864" cy="457200"/>
          </a:xfrm>
          <a:prstGeom prst="rect">
            <a:avLst/>
          </a:prstGeom>
          <a:noFill/>
          <a:ln/>
        </p:spPr>
        <p:txBody>
          <a:bodyPr wrap="square" lIns="0" tIns="0" rIns="0" bIns="0" rtlCol="0" anchor="ctr"/>
          <a:lstStyle/>
          <a:p>
            <a:pPr algn="ctr" indent="0" marL="0">
              <a:buNone/>
            </a:pPr>
            <a:r>
              <a:rPr lang="en-US" sz="2000" b="1" dirty="0">
                <a:solidFill>
                  <a:srgbClr val="16202B"/>
                </a:solidFill>
                <a:latin typeface="Calibri" pitchFamily="34" charset="0"/>
                <a:ea typeface="Calibri" pitchFamily="34" charset="-122"/>
                <a:cs typeface="Calibri" pitchFamily="34" charset="-120"/>
              </a:rPr>
              <a:t>Idag</a:t>
            </a:r>
            <a:endParaRPr lang="en-US" sz="2000" dirty="0"/>
          </a:p>
        </p:txBody>
      </p:sp>
      <p:sp>
        <p:nvSpPr>
          <p:cNvPr id="16" name="Text 14"/>
          <p:cNvSpPr txBox="1"/>
          <p:nvPr/>
        </p:nvSpPr>
        <p:spPr>
          <a:xfrm>
            <a:off x="9075191" y="3108960"/>
            <a:ext cx="2567864" cy="1371600"/>
          </a:xfrm>
          <a:prstGeom prst="rect">
            <a:avLst/>
          </a:prstGeom>
          <a:noFill/>
          <a:ln/>
        </p:spPr>
        <p:txBody>
          <a:bodyPr wrap="square" lIns="0" tIns="0" rIns="0" bIns="0" rtlCol="0" anchor="t"/>
          <a:lstStyle/>
          <a:p>
            <a:pPr algn="ctr" indent="0" marL="0">
              <a:lnSpc>
                <a:spcPct val="125000"/>
              </a:lnSpc>
              <a:buNone/>
            </a:pPr>
            <a:r>
              <a:rPr lang="en-US" sz="1200" dirty="0">
                <a:solidFill>
                  <a:srgbClr val="4A5568"/>
                </a:solidFill>
                <a:latin typeface="Arial" pitchFamily="34" charset="0"/>
                <a:ea typeface="Arial" pitchFamily="34" charset="-122"/>
                <a:cs typeface="Arial" pitchFamily="34" charset="-120"/>
              </a:rPr>
              <a:t>De-facto standard för container-orkestrering</a:t>
            </a:r>
            <a:endParaRPr lang="en-US" sz="1200" dirty="0"/>
          </a:p>
        </p:txBody>
      </p:sp>
      <p:sp>
        <p:nvSpPr>
          <p:cNvPr id="17" name="Text 15"/>
          <p:cNvSpPr txBox="1"/>
          <p:nvPr/>
        </p:nvSpPr>
        <p:spPr>
          <a:xfrm>
            <a:off x="548640" y="6035040"/>
            <a:ext cx="11094415" cy="365760"/>
          </a:xfrm>
          <a:prstGeom prst="rect">
            <a:avLst/>
          </a:prstGeom>
          <a:noFill/>
          <a:ln/>
        </p:spPr>
        <p:txBody>
          <a:bodyPr wrap="square" lIns="0" tIns="0" rIns="0" bIns="0" rtlCol="0" anchor="t"/>
          <a:lstStyle/>
          <a:p>
            <a:pPr indent="0" marL="0">
              <a:lnSpc>
                <a:spcPct val="130000"/>
              </a:lnSpc>
              <a:buNone/>
            </a:pPr>
            <a:r>
              <a:rPr lang="en-US" sz="1200" dirty="0">
                <a:solidFill>
                  <a:srgbClr val="6A7179"/>
                </a:solidFill>
                <a:latin typeface="Arial" pitchFamily="34" charset="0"/>
                <a:ea typeface="Arial" pitchFamily="34" charset="-122"/>
                <a:cs typeface="Arial" pitchFamily="34" charset="-120"/>
              </a:rPr>
              <a:t>CNCF = Cloud Native Computing Foundation, en del av Linux Foundation.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731520"/>
            <a:ext cx="11094415" cy="292608"/>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HISTORIK</a:t>
            </a:r>
            <a:endParaRPr lang="en-US" sz="1200" dirty="0"/>
          </a:p>
        </p:txBody>
      </p:sp>
      <p:sp>
        <p:nvSpPr>
          <p:cNvPr id="3" name="Shape 1"/>
          <p:cNvSpPr/>
          <p:nvPr/>
        </p:nvSpPr>
        <p:spPr>
          <a:xfrm>
            <a:off x="548640" y="1737360"/>
            <a:ext cx="2377440" cy="2377440"/>
          </a:xfrm>
          <a:prstGeom prst="ellipse">
            <a:avLst/>
          </a:prstGeom>
          <a:solidFill>
            <a:srgbClr val="0F1F33"/>
          </a:solidFill>
          <a:ln w="63500">
            <a:solidFill>
              <a:srgbClr val="3762FF"/>
            </a:solidFill>
            <a:prstDash val="solid"/>
          </a:ln>
        </p:spPr>
      </p:sp>
      <p:sp>
        <p:nvSpPr>
          <p:cNvPr id="4" name="Text 2"/>
          <p:cNvSpPr txBox="1"/>
          <p:nvPr/>
        </p:nvSpPr>
        <p:spPr>
          <a:xfrm>
            <a:off x="548640" y="1737360"/>
            <a:ext cx="2377440" cy="2377440"/>
          </a:xfrm>
          <a:prstGeom prst="rect">
            <a:avLst/>
          </a:prstGeom>
          <a:noFill/>
          <a:ln/>
        </p:spPr>
        <p:txBody>
          <a:bodyPr wrap="square" lIns="0" tIns="0" rIns="0" bIns="0" rtlCol="0" anchor="ctr"/>
          <a:lstStyle/>
          <a:p>
            <a:pPr algn="ctr" indent="0" marL="0">
              <a:buNone/>
            </a:pPr>
            <a:r>
              <a:rPr lang="en-US" sz="4200" b="1" dirty="0">
                <a:solidFill>
                  <a:srgbClr val="F5F7FA"/>
                </a:solidFill>
                <a:latin typeface="Calibri" pitchFamily="34" charset="0"/>
                <a:ea typeface="Calibri" pitchFamily="34" charset="-122"/>
                <a:cs typeface="Calibri" pitchFamily="34" charset="-120"/>
              </a:rPr>
              <a:t>K8s</a:t>
            </a:r>
            <a:endParaRPr lang="en-US" sz="4200" dirty="0"/>
          </a:p>
        </p:txBody>
      </p:sp>
      <p:sp>
        <p:nvSpPr>
          <p:cNvPr id="5" name="Text 3"/>
          <p:cNvSpPr txBox="1"/>
          <p:nvPr/>
        </p:nvSpPr>
        <p:spPr>
          <a:xfrm>
            <a:off x="3566160" y="1783080"/>
            <a:ext cx="8046720" cy="640080"/>
          </a:xfrm>
          <a:prstGeom prst="rect">
            <a:avLst/>
          </a:prstGeom>
          <a:noFill/>
          <a:ln/>
        </p:spPr>
        <p:txBody>
          <a:bodyPr wrap="square" lIns="0" tIns="0" rIns="0" bIns="0" rtlCol="0" anchor="ctr"/>
          <a:lstStyle/>
          <a:p>
            <a:pPr indent="0" marL="0">
              <a:buNone/>
            </a:pPr>
            <a:r>
              <a:rPr lang="en-US" sz="2800" b="1" dirty="0">
                <a:solidFill>
                  <a:srgbClr val="F5F7FA"/>
                </a:solidFill>
                <a:latin typeface="Calibri" pitchFamily="34" charset="0"/>
                <a:ea typeface="Calibri" pitchFamily="34" charset="-122"/>
                <a:cs typeface="Calibri" pitchFamily="34" charset="-120"/>
              </a:rPr>
              <a:t>Namnet och smeknamnet</a:t>
            </a:r>
            <a:endParaRPr lang="en-US" sz="2800" dirty="0"/>
          </a:p>
        </p:txBody>
      </p:sp>
      <p:sp>
        <p:nvSpPr>
          <p:cNvPr id="6" name="Text 4"/>
          <p:cNvSpPr txBox="1"/>
          <p:nvPr/>
        </p:nvSpPr>
        <p:spPr>
          <a:xfrm>
            <a:off x="3566160" y="2514600"/>
            <a:ext cx="8046720" cy="1005840"/>
          </a:xfrm>
          <a:prstGeom prst="rect">
            <a:avLst/>
          </a:prstGeom>
          <a:noFill/>
          <a:ln/>
        </p:spPr>
        <p:txBody>
          <a:bodyPr wrap="square" lIns="0" tIns="0" rIns="0" bIns="0" rtlCol="0" anchor="t"/>
          <a:lstStyle/>
          <a:p>
            <a:pPr indent="0" marL="0">
              <a:lnSpc>
                <a:spcPct val="130000"/>
              </a:lnSpc>
              <a:buNone/>
            </a:pPr>
            <a:r>
              <a:rPr lang="en-US" sz="1500" dirty="0">
                <a:solidFill>
                  <a:srgbClr val="B9C4D1"/>
                </a:solidFill>
                <a:latin typeface="Arial" pitchFamily="34" charset="0"/>
                <a:ea typeface="Arial" pitchFamily="34" charset="-122"/>
                <a:cs typeface="Arial" pitchFamily="34" charset="-120"/>
              </a:rPr>
              <a:t>“Kubernetes” kommer från grekiskans kybernētēs - rorsman eller pilot. Samma rot som orden “cybernetik” och “guvernör”.</a:t>
            </a:r>
            <a:endParaRPr lang="en-US" sz="1500" dirty="0"/>
          </a:p>
        </p:txBody>
      </p:sp>
      <p:sp>
        <p:nvSpPr>
          <p:cNvPr id="7" name="Text 5"/>
          <p:cNvSpPr txBox="1"/>
          <p:nvPr/>
        </p:nvSpPr>
        <p:spPr>
          <a:xfrm>
            <a:off x="3566160" y="3657600"/>
            <a:ext cx="8046720" cy="1188720"/>
          </a:xfrm>
          <a:prstGeom prst="rect">
            <a:avLst/>
          </a:prstGeom>
          <a:noFill/>
          <a:ln/>
        </p:spPr>
        <p:txBody>
          <a:bodyPr wrap="square" lIns="0" tIns="0" rIns="0" bIns="0" rtlCol="0" anchor="t"/>
          <a:lstStyle/>
          <a:p>
            <a:pPr indent="0" marL="0">
              <a:lnSpc>
                <a:spcPct val="130000"/>
              </a:lnSpc>
              <a:buNone/>
            </a:pPr>
            <a:r>
              <a:rPr lang="en-US" sz="1500" dirty="0">
                <a:solidFill>
                  <a:srgbClr val="B9C4D1"/>
                </a:solidFill>
                <a:latin typeface="Arial" pitchFamily="34" charset="0"/>
                <a:ea typeface="Arial" pitchFamily="34" charset="-122"/>
                <a:cs typeface="Arial" pitchFamily="34" charset="-120"/>
              </a:rPr>
              <a:t>“K8s” är en förkortning: K, åtta bokstäver, s. Loggans ratt med sju ekrar syftar på projektets kodnamn “Project Seven” (en referens till Star Trek).</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HISTORIK</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Kubernetes idag</a:t>
            </a:r>
            <a:endParaRPr lang="en-US" sz="2700" dirty="0"/>
          </a:p>
        </p:txBody>
      </p:sp>
      <p:sp>
        <p:nvSpPr>
          <p:cNvPr id="4" name="Shape 2"/>
          <p:cNvSpPr/>
          <p:nvPr/>
        </p:nvSpPr>
        <p:spPr>
          <a:xfrm>
            <a:off x="548640" y="1737360"/>
            <a:ext cx="2602154" cy="1920240"/>
          </a:xfrm>
          <a:prstGeom prst="roundRect">
            <a:avLst>
              <a:gd name="adj" fmla="val 4762"/>
            </a:avLst>
          </a:prstGeom>
          <a:solidFill>
            <a:srgbClr val="FFFFFF"/>
          </a:solidFill>
          <a:ln w="12700">
            <a:solidFill>
              <a:srgbClr val="E4E7EC"/>
            </a:solidFill>
            <a:prstDash val="solid"/>
          </a:ln>
        </p:spPr>
      </p:sp>
      <p:sp>
        <p:nvSpPr>
          <p:cNvPr id="5" name="Text 3"/>
          <p:cNvSpPr txBox="1"/>
          <p:nvPr/>
        </p:nvSpPr>
        <p:spPr>
          <a:xfrm>
            <a:off x="731520" y="1874520"/>
            <a:ext cx="2236394" cy="914400"/>
          </a:xfrm>
          <a:prstGeom prst="rect">
            <a:avLst/>
          </a:prstGeom>
          <a:noFill/>
          <a:ln/>
        </p:spPr>
        <p:txBody>
          <a:bodyPr wrap="square" lIns="0" tIns="0" rIns="0" bIns="0" rtlCol="0" anchor="ctr"/>
          <a:lstStyle/>
          <a:p>
            <a:pPr indent="0" marL="0">
              <a:buNone/>
            </a:pPr>
            <a:r>
              <a:rPr lang="en-US" sz="3400" b="1" dirty="0">
                <a:solidFill>
                  <a:srgbClr val="3762FF"/>
                </a:solidFill>
                <a:latin typeface="Calibri" pitchFamily="34" charset="0"/>
                <a:ea typeface="Calibri" pitchFamily="34" charset="-122"/>
                <a:cs typeface="Calibri" pitchFamily="34" charset="-120"/>
              </a:rPr>
              <a:t>88 000+</a:t>
            </a:r>
            <a:endParaRPr lang="en-US" sz="3400" dirty="0"/>
          </a:p>
        </p:txBody>
      </p:sp>
      <p:sp>
        <p:nvSpPr>
          <p:cNvPr id="6" name="Text 4"/>
          <p:cNvSpPr txBox="1"/>
          <p:nvPr/>
        </p:nvSpPr>
        <p:spPr>
          <a:xfrm>
            <a:off x="731520" y="2788920"/>
            <a:ext cx="2236394" cy="777240"/>
          </a:xfrm>
          <a:prstGeom prst="rect">
            <a:avLst/>
          </a:prstGeom>
          <a:noFill/>
          <a:ln/>
        </p:spPr>
        <p:txBody>
          <a:bodyPr wrap="square" lIns="0" tIns="0" rIns="0" bIns="0" rtlCol="0" anchor="t"/>
          <a:lstStyle/>
          <a:p>
            <a:pPr indent="0" marL="0">
              <a:buNone/>
            </a:pPr>
            <a:r>
              <a:rPr lang="en-US" sz="1200" dirty="0">
                <a:solidFill>
                  <a:srgbClr val="4A5568"/>
                </a:solidFill>
                <a:latin typeface="Arial" pitchFamily="34" charset="0"/>
                <a:ea typeface="Arial" pitchFamily="34" charset="-122"/>
                <a:cs typeface="Arial" pitchFamily="34" charset="-120"/>
              </a:rPr>
              <a:t>bidragsgivare på GitHub</a:t>
            </a:r>
            <a:endParaRPr lang="en-US" sz="1200" dirty="0"/>
          </a:p>
        </p:txBody>
      </p:sp>
      <p:sp>
        <p:nvSpPr>
          <p:cNvPr id="7" name="Shape 5"/>
          <p:cNvSpPr/>
          <p:nvPr/>
        </p:nvSpPr>
        <p:spPr>
          <a:xfrm>
            <a:off x="3379394" y="1737360"/>
            <a:ext cx="2602154" cy="1920240"/>
          </a:xfrm>
          <a:prstGeom prst="roundRect">
            <a:avLst>
              <a:gd name="adj" fmla="val 4762"/>
            </a:avLst>
          </a:prstGeom>
          <a:solidFill>
            <a:srgbClr val="FFFFFF"/>
          </a:solidFill>
          <a:ln w="12700">
            <a:solidFill>
              <a:srgbClr val="E4E7EC"/>
            </a:solidFill>
            <a:prstDash val="solid"/>
          </a:ln>
        </p:spPr>
      </p:sp>
      <p:sp>
        <p:nvSpPr>
          <p:cNvPr id="8" name="Text 6"/>
          <p:cNvSpPr txBox="1"/>
          <p:nvPr/>
        </p:nvSpPr>
        <p:spPr>
          <a:xfrm>
            <a:off x="3562274" y="1874520"/>
            <a:ext cx="2236394" cy="914400"/>
          </a:xfrm>
          <a:prstGeom prst="rect">
            <a:avLst/>
          </a:prstGeom>
          <a:noFill/>
          <a:ln/>
        </p:spPr>
        <p:txBody>
          <a:bodyPr wrap="square" lIns="0" tIns="0" rIns="0" bIns="0" rtlCol="0" anchor="ctr"/>
          <a:lstStyle/>
          <a:p>
            <a:pPr indent="0" marL="0">
              <a:buNone/>
            </a:pPr>
            <a:r>
              <a:rPr lang="en-US" sz="3400" b="1" dirty="0">
                <a:solidFill>
                  <a:srgbClr val="3762FF"/>
                </a:solidFill>
                <a:latin typeface="Calibri" pitchFamily="34" charset="0"/>
                <a:ea typeface="Calibri" pitchFamily="34" charset="-122"/>
                <a:cs typeface="Calibri" pitchFamily="34" charset="-120"/>
              </a:rPr>
              <a:t>8 000+</a:t>
            </a:r>
            <a:endParaRPr lang="en-US" sz="3400" dirty="0"/>
          </a:p>
        </p:txBody>
      </p:sp>
      <p:sp>
        <p:nvSpPr>
          <p:cNvPr id="9" name="Text 7"/>
          <p:cNvSpPr txBox="1"/>
          <p:nvPr/>
        </p:nvSpPr>
        <p:spPr>
          <a:xfrm>
            <a:off x="3562274" y="2788920"/>
            <a:ext cx="2236394" cy="777240"/>
          </a:xfrm>
          <a:prstGeom prst="rect">
            <a:avLst/>
          </a:prstGeom>
          <a:noFill/>
          <a:ln/>
        </p:spPr>
        <p:txBody>
          <a:bodyPr wrap="square" lIns="0" tIns="0" rIns="0" bIns="0" rtlCol="0" anchor="t"/>
          <a:lstStyle/>
          <a:p>
            <a:pPr indent="0" marL="0">
              <a:buNone/>
            </a:pPr>
            <a:r>
              <a:rPr lang="en-US" sz="1200" dirty="0">
                <a:solidFill>
                  <a:srgbClr val="4A5568"/>
                </a:solidFill>
                <a:latin typeface="Arial" pitchFamily="34" charset="0"/>
                <a:ea typeface="Arial" pitchFamily="34" charset="-122"/>
                <a:cs typeface="Arial" pitchFamily="34" charset="-120"/>
              </a:rPr>
              <a:t>företag involverade</a:t>
            </a:r>
            <a:endParaRPr lang="en-US" sz="1200" dirty="0"/>
          </a:p>
        </p:txBody>
      </p:sp>
      <p:sp>
        <p:nvSpPr>
          <p:cNvPr id="10" name="Shape 8"/>
          <p:cNvSpPr/>
          <p:nvPr/>
        </p:nvSpPr>
        <p:spPr>
          <a:xfrm>
            <a:off x="6210148" y="1737360"/>
            <a:ext cx="2602154" cy="1920240"/>
          </a:xfrm>
          <a:prstGeom prst="roundRect">
            <a:avLst>
              <a:gd name="adj" fmla="val 4762"/>
            </a:avLst>
          </a:prstGeom>
          <a:solidFill>
            <a:srgbClr val="FFFFFF"/>
          </a:solidFill>
          <a:ln w="12700">
            <a:solidFill>
              <a:srgbClr val="E4E7EC"/>
            </a:solidFill>
            <a:prstDash val="solid"/>
          </a:ln>
        </p:spPr>
      </p:sp>
      <p:sp>
        <p:nvSpPr>
          <p:cNvPr id="11" name="Text 9"/>
          <p:cNvSpPr txBox="1"/>
          <p:nvPr/>
        </p:nvSpPr>
        <p:spPr>
          <a:xfrm>
            <a:off x="6393028" y="1874520"/>
            <a:ext cx="2236394" cy="914400"/>
          </a:xfrm>
          <a:prstGeom prst="rect">
            <a:avLst/>
          </a:prstGeom>
          <a:noFill/>
          <a:ln/>
        </p:spPr>
        <p:txBody>
          <a:bodyPr wrap="square" lIns="0" tIns="0" rIns="0" bIns="0" rtlCol="0" anchor="ctr"/>
          <a:lstStyle/>
          <a:p>
            <a:pPr indent="0" marL="0">
              <a:buNone/>
            </a:pPr>
            <a:r>
              <a:rPr lang="en-US" sz="3400" b="1" dirty="0">
                <a:solidFill>
                  <a:srgbClr val="3762FF"/>
                </a:solidFill>
                <a:latin typeface="Calibri" pitchFamily="34" charset="0"/>
                <a:ea typeface="Calibri" pitchFamily="34" charset="-122"/>
                <a:cs typeface="Calibri" pitchFamily="34" charset="-120"/>
              </a:rPr>
              <a:t>44</a:t>
            </a:r>
            <a:endParaRPr lang="en-US" sz="3400" dirty="0"/>
          </a:p>
        </p:txBody>
      </p:sp>
      <p:sp>
        <p:nvSpPr>
          <p:cNvPr id="12" name="Text 10"/>
          <p:cNvSpPr txBox="1"/>
          <p:nvPr/>
        </p:nvSpPr>
        <p:spPr>
          <a:xfrm>
            <a:off x="6393028" y="2788920"/>
            <a:ext cx="2236394" cy="777240"/>
          </a:xfrm>
          <a:prstGeom prst="rect">
            <a:avLst/>
          </a:prstGeom>
          <a:noFill/>
          <a:ln/>
        </p:spPr>
        <p:txBody>
          <a:bodyPr wrap="square" lIns="0" tIns="0" rIns="0" bIns="0" rtlCol="0" anchor="t"/>
          <a:lstStyle/>
          <a:p>
            <a:pPr indent="0" marL="0">
              <a:buNone/>
            </a:pPr>
            <a:r>
              <a:rPr lang="en-US" sz="1200" dirty="0">
                <a:solidFill>
                  <a:srgbClr val="4A5568"/>
                </a:solidFill>
                <a:latin typeface="Arial" pitchFamily="34" charset="0"/>
                <a:ea typeface="Arial" pitchFamily="34" charset="-122"/>
                <a:cs typeface="Arial" pitchFamily="34" charset="-120"/>
              </a:rPr>
              <a:t>länder representerade</a:t>
            </a:r>
            <a:endParaRPr lang="en-US" sz="1200" dirty="0"/>
          </a:p>
        </p:txBody>
      </p:sp>
      <p:sp>
        <p:nvSpPr>
          <p:cNvPr id="13" name="Shape 11"/>
          <p:cNvSpPr/>
          <p:nvPr/>
        </p:nvSpPr>
        <p:spPr>
          <a:xfrm>
            <a:off x="9040901" y="1737360"/>
            <a:ext cx="2602154" cy="1920240"/>
          </a:xfrm>
          <a:prstGeom prst="roundRect">
            <a:avLst>
              <a:gd name="adj" fmla="val 4762"/>
            </a:avLst>
          </a:prstGeom>
          <a:solidFill>
            <a:srgbClr val="FFFFFF"/>
          </a:solidFill>
          <a:ln w="12700">
            <a:solidFill>
              <a:srgbClr val="E4E7EC"/>
            </a:solidFill>
            <a:prstDash val="solid"/>
          </a:ln>
        </p:spPr>
      </p:sp>
      <p:sp>
        <p:nvSpPr>
          <p:cNvPr id="14" name="Text 12"/>
          <p:cNvSpPr txBox="1"/>
          <p:nvPr/>
        </p:nvSpPr>
        <p:spPr>
          <a:xfrm>
            <a:off x="9223781" y="1874520"/>
            <a:ext cx="2236394" cy="914400"/>
          </a:xfrm>
          <a:prstGeom prst="rect">
            <a:avLst/>
          </a:prstGeom>
          <a:noFill/>
          <a:ln/>
        </p:spPr>
        <p:txBody>
          <a:bodyPr wrap="square" lIns="0" tIns="0" rIns="0" bIns="0" rtlCol="0" anchor="ctr"/>
          <a:lstStyle/>
          <a:p>
            <a:pPr indent="0" marL="0">
              <a:buNone/>
            </a:pPr>
            <a:r>
              <a:rPr lang="en-US" sz="3400" b="1" dirty="0">
                <a:solidFill>
                  <a:srgbClr val="3762FF"/>
                </a:solidFill>
                <a:latin typeface="Calibri" pitchFamily="34" charset="0"/>
                <a:ea typeface="Calibri" pitchFamily="34" charset="-122"/>
                <a:cs typeface="Calibri" pitchFamily="34" charset="-120"/>
              </a:rPr>
              <a:t>#1</a:t>
            </a:r>
            <a:endParaRPr lang="en-US" sz="3400" dirty="0"/>
          </a:p>
        </p:txBody>
      </p:sp>
      <p:sp>
        <p:nvSpPr>
          <p:cNvPr id="15" name="Text 13"/>
          <p:cNvSpPr txBox="1"/>
          <p:nvPr/>
        </p:nvSpPr>
        <p:spPr>
          <a:xfrm>
            <a:off x="9223781" y="2788920"/>
            <a:ext cx="2236394" cy="777240"/>
          </a:xfrm>
          <a:prstGeom prst="rect">
            <a:avLst/>
          </a:prstGeom>
          <a:noFill/>
          <a:ln/>
        </p:spPr>
        <p:txBody>
          <a:bodyPr wrap="square" lIns="0" tIns="0" rIns="0" bIns="0" rtlCol="0" anchor="t"/>
          <a:lstStyle/>
          <a:p>
            <a:pPr indent="0" marL="0">
              <a:buNone/>
            </a:pPr>
            <a:r>
              <a:rPr lang="en-US" sz="1200" dirty="0">
                <a:solidFill>
                  <a:srgbClr val="4A5568"/>
                </a:solidFill>
                <a:latin typeface="Arial" pitchFamily="34" charset="0"/>
                <a:ea typeface="Arial" pitchFamily="34" charset="-122"/>
                <a:cs typeface="Arial" pitchFamily="34" charset="-120"/>
              </a:rPr>
              <a:t>standarden för container-orkestrering</a:t>
            </a:r>
            <a:endParaRPr lang="en-US" sz="1200" dirty="0"/>
          </a:p>
        </p:txBody>
      </p:sp>
      <p:sp>
        <p:nvSpPr>
          <p:cNvPr id="16" name="Shape 14"/>
          <p:cNvSpPr/>
          <p:nvPr/>
        </p:nvSpPr>
        <p:spPr>
          <a:xfrm>
            <a:off x="548640" y="4023360"/>
            <a:ext cx="1472184" cy="502920"/>
          </a:xfrm>
          <a:prstGeom prst="roundRect">
            <a:avLst>
              <a:gd name="adj" fmla="val 18182"/>
            </a:avLst>
          </a:prstGeom>
          <a:solidFill>
            <a:srgbClr val="E8EDFF"/>
          </a:solidFill>
          <a:ln/>
        </p:spPr>
      </p:sp>
      <p:sp>
        <p:nvSpPr>
          <p:cNvPr id="17" name="Text 15"/>
          <p:cNvSpPr txBox="1"/>
          <p:nvPr/>
        </p:nvSpPr>
        <p:spPr>
          <a:xfrm>
            <a:off x="548640" y="4023360"/>
            <a:ext cx="1472184" cy="502920"/>
          </a:xfrm>
          <a:prstGeom prst="rect">
            <a:avLst/>
          </a:prstGeom>
          <a:noFill/>
          <a:ln/>
        </p:spPr>
        <p:txBody>
          <a:bodyPr wrap="square" lIns="0" tIns="0" rIns="0" bIns="0" rtlCol="0" anchor="ctr"/>
          <a:lstStyle/>
          <a:p>
            <a:pPr algn="ctr" indent="0" marL="0">
              <a:buNone/>
            </a:pPr>
            <a:r>
              <a:rPr lang="en-US" sz="1250" b="1" dirty="0">
                <a:solidFill>
                  <a:srgbClr val="16202B"/>
                </a:solidFill>
                <a:latin typeface="Arial" pitchFamily="34" charset="0"/>
                <a:ea typeface="Arial" pitchFamily="34" charset="-122"/>
                <a:cs typeface="Arial" pitchFamily="34" charset="-120"/>
              </a:rPr>
              <a:t>Skrivet i Go</a:t>
            </a:r>
            <a:endParaRPr lang="en-US" sz="1250" dirty="0"/>
          </a:p>
        </p:txBody>
      </p:sp>
      <p:sp>
        <p:nvSpPr>
          <p:cNvPr id="18" name="Shape 16"/>
          <p:cNvSpPr/>
          <p:nvPr/>
        </p:nvSpPr>
        <p:spPr>
          <a:xfrm>
            <a:off x="2249424" y="4023360"/>
            <a:ext cx="2720340" cy="502920"/>
          </a:xfrm>
          <a:prstGeom prst="roundRect">
            <a:avLst>
              <a:gd name="adj" fmla="val 18182"/>
            </a:avLst>
          </a:prstGeom>
          <a:solidFill>
            <a:srgbClr val="E8EDFF"/>
          </a:solidFill>
          <a:ln/>
        </p:spPr>
      </p:sp>
      <p:sp>
        <p:nvSpPr>
          <p:cNvPr id="19" name="Text 17"/>
          <p:cNvSpPr txBox="1"/>
          <p:nvPr/>
        </p:nvSpPr>
        <p:spPr>
          <a:xfrm>
            <a:off x="2249424" y="4023360"/>
            <a:ext cx="2720340" cy="502920"/>
          </a:xfrm>
          <a:prstGeom prst="rect">
            <a:avLst/>
          </a:prstGeom>
          <a:noFill/>
          <a:ln/>
        </p:spPr>
        <p:txBody>
          <a:bodyPr wrap="square" lIns="0" tIns="0" rIns="0" bIns="0" rtlCol="0" anchor="ctr"/>
          <a:lstStyle/>
          <a:p>
            <a:pPr algn="ctr" indent="0" marL="0">
              <a:buNone/>
            </a:pPr>
            <a:r>
              <a:rPr lang="en-US" sz="1250" b="1" dirty="0">
                <a:solidFill>
                  <a:srgbClr val="16202B"/>
                </a:solidFill>
                <a:latin typeface="Arial" pitchFamily="34" charset="0"/>
                <a:ea typeface="Arial" pitchFamily="34" charset="-122"/>
                <a:cs typeface="Arial" pitchFamily="34" charset="-120"/>
              </a:rPr>
              <a:t>Öppen källkod, Apache 2.0</a:t>
            </a:r>
            <a:endParaRPr lang="en-US" sz="1250" dirty="0"/>
          </a:p>
        </p:txBody>
      </p:sp>
      <p:sp>
        <p:nvSpPr>
          <p:cNvPr id="20" name="Shape 18"/>
          <p:cNvSpPr/>
          <p:nvPr/>
        </p:nvSpPr>
        <p:spPr>
          <a:xfrm>
            <a:off x="5198364" y="4023360"/>
            <a:ext cx="1952244" cy="502920"/>
          </a:xfrm>
          <a:prstGeom prst="roundRect">
            <a:avLst>
              <a:gd name="adj" fmla="val 18182"/>
            </a:avLst>
          </a:prstGeom>
          <a:solidFill>
            <a:srgbClr val="E8EDFF"/>
          </a:solidFill>
          <a:ln/>
        </p:spPr>
      </p:sp>
      <p:sp>
        <p:nvSpPr>
          <p:cNvPr id="21" name="Text 19"/>
          <p:cNvSpPr txBox="1"/>
          <p:nvPr/>
        </p:nvSpPr>
        <p:spPr>
          <a:xfrm>
            <a:off x="5198364" y="4023360"/>
            <a:ext cx="1952244" cy="502920"/>
          </a:xfrm>
          <a:prstGeom prst="rect">
            <a:avLst/>
          </a:prstGeom>
          <a:noFill/>
          <a:ln/>
        </p:spPr>
        <p:txBody>
          <a:bodyPr wrap="square" lIns="0" tIns="0" rIns="0" bIns="0" rtlCol="0" anchor="ctr"/>
          <a:lstStyle/>
          <a:p>
            <a:pPr algn="ctr" indent="0" marL="0">
              <a:buNone/>
            </a:pPr>
            <a:r>
              <a:rPr lang="en-US" sz="1250" b="1" dirty="0">
                <a:solidFill>
                  <a:srgbClr val="16202B"/>
                </a:solidFill>
                <a:latin typeface="Arial" pitchFamily="34" charset="0"/>
                <a:ea typeface="Arial" pitchFamily="34" charset="-122"/>
                <a:cs typeface="Arial" pitchFamily="34" charset="-120"/>
              </a:rPr>
              <a:t>Förvaltas av CNCF</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914400"/>
            <a:ext cx="4572000" cy="23774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03</a:t>
            </a:r>
            <a:endParaRPr lang="en-US" sz="15000" dirty="0"/>
          </a:p>
        </p:txBody>
      </p:sp>
      <p:sp>
        <p:nvSpPr>
          <p:cNvPr id="3" name="Text 1"/>
          <p:cNvSpPr txBox="1"/>
          <p:nvPr/>
        </p:nvSpPr>
        <p:spPr>
          <a:xfrm>
            <a:off x="548640" y="3200400"/>
            <a:ext cx="9144000" cy="100584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Arkitektur</a:t>
            </a:r>
            <a:endParaRPr lang="en-US" sz="5200" dirty="0"/>
          </a:p>
        </p:txBody>
      </p:sp>
      <p:sp>
        <p:nvSpPr>
          <p:cNvPr id="4" name="Text 2"/>
          <p:cNvSpPr txBox="1"/>
          <p:nvPr/>
        </p:nvSpPr>
        <p:spPr>
          <a:xfrm>
            <a:off x="548640" y="4206240"/>
            <a:ext cx="8229600" cy="548640"/>
          </a:xfrm>
          <a:prstGeom prst="rect">
            <a:avLst/>
          </a:prstGeom>
          <a:noFill/>
          <a:ln/>
        </p:spPr>
        <p:txBody>
          <a:bodyPr wrap="square" lIns="0" tIns="0" rIns="0" bIns="0" rtlCol="0" anchor="ctr"/>
          <a:lstStyle/>
          <a:p>
            <a:pPr indent="0" marL="0">
              <a:buNone/>
            </a:pPr>
            <a:r>
              <a:rPr lang="en-US" sz="1800" dirty="0">
                <a:solidFill>
                  <a:srgbClr val="B9C4D1"/>
                </a:solidFill>
                <a:latin typeface="Arial" pitchFamily="34" charset="0"/>
                <a:ea typeface="Arial" pitchFamily="34" charset="-122"/>
                <a:cs typeface="Arial" pitchFamily="34" charset="-120"/>
              </a:rPr>
              <a:t>Klustrets anatomi: control plane och worker-noder</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ARKITEKTUR</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Vad är ett kluster?</a:t>
            </a:r>
            <a:endParaRPr lang="en-US" sz="2700" dirty="0"/>
          </a:p>
        </p:txBody>
      </p:sp>
      <p:sp>
        <p:nvSpPr>
          <p:cNvPr id="4" name="Text 2"/>
          <p:cNvSpPr txBox="1"/>
          <p:nvPr/>
        </p:nvSpPr>
        <p:spPr>
          <a:xfrm>
            <a:off x="548640" y="1828800"/>
            <a:ext cx="5120640" cy="3108960"/>
          </a:xfrm>
          <a:prstGeom prst="rect">
            <a:avLst/>
          </a:prstGeom>
          <a:noFill/>
          <a:ln/>
        </p:spPr>
        <p:txBody>
          <a:bodyPr wrap="square" lIns="0" tIns="0" rIns="0" bIns="0" rtlCol="0" anchor="t"/>
          <a:lstStyle/>
          <a:p>
            <a:pPr indent="0" marL="0">
              <a:lnSpc>
                <a:spcPct val="130000"/>
              </a:lnSpc>
              <a:buNone/>
            </a:pPr>
            <a:r>
              <a:rPr lang="en-US" sz="1500" dirty="0">
                <a:solidFill>
                  <a:srgbClr val="4A5568"/>
                </a:solidFill>
                <a:latin typeface="Arial" pitchFamily="34" charset="0"/>
                <a:ea typeface="Arial" pitchFamily="34" charset="-122"/>
                <a:cs typeface="Arial" pitchFamily="34" charset="-120"/>
              </a:rPr>
              <a:t>Ett kluster är en grupp maskiner - fysiska eller virtuella - som Kubernetes behandlar som EN gemensam resurs. Ni pratar aldrig med en enskild maskin. Ni pratar med klustret, och Kubernetes bestämmer var saker faktiskt körs.</a:t>
            </a:r>
            <a:endParaRPr lang="en-US" sz="1500" dirty="0"/>
          </a:p>
        </p:txBody>
      </p:sp>
      <p:sp>
        <p:nvSpPr>
          <p:cNvPr id="5" name="Shape 3"/>
          <p:cNvSpPr/>
          <p:nvPr/>
        </p:nvSpPr>
        <p:spPr>
          <a:xfrm>
            <a:off x="6126480" y="1783080"/>
            <a:ext cx="5513832" cy="4023360"/>
          </a:xfrm>
          <a:prstGeom prst="roundRect">
            <a:avLst>
              <a:gd name="adj" fmla="val 2273"/>
            </a:avLst>
          </a:prstGeom>
          <a:solidFill>
            <a:srgbClr val="FFFFFF"/>
          </a:solidFill>
          <a:ln w="12700">
            <a:solidFill>
              <a:srgbClr val="E4E7EC"/>
            </a:solidFill>
            <a:prstDash val="solid"/>
          </a:ln>
        </p:spPr>
      </p:sp>
      <p:sp>
        <p:nvSpPr>
          <p:cNvPr id="6" name="Text 4"/>
          <p:cNvSpPr txBox="1"/>
          <p:nvPr/>
        </p:nvSpPr>
        <p:spPr>
          <a:xfrm>
            <a:off x="6355080" y="1965960"/>
            <a:ext cx="5029200" cy="274320"/>
          </a:xfrm>
          <a:prstGeom prst="rect">
            <a:avLst/>
          </a:prstGeom>
          <a:noFill/>
          <a:ln/>
        </p:spPr>
        <p:txBody>
          <a:bodyPr wrap="square" lIns="0" tIns="0" rIns="0" bIns="0" rtlCol="0" anchor="ctr"/>
          <a:lstStyle/>
          <a:p>
            <a:pPr indent="0" marL="0">
              <a:buNone/>
            </a:pPr>
            <a:r>
              <a:rPr lang="en-US" sz="1100" b="1" dirty="0">
                <a:solidFill>
                  <a:srgbClr val="6A7179"/>
                </a:solidFill>
                <a:latin typeface="Arial" pitchFamily="34" charset="0"/>
                <a:ea typeface="Arial" pitchFamily="34" charset="-122"/>
                <a:cs typeface="Arial" pitchFamily="34" charset="-120"/>
              </a:rPr>
              <a:t>ETT KLUSTER</a:t>
            </a:r>
            <a:endParaRPr lang="en-US" sz="1100" dirty="0"/>
          </a:p>
        </p:txBody>
      </p:sp>
      <p:sp>
        <p:nvSpPr>
          <p:cNvPr id="7" name="Shape 5"/>
          <p:cNvSpPr/>
          <p:nvPr/>
        </p:nvSpPr>
        <p:spPr>
          <a:xfrm>
            <a:off x="6355080" y="2331720"/>
            <a:ext cx="1554480" cy="777240"/>
          </a:xfrm>
          <a:prstGeom prst="roundRect">
            <a:avLst>
              <a:gd name="adj" fmla="val 11765"/>
            </a:avLst>
          </a:prstGeom>
          <a:solidFill>
            <a:srgbClr val="0F1F33"/>
          </a:solidFill>
          <a:ln/>
        </p:spPr>
      </p:sp>
      <p:sp>
        <p:nvSpPr>
          <p:cNvPr id="8" name="Text 6"/>
          <p:cNvSpPr txBox="1"/>
          <p:nvPr/>
        </p:nvSpPr>
        <p:spPr>
          <a:xfrm>
            <a:off x="6446520" y="2331720"/>
            <a:ext cx="1371600" cy="777240"/>
          </a:xfrm>
          <a:prstGeom prst="rect">
            <a:avLst/>
          </a:prstGeom>
          <a:noFill/>
          <a:ln/>
        </p:spPr>
        <p:txBody>
          <a:bodyPr wrap="square" lIns="0" tIns="0" rIns="0" bIns="0" rtlCol="0" anchor="ctr"/>
          <a:lstStyle/>
          <a:p>
            <a:pPr algn="ctr" indent="0" marL="0">
              <a:buNone/>
            </a:pPr>
            <a:r>
              <a:rPr lang="en-US" sz="1150" b="1" dirty="0">
                <a:solidFill>
                  <a:srgbClr val="F5F7FA"/>
                </a:solidFill>
                <a:latin typeface="Arial" pitchFamily="34" charset="0"/>
                <a:ea typeface="Arial" pitchFamily="34" charset="-122"/>
                <a:cs typeface="Arial" pitchFamily="34" charset="-120"/>
              </a:rPr>
              <a:t>Nod (control plane)</a:t>
            </a:r>
            <a:endParaRPr lang="en-US" sz="1150" dirty="0"/>
          </a:p>
        </p:txBody>
      </p:sp>
      <p:sp>
        <p:nvSpPr>
          <p:cNvPr id="9" name="Shape 7"/>
          <p:cNvSpPr/>
          <p:nvPr/>
        </p:nvSpPr>
        <p:spPr>
          <a:xfrm>
            <a:off x="8092440" y="2331720"/>
            <a:ext cx="1554480" cy="777240"/>
          </a:xfrm>
          <a:prstGeom prst="roundRect">
            <a:avLst>
              <a:gd name="adj" fmla="val 11765"/>
            </a:avLst>
          </a:prstGeom>
          <a:solidFill>
            <a:srgbClr val="6A7179"/>
          </a:solidFill>
          <a:ln/>
        </p:spPr>
      </p:sp>
      <p:sp>
        <p:nvSpPr>
          <p:cNvPr id="10" name="Text 8"/>
          <p:cNvSpPr txBox="1"/>
          <p:nvPr/>
        </p:nvSpPr>
        <p:spPr>
          <a:xfrm>
            <a:off x="8183880" y="2331720"/>
            <a:ext cx="1371600" cy="777240"/>
          </a:xfrm>
          <a:prstGeom prst="rect">
            <a:avLst/>
          </a:prstGeom>
          <a:noFill/>
          <a:ln/>
        </p:spPr>
        <p:txBody>
          <a:bodyPr wrap="square" lIns="0" tIns="0" rIns="0" bIns="0" rtlCol="0" anchor="ctr"/>
          <a:lstStyle/>
          <a:p>
            <a:pPr algn="ctr" indent="0" marL="0">
              <a:buNone/>
            </a:pPr>
            <a:r>
              <a:rPr lang="en-US" sz="1150" b="1" dirty="0">
                <a:solidFill>
                  <a:srgbClr val="F5F7FA"/>
                </a:solidFill>
                <a:latin typeface="Arial" pitchFamily="34" charset="0"/>
                <a:ea typeface="Arial" pitchFamily="34" charset="-122"/>
                <a:cs typeface="Arial" pitchFamily="34" charset="-120"/>
              </a:rPr>
              <a:t>Nod</a:t>
            </a:r>
            <a:endParaRPr lang="en-US" sz="1150" dirty="0"/>
          </a:p>
        </p:txBody>
      </p:sp>
      <p:sp>
        <p:nvSpPr>
          <p:cNvPr id="11" name="Shape 9"/>
          <p:cNvSpPr/>
          <p:nvPr/>
        </p:nvSpPr>
        <p:spPr>
          <a:xfrm>
            <a:off x="9829800" y="2331720"/>
            <a:ext cx="1554480" cy="777240"/>
          </a:xfrm>
          <a:prstGeom prst="roundRect">
            <a:avLst>
              <a:gd name="adj" fmla="val 11765"/>
            </a:avLst>
          </a:prstGeom>
          <a:solidFill>
            <a:srgbClr val="6A7179"/>
          </a:solidFill>
          <a:ln/>
        </p:spPr>
      </p:sp>
      <p:sp>
        <p:nvSpPr>
          <p:cNvPr id="12" name="Text 10"/>
          <p:cNvSpPr txBox="1"/>
          <p:nvPr/>
        </p:nvSpPr>
        <p:spPr>
          <a:xfrm>
            <a:off x="9921240" y="2331720"/>
            <a:ext cx="1371600" cy="777240"/>
          </a:xfrm>
          <a:prstGeom prst="rect">
            <a:avLst/>
          </a:prstGeom>
          <a:noFill/>
          <a:ln/>
        </p:spPr>
        <p:txBody>
          <a:bodyPr wrap="square" lIns="0" tIns="0" rIns="0" bIns="0" rtlCol="0" anchor="ctr"/>
          <a:lstStyle/>
          <a:p>
            <a:pPr algn="ctr" indent="0" marL="0">
              <a:buNone/>
            </a:pPr>
            <a:r>
              <a:rPr lang="en-US" sz="1150" b="1" dirty="0">
                <a:solidFill>
                  <a:srgbClr val="F5F7FA"/>
                </a:solidFill>
                <a:latin typeface="Arial" pitchFamily="34" charset="0"/>
                <a:ea typeface="Arial" pitchFamily="34" charset="-122"/>
                <a:cs typeface="Arial" pitchFamily="34" charset="-120"/>
              </a:rPr>
              <a:t>Nod</a:t>
            </a:r>
            <a:endParaRPr lang="en-US" sz="1150" dirty="0"/>
          </a:p>
        </p:txBody>
      </p:sp>
      <p:sp>
        <p:nvSpPr>
          <p:cNvPr id="13" name="Shape 11"/>
          <p:cNvSpPr/>
          <p:nvPr/>
        </p:nvSpPr>
        <p:spPr>
          <a:xfrm>
            <a:off x="6355080" y="3291840"/>
            <a:ext cx="1554480" cy="777240"/>
          </a:xfrm>
          <a:prstGeom prst="roundRect">
            <a:avLst>
              <a:gd name="adj" fmla="val 11765"/>
            </a:avLst>
          </a:prstGeom>
          <a:solidFill>
            <a:srgbClr val="6A7179"/>
          </a:solidFill>
          <a:ln/>
        </p:spPr>
      </p:sp>
      <p:sp>
        <p:nvSpPr>
          <p:cNvPr id="14" name="Text 12"/>
          <p:cNvSpPr txBox="1"/>
          <p:nvPr/>
        </p:nvSpPr>
        <p:spPr>
          <a:xfrm>
            <a:off x="6446520" y="3291840"/>
            <a:ext cx="1371600" cy="777240"/>
          </a:xfrm>
          <a:prstGeom prst="rect">
            <a:avLst/>
          </a:prstGeom>
          <a:noFill/>
          <a:ln/>
        </p:spPr>
        <p:txBody>
          <a:bodyPr wrap="square" lIns="0" tIns="0" rIns="0" bIns="0" rtlCol="0" anchor="ctr"/>
          <a:lstStyle/>
          <a:p>
            <a:pPr algn="ctr" indent="0" marL="0">
              <a:buNone/>
            </a:pPr>
            <a:r>
              <a:rPr lang="en-US" sz="1150" b="1" dirty="0">
                <a:solidFill>
                  <a:srgbClr val="F5F7FA"/>
                </a:solidFill>
                <a:latin typeface="Arial" pitchFamily="34" charset="0"/>
                <a:ea typeface="Arial" pitchFamily="34" charset="-122"/>
                <a:cs typeface="Arial" pitchFamily="34" charset="-120"/>
              </a:rPr>
              <a:t>Nod</a:t>
            </a:r>
            <a:endParaRPr lang="en-US" sz="1150" dirty="0"/>
          </a:p>
        </p:txBody>
      </p:sp>
      <p:sp>
        <p:nvSpPr>
          <p:cNvPr id="15" name="Shape 13"/>
          <p:cNvSpPr/>
          <p:nvPr/>
        </p:nvSpPr>
        <p:spPr>
          <a:xfrm>
            <a:off x="8092440" y="3291840"/>
            <a:ext cx="1554480" cy="777240"/>
          </a:xfrm>
          <a:prstGeom prst="roundRect">
            <a:avLst>
              <a:gd name="adj" fmla="val 11765"/>
            </a:avLst>
          </a:prstGeom>
          <a:solidFill>
            <a:srgbClr val="6A7179"/>
          </a:solidFill>
          <a:ln/>
        </p:spPr>
      </p:sp>
      <p:sp>
        <p:nvSpPr>
          <p:cNvPr id="16" name="Text 14"/>
          <p:cNvSpPr txBox="1"/>
          <p:nvPr/>
        </p:nvSpPr>
        <p:spPr>
          <a:xfrm>
            <a:off x="8183880" y="3291840"/>
            <a:ext cx="1371600" cy="777240"/>
          </a:xfrm>
          <a:prstGeom prst="rect">
            <a:avLst/>
          </a:prstGeom>
          <a:noFill/>
          <a:ln/>
        </p:spPr>
        <p:txBody>
          <a:bodyPr wrap="square" lIns="0" tIns="0" rIns="0" bIns="0" rtlCol="0" anchor="ctr"/>
          <a:lstStyle/>
          <a:p>
            <a:pPr algn="ctr" indent="0" marL="0">
              <a:buNone/>
            </a:pPr>
            <a:r>
              <a:rPr lang="en-US" sz="1150" b="1" dirty="0">
                <a:solidFill>
                  <a:srgbClr val="F5F7FA"/>
                </a:solidFill>
                <a:latin typeface="Arial" pitchFamily="34" charset="0"/>
                <a:ea typeface="Arial" pitchFamily="34" charset="-122"/>
                <a:cs typeface="Arial" pitchFamily="34" charset="-120"/>
              </a:rPr>
              <a:t>Nod</a:t>
            </a:r>
            <a:endParaRPr lang="en-US" sz="1150" dirty="0"/>
          </a:p>
        </p:txBody>
      </p:sp>
      <p:sp>
        <p:nvSpPr>
          <p:cNvPr id="17" name="Shape 15"/>
          <p:cNvSpPr/>
          <p:nvPr/>
        </p:nvSpPr>
        <p:spPr>
          <a:xfrm>
            <a:off x="9829800" y="3291840"/>
            <a:ext cx="1554480" cy="777240"/>
          </a:xfrm>
          <a:prstGeom prst="roundRect">
            <a:avLst>
              <a:gd name="adj" fmla="val 11765"/>
            </a:avLst>
          </a:prstGeom>
          <a:solidFill>
            <a:srgbClr val="6A7179"/>
          </a:solidFill>
          <a:ln/>
        </p:spPr>
      </p:sp>
      <p:sp>
        <p:nvSpPr>
          <p:cNvPr id="18" name="Text 16"/>
          <p:cNvSpPr txBox="1"/>
          <p:nvPr/>
        </p:nvSpPr>
        <p:spPr>
          <a:xfrm>
            <a:off x="9921240" y="3291840"/>
            <a:ext cx="1371600" cy="777240"/>
          </a:xfrm>
          <a:prstGeom prst="rect">
            <a:avLst/>
          </a:prstGeom>
          <a:noFill/>
          <a:ln/>
        </p:spPr>
        <p:txBody>
          <a:bodyPr wrap="square" lIns="0" tIns="0" rIns="0" bIns="0" rtlCol="0" anchor="ctr"/>
          <a:lstStyle/>
          <a:p>
            <a:pPr algn="ctr" indent="0" marL="0">
              <a:buNone/>
            </a:pPr>
            <a:r>
              <a:rPr lang="en-US" sz="1150" b="1" dirty="0">
                <a:solidFill>
                  <a:srgbClr val="F5F7FA"/>
                </a:solidFill>
                <a:latin typeface="Arial" pitchFamily="34" charset="0"/>
                <a:ea typeface="Arial" pitchFamily="34" charset="-122"/>
                <a:cs typeface="Arial" pitchFamily="34" charset="-120"/>
              </a:rPr>
              <a:t>Nod</a:t>
            </a:r>
            <a:endParaRPr lang="en-US" sz="1150" dirty="0"/>
          </a:p>
        </p:txBody>
      </p:sp>
      <p:sp>
        <p:nvSpPr>
          <p:cNvPr id="19" name="Text 17"/>
          <p:cNvSpPr txBox="1"/>
          <p:nvPr/>
        </p:nvSpPr>
        <p:spPr>
          <a:xfrm>
            <a:off x="6355080" y="4343400"/>
            <a:ext cx="5029200" cy="457200"/>
          </a:xfrm>
          <a:prstGeom prst="rect">
            <a:avLst/>
          </a:prstGeom>
          <a:noFill/>
          <a:ln/>
        </p:spPr>
        <p:txBody>
          <a:bodyPr wrap="square" lIns="0" tIns="0" rIns="0" bIns="0" rtlCol="0" anchor="t"/>
          <a:lstStyle/>
          <a:p>
            <a:pPr indent="0" marL="0">
              <a:lnSpc>
                <a:spcPct val="130000"/>
              </a:lnSpc>
              <a:buNone/>
            </a:pPr>
            <a:r>
              <a:rPr lang="en-US" sz="1150" dirty="0">
                <a:solidFill>
                  <a:srgbClr val="4A5568"/>
                </a:solidFill>
                <a:latin typeface="Arial" pitchFamily="34" charset="0"/>
                <a:ea typeface="Arial" pitchFamily="34" charset="-122"/>
                <a:cs typeface="Arial" pitchFamily="34" charset="-120"/>
              </a:rPr>
              <a:t>En mörk nod är control plane. Resten är worker-noder.</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ARKITEKTUR</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Control plane och worker-noder</a:t>
            </a:r>
            <a:endParaRPr lang="en-US" sz="2700" dirty="0"/>
          </a:p>
        </p:txBody>
      </p:sp>
      <p:sp>
        <p:nvSpPr>
          <p:cNvPr id="4" name="Shape 2"/>
          <p:cNvSpPr/>
          <p:nvPr/>
        </p:nvSpPr>
        <p:spPr>
          <a:xfrm>
            <a:off x="4175608" y="1691640"/>
            <a:ext cx="3840480" cy="914400"/>
          </a:xfrm>
          <a:prstGeom prst="roundRect">
            <a:avLst>
              <a:gd name="adj" fmla="val 10000"/>
            </a:avLst>
          </a:prstGeom>
          <a:solidFill>
            <a:srgbClr val="0F1F33"/>
          </a:solidFill>
          <a:ln/>
        </p:spPr>
      </p:sp>
      <p:sp>
        <p:nvSpPr>
          <p:cNvPr id="5" name="Text 3"/>
          <p:cNvSpPr txBox="1"/>
          <p:nvPr/>
        </p:nvSpPr>
        <p:spPr>
          <a:xfrm>
            <a:off x="4404208" y="1828800"/>
            <a:ext cx="3383280" cy="274320"/>
          </a:xfrm>
          <a:prstGeom prst="rect">
            <a:avLst/>
          </a:prstGeom>
          <a:noFill/>
          <a:ln/>
        </p:spPr>
        <p:txBody>
          <a:bodyPr wrap="square" lIns="0" tIns="0" rIns="0" bIns="0" rtlCol="0" anchor="ctr"/>
          <a:lstStyle/>
          <a:p>
            <a:pPr indent="0" marL="0">
              <a:buNone/>
            </a:pPr>
            <a:r>
              <a:rPr lang="en-US" sz="1100" b="1" dirty="0">
                <a:solidFill>
                  <a:srgbClr val="7C9CFF"/>
                </a:solidFill>
                <a:latin typeface="Arial" pitchFamily="34" charset="0"/>
                <a:ea typeface="Arial" pitchFamily="34" charset="-122"/>
                <a:cs typeface="Arial" pitchFamily="34" charset="-120"/>
              </a:rPr>
              <a:t>CONTROL PLANE</a:t>
            </a:r>
            <a:endParaRPr lang="en-US" sz="1100" dirty="0"/>
          </a:p>
        </p:txBody>
      </p:sp>
      <p:sp>
        <p:nvSpPr>
          <p:cNvPr id="6" name="Text 4"/>
          <p:cNvSpPr txBox="1"/>
          <p:nvPr/>
        </p:nvSpPr>
        <p:spPr>
          <a:xfrm>
            <a:off x="4404208" y="2103120"/>
            <a:ext cx="3383280" cy="457200"/>
          </a:xfrm>
          <a:prstGeom prst="rect">
            <a:avLst/>
          </a:prstGeom>
          <a:noFill/>
          <a:ln/>
        </p:spPr>
        <p:txBody>
          <a:bodyPr wrap="square" lIns="0" tIns="0" rIns="0" bIns="0"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Masternoden - klustrets hjärna</a:t>
            </a:r>
            <a:endParaRPr lang="en-US" sz="1600" dirty="0"/>
          </a:p>
        </p:txBody>
      </p:sp>
      <p:sp>
        <p:nvSpPr>
          <p:cNvPr id="7" name="Shape 5"/>
          <p:cNvSpPr/>
          <p:nvPr/>
        </p:nvSpPr>
        <p:spPr>
          <a:xfrm>
            <a:off x="6095848" y="2606040"/>
            <a:ext cx="0" cy="137160"/>
          </a:xfrm>
          <a:prstGeom prst="line">
            <a:avLst/>
          </a:prstGeom>
          <a:noFill/>
          <a:ln w="31750">
            <a:solidFill>
              <a:srgbClr val="3762FF"/>
            </a:solidFill>
            <a:prstDash val="solid"/>
          </a:ln>
        </p:spPr>
      </p:sp>
      <p:sp>
        <p:nvSpPr>
          <p:cNvPr id="8" name="Shape 6"/>
          <p:cNvSpPr/>
          <p:nvPr/>
        </p:nvSpPr>
        <p:spPr>
          <a:xfrm>
            <a:off x="2291029" y="2743200"/>
            <a:ext cx="7609637" cy="0"/>
          </a:xfrm>
          <a:prstGeom prst="line">
            <a:avLst/>
          </a:prstGeom>
          <a:noFill/>
          <a:ln w="31750">
            <a:solidFill>
              <a:srgbClr val="3762FF"/>
            </a:solidFill>
            <a:prstDash val="solid"/>
          </a:ln>
        </p:spPr>
      </p:sp>
      <p:sp>
        <p:nvSpPr>
          <p:cNvPr id="9" name="Shape 7"/>
          <p:cNvSpPr/>
          <p:nvPr/>
        </p:nvSpPr>
        <p:spPr>
          <a:xfrm>
            <a:off x="2291029" y="2743200"/>
            <a:ext cx="0" cy="274320"/>
          </a:xfrm>
          <a:prstGeom prst="line">
            <a:avLst/>
          </a:prstGeom>
          <a:noFill/>
          <a:ln w="31750">
            <a:solidFill>
              <a:srgbClr val="3762FF"/>
            </a:solidFill>
            <a:prstDash val="solid"/>
            <a:tailEnd type="triangle"/>
          </a:ln>
        </p:spPr>
      </p:sp>
      <p:sp>
        <p:nvSpPr>
          <p:cNvPr id="10" name="Shape 8"/>
          <p:cNvSpPr/>
          <p:nvPr/>
        </p:nvSpPr>
        <p:spPr>
          <a:xfrm>
            <a:off x="6095848" y="2743200"/>
            <a:ext cx="0" cy="274320"/>
          </a:xfrm>
          <a:prstGeom prst="line">
            <a:avLst/>
          </a:prstGeom>
          <a:noFill/>
          <a:ln w="31750">
            <a:solidFill>
              <a:srgbClr val="3762FF"/>
            </a:solidFill>
            <a:prstDash val="solid"/>
            <a:tailEnd type="triangle"/>
          </a:ln>
        </p:spPr>
      </p:sp>
      <p:sp>
        <p:nvSpPr>
          <p:cNvPr id="11" name="Shape 9"/>
          <p:cNvSpPr/>
          <p:nvPr/>
        </p:nvSpPr>
        <p:spPr>
          <a:xfrm>
            <a:off x="9900666" y="2743200"/>
            <a:ext cx="0" cy="274320"/>
          </a:xfrm>
          <a:prstGeom prst="line">
            <a:avLst/>
          </a:prstGeom>
          <a:noFill/>
          <a:ln w="31750">
            <a:solidFill>
              <a:srgbClr val="3762FF"/>
            </a:solidFill>
            <a:prstDash val="solid"/>
            <a:tailEnd type="triangle"/>
          </a:ln>
        </p:spPr>
      </p:sp>
      <p:sp>
        <p:nvSpPr>
          <p:cNvPr id="12" name="Shape 10"/>
          <p:cNvSpPr/>
          <p:nvPr/>
        </p:nvSpPr>
        <p:spPr>
          <a:xfrm>
            <a:off x="548640" y="3017520"/>
            <a:ext cx="3484778" cy="2880360"/>
          </a:xfrm>
          <a:prstGeom prst="roundRect">
            <a:avLst>
              <a:gd name="adj" fmla="val 3175"/>
            </a:avLst>
          </a:prstGeom>
          <a:solidFill>
            <a:srgbClr val="FFFFFF"/>
          </a:solidFill>
          <a:ln w="19050">
            <a:solidFill>
              <a:srgbClr val="16202B"/>
            </a:solidFill>
            <a:prstDash val="solid"/>
          </a:ln>
        </p:spPr>
      </p:sp>
      <p:sp>
        <p:nvSpPr>
          <p:cNvPr id="13" name="Text 11"/>
          <p:cNvSpPr txBox="1"/>
          <p:nvPr/>
        </p:nvSpPr>
        <p:spPr>
          <a:xfrm>
            <a:off x="731520" y="3154680"/>
            <a:ext cx="3119018" cy="256032"/>
          </a:xfrm>
          <a:prstGeom prst="rect">
            <a:avLst/>
          </a:prstGeom>
          <a:noFill/>
          <a:ln/>
        </p:spPr>
        <p:txBody>
          <a:bodyPr wrap="square" lIns="0" tIns="0" rIns="0" bIns="0" rtlCol="0" anchor="ctr"/>
          <a:lstStyle/>
          <a:p>
            <a:pPr indent="0" marL="0">
              <a:buNone/>
            </a:pPr>
            <a:r>
              <a:rPr lang="en-US" sz="1050" b="1" dirty="0">
                <a:solidFill>
                  <a:srgbClr val="6A7179"/>
                </a:solidFill>
                <a:latin typeface="Arial" pitchFamily="34" charset="0"/>
                <a:ea typeface="Arial" pitchFamily="34" charset="-122"/>
                <a:cs typeface="Arial" pitchFamily="34" charset="-120"/>
              </a:rPr>
              <a:t>WORKER-NOD 1</a:t>
            </a:r>
            <a:endParaRPr lang="en-US" sz="1050" dirty="0"/>
          </a:p>
        </p:txBody>
      </p:sp>
      <p:sp>
        <p:nvSpPr>
          <p:cNvPr id="14" name="Text 12"/>
          <p:cNvSpPr txBox="1"/>
          <p:nvPr/>
        </p:nvSpPr>
        <p:spPr>
          <a:xfrm>
            <a:off x="731520" y="3429000"/>
            <a:ext cx="3119018" cy="365760"/>
          </a:xfrm>
          <a:prstGeom prst="rect">
            <a:avLst/>
          </a:prstGeom>
          <a:noFill/>
          <a:ln/>
        </p:spPr>
        <p:txBody>
          <a:bodyPr wrap="square" lIns="0" tIns="0" rIns="0" bIns="0" rtlCol="0" anchor="ctr"/>
          <a:lstStyle/>
          <a:p>
            <a:pPr indent="0" marL="0">
              <a:buNone/>
            </a:pPr>
            <a:r>
              <a:rPr lang="en-US" sz="1600" b="1" dirty="0">
                <a:solidFill>
                  <a:srgbClr val="16202B"/>
                </a:solidFill>
                <a:latin typeface="Calibri" pitchFamily="34" charset="0"/>
                <a:ea typeface="Calibri" pitchFamily="34" charset="-122"/>
                <a:cs typeface="Calibri" pitchFamily="34" charset="-120"/>
              </a:rPr>
              <a:t>Agentnod</a:t>
            </a:r>
            <a:endParaRPr lang="en-US" sz="1600" dirty="0"/>
          </a:p>
        </p:txBody>
      </p:sp>
      <p:sp>
        <p:nvSpPr>
          <p:cNvPr id="15" name="Text 13"/>
          <p:cNvSpPr txBox="1"/>
          <p:nvPr/>
        </p:nvSpPr>
        <p:spPr>
          <a:xfrm>
            <a:off x="731520" y="3822192"/>
            <a:ext cx="3119018" cy="640080"/>
          </a:xfrm>
          <a:prstGeom prst="rect">
            <a:avLst/>
          </a:prstGeom>
          <a:noFill/>
          <a:ln/>
        </p:spPr>
        <p:txBody>
          <a:bodyPr wrap="square" lIns="0" tIns="0" rIns="0" bIns="0" rtlCol="0" anchor="ctr"/>
          <a:lstStyle/>
          <a:p>
            <a:pPr indent="0" marL="0">
              <a:lnSpc>
                <a:spcPct val="120000"/>
              </a:lnSpc>
              <a:buNone/>
            </a:pPr>
            <a:r>
              <a:rPr lang="en-US" sz="1050" dirty="0">
                <a:solidFill>
                  <a:srgbClr val="4A5568"/>
                </a:solidFill>
                <a:latin typeface="Arial" pitchFamily="34" charset="0"/>
                <a:ea typeface="Arial" pitchFamily="34" charset="-122"/>
                <a:cs typeface="Arial" pitchFamily="34" charset="-120"/>
              </a:rPr>
              <a:t>kubelet · kube-proxy · container-runtime</a:t>
            </a:r>
            <a:endParaRPr lang="en-US" sz="1050" dirty="0"/>
          </a:p>
        </p:txBody>
      </p:sp>
      <p:sp>
        <p:nvSpPr>
          <p:cNvPr id="16" name="Shape 14"/>
          <p:cNvSpPr/>
          <p:nvPr/>
        </p:nvSpPr>
        <p:spPr>
          <a:xfrm>
            <a:off x="731520" y="5212080"/>
            <a:ext cx="978713" cy="502920"/>
          </a:xfrm>
          <a:prstGeom prst="roundRect">
            <a:avLst>
              <a:gd name="adj" fmla="val 18182"/>
            </a:avLst>
          </a:prstGeom>
          <a:solidFill>
            <a:srgbClr val="E8EDFF"/>
          </a:solidFill>
          <a:ln/>
        </p:spPr>
      </p:sp>
      <p:sp>
        <p:nvSpPr>
          <p:cNvPr id="17" name="Text 15"/>
          <p:cNvSpPr txBox="1"/>
          <p:nvPr/>
        </p:nvSpPr>
        <p:spPr>
          <a:xfrm>
            <a:off x="731520" y="5212080"/>
            <a:ext cx="978713" cy="50292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Pod</a:t>
            </a:r>
            <a:endParaRPr lang="en-US" sz="1100" dirty="0"/>
          </a:p>
        </p:txBody>
      </p:sp>
      <p:sp>
        <p:nvSpPr>
          <p:cNvPr id="18" name="Shape 16"/>
          <p:cNvSpPr/>
          <p:nvPr/>
        </p:nvSpPr>
        <p:spPr>
          <a:xfrm>
            <a:off x="1801673" y="5212080"/>
            <a:ext cx="978713" cy="502920"/>
          </a:xfrm>
          <a:prstGeom prst="roundRect">
            <a:avLst>
              <a:gd name="adj" fmla="val 18182"/>
            </a:avLst>
          </a:prstGeom>
          <a:solidFill>
            <a:srgbClr val="E8EDFF"/>
          </a:solidFill>
          <a:ln/>
        </p:spPr>
      </p:sp>
      <p:sp>
        <p:nvSpPr>
          <p:cNvPr id="19" name="Text 17"/>
          <p:cNvSpPr txBox="1"/>
          <p:nvPr/>
        </p:nvSpPr>
        <p:spPr>
          <a:xfrm>
            <a:off x="1801673" y="5212080"/>
            <a:ext cx="978713" cy="50292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Pod</a:t>
            </a:r>
            <a:endParaRPr lang="en-US" sz="1100" dirty="0"/>
          </a:p>
        </p:txBody>
      </p:sp>
      <p:sp>
        <p:nvSpPr>
          <p:cNvPr id="20" name="Shape 18"/>
          <p:cNvSpPr/>
          <p:nvPr/>
        </p:nvSpPr>
        <p:spPr>
          <a:xfrm>
            <a:off x="2871826" y="5212080"/>
            <a:ext cx="978713" cy="502920"/>
          </a:xfrm>
          <a:prstGeom prst="roundRect">
            <a:avLst>
              <a:gd name="adj" fmla="val 18182"/>
            </a:avLst>
          </a:prstGeom>
          <a:solidFill>
            <a:srgbClr val="E8EDFF"/>
          </a:solidFill>
          <a:ln/>
        </p:spPr>
      </p:sp>
      <p:sp>
        <p:nvSpPr>
          <p:cNvPr id="21" name="Text 19"/>
          <p:cNvSpPr txBox="1"/>
          <p:nvPr/>
        </p:nvSpPr>
        <p:spPr>
          <a:xfrm>
            <a:off x="2871826" y="5212080"/>
            <a:ext cx="978713" cy="50292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Pod</a:t>
            </a:r>
            <a:endParaRPr lang="en-US" sz="1100" dirty="0"/>
          </a:p>
        </p:txBody>
      </p:sp>
      <p:sp>
        <p:nvSpPr>
          <p:cNvPr id="22" name="Shape 20"/>
          <p:cNvSpPr/>
          <p:nvPr/>
        </p:nvSpPr>
        <p:spPr>
          <a:xfrm>
            <a:off x="4353458" y="3017520"/>
            <a:ext cx="3484778" cy="2880360"/>
          </a:xfrm>
          <a:prstGeom prst="roundRect">
            <a:avLst>
              <a:gd name="adj" fmla="val 3175"/>
            </a:avLst>
          </a:prstGeom>
          <a:solidFill>
            <a:srgbClr val="FFFFFF"/>
          </a:solidFill>
          <a:ln w="19050">
            <a:solidFill>
              <a:srgbClr val="16202B"/>
            </a:solidFill>
            <a:prstDash val="solid"/>
          </a:ln>
        </p:spPr>
      </p:sp>
      <p:sp>
        <p:nvSpPr>
          <p:cNvPr id="23" name="Text 21"/>
          <p:cNvSpPr txBox="1"/>
          <p:nvPr/>
        </p:nvSpPr>
        <p:spPr>
          <a:xfrm>
            <a:off x="4536338" y="3154680"/>
            <a:ext cx="3119018" cy="256032"/>
          </a:xfrm>
          <a:prstGeom prst="rect">
            <a:avLst/>
          </a:prstGeom>
          <a:noFill/>
          <a:ln/>
        </p:spPr>
        <p:txBody>
          <a:bodyPr wrap="square" lIns="0" tIns="0" rIns="0" bIns="0" rtlCol="0" anchor="ctr"/>
          <a:lstStyle/>
          <a:p>
            <a:pPr indent="0" marL="0">
              <a:buNone/>
            </a:pPr>
            <a:r>
              <a:rPr lang="en-US" sz="1050" b="1" dirty="0">
                <a:solidFill>
                  <a:srgbClr val="6A7179"/>
                </a:solidFill>
                <a:latin typeface="Arial" pitchFamily="34" charset="0"/>
                <a:ea typeface="Arial" pitchFamily="34" charset="-122"/>
                <a:cs typeface="Arial" pitchFamily="34" charset="-120"/>
              </a:rPr>
              <a:t>WORKER-NOD 2</a:t>
            </a:r>
            <a:endParaRPr lang="en-US" sz="1050" dirty="0"/>
          </a:p>
        </p:txBody>
      </p:sp>
      <p:sp>
        <p:nvSpPr>
          <p:cNvPr id="24" name="Text 22"/>
          <p:cNvSpPr txBox="1"/>
          <p:nvPr/>
        </p:nvSpPr>
        <p:spPr>
          <a:xfrm>
            <a:off x="4536338" y="3429000"/>
            <a:ext cx="3119018" cy="365760"/>
          </a:xfrm>
          <a:prstGeom prst="rect">
            <a:avLst/>
          </a:prstGeom>
          <a:noFill/>
          <a:ln/>
        </p:spPr>
        <p:txBody>
          <a:bodyPr wrap="square" lIns="0" tIns="0" rIns="0" bIns="0" rtlCol="0" anchor="ctr"/>
          <a:lstStyle/>
          <a:p>
            <a:pPr indent="0" marL="0">
              <a:buNone/>
            </a:pPr>
            <a:r>
              <a:rPr lang="en-US" sz="1600" b="1" dirty="0">
                <a:solidFill>
                  <a:srgbClr val="16202B"/>
                </a:solidFill>
                <a:latin typeface="Calibri" pitchFamily="34" charset="0"/>
                <a:ea typeface="Calibri" pitchFamily="34" charset="-122"/>
                <a:cs typeface="Calibri" pitchFamily="34" charset="-120"/>
              </a:rPr>
              <a:t>Agentnod</a:t>
            </a:r>
            <a:endParaRPr lang="en-US" sz="1600" dirty="0"/>
          </a:p>
        </p:txBody>
      </p:sp>
      <p:sp>
        <p:nvSpPr>
          <p:cNvPr id="25" name="Text 23"/>
          <p:cNvSpPr txBox="1"/>
          <p:nvPr/>
        </p:nvSpPr>
        <p:spPr>
          <a:xfrm>
            <a:off x="4536338" y="3822192"/>
            <a:ext cx="3119018" cy="640080"/>
          </a:xfrm>
          <a:prstGeom prst="rect">
            <a:avLst/>
          </a:prstGeom>
          <a:noFill/>
          <a:ln/>
        </p:spPr>
        <p:txBody>
          <a:bodyPr wrap="square" lIns="0" tIns="0" rIns="0" bIns="0" rtlCol="0" anchor="ctr"/>
          <a:lstStyle/>
          <a:p>
            <a:pPr indent="0" marL="0">
              <a:lnSpc>
                <a:spcPct val="120000"/>
              </a:lnSpc>
              <a:buNone/>
            </a:pPr>
            <a:r>
              <a:rPr lang="en-US" sz="1050" dirty="0">
                <a:solidFill>
                  <a:srgbClr val="4A5568"/>
                </a:solidFill>
                <a:latin typeface="Arial" pitchFamily="34" charset="0"/>
                <a:ea typeface="Arial" pitchFamily="34" charset="-122"/>
                <a:cs typeface="Arial" pitchFamily="34" charset="-120"/>
              </a:rPr>
              <a:t>kubelet · kube-proxy · container-runtime</a:t>
            </a:r>
            <a:endParaRPr lang="en-US" sz="1050" dirty="0"/>
          </a:p>
        </p:txBody>
      </p:sp>
      <p:sp>
        <p:nvSpPr>
          <p:cNvPr id="26" name="Shape 24"/>
          <p:cNvSpPr/>
          <p:nvPr/>
        </p:nvSpPr>
        <p:spPr>
          <a:xfrm>
            <a:off x="4536338" y="5212080"/>
            <a:ext cx="978713" cy="502920"/>
          </a:xfrm>
          <a:prstGeom prst="roundRect">
            <a:avLst>
              <a:gd name="adj" fmla="val 18182"/>
            </a:avLst>
          </a:prstGeom>
          <a:solidFill>
            <a:srgbClr val="E8EDFF"/>
          </a:solidFill>
          <a:ln/>
        </p:spPr>
      </p:sp>
      <p:sp>
        <p:nvSpPr>
          <p:cNvPr id="27" name="Text 25"/>
          <p:cNvSpPr txBox="1"/>
          <p:nvPr/>
        </p:nvSpPr>
        <p:spPr>
          <a:xfrm>
            <a:off x="4536338" y="5212080"/>
            <a:ext cx="978713" cy="50292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Pod</a:t>
            </a:r>
            <a:endParaRPr lang="en-US" sz="1100" dirty="0"/>
          </a:p>
        </p:txBody>
      </p:sp>
      <p:sp>
        <p:nvSpPr>
          <p:cNvPr id="28" name="Shape 26"/>
          <p:cNvSpPr/>
          <p:nvPr/>
        </p:nvSpPr>
        <p:spPr>
          <a:xfrm>
            <a:off x="5606491" y="5212080"/>
            <a:ext cx="978713" cy="502920"/>
          </a:xfrm>
          <a:prstGeom prst="roundRect">
            <a:avLst>
              <a:gd name="adj" fmla="val 18182"/>
            </a:avLst>
          </a:prstGeom>
          <a:solidFill>
            <a:srgbClr val="E8EDFF"/>
          </a:solidFill>
          <a:ln/>
        </p:spPr>
      </p:sp>
      <p:sp>
        <p:nvSpPr>
          <p:cNvPr id="29" name="Text 27"/>
          <p:cNvSpPr txBox="1"/>
          <p:nvPr/>
        </p:nvSpPr>
        <p:spPr>
          <a:xfrm>
            <a:off x="5606491" y="5212080"/>
            <a:ext cx="978713" cy="50292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Pod</a:t>
            </a:r>
            <a:endParaRPr lang="en-US" sz="1100" dirty="0"/>
          </a:p>
        </p:txBody>
      </p:sp>
      <p:sp>
        <p:nvSpPr>
          <p:cNvPr id="30" name="Shape 28"/>
          <p:cNvSpPr/>
          <p:nvPr/>
        </p:nvSpPr>
        <p:spPr>
          <a:xfrm>
            <a:off x="6676644" y="5212080"/>
            <a:ext cx="978713" cy="502920"/>
          </a:xfrm>
          <a:prstGeom prst="roundRect">
            <a:avLst>
              <a:gd name="adj" fmla="val 18182"/>
            </a:avLst>
          </a:prstGeom>
          <a:solidFill>
            <a:srgbClr val="E8EDFF"/>
          </a:solidFill>
          <a:ln/>
        </p:spPr>
      </p:sp>
      <p:sp>
        <p:nvSpPr>
          <p:cNvPr id="31" name="Text 29"/>
          <p:cNvSpPr txBox="1"/>
          <p:nvPr/>
        </p:nvSpPr>
        <p:spPr>
          <a:xfrm>
            <a:off x="6676644" y="5212080"/>
            <a:ext cx="978713" cy="50292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Pod</a:t>
            </a:r>
            <a:endParaRPr lang="en-US" sz="1100" dirty="0"/>
          </a:p>
        </p:txBody>
      </p:sp>
      <p:sp>
        <p:nvSpPr>
          <p:cNvPr id="32" name="Shape 30"/>
          <p:cNvSpPr/>
          <p:nvPr/>
        </p:nvSpPr>
        <p:spPr>
          <a:xfrm>
            <a:off x="8158277" y="3017520"/>
            <a:ext cx="3484778" cy="2880360"/>
          </a:xfrm>
          <a:prstGeom prst="roundRect">
            <a:avLst>
              <a:gd name="adj" fmla="val 3175"/>
            </a:avLst>
          </a:prstGeom>
          <a:solidFill>
            <a:srgbClr val="FFFFFF"/>
          </a:solidFill>
          <a:ln w="19050">
            <a:solidFill>
              <a:srgbClr val="16202B"/>
            </a:solidFill>
            <a:prstDash val="solid"/>
          </a:ln>
        </p:spPr>
      </p:sp>
      <p:sp>
        <p:nvSpPr>
          <p:cNvPr id="33" name="Text 31"/>
          <p:cNvSpPr txBox="1"/>
          <p:nvPr/>
        </p:nvSpPr>
        <p:spPr>
          <a:xfrm>
            <a:off x="8341157" y="3154680"/>
            <a:ext cx="3119018" cy="256032"/>
          </a:xfrm>
          <a:prstGeom prst="rect">
            <a:avLst/>
          </a:prstGeom>
          <a:noFill/>
          <a:ln/>
        </p:spPr>
        <p:txBody>
          <a:bodyPr wrap="square" lIns="0" tIns="0" rIns="0" bIns="0" rtlCol="0" anchor="ctr"/>
          <a:lstStyle/>
          <a:p>
            <a:pPr indent="0" marL="0">
              <a:buNone/>
            </a:pPr>
            <a:r>
              <a:rPr lang="en-US" sz="1050" b="1" dirty="0">
                <a:solidFill>
                  <a:srgbClr val="6A7179"/>
                </a:solidFill>
                <a:latin typeface="Arial" pitchFamily="34" charset="0"/>
                <a:ea typeface="Arial" pitchFamily="34" charset="-122"/>
                <a:cs typeface="Arial" pitchFamily="34" charset="-120"/>
              </a:rPr>
              <a:t>WORKER-NOD 3</a:t>
            </a:r>
            <a:endParaRPr lang="en-US" sz="1050" dirty="0"/>
          </a:p>
        </p:txBody>
      </p:sp>
      <p:sp>
        <p:nvSpPr>
          <p:cNvPr id="34" name="Text 32"/>
          <p:cNvSpPr txBox="1"/>
          <p:nvPr/>
        </p:nvSpPr>
        <p:spPr>
          <a:xfrm>
            <a:off x="8341157" y="3429000"/>
            <a:ext cx="3119018" cy="365760"/>
          </a:xfrm>
          <a:prstGeom prst="rect">
            <a:avLst/>
          </a:prstGeom>
          <a:noFill/>
          <a:ln/>
        </p:spPr>
        <p:txBody>
          <a:bodyPr wrap="square" lIns="0" tIns="0" rIns="0" bIns="0" rtlCol="0" anchor="ctr"/>
          <a:lstStyle/>
          <a:p>
            <a:pPr indent="0" marL="0">
              <a:buNone/>
            </a:pPr>
            <a:r>
              <a:rPr lang="en-US" sz="1600" b="1" dirty="0">
                <a:solidFill>
                  <a:srgbClr val="16202B"/>
                </a:solidFill>
                <a:latin typeface="Calibri" pitchFamily="34" charset="0"/>
                <a:ea typeface="Calibri" pitchFamily="34" charset="-122"/>
                <a:cs typeface="Calibri" pitchFamily="34" charset="-120"/>
              </a:rPr>
              <a:t>Agentnod</a:t>
            </a:r>
            <a:endParaRPr lang="en-US" sz="1600" dirty="0"/>
          </a:p>
        </p:txBody>
      </p:sp>
      <p:sp>
        <p:nvSpPr>
          <p:cNvPr id="35" name="Text 33"/>
          <p:cNvSpPr txBox="1"/>
          <p:nvPr/>
        </p:nvSpPr>
        <p:spPr>
          <a:xfrm>
            <a:off x="8341157" y="3822192"/>
            <a:ext cx="3119018" cy="640080"/>
          </a:xfrm>
          <a:prstGeom prst="rect">
            <a:avLst/>
          </a:prstGeom>
          <a:noFill/>
          <a:ln/>
        </p:spPr>
        <p:txBody>
          <a:bodyPr wrap="square" lIns="0" tIns="0" rIns="0" bIns="0" rtlCol="0" anchor="ctr"/>
          <a:lstStyle/>
          <a:p>
            <a:pPr indent="0" marL="0">
              <a:lnSpc>
                <a:spcPct val="120000"/>
              </a:lnSpc>
              <a:buNone/>
            </a:pPr>
            <a:r>
              <a:rPr lang="en-US" sz="1050" dirty="0">
                <a:solidFill>
                  <a:srgbClr val="4A5568"/>
                </a:solidFill>
                <a:latin typeface="Arial" pitchFamily="34" charset="0"/>
                <a:ea typeface="Arial" pitchFamily="34" charset="-122"/>
                <a:cs typeface="Arial" pitchFamily="34" charset="-120"/>
              </a:rPr>
              <a:t>kubelet · kube-proxy · container-runtime</a:t>
            </a:r>
            <a:endParaRPr lang="en-US" sz="1050" dirty="0"/>
          </a:p>
        </p:txBody>
      </p:sp>
      <p:sp>
        <p:nvSpPr>
          <p:cNvPr id="36" name="Shape 34"/>
          <p:cNvSpPr/>
          <p:nvPr/>
        </p:nvSpPr>
        <p:spPr>
          <a:xfrm>
            <a:off x="8341157" y="5212080"/>
            <a:ext cx="978713" cy="502920"/>
          </a:xfrm>
          <a:prstGeom prst="roundRect">
            <a:avLst>
              <a:gd name="adj" fmla="val 18182"/>
            </a:avLst>
          </a:prstGeom>
          <a:solidFill>
            <a:srgbClr val="E8EDFF"/>
          </a:solidFill>
          <a:ln/>
        </p:spPr>
      </p:sp>
      <p:sp>
        <p:nvSpPr>
          <p:cNvPr id="37" name="Text 35"/>
          <p:cNvSpPr txBox="1"/>
          <p:nvPr/>
        </p:nvSpPr>
        <p:spPr>
          <a:xfrm>
            <a:off x="8341157" y="5212080"/>
            <a:ext cx="978713" cy="50292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Pod</a:t>
            </a:r>
            <a:endParaRPr lang="en-US" sz="1100" dirty="0"/>
          </a:p>
        </p:txBody>
      </p:sp>
      <p:sp>
        <p:nvSpPr>
          <p:cNvPr id="38" name="Shape 36"/>
          <p:cNvSpPr/>
          <p:nvPr/>
        </p:nvSpPr>
        <p:spPr>
          <a:xfrm>
            <a:off x="9411310" y="5212080"/>
            <a:ext cx="978713" cy="502920"/>
          </a:xfrm>
          <a:prstGeom prst="roundRect">
            <a:avLst>
              <a:gd name="adj" fmla="val 18182"/>
            </a:avLst>
          </a:prstGeom>
          <a:solidFill>
            <a:srgbClr val="E8EDFF"/>
          </a:solidFill>
          <a:ln/>
        </p:spPr>
      </p:sp>
      <p:sp>
        <p:nvSpPr>
          <p:cNvPr id="39" name="Text 37"/>
          <p:cNvSpPr txBox="1"/>
          <p:nvPr/>
        </p:nvSpPr>
        <p:spPr>
          <a:xfrm>
            <a:off x="9411310" y="5212080"/>
            <a:ext cx="978713" cy="50292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Pod</a:t>
            </a:r>
            <a:endParaRPr lang="en-US" sz="1100" dirty="0"/>
          </a:p>
        </p:txBody>
      </p:sp>
      <p:sp>
        <p:nvSpPr>
          <p:cNvPr id="40" name="Shape 38"/>
          <p:cNvSpPr/>
          <p:nvPr/>
        </p:nvSpPr>
        <p:spPr>
          <a:xfrm>
            <a:off x="10481462" y="5212080"/>
            <a:ext cx="978713" cy="502920"/>
          </a:xfrm>
          <a:prstGeom prst="roundRect">
            <a:avLst>
              <a:gd name="adj" fmla="val 18182"/>
            </a:avLst>
          </a:prstGeom>
          <a:solidFill>
            <a:srgbClr val="E8EDFF"/>
          </a:solidFill>
          <a:ln/>
        </p:spPr>
      </p:sp>
      <p:sp>
        <p:nvSpPr>
          <p:cNvPr id="41" name="Text 39"/>
          <p:cNvSpPr txBox="1"/>
          <p:nvPr/>
        </p:nvSpPr>
        <p:spPr>
          <a:xfrm>
            <a:off x="10481462" y="5212080"/>
            <a:ext cx="978713" cy="502920"/>
          </a:xfrm>
          <a:prstGeom prst="rect">
            <a:avLst/>
          </a:prstGeom>
          <a:noFill/>
          <a:ln/>
        </p:spPr>
        <p:txBody>
          <a:bodyPr wrap="square" lIns="0" tIns="0" rIns="0" bIns="0" rtlCol="0" anchor="ctr"/>
          <a:lstStyle/>
          <a:p>
            <a:pPr algn="ctr" indent="0" marL="0">
              <a:buNone/>
            </a:pPr>
            <a:r>
              <a:rPr lang="en-US" sz="1100" b="1" dirty="0">
                <a:solidFill>
                  <a:srgbClr val="16202B"/>
                </a:solidFill>
                <a:latin typeface="Arial" pitchFamily="34" charset="0"/>
                <a:ea typeface="Arial" pitchFamily="34" charset="-122"/>
                <a:cs typeface="Arial" pitchFamily="34" charset="-120"/>
              </a:rPr>
              <a:t>Pod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685800"/>
            <a:ext cx="11094415" cy="292608"/>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ARKITEKTUR</a:t>
            </a:r>
            <a:endParaRPr lang="en-US" sz="1200" dirty="0"/>
          </a:p>
        </p:txBody>
      </p:sp>
      <p:sp>
        <p:nvSpPr>
          <p:cNvPr id="3" name="Text 1"/>
          <p:cNvSpPr txBox="1"/>
          <p:nvPr/>
        </p:nvSpPr>
        <p:spPr>
          <a:xfrm>
            <a:off x="548640" y="1143000"/>
            <a:ext cx="10515600" cy="914400"/>
          </a:xfrm>
          <a:prstGeom prst="rect">
            <a:avLst/>
          </a:prstGeom>
          <a:noFill/>
          <a:ln/>
        </p:spPr>
        <p:txBody>
          <a:bodyPr wrap="square" lIns="0" tIns="0" rIns="0" bIns="0" rtlCol="0" anchor="ctr"/>
          <a:lstStyle/>
          <a:p>
            <a:pPr indent="0" marL="0">
              <a:buNone/>
            </a:pPr>
            <a:r>
              <a:rPr lang="en-US" sz="3400" b="1" dirty="0">
                <a:solidFill>
                  <a:srgbClr val="F5F7FA"/>
                </a:solidFill>
                <a:latin typeface="Calibri" pitchFamily="34" charset="0"/>
                <a:ea typeface="Calibri" pitchFamily="34" charset="-122"/>
                <a:cs typeface="Calibri" pitchFamily="34" charset="-120"/>
              </a:rPr>
              <a:t>Control plane: klustrets hjärna</a:t>
            </a:r>
            <a:endParaRPr lang="en-US" sz="3400" dirty="0"/>
          </a:p>
        </p:txBody>
      </p:sp>
      <p:sp>
        <p:nvSpPr>
          <p:cNvPr id="4" name="Text 2"/>
          <p:cNvSpPr txBox="1"/>
          <p:nvPr/>
        </p:nvSpPr>
        <p:spPr>
          <a:xfrm>
            <a:off x="548640" y="2286000"/>
            <a:ext cx="5212080" cy="3200400"/>
          </a:xfrm>
          <a:prstGeom prst="rect">
            <a:avLst/>
          </a:prstGeom>
          <a:noFill/>
          <a:ln/>
        </p:spPr>
        <p:txBody>
          <a:bodyPr wrap="square" lIns="0" tIns="0" rIns="0" bIns="0" rtlCol="0" anchor="t"/>
          <a:lstStyle/>
          <a:p>
            <a:pPr indent="0" marL="0">
              <a:lnSpc>
                <a:spcPct val="130000"/>
              </a:lnSpc>
              <a:buNone/>
            </a:pPr>
            <a:r>
              <a:rPr lang="en-US" sz="1500" dirty="0">
                <a:solidFill>
                  <a:srgbClr val="B9C4D1"/>
                </a:solidFill>
                <a:latin typeface="Arial" pitchFamily="34" charset="0"/>
                <a:ea typeface="Arial" pitchFamily="34" charset="-122"/>
                <a:cs typeface="Arial" pitchFamily="34" charset="-120"/>
              </a:rPr>
              <a:t>Control plane fattar alla beslut om klustret - men kör normalt inte era applikationscontainrar själv. Den håller reda på vad som SKA finnas och ser till att verkligheten stämmer.</a:t>
            </a:r>
            <a:endParaRPr lang="en-US" sz="1500" dirty="0"/>
          </a:p>
        </p:txBody>
      </p:sp>
      <p:sp>
        <p:nvSpPr>
          <p:cNvPr id="5" name="Shape 3"/>
          <p:cNvSpPr/>
          <p:nvPr/>
        </p:nvSpPr>
        <p:spPr>
          <a:xfrm>
            <a:off x="6126480" y="2331720"/>
            <a:ext cx="5513832" cy="621792"/>
          </a:xfrm>
          <a:prstGeom prst="roundRect">
            <a:avLst>
              <a:gd name="adj" fmla="val 14706"/>
            </a:avLst>
          </a:prstGeom>
          <a:solidFill>
            <a:srgbClr val="16294A"/>
          </a:solidFill>
          <a:ln/>
        </p:spPr>
      </p:sp>
      <p:sp>
        <p:nvSpPr>
          <p:cNvPr id="6" name="Text 4"/>
          <p:cNvSpPr txBox="1"/>
          <p:nvPr/>
        </p:nvSpPr>
        <p:spPr>
          <a:xfrm>
            <a:off x="6400800" y="2331720"/>
            <a:ext cx="5029200" cy="621792"/>
          </a:xfrm>
          <a:prstGeom prst="rect">
            <a:avLst/>
          </a:prstGeom>
          <a:noFill/>
          <a:ln/>
        </p:spPr>
        <p:txBody>
          <a:bodyPr wrap="square" lIns="0" tIns="0" rIns="0" bIns="0" rtlCol="0" anchor="ctr"/>
          <a:lstStyle/>
          <a:p>
            <a:pPr indent="0" marL="0">
              <a:buNone/>
            </a:pPr>
            <a:r>
              <a:rPr lang="en-US" sz="1500" dirty="0">
                <a:solidFill>
                  <a:srgbClr val="F5F7FA"/>
                </a:solidFill>
                <a:latin typeface="Arial" pitchFamily="34" charset="0"/>
                <a:ea typeface="Arial" pitchFamily="34" charset="-122"/>
                <a:cs typeface="Arial" pitchFamily="34" charset="-120"/>
              </a:rPr>
              <a:t>Ser hela klustrets tillstånd</a:t>
            </a:r>
            <a:endParaRPr lang="en-US" sz="1500" dirty="0"/>
          </a:p>
        </p:txBody>
      </p:sp>
      <p:sp>
        <p:nvSpPr>
          <p:cNvPr id="7" name="Shape 5"/>
          <p:cNvSpPr/>
          <p:nvPr/>
        </p:nvSpPr>
        <p:spPr>
          <a:xfrm>
            <a:off x="6126480" y="3108960"/>
            <a:ext cx="5513832" cy="621792"/>
          </a:xfrm>
          <a:prstGeom prst="roundRect">
            <a:avLst>
              <a:gd name="adj" fmla="val 14706"/>
            </a:avLst>
          </a:prstGeom>
          <a:solidFill>
            <a:srgbClr val="16294A"/>
          </a:solidFill>
          <a:ln/>
        </p:spPr>
      </p:sp>
      <p:sp>
        <p:nvSpPr>
          <p:cNvPr id="8" name="Text 6"/>
          <p:cNvSpPr txBox="1"/>
          <p:nvPr/>
        </p:nvSpPr>
        <p:spPr>
          <a:xfrm>
            <a:off x="6400800" y="3108960"/>
            <a:ext cx="5029200" cy="621792"/>
          </a:xfrm>
          <a:prstGeom prst="rect">
            <a:avLst/>
          </a:prstGeom>
          <a:noFill/>
          <a:ln/>
        </p:spPr>
        <p:txBody>
          <a:bodyPr wrap="square" lIns="0" tIns="0" rIns="0" bIns="0" rtlCol="0" anchor="ctr"/>
          <a:lstStyle/>
          <a:p>
            <a:pPr indent="0" marL="0">
              <a:buNone/>
            </a:pPr>
            <a:r>
              <a:rPr lang="en-US" sz="1500" dirty="0">
                <a:solidFill>
                  <a:srgbClr val="F5F7FA"/>
                </a:solidFill>
                <a:latin typeface="Arial" pitchFamily="34" charset="0"/>
                <a:ea typeface="Arial" pitchFamily="34" charset="-122"/>
                <a:cs typeface="Arial" pitchFamily="34" charset="-120"/>
              </a:rPr>
              <a:t>Beslutar var poddar ska köras</a:t>
            </a:r>
            <a:endParaRPr lang="en-US" sz="1500" dirty="0"/>
          </a:p>
        </p:txBody>
      </p:sp>
      <p:sp>
        <p:nvSpPr>
          <p:cNvPr id="9" name="Shape 7"/>
          <p:cNvSpPr/>
          <p:nvPr/>
        </p:nvSpPr>
        <p:spPr>
          <a:xfrm>
            <a:off x="6126480" y="3886200"/>
            <a:ext cx="5513832" cy="621792"/>
          </a:xfrm>
          <a:prstGeom prst="roundRect">
            <a:avLst>
              <a:gd name="adj" fmla="val 14706"/>
            </a:avLst>
          </a:prstGeom>
          <a:solidFill>
            <a:srgbClr val="16294A"/>
          </a:solidFill>
          <a:ln/>
        </p:spPr>
      </p:sp>
      <p:sp>
        <p:nvSpPr>
          <p:cNvPr id="10" name="Text 8"/>
          <p:cNvSpPr txBox="1"/>
          <p:nvPr/>
        </p:nvSpPr>
        <p:spPr>
          <a:xfrm>
            <a:off x="6400800" y="3886200"/>
            <a:ext cx="5029200" cy="621792"/>
          </a:xfrm>
          <a:prstGeom prst="rect">
            <a:avLst/>
          </a:prstGeom>
          <a:noFill/>
          <a:ln/>
        </p:spPr>
        <p:txBody>
          <a:bodyPr wrap="square" lIns="0" tIns="0" rIns="0" bIns="0" rtlCol="0" anchor="ctr"/>
          <a:lstStyle/>
          <a:p>
            <a:pPr indent="0" marL="0">
              <a:buNone/>
            </a:pPr>
            <a:r>
              <a:rPr lang="en-US" sz="1500" dirty="0">
                <a:solidFill>
                  <a:srgbClr val="F5F7FA"/>
                </a:solidFill>
                <a:latin typeface="Arial" pitchFamily="34" charset="0"/>
                <a:ea typeface="Arial" pitchFamily="34" charset="-122"/>
                <a:cs typeface="Arial" pitchFamily="34" charset="-120"/>
              </a:rPr>
              <a:t>Övervakar och rättar avvikelser</a:t>
            </a:r>
            <a:endParaRPr lang="en-US" sz="1500" dirty="0"/>
          </a:p>
        </p:txBody>
      </p:sp>
      <p:sp>
        <p:nvSpPr>
          <p:cNvPr id="11" name="Shape 9"/>
          <p:cNvSpPr/>
          <p:nvPr/>
        </p:nvSpPr>
        <p:spPr>
          <a:xfrm>
            <a:off x="6126480" y="4663440"/>
            <a:ext cx="5513832" cy="621792"/>
          </a:xfrm>
          <a:prstGeom prst="roundRect">
            <a:avLst>
              <a:gd name="adj" fmla="val 14706"/>
            </a:avLst>
          </a:prstGeom>
          <a:solidFill>
            <a:srgbClr val="16294A"/>
          </a:solidFill>
          <a:ln/>
        </p:spPr>
      </p:sp>
      <p:sp>
        <p:nvSpPr>
          <p:cNvPr id="12" name="Text 10"/>
          <p:cNvSpPr txBox="1"/>
          <p:nvPr/>
        </p:nvSpPr>
        <p:spPr>
          <a:xfrm>
            <a:off x="6400800" y="4663440"/>
            <a:ext cx="5029200" cy="621792"/>
          </a:xfrm>
          <a:prstGeom prst="rect">
            <a:avLst/>
          </a:prstGeom>
          <a:noFill/>
          <a:ln/>
        </p:spPr>
        <p:txBody>
          <a:bodyPr wrap="square" lIns="0" tIns="0" rIns="0" bIns="0" rtlCol="0" anchor="ctr"/>
          <a:lstStyle/>
          <a:p>
            <a:pPr indent="0" marL="0">
              <a:buNone/>
            </a:pPr>
            <a:r>
              <a:rPr lang="en-US" sz="1500" dirty="0">
                <a:solidFill>
                  <a:srgbClr val="F5F7FA"/>
                </a:solidFill>
                <a:latin typeface="Arial" pitchFamily="34" charset="0"/>
                <a:ea typeface="Arial" pitchFamily="34" charset="-122"/>
                <a:cs typeface="Arial" pitchFamily="34" charset="-120"/>
              </a:rPr>
              <a:t>Exponerar API:et ni pratar med</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ARKITEKTUR</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600" b="1" dirty="0">
                <a:solidFill>
                  <a:srgbClr val="16202B"/>
                </a:solidFill>
                <a:latin typeface="Calibri" pitchFamily="34" charset="0"/>
                <a:ea typeface="Calibri" pitchFamily="34" charset="-122"/>
                <a:cs typeface="Calibri" pitchFamily="34" charset="-120"/>
              </a:rPr>
              <a:t>Fyra kärnkomponenter i control plane</a:t>
            </a:r>
            <a:endParaRPr lang="en-US" sz="2600" dirty="0"/>
          </a:p>
        </p:txBody>
      </p:sp>
      <p:sp>
        <p:nvSpPr>
          <p:cNvPr id="4" name="Shape 2"/>
          <p:cNvSpPr/>
          <p:nvPr/>
        </p:nvSpPr>
        <p:spPr>
          <a:xfrm>
            <a:off x="548640" y="1737360"/>
            <a:ext cx="2609012" cy="3931920"/>
          </a:xfrm>
          <a:prstGeom prst="roundRect">
            <a:avLst>
              <a:gd name="adj" fmla="val 3505"/>
            </a:avLst>
          </a:prstGeom>
          <a:solidFill>
            <a:srgbClr val="FFFFFF"/>
          </a:solidFill>
          <a:ln w="12700">
            <a:solidFill>
              <a:srgbClr val="E4E7EC"/>
            </a:solidFill>
            <a:prstDash val="solid"/>
          </a:ln>
        </p:spPr>
      </p:sp>
      <p:sp>
        <p:nvSpPr>
          <p:cNvPr id="5" name="Text 3"/>
          <p:cNvSpPr txBox="1"/>
          <p:nvPr/>
        </p:nvSpPr>
        <p:spPr>
          <a:xfrm>
            <a:off x="749808" y="1920240"/>
            <a:ext cx="2206676"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kube-apiserver</a:t>
            </a:r>
            <a:endParaRPr lang="en-US" sz="1550" dirty="0"/>
          </a:p>
        </p:txBody>
      </p:sp>
      <p:sp>
        <p:nvSpPr>
          <p:cNvPr id="6" name="Text 4"/>
          <p:cNvSpPr txBox="1"/>
          <p:nvPr/>
        </p:nvSpPr>
        <p:spPr>
          <a:xfrm>
            <a:off x="749808" y="2432304"/>
            <a:ext cx="2206676" cy="3072384"/>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Framdörren till klustret. Allt - kubectl, andra komponenter, ni - pratar via detta API.</a:t>
            </a:r>
            <a:endParaRPr lang="en-US" sz="1150" dirty="0"/>
          </a:p>
        </p:txBody>
      </p:sp>
      <p:sp>
        <p:nvSpPr>
          <p:cNvPr id="7" name="Shape 5"/>
          <p:cNvSpPr/>
          <p:nvPr/>
        </p:nvSpPr>
        <p:spPr>
          <a:xfrm>
            <a:off x="3377108" y="1737360"/>
            <a:ext cx="2609012" cy="3931920"/>
          </a:xfrm>
          <a:prstGeom prst="roundRect">
            <a:avLst>
              <a:gd name="adj" fmla="val 3505"/>
            </a:avLst>
          </a:prstGeom>
          <a:solidFill>
            <a:srgbClr val="FFFFFF"/>
          </a:solidFill>
          <a:ln w="12700">
            <a:solidFill>
              <a:srgbClr val="E4E7EC"/>
            </a:solidFill>
            <a:prstDash val="solid"/>
          </a:ln>
        </p:spPr>
      </p:sp>
      <p:sp>
        <p:nvSpPr>
          <p:cNvPr id="8" name="Text 6"/>
          <p:cNvSpPr txBox="1"/>
          <p:nvPr/>
        </p:nvSpPr>
        <p:spPr>
          <a:xfrm>
            <a:off x="3578276" y="1920240"/>
            <a:ext cx="2206676"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etcd</a:t>
            </a:r>
            <a:endParaRPr lang="en-US" sz="1550" dirty="0"/>
          </a:p>
        </p:txBody>
      </p:sp>
      <p:sp>
        <p:nvSpPr>
          <p:cNvPr id="9" name="Text 7"/>
          <p:cNvSpPr txBox="1"/>
          <p:nvPr/>
        </p:nvSpPr>
        <p:spPr>
          <a:xfrm>
            <a:off x="3578276" y="2432304"/>
            <a:ext cx="2206676" cy="3072384"/>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Klustrets minne. En nyckel-värde-databas som lagrar hela klustrets sanna tillstånd.</a:t>
            </a:r>
            <a:endParaRPr lang="en-US" sz="1150" dirty="0"/>
          </a:p>
        </p:txBody>
      </p:sp>
      <p:sp>
        <p:nvSpPr>
          <p:cNvPr id="10" name="Shape 8"/>
          <p:cNvSpPr/>
          <p:nvPr/>
        </p:nvSpPr>
        <p:spPr>
          <a:xfrm>
            <a:off x="6205576" y="1737360"/>
            <a:ext cx="2609012" cy="3931920"/>
          </a:xfrm>
          <a:prstGeom prst="roundRect">
            <a:avLst>
              <a:gd name="adj" fmla="val 3505"/>
            </a:avLst>
          </a:prstGeom>
          <a:solidFill>
            <a:srgbClr val="FFFFFF"/>
          </a:solidFill>
          <a:ln w="12700">
            <a:solidFill>
              <a:srgbClr val="E4E7EC"/>
            </a:solidFill>
            <a:prstDash val="solid"/>
          </a:ln>
        </p:spPr>
      </p:sp>
      <p:sp>
        <p:nvSpPr>
          <p:cNvPr id="11" name="Text 9"/>
          <p:cNvSpPr txBox="1"/>
          <p:nvPr/>
        </p:nvSpPr>
        <p:spPr>
          <a:xfrm>
            <a:off x="6406744" y="1920240"/>
            <a:ext cx="2206676"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kube-scheduler</a:t>
            </a:r>
            <a:endParaRPr lang="en-US" sz="1550" dirty="0"/>
          </a:p>
        </p:txBody>
      </p:sp>
      <p:sp>
        <p:nvSpPr>
          <p:cNvPr id="12" name="Text 10"/>
          <p:cNvSpPr txBox="1"/>
          <p:nvPr/>
        </p:nvSpPr>
        <p:spPr>
          <a:xfrm>
            <a:off x="6406744" y="2432304"/>
            <a:ext cx="2206676" cy="3072384"/>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Väljer vilken worker-nod en ny pod ska placeras på, utifrån resurser och regler.</a:t>
            </a:r>
            <a:endParaRPr lang="en-US" sz="1150" dirty="0"/>
          </a:p>
        </p:txBody>
      </p:sp>
      <p:sp>
        <p:nvSpPr>
          <p:cNvPr id="13" name="Shape 11"/>
          <p:cNvSpPr/>
          <p:nvPr/>
        </p:nvSpPr>
        <p:spPr>
          <a:xfrm>
            <a:off x="9034043" y="1737360"/>
            <a:ext cx="2609012" cy="3931920"/>
          </a:xfrm>
          <a:prstGeom prst="roundRect">
            <a:avLst>
              <a:gd name="adj" fmla="val 3505"/>
            </a:avLst>
          </a:prstGeom>
          <a:solidFill>
            <a:srgbClr val="FFFFFF"/>
          </a:solidFill>
          <a:ln w="12700">
            <a:solidFill>
              <a:srgbClr val="E4E7EC"/>
            </a:solidFill>
            <a:prstDash val="solid"/>
          </a:ln>
        </p:spPr>
      </p:sp>
      <p:sp>
        <p:nvSpPr>
          <p:cNvPr id="14" name="Text 12"/>
          <p:cNvSpPr txBox="1"/>
          <p:nvPr/>
        </p:nvSpPr>
        <p:spPr>
          <a:xfrm>
            <a:off x="9235211" y="1920240"/>
            <a:ext cx="2206676"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controller manager</a:t>
            </a:r>
            <a:endParaRPr lang="en-US" sz="1550" dirty="0"/>
          </a:p>
        </p:txBody>
      </p:sp>
      <p:sp>
        <p:nvSpPr>
          <p:cNvPr id="15" name="Text 13"/>
          <p:cNvSpPr txBox="1"/>
          <p:nvPr/>
        </p:nvSpPr>
        <p:spPr>
          <a:xfrm>
            <a:off x="9235211" y="2432304"/>
            <a:ext cx="2206676" cy="3072384"/>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Kör kontrollslingorna som ständigt jämför önskat läge mot verkligt läge.</a:t>
            </a:r>
            <a:endParaRPr lang="en-US" sz="1150" dirty="0"/>
          </a:p>
        </p:txBody>
      </p:sp>
      <p:sp>
        <p:nvSpPr>
          <p:cNvPr id="16" name="Text 14"/>
          <p:cNvSpPr txBox="1"/>
          <p:nvPr/>
        </p:nvSpPr>
        <p:spPr>
          <a:xfrm>
            <a:off x="548640" y="5852160"/>
            <a:ext cx="11094415" cy="457200"/>
          </a:xfrm>
          <a:prstGeom prst="rect">
            <a:avLst/>
          </a:prstGeom>
          <a:noFill/>
          <a:ln/>
        </p:spPr>
        <p:txBody>
          <a:bodyPr wrap="square" lIns="0" tIns="0" rIns="0" bIns="0" rtlCol="0" anchor="t"/>
          <a:lstStyle/>
          <a:p>
            <a:pPr indent="0" marL="0">
              <a:lnSpc>
                <a:spcPct val="130000"/>
              </a:lnSpc>
              <a:buNone/>
            </a:pPr>
            <a:r>
              <a:rPr lang="en-US" sz="1200" dirty="0">
                <a:solidFill>
                  <a:srgbClr val="6A7179"/>
                </a:solidFill>
                <a:latin typeface="Arial" pitchFamily="34" charset="0"/>
                <a:ea typeface="Arial" pitchFamily="34" charset="-122"/>
                <a:cs typeface="Arial" pitchFamily="34" charset="-120"/>
              </a:rPr>
              <a:t>Alla fyra körs som processer på control plane-noden (eller -noderna) och pratar bara med varandra via API-servern.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ARKITEKTUR · DEN VIKTIGASTE IDÉN IKVÄLL</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Önskat tillstånd, kontinuerligt</a:t>
            </a:r>
            <a:endParaRPr lang="en-US" sz="2700" dirty="0"/>
          </a:p>
        </p:txBody>
      </p:sp>
      <p:sp>
        <p:nvSpPr>
          <p:cNvPr id="4" name="Shape 2"/>
          <p:cNvSpPr/>
          <p:nvPr/>
        </p:nvSpPr>
        <p:spPr>
          <a:xfrm>
            <a:off x="548640" y="1828800"/>
            <a:ext cx="3362858" cy="1737360"/>
          </a:xfrm>
          <a:prstGeom prst="roundRect">
            <a:avLst>
              <a:gd name="adj" fmla="val 5263"/>
            </a:avLst>
          </a:prstGeom>
          <a:solidFill>
            <a:srgbClr val="FFFFFF"/>
          </a:solidFill>
          <a:ln w="12700">
            <a:solidFill>
              <a:srgbClr val="E4E7EC"/>
            </a:solidFill>
            <a:prstDash val="solid"/>
          </a:ln>
        </p:spPr>
      </p:sp>
      <p:sp>
        <p:nvSpPr>
          <p:cNvPr id="5" name="Text 3"/>
          <p:cNvSpPr txBox="1"/>
          <p:nvPr/>
        </p:nvSpPr>
        <p:spPr>
          <a:xfrm>
            <a:off x="685800" y="2029968"/>
            <a:ext cx="3088538" cy="457200"/>
          </a:xfrm>
          <a:prstGeom prst="rect">
            <a:avLst/>
          </a:prstGeom>
          <a:noFill/>
          <a:ln/>
        </p:spPr>
        <p:txBody>
          <a:bodyPr wrap="square" lIns="0" tIns="0" rIns="0" bIns="0" rtlCol="0" anchor="t"/>
          <a:lstStyle/>
          <a:p>
            <a:pPr algn="ctr" indent="0" marL="0">
              <a:buNone/>
            </a:pPr>
            <a:r>
              <a:rPr lang="en-US" sz="1500" b="1" dirty="0">
                <a:solidFill>
                  <a:srgbClr val="16202B"/>
                </a:solidFill>
                <a:latin typeface="Calibri" pitchFamily="34" charset="0"/>
                <a:ea typeface="Calibri" pitchFamily="34" charset="-122"/>
                <a:cs typeface="Calibri" pitchFamily="34" charset="-120"/>
              </a:rPr>
              <a:t>Du deklarerar</a:t>
            </a:r>
            <a:endParaRPr lang="en-US" sz="1500" dirty="0"/>
          </a:p>
        </p:txBody>
      </p:sp>
      <p:sp>
        <p:nvSpPr>
          <p:cNvPr id="6" name="Text 4"/>
          <p:cNvSpPr txBox="1"/>
          <p:nvPr/>
        </p:nvSpPr>
        <p:spPr>
          <a:xfrm>
            <a:off x="685800" y="2450592"/>
            <a:ext cx="3088538" cy="978408"/>
          </a:xfrm>
          <a:prstGeom prst="rect">
            <a:avLst/>
          </a:prstGeom>
          <a:noFill/>
          <a:ln/>
        </p:spPr>
        <p:txBody>
          <a:bodyPr wrap="square" lIns="0" tIns="0" rIns="0" bIns="0" rtlCol="0" anchor="t"/>
          <a:lstStyle/>
          <a:p>
            <a:pPr algn="ctr" indent="0" marL="0">
              <a:lnSpc>
                <a:spcPct val="120000"/>
              </a:lnSpc>
              <a:buNone/>
            </a:pPr>
            <a:r>
              <a:rPr lang="en-US" sz="1050" dirty="0">
                <a:solidFill>
                  <a:srgbClr val="4A5568"/>
                </a:solidFill>
                <a:latin typeface="Arial" pitchFamily="34" charset="0"/>
                <a:ea typeface="Arial" pitchFamily="34" charset="-122"/>
                <a:cs typeface="Arial" pitchFamily="34" charset="-120"/>
              </a:rPr>
              <a:t>“Jag vill ha 3 repliker av api-podden”</a:t>
            </a:r>
            <a:endParaRPr lang="en-US" sz="1050" dirty="0"/>
          </a:p>
        </p:txBody>
      </p:sp>
      <p:sp>
        <p:nvSpPr>
          <p:cNvPr id="7" name="Shape 5"/>
          <p:cNvSpPr/>
          <p:nvPr/>
        </p:nvSpPr>
        <p:spPr>
          <a:xfrm>
            <a:off x="3970934" y="2578608"/>
            <a:ext cx="384048" cy="237744"/>
          </a:xfrm>
          <a:prstGeom prst="rightArrow">
            <a:avLst/>
          </a:prstGeom>
          <a:solidFill>
            <a:srgbClr val="3762FF"/>
          </a:solidFill>
          <a:ln/>
        </p:spPr>
      </p:sp>
      <p:sp>
        <p:nvSpPr>
          <p:cNvPr id="8" name="Shape 6"/>
          <p:cNvSpPr/>
          <p:nvPr/>
        </p:nvSpPr>
        <p:spPr>
          <a:xfrm>
            <a:off x="4414418" y="1828800"/>
            <a:ext cx="3362858" cy="1737360"/>
          </a:xfrm>
          <a:prstGeom prst="roundRect">
            <a:avLst>
              <a:gd name="adj" fmla="val 5263"/>
            </a:avLst>
          </a:prstGeom>
          <a:solidFill>
            <a:srgbClr val="FFFFFF"/>
          </a:solidFill>
          <a:ln w="12700">
            <a:solidFill>
              <a:srgbClr val="E4E7EC"/>
            </a:solidFill>
            <a:prstDash val="solid"/>
          </a:ln>
        </p:spPr>
      </p:sp>
      <p:sp>
        <p:nvSpPr>
          <p:cNvPr id="9" name="Text 7"/>
          <p:cNvSpPr txBox="1"/>
          <p:nvPr/>
        </p:nvSpPr>
        <p:spPr>
          <a:xfrm>
            <a:off x="4551578" y="2029968"/>
            <a:ext cx="3088538" cy="457200"/>
          </a:xfrm>
          <a:prstGeom prst="rect">
            <a:avLst/>
          </a:prstGeom>
          <a:noFill/>
          <a:ln/>
        </p:spPr>
        <p:txBody>
          <a:bodyPr wrap="square" lIns="0" tIns="0" rIns="0" bIns="0" rtlCol="0" anchor="t"/>
          <a:lstStyle/>
          <a:p>
            <a:pPr algn="ctr" indent="0" marL="0">
              <a:buNone/>
            </a:pPr>
            <a:r>
              <a:rPr lang="en-US" sz="1500" b="1" dirty="0">
                <a:solidFill>
                  <a:srgbClr val="16202B"/>
                </a:solidFill>
                <a:latin typeface="Calibri" pitchFamily="34" charset="0"/>
                <a:ea typeface="Calibri" pitchFamily="34" charset="-122"/>
                <a:cs typeface="Calibri" pitchFamily="34" charset="-120"/>
              </a:rPr>
              <a:t>Controller jämför</a:t>
            </a:r>
            <a:endParaRPr lang="en-US" sz="1500" dirty="0"/>
          </a:p>
        </p:txBody>
      </p:sp>
      <p:sp>
        <p:nvSpPr>
          <p:cNvPr id="10" name="Text 8"/>
          <p:cNvSpPr txBox="1"/>
          <p:nvPr/>
        </p:nvSpPr>
        <p:spPr>
          <a:xfrm>
            <a:off x="4551578" y="2450592"/>
            <a:ext cx="3088538" cy="978408"/>
          </a:xfrm>
          <a:prstGeom prst="rect">
            <a:avLst/>
          </a:prstGeom>
          <a:noFill/>
          <a:ln/>
        </p:spPr>
        <p:txBody>
          <a:bodyPr wrap="square" lIns="0" tIns="0" rIns="0" bIns="0" rtlCol="0" anchor="t"/>
          <a:lstStyle/>
          <a:p>
            <a:pPr algn="ctr" indent="0" marL="0">
              <a:lnSpc>
                <a:spcPct val="120000"/>
              </a:lnSpc>
              <a:buNone/>
            </a:pPr>
            <a:r>
              <a:rPr lang="en-US" sz="1050" dirty="0">
                <a:solidFill>
                  <a:srgbClr val="4A5568"/>
                </a:solidFill>
                <a:latin typeface="Arial" pitchFamily="34" charset="0"/>
                <a:ea typeface="Arial" pitchFamily="34" charset="-122"/>
                <a:cs typeface="Arial" pitchFamily="34" charset="-120"/>
              </a:rPr>
              <a:t>Önskat läge mot verkligt läge, om och om igen</a:t>
            </a:r>
            <a:endParaRPr lang="en-US" sz="1050" dirty="0"/>
          </a:p>
        </p:txBody>
      </p:sp>
      <p:sp>
        <p:nvSpPr>
          <p:cNvPr id="11" name="Shape 9"/>
          <p:cNvSpPr/>
          <p:nvPr/>
        </p:nvSpPr>
        <p:spPr>
          <a:xfrm>
            <a:off x="7836713" y="2578608"/>
            <a:ext cx="384048" cy="237744"/>
          </a:xfrm>
          <a:prstGeom prst="rightArrow">
            <a:avLst/>
          </a:prstGeom>
          <a:solidFill>
            <a:srgbClr val="3762FF"/>
          </a:solidFill>
          <a:ln/>
        </p:spPr>
      </p:sp>
      <p:sp>
        <p:nvSpPr>
          <p:cNvPr id="12" name="Shape 10"/>
          <p:cNvSpPr/>
          <p:nvPr/>
        </p:nvSpPr>
        <p:spPr>
          <a:xfrm>
            <a:off x="8280197" y="1828800"/>
            <a:ext cx="3362858" cy="1737360"/>
          </a:xfrm>
          <a:prstGeom prst="roundRect">
            <a:avLst>
              <a:gd name="adj" fmla="val 5263"/>
            </a:avLst>
          </a:prstGeom>
          <a:solidFill>
            <a:srgbClr val="FFFFFF"/>
          </a:solidFill>
          <a:ln w="12700">
            <a:solidFill>
              <a:srgbClr val="E4E7EC"/>
            </a:solidFill>
            <a:prstDash val="solid"/>
          </a:ln>
        </p:spPr>
      </p:sp>
      <p:sp>
        <p:nvSpPr>
          <p:cNvPr id="13" name="Text 11"/>
          <p:cNvSpPr txBox="1"/>
          <p:nvPr/>
        </p:nvSpPr>
        <p:spPr>
          <a:xfrm>
            <a:off x="8417357" y="2029968"/>
            <a:ext cx="3088538" cy="457200"/>
          </a:xfrm>
          <a:prstGeom prst="rect">
            <a:avLst/>
          </a:prstGeom>
          <a:noFill/>
          <a:ln/>
        </p:spPr>
        <p:txBody>
          <a:bodyPr wrap="square" lIns="0" tIns="0" rIns="0" bIns="0" rtlCol="0" anchor="t"/>
          <a:lstStyle/>
          <a:p>
            <a:pPr algn="ctr" indent="0" marL="0">
              <a:buNone/>
            </a:pPr>
            <a:r>
              <a:rPr lang="en-US" sz="1500" b="1" dirty="0">
                <a:solidFill>
                  <a:srgbClr val="16202B"/>
                </a:solidFill>
                <a:latin typeface="Calibri" pitchFamily="34" charset="0"/>
                <a:ea typeface="Calibri" pitchFamily="34" charset="-122"/>
                <a:cs typeface="Calibri" pitchFamily="34" charset="-120"/>
              </a:rPr>
              <a:t>Kubernetes agerar</a:t>
            </a:r>
            <a:endParaRPr lang="en-US" sz="1500" dirty="0"/>
          </a:p>
        </p:txBody>
      </p:sp>
      <p:sp>
        <p:nvSpPr>
          <p:cNvPr id="14" name="Text 12"/>
          <p:cNvSpPr txBox="1"/>
          <p:nvPr/>
        </p:nvSpPr>
        <p:spPr>
          <a:xfrm>
            <a:off x="8417357" y="2450592"/>
            <a:ext cx="3088538" cy="978408"/>
          </a:xfrm>
          <a:prstGeom prst="rect">
            <a:avLst/>
          </a:prstGeom>
          <a:noFill/>
          <a:ln/>
        </p:spPr>
        <p:txBody>
          <a:bodyPr wrap="square" lIns="0" tIns="0" rIns="0" bIns="0" rtlCol="0" anchor="t"/>
          <a:lstStyle/>
          <a:p>
            <a:pPr algn="ctr" indent="0" marL="0">
              <a:lnSpc>
                <a:spcPct val="120000"/>
              </a:lnSpc>
              <a:buNone/>
            </a:pPr>
            <a:r>
              <a:rPr lang="en-US" sz="1050" dirty="0">
                <a:solidFill>
                  <a:srgbClr val="4A5568"/>
                </a:solidFill>
                <a:latin typeface="Arial" pitchFamily="34" charset="0"/>
                <a:ea typeface="Arial" pitchFamily="34" charset="-122"/>
                <a:cs typeface="Arial" pitchFamily="34" charset="-120"/>
              </a:rPr>
              <a:t>Skapar, tar bort eller startar om poddar vid behov</a:t>
            </a:r>
            <a:endParaRPr lang="en-US" sz="1050" dirty="0"/>
          </a:p>
        </p:txBody>
      </p:sp>
      <p:sp>
        <p:nvSpPr>
          <p:cNvPr id="15" name="Shape 13"/>
          <p:cNvSpPr/>
          <p:nvPr/>
        </p:nvSpPr>
        <p:spPr>
          <a:xfrm>
            <a:off x="548640" y="3931920"/>
            <a:ext cx="11094415" cy="1051560"/>
          </a:xfrm>
          <a:prstGeom prst="roundRect">
            <a:avLst>
              <a:gd name="adj" fmla="val 8696"/>
            </a:avLst>
          </a:prstGeom>
          <a:solidFill>
            <a:srgbClr val="3762FF"/>
          </a:solidFill>
          <a:ln/>
        </p:spPr>
      </p:sp>
      <p:sp>
        <p:nvSpPr>
          <p:cNvPr id="16" name="Text 14"/>
          <p:cNvSpPr txBox="1"/>
          <p:nvPr/>
        </p:nvSpPr>
        <p:spPr>
          <a:xfrm>
            <a:off x="914400" y="3931920"/>
            <a:ext cx="10362895" cy="1051560"/>
          </a:xfrm>
          <a:prstGeom prst="rect">
            <a:avLst/>
          </a:prstGeom>
          <a:noFill/>
          <a:ln/>
        </p:spPr>
        <p:txBody>
          <a:bodyPr wrap="square" lIns="0" tIns="0" rIns="0" bIns="0" rtlCol="0" anchor="ctr"/>
          <a:lstStyle/>
          <a:p>
            <a:pPr indent="0" marL="0">
              <a:lnSpc>
                <a:spcPct val="125000"/>
              </a:lnSpc>
              <a:buNone/>
            </a:pPr>
            <a:r>
              <a:rPr lang="en-US" sz="1700" b="1" dirty="0">
                <a:solidFill>
                  <a:srgbClr val="F5F7FA"/>
                </a:solidFill>
                <a:latin typeface="Arial" pitchFamily="34" charset="0"/>
                <a:ea typeface="Arial" pitchFamily="34" charset="-122"/>
                <a:cs typeface="Arial" pitchFamily="34" charset="-120"/>
              </a:rPr>
              <a:t>Ni beskriver aldrig HUR, steg för steg. Ni beskriver bara VAD ni vill ha - Kubernetes gör resten, om och om igen, för alltid.</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685800"/>
            <a:ext cx="11094415" cy="292608"/>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ARKITEKTUR</a:t>
            </a:r>
            <a:endParaRPr lang="en-US" sz="1200" dirty="0"/>
          </a:p>
        </p:txBody>
      </p:sp>
      <p:sp>
        <p:nvSpPr>
          <p:cNvPr id="3" name="Text 1"/>
          <p:cNvSpPr txBox="1"/>
          <p:nvPr/>
        </p:nvSpPr>
        <p:spPr>
          <a:xfrm>
            <a:off x="548640" y="1143000"/>
            <a:ext cx="10515600" cy="914400"/>
          </a:xfrm>
          <a:prstGeom prst="rect">
            <a:avLst/>
          </a:prstGeom>
          <a:noFill/>
          <a:ln/>
        </p:spPr>
        <p:txBody>
          <a:bodyPr wrap="square" lIns="0" tIns="0" rIns="0" bIns="0" rtlCol="0" anchor="ctr"/>
          <a:lstStyle/>
          <a:p>
            <a:pPr indent="0" marL="0">
              <a:buNone/>
            </a:pPr>
            <a:r>
              <a:rPr lang="en-US" sz="3200" b="1" dirty="0">
                <a:solidFill>
                  <a:srgbClr val="F5F7FA"/>
                </a:solidFill>
                <a:latin typeface="Calibri" pitchFamily="34" charset="0"/>
                <a:ea typeface="Calibri" pitchFamily="34" charset="-122"/>
                <a:cs typeface="Calibri" pitchFamily="34" charset="-120"/>
              </a:rPr>
              <a:t>Worker-noden: där jobbet faktiskt görs</a:t>
            </a:r>
            <a:endParaRPr lang="en-US" sz="3200" dirty="0"/>
          </a:p>
        </p:txBody>
      </p:sp>
      <p:sp>
        <p:nvSpPr>
          <p:cNvPr id="4" name="Text 2"/>
          <p:cNvSpPr txBox="1"/>
          <p:nvPr/>
        </p:nvSpPr>
        <p:spPr>
          <a:xfrm>
            <a:off x="548640" y="2286000"/>
            <a:ext cx="5212080" cy="2743200"/>
          </a:xfrm>
          <a:prstGeom prst="rect">
            <a:avLst/>
          </a:prstGeom>
          <a:noFill/>
          <a:ln/>
        </p:spPr>
        <p:txBody>
          <a:bodyPr wrap="square" lIns="0" tIns="0" rIns="0" bIns="0" rtlCol="0" anchor="t"/>
          <a:lstStyle/>
          <a:p>
            <a:pPr indent="0" marL="0">
              <a:lnSpc>
                <a:spcPct val="130000"/>
              </a:lnSpc>
              <a:buNone/>
            </a:pPr>
            <a:r>
              <a:rPr lang="en-US" sz="1500" dirty="0">
                <a:solidFill>
                  <a:srgbClr val="B9C4D1"/>
                </a:solidFill>
                <a:latin typeface="Arial" pitchFamily="34" charset="0"/>
                <a:ea typeface="Arial" pitchFamily="34" charset="-122"/>
                <a:cs typeface="Arial" pitchFamily="34" charset="-120"/>
              </a:rPr>
              <a:t>Worker-noderna (agentnoderna) är maskinerna som faktiskt kör era applikationer - era poddar. Ett kluster har normalt flera, ofta många.</a:t>
            </a:r>
            <a:endParaRPr lang="en-US" sz="1500" dirty="0"/>
          </a:p>
        </p:txBody>
      </p:sp>
      <p:sp>
        <p:nvSpPr>
          <p:cNvPr id="5" name="Shape 3"/>
          <p:cNvSpPr/>
          <p:nvPr/>
        </p:nvSpPr>
        <p:spPr>
          <a:xfrm>
            <a:off x="6126480" y="2331720"/>
            <a:ext cx="5513832" cy="621792"/>
          </a:xfrm>
          <a:prstGeom prst="roundRect">
            <a:avLst>
              <a:gd name="adj" fmla="val 14706"/>
            </a:avLst>
          </a:prstGeom>
          <a:solidFill>
            <a:srgbClr val="16294A"/>
          </a:solidFill>
          <a:ln/>
        </p:spPr>
      </p:sp>
      <p:sp>
        <p:nvSpPr>
          <p:cNvPr id="6" name="Text 4"/>
          <p:cNvSpPr txBox="1"/>
          <p:nvPr/>
        </p:nvSpPr>
        <p:spPr>
          <a:xfrm>
            <a:off x="6400800" y="2331720"/>
            <a:ext cx="5029200" cy="621792"/>
          </a:xfrm>
          <a:prstGeom prst="rect">
            <a:avLst/>
          </a:prstGeom>
          <a:noFill/>
          <a:ln/>
        </p:spPr>
        <p:txBody>
          <a:bodyPr wrap="square" lIns="0" tIns="0" rIns="0" bIns="0" rtlCol="0" anchor="ctr"/>
          <a:lstStyle/>
          <a:p>
            <a:pPr indent="0" marL="0">
              <a:buNone/>
            </a:pPr>
            <a:r>
              <a:rPr lang="en-US" sz="1500" dirty="0">
                <a:solidFill>
                  <a:srgbClr val="F5F7FA"/>
                </a:solidFill>
                <a:latin typeface="Arial" pitchFamily="34" charset="0"/>
                <a:ea typeface="Arial" pitchFamily="34" charset="-122"/>
                <a:cs typeface="Arial" pitchFamily="34" charset="-120"/>
              </a:rPr>
              <a:t>Kör era poddar och containrar</a:t>
            </a:r>
            <a:endParaRPr lang="en-US" sz="1500" dirty="0"/>
          </a:p>
        </p:txBody>
      </p:sp>
      <p:sp>
        <p:nvSpPr>
          <p:cNvPr id="7" name="Shape 5"/>
          <p:cNvSpPr/>
          <p:nvPr/>
        </p:nvSpPr>
        <p:spPr>
          <a:xfrm>
            <a:off x="6126480" y="3108960"/>
            <a:ext cx="5513832" cy="621792"/>
          </a:xfrm>
          <a:prstGeom prst="roundRect">
            <a:avLst>
              <a:gd name="adj" fmla="val 14706"/>
            </a:avLst>
          </a:prstGeom>
          <a:solidFill>
            <a:srgbClr val="16294A"/>
          </a:solidFill>
          <a:ln/>
        </p:spPr>
      </p:sp>
      <p:sp>
        <p:nvSpPr>
          <p:cNvPr id="8" name="Text 6"/>
          <p:cNvSpPr txBox="1"/>
          <p:nvPr/>
        </p:nvSpPr>
        <p:spPr>
          <a:xfrm>
            <a:off x="6400800" y="3108960"/>
            <a:ext cx="5029200" cy="621792"/>
          </a:xfrm>
          <a:prstGeom prst="rect">
            <a:avLst/>
          </a:prstGeom>
          <a:noFill/>
          <a:ln/>
        </p:spPr>
        <p:txBody>
          <a:bodyPr wrap="square" lIns="0" tIns="0" rIns="0" bIns="0" rtlCol="0" anchor="ctr"/>
          <a:lstStyle/>
          <a:p>
            <a:pPr indent="0" marL="0">
              <a:buNone/>
            </a:pPr>
            <a:r>
              <a:rPr lang="en-US" sz="1500" dirty="0">
                <a:solidFill>
                  <a:srgbClr val="F5F7FA"/>
                </a:solidFill>
                <a:latin typeface="Arial" pitchFamily="34" charset="0"/>
                <a:ea typeface="Arial" pitchFamily="34" charset="-122"/>
                <a:cs typeface="Arial" pitchFamily="34" charset="-120"/>
              </a:rPr>
              <a:t>Rapporterar status till control plane</a:t>
            </a:r>
            <a:endParaRPr lang="en-US" sz="1500" dirty="0"/>
          </a:p>
        </p:txBody>
      </p:sp>
      <p:sp>
        <p:nvSpPr>
          <p:cNvPr id="9" name="Shape 7"/>
          <p:cNvSpPr/>
          <p:nvPr/>
        </p:nvSpPr>
        <p:spPr>
          <a:xfrm>
            <a:off x="6126480" y="3886200"/>
            <a:ext cx="5513832" cy="621792"/>
          </a:xfrm>
          <a:prstGeom prst="roundRect">
            <a:avLst>
              <a:gd name="adj" fmla="val 14706"/>
            </a:avLst>
          </a:prstGeom>
          <a:solidFill>
            <a:srgbClr val="16294A"/>
          </a:solidFill>
          <a:ln/>
        </p:spPr>
      </p:sp>
      <p:sp>
        <p:nvSpPr>
          <p:cNvPr id="10" name="Text 8"/>
          <p:cNvSpPr txBox="1"/>
          <p:nvPr/>
        </p:nvSpPr>
        <p:spPr>
          <a:xfrm>
            <a:off x="6400800" y="3886200"/>
            <a:ext cx="5029200" cy="621792"/>
          </a:xfrm>
          <a:prstGeom prst="rect">
            <a:avLst/>
          </a:prstGeom>
          <a:noFill/>
          <a:ln/>
        </p:spPr>
        <p:txBody>
          <a:bodyPr wrap="square" lIns="0" tIns="0" rIns="0" bIns="0" rtlCol="0" anchor="ctr"/>
          <a:lstStyle/>
          <a:p>
            <a:pPr indent="0" marL="0">
              <a:buNone/>
            </a:pPr>
            <a:r>
              <a:rPr lang="en-US" sz="1500" dirty="0">
                <a:solidFill>
                  <a:srgbClr val="F5F7FA"/>
                </a:solidFill>
                <a:latin typeface="Arial" pitchFamily="34" charset="0"/>
                <a:ea typeface="Arial" pitchFamily="34" charset="-122"/>
                <a:cs typeface="Arial" pitchFamily="34" charset="-120"/>
              </a:rPr>
              <a:t>Sköter nätverket till poddarna på noden</a:t>
            </a:r>
            <a:endParaRPr lang="en-US" sz="1500" dirty="0"/>
          </a:p>
        </p:txBody>
      </p:sp>
      <p:sp>
        <p:nvSpPr>
          <p:cNvPr id="11" name="Shape 9"/>
          <p:cNvSpPr/>
          <p:nvPr/>
        </p:nvSpPr>
        <p:spPr>
          <a:xfrm>
            <a:off x="6126480" y="4663440"/>
            <a:ext cx="5513832" cy="621792"/>
          </a:xfrm>
          <a:prstGeom prst="roundRect">
            <a:avLst>
              <a:gd name="adj" fmla="val 14706"/>
            </a:avLst>
          </a:prstGeom>
          <a:solidFill>
            <a:srgbClr val="16294A"/>
          </a:solidFill>
          <a:ln/>
        </p:spPr>
      </p:sp>
      <p:sp>
        <p:nvSpPr>
          <p:cNvPr id="12" name="Text 10"/>
          <p:cNvSpPr txBox="1"/>
          <p:nvPr/>
        </p:nvSpPr>
        <p:spPr>
          <a:xfrm>
            <a:off x="6400800" y="4663440"/>
            <a:ext cx="5029200" cy="621792"/>
          </a:xfrm>
          <a:prstGeom prst="rect">
            <a:avLst/>
          </a:prstGeom>
          <a:noFill/>
          <a:ln/>
        </p:spPr>
        <p:txBody>
          <a:bodyPr wrap="square" lIns="0" tIns="0" rIns="0" bIns="0" rtlCol="0" anchor="ctr"/>
          <a:lstStyle/>
          <a:p>
            <a:pPr indent="0" marL="0">
              <a:buNone/>
            </a:pPr>
            <a:r>
              <a:rPr lang="en-US" sz="1500" dirty="0">
                <a:solidFill>
                  <a:srgbClr val="F5F7FA"/>
                </a:solidFill>
                <a:latin typeface="Arial" pitchFamily="34" charset="0"/>
                <a:ea typeface="Arial" pitchFamily="34" charset="-122"/>
                <a:cs typeface="Arial" pitchFamily="34" charset="-120"/>
              </a:rPr>
              <a:t>Finns oftast flera - ju fler, desto mer kapacitet</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ARKITEKTUR</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Tre processer på varje worker-nod</a:t>
            </a:r>
            <a:endParaRPr lang="en-US" sz="2700" dirty="0"/>
          </a:p>
        </p:txBody>
      </p:sp>
      <p:sp>
        <p:nvSpPr>
          <p:cNvPr id="4" name="Shape 2"/>
          <p:cNvSpPr/>
          <p:nvPr/>
        </p:nvSpPr>
        <p:spPr>
          <a:xfrm>
            <a:off x="548640" y="1737360"/>
            <a:ext cx="3551834" cy="3931920"/>
          </a:xfrm>
          <a:prstGeom prst="roundRect">
            <a:avLst>
              <a:gd name="adj" fmla="val 2574"/>
            </a:avLst>
          </a:prstGeom>
          <a:solidFill>
            <a:srgbClr val="FFFFFF"/>
          </a:solidFill>
          <a:ln w="12700">
            <a:solidFill>
              <a:srgbClr val="E4E7EC"/>
            </a:solidFill>
            <a:prstDash val="solid"/>
          </a:ln>
        </p:spPr>
      </p:sp>
      <p:sp>
        <p:nvSpPr>
          <p:cNvPr id="5" name="Text 3"/>
          <p:cNvSpPr txBox="1"/>
          <p:nvPr/>
        </p:nvSpPr>
        <p:spPr>
          <a:xfrm>
            <a:off x="749808" y="1920240"/>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kubelet</a:t>
            </a:r>
            <a:endParaRPr lang="en-US" sz="1550" dirty="0"/>
          </a:p>
        </p:txBody>
      </p:sp>
      <p:sp>
        <p:nvSpPr>
          <p:cNvPr id="6" name="Text 4"/>
          <p:cNvSpPr txBox="1"/>
          <p:nvPr/>
        </p:nvSpPr>
        <p:spPr>
          <a:xfrm>
            <a:off x="749808" y="2432304"/>
            <a:ext cx="3149498" cy="3072384"/>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Pratar med API-servern, får veta vilka poddar som ska köras här, och ser till att de faktiskt körs och mår bra.</a:t>
            </a:r>
            <a:endParaRPr lang="en-US" sz="1150" dirty="0"/>
          </a:p>
        </p:txBody>
      </p:sp>
      <p:sp>
        <p:nvSpPr>
          <p:cNvPr id="7" name="Shape 5"/>
          <p:cNvSpPr/>
          <p:nvPr/>
        </p:nvSpPr>
        <p:spPr>
          <a:xfrm>
            <a:off x="4319930" y="1737360"/>
            <a:ext cx="3551834" cy="3931920"/>
          </a:xfrm>
          <a:prstGeom prst="roundRect">
            <a:avLst>
              <a:gd name="adj" fmla="val 2574"/>
            </a:avLst>
          </a:prstGeom>
          <a:solidFill>
            <a:srgbClr val="FFFFFF"/>
          </a:solidFill>
          <a:ln w="12700">
            <a:solidFill>
              <a:srgbClr val="E4E7EC"/>
            </a:solidFill>
            <a:prstDash val="solid"/>
          </a:ln>
        </p:spPr>
      </p:sp>
      <p:sp>
        <p:nvSpPr>
          <p:cNvPr id="8" name="Text 6"/>
          <p:cNvSpPr txBox="1"/>
          <p:nvPr/>
        </p:nvSpPr>
        <p:spPr>
          <a:xfrm>
            <a:off x="4521098" y="1920240"/>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kube-proxy</a:t>
            </a:r>
            <a:endParaRPr lang="en-US" sz="1550" dirty="0"/>
          </a:p>
        </p:txBody>
      </p:sp>
      <p:sp>
        <p:nvSpPr>
          <p:cNvPr id="9" name="Text 7"/>
          <p:cNvSpPr txBox="1"/>
          <p:nvPr/>
        </p:nvSpPr>
        <p:spPr>
          <a:xfrm>
            <a:off x="4521098" y="2432304"/>
            <a:ext cx="3149498" cy="3072384"/>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Sköter nätverksreglerna så att trafik till en Service hittar rätt pod, på rätt nod.</a:t>
            </a:r>
            <a:endParaRPr lang="en-US" sz="1150" dirty="0"/>
          </a:p>
        </p:txBody>
      </p:sp>
      <p:sp>
        <p:nvSpPr>
          <p:cNvPr id="10" name="Shape 8"/>
          <p:cNvSpPr/>
          <p:nvPr/>
        </p:nvSpPr>
        <p:spPr>
          <a:xfrm>
            <a:off x="8091221" y="1737360"/>
            <a:ext cx="3551834" cy="3931920"/>
          </a:xfrm>
          <a:prstGeom prst="roundRect">
            <a:avLst>
              <a:gd name="adj" fmla="val 2574"/>
            </a:avLst>
          </a:prstGeom>
          <a:solidFill>
            <a:srgbClr val="FFFFFF"/>
          </a:solidFill>
          <a:ln w="12700">
            <a:solidFill>
              <a:srgbClr val="E4E7EC"/>
            </a:solidFill>
            <a:prstDash val="solid"/>
          </a:ln>
        </p:spPr>
      </p:sp>
      <p:sp>
        <p:nvSpPr>
          <p:cNvPr id="11" name="Text 9"/>
          <p:cNvSpPr txBox="1"/>
          <p:nvPr/>
        </p:nvSpPr>
        <p:spPr>
          <a:xfrm>
            <a:off x="8292389" y="1920240"/>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Container runtime</a:t>
            </a:r>
            <a:endParaRPr lang="en-US" sz="1550" dirty="0"/>
          </a:p>
        </p:txBody>
      </p:sp>
      <p:sp>
        <p:nvSpPr>
          <p:cNvPr id="12" name="Text 10"/>
          <p:cNvSpPr txBox="1"/>
          <p:nvPr/>
        </p:nvSpPr>
        <p:spPr>
          <a:xfrm>
            <a:off x="8292389" y="2432304"/>
            <a:ext cx="3149498" cy="3072384"/>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Programmet som faktiskt startar och stoppar containrar, t.ex. containerd.</a:t>
            </a:r>
            <a:endParaRPr lang="en-US" sz="1150" dirty="0"/>
          </a:p>
        </p:txBody>
      </p:sp>
      <p:sp>
        <p:nvSpPr>
          <p:cNvPr id="13" name="Text 11"/>
          <p:cNvSpPr txBox="1"/>
          <p:nvPr/>
        </p:nvSpPr>
        <p:spPr>
          <a:xfrm>
            <a:off x="548640" y="5852160"/>
            <a:ext cx="11094415" cy="457200"/>
          </a:xfrm>
          <a:prstGeom prst="rect">
            <a:avLst/>
          </a:prstGeom>
          <a:noFill/>
          <a:ln/>
        </p:spPr>
        <p:txBody>
          <a:bodyPr wrap="square" lIns="0" tIns="0" rIns="0" bIns="0" rtlCol="0" anchor="t"/>
          <a:lstStyle/>
          <a:p>
            <a:pPr indent="0" marL="0">
              <a:lnSpc>
                <a:spcPct val="130000"/>
              </a:lnSpc>
              <a:buNone/>
            </a:pPr>
            <a:r>
              <a:rPr lang="en-US" sz="1200" dirty="0">
                <a:solidFill>
                  <a:srgbClr val="6A7179"/>
                </a:solidFill>
                <a:latin typeface="Arial" pitchFamily="34" charset="0"/>
                <a:ea typeface="Arial" pitchFamily="34" charset="-122"/>
                <a:cs typeface="Arial" pitchFamily="34" charset="-120"/>
              </a:rPr>
              <a:t>kubelet är nodens bakport till control plane - allt kubelet gör är styrt av vad API-servern säger.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914400"/>
            <a:ext cx="4572000" cy="23774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04</a:t>
            </a:r>
            <a:endParaRPr lang="en-US" sz="15000" dirty="0"/>
          </a:p>
        </p:txBody>
      </p:sp>
      <p:sp>
        <p:nvSpPr>
          <p:cNvPr id="3" name="Text 1"/>
          <p:cNvSpPr txBox="1"/>
          <p:nvPr/>
        </p:nvSpPr>
        <p:spPr>
          <a:xfrm>
            <a:off x="548640" y="3200400"/>
            <a:ext cx="9144000" cy="100584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Poddar &amp; Namespace</a:t>
            </a:r>
            <a:endParaRPr lang="en-US" sz="5200" dirty="0"/>
          </a:p>
        </p:txBody>
      </p:sp>
      <p:sp>
        <p:nvSpPr>
          <p:cNvPr id="4" name="Text 2"/>
          <p:cNvSpPr txBox="1"/>
          <p:nvPr/>
        </p:nvSpPr>
        <p:spPr>
          <a:xfrm>
            <a:off x="548640" y="4206240"/>
            <a:ext cx="8229600" cy="548640"/>
          </a:xfrm>
          <a:prstGeom prst="rect">
            <a:avLst/>
          </a:prstGeom>
          <a:noFill/>
          <a:ln/>
        </p:spPr>
        <p:txBody>
          <a:bodyPr wrap="square" lIns="0" tIns="0" rIns="0" bIns="0" rtlCol="0" anchor="ctr"/>
          <a:lstStyle/>
          <a:p>
            <a:pPr indent="0" marL="0">
              <a:buNone/>
            </a:pPr>
            <a:r>
              <a:rPr lang="en-US" sz="1800" dirty="0">
                <a:solidFill>
                  <a:srgbClr val="B9C4D1"/>
                </a:solidFill>
                <a:latin typeface="Arial" pitchFamily="34" charset="0"/>
                <a:ea typeface="Arial" pitchFamily="34" charset="-122"/>
                <a:cs typeface="Arial" pitchFamily="34" charset="-120"/>
              </a:rPr>
              <a:t>Den minsta byggstenen, och hur klustret delas upp</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PODDAR</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Podden - den minsta byggstenen</a:t>
            </a:r>
            <a:endParaRPr lang="en-US" sz="2700" dirty="0"/>
          </a:p>
        </p:txBody>
      </p:sp>
      <p:sp>
        <p:nvSpPr>
          <p:cNvPr id="4" name="Text 2"/>
          <p:cNvSpPr txBox="1"/>
          <p:nvPr/>
        </p:nvSpPr>
        <p:spPr>
          <a:xfrm>
            <a:off x="548640" y="1828800"/>
            <a:ext cx="5120640" cy="3108960"/>
          </a:xfrm>
          <a:prstGeom prst="rect">
            <a:avLst/>
          </a:prstGeom>
          <a:noFill/>
          <a:ln/>
        </p:spPr>
        <p:txBody>
          <a:bodyPr wrap="square" lIns="0" tIns="0" rIns="0" bIns="0" rtlCol="0" anchor="t"/>
          <a:lstStyle/>
          <a:p>
            <a:pPr indent="0" marL="0">
              <a:lnSpc>
                <a:spcPct val="130000"/>
              </a:lnSpc>
              <a:buNone/>
            </a:pPr>
            <a:r>
              <a:rPr lang="en-US" sz="1500" dirty="0">
                <a:solidFill>
                  <a:srgbClr val="4A5568"/>
                </a:solidFill>
                <a:latin typeface="Arial" pitchFamily="34" charset="0"/>
                <a:ea typeface="Arial" pitchFamily="34" charset="-122"/>
                <a:cs typeface="Arial" pitchFamily="34" charset="-120"/>
              </a:rPr>
              <a:t>En Pod är den minsta enheten Kubernetes schemalägger. Den innehåller en eller flera containrar som alltid körs tillsammans, på samma nod, och delar nätverk och lagring.</a:t>
            </a:r>
            <a:endParaRPr lang="en-US" sz="1500" dirty="0"/>
          </a:p>
        </p:txBody>
      </p:sp>
      <p:sp>
        <p:nvSpPr>
          <p:cNvPr id="5" name="Shape 3"/>
          <p:cNvSpPr/>
          <p:nvPr/>
        </p:nvSpPr>
        <p:spPr>
          <a:xfrm>
            <a:off x="6126480" y="1783080"/>
            <a:ext cx="5513832" cy="3749040"/>
          </a:xfrm>
          <a:prstGeom prst="roundRect">
            <a:avLst>
              <a:gd name="adj" fmla="val 2439"/>
            </a:avLst>
          </a:prstGeom>
          <a:solidFill>
            <a:srgbClr val="FFFFFF"/>
          </a:solidFill>
          <a:ln w="31750">
            <a:solidFill>
              <a:srgbClr val="3762FF"/>
            </a:solidFill>
            <a:prstDash val="dash"/>
          </a:ln>
        </p:spPr>
      </p:sp>
      <p:sp>
        <p:nvSpPr>
          <p:cNvPr id="6" name="Text 4"/>
          <p:cNvSpPr txBox="1"/>
          <p:nvPr/>
        </p:nvSpPr>
        <p:spPr>
          <a:xfrm>
            <a:off x="6355080" y="1965960"/>
            <a:ext cx="5029200" cy="274320"/>
          </a:xfrm>
          <a:prstGeom prst="rect">
            <a:avLst/>
          </a:prstGeom>
          <a:noFill/>
          <a:ln/>
        </p:spPr>
        <p:txBody>
          <a:bodyPr wrap="square" lIns="0" tIns="0" rIns="0" bIns="0" rtlCol="0" anchor="ctr"/>
          <a:lstStyle/>
          <a:p>
            <a:pPr indent="0" marL="0">
              <a:buNone/>
            </a:pPr>
            <a:r>
              <a:rPr lang="en-US" sz="1100" b="1" dirty="0">
                <a:solidFill>
                  <a:srgbClr val="3762FF"/>
                </a:solidFill>
                <a:latin typeface="Arial" pitchFamily="34" charset="0"/>
                <a:ea typeface="Arial" pitchFamily="34" charset="-122"/>
                <a:cs typeface="Arial" pitchFamily="34" charset="-120"/>
              </a:rPr>
              <a:t>POD</a:t>
            </a:r>
            <a:endParaRPr lang="en-US" sz="1100" dirty="0"/>
          </a:p>
        </p:txBody>
      </p:sp>
      <p:sp>
        <p:nvSpPr>
          <p:cNvPr id="7" name="Shape 5"/>
          <p:cNvSpPr/>
          <p:nvPr/>
        </p:nvSpPr>
        <p:spPr>
          <a:xfrm>
            <a:off x="6355080" y="2331720"/>
            <a:ext cx="5029200" cy="685800"/>
          </a:xfrm>
          <a:prstGeom prst="roundRect">
            <a:avLst>
              <a:gd name="adj" fmla="val 13333"/>
            </a:avLst>
          </a:prstGeom>
          <a:solidFill>
            <a:srgbClr val="0F1F33"/>
          </a:solidFill>
          <a:ln/>
        </p:spPr>
      </p:sp>
      <p:sp>
        <p:nvSpPr>
          <p:cNvPr id="8" name="Text 6"/>
          <p:cNvSpPr txBox="1"/>
          <p:nvPr/>
        </p:nvSpPr>
        <p:spPr>
          <a:xfrm>
            <a:off x="6583680" y="2331720"/>
            <a:ext cx="4572000" cy="685800"/>
          </a:xfrm>
          <a:prstGeom prst="rect">
            <a:avLst/>
          </a:prstGeom>
          <a:noFill/>
          <a:ln/>
        </p:spPr>
        <p:txBody>
          <a:bodyPr wrap="square" lIns="0" tIns="0" rIns="0" bIns="0" rtlCol="0" anchor="ctr"/>
          <a:lstStyle/>
          <a:p>
            <a:pPr indent="0" marL="0">
              <a:buNone/>
            </a:pPr>
            <a:r>
              <a:rPr lang="en-US" sz="1500" b="1" dirty="0">
                <a:solidFill>
                  <a:srgbClr val="F5F7FA"/>
                </a:solidFill>
                <a:latin typeface="Calibri" pitchFamily="34" charset="0"/>
                <a:ea typeface="Calibri" pitchFamily="34" charset="-122"/>
                <a:cs typeface="Calibri" pitchFamily="34" charset="-120"/>
              </a:rPr>
              <a:t>Container: min-api</a:t>
            </a:r>
            <a:endParaRPr lang="en-US" sz="1500" dirty="0"/>
          </a:p>
        </p:txBody>
      </p:sp>
      <p:sp>
        <p:nvSpPr>
          <p:cNvPr id="9" name="Shape 7"/>
          <p:cNvSpPr/>
          <p:nvPr/>
        </p:nvSpPr>
        <p:spPr>
          <a:xfrm>
            <a:off x="6355080" y="3154680"/>
            <a:ext cx="5029200" cy="685800"/>
          </a:xfrm>
          <a:prstGeom prst="roundRect">
            <a:avLst>
              <a:gd name="adj" fmla="val 13333"/>
            </a:avLst>
          </a:prstGeom>
          <a:solidFill>
            <a:srgbClr val="6A7179"/>
          </a:solidFill>
          <a:ln/>
        </p:spPr>
      </p:sp>
      <p:sp>
        <p:nvSpPr>
          <p:cNvPr id="10" name="Text 8"/>
          <p:cNvSpPr txBox="1"/>
          <p:nvPr/>
        </p:nvSpPr>
        <p:spPr>
          <a:xfrm>
            <a:off x="6583680" y="3154680"/>
            <a:ext cx="4572000" cy="685800"/>
          </a:xfrm>
          <a:prstGeom prst="rect">
            <a:avLst/>
          </a:prstGeom>
          <a:noFill/>
          <a:ln/>
        </p:spPr>
        <p:txBody>
          <a:bodyPr wrap="square" lIns="0" tIns="0" rIns="0" bIns="0" rtlCol="0" anchor="ctr"/>
          <a:lstStyle/>
          <a:p>
            <a:pPr indent="0" marL="0">
              <a:buNone/>
            </a:pPr>
            <a:r>
              <a:rPr lang="en-US" sz="1500" b="1" dirty="0">
                <a:solidFill>
                  <a:srgbClr val="F5F7FA"/>
                </a:solidFill>
                <a:latin typeface="Calibri" pitchFamily="34" charset="0"/>
                <a:ea typeface="Calibri" pitchFamily="34" charset="-122"/>
                <a:cs typeface="Calibri" pitchFamily="34" charset="-120"/>
              </a:rPr>
              <a:t>Container: log-shipper (valfri)</a:t>
            </a:r>
            <a:endParaRPr lang="en-US" sz="1500" dirty="0"/>
          </a:p>
        </p:txBody>
      </p:sp>
      <p:sp>
        <p:nvSpPr>
          <p:cNvPr id="11" name="Shape 9"/>
          <p:cNvSpPr/>
          <p:nvPr/>
        </p:nvSpPr>
        <p:spPr>
          <a:xfrm>
            <a:off x="6355080" y="3977640"/>
            <a:ext cx="5029200" cy="548640"/>
          </a:xfrm>
          <a:prstGeom prst="roundRect">
            <a:avLst>
              <a:gd name="adj" fmla="val 16667"/>
            </a:avLst>
          </a:prstGeom>
          <a:solidFill>
            <a:srgbClr val="E8EDFF"/>
          </a:solidFill>
          <a:ln/>
        </p:spPr>
      </p:sp>
      <p:sp>
        <p:nvSpPr>
          <p:cNvPr id="12" name="Text 10"/>
          <p:cNvSpPr txBox="1"/>
          <p:nvPr/>
        </p:nvSpPr>
        <p:spPr>
          <a:xfrm>
            <a:off x="6583680" y="3977640"/>
            <a:ext cx="4572000" cy="548640"/>
          </a:xfrm>
          <a:prstGeom prst="rect">
            <a:avLst/>
          </a:prstGeom>
          <a:noFill/>
          <a:ln/>
        </p:spPr>
        <p:txBody>
          <a:bodyPr wrap="square" lIns="0" tIns="0" rIns="0" bIns="0" rtlCol="0" anchor="ctr"/>
          <a:lstStyle/>
          <a:p>
            <a:pPr indent="0" marL="0">
              <a:buNone/>
            </a:pPr>
            <a:r>
              <a:rPr lang="en-US" sz="1300" b="1" dirty="0">
                <a:solidFill>
                  <a:srgbClr val="16202B"/>
                </a:solidFill>
                <a:latin typeface="Arial" pitchFamily="34" charset="0"/>
                <a:ea typeface="Arial" pitchFamily="34" charset="-122"/>
                <a:cs typeface="Arial" pitchFamily="34" charset="-120"/>
              </a:rPr>
              <a:t>Delad IP-adress · Delad lagring</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PODDAR</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500" b="1" dirty="0">
                <a:solidFill>
                  <a:srgbClr val="16202B"/>
                </a:solidFill>
                <a:latin typeface="Calibri" pitchFamily="34" charset="0"/>
                <a:ea typeface="Calibri" pitchFamily="34" charset="-122"/>
                <a:cs typeface="Calibri" pitchFamily="34" charset="-120"/>
              </a:rPr>
              <a:t>Varför inte bara köra containrar direkt?</a:t>
            </a:r>
            <a:endParaRPr lang="en-US" sz="2500" dirty="0"/>
          </a:p>
        </p:txBody>
      </p:sp>
      <p:sp>
        <p:nvSpPr>
          <p:cNvPr id="4" name="Shape 2"/>
          <p:cNvSpPr/>
          <p:nvPr/>
        </p:nvSpPr>
        <p:spPr>
          <a:xfrm>
            <a:off x="548640" y="1691640"/>
            <a:ext cx="3551834" cy="3108960"/>
          </a:xfrm>
          <a:prstGeom prst="roundRect">
            <a:avLst>
              <a:gd name="adj" fmla="val 2941"/>
            </a:avLst>
          </a:prstGeom>
          <a:solidFill>
            <a:srgbClr val="FFFFFF"/>
          </a:solidFill>
          <a:ln w="12700">
            <a:solidFill>
              <a:srgbClr val="E4E7EC"/>
            </a:solidFill>
            <a:prstDash val="solid"/>
          </a:ln>
        </p:spPr>
      </p:sp>
      <p:sp>
        <p:nvSpPr>
          <p:cNvPr id="5" name="Text 3"/>
          <p:cNvSpPr txBox="1"/>
          <p:nvPr/>
        </p:nvSpPr>
        <p:spPr>
          <a:xfrm>
            <a:off x="749808" y="1874520"/>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Ett gemensamt kontrakt</a:t>
            </a:r>
            <a:endParaRPr lang="en-US" sz="1550" dirty="0"/>
          </a:p>
        </p:txBody>
      </p:sp>
      <p:sp>
        <p:nvSpPr>
          <p:cNvPr id="6" name="Text 4"/>
          <p:cNvSpPr txBox="1"/>
          <p:nvPr/>
        </p:nvSpPr>
        <p:spPr>
          <a:xfrm>
            <a:off x="749808" y="2386584"/>
            <a:ext cx="3149498" cy="2249424"/>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Kubernetes schemalägger, skalar och nätverkar alltid på pod-nivå - aldrig enskilda containrar.</a:t>
            </a:r>
            <a:endParaRPr lang="en-US" sz="1150" dirty="0"/>
          </a:p>
        </p:txBody>
      </p:sp>
      <p:sp>
        <p:nvSpPr>
          <p:cNvPr id="7" name="Shape 5"/>
          <p:cNvSpPr/>
          <p:nvPr/>
        </p:nvSpPr>
        <p:spPr>
          <a:xfrm>
            <a:off x="4319930" y="1691640"/>
            <a:ext cx="3551834" cy="3108960"/>
          </a:xfrm>
          <a:prstGeom prst="roundRect">
            <a:avLst>
              <a:gd name="adj" fmla="val 2941"/>
            </a:avLst>
          </a:prstGeom>
          <a:solidFill>
            <a:srgbClr val="FFFFFF"/>
          </a:solidFill>
          <a:ln w="12700">
            <a:solidFill>
              <a:srgbClr val="E4E7EC"/>
            </a:solidFill>
            <a:prstDash val="solid"/>
          </a:ln>
        </p:spPr>
      </p:sp>
      <p:sp>
        <p:nvSpPr>
          <p:cNvPr id="8" name="Text 6"/>
          <p:cNvSpPr txBox="1"/>
          <p:nvPr/>
        </p:nvSpPr>
        <p:spPr>
          <a:xfrm>
            <a:off x="4521098" y="1874520"/>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Ihopkopplade processer</a:t>
            </a:r>
            <a:endParaRPr lang="en-US" sz="1550" dirty="0"/>
          </a:p>
        </p:txBody>
      </p:sp>
      <p:sp>
        <p:nvSpPr>
          <p:cNvPr id="9" name="Text 7"/>
          <p:cNvSpPr txBox="1"/>
          <p:nvPr/>
        </p:nvSpPr>
        <p:spPr>
          <a:xfrm>
            <a:off x="4521098" y="2386584"/>
            <a:ext cx="3149498" cy="2249424"/>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En app och en hjälpprocess (t.ex. logg-vidarebefordran) som verkligen hör ihop kan dela pod.</a:t>
            </a:r>
            <a:endParaRPr lang="en-US" sz="1150" dirty="0"/>
          </a:p>
        </p:txBody>
      </p:sp>
      <p:sp>
        <p:nvSpPr>
          <p:cNvPr id="10" name="Shape 8"/>
          <p:cNvSpPr/>
          <p:nvPr/>
        </p:nvSpPr>
        <p:spPr>
          <a:xfrm>
            <a:off x="8091221" y="1691640"/>
            <a:ext cx="3551834" cy="3108960"/>
          </a:xfrm>
          <a:prstGeom prst="roundRect">
            <a:avLst>
              <a:gd name="adj" fmla="val 2941"/>
            </a:avLst>
          </a:prstGeom>
          <a:solidFill>
            <a:srgbClr val="FFFFFF"/>
          </a:solidFill>
          <a:ln w="12700">
            <a:solidFill>
              <a:srgbClr val="E4E7EC"/>
            </a:solidFill>
            <a:prstDash val="solid"/>
          </a:ln>
        </p:spPr>
      </p:sp>
      <p:sp>
        <p:nvSpPr>
          <p:cNvPr id="11" name="Text 9"/>
          <p:cNvSpPr txBox="1"/>
          <p:nvPr/>
        </p:nvSpPr>
        <p:spPr>
          <a:xfrm>
            <a:off x="8292389" y="1874520"/>
            <a:ext cx="3149498" cy="566928"/>
          </a:xfrm>
          <a:prstGeom prst="rect">
            <a:avLst/>
          </a:prstGeom>
          <a:noFill/>
          <a:ln/>
        </p:spPr>
        <p:txBody>
          <a:bodyPr wrap="square" lIns="0" tIns="0" rIns="0" bIns="0" rtlCol="0" anchor="t"/>
          <a:lstStyle/>
          <a:p>
            <a:pPr indent="0" marL="0">
              <a:buNone/>
            </a:pPr>
            <a:r>
              <a:rPr lang="en-US" sz="1550" b="1" dirty="0">
                <a:solidFill>
                  <a:srgbClr val="16202B"/>
                </a:solidFill>
                <a:latin typeface="Calibri" pitchFamily="34" charset="0"/>
                <a:ea typeface="Calibri" pitchFamily="34" charset="-122"/>
                <a:cs typeface="Calibri" pitchFamily="34" charset="-120"/>
              </a:rPr>
              <a:t>Enklare mental modell</a:t>
            </a:r>
            <a:endParaRPr lang="en-US" sz="1550" dirty="0"/>
          </a:p>
        </p:txBody>
      </p:sp>
      <p:sp>
        <p:nvSpPr>
          <p:cNvPr id="12" name="Text 10"/>
          <p:cNvSpPr txBox="1"/>
          <p:nvPr/>
        </p:nvSpPr>
        <p:spPr>
          <a:xfrm>
            <a:off x="8292389" y="2386584"/>
            <a:ext cx="3149498" cy="2249424"/>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“En instans av min tjänst” = en Pod. Ni tänker sällan på de enskilda containrarna.</a:t>
            </a:r>
            <a:endParaRPr lang="en-US" sz="1150" dirty="0"/>
          </a:p>
        </p:txBody>
      </p:sp>
      <p:sp>
        <p:nvSpPr>
          <p:cNvPr id="13" name="Text 11"/>
          <p:cNvSpPr txBox="1"/>
          <p:nvPr/>
        </p:nvSpPr>
        <p:spPr>
          <a:xfrm>
            <a:off x="548640" y="5029200"/>
            <a:ext cx="11094415" cy="548640"/>
          </a:xfrm>
          <a:prstGeom prst="rect">
            <a:avLst/>
          </a:prstGeom>
          <a:noFill/>
          <a:ln/>
        </p:spPr>
        <p:txBody>
          <a:bodyPr wrap="square" lIns="0" tIns="0" rIns="0" bIns="0" rtlCol="0" anchor="t"/>
          <a:lstStyle/>
          <a:p>
            <a:pPr indent="0" marL="0">
              <a:lnSpc>
                <a:spcPct val="130000"/>
              </a:lnSpc>
              <a:buNone/>
            </a:pPr>
            <a:r>
              <a:rPr lang="en-US" sz="1400" dirty="0">
                <a:solidFill>
                  <a:srgbClr val="4A5568"/>
                </a:solidFill>
                <a:latin typeface="Arial" pitchFamily="34" charset="0"/>
                <a:ea typeface="Arial" pitchFamily="34" charset="-122"/>
                <a:cs typeface="Arial" pitchFamily="34" charset="-120"/>
              </a:rPr>
              <a:t>I praktiken: 90% av alla poddar ni bygger under kursen kommer innehålla exakt EN container - er .NET-app eller er Angular-frontend.</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685800"/>
            <a:ext cx="11094415" cy="292608"/>
          </a:xfrm>
          <a:prstGeom prst="rect">
            <a:avLst/>
          </a:prstGeom>
          <a:noFill/>
          <a:ln/>
        </p:spPr>
        <p:txBody>
          <a:bodyPr wrap="square" lIns="0" tIns="0" rIns="0" bIns="0" rtlCol="0" anchor="ctr"/>
          <a:lstStyle/>
          <a:p>
            <a:pPr indent="0" marL="0">
              <a:buNone/>
            </a:pPr>
            <a:r>
              <a:rPr lang="en-US" sz="1200" b="1" spc="200" kern="0" dirty="0">
                <a:solidFill>
                  <a:srgbClr val="FFB020"/>
                </a:solidFill>
                <a:latin typeface="Arial" pitchFamily="34" charset="0"/>
                <a:ea typeface="Arial" pitchFamily="34" charset="-122"/>
                <a:cs typeface="Arial" pitchFamily="34" charset="-120"/>
              </a:rPr>
              <a:t>PODDAR</a:t>
            </a:r>
            <a:endParaRPr lang="en-US" sz="1200" dirty="0"/>
          </a:p>
        </p:txBody>
      </p:sp>
      <p:sp>
        <p:nvSpPr>
          <p:cNvPr id="3" name="Text 1"/>
          <p:cNvSpPr txBox="1"/>
          <p:nvPr/>
        </p:nvSpPr>
        <p:spPr>
          <a:xfrm>
            <a:off x="548640" y="1143000"/>
            <a:ext cx="10515600" cy="914400"/>
          </a:xfrm>
          <a:prstGeom prst="rect">
            <a:avLst/>
          </a:prstGeom>
          <a:noFill/>
          <a:ln/>
        </p:spPr>
        <p:txBody>
          <a:bodyPr wrap="square" lIns="0" tIns="0" rIns="0" bIns="0" rtlCol="0" anchor="ctr"/>
          <a:lstStyle/>
          <a:p>
            <a:pPr indent="0" marL="0">
              <a:buNone/>
            </a:pPr>
            <a:r>
              <a:rPr lang="en-US" sz="3200" b="1" dirty="0">
                <a:solidFill>
                  <a:srgbClr val="F5F7FA"/>
                </a:solidFill>
                <a:latin typeface="Calibri" pitchFamily="34" charset="0"/>
                <a:ea typeface="Calibri" pitchFamily="34" charset="-122"/>
                <a:cs typeface="Calibri" pitchFamily="34" charset="-120"/>
              </a:rPr>
              <a:t>Poddar är dödliga - och det är meningen</a:t>
            </a:r>
            <a:endParaRPr lang="en-US" sz="3200" dirty="0"/>
          </a:p>
        </p:txBody>
      </p:sp>
      <p:sp>
        <p:nvSpPr>
          <p:cNvPr id="4" name="Shape 2"/>
          <p:cNvSpPr/>
          <p:nvPr/>
        </p:nvSpPr>
        <p:spPr>
          <a:xfrm>
            <a:off x="548640" y="2286000"/>
            <a:ext cx="4389120" cy="1554480"/>
          </a:xfrm>
          <a:prstGeom prst="roundRect">
            <a:avLst>
              <a:gd name="adj" fmla="val 5882"/>
            </a:avLst>
          </a:prstGeom>
          <a:solidFill>
            <a:srgbClr val="16294A"/>
          </a:solidFill>
          <a:ln/>
        </p:spPr>
      </p:sp>
      <p:sp>
        <p:nvSpPr>
          <p:cNvPr id="5" name="Text 3"/>
          <p:cNvSpPr txBox="1"/>
          <p:nvPr/>
        </p:nvSpPr>
        <p:spPr>
          <a:xfrm>
            <a:off x="822960" y="2423160"/>
            <a:ext cx="3840480" cy="274320"/>
          </a:xfrm>
          <a:prstGeom prst="rect">
            <a:avLst/>
          </a:prstGeom>
          <a:noFill/>
          <a:ln/>
        </p:spPr>
        <p:txBody>
          <a:bodyPr wrap="square" lIns="0" tIns="0" rIns="0" bIns="0" rtlCol="0" anchor="ctr"/>
          <a:lstStyle/>
          <a:p>
            <a:pPr indent="0" marL="0">
              <a:buNone/>
            </a:pPr>
            <a:r>
              <a:rPr lang="en-US" sz="1100" b="1" dirty="0">
                <a:solidFill>
                  <a:srgbClr val="7C9CFF"/>
                </a:solidFill>
                <a:latin typeface="Arial" pitchFamily="34" charset="0"/>
                <a:ea typeface="Arial" pitchFamily="34" charset="-122"/>
                <a:cs typeface="Arial" pitchFamily="34" charset="-120"/>
              </a:rPr>
              <a:t>POD A</a:t>
            </a:r>
            <a:endParaRPr lang="en-US" sz="1100" dirty="0"/>
          </a:p>
        </p:txBody>
      </p:sp>
      <p:sp>
        <p:nvSpPr>
          <p:cNvPr id="6" name="Text 4"/>
          <p:cNvSpPr txBox="1"/>
          <p:nvPr/>
        </p:nvSpPr>
        <p:spPr>
          <a:xfrm>
            <a:off x="822960" y="2724912"/>
            <a:ext cx="3840480" cy="411480"/>
          </a:xfrm>
          <a:prstGeom prst="rect">
            <a:avLst/>
          </a:prstGeom>
          <a:noFill/>
          <a:ln/>
        </p:spPr>
        <p:txBody>
          <a:bodyPr wrap="square" lIns="0" tIns="0" rIns="0" bIns="0" rtlCol="0" anchor="ctr"/>
          <a:lstStyle/>
          <a:p>
            <a:pPr indent="0" marL="0">
              <a:buNone/>
            </a:pPr>
            <a:r>
              <a:rPr lang="en-US" sz="1800" dirty="0">
                <a:solidFill>
                  <a:srgbClr val="F5F7FA"/>
                </a:solidFill>
                <a:latin typeface="Courier New" pitchFamily="34" charset="0"/>
                <a:ea typeface="Courier New" pitchFamily="34" charset="-122"/>
                <a:cs typeface="Courier New" pitchFamily="34" charset="-120"/>
              </a:rPr>
              <a:t>IP: 10.1.2.5</a:t>
            </a:r>
            <a:endParaRPr lang="en-US" sz="1800" dirty="0"/>
          </a:p>
        </p:txBody>
      </p:sp>
      <p:sp>
        <p:nvSpPr>
          <p:cNvPr id="7" name="Text 5"/>
          <p:cNvSpPr txBox="1"/>
          <p:nvPr/>
        </p:nvSpPr>
        <p:spPr>
          <a:xfrm>
            <a:off x="822960" y="3200400"/>
            <a:ext cx="3840480" cy="365760"/>
          </a:xfrm>
          <a:prstGeom prst="rect">
            <a:avLst/>
          </a:prstGeom>
          <a:noFill/>
          <a:ln/>
        </p:spPr>
        <p:txBody>
          <a:bodyPr wrap="square" lIns="0" tIns="0" rIns="0" bIns="0" rtlCol="0" anchor="ctr"/>
          <a:lstStyle/>
          <a:p>
            <a:pPr indent="0" marL="0">
              <a:buNone/>
            </a:pPr>
            <a:r>
              <a:rPr lang="en-US" sz="1300" dirty="0">
                <a:solidFill>
                  <a:srgbClr val="B9C4D1"/>
                </a:solidFill>
                <a:latin typeface="Arial" pitchFamily="34" charset="0"/>
                <a:ea typeface="Arial" pitchFamily="34" charset="-122"/>
                <a:cs typeface="Arial" pitchFamily="34" charset="-120"/>
              </a:rPr>
              <a:t>Kraschar</a:t>
            </a:r>
            <a:endParaRPr lang="en-US" sz="1300" dirty="0"/>
          </a:p>
        </p:txBody>
      </p:sp>
      <p:sp>
        <p:nvSpPr>
          <p:cNvPr id="8" name="Shape 6"/>
          <p:cNvSpPr/>
          <p:nvPr/>
        </p:nvSpPr>
        <p:spPr>
          <a:xfrm>
            <a:off x="5166360" y="2926080"/>
            <a:ext cx="457200" cy="274320"/>
          </a:xfrm>
          <a:prstGeom prst="rightArrow">
            <a:avLst/>
          </a:prstGeom>
          <a:solidFill>
            <a:srgbClr val="FFB020"/>
          </a:solidFill>
          <a:ln/>
        </p:spPr>
      </p:sp>
      <p:sp>
        <p:nvSpPr>
          <p:cNvPr id="9" name="Shape 7"/>
          <p:cNvSpPr/>
          <p:nvPr/>
        </p:nvSpPr>
        <p:spPr>
          <a:xfrm>
            <a:off x="5852160" y="2286000"/>
            <a:ext cx="4389120" cy="1554480"/>
          </a:xfrm>
          <a:prstGeom prst="roundRect">
            <a:avLst>
              <a:gd name="adj" fmla="val 5882"/>
            </a:avLst>
          </a:prstGeom>
          <a:solidFill>
            <a:srgbClr val="16294A"/>
          </a:solidFill>
          <a:ln/>
        </p:spPr>
      </p:sp>
      <p:sp>
        <p:nvSpPr>
          <p:cNvPr id="10" name="Text 8"/>
          <p:cNvSpPr txBox="1"/>
          <p:nvPr/>
        </p:nvSpPr>
        <p:spPr>
          <a:xfrm>
            <a:off x="6126480" y="2423160"/>
            <a:ext cx="3840480" cy="274320"/>
          </a:xfrm>
          <a:prstGeom prst="rect">
            <a:avLst/>
          </a:prstGeom>
          <a:noFill/>
          <a:ln/>
        </p:spPr>
        <p:txBody>
          <a:bodyPr wrap="square" lIns="0" tIns="0" rIns="0" bIns="0" rtlCol="0" anchor="ctr"/>
          <a:lstStyle/>
          <a:p>
            <a:pPr indent="0" marL="0">
              <a:buNone/>
            </a:pPr>
            <a:r>
              <a:rPr lang="en-US" sz="1100" b="1" dirty="0">
                <a:solidFill>
                  <a:srgbClr val="7C9CFF"/>
                </a:solidFill>
                <a:latin typeface="Arial" pitchFamily="34" charset="0"/>
                <a:ea typeface="Arial" pitchFamily="34" charset="-122"/>
                <a:cs typeface="Arial" pitchFamily="34" charset="-120"/>
              </a:rPr>
              <a:t>NY POD A</a:t>
            </a:r>
            <a:endParaRPr lang="en-US" sz="1100" dirty="0"/>
          </a:p>
        </p:txBody>
      </p:sp>
      <p:sp>
        <p:nvSpPr>
          <p:cNvPr id="11" name="Text 9"/>
          <p:cNvSpPr txBox="1"/>
          <p:nvPr/>
        </p:nvSpPr>
        <p:spPr>
          <a:xfrm>
            <a:off x="6126480" y="2724912"/>
            <a:ext cx="3840480" cy="411480"/>
          </a:xfrm>
          <a:prstGeom prst="rect">
            <a:avLst/>
          </a:prstGeom>
          <a:noFill/>
          <a:ln/>
        </p:spPr>
        <p:txBody>
          <a:bodyPr wrap="square" lIns="0" tIns="0" rIns="0" bIns="0" rtlCol="0" anchor="ctr"/>
          <a:lstStyle/>
          <a:p>
            <a:pPr indent="0" marL="0">
              <a:buNone/>
            </a:pPr>
            <a:r>
              <a:rPr lang="en-US" sz="1800" dirty="0">
                <a:solidFill>
                  <a:srgbClr val="F5F7FA"/>
                </a:solidFill>
                <a:latin typeface="Courier New" pitchFamily="34" charset="0"/>
                <a:ea typeface="Courier New" pitchFamily="34" charset="-122"/>
                <a:cs typeface="Courier New" pitchFamily="34" charset="-120"/>
              </a:rPr>
              <a:t>IP: 10.1.2.19</a:t>
            </a:r>
            <a:endParaRPr lang="en-US" sz="1800" dirty="0"/>
          </a:p>
        </p:txBody>
      </p:sp>
      <p:sp>
        <p:nvSpPr>
          <p:cNvPr id="12" name="Text 10"/>
          <p:cNvSpPr txBox="1"/>
          <p:nvPr/>
        </p:nvSpPr>
        <p:spPr>
          <a:xfrm>
            <a:off x="6126480" y="3200400"/>
            <a:ext cx="3840480" cy="365760"/>
          </a:xfrm>
          <a:prstGeom prst="rect">
            <a:avLst/>
          </a:prstGeom>
          <a:noFill/>
          <a:ln/>
        </p:spPr>
        <p:txBody>
          <a:bodyPr wrap="square" lIns="0" tIns="0" rIns="0" bIns="0" rtlCol="0" anchor="ctr"/>
          <a:lstStyle/>
          <a:p>
            <a:pPr indent="0" marL="0">
              <a:buNone/>
            </a:pPr>
            <a:r>
              <a:rPr lang="en-US" sz="1300" dirty="0">
                <a:solidFill>
                  <a:srgbClr val="B9C4D1"/>
                </a:solidFill>
                <a:latin typeface="Arial" pitchFamily="34" charset="0"/>
                <a:ea typeface="Arial" pitchFamily="34" charset="-122"/>
                <a:cs typeface="Arial" pitchFamily="34" charset="-120"/>
              </a:rPr>
              <a:t>Helt ny identitet</a:t>
            </a:r>
            <a:endParaRPr lang="en-US" sz="1300" dirty="0"/>
          </a:p>
        </p:txBody>
      </p:sp>
      <p:sp>
        <p:nvSpPr>
          <p:cNvPr id="13" name="Text 11"/>
          <p:cNvSpPr txBox="1"/>
          <p:nvPr/>
        </p:nvSpPr>
        <p:spPr>
          <a:xfrm>
            <a:off x="548640" y="4206240"/>
            <a:ext cx="10332720" cy="1280160"/>
          </a:xfrm>
          <a:prstGeom prst="rect">
            <a:avLst/>
          </a:prstGeom>
          <a:noFill/>
          <a:ln/>
        </p:spPr>
        <p:txBody>
          <a:bodyPr wrap="square" lIns="0" tIns="0" rIns="0" bIns="0" rtlCol="0" anchor="t"/>
          <a:lstStyle/>
          <a:p>
            <a:pPr indent="0" marL="0">
              <a:lnSpc>
                <a:spcPct val="130000"/>
              </a:lnSpc>
              <a:buNone/>
            </a:pPr>
            <a:r>
              <a:rPr lang="en-US" sz="1500" dirty="0">
                <a:solidFill>
                  <a:srgbClr val="B9C4D1"/>
                </a:solidFill>
                <a:latin typeface="Arial" pitchFamily="34" charset="0"/>
                <a:ea typeface="Arial" pitchFamily="34" charset="-122"/>
                <a:cs typeface="Arial" pitchFamily="34" charset="-120"/>
              </a:rPr>
              <a:t>Poddar är avsiktligt flyktiga (ephemeral): de skapas, tas bort och ersätts - och får en NY IP-adress varje gång. Att hårdkoda en pods IP-adress fungerar aldrig i praktiken.</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PODDAR</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600" b="1" dirty="0">
                <a:solidFill>
                  <a:srgbClr val="16202B"/>
                </a:solidFill>
                <a:latin typeface="Calibri" pitchFamily="34" charset="0"/>
                <a:ea typeface="Calibri" pitchFamily="34" charset="-122"/>
                <a:cs typeface="Calibri" pitchFamily="34" charset="-120"/>
              </a:rPr>
              <a:t>Deployment håller poddarna vid liv</a:t>
            </a:r>
            <a:endParaRPr lang="en-US" sz="2600" dirty="0"/>
          </a:p>
        </p:txBody>
      </p:sp>
      <p:sp>
        <p:nvSpPr>
          <p:cNvPr id="4" name="Text 2"/>
          <p:cNvSpPr txBox="1"/>
          <p:nvPr/>
        </p:nvSpPr>
        <p:spPr>
          <a:xfrm>
            <a:off x="548640" y="1783080"/>
            <a:ext cx="5120640" cy="3383280"/>
          </a:xfrm>
          <a:prstGeom prst="rect">
            <a:avLst/>
          </a:prstGeom>
          <a:noFill/>
          <a:ln/>
        </p:spPr>
        <p:txBody>
          <a:bodyPr wrap="square" lIns="0" tIns="0" rIns="0" bIns="0" rtlCol="0" anchor="t"/>
          <a:lstStyle/>
          <a:p>
            <a:pPr indent="0" marL="0">
              <a:lnSpc>
                <a:spcPct val="130000"/>
              </a:lnSpc>
              <a:buNone/>
            </a:pPr>
            <a:r>
              <a:rPr lang="en-US" sz="1450" dirty="0">
                <a:solidFill>
                  <a:srgbClr val="4A5568"/>
                </a:solidFill>
                <a:latin typeface="Arial" pitchFamily="34" charset="0"/>
                <a:ea typeface="Arial" pitchFamily="34" charset="-122"/>
                <a:cs typeface="Arial" pitchFamily="34" charset="-120"/>
              </a:rPr>
              <a:t>Ni skapar sällan poddar direkt. Istället beskriver ni en Deployment: “kör 3 repliker av den här podden”. Deployment är den kontroller som ständigt ser till att exakt så många poddar finns, och hanterar uppdateringar utan avbrott.</a:t>
            </a:r>
            <a:endParaRPr lang="en-US" sz="1450" dirty="0"/>
          </a:p>
        </p:txBody>
      </p:sp>
      <p:sp>
        <p:nvSpPr>
          <p:cNvPr id="5" name="Shape 3"/>
          <p:cNvSpPr/>
          <p:nvPr/>
        </p:nvSpPr>
        <p:spPr>
          <a:xfrm>
            <a:off x="6126480" y="1783080"/>
            <a:ext cx="5513832" cy="2743200"/>
          </a:xfrm>
          <a:prstGeom prst="roundRect">
            <a:avLst>
              <a:gd name="adj" fmla="val 3333"/>
            </a:avLst>
          </a:prstGeom>
          <a:solidFill>
            <a:srgbClr val="FFFFFF"/>
          </a:solidFill>
          <a:ln w="12700">
            <a:solidFill>
              <a:srgbClr val="E4E7EC"/>
            </a:solidFill>
            <a:prstDash val="solid"/>
          </a:ln>
        </p:spPr>
      </p:sp>
      <p:sp>
        <p:nvSpPr>
          <p:cNvPr id="6" name="Text 4"/>
          <p:cNvSpPr txBox="1"/>
          <p:nvPr/>
        </p:nvSpPr>
        <p:spPr>
          <a:xfrm>
            <a:off x="6355080" y="1965960"/>
            <a:ext cx="5029200" cy="274320"/>
          </a:xfrm>
          <a:prstGeom prst="rect">
            <a:avLst/>
          </a:prstGeom>
          <a:noFill/>
          <a:ln/>
        </p:spPr>
        <p:txBody>
          <a:bodyPr wrap="square" lIns="0" tIns="0" rIns="0" bIns="0" rtlCol="0" anchor="ctr"/>
          <a:lstStyle/>
          <a:p>
            <a:pPr indent="0" marL="0">
              <a:buNone/>
            </a:pPr>
            <a:r>
              <a:rPr lang="en-US" sz="1050" b="1" dirty="0">
                <a:solidFill>
                  <a:srgbClr val="6A7179"/>
                </a:solidFill>
                <a:latin typeface="Arial" pitchFamily="34" charset="0"/>
                <a:ea typeface="Arial" pitchFamily="34" charset="-122"/>
                <a:cs typeface="Arial" pitchFamily="34" charset="-120"/>
              </a:rPr>
              <a:t>DEPLOYMENT: API, REPLIKER: 3</a:t>
            </a:r>
            <a:endParaRPr lang="en-US" sz="1050" dirty="0"/>
          </a:p>
        </p:txBody>
      </p:sp>
      <p:sp>
        <p:nvSpPr>
          <p:cNvPr id="7" name="Shape 5"/>
          <p:cNvSpPr/>
          <p:nvPr/>
        </p:nvSpPr>
        <p:spPr>
          <a:xfrm>
            <a:off x="6355080" y="2377440"/>
            <a:ext cx="1554480" cy="822960"/>
          </a:xfrm>
          <a:prstGeom prst="roundRect">
            <a:avLst>
              <a:gd name="adj" fmla="val 11111"/>
            </a:avLst>
          </a:prstGeom>
          <a:solidFill>
            <a:srgbClr val="E8EDFF"/>
          </a:solidFill>
          <a:ln/>
        </p:spPr>
      </p:sp>
      <p:sp>
        <p:nvSpPr>
          <p:cNvPr id="8" name="Text 6"/>
          <p:cNvSpPr txBox="1"/>
          <p:nvPr/>
        </p:nvSpPr>
        <p:spPr>
          <a:xfrm>
            <a:off x="6355080" y="2377440"/>
            <a:ext cx="1554480" cy="822960"/>
          </a:xfrm>
          <a:prstGeom prst="rect">
            <a:avLst/>
          </a:prstGeom>
          <a:noFill/>
          <a:ln/>
        </p:spPr>
        <p:txBody>
          <a:bodyPr wrap="square" lIns="0" tIns="0" rIns="0" bIns="0" rtlCol="0" anchor="ctr"/>
          <a:lstStyle/>
          <a:p>
            <a:pPr algn="ctr" indent="0" marL="0">
              <a:buNone/>
            </a:pPr>
            <a:r>
              <a:rPr lang="en-US" sz="1600" b="1" dirty="0">
                <a:solidFill>
                  <a:srgbClr val="16202B"/>
                </a:solidFill>
                <a:latin typeface="Calibri" pitchFamily="34" charset="0"/>
                <a:ea typeface="Calibri" pitchFamily="34" charset="-122"/>
                <a:cs typeface="Calibri" pitchFamily="34" charset="-120"/>
              </a:rPr>
              <a:t>Pod</a:t>
            </a:r>
            <a:endParaRPr lang="en-US" sz="1600" dirty="0"/>
          </a:p>
        </p:txBody>
      </p:sp>
      <p:sp>
        <p:nvSpPr>
          <p:cNvPr id="9" name="Shape 7"/>
          <p:cNvSpPr/>
          <p:nvPr/>
        </p:nvSpPr>
        <p:spPr>
          <a:xfrm>
            <a:off x="8092440" y="2377440"/>
            <a:ext cx="1554480" cy="822960"/>
          </a:xfrm>
          <a:prstGeom prst="roundRect">
            <a:avLst>
              <a:gd name="adj" fmla="val 11111"/>
            </a:avLst>
          </a:prstGeom>
          <a:solidFill>
            <a:srgbClr val="E8EDFF"/>
          </a:solidFill>
          <a:ln/>
        </p:spPr>
      </p:sp>
      <p:sp>
        <p:nvSpPr>
          <p:cNvPr id="10" name="Text 8"/>
          <p:cNvSpPr txBox="1"/>
          <p:nvPr/>
        </p:nvSpPr>
        <p:spPr>
          <a:xfrm>
            <a:off x="8092440" y="2377440"/>
            <a:ext cx="1554480" cy="822960"/>
          </a:xfrm>
          <a:prstGeom prst="rect">
            <a:avLst/>
          </a:prstGeom>
          <a:noFill/>
          <a:ln/>
        </p:spPr>
        <p:txBody>
          <a:bodyPr wrap="square" lIns="0" tIns="0" rIns="0" bIns="0" rtlCol="0" anchor="ctr"/>
          <a:lstStyle/>
          <a:p>
            <a:pPr algn="ctr" indent="0" marL="0">
              <a:buNone/>
            </a:pPr>
            <a:r>
              <a:rPr lang="en-US" sz="1600" b="1" dirty="0">
                <a:solidFill>
                  <a:srgbClr val="16202B"/>
                </a:solidFill>
                <a:latin typeface="Calibri" pitchFamily="34" charset="0"/>
                <a:ea typeface="Calibri" pitchFamily="34" charset="-122"/>
                <a:cs typeface="Calibri" pitchFamily="34" charset="-120"/>
              </a:rPr>
              <a:t>Pod</a:t>
            </a:r>
            <a:endParaRPr lang="en-US" sz="1600" dirty="0"/>
          </a:p>
        </p:txBody>
      </p:sp>
      <p:sp>
        <p:nvSpPr>
          <p:cNvPr id="11" name="Shape 9"/>
          <p:cNvSpPr/>
          <p:nvPr/>
        </p:nvSpPr>
        <p:spPr>
          <a:xfrm>
            <a:off x="9829800" y="2377440"/>
            <a:ext cx="1554480" cy="822960"/>
          </a:xfrm>
          <a:prstGeom prst="roundRect">
            <a:avLst>
              <a:gd name="adj" fmla="val 11111"/>
            </a:avLst>
          </a:prstGeom>
          <a:solidFill>
            <a:srgbClr val="E8EDFF"/>
          </a:solidFill>
          <a:ln/>
        </p:spPr>
      </p:sp>
      <p:sp>
        <p:nvSpPr>
          <p:cNvPr id="12" name="Text 10"/>
          <p:cNvSpPr txBox="1"/>
          <p:nvPr/>
        </p:nvSpPr>
        <p:spPr>
          <a:xfrm>
            <a:off x="9829800" y="2377440"/>
            <a:ext cx="1554480" cy="822960"/>
          </a:xfrm>
          <a:prstGeom prst="rect">
            <a:avLst/>
          </a:prstGeom>
          <a:noFill/>
          <a:ln/>
        </p:spPr>
        <p:txBody>
          <a:bodyPr wrap="square" lIns="0" tIns="0" rIns="0" bIns="0" rtlCol="0" anchor="ctr"/>
          <a:lstStyle/>
          <a:p>
            <a:pPr algn="ctr" indent="0" marL="0">
              <a:buNone/>
            </a:pPr>
            <a:r>
              <a:rPr lang="en-US" sz="1600" b="1" dirty="0">
                <a:solidFill>
                  <a:srgbClr val="16202B"/>
                </a:solidFill>
                <a:latin typeface="Calibri" pitchFamily="34" charset="0"/>
                <a:ea typeface="Calibri" pitchFamily="34" charset="-122"/>
                <a:cs typeface="Calibri" pitchFamily="34" charset="-120"/>
              </a:rPr>
              <a:t>Pod</a:t>
            </a:r>
            <a:endParaRPr lang="en-US" sz="1600" dirty="0"/>
          </a:p>
        </p:txBody>
      </p:sp>
      <p:sp>
        <p:nvSpPr>
          <p:cNvPr id="13" name="Text 11"/>
          <p:cNvSpPr txBox="1"/>
          <p:nvPr/>
        </p:nvSpPr>
        <p:spPr>
          <a:xfrm>
            <a:off x="6355080" y="3474720"/>
            <a:ext cx="5029200" cy="914400"/>
          </a:xfrm>
          <a:prstGeom prst="rect">
            <a:avLst/>
          </a:prstGeom>
          <a:noFill/>
          <a:ln/>
        </p:spPr>
        <p:txBody>
          <a:bodyPr wrap="square" lIns="0" tIns="0" rIns="0" bIns="0" rtlCol="0" anchor="t"/>
          <a:lstStyle/>
          <a:p>
            <a:pPr indent="0" marL="0">
              <a:lnSpc>
                <a:spcPct val="130000"/>
              </a:lnSpc>
              <a:buNone/>
            </a:pPr>
            <a:r>
              <a:rPr lang="en-US" sz="1300" dirty="0">
                <a:solidFill>
                  <a:srgbClr val="4A5568"/>
                </a:solidFill>
                <a:latin typeface="Arial" pitchFamily="34" charset="0"/>
                <a:ea typeface="Arial" pitchFamily="34" charset="-122"/>
                <a:cs typeface="Arial" pitchFamily="34" charset="-120"/>
              </a:rPr>
              <a:t>Dör en - skapas en ny automatiskt, tills det är 3 igen.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PODDAR</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500" b="1" dirty="0">
                <a:solidFill>
                  <a:srgbClr val="16202B"/>
                </a:solidFill>
                <a:latin typeface="Calibri" pitchFamily="34" charset="0"/>
                <a:ea typeface="Calibri" pitchFamily="34" charset="-122"/>
                <a:cs typeface="Calibri" pitchFamily="34" charset="-120"/>
              </a:rPr>
              <a:t>Namespace - logisk uppdelning av klustret</a:t>
            </a:r>
            <a:endParaRPr lang="en-US" sz="2500" dirty="0"/>
          </a:p>
        </p:txBody>
      </p:sp>
      <p:sp>
        <p:nvSpPr>
          <p:cNvPr id="4" name="Text 2"/>
          <p:cNvSpPr txBox="1"/>
          <p:nvPr/>
        </p:nvSpPr>
        <p:spPr>
          <a:xfrm>
            <a:off x="548640" y="1600200"/>
            <a:ext cx="11094415" cy="685800"/>
          </a:xfrm>
          <a:prstGeom prst="rect">
            <a:avLst/>
          </a:prstGeom>
          <a:noFill/>
          <a:ln/>
        </p:spPr>
        <p:txBody>
          <a:bodyPr wrap="square" lIns="0" tIns="0" rIns="0" bIns="0" rtlCol="0" anchor="t"/>
          <a:lstStyle/>
          <a:p>
            <a:pPr indent="0" marL="0">
              <a:lnSpc>
                <a:spcPct val="130000"/>
              </a:lnSpc>
              <a:buNone/>
            </a:pPr>
            <a:r>
              <a:rPr lang="en-US" sz="1400" dirty="0">
                <a:solidFill>
                  <a:srgbClr val="4A5568"/>
                </a:solidFill>
                <a:latin typeface="Arial" pitchFamily="34" charset="0"/>
                <a:ea typeface="Arial" pitchFamily="34" charset="-122"/>
                <a:cs typeface="Arial" pitchFamily="34" charset="-120"/>
              </a:rPr>
              <a:t>Ett kluster kan delas in i flera Namespace - egna namnrymder för resurser. Samma kluster, men isolerade rum: olika team, olika miljöer, olika behörigheter.</a:t>
            </a:r>
            <a:endParaRPr lang="en-US" sz="1400" dirty="0"/>
          </a:p>
        </p:txBody>
      </p:sp>
      <p:sp>
        <p:nvSpPr>
          <p:cNvPr id="5" name="Shape 3"/>
          <p:cNvSpPr/>
          <p:nvPr/>
        </p:nvSpPr>
        <p:spPr>
          <a:xfrm>
            <a:off x="548640" y="2423160"/>
            <a:ext cx="3545738" cy="2194560"/>
          </a:xfrm>
          <a:prstGeom prst="roundRect">
            <a:avLst>
              <a:gd name="adj" fmla="val 4167"/>
            </a:avLst>
          </a:prstGeom>
          <a:solidFill>
            <a:srgbClr val="FFFFFF"/>
          </a:solidFill>
          <a:ln w="19050">
            <a:solidFill>
              <a:srgbClr val="16202B"/>
            </a:solidFill>
            <a:prstDash val="solid"/>
          </a:ln>
        </p:spPr>
      </p:sp>
      <p:sp>
        <p:nvSpPr>
          <p:cNvPr id="6" name="Text 4"/>
          <p:cNvSpPr txBox="1"/>
          <p:nvPr/>
        </p:nvSpPr>
        <p:spPr>
          <a:xfrm>
            <a:off x="731520" y="2606040"/>
            <a:ext cx="3179978" cy="320040"/>
          </a:xfrm>
          <a:prstGeom prst="rect">
            <a:avLst/>
          </a:prstGeom>
          <a:noFill/>
          <a:ln/>
        </p:spPr>
        <p:txBody>
          <a:bodyPr wrap="square" lIns="0" tIns="0" rIns="0" bIns="0" rtlCol="0" anchor="ctr"/>
          <a:lstStyle/>
          <a:p>
            <a:pPr indent="0" marL="0">
              <a:buNone/>
            </a:pPr>
            <a:r>
              <a:rPr lang="en-US" sz="1100" b="1" dirty="0">
                <a:solidFill>
                  <a:srgbClr val="6A7179"/>
                </a:solidFill>
                <a:latin typeface="Arial" pitchFamily="34" charset="0"/>
                <a:ea typeface="Arial" pitchFamily="34" charset="-122"/>
                <a:cs typeface="Arial" pitchFamily="34" charset="-120"/>
              </a:rPr>
              <a:t>Namespace: dev</a:t>
            </a:r>
            <a:endParaRPr lang="en-US" sz="1100" dirty="0"/>
          </a:p>
        </p:txBody>
      </p:sp>
      <p:sp>
        <p:nvSpPr>
          <p:cNvPr id="7" name="Shape 5"/>
          <p:cNvSpPr/>
          <p:nvPr/>
        </p:nvSpPr>
        <p:spPr>
          <a:xfrm>
            <a:off x="731520" y="3017520"/>
            <a:ext cx="1521409" cy="685800"/>
          </a:xfrm>
          <a:prstGeom prst="roundRect">
            <a:avLst>
              <a:gd name="adj" fmla="val 13333"/>
            </a:avLst>
          </a:prstGeom>
          <a:solidFill>
            <a:srgbClr val="E8EDFF"/>
          </a:solidFill>
          <a:ln/>
        </p:spPr>
      </p:sp>
      <p:sp>
        <p:nvSpPr>
          <p:cNvPr id="8" name="Text 6"/>
          <p:cNvSpPr txBox="1"/>
          <p:nvPr/>
        </p:nvSpPr>
        <p:spPr>
          <a:xfrm>
            <a:off x="731520" y="3017520"/>
            <a:ext cx="1521409" cy="685800"/>
          </a:xfrm>
          <a:prstGeom prst="rect">
            <a:avLst/>
          </a:prstGeom>
          <a:noFill/>
          <a:ln/>
        </p:spPr>
        <p:txBody>
          <a:bodyPr wrap="square" lIns="0" tIns="0" rIns="0" bIns="0" rtlCol="0" anchor="ctr"/>
          <a:lstStyle/>
          <a:p>
            <a:pPr algn="ctr" indent="0" marL="0">
              <a:buNone/>
            </a:pPr>
            <a:r>
              <a:rPr lang="en-US" sz="1300" b="1" dirty="0">
                <a:solidFill>
                  <a:srgbClr val="16202B"/>
                </a:solidFill>
                <a:latin typeface="Arial" pitchFamily="34" charset="0"/>
                <a:ea typeface="Arial" pitchFamily="34" charset="-122"/>
                <a:cs typeface="Arial" pitchFamily="34" charset="-120"/>
              </a:rPr>
              <a:t>Pod</a:t>
            </a:r>
            <a:endParaRPr lang="en-US" sz="1300" dirty="0"/>
          </a:p>
        </p:txBody>
      </p:sp>
      <p:sp>
        <p:nvSpPr>
          <p:cNvPr id="9" name="Shape 7"/>
          <p:cNvSpPr/>
          <p:nvPr/>
        </p:nvSpPr>
        <p:spPr>
          <a:xfrm>
            <a:off x="2390089" y="3017520"/>
            <a:ext cx="1521409" cy="685800"/>
          </a:xfrm>
          <a:prstGeom prst="roundRect">
            <a:avLst>
              <a:gd name="adj" fmla="val 13333"/>
            </a:avLst>
          </a:prstGeom>
          <a:solidFill>
            <a:srgbClr val="E8EDFF"/>
          </a:solidFill>
          <a:ln/>
        </p:spPr>
      </p:sp>
      <p:sp>
        <p:nvSpPr>
          <p:cNvPr id="10" name="Text 8"/>
          <p:cNvSpPr txBox="1"/>
          <p:nvPr/>
        </p:nvSpPr>
        <p:spPr>
          <a:xfrm>
            <a:off x="2390089" y="3017520"/>
            <a:ext cx="1521409" cy="685800"/>
          </a:xfrm>
          <a:prstGeom prst="rect">
            <a:avLst/>
          </a:prstGeom>
          <a:noFill/>
          <a:ln/>
        </p:spPr>
        <p:txBody>
          <a:bodyPr wrap="square" lIns="0" tIns="0" rIns="0" bIns="0" rtlCol="0" anchor="ctr"/>
          <a:lstStyle/>
          <a:p>
            <a:pPr algn="ctr" indent="0" marL="0">
              <a:buNone/>
            </a:pPr>
            <a:r>
              <a:rPr lang="en-US" sz="1300" b="1" dirty="0">
                <a:solidFill>
                  <a:srgbClr val="16202B"/>
                </a:solidFill>
                <a:latin typeface="Arial" pitchFamily="34" charset="0"/>
                <a:ea typeface="Arial" pitchFamily="34" charset="-122"/>
                <a:cs typeface="Arial" pitchFamily="34" charset="-120"/>
              </a:rPr>
              <a:t>Pod</a:t>
            </a:r>
            <a:endParaRPr lang="en-US" sz="1300" dirty="0"/>
          </a:p>
        </p:txBody>
      </p:sp>
      <p:sp>
        <p:nvSpPr>
          <p:cNvPr id="11" name="Shape 9"/>
          <p:cNvSpPr/>
          <p:nvPr/>
        </p:nvSpPr>
        <p:spPr>
          <a:xfrm>
            <a:off x="4322978" y="2423160"/>
            <a:ext cx="3545738" cy="2194560"/>
          </a:xfrm>
          <a:prstGeom prst="roundRect">
            <a:avLst>
              <a:gd name="adj" fmla="val 4167"/>
            </a:avLst>
          </a:prstGeom>
          <a:solidFill>
            <a:srgbClr val="FFFFFF"/>
          </a:solidFill>
          <a:ln w="19050">
            <a:solidFill>
              <a:srgbClr val="16202B"/>
            </a:solidFill>
            <a:prstDash val="solid"/>
          </a:ln>
        </p:spPr>
      </p:sp>
      <p:sp>
        <p:nvSpPr>
          <p:cNvPr id="12" name="Text 10"/>
          <p:cNvSpPr txBox="1"/>
          <p:nvPr/>
        </p:nvSpPr>
        <p:spPr>
          <a:xfrm>
            <a:off x="4505858" y="2606040"/>
            <a:ext cx="3179978" cy="320040"/>
          </a:xfrm>
          <a:prstGeom prst="rect">
            <a:avLst/>
          </a:prstGeom>
          <a:noFill/>
          <a:ln/>
        </p:spPr>
        <p:txBody>
          <a:bodyPr wrap="square" lIns="0" tIns="0" rIns="0" bIns="0" rtlCol="0" anchor="ctr"/>
          <a:lstStyle/>
          <a:p>
            <a:pPr indent="0" marL="0">
              <a:buNone/>
            </a:pPr>
            <a:r>
              <a:rPr lang="en-US" sz="1100" b="1" dirty="0">
                <a:solidFill>
                  <a:srgbClr val="6A7179"/>
                </a:solidFill>
                <a:latin typeface="Arial" pitchFamily="34" charset="0"/>
                <a:ea typeface="Arial" pitchFamily="34" charset="-122"/>
                <a:cs typeface="Arial" pitchFamily="34" charset="-120"/>
              </a:rPr>
              <a:t>Namespace: test</a:t>
            </a:r>
            <a:endParaRPr lang="en-US" sz="1100" dirty="0"/>
          </a:p>
        </p:txBody>
      </p:sp>
      <p:sp>
        <p:nvSpPr>
          <p:cNvPr id="13" name="Shape 11"/>
          <p:cNvSpPr/>
          <p:nvPr/>
        </p:nvSpPr>
        <p:spPr>
          <a:xfrm>
            <a:off x="4505858" y="3017520"/>
            <a:ext cx="1521409" cy="685800"/>
          </a:xfrm>
          <a:prstGeom prst="roundRect">
            <a:avLst>
              <a:gd name="adj" fmla="val 13333"/>
            </a:avLst>
          </a:prstGeom>
          <a:solidFill>
            <a:srgbClr val="E8EDFF"/>
          </a:solidFill>
          <a:ln/>
        </p:spPr>
      </p:sp>
      <p:sp>
        <p:nvSpPr>
          <p:cNvPr id="14" name="Text 12"/>
          <p:cNvSpPr txBox="1"/>
          <p:nvPr/>
        </p:nvSpPr>
        <p:spPr>
          <a:xfrm>
            <a:off x="4505858" y="3017520"/>
            <a:ext cx="1521409" cy="685800"/>
          </a:xfrm>
          <a:prstGeom prst="rect">
            <a:avLst/>
          </a:prstGeom>
          <a:noFill/>
          <a:ln/>
        </p:spPr>
        <p:txBody>
          <a:bodyPr wrap="square" lIns="0" tIns="0" rIns="0" bIns="0" rtlCol="0" anchor="ctr"/>
          <a:lstStyle/>
          <a:p>
            <a:pPr algn="ctr" indent="0" marL="0">
              <a:buNone/>
            </a:pPr>
            <a:r>
              <a:rPr lang="en-US" sz="1300" b="1" dirty="0">
                <a:solidFill>
                  <a:srgbClr val="16202B"/>
                </a:solidFill>
                <a:latin typeface="Arial" pitchFamily="34" charset="0"/>
                <a:ea typeface="Arial" pitchFamily="34" charset="-122"/>
                <a:cs typeface="Arial" pitchFamily="34" charset="-120"/>
              </a:rPr>
              <a:t>Pod</a:t>
            </a:r>
            <a:endParaRPr lang="en-US" sz="1300" dirty="0"/>
          </a:p>
        </p:txBody>
      </p:sp>
      <p:sp>
        <p:nvSpPr>
          <p:cNvPr id="15" name="Shape 13"/>
          <p:cNvSpPr/>
          <p:nvPr/>
        </p:nvSpPr>
        <p:spPr>
          <a:xfrm>
            <a:off x="6164428" y="3017520"/>
            <a:ext cx="1521409" cy="685800"/>
          </a:xfrm>
          <a:prstGeom prst="roundRect">
            <a:avLst>
              <a:gd name="adj" fmla="val 13333"/>
            </a:avLst>
          </a:prstGeom>
          <a:solidFill>
            <a:srgbClr val="E8EDFF"/>
          </a:solidFill>
          <a:ln/>
        </p:spPr>
      </p:sp>
      <p:sp>
        <p:nvSpPr>
          <p:cNvPr id="16" name="Text 14"/>
          <p:cNvSpPr txBox="1"/>
          <p:nvPr/>
        </p:nvSpPr>
        <p:spPr>
          <a:xfrm>
            <a:off x="6164428" y="3017520"/>
            <a:ext cx="1521409" cy="685800"/>
          </a:xfrm>
          <a:prstGeom prst="rect">
            <a:avLst/>
          </a:prstGeom>
          <a:noFill/>
          <a:ln/>
        </p:spPr>
        <p:txBody>
          <a:bodyPr wrap="square" lIns="0" tIns="0" rIns="0" bIns="0" rtlCol="0" anchor="ctr"/>
          <a:lstStyle/>
          <a:p>
            <a:pPr algn="ctr" indent="0" marL="0">
              <a:buNone/>
            </a:pPr>
            <a:r>
              <a:rPr lang="en-US" sz="1300" b="1" dirty="0">
                <a:solidFill>
                  <a:srgbClr val="16202B"/>
                </a:solidFill>
                <a:latin typeface="Arial" pitchFamily="34" charset="0"/>
                <a:ea typeface="Arial" pitchFamily="34" charset="-122"/>
                <a:cs typeface="Arial" pitchFamily="34" charset="-120"/>
              </a:rPr>
              <a:t>Pod</a:t>
            </a:r>
            <a:endParaRPr lang="en-US" sz="1300" dirty="0"/>
          </a:p>
        </p:txBody>
      </p:sp>
      <p:sp>
        <p:nvSpPr>
          <p:cNvPr id="17" name="Shape 15"/>
          <p:cNvSpPr/>
          <p:nvPr/>
        </p:nvSpPr>
        <p:spPr>
          <a:xfrm>
            <a:off x="8097317" y="2423160"/>
            <a:ext cx="3545738" cy="2194560"/>
          </a:xfrm>
          <a:prstGeom prst="roundRect">
            <a:avLst>
              <a:gd name="adj" fmla="val 4167"/>
            </a:avLst>
          </a:prstGeom>
          <a:solidFill>
            <a:srgbClr val="FFFFFF"/>
          </a:solidFill>
          <a:ln w="25400">
            <a:solidFill>
              <a:srgbClr val="3762FF"/>
            </a:solidFill>
            <a:prstDash val="solid"/>
          </a:ln>
        </p:spPr>
      </p:sp>
      <p:sp>
        <p:nvSpPr>
          <p:cNvPr id="18" name="Text 16"/>
          <p:cNvSpPr txBox="1"/>
          <p:nvPr/>
        </p:nvSpPr>
        <p:spPr>
          <a:xfrm>
            <a:off x="8280197" y="2606040"/>
            <a:ext cx="3179978" cy="320040"/>
          </a:xfrm>
          <a:prstGeom prst="rect">
            <a:avLst/>
          </a:prstGeom>
          <a:noFill/>
          <a:ln/>
        </p:spPr>
        <p:txBody>
          <a:bodyPr wrap="square" lIns="0" tIns="0" rIns="0" bIns="0" rtlCol="0" anchor="ctr"/>
          <a:lstStyle/>
          <a:p>
            <a:pPr indent="0" marL="0">
              <a:buNone/>
            </a:pPr>
            <a:r>
              <a:rPr lang="en-US" sz="1100" b="1" dirty="0">
                <a:solidFill>
                  <a:srgbClr val="3762FF"/>
                </a:solidFill>
                <a:latin typeface="Arial" pitchFamily="34" charset="0"/>
                <a:ea typeface="Arial" pitchFamily="34" charset="-122"/>
                <a:cs typeface="Arial" pitchFamily="34" charset="-120"/>
              </a:rPr>
              <a:t>Namespace: prod</a:t>
            </a:r>
            <a:endParaRPr lang="en-US" sz="1100" dirty="0"/>
          </a:p>
        </p:txBody>
      </p:sp>
      <p:sp>
        <p:nvSpPr>
          <p:cNvPr id="19" name="Shape 17"/>
          <p:cNvSpPr/>
          <p:nvPr/>
        </p:nvSpPr>
        <p:spPr>
          <a:xfrm>
            <a:off x="8280197" y="3017520"/>
            <a:ext cx="1521409" cy="685800"/>
          </a:xfrm>
          <a:prstGeom prst="roundRect">
            <a:avLst>
              <a:gd name="adj" fmla="val 13333"/>
            </a:avLst>
          </a:prstGeom>
          <a:solidFill>
            <a:srgbClr val="E8EDFF"/>
          </a:solidFill>
          <a:ln/>
        </p:spPr>
      </p:sp>
      <p:sp>
        <p:nvSpPr>
          <p:cNvPr id="20" name="Text 18"/>
          <p:cNvSpPr txBox="1"/>
          <p:nvPr/>
        </p:nvSpPr>
        <p:spPr>
          <a:xfrm>
            <a:off x="8280197" y="3017520"/>
            <a:ext cx="1521409" cy="685800"/>
          </a:xfrm>
          <a:prstGeom prst="rect">
            <a:avLst/>
          </a:prstGeom>
          <a:noFill/>
          <a:ln/>
        </p:spPr>
        <p:txBody>
          <a:bodyPr wrap="square" lIns="0" tIns="0" rIns="0" bIns="0" rtlCol="0" anchor="ctr"/>
          <a:lstStyle/>
          <a:p>
            <a:pPr algn="ctr" indent="0" marL="0">
              <a:buNone/>
            </a:pPr>
            <a:r>
              <a:rPr lang="en-US" sz="1300" b="1" dirty="0">
                <a:solidFill>
                  <a:srgbClr val="16202B"/>
                </a:solidFill>
                <a:latin typeface="Arial" pitchFamily="34" charset="0"/>
                <a:ea typeface="Arial" pitchFamily="34" charset="-122"/>
                <a:cs typeface="Arial" pitchFamily="34" charset="-120"/>
              </a:rPr>
              <a:t>Pod</a:t>
            </a:r>
            <a:endParaRPr lang="en-US" sz="1300" dirty="0"/>
          </a:p>
        </p:txBody>
      </p:sp>
      <p:sp>
        <p:nvSpPr>
          <p:cNvPr id="21" name="Shape 19"/>
          <p:cNvSpPr/>
          <p:nvPr/>
        </p:nvSpPr>
        <p:spPr>
          <a:xfrm>
            <a:off x="9938766" y="3017520"/>
            <a:ext cx="1521409" cy="685800"/>
          </a:xfrm>
          <a:prstGeom prst="roundRect">
            <a:avLst>
              <a:gd name="adj" fmla="val 13333"/>
            </a:avLst>
          </a:prstGeom>
          <a:solidFill>
            <a:srgbClr val="E8EDFF"/>
          </a:solidFill>
          <a:ln/>
        </p:spPr>
      </p:sp>
      <p:sp>
        <p:nvSpPr>
          <p:cNvPr id="22" name="Text 20"/>
          <p:cNvSpPr txBox="1"/>
          <p:nvPr/>
        </p:nvSpPr>
        <p:spPr>
          <a:xfrm>
            <a:off x="9938766" y="3017520"/>
            <a:ext cx="1521409" cy="685800"/>
          </a:xfrm>
          <a:prstGeom prst="rect">
            <a:avLst/>
          </a:prstGeom>
          <a:noFill/>
          <a:ln/>
        </p:spPr>
        <p:txBody>
          <a:bodyPr wrap="square" lIns="0" tIns="0" rIns="0" bIns="0" rtlCol="0" anchor="ctr"/>
          <a:lstStyle/>
          <a:p>
            <a:pPr algn="ctr" indent="0" marL="0">
              <a:buNone/>
            </a:pPr>
            <a:r>
              <a:rPr lang="en-US" sz="1300" b="1" dirty="0">
                <a:solidFill>
                  <a:srgbClr val="16202B"/>
                </a:solidFill>
                <a:latin typeface="Arial" pitchFamily="34" charset="0"/>
                <a:ea typeface="Arial" pitchFamily="34" charset="-122"/>
                <a:cs typeface="Arial" pitchFamily="34" charset="-120"/>
              </a:rPr>
              <a:t>Pod</a:t>
            </a:r>
            <a:endParaRPr lang="en-US" sz="1300" dirty="0"/>
          </a:p>
        </p:txBody>
      </p:sp>
      <p:sp>
        <p:nvSpPr>
          <p:cNvPr id="23" name="Text 21"/>
          <p:cNvSpPr txBox="1"/>
          <p:nvPr/>
        </p:nvSpPr>
        <p:spPr>
          <a:xfrm>
            <a:off x="548640" y="4892040"/>
            <a:ext cx="11094415" cy="457200"/>
          </a:xfrm>
          <a:prstGeom prst="rect">
            <a:avLst/>
          </a:prstGeom>
          <a:noFill/>
          <a:ln/>
        </p:spPr>
        <p:txBody>
          <a:bodyPr wrap="square" lIns="0" tIns="0" rIns="0" bIns="0" rtlCol="0" anchor="t"/>
          <a:lstStyle/>
          <a:p>
            <a:pPr indent="0" marL="0">
              <a:lnSpc>
                <a:spcPct val="130000"/>
              </a:lnSpc>
              <a:buNone/>
            </a:pPr>
            <a:r>
              <a:rPr lang="en-US" sz="1200" dirty="0">
                <a:solidFill>
                  <a:srgbClr val="6A7179"/>
                </a:solidFill>
                <a:latin typeface="Arial" pitchFamily="34" charset="0"/>
                <a:ea typeface="Arial" pitchFamily="34" charset="-122"/>
                <a:cs typeface="Arial" pitchFamily="34" charset="-120"/>
              </a:rPr>
              <a:t>Namespace är osynligt för noderna - det är en indelning av objekt i klustret, inte av hårdvaran.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914400"/>
            <a:ext cx="4572000" cy="23774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05</a:t>
            </a:r>
            <a:endParaRPr lang="en-US" sz="15000" dirty="0"/>
          </a:p>
        </p:txBody>
      </p:sp>
      <p:sp>
        <p:nvSpPr>
          <p:cNvPr id="3" name="Text 1"/>
          <p:cNvSpPr txBox="1"/>
          <p:nvPr/>
        </p:nvSpPr>
        <p:spPr>
          <a:xfrm>
            <a:off x="548640" y="3200400"/>
            <a:ext cx="9144000" cy="100584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Nätverk</a:t>
            </a:r>
            <a:endParaRPr lang="en-US" sz="5200" dirty="0"/>
          </a:p>
        </p:txBody>
      </p:sp>
      <p:sp>
        <p:nvSpPr>
          <p:cNvPr id="4" name="Text 2"/>
          <p:cNvSpPr txBox="1"/>
          <p:nvPr/>
        </p:nvSpPr>
        <p:spPr>
          <a:xfrm>
            <a:off x="548640" y="4206240"/>
            <a:ext cx="8229600" cy="548640"/>
          </a:xfrm>
          <a:prstGeom prst="rect">
            <a:avLst/>
          </a:prstGeom>
          <a:noFill/>
          <a:ln/>
        </p:spPr>
        <p:txBody>
          <a:bodyPr wrap="square" lIns="0" tIns="0" rIns="0" bIns="0" rtlCol="0" anchor="ctr"/>
          <a:lstStyle/>
          <a:p>
            <a:pPr indent="0" marL="0">
              <a:buNone/>
            </a:pPr>
            <a:r>
              <a:rPr lang="en-US" sz="1800" dirty="0">
                <a:solidFill>
                  <a:srgbClr val="B9C4D1"/>
                </a:solidFill>
                <a:latin typeface="Arial" pitchFamily="34" charset="0"/>
                <a:ea typeface="Arial" pitchFamily="34" charset="-122"/>
                <a:cs typeface="Arial" pitchFamily="34" charset="-120"/>
              </a:rPr>
              <a:t>Service och Ingress - hur trafik hittar fram till rätt pod</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D64545"/>
                </a:solidFill>
                <a:latin typeface="Arial" pitchFamily="34" charset="0"/>
                <a:ea typeface="Arial" pitchFamily="34" charset="-122"/>
                <a:cs typeface="Arial" pitchFamily="34" charset="-120"/>
              </a:rPr>
              <a:t>NÄTVERK · PROBLEMET</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Poddar har ingen stabil adress</a:t>
            </a:r>
            <a:endParaRPr lang="en-US" sz="3000" dirty="0"/>
          </a:p>
        </p:txBody>
      </p:sp>
      <p:sp>
        <p:nvSpPr>
          <p:cNvPr id="4" name="Text 2"/>
          <p:cNvSpPr txBox="1"/>
          <p:nvPr/>
        </p:nvSpPr>
        <p:spPr>
          <a:xfrm>
            <a:off x="548640" y="1920240"/>
            <a:ext cx="5212080" cy="3291840"/>
          </a:xfrm>
          <a:prstGeom prst="rect">
            <a:avLst/>
          </a:prstGeom>
          <a:noFill/>
          <a:ln/>
        </p:spPr>
        <p:txBody>
          <a:bodyPr wrap="square" lIns="0" tIns="0" rIns="0" bIns="0" rtlCol="0" anchor="t"/>
          <a:lstStyle/>
          <a:p>
            <a:pPr indent="0" marL="0">
              <a:lnSpc>
                <a:spcPct val="130000"/>
              </a:lnSpc>
              <a:buNone/>
            </a:pPr>
            <a:r>
              <a:rPr lang="en-US" sz="1500" dirty="0">
                <a:solidFill>
                  <a:srgbClr val="4A5568"/>
                </a:solidFill>
                <a:latin typeface="Arial" pitchFamily="34" charset="0"/>
                <a:ea typeface="Arial" pitchFamily="34" charset="-122"/>
                <a:cs typeface="Arial" pitchFamily="34" charset="-120"/>
              </a:rPr>
              <a:t>Er frontend kan inte hårdkoda en pods IP-adress - podden kan vara borta och ersatt av en ny, med en ny adress, om några sekunder. Ni behöver något stabilt att peka på istället.</a:t>
            </a:r>
            <a:endParaRPr lang="en-US" sz="1500" dirty="0"/>
          </a:p>
        </p:txBody>
      </p:sp>
      <p:sp>
        <p:nvSpPr>
          <p:cNvPr id="5" name="Shape 3"/>
          <p:cNvSpPr/>
          <p:nvPr/>
        </p:nvSpPr>
        <p:spPr>
          <a:xfrm>
            <a:off x="6126480" y="2194560"/>
            <a:ext cx="5513832" cy="1645920"/>
          </a:xfrm>
          <a:prstGeom prst="roundRect">
            <a:avLst>
              <a:gd name="adj" fmla="val 5556"/>
            </a:avLst>
          </a:prstGeom>
          <a:solidFill>
            <a:srgbClr val="FFFFFF"/>
          </a:solidFill>
          <a:ln w="25400">
            <a:solidFill>
              <a:srgbClr val="D64545"/>
            </a:solidFill>
            <a:prstDash val="solid"/>
          </a:ln>
        </p:spPr>
      </p:sp>
      <p:sp>
        <p:nvSpPr>
          <p:cNvPr id="6" name="Text 4"/>
          <p:cNvSpPr txBox="1"/>
          <p:nvPr/>
        </p:nvSpPr>
        <p:spPr>
          <a:xfrm>
            <a:off x="6355080" y="2423160"/>
            <a:ext cx="5029200" cy="548640"/>
          </a:xfrm>
          <a:prstGeom prst="rect">
            <a:avLst/>
          </a:prstGeom>
          <a:noFill/>
          <a:ln/>
        </p:spPr>
        <p:txBody>
          <a:bodyPr wrap="square" lIns="0" tIns="0" rIns="0" bIns="0" rtlCol="0" anchor="ctr"/>
          <a:lstStyle/>
          <a:p>
            <a:pPr indent="0" marL="0">
              <a:buNone/>
            </a:pPr>
            <a:r>
              <a:rPr lang="en-US" sz="1600" dirty="0">
                <a:solidFill>
                  <a:srgbClr val="D64545"/>
                </a:solidFill>
                <a:latin typeface="Courier New" pitchFamily="34" charset="0"/>
                <a:ea typeface="Courier New" pitchFamily="34" charset="-122"/>
                <a:cs typeface="Courier New" pitchFamily="34" charset="-120"/>
              </a:rPr>
              <a:t>fetch("http://10.1.2.5/api")</a:t>
            </a:r>
            <a:endParaRPr lang="en-US" sz="1600" dirty="0"/>
          </a:p>
        </p:txBody>
      </p:sp>
      <p:sp>
        <p:nvSpPr>
          <p:cNvPr id="7" name="Text 5"/>
          <p:cNvSpPr txBox="1"/>
          <p:nvPr/>
        </p:nvSpPr>
        <p:spPr>
          <a:xfrm>
            <a:off x="6355080" y="3017520"/>
            <a:ext cx="5029200" cy="640080"/>
          </a:xfrm>
          <a:prstGeom prst="rect">
            <a:avLst/>
          </a:prstGeom>
          <a:noFill/>
          <a:ln/>
        </p:spPr>
        <p:txBody>
          <a:bodyPr wrap="square" lIns="0" tIns="0" rIns="0" bIns="0" rtlCol="0" anchor="ctr"/>
          <a:lstStyle/>
          <a:p>
            <a:pPr indent="0" marL="0">
              <a:buNone/>
            </a:pPr>
            <a:r>
              <a:rPr lang="en-US" sz="1250" dirty="0">
                <a:solidFill>
                  <a:srgbClr val="4A5568"/>
                </a:solidFill>
                <a:latin typeface="Arial" pitchFamily="34" charset="0"/>
                <a:ea typeface="Arial" pitchFamily="34" charset="-122"/>
                <a:cs typeface="Arial" pitchFamily="34" charset="-120"/>
              </a:rPr>
              <a:t>← funkar idag, kraschar imorgon när podden byts ut</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NÄTVERK</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Service - en stabil ingång</a:t>
            </a:r>
            <a:endParaRPr lang="en-US" sz="2700" dirty="0"/>
          </a:p>
        </p:txBody>
      </p:sp>
      <p:sp>
        <p:nvSpPr>
          <p:cNvPr id="4" name="Text 2"/>
          <p:cNvSpPr txBox="1"/>
          <p:nvPr/>
        </p:nvSpPr>
        <p:spPr>
          <a:xfrm>
            <a:off x="548640" y="1600200"/>
            <a:ext cx="11094415" cy="777240"/>
          </a:xfrm>
          <a:prstGeom prst="rect">
            <a:avLst/>
          </a:prstGeom>
          <a:noFill/>
          <a:ln/>
        </p:spPr>
        <p:txBody>
          <a:bodyPr wrap="square" lIns="0" tIns="0" rIns="0" bIns="0" rtlCol="0" anchor="t"/>
          <a:lstStyle/>
          <a:p>
            <a:pPr indent="0" marL="0">
              <a:lnSpc>
                <a:spcPct val="130000"/>
              </a:lnSpc>
              <a:buNone/>
            </a:pPr>
            <a:r>
              <a:rPr lang="en-US" sz="1350" dirty="0">
                <a:solidFill>
                  <a:srgbClr val="4A5568"/>
                </a:solidFill>
                <a:latin typeface="Arial" pitchFamily="34" charset="0"/>
                <a:ea typeface="Arial" pitchFamily="34" charset="-122"/>
                <a:cs typeface="Arial" pitchFamily="34" charset="-120"/>
              </a:rPr>
              <a:t>En Service ger en grupp poddar en stabil IP-adress och ett DNS-namn som aldrig ändras - oavsett hur poddarna bakom kommer och går. Den lastbalanserar trafiken mellan poddarna som matchar.</a:t>
            </a:r>
            <a:endParaRPr lang="en-US" sz="1350" dirty="0"/>
          </a:p>
        </p:txBody>
      </p:sp>
      <p:sp>
        <p:nvSpPr>
          <p:cNvPr id="5" name="Shape 3"/>
          <p:cNvSpPr/>
          <p:nvPr/>
        </p:nvSpPr>
        <p:spPr>
          <a:xfrm>
            <a:off x="3809848" y="2514600"/>
            <a:ext cx="4572000" cy="822960"/>
          </a:xfrm>
          <a:prstGeom prst="roundRect">
            <a:avLst>
              <a:gd name="adj" fmla="val 11111"/>
            </a:avLst>
          </a:prstGeom>
          <a:solidFill>
            <a:srgbClr val="0F1F33"/>
          </a:solidFill>
          <a:ln/>
        </p:spPr>
      </p:sp>
      <p:sp>
        <p:nvSpPr>
          <p:cNvPr id="6" name="Text 4"/>
          <p:cNvSpPr txBox="1"/>
          <p:nvPr/>
        </p:nvSpPr>
        <p:spPr>
          <a:xfrm>
            <a:off x="3992728" y="2606040"/>
            <a:ext cx="4206240" cy="274320"/>
          </a:xfrm>
          <a:prstGeom prst="rect">
            <a:avLst/>
          </a:prstGeom>
          <a:noFill/>
          <a:ln/>
        </p:spPr>
        <p:txBody>
          <a:bodyPr wrap="square" lIns="0" tIns="0" rIns="0" bIns="0" rtlCol="0" anchor="ctr"/>
          <a:lstStyle/>
          <a:p>
            <a:pPr algn="ctr" indent="0" marL="0">
              <a:buNone/>
            </a:pPr>
            <a:r>
              <a:rPr lang="en-US" sz="1100" b="1" dirty="0">
                <a:solidFill>
                  <a:srgbClr val="7C9CFF"/>
                </a:solidFill>
                <a:latin typeface="Arial" pitchFamily="34" charset="0"/>
                <a:ea typeface="Arial" pitchFamily="34" charset="-122"/>
                <a:cs typeface="Arial" pitchFamily="34" charset="-120"/>
              </a:rPr>
              <a:t>SERVICE: API-SERVICE</a:t>
            </a:r>
            <a:endParaRPr lang="en-US" sz="1100" dirty="0"/>
          </a:p>
        </p:txBody>
      </p:sp>
      <p:sp>
        <p:nvSpPr>
          <p:cNvPr id="7" name="Text 5"/>
          <p:cNvSpPr txBox="1"/>
          <p:nvPr/>
        </p:nvSpPr>
        <p:spPr>
          <a:xfrm>
            <a:off x="3992728" y="2907792"/>
            <a:ext cx="4206240" cy="365760"/>
          </a:xfrm>
          <a:prstGeom prst="rect">
            <a:avLst/>
          </a:prstGeom>
          <a:noFill/>
          <a:ln/>
        </p:spPr>
        <p:txBody>
          <a:bodyPr wrap="square" lIns="0" tIns="0" rIns="0" bIns="0" rtlCol="0" anchor="ctr"/>
          <a:lstStyle/>
          <a:p>
            <a:pPr algn="ctr" indent="0" marL="0">
              <a:buNone/>
            </a:pPr>
            <a:r>
              <a:rPr lang="en-US" sz="1250" dirty="0">
                <a:solidFill>
                  <a:srgbClr val="F5F7FA"/>
                </a:solidFill>
                <a:latin typeface="Courier New" pitchFamily="34" charset="0"/>
                <a:ea typeface="Courier New" pitchFamily="34" charset="-122"/>
                <a:cs typeface="Courier New" pitchFamily="34" charset="-120"/>
              </a:rPr>
              <a:t>ClusterIP 10.96.0.5 · api-service.default.svc</a:t>
            </a:r>
            <a:endParaRPr lang="en-US" sz="1250" dirty="0"/>
          </a:p>
        </p:txBody>
      </p:sp>
      <p:sp>
        <p:nvSpPr>
          <p:cNvPr id="8" name="Shape 6"/>
          <p:cNvSpPr/>
          <p:nvPr/>
        </p:nvSpPr>
        <p:spPr>
          <a:xfrm>
            <a:off x="5967832" y="3429000"/>
            <a:ext cx="256032" cy="365760"/>
          </a:xfrm>
          <a:prstGeom prst="downArrow">
            <a:avLst/>
          </a:prstGeom>
          <a:solidFill>
            <a:srgbClr val="3762FF"/>
          </a:solidFill>
          <a:ln/>
        </p:spPr>
      </p:sp>
      <p:sp>
        <p:nvSpPr>
          <p:cNvPr id="9" name="Shape 7"/>
          <p:cNvSpPr/>
          <p:nvPr/>
        </p:nvSpPr>
        <p:spPr>
          <a:xfrm>
            <a:off x="3489808" y="3931920"/>
            <a:ext cx="1554480" cy="594360"/>
          </a:xfrm>
          <a:prstGeom prst="roundRect">
            <a:avLst>
              <a:gd name="adj" fmla="val 15385"/>
            </a:avLst>
          </a:prstGeom>
          <a:solidFill>
            <a:srgbClr val="FFFFFF"/>
          </a:solidFill>
          <a:ln w="12700">
            <a:solidFill>
              <a:srgbClr val="E4E7EC"/>
            </a:solidFill>
            <a:prstDash val="solid"/>
          </a:ln>
        </p:spPr>
      </p:sp>
      <p:sp>
        <p:nvSpPr>
          <p:cNvPr id="10" name="Text 8"/>
          <p:cNvSpPr txBox="1"/>
          <p:nvPr/>
        </p:nvSpPr>
        <p:spPr>
          <a:xfrm>
            <a:off x="3489808" y="3931920"/>
            <a:ext cx="1554480" cy="594360"/>
          </a:xfrm>
          <a:prstGeom prst="rect">
            <a:avLst/>
          </a:prstGeom>
          <a:noFill/>
          <a:ln/>
        </p:spPr>
        <p:txBody>
          <a:bodyPr wrap="square" lIns="0" tIns="0" rIns="0" bIns="0" rtlCol="0" anchor="ctr"/>
          <a:lstStyle/>
          <a:p>
            <a:pPr algn="ctr" indent="0" marL="0">
              <a:buNone/>
            </a:pPr>
            <a:r>
              <a:rPr lang="en-US" sz="1400" b="1" dirty="0">
                <a:solidFill>
                  <a:srgbClr val="16202B"/>
                </a:solidFill>
                <a:latin typeface="Calibri" pitchFamily="34" charset="0"/>
                <a:ea typeface="Calibri" pitchFamily="34" charset="-122"/>
                <a:cs typeface="Calibri" pitchFamily="34" charset="-120"/>
              </a:rPr>
              <a:t>Pod</a:t>
            </a:r>
            <a:endParaRPr lang="en-US" sz="1400" dirty="0"/>
          </a:p>
        </p:txBody>
      </p:sp>
      <p:sp>
        <p:nvSpPr>
          <p:cNvPr id="11" name="Shape 9"/>
          <p:cNvSpPr/>
          <p:nvPr/>
        </p:nvSpPr>
        <p:spPr>
          <a:xfrm>
            <a:off x="5318608" y="3931920"/>
            <a:ext cx="1554480" cy="594360"/>
          </a:xfrm>
          <a:prstGeom prst="roundRect">
            <a:avLst>
              <a:gd name="adj" fmla="val 15385"/>
            </a:avLst>
          </a:prstGeom>
          <a:solidFill>
            <a:srgbClr val="FFFFFF"/>
          </a:solidFill>
          <a:ln w="12700">
            <a:solidFill>
              <a:srgbClr val="E4E7EC"/>
            </a:solidFill>
            <a:prstDash val="solid"/>
          </a:ln>
        </p:spPr>
      </p:sp>
      <p:sp>
        <p:nvSpPr>
          <p:cNvPr id="12" name="Text 10"/>
          <p:cNvSpPr txBox="1"/>
          <p:nvPr/>
        </p:nvSpPr>
        <p:spPr>
          <a:xfrm>
            <a:off x="5318608" y="3931920"/>
            <a:ext cx="1554480" cy="594360"/>
          </a:xfrm>
          <a:prstGeom prst="rect">
            <a:avLst/>
          </a:prstGeom>
          <a:noFill/>
          <a:ln/>
        </p:spPr>
        <p:txBody>
          <a:bodyPr wrap="square" lIns="0" tIns="0" rIns="0" bIns="0" rtlCol="0" anchor="ctr"/>
          <a:lstStyle/>
          <a:p>
            <a:pPr algn="ctr" indent="0" marL="0">
              <a:buNone/>
            </a:pPr>
            <a:r>
              <a:rPr lang="en-US" sz="1400" b="1" dirty="0">
                <a:solidFill>
                  <a:srgbClr val="16202B"/>
                </a:solidFill>
                <a:latin typeface="Calibri" pitchFamily="34" charset="0"/>
                <a:ea typeface="Calibri" pitchFamily="34" charset="-122"/>
                <a:cs typeface="Calibri" pitchFamily="34" charset="-120"/>
              </a:rPr>
              <a:t>Pod</a:t>
            </a:r>
            <a:endParaRPr lang="en-US" sz="1400" dirty="0"/>
          </a:p>
        </p:txBody>
      </p:sp>
      <p:sp>
        <p:nvSpPr>
          <p:cNvPr id="13" name="Shape 11"/>
          <p:cNvSpPr/>
          <p:nvPr/>
        </p:nvSpPr>
        <p:spPr>
          <a:xfrm>
            <a:off x="7147408" y="3931920"/>
            <a:ext cx="1554480" cy="594360"/>
          </a:xfrm>
          <a:prstGeom prst="roundRect">
            <a:avLst>
              <a:gd name="adj" fmla="val 15385"/>
            </a:avLst>
          </a:prstGeom>
          <a:solidFill>
            <a:srgbClr val="FFFFFF"/>
          </a:solidFill>
          <a:ln w="12700">
            <a:solidFill>
              <a:srgbClr val="E4E7EC"/>
            </a:solidFill>
            <a:prstDash val="solid"/>
          </a:ln>
        </p:spPr>
      </p:sp>
      <p:sp>
        <p:nvSpPr>
          <p:cNvPr id="14" name="Text 12"/>
          <p:cNvSpPr txBox="1"/>
          <p:nvPr/>
        </p:nvSpPr>
        <p:spPr>
          <a:xfrm>
            <a:off x="7147408" y="3931920"/>
            <a:ext cx="1554480" cy="594360"/>
          </a:xfrm>
          <a:prstGeom prst="rect">
            <a:avLst/>
          </a:prstGeom>
          <a:noFill/>
          <a:ln/>
        </p:spPr>
        <p:txBody>
          <a:bodyPr wrap="square" lIns="0" tIns="0" rIns="0" bIns="0" rtlCol="0" anchor="ctr"/>
          <a:lstStyle/>
          <a:p>
            <a:pPr algn="ctr" indent="0" marL="0">
              <a:buNone/>
            </a:pPr>
            <a:r>
              <a:rPr lang="en-US" sz="1400" b="1" dirty="0">
                <a:solidFill>
                  <a:srgbClr val="16202B"/>
                </a:solidFill>
                <a:latin typeface="Calibri" pitchFamily="34" charset="0"/>
                <a:ea typeface="Calibri" pitchFamily="34" charset="-122"/>
                <a:cs typeface="Calibri" pitchFamily="34" charset="-120"/>
              </a:rPr>
              <a:t>Pod</a:t>
            </a:r>
            <a:endParaRPr lang="en-US" sz="1400" dirty="0"/>
          </a:p>
        </p:txBody>
      </p:sp>
      <p:sp>
        <p:nvSpPr>
          <p:cNvPr id="15" name="Text 13"/>
          <p:cNvSpPr txBox="1"/>
          <p:nvPr/>
        </p:nvSpPr>
        <p:spPr>
          <a:xfrm>
            <a:off x="548640" y="4754880"/>
            <a:ext cx="11094415" cy="365760"/>
          </a:xfrm>
          <a:prstGeom prst="rect">
            <a:avLst/>
          </a:prstGeom>
          <a:noFill/>
          <a:ln/>
        </p:spPr>
        <p:txBody>
          <a:bodyPr wrap="square" lIns="0" tIns="0" rIns="0" bIns="0" rtlCol="0" anchor="t"/>
          <a:lstStyle/>
          <a:p>
            <a:pPr algn="ctr" indent="0" marL="0">
              <a:lnSpc>
                <a:spcPct val="130000"/>
              </a:lnSpc>
              <a:buNone/>
            </a:pPr>
            <a:r>
              <a:rPr lang="en-US" sz="1250" dirty="0">
                <a:solidFill>
                  <a:srgbClr val="4A5568"/>
                </a:solidFill>
                <a:latin typeface="Arial" pitchFamily="34" charset="0"/>
                <a:ea typeface="Arial" pitchFamily="34" charset="-122"/>
                <a:cs typeface="Arial" pitchFamily="34" charset="-120"/>
              </a:rPr>
              <a:t>Väljs ut via en “selector” - t.ex. alla poddar märkta app: api</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NÄTVERK</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Tre typer av Service</a:t>
            </a:r>
            <a:endParaRPr lang="en-US" sz="27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2377440"/>
                <a:gridCol w="4572000"/>
                <a:gridCol w="4142232"/>
              </a:tblGrid>
              <a:tr h="548640">
                <a:tc>
                  <a:txBody>
                    <a:bodyPr/>
                    <a:lstStyle/>
                    <a:p>
                      <a:pPr algn="l" indent="0" marL="0">
                        <a:buNone/>
                      </a:pPr>
                      <a:r>
                        <a:rPr lang="en-US" sz="1300" b="1" dirty="0">
                          <a:solidFill>
                            <a:srgbClr val="16202B"/>
                          </a:solidFill>
                          <a:latin typeface="Calibri" pitchFamily="34" charset="0"/>
                          <a:ea typeface="Calibri" pitchFamily="34" charset="-122"/>
                          <a:cs typeface="Calibri" pitchFamily="34" charset="-120"/>
                        </a:rPr>
                        <a:t>Typ</a:t>
                      </a:r>
                      <a:endParaRPr lang="en-US" sz="1300" dirty="0">
                        <a:latin typeface="Calibri" charset="0"/>
                        <a:ea typeface="Calibri" charset="0"/>
                        <a:cs typeface="Calibri" charset="0"/>
                      </a:endParaRPr>
                    </a:p>
                  </a:txBody>
                  <a:tcPr marL="91440" marR="91440" marT="45720" marB="45720" anchor="ctr">
                    <a:lnL w="12700" cap="flat" cmpd="sng" algn="ctr">
                      <a:solidFill>
                        <a:srgbClr val="E4E7EC"/>
                      </a:solidFill>
                      <a:prstDash val="solid"/>
                      <a:round/>
                      <a:headEnd type="none" w="med" len="med"/>
                      <a:tailEnd type="none" w="med" len="med"/>
                    </a:lnL>
                    <a:lnR w="12700" cap="flat" cmpd="sng" algn="ctr">
                      <a:solidFill>
                        <a:srgbClr val="E4E7EC"/>
                      </a:solidFill>
                      <a:prstDash val="solid"/>
                      <a:round/>
                      <a:headEnd type="none" w="med" len="med"/>
                      <a:tailEnd type="none" w="med" len="med"/>
                    </a:lnR>
                    <a:lnT w="12700" cap="flat" cmpd="sng" algn="ctr">
                      <a:solidFill>
                        <a:srgbClr val="E4E7EC"/>
                      </a:solidFill>
                      <a:prstDash val="solid"/>
                      <a:round/>
                      <a:headEnd type="none" w="med" len="med"/>
                      <a:tailEnd type="none" w="med" len="med"/>
                    </a:lnT>
                    <a:lnB w="12700" cap="flat" cmpd="sng" algn="ctr">
                      <a:solidFill>
                        <a:srgbClr val="E4E7EC"/>
                      </a:solidFill>
                      <a:prstDash val="solid"/>
                      <a:round/>
                      <a:headEnd type="none" w="med" len="med"/>
                      <a:tailEnd type="none" w="med" len="med"/>
                    </a:lnB>
                    <a:solidFill>
                      <a:srgbClr val="E8EDFF"/>
                    </a:solidFill>
                  </a:tcPr>
                </a:tc>
                <a:tc>
                  <a:txBody>
                    <a:bodyPr/>
                    <a:lstStyle/>
                    <a:p>
                      <a:pPr algn="l" indent="0" marL="0">
                        <a:buNone/>
                      </a:pPr>
                      <a:r>
                        <a:rPr lang="en-US" sz="1300" b="1" dirty="0">
                          <a:solidFill>
                            <a:srgbClr val="16202B"/>
                          </a:solidFill>
                          <a:latin typeface="Calibri" pitchFamily="34" charset="0"/>
                          <a:ea typeface="Calibri" pitchFamily="34" charset="-122"/>
                          <a:cs typeface="Calibri" pitchFamily="34" charset="-120"/>
                        </a:rPr>
                        <a:t>Vad den gör</a:t>
                      </a:r>
                      <a:endParaRPr lang="en-US" sz="1300" dirty="0">
                        <a:latin typeface="Calibri" charset="0"/>
                        <a:ea typeface="Calibri" charset="0"/>
                        <a:cs typeface="Calibri" charset="0"/>
                      </a:endParaRPr>
                    </a:p>
                  </a:txBody>
                  <a:tcPr marL="91440" marR="91440" marT="45720" marB="45720" anchor="ctr">
                    <a:lnL w="12700" cap="flat" cmpd="sng" algn="ctr">
                      <a:solidFill>
                        <a:srgbClr val="E4E7EC"/>
                      </a:solidFill>
                      <a:prstDash val="solid"/>
                      <a:round/>
                      <a:headEnd type="none" w="med" len="med"/>
                      <a:tailEnd type="none" w="med" len="med"/>
                    </a:lnL>
                    <a:lnR w="12700" cap="flat" cmpd="sng" algn="ctr">
                      <a:solidFill>
                        <a:srgbClr val="E4E7EC"/>
                      </a:solidFill>
                      <a:prstDash val="solid"/>
                      <a:round/>
                      <a:headEnd type="none" w="med" len="med"/>
                      <a:tailEnd type="none" w="med" len="med"/>
                    </a:lnR>
                    <a:lnT w="12700" cap="flat" cmpd="sng" algn="ctr">
                      <a:solidFill>
                        <a:srgbClr val="E4E7EC"/>
                      </a:solidFill>
                      <a:prstDash val="solid"/>
                      <a:round/>
                      <a:headEnd type="none" w="med" len="med"/>
                      <a:tailEnd type="none" w="med" len="med"/>
                    </a:lnT>
                    <a:lnB w="12700" cap="flat" cmpd="sng" algn="ctr">
                      <a:solidFill>
                        <a:srgbClr val="E4E7EC"/>
                      </a:solidFill>
                      <a:prstDash val="solid"/>
                      <a:round/>
                      <a:headEnd type="none" w="med" len="med"/>
                      <a:tailEnd type="none" w="med" len="med"/>
                    </a:lnB>
                    <a:solidFill>
                      <a:srgbClr val="E8EDFF"/>
                    </a:solidFill>
                  </a:tcPr>
                </a:tc>
                <a:tc>
                  <a:txBody>
                    <a:bodyPr/>
                    <a:lstStyle/>
                    <a:p>
                      <a:pPr algn="l" indent="0" marL="0">
                        <a:buNone/>
                      </a:pPr>
                      <a:r>
                        <a:rPr lang="en-US" sz="1300" b="1" dirty="0">
                          <a:solidFill>
                            <a:srgbClr val="16202B"/>
                          </a:solidFill>
                          <a:latin typeface="Calibri" pitchFamily="34" charset="0"/>
                          <a:ea typeface="Calibri" pitchFamily="34" charset="-122"/>
                          <a:cs typeface="Calibri" pitchFamily="34" charset="-120"/>
                        </a:rPr>
                        <a:t>Används för</a:t>
                      </a:r>
                      <a:endParaRPr lang="en-US" sz="1300" dirty="0">
                        <a:latin typeface="Calibri" charset="0"/>
                        <a:ea typeface="Calibri" charset="0"/>
                        <a:cs typeface="Calibri" charset="0"/>
                      </a:endParaRPr>
                    </a:p>
                  </a:txBody>
                  <a:tcPr marL="91440" marR="91440" marT="45720" marB="45720" anchor="ctr">
                    <a:lnL w="12700" cap="flat" cmpd="sng" algn="ctr">
                      <a:solidFill>
                        <a:srgbClr val="E4E7EC"/>
                      </a:solidFill>
                      <a:prstDash val="solid"/>
                      <a:round/>
                      <a:headEnd type="none" w="med" len="med"/>
                      <a:tailEnd type="none" w="med" len="med"/>
                    </a:lnL>
                    <a:lnR w="12700" cap="flat" cmpd="sng" algn="ctr">
                      <a:solidFill>
                        <a:srgbClr val="E4E7EC"/>
                      </a:solidFill>
                      <a:prstDash val="solid"/>
                      <a:round/>
                      <a:headEnd type="none" w="med" len="med"/>
                      <a:tailEnd type="none" w="med" len="med"/>
                    </a:lnR>
                    <a:lnT w="12700" cap="flat" cmpd="sng" algn="ctr">
                      <a:solidFill>
                        <a:srgbClr val="E4E7EC"/>
                      </a:solidFill>
                      <a:prstDash val="solid"/>
                      <a:round/>
                      <a:headEnd type="none" w="med" len="med"/>
                      <a:tailEnd type="none" w="med" len="med"/>
                    </a:lnT>
                    <a:lnB w="12700" cap="flat" cmpd="sng" algn="ctr">
                      <a:solidFill>
                        <a:srgbClr val="E4E7EC"/>
                      </a:solidFill>
                      <a:prstDash val="solid"/>
                      <a:round/>
                      <a:headEnd type="none" w="med" len="med"/>
                      <a:tailEnd type="none" w="med" len="med"/>
                    </a:lnB>
                    <a:solidFill>
                      <a:srgbClr val="E8EDFF"/>
                    </a:solidFill>
                  </a:tcPr>
                </a:tc>
              </a:tr>
              <a:tr h="548640">
                <a:tc>
                  <a:txBody>
                    <a:bodyPr/>
                    <a:lstStyle/>
                    <a:p>
                      <a:pPr algn="l" indent="0" marL="0">
                        <a:buNone/>
                      </a:pPr>
                      <a:r>
                        <a:rPr lang="en-US" sz="1300" b="1" dirty="0">
                          <a:solidFill>
                            <a:srgbClr val="4A5568"/>
                          </a:solidFill>
                          <a:latin typeface="Arial" pitchFamily="34" charset="0"/>
                          <a:ea typeface="Arial" pitchFamily="34" charset="-122"/>
                          <a:cs typeface="Arial" pitchFamily="34" charset="-120"/>
                        </a:rPr>
                        <a:t>ClusterIP</a:t>
                      </a:r>
                      <a:endParaRPr lang="en-US" sz="1300" dirty="0">
                        <a:latin typeface="Arial" charset="0"/>
                        <a:ea typeface="Arial" charset="0"/>
                        <a:cs typeface="Arial" charset="0"/>
                      </a:endParaRPr>
                    </a:p>
                  </a:txBody>
                  <a:tcPr marL="91440" marR="91440" marT="45720" marB="45720" anchor="ctr">
                    <a:lnL w="12700" cap="flat" cmpd="sng" algn="ctr">
                      <a:solidFill>
                        <a:srgbClr val="E4E7EC"/>
                      </a:solidFill>
                      <a:prstDash val="solid"/>
                      <a:round/>
                      <a:headEnd type="none" w="med" len="med"/>
                      <a:tailEnd type="none" w="med" len="med"/>
                    </a:lnL>
                    <a:lnR w="12700" cap="flat" cmpd="sng" algn="ctr">
                      <a:solidFill>
                        <a:srgbClr val="E4E7EC"/>
                      </a:solidFill>
                      <a:prstDash val="solid"/>
                      <a:round/>
                      <a:headEnd type="none" w="med" len="med"/>
                      <a:tailEnd type="none" w="med" len="med"/>
                    </a:lnR>
                    <a:lnT w="12700" cap="flat" cmpd="sng" algn="ctr">
                      <a:solidFill>
                        <a:srgbClr val="E4E7EC"/>
                      </a:solidFill>
                      <a:prstDash val="solid"/>
                      <a:round/>
                      <a:headEnd type="none" w="med" len="med"/>
                      <a:tailEnd type="none" w="med" len="med"/>
                    </a:lnT>
                    <a:lnB w="12700" cap="flat" cmpd="sng" algn="ctr">
                      <a:solidFill>
                        <a:srgbClr val="E4E7EC"/>
                      </a:solidFill>
                      <a:prstDash val="solid"/>
                      <a:round/>
                      <a:headEnd type="none" w="med" len="med"/>
                      <a:tailEnd type="none" w="med" len="med"/>
                    </a:lnB>
                  </a:tcPr>
                </a:tc>
                <a:tc>
                  <a:txBody>
                    <a:bodyPr/>
                    <a:lstStyle/>
                    <a:p>
                      <a:pPr algn="l" indent="0" marL="0">
                        <a:buNone/>
                      </a:pPr>
                      <a:r>
                        <a:rPr lang="en-US" sz="1300" dirty="0">
                          <a:solidFill>
                            <a:srgbClr val="4A5568"/>
                          </a:solidFill>
                          <a:latin typeface="Arial" pitchFamily="34" charset="0"/>
                          <a:ea typeface="Arial" pitchFamily="34" charset="-122"/>
                          <a:cs typeface="Arial" pitchFamily="34" charset="-120"/>
                        </a:rPr>
                        <a:t>Standard. Enbart nåbar inuti klustret.</a:t>
                      </a:r>
                      <a:endParaRPr lang="en-US" sz="1300" dirty="0">
                        <a:latin typeface="Arial" charset="0"/>
                        <a:ea typeface="Arial" charset="0"/>
                        <a:cs typeface="Arial" charset="0"/>
                      </a:endParaRPr>
                    </a:p>
                  </a:txBody>
                  <a:tcPr marL="91440" marR="91440" marT="45720" marB="45720" anchor="ctr">
                    <a:lnL w="12700" cap="flat" cmpd="sng" algn="ctr">
                      <a:solidFill>
                        <a:srgbClr val="E4E7EC"/>
                      </a:solidFill>
                      <a:prstDash val="solid"/>
                      <a:round/>
                      <a:headEnd type="none" w="med" len="med"/>
                      <a:tailEnd type="none" w="med" len="med"/>
                    </a:lnL>
                    <a:lnR w="12700" cap="flat" cmpd="sng" algn="ctr">
                      <a:solidFill>
                        <a:srgbClr val="E4E7EC"/>
                      </a:solidFill>
                      <a:prstDash val="solid"/>
                      <a:round/>
                      <a:headEnd type="none" w="med" len="med"/>
                      <a:tailEnd type="none" w="med" len="med"/>
                    </a:lnR>
                    <a:lnT w="12700" cap="flat" cmpd="sng" algn="ctr">
                      <a:solidFill>
                        <a:srgbClr val="E4E7EC"/>
                      </a:solidFill>
                      <a:prstDash val="solid"/>
                      <a:round/>
                      <a:headEnd type="none" w="med" len="med"/>
                      <a:tailEnd type="none" w="med" len="med"/>
                    </a:lnT>
                    <a:lnB w="12700" cap="flat" cmpd="sng" algn="ctr">
                      <a:solidFill>
                        <a:srgbClr val="E4E7EC"/>
                      </a:solidFill>
                      <a:prstDash val="solid"/>
                      <a:round/>
                      <a:headEnd type="none" w="med" len="med"/>
                      <a:tailEnd type="none" w="med" len="med"/>
                    </a:lnB>
                  </a:tcPr>
                </a:tc>
                <a:tc>
                  <a:txBody>
                    <a:bodyPr/>
                    <a:lstStyle/>
                    <a:p>
                      <a:pPr algn="l" indent="0" marL="0">
                        <a:buNone/>
                      </a:pPr>
                      <a:r>
                        <a:rPr lang="en-US" sz="1300" dirty="0">
                          <a:solidFill>
                            <a:srgbClr val="4A5568"/>
                          </a:solidFill>
                          <a:latin typeface="Arial" pitchFamily="34" charset="0"/>
                          <a:ea typeface="Arial" pitchFamily="34" charset="-122"/>
                          <a:cs typeface="Arial" pitchFamily="34" charset="-120"/>
                        </a:rPr>
                        <a:t>Intern kommunikation mellan tjänster</a:t>
                      </a:r>
                      <a:endParaRPr lang="en-US" sz="1300" dirty="0">
                        <a:latin typeface="Arial" charset="0"/>
                        <a:ea typeface="Arial" charset="0"/>
                        <a:cs typeface="Arial" charset="0"/>
                      </a:endParaRPr>
                    </a:p>
                  </a:txBody>
                  <a:tcPr marL="91440" marR="91440" marT="45720" marB="45720" anchor="ctr">
                    <a:lnL w="12700" cap="flat" cmpd="sng" algn="ctr">
                      <a:solidFill>
                        <a:srgbClr val="E4E7EC"/>
                      </a:solidFill>
                      <a:prstDash val="solid"/>
                      <a:round/>
                      <a:headEnd type="none" w="med" len="med"/>
                      <a:tailEnd type="none" w="med" len="med"/>
                    </a:lnL>
                    <a:lnR w="12700" cap="flat" cmpd="sng" algn="ctr">
                      <a:solidFill>
                        <a:srgbClr val="E4E7EC"/>
                      </a:solidFill>
                      <a:prstDash val="solid"/>
                      <a:round/>
                      <a:headEnd type="none" w="med" len="med"/>
                      <a:tailEnd type="none" w="med" len="med"/>
                    </a:lnR>
                    <a:lnT w="12700" cap="flat" cmpd="sng" algn="ctr">
                      <a:solidFill>
                        <a:srgbClr val="E4E7EC"/>
                      </a:solidFill>
                      <a:prstDash val="solid"/>
                      <a:round/>
                      <a:headEnd type="none" w="med" len="med"/>
                      <a:tailEnd type="none" w="med" len="med"/>
                    </a:lnT>
                    <a:lnB w="12700" cap="flat" cmpd="sng" algn="ctr">
                      <a:solidFill>
                        <a:srgbClr val="E4E7EC"/>
                      </a:solidFill>
                      <a:prstDash val="solid"/>
                      <a:round/>
                      <a:headEnd type="none" w="med" len="med"/>
                      <a:tailEnd type="none" w="med" len="med"/>
                    </a:lnB>
                  </a:tcPr>
                </a:tc>
              </a:tr>
              <a:tr h="548640">
                <a:tc>
                  <a:txBody>
                    <a:bodyPr/>
                    <a:lstStyle/>
                    <a:p>
                      <a:pPr algn="l" indent="0" marL="0">
                        <a:buNone/>
                      </a:pPr>
                      <a:r>
                        <a:rPr lang="en-US" sz="1300" b="1" dirty="0">
                          <a:solidFill>
                            <a:srgbClr val="4A5568"/>
                          </a:solidFill>
                          <a:latin typeface="Arial" pitchFamily="34" charset="0"/>
                          <a:ea typeface="Arial" pitchFamily="34" charset="-122"/>
                          <a:cs typeface="Arial" pitchFamily="34" charset="-120"/>
                        </a:rPr>
                        <a:t>NodePort</a:t>
                      </a:r>
                      <a:endParaRPr lang="en-US" sz="1300" dirty="0">
                        <a:latin typeface="Arial" charset="0"/>
                        <a:ea typeface="Arial" charset="0"/>
                        <a:cs typeface="Arial" charset="0"/>
                      </a:endParaRPr>
                    </a:p>
                  </a:txBody>
                  <a:tcPr marL="91440" marR="91440" marT="45720" marB="45720" anchor="ctr">
                    <a:lnL w="12700" cap="flat" cmpd="sng" algn="ctr">
                      <a:solidFill>
                        <a:srgbClr val="E4E7EC"/>
                      </a:solidFill>
                      <a:prstDash val="solid"/>
                      <a:round/>
                      <a:headEnd type="none" w="med" len="med"/>
                      <a:tailEnd type="none" w="med" len="med"/>
                    </a:lnL>
                    <a:lnR w="12700" cap="flat" cmpd="sng" algn="ctr">
                      <a:solidFill>
                        <a:srgbClr val="E4E7EC"/>
                      </a:solidFill>
                      <a:prstDash val="solid"/>
                      <a:round/>
                      <a:headEnd type="none" w="med" len="med"/>
                      <a:tailEnd type="none" w="med" len="med"/>
                    </a:lnR>
                    <a:lnT w="12700" cap="flat" cmpd="sng" algn="ctr">
                      <a:solidFill>
                        <a:srgbClr val="E4E7EC"/>
                      </a:solidFill>
                      <a:prstDash val="solid"/>
                      <a:round/>
                      <a:headEnd type="none" w="med" len="med"/>
                      <a:tailEnd type="none" w="med" len="med"/>
                    </a:lnT>
                    <a:lnB w="12700" cap="flat" cmpd="sng" algn="ctr">
                      <a:solidFill>
                        <a:srgbClr val="E4E7EC"/>
                      </a:solidFill>
                      <a:prstDash val="solid"/>
                      <a:round/>
                      <a:headEnd type="none" w="med" len="med"/>
                      <a:tailEnd type="none" w="med" len="med"/>
                    </a:lnB>
                  </a:tcPr>
                </a:tc>
                <a:tc>
                  <a:txBody>
                    <a:bodyPr/>
                    <a:lstStyle/>
                    <a:p>
                      <a:pPr algn="l" indent="0" marL="0">
                        <a:buNone/>
                      </a:pPr>
                      <a:r>
                        <a:rPr lang="en-US" sz="1300" dirty="0">
                          <a:solidFill>
                            <a:srgbClr val="4A5568"/>
                          </a:solidFill>
                          <a:latin typeface="Arial" pitchFamily="34" charset="0"/>
                          <a:ea typeface="Arial" pitchFamily="34" charset="-122"/>
                          <a:cs typeface="Arial" pitchFamily="34" charset="-120"/>
                        </a:rPr>
                        <a:t>Öppnar samma port på varje nods egna IP.</a:t>
                      </a:r>
                      <a:endParaRPr lang="en-US" sz="1300" dirty="0">
                        <a:latin typeface="Arial" charset="0"/>
                        <a:ea typeface="Arial" charset="0"/>
                        <a:cs typeface="Arial" charset="0"/>
                      </a:endParaRPr>
                    </a:p>
                  </a:txBody>
                  <a:tcPr marL="91440" marR="91440" marT="45720" marB="45720" anchor="ctr">
                    <a:lnL w="12700" cap="flat" cmpd="sng" algn="ctr">
                      <a:solidFill>
                        <a:srgbClr val="E4E7EC"/>
                      </a:solidFill>
                      <a:prstDash val="solid"/>
                      <a:round/>
                      <a:headEnd type="none" w="med" len="med"/>
                      <a:tailEnd type="none" w="med" len="med"/>
                    </a:lnL>
                    <a:lnR w="12700" cap="flat" cmpd="sng" algn="ctr">
                      <a:solidFill>
                        <a:srgbClr val="E4E7EC"/>
                      </a:solidFill>
                      <a:prstDash val="solid"/>
                      <a:round/>
                      <a:headEnd type="none" w="med" len="med"/>
                      <a:tailEnd type="none" w="med" len="med"/>
                    </a:lnR>
                    <a:lnT w="12700" cap="flat" cmpd="sng" algn="ctr">
                      <a:solidFill>
                        <a:srgbClr val="E4E7EC"/>
                      </a:solidFill>
                      <a:prstDash val="solid"/>
                      <a:round/>
                      <a:headEnd type="none" w="med" len="med"/>
                      <a:tailEnd type="none" w="med" len="med"/>
                    </a:lnT>
                    <a:lnB w="12700" cap="flat" cmpd="sng" algn="ctr">
                      <a:solidFill>
                        <a:srgbClr val="E4E7EC"/>
                      </a:solidFill>
                      <a:prstDash val="solid"/>
                      <a:round/>
                      <a:headEnd type="none" w="med" len="med"/>
                      <a:tailEnd type="none" w="med" len="med"/>
                    </a:lnB>
                  </a:tcPr>
                </a:tc>
                <a:tc>
                  <a:txBody>
                    <a:bodyPr/>
                    <a:lstStyle/>
                    <a:p>
                      <a:pPr algn="l" indent="0" marL="0">
                        <a:buNone/>
                      </a:pPr>
                      <a:r>
                        <a:rPr lang="en-US" sz="1300" dirty="0">
                          <a:solidFill>
                            <a:srgbClr val="4A5568"/>
                          </a:solidFill>
                          <a:latin typeface="Arial" pitchFamily="34" charset="0"/>
                          <a:ea typeface="Arial" pitchFamily="34" charset="-122"/>
                          <a:cs typeface="Arial" pitchFamily="34" charset="-120"/>
                        </a:rPr>
                        <a:t>Enkel åtkomst utifrån, ofta i test</a:t>
                      </a:r>
                      <a:endParaRPr lang="en-US" sz="1300" dirty="0">
                        <a:latin typeface="Arial" charset="0"/>
                        <a:ea typeface="Arial" charset="0"/>
                        <a:cs typeface="Arial" charset="0"/>
                      </a:endParaRPr>
                    </a:p>
                  </a:txBody>
                  <a:tcPr marL="91440" marR="91440" marT="45720" marB="45720" anchor="ctr">
                    <a:lnL w="12700" cap="flat" cmpd="sng" algn="ctr">
                      <a:solidFill>
                        <a:srgbClr val="E4E7EC"/>
                      </a:solidFill>
                      <a:prstDash val="solid"/>
                      <a:round/>
                      <a:headEnd type="none" w="med" len="med"/>
                      <a:tailEnd type="none" w="med" len="med"/>
                    </a:lnL>
                    <a:lnR w="12700" cap="flat" cmpd="sng" algn="ctr">
                      <a:solidFill>
                        <a:srgbClr val="E4E7EC"/>
                      </a:solidFill>
                      <a:prstDash val="solid"/>
                      <a:round/>
                      <a:headEnd type="none" w="med" len="med"/>
                      <a:tailEnd type="none" w="med" len="med"/>
                    </a:lnR>
                    <a:lnT w="12700" cap="flat" cmpd="sng" algn="ctr">
                      <a:solidFill>
                        <a:srgbClr val="E4E7EC"/>
                      </a:solidFill>
                      <a:prstDash val="solid"/>
                      <a:round/>
                      <a:headEnd type="none" w="med" len="med"/>
                      <a:tailEnd type="none" w="med" len="med"/>
                    </a:lnT>
                    <a:lnB w="12700" cap="flat" cmpd="sng" algn="ctr">
                      <a:solidFill>
                        <a:srgbClr val="E4E7EC"/>
                      </a:solidFill>
                      <a:prstDash val="solid"/>
                      <a:round/>
                      <a:headEnd type="none" w="med" len="med"/>
                      <a:tailEnd type="none" w="med" len="med"/>
                    </a:lnB>
                  </a:tcPr>
                </a:tc>
              </a:tr>
              <a:tr h="548640">
                <a:tc>
                  <a:txBody>
                    <a:bodyPr/>
                    <a:lstStyle/>
                    <a:p>
                      <a:pPr algn="l" indent="0" marL="0">
                        <a:buNone/>
                      </a:pPr>
                      <a:r>
                        <a:rPr lang="en-US" sz="1300" b="1" dirty="0">
                          <a:solidFill>
                            <a:srgbClr val="4A5568"/>
                          </a:solidFill>
                          <a:latin typeface="Arial" pitchFamily="34" charset="0"/>
                          <a:ea typeface="Arial" pitchFamily="34" charset="-122"/>
                          <a:cs typeface="Arial" pitchFamily="34" charset="-120"/>
                        </a:rPr>
                        <a:t>LoadBalancer</a:t>
                      </a:r>
                      <a:endParaRPr lang="en-US" sz="1300" dirty="0">
                        <a:latin typeface="Arial" charset="0"/>
                        <a:ea typeface="Arial" charset="0"/>
                        <a:cs typeface="Arial" charset="0"/>
                      </a:endParaRPr>
                    </a:p>
                  </a:txBody>
                  <a:tcPr marL="91440" marR="91440" marT="45720" marB="45720" anchor="ctr">
                    <a:lnL w="12700" cap="flat" cmpd="sng" algn="ctr">
                      <a:solidFill>
                        <a:srgbClr val="E4E7EC"/>
                      </a:solidFill>
                      <a:prstDash val="solid"/>
                      <a:round/>
                      <a:headEnd type="none" w="med" len="med"/>
                      <a:tailEnd type="none" w="med" len="med"/>
                    </a:lnL>
                    <a:lnR w="12700" cap="flat" cmpd="sng" algn="ctr">
                      <a:solidFill>
                        <a:srgbClr val="E4E7EC"/>
                      </a:solidFill>
                      <a:prstDash val="solid"/>
                      <a:round/>
                      <a:headEnd type="none" w="med" len="med"/>
                      <a:tailEnd type="none" w="med" len="med"/>
                    </a:lnR>
                    <a:lnT w="12700" cap="flat" cmpd="sng" algn="ctr">
                      <a:solidFill>
                        <a:srgbClr val="E4E7EC"/>
                      </a:solidFill>
                      <a:prstDash val="solid"/>
                      <a:round/>
                      <a:headEnd type="none" w="med" len="med"/>
                      <a:tailEnd type="none" w="med" len="med"/>
                    </a:lnT>
                    <a:lnB w="12700" cap="flat" cmpd="sng" algn="ctr">
                      <a:solidFill>
                        <a:srgbClr val="E4E7EC"/>
                      </a:solidFill>
                      <a:prstDash val="solid"/>
                      <a:round/>
                      <a:headEnd type="none" w="med" len="med"/>
                      <a:tailEnd type="none" w="med" len="med"/>
                    </a:lnB>
                  </a:tcPr>
                </a:tc>
                <a:tc>
                  <a:txBody>
                    <a:bodyPr/>
                    <a:lstStyle/>
                    <a:p>
                      <a:pPr algn="l" indent="0" marL="0">
                        <a:buNone/>
                      </a:pPr>
                      <a:r>
                        <a:rPr lang="en-US" sz="1300" dirty="0">
                          <a:solidFill>
                            <a:srgbClr val="4A5568"/>
                          </a:solidFill>
                          <a:latin typeface="Arial" pitchFamily="34" charset="0"/>
                          <a:ea typeface="Arial" pitchFamily="34" charset="-122"/>
                          <a:cs typeface="Arial" pitchFamily="34" charset="-120"/>
                        </a:rPr>
                        <a:t>Ber molnleverantören skapa en extern lastbalanserare.</a:t>
                      </a:r>
                      <a:endParaRPr lang="en-US" sz="1300" dirty="0">
                        <a:latin typeface="Arial" charset="0"/>
                        <a:ea typeface="Arial" charset="0"/>
                        <a:cs typeface="Arial" charset="0"/>
                      </a:endParaRPr>
                    </a:p>
                  </a:txBody>
                  <a:tcPr marL="91440" marR="91440" marT="45720" marB="45720" anchor="ctr">
                    <a:lnL w="12700" cap="flat" cmpd="sng" algn="ctr">
                      <a:solidFill>
                        <a:srgbClr val="E4E7EC"/>
                      </a:solidFill>
                      <a:prstDash val="solid"/>
                      <a:round/>
                      <a:headEnd type="none" w="med" len="med"/>
                      <a:tailEnd type="none" w="med" len="med"/>
                    </a:lnL>
                    <a:lnR w="12700" cap="flat" cmpd="sng" algn="ctr">
                      <a:solidFill>
                        <a:srgbClr val="E4E7EC"/>
                      </a:solidFill>
                      <a:prstDash val="solid"/>
                      <a:round/>
                      <a:headEnd type="none" w="med" len="med"/>
                      <a:tailEnd type="none" w="med" len="med"/>
                    </a:lnR>
                    <a:lnT w="12700" cap="flat" cmpd="sng" algn="ctr">
                      <a:solidFill>
                        <a:srgbClr val="E4E7EC"/>
                      </a:solidFill>
                      <a:prstDash val="solid"/>
                      <a:round/>
                      <a:headEnd type="none" w="med" len="med"/>
                      <a:tailEnd type="none" w="med" len="med"/>
                    </a:lnT>
                    <a:lnB w="12700" cap="flat" cmpd="sng" algn="ctr">
                      <a:solidFill>
                        <a:srgbClr val="E4E7EC"/>
                      </a:solidFill>
                      <a:prstDash val="solid"/>
                      <a:round/>
                      <a:headEnd type="none" w="med" len="med"/>
                      <a:tailEnd type="none" w="med" len="med"/>
                    </a:lnB>
                  </a:tcPr>
                </a:tc>
                <a:tc>
                  <a:txBody>
                    <a:bodyPr/>
                    <a:lstStyle/>
                    <a:p>
                      <a:pPr algn="l" indent="0" marL="0">
                        <a:buNone/>
                      </a:pPr>
                      <a:r>
                        <a:rPr lang="en-US" sz="1300" dirty="0">
                          <a:solidFill>
                            <a:srgbClr val="4A5568"/>
                          </a:solidFill>
                          <a:latin typeface="Arial" pitchFamily="34" charset="0"/>
                          <a:ea typeface="Arial" pitchFamily="34" charset="-122"/>
                          <a:cs typeface="Arial" pitchFamily="34" charset="-120"/>
                        </a:rPr>
                        <a:t>Publik åtkomst i molnmiljöer</a:t>
                      </a:r>
                      <a:endParaRPr lang="en-US" sz="1300" dirty="0">
                        <a:latin typeface="Arial" charset="0"/>
                        <a:ea typeface="Arial" charset="0"/>
                        <a:cs typeface="Arial" charset="0"/>
                      </a:endParaRPr>
                    </a:p>
                  </a:txBody>
                  <a:tcPr marL="91440" marR="91440" marT="45720" marB="45720" anchor="ctr">
                    <a:lnL w="12700" cap="flat" cmpd="sng" algn="ctr">
                      <a:solidFill>
                        <a:srgbClr val="E4E7EC"/>
                      </a:solidFill>
                      <a:prstDash val="solid"/>
                      <a:round/>
                      <a:headEnd type="none" w="med" len="med"/>
                      <a:tailEnd type="none" w="med" len="med"/>
                    </a:lnL>
                    <a:lnR w="12700" cap="flat" cmpd="sng" algn="ctr">
                      <a:solidFill>
                        <a:srgbClr val="E4E7EC"/>
                      </a:solidFill>
                      <a:prstDash val="solid"/>
                      <a:round/>
                      <a:headEnd type="none" w="med" len="med"/>
                      <a:tailEnd type="none" w="med" len="med"/>
                    </a:lnR>
                    <a:lnT w="12700" cap="flat" cmpd="sng" algn="ctr">
                      <a:solidFill>
                        <a:srgbClr val="E4E7EC"/>
                      </a:solidFill>
                      <a:prstDash val="solid"/>
                      <a:round/>
                      <a:headEnd type="none" w="med" len="med"/>
                      <a:tailEnd type="none" w="med" len="med"/>
                    </a:lnT>
                    <a:lnB w="12700" cap="flat" cmpd="sng" algn="ctr">
                      <a:solidFill>
                        <a:srgbClr val="E4E7EC"/>
                      </a:solidFill>
                      <a:prstDash val="solid"/>
                      <a:round/>
                      <a:headEnd type="none" w="med" len="med"/>
                      <a:tailEnd type="none" w="med" len="med"/>
                    </a:lnB>
                  </a:tcPr>
                </a:tc>
              </a:tr>
            </a:tbl>
          </a:graphicData>
        </a:graphic>
      </p:graphicFrame>
      <p:sp>
        <p:nvSpPr>
          <p:cNvPr id="5" name="Text 2"/>
          <p:cNvSpPr txBox="1"/>
          <p:nvPr/>
        </p:nvSpPr>
        <p:spPr>
          <a:xfrm>
            <a:off x="548640" y="4023360"/>
            <a:ext cx="11094415" cy="640080"/>
          </a:xfrm>
          <a:prstGeom prst="rect">
            <a:avLst/>
          </a:prstGeom>
          <a:noFill/>
          <a:ln/>
        </p:spPr>
        <p:txBody>
          <a:bodyPr wrap="square" lIns="0" tIns="0" rIns="0" bIns="0" rtlCol="0" anchor="t"/>
          <a:lstStyle/>
          <a:p>
            <a:pPr indent="0" marL="0">
              <a:lnSpc>
                <a:spcPct val="130000"/>
              </a:lnSpc>
              <a:buNone/>
            </a:pPr>
            <a:r>
              <a:rPr lang="en-US" sz="1400" dirty="0">
                <a:solidFill>
                  <a:srgbClr val="4A5568"/>
                </a:solidFill>
                <a:latin typeface="Arial" pitchFamily="34" charset="0"/>
                <a:ea typeface="Arial" pitchFamily="34" charset="-122"/>
                <a:cs typeface="Arial" pitchFamily="34" charset="-120"/>
              </a:rPr>
              <a:t>I praktiken, för webbtrafik: LoadBalancer (eller oftare Ingress, nästa bild) pekar vidare till en eller flera ClusterIP-Service:ar inne i klustret.</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NÄTVERK</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Ingress - vägen in utifrån</a:t>
            </a:r>
            <a:endParaRPr lang="en-US" sz="2700" dirty="0"/>
          </a:p>
        </p:txBody>
      </p:sp>
      <p:sp>
        <p:nvSpPr>
          <p:cNvPr id="4" name="Text 2"/>
          <p:cNvSpPr txBox="1"/>
          <p:nvPr/>
        </p:nvSpPr>
        <p:spPr>
          <a:xfrm>
            <a:off x="548640" y="1600200"/>
            <a:ext cx="11094415" cy="777240"/>
          </a:xfrm>
          <a:prstGeom prst="rect">
            <a:avLst/>
          </a:prstGeom>
          <a:noFill/>
          <a:ln/>
        </p:spPr>
        <p:txBody>
          <a:bodyPr wrap="square" lIns="0" tIns="0" rIns="0" bIns="0" rtlCol="0" anchor="t"/>
          <a:lstStyle/>
          <a:p>
            <a:pPr indent="0" marL="0">
              <a:lnSpc>
                <a:spcPct val="130000"/>
              </a:lnSpc>
              <a:buNone/>
            </a:pPr>
            <a:r>
              <a:rPr lang="en-US" sz="1350" dirty="0">
                <a:solidFill>
                  <a:srgbClr val="4A5568"/>
                </a:solidFill>
                <a:latin typeface="Arial" pitchFamily="34" charset="0"/>
                <a:ea typeface="Arial" pitchFamily="34" charset="-122"/>
                <a:cs typeface="Arial" pitchFamily="34" charset="-120"/>
              </a:rPr>
              <a:t>En Ingress är en uppsättning regler för HTTP/HTTPS-trafik utifrån: vilken domän och sökväg ska gå till vilken Service. En Ingress Controller (t.ex. NGINX) läser reglerna och gör jobbet.</a:t>
            </a:r>
            <a:endParaRPr lang="en-US" sz="1350" dirty="0"/>
          </a:p>
        </p:txBody>
      </p:sp>
      <p:sp>
        <p:nvSpPr>
          <p:cNvPr id="5" name="Shape 3"/>
          <p:cNvSpPr/>
          <p:nvPr/>
        </p:nvSpPr>
        <p:spPr>
          <a:xfrm>
            <a:off x="548640" y="2651760"/>
            <a:ext cx="4206240" cy="1645920"/>
          </a:xfrm>
          <a:prstGeom prst="roundRect">
            <a:avLst>
              <a:gd name="adj" fmla="val 5556"/>
            </a:avLst>
          </a:prstGeom>
          <a:solidFill>
            <a:srgbClr val="0F1F33"/>
          </a:solidFill>
          <a:ln/>
        </p:spPr>
      </p:sp>
      <p:sp>
        <p:nvSpPr>
          <p:cNvPr id="6" name="Text 4"/>
          <p:cNvSpPr txBox="1"/>
          <p:nvPr/>
        </p:nvSpPr>
        <p:spPr>
          <a:xfrm>
            <a:off x="777240" y="2651760"/>
            <a:ext cx="3749040" cy="1645920"/>
          </a:xfrm>
          <a:prstGeom prst="rect">
            <a:avLst/>
          </a:prstGeom>
          <a:noFill/>
          <a:ln/>
        </p:spPr>
        <p:txBody>
          <a:bodyPr wrap="square" lIns="0" tIns="0" rIns="0" bIns="0" rtlCol="0" anchor="ctr"/>
          <a:lstStyle/>
          <a:p>
            <a:pPr algn="ctr" indent="0" marL="0">
              <a:lnSpc>
                <a:spcPct val="130000"/>
              </a:lnSpc>
              <a:buNone/>
            </a:pPr>
            <a:r>
              <a:rPr lang="en-US" sz="1350" b="1" dirty="0">
                <a:solidFill>
                  <a:srgbClr val="F5F7FA"/>
                </a:solidFill>
                <a:latin typeface="Arial" pitchFamily="34" charset="0"/>
                <a:ea typeface="Arial" pitchFamily="34" charset="-122"/>
                <a:cs typeface="Arial" pitchFamily="34" charset="-120"/>
              </a:rPr>
              <a:t>Ingress</a:t>
            </a:r>
            <a:endParaRPr lang="en-US" sz="1350" dirty="0"/>
          </a:p>
          <a:p>
            <a:pPr algn="ctr" indent="0" marL="0">
              <a:lnSpc>
                <a:spcPct val="130000"/>
              </a:lnSpc>
              <a:buNone/>
            </a:pPr>
            <a:r>
              <a:rPr lang="en-US" sz="1350" b="1" dirty="0">
                <a:solidFill>
                  <a:srgbClr val="F5F7FA"/>
                </a:solidFill>
                <a:latin typeface="Arial" pitchFamily="34" charset="0"/>
                <a:ea typeface="Arial" pitchFamily="34" charset="-122"/>
                <a:cs typeface="Arial" pitchFamily="34" charset="-120"/>
              </a:rPr>
              <a:t>butik.se/api → api-service</a:t>
            </a:r>
            <a:endParaRPr lang="en-US" sz="1350" dirty="0"/>
          </a:p>
          <a:p>
            <a:pPr algn="ctr" indent="0" marL="0">
              <a:lnSpc>
                <a:spcPct val="130000"/>
              </a:lnSpc>
              <a:buNone/>
            </a:pPr>
            <a:r>
              <a:rPr lang="en-US" sz="1350" b="1" dirty="0">
                <a:solidFill>
                  <a:srgbClr val="F5F7FA"/>
                </a:solidFill>
                <a:latin typeface="Arial" pitchFamily="34" charset="0"/>
                <a:ea typeface="Arial" pitchFamily="34" charset="-122"/>
                <a:cs typeface="Arial" pitchFamily="34" charset="-120"/>
              </a:rPr>
              <a:t>butik.se/ → web-service</a:t>
            </a:r>
            <a:endParaRPr lang="en-US" sz="1350" dirty="0"/>
          </a:p>
        </p:txBody>
      </p:sp>
      <p:sp>
        <p:nvSpPr>
          <p:cNvPr id="7" name="Shape 5"/>
          <p:cNvSpPr/>
          <p:nvPr/>
        </p:nvSpPr>
        <p:spPr>
          <a:xfrm>
            <a:off x="4526280" y="3337560"/>
            <a:ext cx="411480" cy="274320"/>
          </a:xfrm>
          <a:prstGeom prst="rightArrow">
            <a:avLst/>
          </a:prstGeom>
          <a:solidFill>
            <a:srgbClr val="3762FF"/>
          </a:solidFill>
          <a:ln/>
        </p:spPr>
      </p:sp>
      <p:sp>
        <p:nvSpPr>
          <p:cNvPr id="8" name="Shape 6"/>
          <p:cNvSpPr/>
          <p:nvPr/>
        </p:nvSpPr>
        <p:spPr>
          <a:xfrm>
            <a:off x="5212080" y="2651760"/>
            <a:ext cx="5513832" cy="731520"/>
          </a:xfrm>
          <a:prstGeom prst="roundRect">
            <a:avLst>
              <a:gd name="adj" fmla="val 12500"/>
            </a:avLst>
          </a:prstGeom>
          <a:solidFill>
            <a:srgbClr val="FFFFFF"/>
          </a:solidFill>
          <a:ln w="12700">
            <a:solidFill>
              <a:srgbClr val="E4E7EC"/>
            </a:solidFill>
            <a:prstDash val="solid"/>
          </a:ln>
        </p:spPr>
      </p:sp>
      <p:sp>
        <p:nvSpPr>
          <p:cNvPr id="9" name="Text 7"/>
          <p:cNvSpPr txBox="1"/>
          <p:nvPr/>
        </p:nvSpPr>
        <p:spPr>
          <a:xfrm>
            <a:off x="5440680" y="2651760"/>
            <a:ext cx="5029200" cy="731520"/>
          </a:xfrm>
          <a:prstGeom prst="rect">
            <a:avLst/>
          </a:prstGeom>
          <a:noFill/>
          <a:ln/>
        </p:spPr>
        <p:txBody>
          <a:bodyPr wrap="square" lIns="0" tIns="0" rIns="0" bIns="0" rtlCol="0" anchor="ctr"/>
          <a:lstStyle/>
          <a:p>
            <a:pPr indent="0" marL="0">
              <a:buNone/>
            </a:pPr>
            <a:r>
              <a:rPr lang="en-US" sz="1600" b="1" dirty="0">
                <a:solidFill>
                  <a:srgbClr val="16202B"/>
                </a:solidFill>
                <a:latin typeface="Calibri" pitchFamily="34" charset="0"/>
                <a:ea typeface="Calibri" pitchFamily="34" charset="-122"/>
                <a:cs typeface="Calibri" pitchFamily="34" charset="-120"/>
              </a:rPr>
              <a:t>Service: api-service</a:t>
            </a:r>
            <a:endParaRPr lang="en-US" sz="1600" dirty="0"/>
          </a:p>
        </p:txBody>
      </p:sp>
      <p:sp>
        <p:nvSpPr>
          <p:cNvPr id="10" name="Shape 8"/>
          <p:cNvSpPr/>
          <p:nvPr/>
        </p:nvSpPr>
        <p:spPr>
          <a:xfrm>
            <a:off x="5212080" y="3566160"/>
            <a:ext cx="5513832" cy="731520"/>
          </a:xfrm>
          <a:prstGeom prst="roundRect">
            <a:avLst>
              <a:gd name="adj" fmla="val 12500"/>
            </a:avLst>
          </a:prstGeom>
          <a:solidFill>
            <a:srgbClr val="FFFFFF"/>
          </a:solidFill>
          <a:ln w="12700">
            <a:solidFill>
              <a:srgbClr val="E4E7EC"/>
            </a:solidFill>
            <a:prstDash val="solid"/>
          </a:ln>
        </p:spPr>
      </p:sp>
      <p:sp>
        <p:nvSpPr>
          <p:cNvPr id="11" name="Text 9"/>
          <p:cNvSpPr txBox="1"/>
          <p:nvPr/>
        </p:nvSpPr>
        <p:spPr>
          <a:xfrm>
            <a:off x="5440680" y="3566160"/>
            <a:ext cx="5029200" cy="731520"/>
          </a:xfrm>
          <a:prstGeom prst="rect">
            <a:avLst/>
          </a:prstGeom>
          <a:noFill/>
          <a:ln/>
        </p:spPr>
        <p:txBody>
          <a:bodyPr wrap="square" lIns="0" tIns="0" rIns="0" bIns="0" rtlCol="0" anchor="ctr"/>
          <a:lstStyle/>
          <a:p>
            <a:pPr indent="0" marL="0">
              <a:buNone/>
            </a:pPr>
            <a:r>
              <a:rPr lang="en-US" sz="1600" b="1" dirty="0">
                <a:solidFill>
                  <a:srgbClr val="16202B"/>
                </a:solidFill>
                <a:latin typeface="Calibri" pitchFamily="34" charset="0"/>
                <a:ea typeface="Calibri" pitchFamily="34" charset="-122"/>
                <a:cs typeface="Calibri" pitchFamily="34" charset="-120"/>
              </a:rPr>
              <a:t>Service: web-service</a:t>
            </a:r>
            <a:endParaRPr lang="en-US" sz="1600" dirty="0"/>
          </a:p>
        </p:txBody>
      </p:sp>
      <p:sp>
        <p:nvSpPr>
          <p:cNvPr id="12" name="Text 10"/>
          <p:cNvSpPr txBox="1"/>
          <p:nvPr/>
        </p:nvSpPr>
        <p:spPr>
          <a:xfrm>
            <a:off x="548640" y="4663440"/>
            <a:ext cx="11094415" cy="457200"/>
          </a:xfrm>
          <a:prstGeom prst="rect">
            <a:avLst/>
          </a:prstGeom>
          <a:noFill/>
          <a:ln/>
        </p:spPr>
        <p:txBody>
          <a:bodyPr wrap="square" lIns="0" tIns="0" rIns="0" bIns="0" rtlCol="0" anchor="t"/>
          <a:lstStyle/>
          <a:p>
            <a:pPr indent="0" marL="0">
              <a:lnSpc>
                <a:spcPct val="130000"/>
              </a:lnSpc>
              <a:buNone/>
            </a:pPr>
            <a:r>
              <a:rPr lang="en-US" sz="1250" dirty="0">
                <a:solidFill>
                  <a:srgbClr val="6A7179"/>
                </a:solidFill>
                <a:latin typeface="Arial" pitchFamily="34" charset="0"/>
                <a:ea typeface="Arial" pitchFamily="34" charset="-122"/>
                <a:cs typeface="Arial" pitchFamily="34" charset="-120"/>
              </a:rPr>
              <a:t>En enda Ingress kan alltså routa till flera olika tjänster - istället för en LoadBalancer per tjänst.</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685800"/>
            <a:ext cx="11094415" cy="292608"/>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NÄTVERK · HELHETEN</a:t>
            </a:r>
            <a:endParaRPr lang="en-US" sz="1200" dirty="0"/>
          </a:p>
        </p:txBody>
      </p:sp>
      <p:sp>
        <p:nvSpPr>
          <p:cNvPr id="3" name="Text 1"/>
          <p:cNvSpPr txBox="1"/>
          <p:nvPr/>
        </p:nvSpPr>
        <p:spPr>
          <a:xfrm>
            <a:off x="548640" y="1143000"/>
            <a:ext cx="9144000" cy="822960"/>
          </a:xfrm>
          <a:prstGeom prst="rect">
            <a:avLst/>
          </a:prstGeom>
          <a:noFill/>
          <a:ln/>
        </p:spPr>
        <p:txBody>
          <a:bodyPr wrap="square" lIns="0" tIns="0" rIns="0" bIns="0" rtlCol="0" anchor="ctr"/>
          <a:lstStyle/>
          <a:p>
            <a:pPr indent="0" marL="0">
              <a:buNone/>
            </a:pPr>
            <a:r>
              <a:rPr lang="en-US" sz="3000" b="1" dirty="0">
                <a:solidFill>
                  <a:srgbClr val="F5F7FA"/>
                </a:solidFill>
                <a:latin typeface="Calibri" pitchFamily="34" charset="0"/>
                <a:ea typeface="Calibri" pitchFamily="34" charset="-122"/>
                <a:cs typeface="Calibri" pitchFamily="34" charset="-120"/>
              </a:rPr>
              <a:t>Hela vägen: klient till pod</a:t>
            </a:r>
            <a:endParaRPr lang="en-US" sz="3000" dirty="0"/>
          </a:p>
        </p:txBody>
      </p:sp>
      <p:sp>
        <p:nvSpPr>
          <p:cNvPr id="4" name="Shape 2"/>
          <p:cNvSpPr/>
          <p:nvPr/>
        </p:nvSpPr>
        <p:spPr>
          <a:xfrm>
            <a:off x="548640" y="2743200"/>
            <a:ext cx="2396414" cy="1737360"/>
          </a:xfrm>
          <a:prstGeom prst="roundRect">
            <a:avLst>
              <a:gd name="adj" fmla="val 5263"/>
            </a:avLst>
          </a:prstGeom>
          <a:solidFill>
            <a:srgbClr val="16294A"/>
          </a:solidFill>
          <a:ln/>
        </p:spPr>
      </p:sp>
      <p:sp>
        <p:nvSpPr>
          <p:cNvPr id="5" name="Text 3"/>
          <p:cNvSpPr txBox="1"/>
          <p:nvPr/>
        </p:nvSpPr>
        <p:spPr>
          <a:xfrm>
            <a:off x="685800" y="2944368"/>
            <a:ext cx="2122094" cy="457200"/>
          </a:xfrm>
          <a:prstGeom prst="rect">
            <a:avLst/>
          </a:prstGeom>
          <a:noFill/>
          <a:ln/>
        </p:spPr>
        <p:txBody>
          <a:bodyPr wrap="square" lIns="0" tIns="0" rIns="0" bIns="0" rtlCol="0" anchor="t"/>
          <a:lstStyle/>
          <a:p>
            <a:pPr algn="ctr" indent="0" marL="0">
              <a:buNone/>
            </a:pPr>
            <a:r>
              <a:rPr lang="en-US" sz="1500" b="1" dirty="0">
                <a:solidFill>
                  <a:srgbClr val="F5F7FA"/>
                </a:solidFill>
                <a:latin typeface="Calibri" pitchFamily="34" charset="0"/>
                <a:ea typeface="Calibri" pitchFamily="34" charset="-122"/>
                <a:cs typeface="Calibri" pitchFamily="34" charset="-120"/>
              </a:rPr>
              <a:t>Klient</a:t>
            </a:r>
            <a:endParaRPr lang="en-US" sz="1500" dirty="0"/>
          </a:p>
        </p:txBody>
      </p:sp>
      <p:sp>
        <p:nvSpPr>
          <p:cNvPr id="6" name="Text 4"/>
          <p:cNvSpPr txBox="1"/>
          <p:nvPr/>
        </p:nvSpPr>
        <p:spPr>
          <a:xfrm>
            <a:off x="685800" y="3364992"/>
            <a:ext cx="2122094" cy="978408"/>
          </a:xfrm>
          <a:prstGeom prst="rect">
            <a:avLst/>
          </a:prstGeom>
          <a:noFill/>
          <a:ln/>
        </p:spPr>
        <p:txBody>
          <a:bodyPr wrap="square" lIns="0" tIns="0" rIns="0" bIns="0" rtlCol="0" anchor="t"/>
          <a:lstStyle/>
          <a:p>
            <a:pPr algn="ctr" indent="0" marL="0">
              <a:lnSpc>
                <a:spcPct val="120000"/>
              </a:lnSpc>
              <a:buNone/>
            </a:pPr>
            <a:r>
              <a:rPr lang="en-US" sz="1050" dirty="0">
                <a:solidFill>
                  <a:srgbClr val="B9C4D1"/>
                </a:solidFill>
                <a:latin typeface="Arial" pitchFamily="34" charset="0"/>
                <a:ea typeface="Arial" pitchFamily="34" charset="-122"/>
                <a:cs typeface="Arial" pitchFamily="34" charset="-120"/>
              </a:rPr>
              <a:t>Webbläsare / app</a:t>
            </a:r>
            <a:endParaRPr lang="en-US" sz="1050" dirty="0"/>
          </a:p>
        </p:txBody>
      </p:sp>
      <p:sp>
        <p:nvSpPr>
          <p:cNvPr id="7" name="Shape 5"/>
          <p:cNvSpPr/>
          <p:nvPr/>
        </p:nvSpPr>
        <p:spPr>
          <a:xfrm>
            <a:off x="3004490" y="3493008"/>
            <a:ext cx="384048" cy="237744"/>
          </a:xfrm>
          <a:prstGeom prst="rightArrow">
            <a:avLst/>
          </a:prstGeom>
          <a:solidFill>
            <a:srgbClr val="7C9CFF"/>
          </a:solidFill>
          <a:ln/>
        </p:spPr>
      </p:sp>
      <p:sp>
        <p:nvSpPr>
          <p:cNvPr id="8" name="Shape 6"/>
          <p:cNvSpPr/>
          <p:nvPr/>
        </p:nvSpPr>
        <p:spPr>
          <a:xfrm>
            <a:off x="3447974" y="2743200"/>
            <a:ext cx="2396414" cy="1737360"/>
          </a:xfrm>
          <a:prstGeom prst="roundRect">
            <a:avLst>
              <a:gd name="adj" fmla="val 5263"/>
            </a:avLst>
          </a:prstGeom>
          <a:solidFill>
            <a:srgbClr val="16294A"/>
          </a:solidFill>
          <a:ln/>
        </p:spPr>
      </p:sp>
      <p:sp>
        <p:nvSpPr>
          <p:cNvPr id="9" name="Text 7"/>
          <p:cNvSpPr txBox="1"/>
          <p:nvPr/>
        </p:nvSpPr>
        <p:spPr>
          <a:xfrm>
            <a:off x="3585134" y="2944368"/>
            <a:ext cx="2122094" cy="457200"/>
          </a:xfrm>
          <a:prstGeom prst="rect">
            <a:avLst/>
          </a:prstGeom>
          <a:noFill/>
          <a:ln/>
        </p:spPr>
        <p:txBody>
          <a:bodyPr wrap="square" lIns="0" tIns="0" rIns="0" bIns="0" rtlCol="0" anchor="t"/>
          <a:lstStyle/>
          <a:p>
            <a:pPr algn="ctr" indent="0" marL="0">
              <a:buNone/>
            </a:pPr>
            <a:r>
              <a:rPr lang="en-US" sz="1500" b="1" dirty="0">
                <a:solidFill>
                  <a:srgbClr val="F5F7FA"/>
                </a:solidFill>
                <a:latin typeface="Calibri" pitchFamily="34" charset="0"/>
                <a:ea typeface="Calibri" pitchFamily="34" charset="-122"/>
                <a:cs typeface="Calibri" pitchFamily="34" charset="-120"/>
              </a:rPr>
              <a:t>Ingress</a:t>
            </a:r>
            <a:endParaRPr lang="en-US" sz="1500" dirty="0"/>
          </a:p>
        </p:txBody>
      </p:sp>
      <p:sp>
        <p:nvSpPr>
          <p:cNvPr id="10" name="Text 8"/>
          <p:cNvSpPr txBox="1"/>
          <p:nvPr/>
        </p:nvSpPr>
        <p:spPr>
          <a:xfrm>
            <a:off x="3585134" y="3364992"/>
            <a:ext cx="2122094" cy="978408"/>
          </a:xfrm>
          <a:prstGeom prst="rect">
            <a:avLst/>
          </a:prstGeom>
          <a:noFill/>
          <a:ln/>
        </p:spPr>
        <p:txBody>
          <a:bodyPr wrap="square" lIns="0" tIns="0" rIns="0" bIns="0" rtlCol="0" anchor="t"/>
          <a:lstStyle/>
          <a:p>
            <a:pPr algn="ctr" indent="0" marL="0">
              <a:lnSpc>
                <a:spcPct val="120000"/>
              </a:lnSpc>
              <a:buNone/>
            </a:pPr>
            <a:r>
              <a:rPr lang="en-US" sz="1050" dirty="0">
                <a:solidFill>
                  <a:srgbClr val="B9C4D1"/>
                </a:solidFill>
                <a:latin typeface="Arial" pitchFamily="34" charset="0"/>
                <a:ea typeface="Arial" pitchFamily="34" charset="-122"/>
                <a:cs typeface="Arial" pitchFamily="34" charset="-120"/>
              </a:rPr>
              <a:t>Routar på domän/sökväg</a:t>
            </a:r>
            <a:endParaRPr lang="en-US" sz="1050" dirty="0"/>
          </a:p>
        </p:txBody>
      </p:sp>
      <p:sp>
        <p:nvSpPr>
          <p:cNvPr id="11" name="Shape 9"/>
          <p:cNvSpPr/>
          <p:nvPr/>
        </p:nvSpPr>
        <p:spPr>
          <a:xfrm>
            <a:off x="5903824" y="3493008"/>
            <a:ext cx="384048" cy="237744"/>
          </a:xfrm>
          <a:prstGeom prst="rightArrow">
            <a:avLst/>
          </a:prstGeom>
          <a:solidFill>
            <a:srgbClr val="7C9CFF"/>
          </a:solidFill>
          <a:ln/>
        </p:spPr>
      </p:sp>
      <p:sp>
        <p:nvSpPr>
          <p:cNvPr id="12" name="Shape 10"/>
          <p:cNvSpPr/>
          <p:nvPr/>
        </p:nvSpPr>
        <p:spPr>
          <a:xfrm>
            <a:off x="6347308" y="2743200"/>
            <a:ext cx="2396414" cy="1737360"/>
          </a:xfrm>
          <a:prstGeom prst="roundRect">
            <a:avLst>
              <a:gd name="adj" fmla="val 5263"/>
            </a:avLst>
          </a:prstGeom>
          <a:solidFill>
            <a:srgbClr val="16294A"/>
          </a:solidFill>
          <a:ln/>
        </p:spPr>
      </p:sp>
      <p:sp>
        <p:nvSpPr>
          <p:cNvPr id="13" name="Text 11"/>
          <p:cNvSpPr txBox="1"/>
          <p:nvPr/>
        </p:nvSpPr>
        <p:spPr>
          <a:xfrm>
            <a:off x="6484468" y="2944368"/>
            <a:ext cx="2122094" cy="457200"/>
          </a:xfrm>
          <a:prstGeom prst="rect">
            <a:avLst/>
          </a:prstGeom>
          <a:noFill/>
          <a:ln/>
        </p:spPr>
        <p:txBody>
          <a:bodyPr wrap="square" lIns="0" tIns="0" rIns="0" bIns="0" rtlCol="0" anchor="t"/>
          <a:lstStyle/>
          <a:p>
            <a:pPr algn="ctr" indent="0" marL="0">
              <a:buNone/>
            </a:pPr>
            <a:r>
              <a:rPr lang="en-US" sz="1500" b="1" dirty="0">
                <a:solidFill>
                  <a:srgbClr val="F5F7FA"/>
                </a:solidFill>
                <a:latin typeface="Calibri" pitchFamily="34" charset="0"/>
                <a:ea typeface="Calibri" pitchFamily="34" charset="-122"/>
                <a:cs typeface="Calibri" pitchFamily="34" charset="-120"/>
              </a:rPr>
              <a:t>Service</a:t>
            </a:r>
            <a:endParaRPr lang="en-US" sz="1500" dirty="0"/>
          </a:p>
        </p:txBody>
      </p:sp>
      <p:sp>
        <p:nvSpPr>
          <p:cNvPr id="14" name="Text 12"/>
          <p:cNvSpPr txBox="1"/>
          <p:nvPr/>
        </p:nvSpPr>
        <p:spPr>
          <a:xfrm>
            <a:off x="6484468" y="3364992"/>
            <a:ext cx="2122094" cy="978408"/>
          </a:xfrm>
          <a:prstGeom prst="rect">
            <a:avLst/>
          </a:prstGeom>
          <a:noFill/>
          <a:ln/>
        </p:spPr>
        <p:txBody>
          <a:bodyPr wrap="square" lIns="0" tIns="0" rIns="0" bIns="0" rtlCol="0" anchor="t"/>
          <a:lstStyle/>
          <a:p>
            <a:pPr algn="ctr" indent="0" marL="0">
              <a:lnSpc>
                <a:spcPct val="120000"/>
              </a:lnSpc>
              <a:buNone/>
            </a:pPr>
            <a:r>
              <a:rPr lang="en-US" sz="1050" dirty="0">
                <a:solidFill>
                  <a:srgbClr val="B9C4D1"/>
                </a:solidFill>
                <a:latin typeface="Arial" pitchFamily="34" charset="0"/>
                <a:ea typeface="Arial" pitchFamily="34" charset="-122"/>
                <a:cs typeface="Arial" pitchFamily="34" charset="-120"/>
              </a:rPr>
              <a:t>Stabil adress, lastbalanserar</a:t>
            </a:r>
            <a:endParaRPr lang="en-US" sz="1050" dirty="0"/>
          </a:p>
        </p:txBody>
      </p:sp>
      <p:sp>
        <p:nvSpPr>
          <p:cNvPr id="15" name="Shape 13"/>
          <p:cNvSpPr/>
          <p:nvPr/>
        </p:nvSpPr>
        <p:spPr>
          <a:xfrm>
            <a:off x="8803157" y="3493008"/>
            <a:ext cx="384048" cy="237744"/>
          </a:xfrm>
          <a:prstGeom prst="rightArrow">
            <a:avLst/>
          </a:prstGeom>
          <a:solidFill>
            <a:srgbClr val="7C9CFF"/>
          </a:solidFill>
          <a:ln/>
        </p:spPr>
      </p:sp>
      <p:sp>
        <p:nvSpPr>
          <p:cNvPr id="16" name="Shape 14"/>
          <p:cNvSpPr/>
          <p:nvPr/>
        </p:nvSpPr>
        <p:spPr>
          <a:xfrm>
            <a:off x="9246641" y="2743200"/>
            <a:ext cx="2396414" cy="1737360"/>
          </a:xfrm>
          <a:prstGeom prst="roundRect">
            <a:avLst>
              <a:gd name="adj" fmla="val 5263"/>
            </a:avLst>
          </a:prstGeom>
          <a:solidFill>
            <a:srgbClr val="16294A"/>
          </a:solidFill>
          <a:ln/>
        </p:spPr>
      </p:sp>
      <p:sp>
        <p:nvSpPr>
          <p:cNvPr id="17" name="Text 15"/>
          <p:cNvSpPr txBox="1"/>
          <p:nvPr/>
        </p:nvSpPr>
        <p:spPr>
          <a:xfrm>
            <a:off x="9383801" y="2944368"/>
            <a:ext cx="2122094" cy="457200"/>
          </a:xfrm>
          <a:prstGeom prst="rect">
            <a:avLst/>
          </a:prstGeom>
          <a:noFill/>
          <a:ln/>
        </p:spPr>
        <p:txBody>
          <a:bodyPr wrap="square" lIns="0" tIns="0" rIns="0" bIns="0" rtlCol="0" anchor="t"/>
          <a:lstStyle/>
          <a:p>
            <a:pPr algn="ctr" indent="0" marL="0">
              <a:buNone/>
            </a:pPr>
            <a:r>
              <a:rPr lang="en-US" sz="1500" b="1" dirty="0">
                <a:solidFill>
                  <a:srgbClr val="F5F7FA"/>
                </a:solidFill>
                <a:latin typeface="Calibri" pitchFamily="34" charset="0"/>
                <a:ea typeface="Calibri" pitchFamily="34" charset="-122"/>
                <a:cs typeface="Calibri" pitchFamily="34" charset="-120"/>
              </a:rPr>
              <a:t>Poddar</a:t>
            </a:r>
            <a:endParaRPr lang="en-US" sz="1500" dirty="0"/>
          </a:p>
        </p:txBody>
      </p:sp>
      <p:sp>
        <p:nvSpPr>
          <p:cNvPr id="18" name="Text 16"/>
          <p:cNvSpPr txBox="1"/>
          <p:nvPr/>
        </p:nvSpPr>
        <p:spPr>
          <a:xfrm>
            <a:off x="9383801" y="3364992"/>
            <a:ext cx="2122094" cy="978408"/>
          </a:xfrm>
          <a:prstGeom prst="rect">
            <a:avLst/>
          </a:prstGeom>
          <a:noFill/>
          <a:ln/>
        </p:spPr>
        <p:txBody>
          <a:bodyPr wrap="square" lIns="0" tIns="0" rIns="0" bIns="0" rtlCol="0" anchor="t"/>
          <a:lstStyle/>
          <a:p>
            <a:pPr algn="ctr" indent="0" marL="0">
              <a:lnSpc>
                <a:spcPct val="120000"/>
              </a:lnSpc>
              <a:buNone/>
            </a:pPr>
            <a:r>
              <a:rPr lang="en-US" sz="1050" dirty="0">
                <a:solidFill>
                  <a:srgbClr val="B9C4D1"/>
                </a:solidFill>
                <a:latin typeface="Arial" pitchFamily="34" charset="0"/>
                <a:ea typeface="Arial" pitchFamily="34" charset="-122"/>
                <a:cs typeface="Arial" pitchFamily="34" charset="-120"/>
              </a:rPr>
              <a:t>Kör er applikation</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914400"/>
            <a:ext cx="4572000" cy="23774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06</a:t>
            </a:r>
            <a:endParaRPr lang="en-US" sz="15000" dirty="0"/>
          </a:p>
        </p:txBody>
      </p:sp>
      <p:sp>
        <p:nvSpPr>
          <p:cNvPr id="3" name="Text 1"/>
          <p:cNvSpPr txBox="1"/>
          <p:nvPr/>
        </p:nvSpPr>
        <p:spPr>
          <a:xfrm>
            <a:off x="548640" y="3200400"/>
            <a:ext cx="9144000" cy="100584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Prata med klustret</a:t>
            </a:r>
            <a:endParaRPr lang="en-US" sz="5200" dirty="0"/>
          </a:p>
        </p:txBody>
      </p:sp>
      <p:sp>
        <p:nvSpPr>
          <p:cNvPr id="4" name="Text 2"/>
          <p:cNvSpPr txBox="1"/>
          <p:nvPr/>
        </p:nvSpPr>
        <p:spPr>
          <a:xfrm>
            <a:off x="548640" y="4206240"/>
            <a:ext cx="8229600" cy="548640"/>
          </a:xfrm>
          <a:prstGeom prst="rect">
            <a:avLst/>
          </a:prstGeom>
          <a:noFill/>
          <a:ln/>
        </p:spPr>
        <p:txBody>
          <a:bodyPr wrap="square" lIns="0" tIns="0" rIns="0" bIns="0" rtlCol="0" anchor="ctr"/>
          <a:lstStyle/>
          <a:p>
            <a:pPr indent="0" marL="0">
              <a:buNone/>
            </a:pPr>
            <a:r>
              <a:rPr lang="en-US" sz="1800" dirty="0">
                <a:solidFill>
                  <a:srgbClr val="B9C4D1"/>
                </a:solidFill>
                <a:latin typeface="Arial" pitchFamily="34" charset="0"/>
                <a:ea typeface="Arial" pitchFamily="34" charset="-122"/>
                <a:cs typeface="Arial" pitchFamily="34" charset="-120"/>
              </a:rPr>
              <a:t>kubectl, API:et och hur allt beskrivs deklarativt</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PRATA MED KLUSTRET</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kubectl pratar med API:et</a:t>
            </a:r>
            <a:endParaRPr lang="en-US" sz="2700" dirty="0"/>
          </a:p>
        </p:txBody>
      </p:sp>
      <p:sp>
        <p:nvSpPr>
          <p:cNvPr id="4" name="Text 2"/>
          <p:cNvSpPr txBox="1"/>
          <p:nvPr/>
        </p:nvSpPr>
        <p:spPr>
          <a:xfrm>
            <a:off x="548640" y="1600200"/>
            <a:ext cx="11094415" cy="777240"/>
          </a:xfrm>
          <a:prstGeom prst="rect">
            <a:avLst/>
          </a:prstGeom>
          <a:noFill/>
          <a:ln/>
        </p:spPr>
        <p:txBody>
          <a:bodyPr wrap="square" lIns="0" tIns="0" rIns="0" bIns="0" rtlCol="0" anchor="t"/>
          <a:lstStyle/>
          <a:p>
            <a:pPr indent="0" marL="0">
              <a:lnSpc>
                <a:spcPct val="130000"/>
              </a:lnSpc>
              <a:buNone/>
            </a:pPr>
            <a:r>
              <a:rPr lang="en-US" sz="1350" dirty="0">
                <a:solidFill>
                  <a:srgbClr val="4A5568"/>
                </a:solidFill>
                <a:latin typeface="Arial" pitchFamily="34" charset="0"/>
                <a:ea typeface="Arial" pitchFamily="34" charset="-122"/>
                <a:cs typeface="Arial" pitchFamily="34" charset="-120"/>
              </a:rPr>
              <a:t>kubectl är kommandoradsverktyget ni använder mest. Det gör bara en sak: skickar HTTPS-anrop till kube-apiserver. Allt annat som rör klustret går samma väg.</a:t>
            </a:r>
            <a:endParaRPr lang="en-US" sz="1350" dirty="0"/>
          </a:p>
        </p:txBody>
      </p:sp>
      <p:sp>
        <p:nvSpPr>
          <p:cNvPr id="5" name="Shape 3"/>
          <p:cNvSpPr/>
          <p:nvPr/>
        </p:nvSpPr>
        <p:spPr>
          <a:xfrm>
            <a:off x="548640" y="2651760"/>
            <a:ext cx="3362858" cy="1463040"/>
          </a:xfrm>
          <a:prstGeom prst="roundRect">
            <a:avLst>
              <a:gd name="adj" fmla="val 6250"/>
            </a:avLst>
          </a:prstGeom>
          <a:solidFill>
            <a:srgbClr val="FFFFFF"/>
          </a:solidFill>
          <a:ln w="12700">
            <a:solidFill>
              <a:srgbClr val="E4E7EC"/>
            </a:solidFill>
            <a:prstDash val="solid"/>
          </a:ln>
        </p:spPr>
      </p:sp>
      <p:sp>
        <p:nvSpPr>
          <p:cNvPr id="6" name="Text 4"/>
          <p:cNvSpPr txBox="1"/>
          <p:nvPr/>
        </p:nvSpPr>
        <p:spPr>
          <a:xfrm>
            <a:off x="685800" y="2852928"/>
            <a:ext cx="3088538" cy="457200"/>
          </a:xfrm>
          <a:prstGeom prst="rect">
            <a:avLst/>
          </a:prstGeom>
          <a:noFill/>
          <a:ln/>
        </p:spPr>
        <p:txBody>
          <a:bodyPr wrap="square" lIns="0" tIns="0" rIns="0" bIns="0" rtlCol="0" anchor="t"/>
          <a:lstStyle/>
          <a:p>
            <a:pPr algn="ctr" indent="0" marL="0">
              <a:buNone/>
            </a:pPr>
            <a:r>
              <a:rPr lang="en-US" sz="1500" b="1" dirty="0">
                <a:solidFill>
                  <a:srgbClr val="16202B"/>
                </a:solidFill>
                <a:latin typeface="Calibri" pitchFamily="34" charset="0"/>
                <a:ea typeface="Calibri" pitchFamily="34" charset="-122"/>
                <a:cs typeface="Calibri" pitchFamily="34" charset="-120"/>
              </a:rPr>
              <a:t>kubectl</a:t>
            </a:r>
            <a:endParaRPr lang="en-US" sz="1500" dirty="0"/>
          </a:p>
        </p:txBody>
      </p:sp>
      <p:sp>
        <p:nvSpPr>
          <p:cNvPr id="7" name="Shape 5"/>
          <p:cNvSpPr/>
          <p:nvPr/>
        </p:nvSpPr>
        <p:spPr>
          <a:xfrm>
            <a:off x="3970934" y="3264408"/>
            <a:ext cx="384048" cy="237744"/>
          </a:xfrm>
          <a:prstGeom prst="rightArrow">
            <a:avLst/>
          </a:prstGeom>
          <a:solidFill>
            <a:srgbClr val="3762FF"/>
          </a:solidFill>
          <a:ln/>
        </p:spPr>
      </p:sp>
      <p:sp>
        <p:nvSpPr>
          <p:cNvPr id="8" name="Shape 6"/>
          <p:cNvSpPr/>
          <p:nvPr/>
        </p:nvSpPr>
        <p:spPr>
          <a:xfrm>
            <a:off x="4414418" y="2651760"/>
            <a:ext cx="3362858" cy="1463040"/>
          </a:xfrm>
          <a:prstGeom prst="roundRect">
            <a:avLst>
              <a:gd name="adj" fmla="val 6250"/>
            </a:avLst>
          </a:prstGeom>
          <a:solidFill>
            <a:srgbClr val="16294A"/>
          </a:solidFill>
          <a:ln/>
        </p:spPr>
      </p:sp>
      <p:sp>
        <p:nvSpPr>
          <p:cNvPr id="9" name="Text 7"/>
          <p:cNvSpPr txBox="1"/>
          <p:nvPr/>
        </p:nvSpPr>
        <p:spPr>
          <a:xfrm>
            <a:off x="4551578" y="2852928"/>
            <a:ext cx="3088538" cy="457200"/>
          </a:xfrm>
          <a:prstGeom prst="rect">
            <a:avLst/>
          </a:prstGeom>
          <a:noFill/>
          <a:ln/>
        </p:spPr>
        <p:txBody>
          <a:bodyPr wrap="square" lIns="0" tIns="0" rIns="0" bIns="0" rtlCol="0" anchor="t"/>
          <a:lstStyle/>
          <a:p>
            <a:pPr algn="ctr" indent="0" marL="0">
              <a:buNone/>
            </a:pPr>
            <a:r>
              <a:rPr lang="en-US" sz="1500" b="1" dirty="0">
                <a:solidFill>
                  <a:srgbClr val="F5F7FA"/>
                </a:solidFill>
                <a:latin typeface="Calibri" pitchFamily="34" charset="0"/>
                <a:ea typeface="Calibri" pitchFamily="34" charset="-122"/>
                <a:cs typeface="Calibri" pitchFamily="34" charset="-120"/>
              </a:rPr>
              <a:t>kube-apiserver</a:t>
            </a:r>
            <a:endParaRPr lang="en-US" sz="1500" dirty="0"/>
          </a:p>
        </p:txBody>
      </p:sp>
      <p:sp>
        <p:nvSpPr>
          <p:cNvPr id="10" name="Shape 8"/>
          <p:cNvSpPr/>
          <p:nvPr/>
        </p:nvSpPr>
        <p:spPr>
          <a:xfrm>
            <a:off x="7836713" y="3264408"/>
            <a:ext cx="384048" cy="237744"/>
          </a:xfrm>
          <a:prstGeom prst="rightArrow">
            <a:avLst/>
          </a:prstGeom>
          <a:solidFill>
            <a:srgbClr val="3762FF"/>
          </a:solidFill>
          <a:ln/>
        </p:spPr>
      </p:sp>
      <p:sp>
        <p:nvSpPr>
          <p:cNvPr id="11" name="Shape 9"/>
          <p:cNvSpPr/>
          <p:nvPr/>
        </p:nvSpPr>
        <p:spPr>
          <a:xfrm>
            <a:off x="8280197" y="2651760"/>
            <a:ext cx="3362858" cy="1463040"/>
          </a:xfrm>
          <a:prstGeom prst="roundRect">
            <a:avLst>
              <a:gd name="adj" fmla="val 6250"/>
            </a:avLst>
          </a:prstGeom>
          <a:solidFill>
            <a:srgbClr val="FFFFFF"/>
          </a:solidFill>
          <a:ln w="12700">
            <a:solidFill>
              <a:srgbClr val="E4E7EC"/>
            </a:solidFill>
            <a:prstDash val="solid"/>
          </a:ln>
        </p:spPr>
      </p:sp>
      <p:sp>
        <p:nvSpPr>
          <p:cNvPr id="12" name="Text 10"/>
          <p:cNvSpPr txBox="1"/>
          <p:nvPr/>
        </p:nvSpPr>
        <p:spPr>
          <a:xfrm>
            <a:off x="8417357" y="2852928"/>
            <a:ext cx="3088538" cy="457200"/>
          </a:xfrm>
          <a:prstGeom prst="rect">
            <a:avLst/>
          </a:prstGeom>
          <a:noFill/>
          <a:ln/>
        </p:spPr>
        <p:txBody>
          <a:bodyPr wrap="square" lIns="0" tIns="0" rIns="0" bIns="0" rtlCol="0" anchor="t"/>
          <a:lstStyle/>
          <a:p>
            <a:pPr algn="ctr" indent="0" marL="0">
              <a:buNone/>
            </a:pPr>
            <a:r>
              <a:rPr lang="en-US" sz="1500" b="1" dirty="0">
                <a:solidFill>
                  <a:srgbClr val="16202B"/>
                </a:solidFill>
                <a:latin typeface="Calibri" pitchFamily="34" charset="0"/>
                <a:ea typeface="Calibri" pitchFamily="34" charset="-122"/>
                <a:cs typeface="Calibri" pitchFamily="34" charset="-120"/>
              </a:rPr>
              <a:t>etcd</a:t>
            </a:r>
            <a:endParaRPr lang="en-US" sz="1500" dirty="0"/>
          </a:p>
        </p:txBody>
      </p:sp>
      <p:sp>
        <p:nvSpPr>
          <p:cNvPr id="13" name="Text 11"/>
          <p:cNvSpPr txBox="1"/>
          <p:nvPr/>
        </p:nvSpPr>
        <p:spPr>
          <a:xfrm>
            <a:off x="548640" y="4434840"/>
            <a:ext cx="11094415" cy="457200"/>
          </a:xfrm>
          <a:prstGeom prst="rect">
            <a:avLst/>
          </a:prstGeom>
          <a:noFill/>
          <a:ln/>
        </p:spPr>
        <p:txBody>
          <a:bodyPr wrap="square" lIns="0" tIns="0" rIns="0" bIns="0" rtlCol="0" anchor="t"/>
          <a:lstStyle/>
          <a:p>
            <a:pPr indent="0" marL="0">
              <a:lnSpc>
                <a:spcPct val="130000"/>
              </a:lnSpc>
              <a:buNone/>
            </a:pPr>
            <a:r>
              <a:rPr lang="en-US" sz="1250" dirty="0">
                <a:solidFill>
                  <a:srgbClr val="6A7179"/>
                </a:solidFill>
                <a:latin typeface="Arial" pitchFamily="34" charset="0"/>
                <a:ea typeface="Arial" pitchFamily="34" charset="-122"/>
                <a:cs typeface="Arial" pitchFamily="34" charset="-120"/>
              </a:rPr>
              <a:t>Samma väg används av dashboards, CI/CD-pipelines och alla interna Kubernetes-komponenter.</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PRATA MED KLUSTRET</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Allt beskrivs deklarativt</a:t>
            </a:r>
            <a:endParaRPr lang="en-US" sz="2700" dirty="0"/>
          </a:p>
        </p:txBody>
      </p:sp>
      <p:sp>
        <p:nvSpPr>
          <p:cNvPr id="4" name="Shape 2"/>
          <p:cNvSpPr/>
          <p:nvPr/>
        </p:nvSpPr>
        <p:spPr>
          <a:xfrm>
            <a:off x="548640" y="1783080"/>
            <a:ext cx="5364328" cy="2834640"/>
          </a:xfrm>
          <a:prstGeom prst="roundRect">
            <a:avLst>
              <a:gd name="adj" fmla="val 3226"/>
            </a:avLst>
          </a:prstGeom>
          <a:solidFill>
            <a:srgbClr val="FFFFFF"/>
          </a:solidFill>
          <a:ln w="12700">
            <a:solidFill>
              <a:srgbClr val="E4E7EC"/>
            </a:solidFill>
            <a:prstDash val="solid"/>
          </a:ln>
        </p:spPr>
      </p:sp>
      <p:sp>
        <p:nvSpPr>
          <p:cNvPr id="5" name="Text 3"/>
          <p:cNvSpPr txBox="1"/>
          <p:nvPr/>
        </p:nvSpPr>
        <p:spPr>
          <a:xfrm>
            <a:off x="777240" y="1965960"/>
            <a:ext cx="4907128" cy="292608"/>
          </a:xfrm>
          <a:prstGeom prst="rect">
            <a:avLst/>
          </a:prstGeom>
          <a:noFill/>
          <a:ln/>
        </p:spPr>
        <p:txBody>
          <a:bodyPr wrap="square" lIns="0" tIns="0" rIns="0" bIns="0" rtlCol="0" anchor="ctr"/>
          <a:lstStyle/>
          <a:p>
            <a:pPr indent="0" marL="0">
              <a:buNone/>
            </a:pPr>
            <a:r>
              <a:rPr lang="en-US" sz="1100" b="1" dirty="0">
                <a:solidFill>
                  <a:srgbClr val="D64545"/>
                </a:solidFill>
                <a:latin typeface="Arial" pitchFamily="34" charset="0"/>
                <a:ea typeface="Arial" pitchFamily="34" charset="-122"/>
                <a:cs typeface="Arial" pitchFamily="34" charset="-120"/>
              </a:rPr>
              <a:t>IMPERATIVT</a:t>
            </a:r>
            <a:endParaRPr lang="en-US" sz="1100" dirty="0"/>
          </a:p>
        </p:txBody>
      </p:sp>
      <p:sp>
        <p:nvSpPr>
          <p:cNvPr id="6" name="Text 4"/>
          <p:cNvSpPr txBox="1"/>
          <p:nvPr/>
        </p:nvSpPr>
        <p:spPr>
          <a:xfrm>
            <a:off x="777240" y="2331720"/>
            <a:ext cx="4907128" cy="731520"/>
          </a:xfrm>
          <a:prstGeom prst="rect">
            <a:avLst/>
          </a:prstGeom>
          <a:noFill/>
          <a:ln/>
        </p:spPr>
        <p:txBody>
          <a:bodyPr wrap="square" lIns="0" tIns="0" rIns="0" bIns="0" rtlCol="0" anchor="ctr"/>
          <a:lstStyle/>
          <a:p>
            <a:pPr indent="0" marL="0">
              <a:lnSpc>
                <a:spcPct val="130000"/>
              </a:lnSpc>
              <a:buNone/>
            </a:pPr>
            <a:r>
              <a:rPr lang="en-US" sz="1200" dirty="0">
                <a:solidFill>
                  <a:srgbClr val="16202B"/>
                </a:solidFill>
                <a:latin typeface="Courier New" pitchFamily="34" charset="0"/>
                <a:ea typeface="Courier New" pitchFamily="34" charset="-122"/>
                <a:cs typeface="Courier New" pitchFamily="34" charset="-120"/>
              </a:rPr>
              <a:t>kubectl run api --image=...</a:t>
            </a:r>
            <a:endParaRPr lang="en-US" sz="1200" dirty="0"/>
          </a:p>
          <a:p>
            <a:pPr indent="0" marL="0">
              <a:lnSpc>
                <a:spcPct val="130000"/>
              </a:lnSpc>
              <a:buNone/>
            </a:pPr>
            <a:r>
              <a:rPr lang="en-US" sz="1200" dirty="0">
                <a:solidFill>
                  <a:srgbClr val="16202B"/>
                </a:solidFill>
                <a:latin typeface="Courier New" pitchFamily="34" charset="0"/>
                <a:ea typeface="Courier New" pitchFamily="34" charset="-122"/>
                <a:cs typeface="Courier New" pitchFamily="34" charset="-120"/>
              </a:rPr>
              <a:t>kubectl scale --replicas=5</a:t>
            </a:r>
            <a:endParaRPr lang="en-US" sz="1200" dirty="0"/>
          </a:p>
        </p:txBody>
      </p:sp>
      <p:sp>
        <p:nvSpPr>
          <p:cNvPr id="7" name="Text 5"/>
          <p:cNvSpPr txBox="1"/>
          <p:nvPr/>
        </p:nvSpPr>
        <p:spPr>
          <a:xfrm>
            <a:off x="777240" y="3108960"/>
            <a:ext cx="4907128" cy="1371600"/>
          </a:xfrm>
          <a:prstGeom prst="rect">
            <a:avLst/>
          </a:prstGeom>
          <a:noFill/>
          <a:ln/>
        </p:spPr>
        <p:txBody>
          <a:bodyPr wrap="square" lIns="0" tIns="0" rIns="0" bIns="0" rtlCol="0" anchor="t"/>
          <a:lstStyle/>
          <a:p>
            <a:pPr indent="0" marL="0">
              <a:lnSpc>
                <a:spcPct val="130000"/>
              </a:lnSpc>
              <a:buNone/>
            </a:pPr>
            <a:r>
              <a:rPr lang="en-US" sz="1250" dirty="0">
                <a:solidFill>
                  <a:srgbClr val="4A5568"/>
                </a:solidFill>
                <a:latin typeface="Arial" pitchFamily="34" charset="0"/>
                <a:ea typeface="Arial" pitchFamily="34" charset="-122"/>
                <a:cs typeface="Arial" pitchFamily="34" charset="-120"/>
              </a:rPr>
              <a:t>Kommandon, ett i taget. Ingen fil att versionshantera. Lätt att glömma vad man gjorde.</a:t>
            </a:r>
            <a:endParaRPr lang="en-US" sz="1250" dirty="0"/>
          </a:p>
        </p:txBody>
      </p:sp>
      <p:sp>
        <p:nvSpPr>
          <p:cNvPr id="8" name="Shape 6"/>
          <p:cNvSpPr/>
          <p:nvPr/>
        </p:nvSpPr>
        <p:spPr>
          <a:xfrm>
            <a:off x="6278728" y="1783080"/>
            <a:ext cx="5364328" cy="2834640"/>
          </a:xfrm>
          <a:prstGeom prst="roundRect">
            <a:avLst>
              <a:gd name="adj" fmla="val 3226"/>
            </a:avLst>
          </a:prstGeom>
          <a:solidFill>
            <a:srgbClr val="FFFFFF"/>
          </a:solidFill>
          <a:ln w="25400">
            <a:solidFill>
              <a:srgbClr val="3762FF"/>
            </a:solidFill>
            <a:prstDash val="solid"/>
          </a:ln>
        </p:spPr>
      </p:sp>
      <p:sp>
        <p:nvSpPr>
          <p:cNvPr id="9" name="Text 7"/>
          <p:cNvSpPr txBox="1"/>
          <p:nvPr/>
        </p:nvSpPr>
        <p:spPr>
          <a:xfrm>
            <a:off x="6507328" y="1965960"/>
            <a:ext cx="4907128" cy="292608"/>
          </a:xfrm>
          <a:prstGeom prst="rect">
            <a:avLst/>
          </a:prstGeom>
          <a:noFill/>
          <a:ln/>
        </p:spPr>
        <p:txBody>
          <a:bodyPr wrap="square" lIns="0" tIns="0" rIns="0" bIns="0" rtlCol="0" anchor="ctr"/>
          <a:lstStyle/>
          <a:p>
            <a:pPr indent="0" marL="0">
              <a:buNone/>
            </a:pPr>
            <a:r>
              <a:rPr lang="en-US" sz="1100" b="1" dirty="0">
                <a:solidFill>
                  <a:srgbClr val="3762FF"/>
                </a:solidFill>
                <a:latin typeface="Arial" pitchFamily="34" charset="0"/>
                <a:ea typeface="Arial" pitchFamily="34" charset="-122"/>
                <a:cs typeface="Arial" pitchFamily="34" charset="-120"/>
              </a:rPr>
              <a:t>DEKLARATIVT (KUBERNETES)</a:t>
            </a:r>
            <a:endParaRPr lang="en-US" sz="1100" dirty="0"/>
          </a:p>
        </p:txBody>
      </p:sp>
      <p:sp>
        <p:nvSpPr>
          <p:cNvPr id="10" name="Text 8"/>
          <p:cNvSpPr txBox="1"/>
          <p:nvPr/>
        </p:nvSpPr>
        <p:spPr>
          <a:xfrm>
            <a:off x="6507328" y="2331720"/>
            <a:ext cx="4907128" cy="731520"/>
          </a:xfrm>
          <a:prstGeom prst="rect">
            <a:avLst/>
          </a:prstGeom>
          <a:noFill/>
          <a:ln/>
        </p:spPr>
        <p:txBody>
          <a:bodyPr wrap="square" lIns="0" tIns="0" rIns="0" bIns="0" rtlCol="0" anchor="ctr"/>
          <a:lstStyle/>
          <a:p>
            <a:pPr indent="0" marL="0">
              <a:lnSpc>
                <a:spcPct val="130000"/>
              </a:lnSpc>
              <a:buNone/>
            </a:pPr>
            <a:r>
              <a:rPr lang="en-US" sz="1200" dirty="0">
                <a:solidFill>
                  <a:srgbClr val="16202B"/>
                </a:solidFill>
                <a:latin typeface="Courier New" pitchFamily="34" charset="0"/>
                <a:ea typeface="Courier New" pitchFamily="34" charset="-122"/>
                <a:cs typeface="Courier New" pitchFamily="34" charset="-120"/>
              </a:rPr>
              <a:t>kubectl apply -f deployment.yaml</a:t>
            </a:r>
            <a:endParaRPr lang="en-US" sz="1200" dirty="0"/>
          </a:p>
        </p:txBody>
      </p:sp>
      <p:sp>
        <p:nvSpPr>
          <p:cNvPr id="11" name="Text 9"/>
          <p:cNvSpPr txBox="1"/>
          <p:nvPr/>
        </p:nvSpPr>
        <p:spPr>
          <a:xfrm>
            <a:off x="6507328" y="3108960"/>
            <a:ext cx="4907128" cy="1371600"/>
          </a:xfrm>
          <a:prstGeom prst="rect">
            <a:avLst/>
          </a:prstGeom>
          <a:noFill/>
          <a:ln/>
        </p:spPr>
        <p:txBody>
          <a:bodyPr wrap="square" lIns="0" tIns="0" rIns="0" bIns="0" rtlCol="0" anchor="t"/>
          <a:lstStyle/>
          <a:p>
            <a:pPr indent="0" marL="0">
              <a:lnSpc>
                <a:spcPct val="130000"/>
              </a:lnSpc>
              <a:buNone/>
            </a:pPr>
            <a:r>
              <a:rPr lang="en-US" sz="1250" dirty="0">
                <a:solidFill>
                  <a:srgbClr val="4A5568"/>
                </a:solidFill>
                <a:latin typeface="Arial" pitchFamily="34" charset="0"/>
                <a:ea typeface="Arial" pitchFamily="34" charset="-122"/>
                <a:cs typeface="Arial" pitchFamily="34" charset="-120"/>
              </a:rPr>
              <a:t>En fil beskriver SLUTRESULTATET. Filen kan sparas i Git, granskas och köras om - alltid samma resultat.</a:t>
            </a:r>
            <a:endParaRPr lang="en-US" sz="1250" dirty="0"/>
          </a:p>
        </p:txBody>
      </p:sp>
      <p:sp>
        <p:nvSpPr>
          <p:cNvPr id="12" name="Text 10"/>
          <p:cNvSpPr txBox="1"/>
          <p:nvPr/>
        </p:nvSpPr>
        <p:spPr>
          <a:xfrm>
            <a:off x="548640" y="4846320"/>
            <a:ext cx="11094415" cy="548640"/>
          </a:xfrm>
          <a:prstGeom prst="rect">
            <a:avLst/>
          </a:prstGeom>
          <a:noFill/>
          <a:ln/>
        </p:spPr>
        <p:txBody>
          <a:bodyPr wrap="square" lIns="0" tIns="0" rIns="0" bIns="0" rtlCol="0" anchor="t"/>
          <a:lstStyle/>
          <a:p>
            <a:pPr indent="0" marL="0">
              <a:lnSpc>
                <a:spcPct val="130000"/>
              </a:lnSpc>
              <a:buNone/>
            </a:pPr>
            <a:r>
              <a:rPr lang="en-US" sz="1350" dirty="0">
                <a:solidFill>
                  <a:srgbClr val="4A5568"/>
                </a:solidFill>
                <a:latin typeface="Arial" pitchFamily="34" charset="0"/>
                <a:ea typeface="Arial" pitchFamily="34" charset="-122"/>
                <a:cs typeface="Arial" pitchFamily="34" charset="-120"/>
              </a:rPr>
              <a:t>Manifestet (YAML-filen) blir sanningen. “apply” skickar den till API:et, som sparar den i etcd som det nya önskade tillståndet.</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PRATA MED KLUSTRET</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600" b="1" dirty="0">
                <a:solidFill>
                  <a:srgbClr val="16202B"/>
                </a:solidFill>
                <a:latin typeface="Calibri" pitchFamily="34" charset="0"/>
                <a:ea typeface="Calibri" pitchFamily="34" charset="-122"/>
                <a:cs typeface="Calibri" pitchFamily="34" charset="-120"/>
              </a:rPr>
              <a:t>Ett exempel: en Pod i YAML</a:t>
            </a:r>
            <a:endParaRPr lang="en-US" sz="2600" dirty="0"/>
          </a:p>
        </p:txBody>
      </p:sp>
      <p:sp>
        <p:nvSpPr>
          <p:cNvPr id="4" name="Shape 2"/>
          <p:cNvSpPr/>
          <p:nvPr/>
        </p:nvSpPr>
        <p:spPr>
          <a:xfrm>
            <a:off x="548640" y="1737360"/>
            <a:ext cx="6949440" cy="4297680"/>
          </a:xfrm>
          <a:prstGeom prst="roundRect">
            <a:avLst>
              <a:gd name="adj" fmla="val 2128"/>
            </a:avLst>
          </a:prstGeom>
          <a:solidFill>
            <a:srgbClr val="0F1F33"/>
          </a:solidFill>
          <a:ln/>
        </p:spPr>
      </p:sp>
      <p:sp>
        <p:nvSpPr>
          <p:cNvPr id="5" name="Shape 3"/>
          <p:cNvSpPr/>
          <p:nvPr/>
        </p:nvSpPr>
        <p:spPr>
          <a:xfrm>
            <a:off x="822960" y="1920240"/>
            <a:ext cx="146304" cy="146304"/>
          </a:xfrm>
          <a:prstGeom prst="ellipse">
            <a:avLst/>
          </a:prstGeom>
          <a:solidFill>
            <a:srgbClr val="D64545"/>
          </a:solidFill>
          <a:ln/>
        </p:spPr>
      </p:sp>
      <p:sp>
        <p:nvSpPr>
          <p:cNvPr id="6" name="Shape 4"/>
          <p:cNvSpPr/>
          <p:nvPr/>
        </p:nvSpPr>
        <p:spPr>
          <a:xfrm>
            <a:off x="1078992" y="1920240"/>
            <a:ext cx="146304" cy="146304"/>
          </a:xfrm>
          <a:prstGeom prst="ellipse">
            <a:avLst/>
          </a:prstGeom>
          <a:solidFill>
            <a:srgbClr val="FFB020"/>
          </a:solidFill>
          <a:ln/>
        </p:spPr>
      </p:sp>
      <p:sp>
        <p:nvSpPr>
          <p:cNvPr id="7" name="Shape 5"/>
          <p:cNvSpPr/>
          <p:nvPr/>
        </p:nvSpPr>
        <p:spPr>
          <a:xfrm>
            <a:off x="1335024" y="1920240"/>
            <a:ext cx="146304" cy="146304"/>
          </a:xfrm>
          <a:prstGeom prst="ellipse">
            <a:avLst/>
          </a:prstGeom>
          <a:solidFill>
            <a:srgbClr val="3CB371"/>
          </a:solidFill>
          <a:ln/>
        </p:spPr>
      </p:sp>
      <p:sp>
        <p:nvSpPr>
          <p:cNvPr id="8" name="Text 6"/>
          <p:cNvSpPr txBox="1"/>
          <p:nvPr/>
        </p:nvSpPr>
        <p:spPr>
          <a:xfrm>
            <a:off x="1737360" y="1847088"/>
            <a:ext cx="2743200" cy="274320"/>
          </a:xfrm>
          <a:prstGeom prst="rect">
            <a:avLst/>
          </a:prstGeom>
          <a:noFill/>
          <a:ln/>
        </p:spPr>
        <p:txBody>
          <a:bodyPr wrap="square" lIns="0" tIns="0" rIns="0" bIns="0" rtlCol="0" anchor="ctr"/>
          <a:lstStyle/>
          <a:p>
            <a:pPr indent="0" marL="0">
              <a:buNone/>
            </a:pPr>
            <a:r>
              <a:rPr lang="en-US" sz="1100" dirty="0">
                <a:solidFill>
                  <a:srgbClr val="6A7179"/>
                </a:solidFill>
                <a:latin typeface="Arial" pitchFamily="34" charset="0"/>
                <a:ea typeface="Arial" pitchFamily="34" charset="-122"/>
                <a:cs typeface="Arial" pitchFamily="34" charset="-120"/>
              </a:rPr>
              <a:t>pod.yaml</a:t>
            </a:r>
            <a:endParaRPr lang="en-US" sz="1100" dirty="0"/>
          </a:p>
        </p:txBody>
      </p:sp>
      <p:sp>
        <p:nvSpPr>
          <p:cNvPr id="9" name="Text 7"/>
          <p:cNvSpPr txBox="1"/>
          <p:nvPr/>
        </p:nvSpPr>
        <p:spPr>
          <a:xfrm>
            <a:off x="822960" y="2286000"/>
            <a:ext cx="6400800" cy="292608"/>
          </a:xfrm>
          <a:prstGeom prst="rect">
            <a:avLst/>
          </a:prstGeom>
          <a:noFill/>
          <a:ln/>
        </p:spPr>
        <p:txBody>
          <a:bodyPr wrap="square" lIns="0" tIns="0" rIns="0" bIns="0" rtlCol="0" anchor="ctr"/>
          <a:lstStyle/>
          <a:p>
            <a:pPr indent="0" marL="0">
              <a:buNone/>
            </a:pPr>
            <a:r>
              <a:rPr lang="en-US" sz="1300" dirty="0">
                <a:solidFill>
                  <a:srgbClr val="7C9CFF"/>
                </a:solidFill>
                <a:latin typeface="Courier New" pitchFamily="34" charset="0"/>
                <a:ea typeface="Courier New" pitchFamily="34" charset="-122"/>
                <a:cs typeface="Courier New" pitchFamily="34" charset="-120"/>
              </a:rPr>
              <a:t>apiVersion: </a:t>
            </a:r>
            <a:pPr indent="0" marL="0">
              <a:buNone/>
            </a:pPr>
            <a:r>
              <a:rPr lang="en-US" sz="1300" dirty="0">
                <a:solidFill>
                  <a:srgbClr val="DDE3EA"/>
                </a:solidFill>
                <a:latin typeface="Courier New" pitchFamily="34" charset="0"/>
                <a:ea typeface="Courier New" pitchFamily="34" charset="-122"/>
                <a:cs typeface="Courier New" pitchFamily="34" charset="-120"/>
              </a:rPr>
              <a:t>v1</a:t>
            </a:r>
            <a:endParaRPr lang="en-US" sz="1300" dirty="0"/>
          </a:p>
        </p:txBody>
      </p:sp>
      <p:sp>
        <p:nvSpPr>
          <p:cNvPr id="10" name="Text 8"/>
          <p:cNvSpPr txBox="1"/>
          <p:nvPr/>
        </p:nvSpPr>
        <p:spPr>
          <a:xfrm>
            <a:off x="822960" y="2578608"/>
            <a:ext cx="6400800" cy="292608"/>
          </a:xfrm>
          <a:prstGeom prst="rect">
            <a:avLst/>
          </a:prstGeom>
          <a:noFill/>
          <a:ln/>
        </p:spPr>
        <p:txBody>
          <a:bodyPr wrap="square" lIns="0" tIns="0" rIns="0" bIns="0" rtlCol="0" anchor="ctr"/>
          <a:lstStyle/>
          <a:p>
            <a:pPr indent="0" marL="0">
              <a:buNone/>
            </a:pPr>
            <a:r>
              <a:rPr lang="en-US" sz="1300" dirty="0">
                <a:solidFill>
                  <a:srgbClr val="7C9CFF"/>
                </a:solidFill>
                <a:latin typeface="Courier New" pitchFamily="34" charset="0"/>
                <a:ea typeface="Courier New" pitchFamily="34" charset="-122"/>
                <a:cs typeface="Courier New" pitchFamily="34" charset="-120"/>
              </a:rPr>
              <a:t>kind: </a:t>
            </a:r>
            <a:pPr indent="0" marL="0">
              <a:buNone/>
            </a:pPr>
            <a:r>
              <a:rPr lang="en-US" sz="1300" dirty="0">
                <a:solidFill>
                  <a:srgbClr val="DDE3EA"/>
                </a:solidFill>
                <a:latin typeface="Courier New" pitchFamily="34" charset="0"/>
                <a:ea typeface="Courier New" pitchFamily="34" charset="-122"/>
                <a:cs typeface="Courier New" pitchFamily="34" charset="-120"/>
              </a:rPr>
              <a:t>Pod</a:t>
            </a:r>
            <a:endParaRPr lang="en-US" sz="1300" dirty="0"/>
          </a:p>
        </p:txBody>
      </p:sp>
      <p:sp>
        <p:nvSpPr>
          <p:cNvPr id="11" name="Text 9"/>
          <p:cNvSpPr txBox="1"/>
          <p:nvPr/>
        </p:nvSpPr>
        <p:spPr>
          <a:xfrm>
            <a:off x="822960" y="2871216"/>
            <a:ext cx="6400800" cy="292608"/>
          </a:xfrm>
          <a:prstGeom prst="rect">
            <a:avLst/>
          </a:prstGeom>
          <a:noFill/>
          <a:ln/>
        </p:spPr>
        <p:txBody>
          <a:bodyPr wrap="square" lIns="0" tIns="0" rIns="0" bIns="0" rtlCol="0" anchor="ctr"/>
          <a:lstStyle/>
          <a:p>
            <a:pPr indent="0" marL="0">
              <a:buNone/>
            </a:pPr>
            <a:r>
              <a:rPr lang="en-US" sz="1300" dirty="0">
                <a:solidFill>
                  <a:srgbClr val="7C9CFF"/>
                </a:solidFill>
                <a:latin typeface="Courier New" pitchFamily="34" charset="0"/>
                <a:ea typeface="Courier New" pitchFamily="34" charset="-122"/>
                <a:cs typeface="Courier New" pitchFamily="34" charset="-120"/>
              </a:rPr>
              <a:t>metadata:</a:t>
            </a:r>
            <a:endParaRPr lang="en-US" sz="1300" dirty="0"/>
          </a:p>
        </p:txBody>
      </p:sp>
      <p:sp>
        <p:nvSpPr>
          <p:cNvPr id="12" name="Text 10"/>
          <p:cNvSpPr txBox="1"/>
          <p:nvPr/>
        </p:nvSpPr>
        <p:spPr>
          <a:xfrm>
            <a:off x="822960" y="3163824"/>
            <a:ext cx="6400800" cy="292608"/>
          </a:xfrm>
          <a:prstGeom prst="rect">
            <a:avLst/>
          </a:prstGeom>
          <a:noFill/>
          <a:ln/>
        </p:spPr>
        <p:txBody>
          <a:bodyPr wrap="square" lIns="0" tIns="0" rIns="0" bIns="0" rtlCol="0" anchor="ctr"/>
          <a:lstStyle/>
          <a:p>
            <a:pPr indent="0" marL="0">
              <a:buNone/>
            </a:pPr>
            <a:r>
              <a:rPr lang="en-US" sz="1300" dirty="0">
                <a:solidFill>
                  <a:srgbClr val="7C9CFF"/>
                </a:solidFill>
                <a:latin typeface="Courier New" pitchFamily="34" charset="0"/>
                <a:ea typeface="Courier New" pitchFamily="34" charset="-122"/>
                <a:cs typeface="Courier New" pitchFamily="34" charset="-120"/>
              </a:rPr>
              <a:t>  name: </a:t>
            </a:r>
            <a:pPr indent="0" marL="0">
              <a:buNone/>
            </a:pPr>
            <a:r>
              <a:rPr lang="en-US" sz="1300" dirty="0">
                <a:solidFill>
                  <a:srgbClr val="DDE3EA"/>
                </a:solidFill>
                <a:latin typeface="Courier New" pitchFamily="34" charset="0"/>
                <a:ea typeface="Courier New" pitchFamily="34" charset="-122"/>
                <a:cs typeface="Courier New" pitchFamily="34" charset="-120"/>
              </a:rPr>
              <a:t>min-api</a:t>
            </a:r>
            <a:endParaRPr lang="en-US" sz="1300" dirty="0"/>
          </a:p>
        </p:txBody>
      </p:sp>
      <p:sp>
        <p:nvSpPr>
          <p:cNvPr id="13" name="Text 11"/>
          <p:cNvSpPr txBox="1"/>
          <p:nvPr/>
        </p:nvSpPr>
        <p:spPr>
          <a:xfrm>
            <a:off x="822960" y="3456432"/>
            <a:ext cx="6400800" cy="292608"/>
          </a:xfrm>
          <a:prstGeom prst="rect">
            <a:avLst/>
          </a:prstGeom>
          <a:noFill/>
          <a:ln/>
        </p:spPr>
        <p:txBody>
          <a:bodyPr wrap="square" lIns="0" tIns="0" rIns="0" bIns="0" rtlCol="0" anchor="ctr"/>
          <a:lstStyle/>
          <a:p>
            <a:pPr indent="0" marL="0">
              <a:buNone/>
            </a:pPr>
            <a:r>
              <a:rPr lang="en-US" sz="1300" dirty="0">
                <a:solidFill>
                  <a:srgbClr val="7C9CFF"/>
                </a:solidFill>
                <a:latin typeface="Courier New" pitchFamily="34" charset="0"/>
                <a:ea typeface="Courier New" pitchFamily="34" charset="-122"/>
                <a:cs typeface="Courier New" pitchFamily="34" charset="-120"/>
              </a:rPr>
              <a:t>  labels:</a:t>
            </a:r>
            <a:endParaRPr lang="en-US" sz="1300" dirty="0"/>
          </a:p>
        </p:txBody>
      </p:sp>
      <p:sp>
        <p:nvSpPr>
          <p:cNvPr id="14" name="Text 12"/>
          <p:cNvSpPr txBox="1"/>
          <p:nvPr/>
        </p:nvSpPr>
        <p:spPr>
          <a:xfrm>
            <a:off x="822960" y="3749040"/>
            <a:ext cx="6400800" cy="292608"/>
          </a:xfrm>
          <a:prstGeom prst="rect">
            <a:avLst/>
          </a:prstGeom>
          <a:noFill/>
          <a:ln/>
        </p:spPr>
        <p:txBody>
          <a:bodyPr wrap="square" lIns="0" tIns="0" rIns="0" bIns="0" rtlCol="0" anchor="ctr"/>
          <a:lstStyle/>
          <a:p>
            <a:pPr indent="0" marL="0">
              <a:buNone/>
            </a:pPr>
            <a:r>
              <a:rPr lang="en-US" sz="1300" dirty="0">
                <a:solidFill>
                  <a:srgbClr val="7C9CFF"/>
                </a:solidFill>
                <a:latin typeface="Courier New" pitchFamily="34" charset="0"/>
                <a:ea typeface="Courier New" pitchFamily="34" charset="-122"/>
                <a:cs typeface="Courier New" pitchFamily="34" charset="-120"/>
              </a:rPr>
              <a:t>    app: </a:t>
            </a:r>
            <a:pPr indent="0" marL="0">
              <a:buNone/>
            </a:pPr>
            <a:r>
              <a:rPr lang="en-US" sz="1300" dirty="0">
                <a:solidFill>
                  <a:srgbClr val="DDE3EA"/>
                </a:solidFill>
                <a:latin typeface="Courier New" pitchFamily="34" charset="0"/>
                <a:ea typeface="Courier New" pitchFamily="34" charset="-122"/>
                <a:cs typeface="Courier New" pitchFamily="34" charset="-120"/>
              </a:rPr>
              <a:t>min-api</a:t>
            </a:r>
            <a:endParaRPr lang="en-US" sz="1300" dirty="0"/>
          </a:p>
        </p:txBody>
      </p:sp>
      <p:sp>
        <p:nvSpPr>
          <p:cNvPr id="15" name="Text 13"/>
          <p:cNvSpPr txBox="1"/>
          <p:nvPr/>
        </p:nvSpPr>
        <p:spPr>
          <a:xfrm>
            <a:off x="822960" y="4041648"/>
            <a:ext cx="6400800" cy="292608"/>
          </a:xfrm>
          <a:prstGeom prst="rect">
            <a:avLst/>
          </a:prstGeom>
          <a:noFill/>
          <a:ln/>
        </p:spPr>
        <p:txBody>
          <a:bodyPr wrap="square" lIns="0" tIns="0" rIns="0" bIns="0" rtlCol="0" anchor="ctr"/>
          <a:lstStyle/>
          <a:p>
            <a:pPr indent="0" marL="0">
              <a:buNone/>
            </a:pPr>
            <a:r>
              <a:rPr lang="en-US" sz="1300" dirty="0">
                <a:solidFill>
                  <a:srgbClr val="7C9CFF"/>
                </a:solidFill>
                <a:latin typeface="Courier New" pitchFamily="34" charset="0"/>
                <a:ea typeface="Courier New" pitchFamily="34" charset="-122"/>
                <a:cs typeface="Courier New" pitchFamily="34" charset="-120"/>
              </a:rPr>
              <a:t>spec:</a:t>
            </a:r>
            <a:endParaRPr lang="en-US" sz="1300" dirty="0"/>
          </a:p>
        </p:txBody>
      </p:sp>
      <p:sp>
        <p:nvSpPr>
          <p:cNvPr id="16" name="Text 14"/>
          <p:cNvSpPr txBox="1"/>
          <p:nvPr/>
        </p:nvSpPr>
        <p:spPr>
          <a:xfrm>
            <a:off x="822960" y="4334256"/>
            <a:ext cx="6400800" cy="292608"/>
          </a:xfrm>
          <a:prstGeom prst="rect">
            <a:avLst/>
          </a:prstGeom>
          <a:noFill/>
          <a:ln/>
        </p:spPr>
        <p:txBody>
          <a:bodyPr wrap="square" lIns="0" tIns="0" rIns="0" bIns="0" rtlCol="0" anchor="ctr"/>
          <a:lstStyle/>
          <a:p>
            <a:pPr indent="0" marL="0">
              <a:buNone/>
            </a:pPr>
            <a:r>
              <a:rPr lang="en-US" sz="1300" dirty="0">
                <a:solidFill>
                  <a:srgbClr val="7C9CFF"/>
                </a:solidFill>
                <a:latin typeface="Courier New" pitchFamily="34" charset="0"/>
                <a:ea typeface="Courier New" pitchFamily="34" charset="-122"/>
                <a:cs typeface="Courier New" pitchFamily="34" charset="-120"/>
              </a:rPr>
              <a:t>  containers:</a:t>
            </a:r>
            <a:endParaRPr lang="en-US" sz="1300" dirty="0"/>
          </a:p>
        </p:txBody>
      </p:sp>
      <p:sp>
        <p:nvSpPr>
          <p:cNvPr id="17" name="Text 15"/>
          <p:cNvSpPr txBox="1"/>
          <p:nvPr/>
        </p:nvSpPr>
        <p:spPr>
          <a:xfrm>
            <a:off x="822960" y="4626864"/>
            <a:ext cx="6400800" cy="292608"/>
          </a:xfrm>
          <a:prstGeom prst="rect">
            <a:avLst/>
          </a:prstGeom>
          <a:noFill/>
          <a:ln/>
        </p:spPr>
        <p:txBody>
          <a:bodyPr wrap="square" lIns="0" tIns="0" rIns="0" bIns="0" rtlCol="0" anchor="ctr"/>
          <a:lstStyle/>
          <a:p>
            <a:pPr indent="0" marL="0">
              <a:buNone/>
            </a:pPr>
            <a:r>
              <a:rPr lang="en-US" sz="1300" dirty="0">
                <a:solidFill>
                  <a:srgbClr val="7C9CFF"/>
                </a:solidFill>
                <a:latin typeface="Courier New" pitchFamily="34" charset="0"/>
                <a:ea typeface="Courier New" pitchFamily="34" charset="-122"/>
                <a:cs typeface="Courier New" pitchFamily="34" charset="-120"/>
              </a:rPr>
              <a:t>    - name: </a:t>
            </a:r>
            <a:pPr indent="0" marL="0">
              <a:buNone/>
            </a:pPr>
            <a:r>
              <a:rPr lang="en-US" sz="1300" dirty="0">
                <a:solidFill>
                  <a:srgbClr val="DDE3EA"/>
                </a:solidFill>
                <a:latin typeface="Courier New" pitchFamily="34" charset="0"/>
                <a:ea typeface="Courier New" pitchFamily="34" charset="-122"/>
                <a:cs typeface="Courier New" pitchFamily="34" charset="-120"/>
              </a:rPr>
              <a:t>min-api</a:t>
            </a:r>
            <a:endParaRPr lang="en-US" sz="1300" dirty="0"/>
          </a:p>
        </p:txBody>
      </p:sp>
      <p:sp>
        <p:nvSpPr>
          <p:cNvPr id="18" name="Text 16"/>
          <p:cNvSpPr txBox="1"/>
          <p:nvPr/>
        </p:nvSpPr>
        <p:spPr>
          <a:xfrm>
            <a:off x="822960" y="4919472"/>
            <a:ext cx="6400800" cy="292608"/>
          </a:xfrm>
          <a:prstGeom prst="rect">
            <a:avLst/>
          </a:prstGeom>
          <a:noFill/>
          <a:ln/>
        </p:spPr>
        <p:txBody>
          <a:bodyPr wrap="square" lIns="0" tIns="0" rIns="0" bIns="0" rtlCol="0" anchor="ctr"/>
          <a:lstStyle/>
          <a:p>
            <a:pPr indent="0" marL="0">
              <a:buNone/>
            </a:pPr>
            <a:r>
              <a:rPr lang="en-US" sz="1300" dirty="0">
                <a:solidFill>
                  <a:srgbClr val="7C9CFF"/>
                </a:solidFill>
                <a:latin typeface="Courier New" pitchFamily="34" charset="0"/>
                <a:ea typeface="Courier New" pitchFamily="34" charset="-122"/>
                <a:cs typeface="Courier New" pitchFamily="34" charset="-120"/>
              </a:rPr>
              <a:t>      image: </a:t>
            </a:r>
            <a:pPr indent="0" marL="0">
              <a:buNone/>
            </a:pPr>
            <a:r>
              <a:rPr lang="en-US" sz="1300" dirty="0">
                <a:solidFill>
                  <a:srgbClr val="DDE3EA"/>
                </a:solidFill>
                <a:latin typeface="Courier New" pitchFamily="34" charset="0"/>
                <a:ea typeface="Courier New" pitchFamily="34" charset="-122"/>
                <a:cs typeface="Courier New" pitchFamily="34" charset="-120"/>
              </a:rPr>
              <a:t>mitt-register/min-api:1.0</a:t>
            </a:r>
            <a:endParaRPr lang="en-US" sz="1300" dirty="0"/>
          </a:p>
        </p:txBody>
      </p:sp>
      <p:sp>
        <p:nvSpPr>
          <p:cNvPr id="19" name="Text 17"/>
          <p:cNvSpPr txBox="1"/>
          <p:nvPr/>
        </p:nvSpPr>
        <p:spPr>
          <a:xfrm>
            <a:off x="822960" y="5212080"/>
            <a:ext cx="6400800" cy="292608"/>
          </a:xfrm>
          <a:prstGeom prst="rect">
            <a:avLst/>
          </a:prstGeom>
          <a:noFill/>
          <a:ln/>
        </p:spPr>
        <p:txBody>
          <a:bodyPr wrap="square" lIns="0" tIns="0" rIns="0" bIns="0" rtlCol="0" anchor="ctr"/>
          <a:lstStyle/>
          <a:p>
            <a:pPr indent="0" marL="0">
              <a:buNone/>
            </a:pPr>
            <a:r>
              <a:rPr lang="en-US" sz="1300" dirty="0">
                <a:solidFill>
                  <a:srgbClr val="7C9CFF"/>
                </a:solidFill>
                <a:latin typeface="Courier New" pitchFamily="34" charset="0"/>
                <a:ea typeface="Courier New" pitchFamily="34" charset="-122"/>
                <a:cs typeface="Courier New" pitchFamily="34" charset="-120"/>
              </a:rPr>
              <a:t>      ports:</a:t>
            </a:r>
            <a:endParaRPr lang="en-US" sz="1300" dirty="0"/>
          </a:p>
        </p:txBody>
      </p:sp>
      <p:sp>
        <p:nvSpPr>
          <p:cNvPr id="20" name="Text 18"/>
          <p:cNvSpPr txBox="1"/>
          <p:nvPr/>
        </p:nvSpPr>
        <p:spPr>
          <a:xfrm>
            <a:off x="822960" y="5504688"/>
            <a:ext cx="6400800" cy="292608"/>
          </a:xfrm>
          <a:prstGeom prst="rect">
            <a:avLst/>
          </a:prstGeom>
          <a:noFill/>
          <a:ln/>
        </p:spPr>
        <p:txBody>
          <a:bodyPr wrap="square" lIns="0" tIns="0" rIns="0" bIns="0" rtlCol="0" anchor="ctr"/>
          <a:lstStyle/>
          <a:p>
            <a:pPr indent="0" marL="0">
              <a:buNone/>
            </a:pPr>
            <a:r>
              <a:rPr lang="en-US" sz="1300" dirty="0">
                <a:solidFill>
                  <a:srgbClr val="7C9CFF"/>
                </a:solidFill>
                <a:latin typeface="Courier New" pitchFamily="34" charset="0"/>
                <a:ea typeface="Courier New" pitchFamily="34" charset="-122"/>
                <a:cs typeface="Courier New" pitchFamily="34" charset="-120"/>
              </a:rPr>
              <a:t>        - containerPort: </a:t>
            </a:r>
            <a:pPr indent="0" marL="0">
              <a:buNone/>
            </a:pPr>
            <a:r>
              <a:rPr lang="en-US" sz="1300" dirty="0">
                <a:solidFill>
                  <a:srgbClr val="DDE3EA"/>
                </a:solidFill>
                <a:latin typeface="Courier New" pitchFamily="34" charset="0"/>
                <a:ea typeface="Courier New" pitchFamily="34" charset="-122"/>
                <a:cs typeface="Courier New" pitchFamily="34" charset="-120"/>
              </a:rPr>
              <a:t>8080</a:t>
            </a:r>
            <a:endParaRPr lang="en-US" sz="1300" dirty="0"/>
          </a:p>
        </p:txBody>
      </p:sp>
      <p:sp>
        <p:nvSpPr>
          <p:cNvPr id="21" name="Text 19"/>
          <p:cNvSpPr txBox="1"/>
          <p:nvPr/>
        </p:nvSpPr>
        <p:spPr>
          <a:xfrm>
            <a:off x="8138160" y="1828800"/>
            <a:ext cx="3502152" cy="320040"/>
          </a:xfrm>
          <a:prstGeom prst="rect">
            <a:avLst/>
          </a:prstGeom>
          <a:noFill/>
          <a:ln/>
        </p:spPr>
        <p:txBody>
          <a:bodyPr wrap="square" lIns="0" tIns="0" rIns="0" bIns="0" rtlCol="0" anchor="ctr"/>
          <a:lstStyle/>
          <a:p>
            <a:pPr indent="0" marL="0">
              <a:buNone/>
            </a:pPr>
            <a:r>
              <a:rPr lang="en-US" sz="1500" b="1" dirty="0">
                <a:solidFill>
                  <a:srgbClr val="3762FF"/>
                </a:solidFill>
                <a:latin typeface="Calibri" pitchFamily="34" charset="0"/>
                <a:ea typeface="Calibri" pitchFamily="34" charset="-122"/>
                <a:cs typeface="Calibri" pitchFamily="34" charset="-120"/>
              </a:rPr>
              <a:t>apiVersion</a:t>
            </a:r>
            <a:endParaRPr lang="en-US" sz="1500" dirty="0"/>
          </a:p>
        </p:txBody>
      </p:sp>
      <p:sp>
        <p:nvSpPr>
          <p:cNvPr id="22" name="Text 20"/>
          <p:cNvSpPr txBox="1"/>
          <p:nvPr/>
        </p:nvSpPr>
        <p:spPr>
          <a:xfrm>
            <a:off x="8138160" y="2148840"/>
            <a:ext cx="3502152" cy="640080"/>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Vilken version av Kubernetes-API:et objektet följer</a:t>
            </a:r>
            <a:endParaRPr lang="en-US" sz="1150" dirty="0"/>
          </a:p>
        </p:txBody>
      </p:sp>
      <p:sp>
        <p:nvSpPr>
          <p:cNvPr id="23" name="Text 21"/>
          <p:cNvSpPr txBox="1"/>
          <p:nvPr/>
        </p:nvSpPr>
        <p:spPr>
          <a:xfrm>
            <a:off x="8138160" y="2880360"/>
            <a:ext cx="3502152" cy="320040"/>
          </a:xfrm>
          <a:prstGeom prst="rect">
            <a:avLst/>
          </a:prstGeom>
          <a:noFill/>
          <a:ln/>
        </p:spPr>
        <p:txBody>
          <a:bodyPr wrap="square" lIns="0" tIns="0" rIns="0" bIns="0" rtlCol="0" anchor="ctr"/>
          <a:lstStyle/>
          <a:p>
            <a:pPr indent="0" marL="0">
              <a:buNone/>
            </a:pPr>
            <a:r>
              <a:rPr lang="en-US" sz="1500" b="1" dirty="0">
                <a:solidFill>
                  <a:srgbClr val="3762FF"/>
                </a:solidFill>
                <a:latin typeface="Calibri" pitchFamily="34" charset="0"/>
                <a:ea typeface="Calibri" pitchFamily="34" charset="-122"/>
                <a:cs typeface="Calibri" pitchFamily="34" charset="-120"/>
              </a:rPr>
              <a:t>kind</a:t>
            </a:r>
            <a:endParaRPr lang="en-US" sz="1500" dirty="0"/>
          </a:p>
        </p:txBody>
      </p:sp>
      <p:sp>
        <p:nvSpPr>
          <p:cNvPr id="24" name="Text 22"/>
          <p:cNvSpPr txBox="1"/>
          <p:nvPr/>
        </p:nvSpPr>
        <p:spPr>
          <a:xfrm>
            <a:off x="8138160" y="3200400"/>
            <a:ext cx="3502152" cy="640080"/>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Vilken typ av objekt: Pod, Deployment, Service...</a:t>
            </a:r>
            <a:endParaRPr lang="en-US" sz="1150" dirty="0"/>
          </a:p>
        </p:txBody>
      </p:sp>
      <p:sp>
        <p:nvSpPr>
          <p:cNvPr id="25" name="Text 23"/>
          <p:cNvSpPr txBox="1"/>
          <p:nvPr/>
        </p:nvSpPr>
        <p:spPr>
          <a:xfrm>
            <a:off x="8138160" y="3931920"/>
            <a:ext cx="3502152" cy="320040"/>
          </a:xfrm>
          <a:prstGeom prst="rect">
            <a:avLst/>
          </a:prstGeom>
          <a:noFill/>
          <a:ln/>
        </p:spPr>
        <p:txBody>
          <a:bodyPr wrap="square" lIns="0" tIns="0" rIns="0" bIns="0" rtlCol="0" anchor="ctr"/>
          <a:lstStyle/>
          <a:p>
            <a:pPr indent="0" marL="0">
              <a:buNone/>
            </a:pPr>
            <a:r>
              <a:rPr lang="en-US" sz="1500" b="1" dirty="0">
                <a:solidFill>
                  <a:srgbClr val="3762FF"/>
                </a:solidFill>
                <a:latin typeface="Calibri" pitchFamily="34" charset="0"/>
                <a:ea typeface="Calibri" pitchFamily="34" charset="-122"/>
                <a:cs typeface="Calibri" pitchFamily="34" charset="-120"/>
              </a:rPr>
              <a:t>metadata</a:t>
            </a:r>
            <a:endParaRPr lang="en-US" sz="1500" dirty="0"/>
          </a:p>
        </p:txBody>
      </p:sp>
      <p:sp>
        <p:nvSpPr>
          <p:cNvPr id="26" name="Text 24"/>
          <p:cNvSpPr txBox="1"/>
          <p:nvPr/>
        </p:nvSpPr>
        <p:spPr>
          <a:xfrm>
            <a:off x="8138160" y="4251960"/>
            <a:ext cx="3502152" cy="640080"/>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Namn, namespace och etiketter (labels)</a:t>
            </a:r>
            <a:endParaRPr lang="en-US" sz="1150" dirty="0"/>
          </a:p>
        </p:txBody>
      </p:sp>
      <p:sp>
        <p:nvSpPr>
          <p:cNvPr id="27" name="Text 25"/>
          <p:cNvSpPr txBox="1"/>
          <p:nvPr/>
        </p:nvSpPr>
        <p:spPr>
          <a:xfrm>
            <a:off x="8138160" y="4983480"/>
            <a:ext cx="3502152" cy="320040"/>
          </a:xfrm>
          <a:prstGeom prst="rect">
            <a:avLst/>
          </a:prstGeom>
          <a:noFill/>
          <a:ln/>
        </p:spPr>
        <p:txBody>
          <a:bodyPr wrap="square" lIns="0" tIns="0" rIns="0" bIns="0" rtlCol="0" anchor="ctr"/>
          <a:lstStyle/>
          <a:p>
            <a:pPr indent="0" marL="0">
              <a:buNone/>
            </a:pPr>
            <a:r>
              <a:rPr lang="en-US" sz="1500" b="1" dirty="0">
                <a:solidFill>
                  <a:srgbClr val="3762FF"/>
                </a:solidFill>
                <a:latin typeface="Calibri" pitchFamily="34" charset="0"/>
                <a:ea typeface="Calibri" pitchFamily="34" charset="-122"/>
                <a:cs typeface="Calibri" pitchFamily="34" charset="-120"/>
              </a:rPr>
              <a:t>spec</a:t>
            </a:r>
            <a:endParaRPr lang="en-US" sz="1500" dirty="0"/>
          </a:p>
        </p:txBody>
      </p:sp>
      <p:sp>
        <p:nvSpPr>
          <p:cNvPr id="28" name="Text 26"/>
          <p:cNvSpPr txBox="1"/>
          <p:nvPr/>
        </p:nvSpPr>
        <p:spPr>
          <a:xfrm>
            <a:off x="8138160" y="5303520"/>
            <a:ext cx="3502152" cy="640080"/>
          </a:xfrm>
          <a:prstGeom prst="rect">
            <a:avLst/>
          </a:prstGeom>
          <a:noFill/>
          <a:ln/>
        </p:spPr>
        <p:txBody>
          <a:bodyPr wrap="square" lIns="0" tIns="0" rIns="0" bIns="0" rtlCol="0" anchor="t"/>
          <a:lstStyle/>
          <a:p>
            <a:pPr indent="0" marL="0">
              <a:lnSpc>
                <a:spcPct val="125000"/>
              </a:lnSpc>
              <a:buNone/>
            </a:pPr>
            <a:r>
              <a:rPr lang="en-US" sz="1150" dirty="0">
                <a:solidFill>
                  <a:srgbClr val="4A5568"/>
                </a:solidFill>
                <a:latin typeface="Arial" pitchFamily="34" charset="0"/>
                <a:ea typeface="Arial" pitchFamily="34" charset="-122"/>
                <a:cs typeface="Arial" pitchFamily="34" charset="-120"/>
              </a:rPr>
              <a:t>Hur objektet faktiskt ska se ut - det önskade tillståndet</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685800"/>
            <a:ext cx="11094415" cy="292608"/>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PRATA MED KLUSTRET</a:t>
            </a:r>
            <a:endParaRPr lang="en-US" sz="1200" dirty="0"/>
          </a:p>
        </p:txBody>
      </p:sp>
      <p:sp>
        <p:nvSpPr>
          <p:cNvPr id="3" name="Text 1"/>
          <p:cNvSpPr txBox="1"/>
          <p:nvPr/>
        </p:nvSpPr>
        <p:spPr>
          <a:xfrm>
            <a:off x="548640" y="1143000"/>
            <a:ext cx="9144000" cy="822960"/>
          </a:xfrm>
          <a:prstGeom prst="rect">
            <a:avLst/>
          </a:prstGeom>
          <a:noFill/>
          <a:ln/>
        </p:spPr>
        <p:txBody>
          <a:bodyPr wrap="square" lIns="0" tIns="0" rIns="0" bIns="0" rtlCol="0" anchor="ctr"/>
          <a:lstStyle/>
          <a:p>
            <a:pPr indent="0" marL="0">
              <a:buNone/>
            </a:pPr>
            <a:r>
              <a:rPr lang="en-US" sz="3200" b="1" dirty="0">
                <a:solidFill>
                  <a:srgbClr val="F5F7FA"/>
                </a:solidFill>
                <a:latin typeface="Calibri" pitchFamily="34" charset="0"/>
                <a:ea typeface="Calibri" pitchFamily="34" charset="-122"/>
                <a:cs typeface="Calibri" pitchFamily="34" charset="-120"/>
              </a:rPr>
              <a:t>kubectl apply, i praktiken</a:t>
            </a:r>
            <a:endParaRPr lang="en-US" sz="3200" dirty="0"/>
          </a:p>
        </p:txBody>
      </p:sp>
      <p:sp>
        <p:nvSpPr>
          <p:cNvPr id="4" name="Shape 2"/>
          <p:cNvSpPr/>
          <p:nvPr/>
        </p:nvSpPr>
        <p:spPr>
          <a:xfrm>
            <a:off x="548640" y="2377440"/>
            <a:ext cx="2396414" cy="1371600"/>
          </a:xfrm>
          <a:prstGeom prst="roundRect">
            <a:avLst>
              <a:gd name="adj" fmla="val 6667"/>
            </a:avLst>
          </a:prstGeom>
          <a:solidFill>
            <a:srgbClr val="16294A"/>
          </a:solidFill>
          <a:ln/>
        </p:spPr>
      </p:sp>
      <p:sp>
        <p:nvSpPr>
          <p:cNvPr id="5" name="Text 3"/>
          <p:cNvSpPr txBox="1"/>
          <p:nvPr/>
        </p:nvSpPr>
        <p:spPr>
          <a:xfrm>
            <a:off x="685800" y="2578608"/>
            <a:ext cx="2122094" cy="457200"/>
          </a:xfrm>
          <a:prstGeom prst="rect">
            <a:avLst/>
          </a:prstGeom>
          <a:noFill/>
          <a:ln/>
        </p:spPr>
        <p:txBody>
          <a:bodyPr wrap="square" lIns="0" tIns="0" rIns="0" bIns="0" rtlCol="0" anchor="t"/>
          <a:lstStyle/>
          <a:p>
            <a:pPr algn="ctr" indent="0" marL="0">
              <a:buNone/>
            </a:pPr>
            <a:r>
              <a:rPr lang="en-US" sz="1500" b="1" dirty="0">
                <a:solidFill>
                  <a:srgbClr val="F5F7FA"/>
                </a:solidFill>
                <a:latin typeface="Calibri" pitchFamily="34" charset="0"/>
                <a:ea typeface="Calibri" pitchFamily="34" charset="-122"/>
                <a:cs typeface="Calibri" pitchFamily="34" charset="-120"/>
              </a:rPr>
              <a:t>1. Skriv YAML</a:t>
            </a:r>
            <a:endParaRPr lang="en-US" sz="1500" dirty="0"/>
          </a:p>
        </p:txBody>
      </p:sp>
      <p:sp>
        <p:nvSpPr>
          <p:cNvPr id="6" name="Shape 4"/>
          <p:cNvSpPr/>
          <p:nvPr/>
        </p:nvSpPr>
        <p:spPr>
          <a:xfrm>
            <a:off x="3004490" y="2944368"/>
            <a:ext cx="384048" cy="237744"/>
          </a:xfrm>
          <a:prstGeom prst="rightArrow">
            <a:avLst/>
          </a:prstGeom>
          <a:solidFill>
            <a:srgbClr val="7C9CFF"/>
          </a:solidFill>
          <a:ln/>
        </p:spPr>
      </p:sp>
      <p:sp>
        <p:nvSpPr>
          <p:cNvPr id="7" name="Shape 5"/>
          <p:cNvSpPr/>
          <p:nvPr/>
        </p:nvSpPr>
        <p:spPr>
          <a:xfrm>
            <a:off x="3447974" y="2377440"/>
            <a:ext cx="2396414" cy="1371600"/>
          </a:xfrm>
          <a:prstGeom prst="roundRect">
            <a:avLst>
              <a:gd name="adj" fmla="val 6667"/>
            </a:avLst>
          </a:prstGeom>
          <a:solidFill>
            <a:srgbClr val="16294A"/>
          </a:solidFill>
          <a:ln/>
        </p:spPr>
      </p:sp>
      <p:sp>
        <p:nvSpPr>
          <p:cNvPr id="8" name="Text 6"/>
          <p:cNvSpPr txBox="1"/>
          <p:nvPr/>
        </p:nvSpPr>
        <p:spPr>
          <a:xfrm>
            <a:off x="3585134" y="2578608"/>
            <a:ext cx="2122094" cy="457200"/>
          </a:xfrm>
          <a:prstGeom prst="rect">
            <a:avLst/>
          </a:prstGeom>
          <a:noFill/>
          <a:ln/>
        </p:spPr>
        <p:txBody>
          <a:bodyPr wrap="square" lIns="0" tIns="0" rIns="0" bIns="0" rtlCol="0" anchor="t"/>
          <a:lstStyle/>
          <a:p>
            <a:pPr algn="ctr" indent="0" marL="0">
              <a:buNone/>
            </a:pPr>
            <a:r>
              <a:rPr lang="en-US" sz="1500" b="1" dirty="0">
                <a:solidFill>
                  <a:srgbClr val="F5F7FA"/>
                </a:solidFill>
                <a:latin typeface="Calibri" pitchFamily="34" charset="0"/>
                <a:ea typeface="Calibri" pitchFamily="34" charset="-122"/>
                <a:cs typeface="Calibri" pitchFamily="34" charset="-120"/>
              </a:rPr>
              <a:t>2. kubectl apply -f</a:t>
            </a:r>
            <a:endParaRPr lang="en-US" sz="1500" dirty="0"/>
          </a:p>
        </p:txBody>
      </p:sp>
      <p:sp>
        <p:nvSpPr>
          <p:cNvPr id="9" name="Shape 7"/>
          <p:cNvSpPr/>
          <p:nvPr/>
        </p:nvSpPr>
        <p:spPr>
          <a:xfrm>
            <a:off x="5903824" y="2944368"/>
            <a:ext cx="384048" cy="237744"/>
          </a:xfrm>
          <a:prstGeom prst="rightArrow">
            <a:avLst/>
          </a:prstGeom>
          <a:solidFill>
            <a:srgbClr val="7C9CFF"/>
          </a:solidFill>
          <a:ln/>
        </p:spPr>
      </p:sp>
      <p:sp>
        <p:nvSpPr>
          <p:cNvPr id="10" name="Shape 8"/>
          <p:cNvSpPr/>
          <p:nvPr/>
        </p:nvSpPr>
        <p:spPr>
          <a:xfrm>
            <a:off x="6347308" y="2377440"/>
            <a:ext cx="2396414" cy="1371600"/>
          </a:xfrm>
          <a:prstGeom prst="roundRect">
            <a:avLst>
              <a:gd name="adj" fmla="val 6667"/>
            </a:avLst>
          </a:prstGeom>
          <a:solidFill>
            <a:srgbClr val="16294A"/>
          </a:solidFill>
          <a:ln/>
        </p:spPr>
      </p:sp>
      <p:sp>
        <p:nvSpPr>
          <p:cNvPr id="11" name="Text 9"/>
          <p:cNvSpPr txBox="1"/>
          <p:nvPr/>
        </p:nvSpPr>
        <p:spPr>
          <a:xfrm>
            <a:off x="6484468" y="2578608"/>
            <a:ext cx="2122094" cy="457200"/>
          </a:xfrm>
          <a:prstGeom prst="rect">
            <a:avLst/>
          </a:prstGeom>
          <a:noFill/>
          <a:ln/>
        </p:spPr>
        <p:txBody>
          <a:bodyPr wrap="square" lIns="0" tIns="0" rIns="0" bIns="0" rtlCol="0" anchor="t"/>
          <a:lstStyle/>
          <a:p>
            <a:pPr algn="ctr" indent="0" marL="0">
              <a:buNone/>
            </a:pPr>
            <a:r>
              <a:rPr lang="en-US" sz="1500" b="1" dirty="0">
                <a:solidFill>
                  <a:srgbClr val="F5F7FA"/>
                </a:solidFill>
                <a:latin typeface="Calibri" pitchFamily="34" charset="0"/>
                <a:ea typeface="Calibri" pitchFamily="34" charset="-122"/>
                <a:cs typeface="Calibri" pitchFamily="34" charset="-120"/>
              </a:rPr>
              <a:t>3. API-servern sparar i etcd</a:t>
            </a:r>
            <a:endParaRPr lang="en-US" sz="1500" dirty="0"/>
          </a:p>
        </p:txBody>
      </p:sp>
      <p:sp>
        <p:nvSpPr>
          <p:cNvPr id="12" name="Shape 10"/>
          <p:cNvSpPr/>
          <p:nvPr/>
        </p:nvSpPr>
        <p:spPr>
          <a:xfrm>
            <a:off x="8803157" y="2944368"/>
            <a:ext cx="384048" cy="237744"/>
          </a:xfrm>
          <a:prstGeom prst="rightArrow">
            <a:avLst/>
          </a:prstGeom>
          <a:solidFill>
            <a:srgbClr val="7C9CFF"/>
          </a:solidFill>
          <a:ln/>
        </p:spPr>
      </p:sp>
      <p:sp>
        <p:nvSpPr>
          <p:cNvPr id="13" name="Shape 11"/>
          <p:cNvSpPr/>
          <p:nvPr/>
        </p:nvSpPr>
        <p:spPr>
          <a:xfrm>
            <a:off x="9246641" y="2377440"/>
            <a:ext cx="2396414" cy="1371600"/>
          </a:xfrm>
          <a:prstGeom prst="roundRect">
            <a:avLst>
              <a:gd name="adj" fmla="val 6667"/>
            </a:avLst>
          </a:prstGeom>
          <a:solidFill>
            <a:srgbClr val="16294A"/>
          </a:solidFill>
          <a:ln/>
        </p:spPr>
      </p:sp>
      <p:sp>
        <p:nvSpPr>
          <p:cNvPr id="14" name="Text 12"/>
          <p:cNvSpPr txBox="1"/>
          <p:nvPr/>
        </p:nvSpPr>
        <p:spPr>
          <a:xfrm>
            <a:off x="9383801" y="2578608"/>
            <a:ext cx="2122094" cy="457200"/>
          </a:xfrm>
          <a:prstGeom prst="rect">
            <a:avLst/>
          </a:prstGeom>
          <a:noFill/>
          <a:ln/>
        </p:spPr>
        <p:txBody>
          <a:bodyPr wrap="square" lIns="0" tIns="0" rIns="0" bIns="0" rtlCol="0" anchor="t"/>
          <a:lstStyle/>
          <a:p>
            <a:pPr algn="ctr" indent="0" marL="0">
              <a:buNone/>
            </a:pPr>
            <a:r>
              <a:rPr lang="en-US" sz="1500" b="1" dirty="0">
                <a:solidFill>
                  <a:srgbClr val="F5F7FA"/>
                </a:solidFill>
                <a:latin typeface="Calibri" pitchFamily="34" charset="0"/>
                <a:ea typeface="Calibri" pitchFamily="34" charset="-122"/>
                <a:cs typeface="Calibri" pitchFamily="34" charset="-120"/>
              </a:rPr>
              <a:t>4. Controllers agerar</a:t>
            </a:r>
            <a:endParaRPr lang="en-US" sz="1500" dirty="0"/>
          </a:p>
        </p:txBody>
      </p:sp>
      <p:sp>
        <p:nvSpPr>
          <p:cNvPr id="15" name="Text 13"/>
          <p:cNvSpPr txBox="1"/>
          <p:nvPr/>
        </p:nvSpPr>
        <p:spPr>
          <a:xfrm>
            <a:off x="548640" y="4206240"/>
            <a:ext cx="10515600" cy="1188720"/>
          </a:xfrm>
          <a:prstGeom prst="rect">
            <a:avLst/>
          </a:prstGeom>
          <a:noFill/>
          <a:ln/>
        </p:spPr>
        <p:txBody>
          <a:bodyPr wrap="square" lIns="0" tIns="0" rIns="0" bIns="0" rtlCol="0" anchor="t"/>
          <a:lstStyle/>
          <a:p>
            <a:pPr indent="0" marL="0">
              <a:lnSpc>
                <a:spcPct val="130000"/>
              </a:lnSpc>
              <a:buNone/>
            </a:pPr>
            <a:r>
              <a:rPr lang="en-US" sz="1500" dirty="0">
                <a:solidFill>
                  <a:srgbClr val="B9C4D1"/>
                </a:solidFill>
                <a:latin typeface="Arial" pitchFamily="34" charset="0"/>
                <a:ea typeface="Arial" pitchFamily="34" charset="-122"/>
                <a:cs typeface="Arial" pitchFamily="34" charset="-120"/>
              </a:rPr>
              <a:t>Scheduler placerar nya poddar. kubelet på rätt nod startar containrarna. Allt detta händer automatiskt, utan att ni pekar på VILKEN maskin något ska köras på.</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92608"/>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SAMMANFATTNING</a:t>
            </a:r>
            <a:endParaRPr lang="en-US" sz="1200" dirty="0"/>
          </a:p>
        </p:txBody>
      </p:sp>
      <p:sp>
        <p:nvSpPr>
          <p:cNvPr id="3" name="Text 1"/>
          <p:cNvSpPr txBox="1"/>
          <p:nvPr/>
        </p:nvSpPr>
        <p:spPr>
          <a:xfrm>
            <a:off x="548640" y="658368"/>
            <a:ext cx="11094415" cy="914400"/>
          </a:xfrm>
          <a:prstGeom prst="rect">
            <a:avLst/>
          </a:prstGeom>
          <a:noFill/>
          <a:ln/>
        </p:spPr>
        <p:txBody>
          <a:bodyPr wrap="square" lIns="0" tIns="0" rIns="0" bIns="0" rtlCol="0" anchor="t"/>
          <a:lstStyle/>
          <a:p>
            <a:pPr indent="0" marL="0">
              <a:buNone/>
            </a:pPr>
            <a:r>
              <a:rPr lang="en-US" sz="2700" b="1" dirty="0">
                <a:solidFill>
                  <a:srgbClr val="16202B"/>
                </a:solidFill>
                <a:latin typeface="Calibri" pitchFamily="34" charset="0"/>
                <a:ea typeface="Calibri" pitchFamily="34" charset="-122"/>
                <a:cs typeface="Calibri" pitchFamily="34" charset="-120"/>
              </a:rPr>
              <a:t>Tio begrepp att ta med sig hem</a:t>
            </a:r>
            <a:endParaRPr lang="en-US" sz="2700" dirty="0"/>
          </a:p>
        </p:txBody>
      </p:sp>
      <p:sp>
        <p:nvSpPr>
          <p:cNvPr id="4" name="Shape 2"/>
          <p:cNvSpPr/>
          <p:nvPr/>
        </p:nvSpPr>
        <p:spPr>
          <a:xfrm>
            <a:off x="548640" y="1691640"/>
            <a:ext cx="2043318" cy="1993392"/>
          </a:xfrm>
          <a:prstGeom prst="roundRect">
            <a:avLst>
              <a:gd name="adj" fmla="val 4587"/>
            </a:avLst>
          </a:prstGeom>
          <a:solidFill>
            <a:srgbClr val="FFFFFF"/>
          </a:solidFill>
          <a:ln w="12700">
            <a:solidFill>
              <a:srgbClr val="E4E7EC"/>
            </a:solidFill>
            <a:prstDash val="solid"/>
          </a:ln>
        </p:spPr>
      </p:sp>
      <p:sp>
        <p:nvSpPr>
          <p:cNvPr id="5" name="Text 3"/>
          <p:cNvSpPr txBox="1"/>
          <p:nvPr/>
        </p:nvSpPr>
        <p:spPr>
          <a:xfrm>
            <a:off x="749808" y="1874520"/>
            <a:ext cx="1640982" cy="566928"/>
          </a:xfrm>
          <a:prstGeom prst="rect">
            <a:avLst/>
          </a:prstGeom>
          <a:noFill/>
          <a:ln/>
        </p:spPr>
        <p:txBody>
          <a:bodyPr wrap="square" lIns="0" tIns="0" rIns="0" bIns="0" rtlCol="0" anchor="t"/>
          <a:lstStyle/>
          <a:p>
            <a:pPr indent="0" marL="0">
              <a:buNone/>
            </a:pPr>
            <a:r>
              <a:rPr lang="en-US" sz="1350" b="1" dirty="0">
                <a:solidFill>
                  <a:srgbClr val="3762FF"/>
                </a:solidFill>
                <a:latin typeface="Calibri" pitchFamily="34" charset="0"/>
                <a:ea typeface="Calibri" pitchFamily="34" charset="-122"/>
                <a:cs typeface="Calibri" pitchFamily="34" charset="-120"/>
              </a:rPr>
              <a:t>Kluster</a:t>
            </a:r>
            <a:endParaRPr lang="en-US" sz="1350" dirty="0"/>
          </a:p>
        </p:txBody>
      </p:sp>
      <p:sp>
        <p:nvSpPr>
          <p:cNvPr id="6" name="Text 4"/>
          <p:cNvSpPr txBox="1"/>
          <p:nvPr/>
        </p:nvSpPr>
        <p:spPr>
          <a:xfrm>
            <a:off x="749808" y="2386584"/>
            <a:ext cx="1640982" cy="1133856"/>
          </a:xfrm>
          <a:prstGeom prst="rect">
            <a:avLst/>
          </a:prstGeom>
          <a:noFill/>
          <a:ln/>
        </p:spPr>
        <p:txBody>
          <a:bodyPr wrap="square" lIns="0" tIns="0" rIns="0" bIns="0" rtlCol="0" anchor="t"/>
          <a:lstStyle/>
          <a:p>
            <a:pPr indent="0" marL="0">
              <a:lnSpc>
                <a:spcPct val="125000"/>
              </a:lnSpc>
              <a:buNone/>
            </a:pPr>
            <a:r>
              <a:rPr lang="en-US" sz="1000" dirty="0">
                <a:solidFill>
                  <a:srgbClr val="4A5568"/>
                </a:solidFill>
                <a:latin typeface="Arial" pitchFamily="34" charset="0"/>
                <a:ea typeface="Arial" pitchFamily="34" charset="-122"/>
                <a:cs typeface="Arial" pitchFamily="34" charset="-120"/>
              </a:rPr>
              <a:t>Alla noder, behandlade som en enhet</a:t>
            </a:r>
            <a:endParaRPr lang="en-US" sz="1000" dirty="0"/>
          </a:p>
        </p:txBody>
      </p:sp>
      <p:sp>
        <p:nvSpPr>
          <p:cNvPr id="7" name="Shape 5"/>
          <p:cNvSpPr/>
          <p:nvPr/>
        </p:nvSpPr>
        <p:spPr>
          <a:xfrm>
            <a:off x="2811414" y="1691640"/>
            <a:ext cx="2043318" cy="1993392"/>
          </a:xfrm>
          <a:prstGeom prst="roundRect">
            <a:avLst>
              <a:gd name="adj" fmla="val 4587"/>
            </a:avLst>
          </a:prstGeom>
          <a:solidFill>
            <a:srgbClr val="FFFFFF"/>
          </a:solidFill>
          <a:ln w="12700">
            <a:solidFill>
              <a:srgbClr val="E4E7EC"/>
            </a:solidFill>
            <a:prstDash val="solid"/>
          </a:ln>
        </p:spPr>
      </p:sp>
      <p:sp>
        <p:nvSpPr>
          <p:cNvPr id="8" name="Text 6"/>
          <p:cNvSpPr txBox="1"/>
          <p:nvPr/>
        </p:nvSpPr>
        <p:spPr>
          <a:xfrm>
            <a:off x="3012582" y="1874520"/>
            <a:ext cx="1640982" cy="566928"/>
          </a:xfrm>
          <a:prstGeom prst="rect">
            <a:avLst/>
          </a:prstGeom>
          <a:noFill/>
          <a:ln/>
        </p:spPr>
        <p:txBody>
          <a:bodyPr wrap="square" lIns="0" tIns="0" rIns="0" bIns="0" rtlCol="0" anchor="t"/>
          <a:lstStyle/>
          <a:p>
            <a:pPr indent="0" marL="0">
              <a:buNone/>
            </a:pPr>
            <a:r>
              <a:rPr lang="en-US" sz="1350" b="1" dirty="0">
                <a:solidFill>
                  <a:srgbClr val="3762FF"/>
                </a:solidFill>
                <a:latin typeface="Calibri" pitchFamily="34" charset="0"/>
                <a:ea typeface="Calibri" pitchFamily="34" charset="-122"/>
                <a:cs typeface="Calibri" pitchFamily="34" charset="-120"/>
              </a:rPr>
              <a:t>Control plane</a:t>
            </a:r>
            <a:endParaRPr lang="en-US" sz="1350" dirty="0"/>
          </a:p>
        </p:txBody>
      </p:sp>
      <p:sp>
        <p:nvSpPr>
          <p:cNvPr id="9" name="Text 7"/>
          <p:cNvSpPr txBox="1"/>
          <p:nvPr/>
        </p:nvSpPr>
        <p:spPr>
          <a:xfrm>
            <a:off x="3012582" y="2386584"/>
            <a:ext cx="1640982" cy="1133856"/>
          </a:xfrm>
          <a:prstGeom prst="rect">
            <a:avLst/>
          </a:prstGeom>
          <a:noFill/>
          <a:ln/>
        </p:spPr>
        <p:txBody>
          <a:bodyPr wrap="square" lIns="0" tIns="0" rIns="0" bIns="0" rtlCol="0" anchor="t"/>
          <a:lstStyle/>
          <a:p>
            <a:pPr indent="0" marL="0">
              <a:lnSpc>
                <a:spcPct val="125000"/>
              </a:lnSpc>
              <a:buNone/>
            </a:pPr>
            <a:r>
              <a:rPr lang="en-US" sz="1000" dirty="0">
                <a:solidFill>
                  <a:srgbClr val="4A5568"/>
                </a:solidFill>
                <a:latin typeface="Arial" pitchFamily="34" charset="0"/>
                <a:ea typeface="Arial" pitchFamily="34" charset="-122"/>
                <a:cs typeface="Arial" pitchFamily="34" charset="-120"/>
              </a:rPr>
              <a:t>Klustrets hjärna - fattar besluten</a:t>
            </a:r>
            <a:endParaRPr lang="en-US" sz="1000" dirty="0"/>
          </a:p>
        </p:txBody>
      </p:sp>
      <p:sp>
        <p:nvSpPr>
          <p:cNvPr id="10" name="Shape 8"/>
          <p:cNvSpPr/>
          <p:nvPr/>
        </p:nvSpPr>
        <p:spPr>
          <a:xfrm>
            <a:off x="5074188" y="1691640"/>
            <a:ext cx="2043318" cy="1993392"/>
          </a:xfrm>
          <a:prstGeom prst="roundRect">
            <a:avLst>
              <a:gd name="adj" fmla="val 4587"/>
            </a:avLst>
          </a:prstGeom>
          <a:solidFill>
            <a:srgbClr val="FFFFFF"/>
          </a:solidFill>
          <a:ln w="12700">
            <a:solidFill>
              <a:srgbClr val="E4E7EC"/>
            </a:solidFill>
            <a:prstDash val="solid"/>
          </a:ln>
        </p:spPr>
      </p:sp>
      <p:sp>
        <p:nvSpPr>
          <p:cNvPr id="11" name="Text 9"/>
          <p:cNvSpPr txBox="1"/>
          <p:nvPr/>
        </p:nvSpPr>
        <p:spPr>
          <a:xfrm>
            <a:off x="5275356" y="1874520"/>
            <a:ext cx="1640982" cy="566928"/>
          </a:xfrm>
          <a:prstGeom prst="rect">
            <a:avLst/>
          </a:prstGeom>
          <a:noFill/>
          <a:ln/>
        </p:spPr>
        <p:txBody>
          <a:bodyPr wrap="square" lIns="0" tIns="0" rIns="0" bIns="0" rtlCol="0" anchor="t"/>
          <a:lstStyle/>
          <a:p>
            <a:pPr indent="0" marL="0">
              <a:buNone/>
            </a:pPr>
            <a:r>
              <a:rPr lang="en-US" sz="1350" b="1" dirty="0">
                <a:solidFill>
                  <a:srgbClr val="3762FF"/>
                </a:solidFill>
                <a:latin typeface="Calibri" pitchFamily="34" charset="0"/>
                <a:ea typeface="Calibri" pitchFamily="34" charset="-122"/>
                <a:cs typeface="Calibri" pitchFamily="34" charset="-120"/>
              </a:rPr>
              <a:t>Worker-nod</a:t>
            </a:r>
            <a:endParaRPr lang="en-US" sz="1350" dirty="0"/>
          </a:p>
        </p:txBody>
      </p:sp>
      <p:sp>
        <p:nvSpPr>
          <p:cNvPr id="12" name="Text 10"/>
          <p:cNvSpPr txBox="1"/>
          <p:nvPr/>
        </p:nvSpPr>
        <p:spPr>
          <a:xfrm>
            <a:off x="5275356" y="2386584"/>
            <a:ext cx="1640982" cy="1133856"/>
          </a:xfrm>
          <a:prstGeom prst="rect">
            <a:avLst/>
          </a:prstGeom>
          <a:noFill/>
          <a:ln/>
        </p:spPr>
        <p:txBody>
          <a:bodyPr wrap="square" lIns="0" tIns="0" rIns="0" bIns="0" rtlCol="0" anchor="t"/>
          <a:lstStyle/>
          <a:p>
            <a:pPr indent="0" marL="0">
              <a:lnSpc>
                <a:spcPct val="125000"/>
              </a:lnSpc>
              <a:buNone/>
            </a:pPr>
            <a:r>
              <a:rPr lang="en-US" sz="1000" dirty="0">
                <a:solidFill>
                  <a:srgbClr val="4A5568"/>
                </a:solidFill>
                <a:latin typeface="Arial" pitchFamily="34" charset="0"/>
                <a:ea typeface="Arial" pitchFamily="34" charset="-122"/>
                <a:cs typeface="Arial" pitchFamily="34" charset="-120"/>
              </a:rPr>
              <a:t>Kör era poddar</a:t>
            </a:r>
            <a:endParaRPr lang="en-US" sz="1000" dirty="0"/>
          </a:p>
        </p:txBody>
      </p:sp>
      <p:sp>
        <p:nvSpPr>
          <p:cNvPr id="13" name="Shape 11"/>
          <p:cNvSpPr/>
          <p:nvPr/>
        </p:nvSpPr>
        <p:spPr>
          <a:xfrm>
            <a:off x="7336963" y="1691640"/>
            <a:ext cx="2043318" cy="1993392"/>
          </a:xfrm>
          <a:prstGeom prst="roundRect">
            <a:avLst>
              <a:gd name="adj" fmla="val 4587"/>
            </a:avLst>
          </a:prstGeom>
          <a:solidFill>
            <a:srgbClr val="FFFFFF"/>
          </a:solidFill>
          <a:ln w="12700">
            <a:solidFill>
              <a:srgbClr val="E4E7EC"/>
            </a:solidFill>
            <a:prstDash val="solid"/>
          </a:ln>
        </p:spPr>
      </p:sp>
      <p:sp>
        <p:nvSpPr>
          <p:cNvPr id="14" name="Text 12"/>
          <p:cNvSpPr txBox="1"/>
          <p:nvPr/>
        </p:nvSpPr>
        <p:spPr>
          <a:xfrm>
            <a:off x="7538131" y="1874520"/>
            <a:ext cx="1640982" cy="566928"/>
          </a:xfrm>
          <a:prstGeom prst="rect">
            <a:avLst/>
          </a:prstGeom>
          <a:noFill/>
          <a:ln/>
        </p:spPr>
        <p:txBody>
          <a:bodyPr wrap="square" lIns="0" tIns="0" rIns="0" bIns="0" rtlCol="0" anchor="t"/>
          <a:lstStyle/>
          <a:p>
            <a:pPr indent="0" marL="0">
              <a:buNone/>
            </a:pPr>
            <a:r>
              <a:rPr lang="en-US" sz="1350" b="1" dirty="0">
                <a:solidFill>
                  <a:srgbClr val="3762FF"/>
                </a:solidFill>
                <a:latin typeface="Calibri" pitchFamily="34" charset="0"/>
                <a:ea typeface="Calibri" pitchFamily="34" charset="-122"/>
                <a:cs typeface="Calibri" pitchFamily="34" charset="-120"/>
              </a:rPr>
              <a:t>Pod</a:t>
            </a:r>
            <a:endParaRPr lang="en-US" sz="1350" dirty="0"/>
          </a:p>
        </p:txBody>
      </p:sp>
      <p:sp>
        <p:nvSpPr>
          <p:cNvPr id="15" name="Text 13"/>
          <p:cNvSpPr txBox="1"/>
          <p:nvPr/>
        </p:nvSpPr>
        <p:spPr>
          <a:xfrm>
            <a:off x="7538131" y="2386584"/>
            <a:ext cx="1640982" cy="1133856"/>
          </a:xfrm>
          <a:prstGeom prst="rect">
            <a:avLst/>
          </a:prstGeom>
          <a:noFill/>
          <a:ln/>
        </p:spPr>
        <p:txBody>
          <a:bodyPr wrap="square" lIns="0" tIns="0" rIns="0" bIns="0" rtlCol="0" anchor="t"/>
          <a:lstStyle/>
          <a:p>
            <a:pPr indent="0" marL="0">
              <a:lnSpc>
                <a:spcPct val="125000"/>
              </a:lnSpc>
              <a:buNone/>
            </a:pPr>
            <a:r>
              <a:rPr lang="en-US" sz="1000" dirty="0">
                <a:solidFill>
                  <a:srgbClr val="4A5568"/>
                </a:solidFill>
                <a:latin typeface="Arial" pitchFamily="34" charset="0"/>
                <a:ea typeface="Arial" pitchFamily="34" charset="-122"/>
                <a:cs typeface="Arial" pitchFamily="34" charset="-120"/>
              </a:rPr>
              <a:t>Minsta schemalagda enhet</a:t>
            </a:r>
            <a:endParaRPr lang="en-US" sz="1000" dirty="0"/>
          </a:p>
        </p:txBody>
      </p:sp>
      <p:sp>
        <p:nvSpPr>
          <p:cNvPr id="16" name="Shape 14"/>
          <p:cNvSpPr/>
          <p:nvPr/>
        </p:nvSpPr>
        <p:spPr>
          <a:xfrm>
            <a:off x="9599737" y="1691640"/>
            <a:ext cx="2043318" cy="1993392"/>
          </a:xfrm>
          <a:prstGeom prst="roundRect">
            <a:avLst>
              <a:gd name="adj" fmla="val 4587"/>
            </a:avLst>
          </a:prstGeom>
          <a:solidFill>
            <a:srgbClr val="FFFFFF"/>
          </a:solidFill>
          <a:ln w="12700">
            <a:solidFill>
              <a:srgbClr val="E4E7EC"/>
            </a:solidFill>
            <a:prstDash val="solid"/>
          </a:ln>
        </p:spPr>
      </p:sp>
      <p:sp>
        <p:nvSpPr>
          <p:cNvPr id="17" name="Text 15"/>
          <p:cNvSpPr txBox="1"/>
          <p:nvPr/>
        </p:nvSpPr>
        <p:spPr>
          <a:xfrm>
            <a:off x="9800905" y="1874520"/>
            <a:ext cx="1640982" cy="566928"/>
          </a:xfrm>
          <a:prstGeom prst="rect">
            <a:avLst/>
          </a:prstGeom>
          <a:noFill/>
          <a:ln/>
        </p:spPr>
        <p:txBody>
          <a:bodyPr wrap="square" lIns="0" tIns="0" rIns="0" bIns="0" rtlCol="0" anchor="t"/>
          <a:lstStyle/>
          <a:p>
            <a:pPr indent="0" marL="0">
              <a:buNone/>
            </a:pPr>
            <a:r>
              <a:rPr lang="en-US" sz="1350" b="1" dirty="0">
                <a:solidFill>
                  <a:srgbClr val="3762FF"/>
                </a:solidFill>
                <a:latin typeface="Calibri" pitchFamily="34" charset="0"/>
                <a:ea typeface="Calibri" pitchFamily="34" charset="-122"/>
                <a:cs typeface="Calibri" pitchFamily="34" charset="-120"/>
              </a:rPr>
              <a:t>Namespace</a:t>
            </a:r>
            <a:endParaRPr lang="en-US" sz="1350" dirty="0"/>
          </a:p>
        </p:txBody>
      </p:sp>
      <p:sp>
        <p:nvSpPr>
          <p:cNvPr id="18" name="Text 16"/>
          <p:cNvSpPr txBox="1"/>
          <p:nvPr/>
        </p:nvSpPr>
        <p:spPr>
          <a:xfrm>
            <a:off x="9800905" y="2386584"/>
            <a:ext cx="1640982" cy="1133856"/>
          </a:xfrm>
          <a:prstGeom prst="rect">
            <a:avLst/>
          </a:prstGeom>
          <a:noFill/>
          <a:ln/>
        </p:spPr>
        <p:txBody>
          <a:bodyPr wrap="square" lIns="0" tIns="0" rIns="0" bIns="0" rtlCol="0" anchor="t"/>
          <a:lstStyle/>
          <a:p>
            <a:pPr indent="0" marL="0">
              <a:lnSpc>
                <a:spcPct val="125000"/>
              </a:lnSpc>
              <a:buNone/>
            </a:pPr>
            <a:r>
              <a:rPr lang="en-US" sz="1000" dirty="0">
                <a:solidFill>
                  <a:srgbClr val="4A5568"/>
                </a:solidFill>
                <a:latin typeface="Arial" pitchFamily="34" charset="0"/>
                <a:ea typeface="Arial" pitchFamily="34" charset="-122"/>
                <a:cs typeface="Arial" pitchFamily="34" charset="-120"/>
              </a:rPr>
              <a:t>Logisk uppdelning av klustret</a:t>
            </a:r>
            <a:endParaRPr lang="en-US" sz="1000" dirty="0"/>
          </a:p>
        </p:txBody>
      </p:sp>
      <p:sp>
        <p:nvSpPr>
          <p:cNvPr id="19" name="Shape 17"/>
          <p:cNvSpPr/>
          <p:nvPr/>
        </p:nvSpPr>
        <p:spPr>
          <a:xfrm>
            <a:off x="548640" y="3904488"/>
            <a:ext cx="2043318" cy="1993392"/>
          </a:xfrm>
          <a:prstGeom prst="roundRect">
            <a:avLst>
              <a:gd name="adj" fmla="val 4587"/>
            </a:avLst>
          </a:prstGeom>
          <a:solidFill>
            <a:srgbClr val="FFFFFF"/>
          </a:solidFill>
          <a:ln w="12700">
            <a:solidFill>
              <a:srgbClr val="E4E7EC"/>
            </a:solidFill>
            <a:prstDash val="solid"/>
          </a:ln>
        </p:spPr>
      </p:sp>
      <p:sp>
        <p:nvSpPr>
          <p:cNvPr id="20" name="Text 18"/>
          <p:cNvSpPr txBox="1"/>
          <p:nvPr/>
        </p:nvSpPr>
        <p:spPr>
          <a:xfrm>
            <a:off x="749808" y="4087368"/>
            <a:ext cx="1640982" cy="566928"/>
          </a:xfrm>
          <a:prstGeom prst="rect">
            <a:avLst/>
          </a:prstGeom>
          <a:noFill/>
          <a:ln/>
        </p:spPr>
        <p:txBody>
          <a:bodyPr wrap="square" lIns="0" tIns="0" rIns="0" bIns="0" rtlCol="0" anchor="t"/>
          <a:lstStyle/>
          <a:p>
            <a:pPr indent="0" marL="0">
              <a:buNone/>
            </a:pPr>
            <a:r>
              <a:rPr lang="en-US" sz="1350" b="1" dirty="0">
                <a:solidFill>
                  <a:srgbClr val="3762FF"/>
                </a:solidFill>
                <a:latin typeface="Calibri" pitchFamily="34" charset="0"/>
                <a:ea typeface="Calibri" pitchFamily="34" charset="-122"/>
                <a:cs typeface="Calibri" pitchFamily="34" charset="-120"/>
              </a:rPr>
              <a:t>Deployment</a:t>
            </a:r>
            <a:endParaRPr lang="en-US" sz="1350" dirty="0"/>
          </a:p>
        </p:txBody>
      </p:sp>
      <p:sp>
        <p:nvSpPr>
          <p:cNvPr id="21" name="Text 19"/>
          <p:cNvSpPr txBox="1"/>
          <p:nvPr/>
        </p:nvSpPr>
        <p:spPr>
          <a:xfrm>
            <a:off x="749808" y="4599432"/>
            <a:ext cx="1640982" cy="1133856"/>
          </a:xfrm>
          <a:prstGeom prst="rect">
            <a:avLst/>
          </a:prstGeom>
          <a:noFill/>
          <a:ln/>
        </p:spPr>
        <p:txBody>
          <a:bodyPr wrap="square" lIns="0" tIns="0" rIns="0" bIns="0" rtlCol="0" anchor="t"/>
          <a:lstStyle/>
          <a:p>
            <a:pPr indent="0" marL="0">
              <a:lnSpc>
                <a:spcPct val="125000"/>
              </a:lnSpc>
              <a:buNone/>
            </a:pPr>
            <a:r>
              <a:rPr lang="en-US" sz="1000" dirty="0">
                <a:solidFill>
                  <a:srgbClr val="4A5568"/>
                </a:solidFill>
                <a:latin typeface="Arial" pitchFamily="34" charset="0"/>
                <a:ea typeface="Arial" pitchFamily="34" charset="-122"/>
                <a:cs typeface="Arial" pitchFamily="34" charset="-120"/>
              </a:rPr>
              <a:t>Håller rätt antal poddar vid liv</a:t>
            </a:r>
            <a:endParaRPr lang="en-US" sz="1000" dirty="0"/>
          </a:p>
        </p:txBody>
      </p:sp>
      <p:sp>
        <p:nvSpPr>
          <p:cNvPr id="22" name="Shape 20"/>
          <p:cNvSpPr/>
          <p:nvPr/>
        </p:nvSpPr>
        <p:spPr>
          <a:xfrm>
            <a:off x="2811414" y="3904488"/>
            <a:ext cx="2043318" cy="1993392"/>
          </a:xfrm>
          <a:prstGeom prst="roundRect">
            <a:avLst>
              <a:gd name="adj" fmla="val 4587"/>
            </a:avLst>
          </a:prstGeom>
          <a:solidFill>
            <a:srgbClr val="FFFFFF"/>
          </a:solidFill>
          <a:ln w="12700">
            <a:solidFill>
              <a:srgbClr val="E4E7EC"/>
            </a:solidFill>
            <a:prstDash val="solid"/>
          </a:ln>
        </p:spPr>
      </p:sp>
      <p:sp>
        <p:nvSpPr>
          <p:cNvPr id="23" name="Text 21"/>
          <p:cNvSpPr txBox="1"/>
          <p:nvPr/>
        </p:nvSpPr>
        <p:spPr>
          <a:xfrm>
            <a:off x="3012582" y="4087368"/>
            <a:ext cx="1640982" cy="566928"/>
          </a:xfrm>
          <a:prstGeom prst="rect">
            <a:avLst/>
          </a:prstGeom>
          <a:noFill/>
          <a:ln/>
        </p:spPr>
        <p:txBody>
          <a:bodyPr wrap="square" lIns="0" tIns="0" rIns="0" bIns="0" rtlCol="0" anchor="t"/>
          <a:lstStyle/>
          <a:p>
            <a:pPr indent="0" marL="0">
              <a:buNone/>
            </a:pPr>
            <a:r>
              <a:rPr lang="en-US" sz="1350" b="1" dirty="0">
                <a:solidFill>
                  <a:srgbClr val="3762FF"/>
                </a:solidFill>
                <a:latin typeface="Calibri" pitchFamily="34" charset="0"/>
                <a:ea typeface="Calibri" pitchFamily="34" charset="-122"/>
                <a:cs typeface="Calibri" pitchFamily="34" charset="-120"/>
              </a:rPr>
              <a:t>Service</a:t>
            </a:r>
            <a:endParaRPr lang="en-US" sz="1350" dirty="0"/>
          </a:p>
        </p:txBody>
      </p:sp>
      <p:sp>
        <p:nvSpPr>
          <p:cNvPr id="24" name="Text 22"/>
          <p:cNvSpPr txBox="1"/>
          <p:nvPr/>
        </p:nvSpPr>
        <p:spPr>
          <a:xfrm>
            <a:off x="3012582" y="4599432"/>
            <a:ext cx="1640982" cy="1133856"/>
          </a:xfrm>
          <a:prstGeom prst="rect">
            <a:avLst/>
          </a:prstGeom>
          <a:noFill/>
          <a:ln/>
        </p:spPr>
        <p:txBody>
          <a:bodyPr wrap="square" lIns="0" tIns="0" rIns="0" bIns="0" rtlCol="0" anchor="t"/>
          <a:lstStyle/>
          <a:p>
            <a:pPr indent="0" marL="0">
              <a:lnSpc>
                <a:spcPct val="125000"/>
              </a:lnSpc>
              <a:buNone/>
            </a:pPr>
            <a:r>
              <a:rPr lang="en-US" sz="1000" dirty="0">
                <a:solidFill>
                  <a:srgbClr val="4A5568"/>
                </a:solidFill>
                <a:latin typeface="Arial" pitchFamily="34" charset="0"/>
                <a:ea typeface="Arial" pitchFamily="34" charset="-122"/>
                <a:cs typeface="Arial" pitchFamily="34" charset="-120"/>
              </a:rPr>
              <a:t>Stabil adress framför poddar</a:t>
            </a:r>
            <a:endParaRPr lang="en-US" sz="1000" dirty="0"/>
          </a:p>
        </p:txBody>
      </p:sp>
      <p:sp>
        <p:nvSpPr>
          <p:cNvPr id="25" name="Shape 23"/>
          <p:cNvSpPr/>
          <p:nvPr/>
        </p:nvSpPr>
        <p:spPr>
          <a:xfrm>
            <a:off x="5074188" y="3904488"/>
            <a:ext cx="2043318" cy="1993392"/>
          </a:xfrm>
          <a:prstGeom prst="roundRect">
            <a:avLst>
              <a:gd name="adj" fmla="val 4587"/>
            </a:avLst>
          </a:prstGeom>
          <a:solidFill>
            <a:srgbClr val="FFFFFF"/>
          </a:solidFill>
          <a:ln w="12700">
            <a:solidFill>
              <a:srgbClr val="E4E7EC"/>
            </a:solidFill>
            <a:prstDash val="solid"/>
          </a:ln>
        </p:spPr>
      </p:sp>
      <p:sp>
        <p:nvSpPr>
          <p:cNvPr id="26" name="Text 24"/>
          <p:cNvSpPr txBox="1"/>
          <p:nvPr/>
        </p:nvSpPr>
        <p:spPr>
          <a:xfrm>
            <a:off x="5275356" y="4087368"/>
            <a:ext cx="1640982" cy="566928"/>
          </a:xfrm>
          <a:prstGeom prst="rect">
            <a:avLst/>
          </a:prstGeom>
          <a:noFill/>
          <a:ln/>
        </p:spPr>
        <p:txBody>
          <a:bodyPr wrap="square" lIns="0" tIns="0" rIns="0" bIns="0" rtlCol="0" anchor="t"/>
          <a:lstStyle/>
          <a:p>
            <a:pPr indent="0" marL="0">
              <a:buNone/>
            </a:pPr>
            <a:r>
              <a:rPr lang="en-US" sz="1350" b="1" dirty="0">
                <a:solidFill>
                  <a:srgbClr val="3762FF"/>
                </a:solidFill>
                <a:latin typeface="Calibri" pitchFamily="34" charset="0"/>
                <a:ea typeface="Calibri" pitchFamily="34" charset="-122"/>
                <a:cs typeface="Calibri" pitchFamily="34" charset="-120"/>
              </a:rPr>
              <a:t>Ingress</a:t>
            </a:r>
            <a:endParaRPr lang="en-US" sz="1350" dirty="0"/>
          </a:p>
        </p:txBody>
      </p:sp>
      <p:sp>
        <p:nvSpPr>
          <p:cNvPr id="27" name="Text 25"/>
          <p:cNvSpPr txBox="1"/>
          <p:nvPr/>
        </p:nvSpPr>
        <p:spPr>
          <a:xfrm>
            <a:off x="5275356" y="4599432"/>
            <a:ext cx="1640982" cy="1133856"/>
          </a:xfrm>
          <a:prstGeom prst="rect">
            <a:avLst/>
          </a:prstGeom>
          <a:noFill/>
          <a:ln/>
        </p:spPr>
        <p:txBody>
          <a:bodyPr wrap="square" lIns="0" tIns="0" rIns="0" bIns="0" rtlCol="0" anchor="t"/>
          <a:lstStyle/>
          <a:p>
            <a:pPr indent="0" marL="0">
              <a:lnSpc>
                <a:spcPct val="125000"/>
              </a:lnSpc>
              <a:buNone/>
            </a:pPr>
            <a:r>
              <a:rPr lang="en-US" sz="1000" dirty="0">
                <a:solidFill>
                  <a:srgbClr val="4A5568"/>
                </a:solidFill>
                <a:latin typeface="Arial" pitchFamily="34" charset="0"/>
                <a:ea typeface="Arial" pitchFamily="34" charset="-122"/>
                <a:cs typeface="Arial" pitchFamily="34" charset="-120"/>
              </a:rPr>
              <a:t>Vägen in för trafik utifrån</a:t>
            </a:r>
            <a:endParaRPr lang="en-US" sz="1000" dirty="0"/>
          </a:p>
        </p:txBody>
      </p:sp>
      <p:sp>
        <p:nvSpPr>
          <p:cNvPr id="28" name="Shape 26"/>
          <p:cNvSpPr/>
          <p:nvPr/>
        </p:nvSpPr>
        <p:spPr>
          <a:xfrm>
            <a:off x="7336963" y="3904488"/>
            <a:ext cx="2043318" cy="1993392"/>
          </a:xfrm>
          <a:prstGeom prst="roundRect">
            <a:avLst>
              <a:gd name="adj" fmla="val 4587"/>
            </a:avLst>
          </a:prstGeom>
          <a:solidFill>
            <a:srgbClr val="FFFFFF"/>
          </a:solidFill>
          <a:ln w="12700">
            <a:solidFill>
              <a:srgbClr val="E4E7EC"/>
            </a:solidFill>
            <a:prstDash val="solid"/>
          </a:ln>
        </p:spPr>
      </p:sp>
      <p:sp>
        <p:nvSpPr>
          <p:cNvPr id="29" name="Text 27"/>
          <p:cNvSpPr txBox="1"/>
          <p:nvPr/>
        </p:nvSpPr>
        <p:spPr>
          <a:xfrm>
            <a:off x="7538131" y="4087368"/>
            <a:ext cx="1640982" cy="566928"/>
          </a:xfrm>
          <a:prstGeom prst="rect">
            <a:avLst/>
          </a:prstGeom>
          <a:noFill/>
          <a:ln/>
        </p:spPr>
        <p:txBody>
          <a:bodyPr wrap="square" lIns="0" tIns="0" rIns="0" bIns="0" rtlCol="0" anchor="t"/>
          <a:lstStyle/>
          <a:p>
            <a:pPr indent="0" marL="0">
              <a:buNone/>
            </a:pPr>
            <a:r>
              <a:rPr lang="en-US" sz="1350" b="1" dirty="0">
                <a:solidFill>
                  <a:srgbClr val="3762FF"/>
                </a:solidFill>
                <a:latin typeface="Calibri" pitchFamily="34" charset="0"/>
                <a:ea typeface="Calibri" pitchFamily="34" charset="-122"/>
                <a:cs typeface="Calibri" pitchFamily="34" charset="-120"/>
              </a:rPr>
              <a:t>kubectl</a:t>
            </a:r>
            <a:endParaRPr lang="en-US" sz="1350" dirty="0"/>
          </a:p>
        </p:txBody>
      </p:sp>
      <p:sp>
        <p:nvSpPr>
          <p:cNvPr id="30" name="Text 28"/>
          <p:cNvSpPr txBox="1"/>
          <p:nvPr/>
        </p:nvSpPr>
        <p:spPr>
          <a:xfrm>
            <a:off x="7538131" y="4599432"/>
            <a:ext cx="1640982" cy="1133856"/>
          </a:xfrm>
          <a:prstGeom prst="rect">
            <a:avLst/>
          </a:prstGeom>
          <a:noFill/>
          <a:ln/>
        </p:spPr>
        <p:txBody>
          <a:bodyPr wrap="square" lIns="0" tIns="0" rIns="0" bIns="0" rtlCol="0" anchor="t"/>
          <a:lstStyle/>
          <a:p>
            <a:pPr indent="0" marL="0">
              <a:lnSpc>
                <a:spcPct val="125000"/>
              </a:lnSpc>
              <a:buNone/>
            </a:pPr>
            <a:r>
              <a:rPr lang="en-US" sz="1000" dirty="0">
                <a:solidFill>
                  <a:srgbClr val="4A5568"/>
                </a:solidFill>
                <a:latin typeface="Arial" pitchFamily="34" charset="0"/>
                <a:ea typeface="Arial" pitchFamily="34" charset="-122"/>
                <a:cs typeface="Arial" pitchFamily="34" charset="-120"/>
              </a:rPr>
              <a:t>Verktyget som pratar med API:et</a:t>
            </a:r>
            <a:endParaRPr lang="en-US" sz="1000" dirty="0"/>
          </a:p>
        </p:txBody>
      </p:sp>
      <p:sp>
        <p:nvSpPr>
          <p:cNvPr id="31" name="Shape 29"/>
          <p:cNvSpPr/>
          <p:nvPr/>
        </p:nvSpPr>
        <p:spPr>
          <a:xfrm>
            <a:off x="9599737" y="3904488"/>
            <a:ext cx="2043318" cy="1993392"/>
          </a:xfrm>
          <a:prstGeom prst="roundRect">
            <a:avLst>
              <a:gd name="adj" fmla="val 4587"/>
            </a:avLst>
          </a:prstGeom>
          <a:solidFill>
            <a:srgbClr val="3762FF"/>
          </a:solidFill>
          <a:ln/>
        </p:spPr>
      </p:sp>
      <p:sp>
        <p:nvSpPr>
          <p:cNvPr id="32" name="Text 30"/>
          <p:cNvSpPr txBox="1"/>
          <p:nvPr/>
        </p:nvSpPr>
        <p:spPr>
          <a:xfrm>
            <a:off x="9800905" y="4087368"/>
            <a:ext cx="1640982" cy="566928"/>
          </a:xfrm>
          <a:prstGeom prst="rect">
            <a:avLst/>
          </a:prstGeom>
          <a:noFill/>
          <a:ln/>
        </p:spPr>
        <p:txBody>
          <a:bodyPr wrap="square" lIns="0" tIns="0" rIns="0" bIns="0" rtlCol="0" anchor="t"/>
          <a:lstStyle/>
          <a:p>
            <a:pPr indent="0" marL="0">
              <a:buNone/>
            </a:pPr>
            <a:r>
              <a:rPr lang="en-US" sz="1350" b="1" dirty="0">
                <a:solidFill>
                  <a:srgbClr val="F5F7FA"/>
                </a:solidFill>
                <a:latin typeface="Calibri" pitchFamily="34" charset="0"/>
                <a:ea typeface="Calibri" pitchFamily="34" charset="-122"/>
                <a:cs typeface="Calibri" pitchFamily="34" charset="-120"/>
              </a:rPr>
              <a:t>Önskat tillstånd</a:t>
            </a:r>
            <a:endParaRPr lang="en-US" sz="1350" dirty="0"/>
          </a:p>
        </p:txBody>
      </p:sp>
      <p:sp>
        <p:nvSpPr>
          <p:cNvPr id="33" name="Text 31"/>
          <p:cNvSpPr txBox="1"/>
          <p:nvPr/>
        </p:nvSpPr>
        <p:spPr>
          <a:xfrm>
            <a:off x="9800905" y="4599432"/>
            <a:ext cx="1640982" cy="1133856"/>
          </a:xfrm>
          <a:prstGeom prst="rect">
            <a:avLst/>
          </a:prstGeom>
          <a:noFill/>
          <a:ln/>
        </p:spPr>
        <p:txBody>
          <a:bodyPr wrap="square" lIns="0" tIns="0" rIns="0" bIns="0" rtlCol="0" anchor="t"/>
          <a:lstStyle/>
          <a:p>
            <a:pPr indent="0" marL="0">
              <a:lnSpc>
                <a:spcPct val="125000"/>
              </a:lnSpc>
              <a:buNone/>
            </a:pPr>
            <a:r>
              <a:rPr lang="en-US" sz="1000" dirty="0">
                <a:solidFill>
                  <a:srgbClr val="E8EDFF"/>
                </a:solidFill>
                <a:latin typeface="Arial" pitchFamily="34" charset="0"/>
                <a:ea typeface="Arial" pitchFamily="34" charset="-122"/>
                <a:cs typeface="Arial" pitchFamily="34" charset="-120"/>
              </a:rPr>
              <a:t>Idén som binder ihop allt</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640080"/>
            <a:ext cx="11094415" cy="292608"/>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VÄGEN FRAMÅT</a:t>
            </a:r>
            <a:endParaRPr lang="en-US" sz="1200" dirty="0"/>
          </a:p>
        </p:txBody>
      </p:sp>
      <p:sp>
        <p:nvSpPr>
          <p:cNvPr id="3" name="Text 1"/>
          <p:cNvSpPr txBox="1"/>
          <p:nvPr/>
        </p:nvSpPr>
        <p:spPr>
          <a:xfrm>
            <a:off x="548640" y="1097280"/>
            <a:ext cx="10058400" cy="822960"/>
          </a:xfrm>
          <a:prstGeom prst="rect">
            <a:avLst/>
          </a:prstGeom>
          <a:noFill/>
          <a:ln/>
        </p:spPr>
        <p:txBody>
          <a:bodyPr wrap="square" lIns="0" tIns="0" rIns="0" bIns="0" rtlCol="0" anchor="ctr"/>
          <a:lstStyle/>
          <a:p>
            <a:pPr indent="0" marL="0">
              <a:buNone/>
            </a:pPr>
            <a:r>
              <a:rPr lang="en-US" sz="3000" b="1" dirty="0">
                <a:solidFill>
                  <a:srgbClr val="F5F7FA"/>
                </a:solidFill>
                <a:latin typeface="Calibri" pitchFamily="34" charset="0"/>
                <a:ea typeface="Calibri" pitchFamily="34" charset="-122"/>
                <a:cs typeface="Calibri" pitchFamily="34" charset="-120"/>
              </a:rPr>
              <a:t>Tillfälle 2-8: nu blir det praktiskt</a:t>
            </a:r>
            <a:endParaRPr lang="en-US" sz="3000" dirty="0"/>
          </a:p>
        </p:txBody>
      </p:sp>
      <p:sp>
        <p:nvSpPr>
          <p:cNvPr id="4" name="Text 2"/>
          <p:cNvSpPr txBox="1"/>
          <p:nvPr/>
        </p:nvSpPr>
        <p:spPr>
          <a:xfrm>
            <a:off x="548640" y="1920240"/>
            <a:ext cx="11094415" cy="457200"/>
          </a:xfrm>
          <a:prstGeom prst="rect">
            <a:avLst/>
          </a:prstGeom>
          <a:noFill/>
          <a:ln/>
        </p:spPr>
        <p:txBody>
          <a:bodyPr wrap="square" lIns="0" tIns="0" rIns="0" bIns="0" rtlCol="0" anchor="t"/>
          <a:lstStyle/>
          <a:p>
            <a:pPr indent="0" marL="0">
              <a:lnSpc>
                <a:spcPct val="130000"/>
              </a:lnSpc>
              <a:buNone/>
            </a:pPr>
            <a:r>
              <a:rPr lang="en-US" sz="1400" dirty="0">
                <a:solidFill>
                  <a:srgbClr val="B9C4D1"/>
                </a:solidFill>
                <a:latin typeface="Arial" pitchFamily="34" charset="0"/>
                <a:ea typeface="Arial" pitchFamily="34" charset="-122"/>
                <a:cs typeface="Arial" pitchFamily="34" charset="-120"/>
              </a:rPr>
              <a:t>Med begreppen på plats bygger vi vidare praktiskt i klustret, med er egen .NET- och Angular-kod:</a:t>
            </a:r>
            <a:endParaRPr lang="en-US" sz="1400" dirty="0"/>
          </a:p>
        </p:txBody>
      </p:sp>
      <p:sp>
        <p:nvSpPr>
          <p:cNvPr id="5" name="Shape 3"/>
          <p:cNvSpPr/>
          <p:nvPr/>
        </p:nvSpPr>
        <p:spPr>
          <a:xfrm>
            <a:off x="548640" y="2514600"/>
            <a:ext cx="2609012" cy="1490472"/>
          </a:xfrm>
          <a:prstGeom prst="roundRect">
            <a:avLst>
              <a:gd name="adj" fmla="val 6135"/>
            </a:avLst>
          </a:prstGeom>
          <a:solidFill>
            <a:srgbClr val="16294A"/>
          </a:solidFill>
          <a:ln/>
        </p:spPr>
      </p:sp>
      <p:sp>
        <p:nvSpPr>
          <p:cNvPr id="6" name="Text 4"/>
          <p:cNvSpPr txBox="1"/>
          <p:nvPr/>
        </p:nvSpPr>
        <p:spPr>
          <a:xfrm>
            <a:off x="749808" y="2697480"/>
            <a:ext cx="2206676" cy="566928"/>
          </a:xfrm>
          <a:prstGeom prst="rect">
            <a:avLst/>
          </a:prstGeom>
          <a:noFill/>
          <a:ln/>
        </p:spPr>
        <p:txBody>
          <a:bodyPr wrap="square" lIns="0" tIns="0" rIns="0" bIns="0" rtlCol="0" anchor="t"/>
          <a:lstStyle/>
          <a:p>
            <a:pPr indent="0" marL="0">
              <a:buNone/>
            </a:pPr>
            <a:r>
              <a:rPr lang="en-US" sz="1550" b="1" dirty="0">
                <a:solidFill>
                  <a:srgbClr val="F5F7FA"/>
                </a:solidFill>
                <a:latin typeface="Calibri" pitchFamily="34" charset="0"/>
                <a:ea typeface="Calibri" pitchFamily="34" charset="-122"/>
                <a:cs typeface="Calibri" pitchFamily="34" charset="-120"/>
              </a:rPr>
              <a:t>.NET API</a:t>
            </a:r>
            <a:endParaRPr lang="en-US" sz="1550" dirty="0"/>
          </a:p>
        </p:txBody>
      </p:sp>
      <p:sp>
        <p:nvSpPr>
          <p:cNvPr id="7" name="Shape 5"/>
          <p:cNvSpPr/>
          <p:nvPr/>
        </p:nvSpPr>
        <p:spPr>
          <a:xfrm>
            <a:off x="3377108" y="2514600"/>
            <a:ext cx="2609012" cy="1490472"/>
          </a:xfrm>
          <a:prstGeom prst="roundRect">
            <a:avLst>
              <a:gd name="adj" fmla="val 6135"/>
            </a:avLst>
          </a:prstGeom>
          <a:solidFill>
            <a:srgbClr val="16294A"/>
          </a:solidFill>
          <a:ln/>
        </p:spPr>
      </p:sp>
      <p:sp>
        <p:nvSpPr>
          <p:cNvPr id="8" name="Text 6"/>
          <p:cNvSpPr txBox="1"/>
          <p:nvPr/>
        </p:nvSpPr>
        <p:spPr>
          <a:xfrm>
            <a:off x="3578276" y="2697480"/>
            <a:ext cx="2206676" cy="566928"/>
          </a:xfrm>
          <a:prstGeom prst="rect">
            <a:avLst/>
          </a:prstGeom>
          <a:noFill/>
          <a:ln/>
        </p:spPr>
        <p:txBody>
          <a:bodyPr wrap="square" lIns="0" tIns="0" rIns="0" bIns="0" rtlCol="0" anchor="t"/>
          <a:lstStyle/>
          <a:p>
            <a:pPr indent="0" marL="0">
              <a:buNone/>
            </a:pPr>
            <a:r>
              <a:rPr lang="en-US" sz="1550" b="1" dirty="0">
                <a:solidFill>
                  <a:srgbClr val="F5F7FA"/>
                </a:solidFill>
                <a:latin typeface="Calibri" pitchFamily="34" charset="0"/>
                <a:ea typeface="Calibri" pitchFamily="34" charset="-122"/>
                <a:cs typeface="Calibri" pitchFamily="34" charset="-120"/>
              </a:rPr>
              <a:t>Angular-frontend</a:t>
            </a:r>
            <a:endParaRPr lang="en-US" sz="1550" dirty="0"/>
          </a:p>
        </p:txBody>
      </p:sp>
      <p:sp>
        <p:nvSpPr>
          <p:cNvPr id="9" name="Shape 7"/>
          <p:cNvSpPr/>
          <p:nvPr/>
        </p:nvSpPr>
        <p:spPr>
          <a:xfrm>
            <a:off x="6205576" y="2514600"/>
            <a:ext cx="2609012" cy="1490472"/>
          </a:xfrm>
          <a:prstGeom prst="roundRect">
            <a:avLst>
              <a:gd name="adj" fmla="val 6135"/>
            </a:avLst>
          </a:prstGeom>
          <a:solidFill>
            <a:srgbClr val="16294A"/>
          </a:solidFill>
          <a:ln/>
        </p:spPr>
      </p:sp>
      <p:sp>
        <p:nvSpPr>
          <p:cNvPr id="10" name="Text 8"/>
          <p:cNvSpPr txBox="1"/>
          <p:nvPr/>
        </p:nvSpPr>
        <p:spPr>
          <a:xfrm>
            <a:off x="6406744" y="2697480"/>
            <a:ext cx="2206676" cy="566928"/>
          </a:xfrm>
          <a:prstGeom prst="rect">
            <a:avLst/>
          </a:prstGeom>
          <a:noFill/>
          <a:ln/>
        </p:spPr>
        <p:txBody>
          <a:bodyPr wrap="square" lIns="0" tIns="0" rIns="0" bIns="0" rtlCol="0" anchor="t"/>
          <a:lstStyle/>
          <a:p>
            <a:pPr indent="0" marL="0">
              <a:buNone/>
            </a:pPr>
            <a:r>
              <a:rPr lang="en-US" sz="1550" b="1" dirty="0">
                <a:solidFill>
                  <a:srgbClr val="F5F7FA"/>
                </a:solidFill>
                <a:latin typeface="Calibri" pitchFamily="34" charset="0"/>
                <a:ea typeface="Calibri" pitchFamily="34" charset="-122"/>
                <a:cs typeface="Calibri" pitchFamily="34" charset="-120"/>
              </a:rPr>
              <a:t>BackgroundService</a:t>
            </a:r>
            <a:endParaRPr lang="en-US" sz="1550" dirty="0"/>
          </a:p>
        </p:txBody>
      </p:sp>
      <p:sp>
        <p:nvSpPr>
          <p:cNvPr id="11" name="Shape 9"/>
          <p:cNvSpPr/>
          <p:nvPr/>
        </p:nvSpPr>
        <p:spPr>
          <a:xfrm>
            <a:off x="9034043" y="2514600"/>
            <a:ext cx="2609012" cy="1490472"/>
          </a:xfrm>
          <a:prstGeom prst="roundRect">
            <a:avLst>
              <a:gd name="adj" fmla="val 6135"/>
            </a:avLst>
          </a:prstGeom>
          <a:solidFill>
            <a:srgbClr val="16294A"/>
          </a:solidFill>
          <a:ln/>
        </p:spPr>
      </p:sp>
      <p:sp>
        <p:nvSpPr>
          <p:cNvPr id="12" name="Text 10"/>
          <p:cNvSpPr txBox="1"/>
          <p:nvPr/>
        </p:nvSpPr>
        <p:spPr>
          <a:xfrm>
            <a:off x="9235211" y="2697480"/>
            <a:ext cx="2206676" cy="566928"/>
          </a:xfrm>
          <a:prstGeom prst="rect">
            <a:avLst/>
          </a:prstGeom>
          <a:noFill/>
          <a:ln/>
        </p:spPr>
        <p:txBody>
          <a:bodyPr wrap="square" lIns="0" tIns="0" rIns="0" bIns="0" rtlCol="0" anchor="t"/>
          <a:lstStyle/>
          <a:p>
            <a:pPr indent="0" marL="0">
              <a:buNone/>
            </a:pPr>
            <a:r>
              <a:rPr lang="en-US" sz="1550" b="1" dirty="0">
                <a:solidFill>
                  <a:srgbClr val="F5F7FA"/>
                </a:solidFill>
                <a:latin typeface="Calibri" pitchFamily="34" charset="0"/>
                <a:ea typeface="Calibri" pitchFamily="34" charset="-122"/>
                <a:cs typeface="Calibri" pitchFamily="34" charset="-120"/>
              </a:rPr>
              <a:t>MySQL</a:t>
            </a:r>
            <a:endParaRPr lang="en-US" sz="1550" dirty="0"/>
          </a:p>
        </p:txBody>
      </p:sp>
      <p:sp>
        <p:nvSpPr>
          <p:cNvPr id="13" name="Shape 11"/>
          <p:cNvSpPr/>
          <p:nvPr/>
        </p:nvSpPr>
        <p:spPr>
          <a:xfrm>
            <a:off x="548640" y="4224528"/>
            <a:ext cx="2609012" cy="1490472"/>
          </a:xfrm>
          <a:prstGeom prst="roundRect">
            <a:avLst>
              <a:gd name="adj" fmla="val 6135"/>
            </a:avLst>
          </a:prstGeom>
          <a:solidFill>
            <a:srgbClr val="16294A"/>
          </a:solidFill>
          <a:ln/>
        </p:spPr>
      </p:sp>
      <p:sp>
        <p:nvSpPr>
          <p:cNvPr id="14" name="Text 12"/>
          <p:cNvSpPr txBox="1"/>
          <p:nvPr/>
        </p:nvSpPr>
        <p:spPr>
          <a:xfrm>
            <a:off x="749808" y="4407408"/>
            <a:ext cx="2206676" cy="566928"/>
          </a:xfrm>
          <a:prstGeom prst="rect">
            <a:avLst/>
          </a:prstGeom>
          <a:noFill/>
          <a:ln/>
        </p:spPr>
        <p:txBody>
          <a:bodyPr wrap="square" lIns="0" tIns="0" rIns="0" bIns="0" rtlCol="0" anchor="t"/>
          <a:lstStyle/>
          <a:p>
            <a:pPr indent="0" marL="0">
              <a:buNone/>
            </a:pPr>
            <a:r>
              <a:rPr lang="en-US" sz="1550" b="1" dirty="0">
                <a:solidFill>
                  <a:srgbClr val="F5F7FA"/>
                </a:solidFill>
                <a:latin typeface="Calibri" pitchFamily="34" charset="0"/>
                <a:ea typeface="Calibri" pitchFamily="34" charset="-122"/>
                <a:cs typeface="Calibri" pitchFamily="34" charset="-120"/>
              </a:rPr>
              <a:t>Redis</a:t>
            </a:r>
            <a:endParaRPr lang="en-US" sz="1550" dirty="0"/>
          </a:p>
        </p:txBody>
      </p:sp>
      <p:sp>
        <p:nvSpPr>
          <p:cNvPr id="15" name="Shape 13"/>
          <p:cNvSpPr/>
          <p:nvPr/>
        </p:nvSpPr>
        <p:spPr>
          <a:xfrm>
            <a:off x="3377108" y="4224528"/>
            <a:ext cx="2609012" cy="1490472"/>
          </a:xfrm>
          <a:prstGeom prst="roundRect">
            <a:avLst>
              <a:gd name="adj" fmla="val 6135"/>
            </a:avLst>
          </a:prstGeom>
          <a:solidFill>
            <a:srgbClr val="16294A"/>
          </a:solidFill>
          <a:ln/>
        </p:spPr>
      </p:sp>
      <p:sp>
        <p:nvSpPr>
          <p:cNvPr id="16" name="Text 14"/>
          <p:cNvSpPr txBox="1"/>
          <p:nvPr/>
        </p:nvSpPr>
        <p:spPr>
          <a:xfrm>
            <a:off x="3578276" y="4407408"/>
            <a:ext cx="2206676" cy="566928"/>
          </a:xfrm>
          <a:prstGeom prst="rect">
            <a:avLst/>
          </a:prstGeom>
          <a:noFill/>
          <a:ln/>
        </p:spPr>
        <p:txBody>
          <a:bodyPr wrap="square" lIns="0" tIns="0" rIns="0" bIns="0" rtlCol="0" anchor="t"/>
          <a:lstStyle/>
          <a:p>
            <a:pPr indent="0" marL="0">
              <a:buNone/>
            </a:pPr>
            <a:r>
              <a:rPr lang="en-US" sz="1550" b="1" dirty="0">
                <a:solidFill>
                  <a:srgbClr val="F5F7FA"/>
                </a:solidFill>
                <a:latin typeface="Calibri" pitchFamily="34" charset="0"/>
                <a:ea typeface="Calibri" pitchFamily="34" charset="-122"/>
                <a:cs typeface="Calibri" pitchFamily="34" charset="-120"/>
              </a:rPr>
              <a:t>NATS</a:t>
            </a:r>
            <a:endParaRPr lang="en-US" sz="1550" dirty="0"/>
          </a:p>
        </p:txBody>
      </p:sp>
      <p:sp>
        <p:nvSpPr>
          <p:cNvPr id="17" name="Shape 15"/>
          <p:cNvSpPr/>
          <p:nvPr/>
        </p:nvSpPr>
        <p:spPr>
          <a:xfrm>
            <a:off x="6205576" y="4224528"/>
            <a:ext cx="2609012" cy="1490472"/>
          </a:xfrm>
          <a:prstGeom prst="roundRect">
            <a:avLst>
              <a:gd name="adj" fmla="val 6135"/>
            </a:avLst>
          </a:prstGeom>
          <a:solidFill>
            <a:srgbClr val="16294A"/>
          </a:solidFill>
          <a:ln/>
        </p:spPr>
      </p:sp>
      <p:sp>
        <p:nvSpPr>
          <p:cNvPr id="18" name="Text 16"/>
          <p:cNvSpPr txBox="1"/>
          <p:nvPr/>
        </p:nvSpPr>
        <p:spPr>
          <a:xfrm>
            <a:off x="6406744" y="4407408"/>
            <a:ext cx="2206676" cy="566928"/>
          </a:xfrm>
          <a:prstGeom prst="rect">
            <a:avLst/>
          </a:prstGeom>
          <a:noFill/>
          <a:ln/>
        </p:spPr>
        <p:txBody>
          <a:bodyPr wrap="square" lIns="0" tIns="0" rIns="0" bIns="0" rtlCol="0" anchor="t"/>
          <a:lstStyle/>
          <a:p>
            <a:pPr indent="0" marL="0">
              <a:buNone/>
            </a:pPr>
            <a:r>
              <a:rPr lang="en-US" sz="1550" b="1" dirty="0">
                <a:solidFill>
                  <a:srgbClr val="F5F7FA"/>
                </a:solidFill>
                <a:latin typeface="Calibri" pitchFamily="34" charset="0"/>
                <a:ea typeface="Calibri" pitchFamily="34" charset="-122"/>
                <a:cs typeface="Calibri" pitchFamily="34" charset="-120"/>
              </a:rPr>
              <a:t>Monitorering</a:t>
            </a:r>
            <a:endParaRPr lang="en-US" sz="1550" dirty="0"/>
          </a:p>
        </p:txBody>
      </p:sp>
      <p:sp>
        <p:nvSpPr>
          <p:cNvPr id="19" name="Text 17"/>
          <p:cNvSpPr txBox="1"/>
          <p:nvPr/>
        </p:nvSpPr>
        <p:spPr>
          <a:xfrm>
            <a:off x="6406744" y="4919472"/>
            <a:ext cx="2206676" cy="630936"/>
          </a:xfrm>
          <a:prstGeom prst="rect">
            <a:avLst/>
          </a:prstGeom>
          <a:noFill/>
          <a:ln/>
        </p:spPr>
        <p:txBody>
          <a:bodyPr wrap="square" lIns="0" tIns="0" rIns="0" bIns="0" rtlCol="0" anchor="t"/>
          <a:lstStyle/>
          <a:p>
            <a:pPr indent="0" marL="0">
              <a:lnSpc>
                <a:spcPct val="125000"/>
              </a:lnSpc>
              <a:buNone/>
            </a:pPr>
            <a:r>
              <a:rPr lang="en-US" sz="1150" dirty="0">
                <a:solidFill>
                  <a:srgbClr val="B9C4D1"/>
                </a:solidFill>
                <a:latin typeface="Arial" pitchFamily="34" charset="0"/>
                <a:ea typeface="Arial" pitchFamily="34" charset="-122"/>
                <a:cs typeface="Arial" pitchFamily="34" charset="-120"/>
              </a:rPr>
              <a:t>Prometheus · Tempo · Loki · Grafana</a:t>
            </a:r>
            <a:endParaRPr lang="en-US" sz="1150" dirty="0"/>
          </a:p>
        </p:txBody>
      </p:sp>
      <p:sp>
        <p:nvSpPr>
          <p:cNvPr id="20" name="Shape 18"/>
          <p:cNvSpPr/>
          <p:nvPr/>
        </p:nvSpPr>
        <p:spPr>
          <a:xfrm>
            <a:off x="9034043" y="4224528"/>
            <a:ext cx="2609012" cy="1490472"/>
          </a:xfrm>
          <a:prstGeom prst="roundRect">
            <a:avLst>
              <a:gd name="adj" fmla="val 6135"/>
            </a:avLst>
          </a:prstGeom>
          <a:solidFill>
            <a:srgbClr val="3762FF"/>
          </a:solidFill>
          <a:ln/>
        </p:spPr>
      </p:sp>
      <p:sp>
        <p:nvSpPr>
          <p:cNvPr id="21" name="Text 19"/>
          <p:cNvSpPr txBox="1"/>
          <p:nvPr/>
        </p:nvSpPr>
        <p:spPr>
          <a:xfrm>
            <a:off x="9235211" y="4407408"/>
            <a:ext cx="2206676" cy="566928"/>
          </a:xfrm>
          <a:prstGeom prst="rect">
            <a:avLst/>
          </a:prstGeom>
          <a:noFill/>
          <a:ln/>
        </p:spPr>
        <p:txBody>
          <a:bodyPr wrap="square" lIns="0" tIns="0" rIns="0" bIns="0" rtlCol="0" anchor="t"/>
          <a:lstStyle/>
          <a:p>
            <a:pPr indent="0" marL="0">
              <a:buNone/>
            </a:pPr>
            <a:r>
              <a:rPr lang="en-US" sz="1550" b="1" dirty="0">
                <a:solidFill>
                  <a:srgbClr val="F5F7FA"/>
                </a:solidFill>
                <a:latin typeface="Calibri" pitchFamily="34" charset="0"/>
                <a:ea typeface="Calibri" pitchFamily="34" charset="-122"/>
                <a:cs typeface="Calibri" pitchFamily="34" charset="-120"/>
              </a:rPr>
              <a:t>+ kubectl, hela vägen</a:t>
            </a:r>
            <a:endParaRPr lang="en-US" sz="15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1920240"/>
            <a:ext cx="7315200" cy="365760"/>
          </a:xfrm>
          <a:prstGeom prst="rect">
            <a:avLst/>
          </a:prstGeom>
          <a:noFill/>
          <a:ln/>
        </p:spPr>
        <p:txBody>
          <a:bodyPr wrap="square" lIns="0" tIns="0" rIns="0" bIns="0" rtlCol="0" anchor="ctr"/>
          <a:lstStyle/>
          <a:p>
            <a:pPr indent="0" marL="0">
              <a:buNone/>
            </a:pPr>
            <a:r>
              <a:rPr lang="en-US" sz="1400" b="1" dirty="0">
                <a:solidFill>
                  <a:srgbClr val="7C9CFF"/>
                </a:solidFill>
                <a:latin typeface="Arial" pitchFamily="34" charset="0"/>
                <a:ea typeface="Arial" pitchFamily="34" charset="-122"/>
                <a:cs typeface="Arial" pitchFamily="34" charset="-120"/>
              </a:rPr>
              <a:t>Kväll 1 av 8 - klar</a:t>
            </a:r>
            <a:endParaRPr lang="en-US" sz="1400" dirty="0"/>
          </a:p>
        </p:txBody>
      </p:sp>
      <p:sp>
        <p:nvSpPr>
          <p:cNvPr id="3" name="Text 1"/>
          <p:cNvSpPr txBox="1"/>
          <p:nvPr/>
        </p:nvSpPr>
        <p:spPr>
          <a:xfrm>
            <a:off x="548640" y="2377440"/>
            <a:ext cx="9144000" cy="1463040"/>
          </a:xfrm>
          <a:prstGeom prst="rect">
            <a:avLst/>
          </a:prstGeom>
          <a:noFill/>
          <a:ln/>
        </p:spPr>
        <p:txBody>
          <a:bodyPr wrap="square" lIns="0" tIns="0" rIns="0" bIns="0" rtlCol="0" anchor="ctr"/>
          <a:lstStyle/>
          <a:p>
            <a:pPr indent="0" marL="0">
              <a:buNone/>
            </a:pPr>
            <a:r>
              <a:rPr lang="en-US" sz="6000" b="1" dirty="0">
                <a:solidFill>
                  <a:srgbClr val="F5F7FA"/>
                </a:solidFill>
                <a:latin typeface="Calibri" pitchFamily="34" charset="0"/>
                <a:ea typeface="Calibri" pitchFamily="34" charset="-122"/>
                <a:cs typeface="Calibri" pitchFamily="34" charset="-120"/>
              </a:rPr>
              <a:t>Tack! Frågor?</a:t>
            </a:r>
            <a:endParaRPr lang="en-US" sz="6000" dirty="0"/>
          </a:p>
        </p:txBody>
      </p:sp>
      <p:sp>
        <p:nvSpPr>
          <p:cNvPr id="4" name="Text 2"/>
          <p:cNvSpPr txBox="1"/>
          <p:nvPr/>
        </p:nvSpPr>
        <p:spPr>
          <a:xfrm>
            <a:off x="548640" y="3840480"/>
            <a:ext cx="8686800" cy="731520"/>
          </a:xfrm>
          <a:prstGeom prst="rect">
            <a:avLst/>
          </a:prstGeom>
          <a:noFill/>
          <a:ln/>
        </p:spPr>
        <p:txBody>
          <a:bodyPr wrap="square" lIns="0" tIns="0" rIns="0" bIns="0" rtlCol="0" anchor="ctr"/>
          <a:lstStyle/>
          <a:p>
            <a:pPr indent="0" marL="0">
              <a:buNone/>
            </a:pPr>
            <a:r>
              <a:rPr lang="en-US" sz="1800" dirty="0">
                <a:solidFill>
                  <a:srgbClr val="B9C4D1"/>
                </a:solidFill>
                <a:latin typeface="Arial" pitchFamily="34" charset="0"/>
                <a:ea typeface="Arial" pitchFamily="34" charset="-122"/>
                <a:cs typeface="Arial" pitchFamily="34" charset="-120"/>
              </a:rPr>
              <a:t>Nästa gång: kubectl på riktigt, och er första Deployment i klustret.</a:t>
            </a:r>
            <a:endParaRPr lang="en-US" sz="1800" dirty="0"/>
          </a:p>
        </p:txBody>
      </p:sp>
      <p:sp>
        <p:nvSpPr>
          <p:cNvPr id="5" name="Text 3"/>
          <p:cNvSpPr txBox="1"/>
          <p:nvPr/>
        </p:nvSpPr>
        <p:spPr>
          <a:xfrm>
            <a:off x="548640" y="6126480"/>
            <a:ext cx="8229600" cy="365760"/>
          </a:xfrm>
          <a:prstGeom prst="rect">
            <a:avLst/>
          </a:prstGeom>
          <a:noFill/>
          <a:ln/>
        </p:spPr>
        <p:txBody>
          <a:bodyPr wrap="square" lIns="0" tIns="0" rIns="0" bIns="0" rtlCol="0" anchor="ctr"/>
          <a:lstStyle/>
          <a:p>
            <a:pPr indent="0" marL="0">
              <a:buNone/>
            </a:pPr>
            <a:r>
              <a:rPr lang="en-US" sz="1200" dirty="0">
                <a:solidFill>
                  <a:srgbClr val="7C9CFF"/>
                </a:solidFill>
                <a:latin typeface="Arial" pitchFamily="34" charset="0"/>
                <a:ea typeface="Arial" pitchFamily="34" charset="-122"/>
                <a:cs typeface="Arial" pitchFamily="34" charset="-120"/>
              </a:rPr>
              <a:t>Kubernetes – Grunderna · .NET, Frontend &amp; SQL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 Grunderna</dc:title>
  <dc:subject>PptxGenJS Presentation</dc:subject>
  <dc:creator>Kubernetes-kurs</dc:creator>
  <cp:lastModifiedBy>Kubernetes-kurs</cp:lastModifiedBy>
  <cp:revision>1</cp:revision>
  <dcterms:created xsi:type="dcterms:W3CDTF">2026-09-22T08:54:22Z</dcterms:created>
  <dcterms:modified xsi:type="dcterms:W3CDTF">2026-09-22T08:54:22Z</dcterms:modified>
</cp:coreProperties>
</file>